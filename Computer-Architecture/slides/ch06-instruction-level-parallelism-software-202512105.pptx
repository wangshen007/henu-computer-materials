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Default Extension="png" ContentType="image/p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Default Extension="jpg" ContentType="image/jpg"/>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Lst>
  <p:sldSz cx="12192000" cy="6858000"/>
  <p:notesSz cx="12192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 Id="rId90" Type="http://schemas.openxmlformats.org/officeDocument/2006/relationships/slide" Target="slides/slide85.xml"/><Relationship Id="rId91" Type="http://schemas.openxmlformats.org/officeDocument/2006/relationships/slide" Target="slides/slide86.xml"/><Relationship Id="rId92" Type="http://schemas.openxmlformats.org/officeDocument/2006/relationships/slide" Target="slides/slide87.xml"/><Relationship Id="rId93" Type="http://schemas.openxmlformats.org/officeDocument/2006/relationships/slide" Target="slides/slide88.xml"/><Relationship Id="rId94" Type="http://schemas.openxmlformats.org/officeDocument/2006/relationships/slide" Target="slides/slide89.xml"/><Relationship Id="rId95" Type="http://schemas.openxmlformats.org/officeDocument/2006/relationships/slide" Target="slides/slide90.xml"/><Relationship Id="rId96" Type="http://schemas.openxmlformats.org/officeDocument/2006/relationships/slide" Target="slides/slide91.xml"/><Relationship Id="rId97" Type="http://schemas.openxmlformats.org/officeDocument/2006/relationships/slide" Target="slides/slide92.xml"/><Relationship Id="rId98" Type="http://schemas.openxmlformats.org/officeDocument/2006/relationships/slide" Target="slides/slide93.xml"/><Relationship Id="rId99" Type="http://schemas.openxmlformats.org/officeDocument/2006/relationships/slide" Target="slides/slide94.xml"/><Relationship Id="rId100" Type="http://schemas.openxmlformats.org/officeDocument/2006/relationships/slide" Target="slides/slide95.xml"/><Relationship Id="rId101" Type="http://schemas.openxmlformats.org/officeDocument/2006/relationships/slide" Target="slides/slide96.xml"/><Relationship Id="rId102" Type="http://schemas.openxmlformats.org/officeDocument/2006/relationships/slide" Target="slides/slide97.xml"/><Relationship Id="rId103" Type="http://schemas.openxmlformats.org/officeDocument/2006/relationships/slide" Target="slides/slide98.xml"/><Relationship Id="rId104" Type="http://schemas.openxmlformats.org/officeDocument/2006/relationships/slide" Target="slides/slide99.xml"/><Relationship Id="rId105" Type="http://schemas.openxmlformats.org/officeDocument/2006/relationships/slide" Target="slides/slide100.xml"/><Relationship Id="rId106" Type="http://schemas.openxmlformats.org/officeDocument/2006/relationships/slide" Target="slides/slide101.xml"/><Relationship Id="rId107" Type="http://schemas.openxmlformats.org/officeDocument/2006/relationships/slide" Target="slides/slide102.xml"/><Relationship Id="rId108" Type="http://schemas.openxmlformats.org/officeDocument/2006/relationships/slide" Target="slides/slide103.xml"/><Relationship Id="rId109" Type="http://schemas.openxmlformats.org/officeDocument/2006/relationships/slide" Target="slides/slide104.xml"/><Relationship Id="rId110" Type="http://schemas.openxmlformats.org/officeDocument/2006/relationships/slide" Target="slides/slide105.xml"/><Relationship Id="rId111" Type="http://schemas.openxmlformats.org/officeDocument/2006/relationships/slide" Target="slides/slide106.xml"/><Relationship Id="rId112" Type="http://schemas.openxmlformats.org/officeDocument/2006/relationships/slide" Target="slides/slide107.xml"/><Relationship Id="rId113" Type="http://schemas.openxmlformats.org/officeDocument/2006/relationships/slide" Target="slides/slide108.xml"/><Relationship Id="rId114" Type="http://schemas.openxmlformats.org/officeDocument/2006/relationships/slide" Target="slides/slide109.xml"/><Relationship Id="rId115" Type="http://schemas.openxmlformats.org/officeDocument/2006/relationships/slide" Target="slides/slide110.xml"/><Relationship Id="rId116" Type="http://schemas.openxmlformats.org/officeDocument/2006/relationships/slide" Target="slides/slide111.xml"/><Relationship Id="rId117" Type="http://schemas.openxmlformats.org/officeDocument/2006/relationships/slide" Target="slides/slide112.xml"/><Relationship Id="rId118" Type="http://schemas.openxmlformats.org/officeDocument/2006/relationships/slide" Target="slides/slide113.xml"/><Relationship Id="rId119" Type="http://schemas.openxmlformats.org/officeDocument/2006/relationships/slide" Target="slides/slide114.xml"/><Relationship Id="rId120" Type="http://schemas.openxmlformats.org/officeDocument/2006/relationships/slide" Target="slides/slide115.xml"/><Relationship Id="rId121" Type="http://schemas.openxmlformats.org/officeDocument/2006/relationships/slide" Target="slides/slide116.xml"/><Relationship Id="rId122" Type="http://schemas.openxmlformats.org/officeDocument/2006/relationships/slide" Target="slides/slide117.xml"/><Relationship Id="rId123" Type="http://schemas.openxmlformats.org/officeDocument/2006/relationships/slide" Target="slides/slide118.xml"/><Relationship Id="rId124" Type="http://schemas.openxmlformats.org/officeDocument/2006/relationships/slide" Target="slides/slide119.xml"/><Relationship Id="rId125" Type="http://schemas.openxmlformats.org/officeDocument/2006/relationships/slide" Target="slides/slide120.xml"/><Relationship Id="rId126" Type="http://schemas.openxmlformats.org/officeDocument/2006/relationships/slide" Target="slides/slide1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200" b="0" i="0" u="heavy">
                <a:solidFill>
                  <a:srgbClr val="4F55AC"/>
                </a:solidFill>
                <a:latin typeface="黑体"/>
                <a:cs typeface="黑体"/>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u="heavy">
                <a:solidFill>
                  <a:srgbClr val="4F55AC"/>
                </a:solidFill>
                <a:latin typeface="黑体"/>
                <a:cs typeface="黑体"/>
              </a:defRPr>
            </a:lvl1pPr>
          </a:lstStyle>
          <a:p/>
        </p:txBody>
      </p:sp>
      <p:sp>
        <p:nvSpPr>
          <p:cNvPr id="3" name="Holder 3"/>
          <p:cNvSpPr>
            <a:spLocks noGrp="1"/>
          </p:cNvSpPr>
          <p:nvPr>
            <p:ph type="body" idx="1"/>
          </p:nvPr>
        </p:nvSpPr>
        <p:spPr/>
        <p:txBody>
          <a:bodyPr lIns="0" tIns="0" rIns="0" bIns="0"/>
          <a:lstStyle>
            <a:lvl1pPr>
              <a:defRPr b="0" i="0">
                <a:solidFill>
                  <a:schemeClr val="tx1"/>
                </a:solidFill>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u="heavy">
                <a:solidFill>
                  <a:srgbClr val="4F55AC"/>
                </a:solidFill>
                <a:latin typeface="黑体"/>
                <a:cs typeface="黑体"/>
              </a:defRPr>
            </a:lvl1pPr>
          </a:lstStyle>
          <a:p/>
        </p:txBody>
      </p:sp>
      <p:sp>
        <p:nvSpPr>
          <p:cNvPr id="3" name="Holder 3"/>
          <p:cNvSpPr>
            <a:spLocks noGrp="1"/>
          </p:cNvSpPr>
          <p:nvPr>
            <p:ph idx="2" sz="half"/>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7" name="Holder 7"/>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u="heavy">
                <a:solidFill>
                  <a:srgbClr val="4F55AC"/>
                </a:solidFill>
                <a:latin typeface="黑体"/>
                <a:cs typeface="黑体"/>
              </a:defRPr>
            </a:lvl1pPr>
          </a:lstStyle>
          <a:p/>
        </p:txBody>
      </p:sp>
      <p:sp>
        <p:nvSpPr>
          <p:cNvPr id="3" name="Holder 3"/>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5" name="Holder 5"/>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4" name="Holder 4"/>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403350" y="108026"/>
            <a:ext cx="10801350" cy="514350"/>
          </a:xfrm>
          <a:prstGeom prst="rect">
            <a:avLst/>
          </a:prstGeom>
        </p:spPr>
        <p:txBody>
          <a:bodyPr wrap="square" lIns="0" tIns="0" rIns="0" bIns="0">
            <a:spAutoFit/>
          </a:bodyPr>
          <a:lstStyle>
            <a:lvl1pPr>
              <a:defRPr sz="3200" b="0" i="0" u="heavy">
                <a:solidFill>
                  <a:srgbClr val="4F55AC"/>
                </a:solidFill>
                <a:latin typeface="黑体"/>
                <a:cs typeface="黑体"/>
              </a:defRPr>
            </a:lvl1pPr>
          </a:lstStyle>
          <a:p/>
        </p:txBody>
      </p:sp>
      <p:sp>
        <p:nvSpPr>
          <p:cNvPr id="3" name="Holder 3"/>
          <p:cNvSpPr>
            <a:spLocks noGrp="1"/>
          </p:cNvSpPr>
          <p:nvPr>
            <p:ph type="body" idx="1"/>
          </p:nvPr>
        </p:nvSpPr>
        <p:spPr>
          <a:xfrm>
            <a:off x="1730375" y="2198751"/>
            <a:ext cx="8731250" cy="3684905"/>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idx="5" sz="quarter"/>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idx="6" sz="half"/>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24.xml"/><Relationship Id="rId5" Type="http://schemas.openxmlformats.org/officeDocument/2006/relationships/slide" Target="slide42.xml"/><Relationship Id="rId6" Type="http://schemas.openxmlformats.org/officeDocument/2006/relationships/slide" Target="slide49.xml"/><Relationship Id="rId7" Type="http://schemas.openxmlformats.org/officeDocument/2006/relationships/slide" Target="slide79.xml"/><Relationship Id="rId8" Type="http://schemas.openxmlformats.org/officeDocument/2006/relationships/slide" Target="slide10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 Id="rId3" Type="http://schemas.openxmlformats.org/officeDocument/2006/relationships/hyperlink" Target="https://so.csdn.net/so/search?q=MIPS&amp;spm=1001.2101.3001.7020"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2.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2.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 Id="rId3" Type="http://schemas.openxmlformats.org/officeDocument/2006/relationships/image" Target="../media/image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 Id="rId3" Type="http://schemas.openxmlformats.org/officeDocument/2006/relationships/image" Target="../media/image8.png"/><Relationship Id="rId4" Type="http://schemas.openxmlformats.org/officeDocument/2006/relationships/image" Target="../media/image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 Id="rId3" Type="http://schemas.openxmlformats.org/officeDocument/2006/relationships/image" Target="../media/image8.png"/><Relationship Id="rId4" Type="http://schemas.openxmlformats.org/officeDocument/2006/relationships/image" Target="../media/image1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 Id="rId3" Type="http://schemas.openxmlformats.org/officeDocument/2006/relationships/image" Target="../media/image11.png"/><Relationship Id="rId4" Type="http://schemas.openxmlformats.org/officeDocument/2006/relationships/image" Target="../media/image1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 Id="rId3" Type="http://schemas.openxmlformats.org/officeDocument/2006/relationships/image" Target="../media/image1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 Id="rId3" Type="http://schemas.openxmlformats.org/officeDocument/2006/relationships/image" Target="../media/image1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 Id="rId3" Type="http://schemas.openxmlformats.org/officeDocument/2006/relationships/image" Target="../media/image1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 Id="rId3" Type="http://schemas.openxmlformats.org/officeDocument/2006/relationships/image" Target="../media/image15.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 Id="rId3" Type="http://schemas.openxmlformats.org/officeDocument/2006/relationships/image" Target="../media/image16.png"/><Relationship Id="rId4" Type="http://schemas.openxmlformats.org/officeDocument/2006/relationships/image" Target="../media/image17.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 Id="rId3" Type="http://schemas.openxmlformats.org/officeDocument/2006/relationships/image" Target="../media/image18.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jp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 Id="rId3" Type="http://schemas.openxmlformats.org/officeDocument/2006/relationships/image" Target="../media/image20.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 Id="rId3" Type="http://schemas.openxmlformats.org/officeDocument/2006/relationships/image" Target="../media/image21.png"/><Relationship Id="rId4" Type="http://schemas.openxmlformats.org/officeDocument/2006/relationships/image" Target="../media/image22.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 Target="slide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563735" cy="209550"/>
          </a:xfrm>
          <a:prstGeom prst="rect">
            <a:avLst/>
          </a:prstGeom>
        </p:spPr>
        <p:txBody>
          <a:bodyPr wrap="square" lIns="0" tIns="0" rIns="0" bIns="0" rtlCol="0" vert="horz">
            <a:spAutoFit/>
          </a:bodyPr>
          <a:lstStyle/>
          <a:p>
            <a:pPr>
              <a:lnSpc>
                <a:spcPts val="1650"/>
              </a:lnSpc>
              <a:tabLst>
                <a:tab pos="914908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30" b="1">
                <a:solidFill>
                  <a:srgbClr val="40458B"/>
                </a:solidFill>
                <a:latin typeface="宋体"/>
                <a:cs typeface="宋体"/>
              </a:rPr>
              <a:t>1/89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3631184" y="1005077"/>
            <a:ext cx="4497070" cy="513715"/>
          </a:xfrm>
          <a:prstGeom prst="rect"/>
        </p:spPr>
        <p:txBody>
          <a:bodyPr wrap="square" lIns="0" tIns="13335" rIns="0" bIns="0" rtlCol="0" vert="horz">
            <a:spAutoFit/>
          </a:bodyPr>
          <a:lstStyle/>
          <a:p>
            <a:pPr marL="12700">
              <a:lnSpc>
                <a:spcPct val="100000"/>
              </a:lnSpc>
              <a:spcBef>
                <a:spcPts val="105"/>
              </a:spcBef>
            </a:pPr>
            <a:r>
              <a:rPr dirty="0" u="none">
                <a:solidFill>
                  <a:srgbClr val="D50092"/>
                </a:solidFill>
              </a:rPr>
              <a:t>第</a:t>
            </a:r>
            <a:r>
              <a:rPr dirty="0" u="none" spc="-10">
                <a:solidFill>
                  <a:srgbClr val="D50092"/>
                </a:solidFill>
              </a:rPr>
              <a:t>6</a:t>
            </a:r>
            <a:r>
              <a:rPr dirty="0" u="none" spc="-20">
                <a:solidFill>
                  <a:srgbClr val="D50092"/>
                </a:solidFill>
              </a:rPr>
              <a:t>章 指令级并行的开发</a:t>
            </a:r>
          </a:p>
        </p:txBody>
      </p:sp>
      <p:sp>
        <p:nvSpPr>
          <p:cNvPr id="10" name="object 10" descr=""/>
          <p:cNvSpPr txBox="1"/>
          <p:nvPr/>
        </p:nvSpPr>
        <p:spPr>
          <a:xfrm>
            <a:off x="3798823" y="1639062"/>
            <a:ext cx="4293235" cy="3636645"/>
          </a:xfrm>
          <a:prstGeom prst="rect">
            <a:avLst/>
          </a:prstGeom>
        </p:spPr>
        <p:txBody>
          <a:bodyPr wrap="square" lIns="0" tIns="13335" rIns="0" bIns="0" rtlCol="0" vert="horz">
            <a:spAutoFit/>
          </a:bodyPr>
          <a:lstStyle/>
          <a:p>
            <a:pPr marL="858519">
              <a:lnSpc>
                <a:spcPct val="100000"/>
              </a:lnSpc>
              <a:spcBef>
                <a:spcPts val="105"/>
              </a:spcBef>
            </a:pPr>
            <a:r>
              <a:rPr dirty="0" sz="3200" spc="-5">
                <a:solidFill>
                  <a:srgbClr val="D50092"/>
                </a:solidFill>
                <a:latin typeface="Arial"/>
                <a:cs typeface="Arial"/>
              </a:rPr>
              <a:t>——</a:t>
            </a:r>
            <a:r>
              <a:rPr dirty="0" sz="3200" spc="-15">
                <a:solidFill>
                  <a:srgbClr val="D50092"/>
                </a:solidFill>
                <a:latin typeface="黑体"/>
                <a:cs typeface="黑体"/>
              </a:rPr>
              <a:t>软件方法</a:t>
            </a:r>
            <a:endParaRPr sz="3200">
              <a:latin typeface="黑体"/>
              <a:cs typeface="黑体"/>
            </a:endParaRPr>
          </a:p>
          <a:p>
            <a:pPr lvl="1" marL="621665" indent="-608965">
              <a:lnSpc>
                <a:spcPct val="100000"/>
              </a:lnSpc>
              <a:spcBef>
                <a:spcPts val="2985"/>
              </a:spcBef>
              <a:buClr>
                <a:srgbClr val="40458B"/>
              </a:buClr>
              <a:buAutoNum type="arabicPeriod"/>
              <a:tabLst>
                <a:tab pos="621665" algn="l"/>
              </a:tabLst>
            </a:pPr>
            <a:r>
              <a:rPr dirty="0" u="sng" sz="2400" spc="-5">
                <a:solidFill>
                  <a:srgbClr val="4668F5"/>
                </a:solidFill>
                <a:uFill>
                  <a:solidFill>
                    <a:srgbClr val="4668F5"/>
                  </a:solidFill>
                </a:uFill>
                <a:latin typeface="黑体"/>
                <a:cs typeface="黑体"/>
                <a:hlinkClick r:id="rId3" action="ppaction://hlinksldjump"/>
              </a:rPr>
              <a:t>基本指令调度及循环展开</a:t>
            </a:r>
            <a:endParaRPr sz="2400">
              <a:latin typeface="黑体"/>
              <a:cs typeface="黑体"/>
            </a:endParaRPr>
          </a:p>
          <a:p>
            <a:pPr lvl="1" marL="621665" indent="-608965">
              <a:lnSpc>
                <a:spcPct val="100000"/>
              </a:lnSpc>
              <a:spcBef>
                <a:spcPts val="860"/>
              </a:spcBef>
              <a:buClr>
                <a:srgbClr val="40458B"/>
              </a:buClr>
              <a:buAutoNum type="arabicPeriod"/>
              <a:tabLst>
                <a:tab pos="621665" algn="l"/>
              </a:tabLst>
            </a:pPr>
            <a:r>
              <a:rPr dirty="0" u="sng" sz="2400" spc="-5">
                <a:solidFill>
                  <a:srgbClr val="4668F5"/>
                </a:solidFill>
                <a:uFill>
                  <a:solidFill>
                    <a:srgbClr val="4668F5"/>
                  </a:solidFill>
                </a:uFill>
                <a:latin typeface="黑体"/>
                <a:cs typeface="黑体"/>
                <a:hlinkClick r:id="rId4" action="ppaction://hlinksldjump"/>
              </a:rPr>
              <a:t>跨越基本块的静态指令调度</a:t>
            </a:r>
            <a:endParaRPr sz="2400">
              <a:latin typeface="黑体"/>
              <a:cs typeface="黑体"/>
            </a:endParaRPr>
          </a:p>
          <a:p>
            <a:pPr lvl="1" marL="621665" indent="-608965">
              <a:lnSpc>
                <a:spcPct val="100000"/>
              </a:lnSpc>
              <a:spcBef>
                <a:spcPts val="870"/>
              </a:spcBef>
              <a:buClr>
                <a:srgbClr val="40458B"/>
              </a:buClr>
              <a:buAutoNum type="arabicPeriod"/>
              <a:tabLst>
                <a:tab pos="621665" algn="l"/>
              </a:tabLst>
            </a:pPr>
            <a:r>
              <a:rPr dirty="0" u="sng" sz="2400">
                <a:solidFill>
                  <a:srgbClr val="4668F5"/>
                </a:solidFill>
                <a:uFill>
                  <a:solidFill>
                    <a:srgbClr val="4668F5"/>
                  </a:solidFill>
                </a:uFill>
                <a:latin typeface="黑体"/>
                <a:cs typeface="黑体"/>
                <a:hlinkClick r:id="rId5" action="ppaction://hlinksldjump"/>
              </a:rPr>
              <a:t>静态多指令流出：</a:t>
            </a:r>
            <a:r>
              <a:rPr dirty="0" u="sng" sz="2400">
                <a:solidFill>
                  <a:srgbClr val="4668F5"/>
                </a:solidFill>
                <a:uFill>
                  <a:solidFill>
                    <a:srgbClr val="4668F5"/>
                  </a:solidFill>
                </a:uFill>
                <a:latin typeface="黑体"/>
                <a:cs typeface="黑体"/>
                <a:hlinkClick r:id="rId5" action="ppaction://hlinksldjump"/>
              </a:rPr>
              <a:t>VLIW</a:t>
            </a:r>
            <a:r>
              <a:rPr dirty="0" u="sng" sz="2400" spc="-25">
                <a:solidFill>
                  <a:srgbClr val="4668F5"/>
                </a:solidFill>
                <a:uFill>
                  <a:solidFill>
                    <a:srgbClr val="4668F5"/>
                  </a:solidFill>
                </a:uFill>
                <a:latin typeface="黑体"/>
                <a:cs typeface="黑体"/>
                <a:hlinkClick r:id="rId5" action="ppaction://hlinksldjump"/>
              </a:rPr>
              <a:t>技术</a:t>
            </a:r>
            <a:endParaRPr sz="2400">
              <a:latin typeface="黑体"/>
              <a:cs typeface="黑体"/>
            </a:endParaRPr>
          </a:p>
          <a:p>
            <a:pPr lvl="1" marL="621665" indent="-608965">
              <a:lnSpc>
                <a:spcPct val="100000"/>
              </a:lnSpc>
              <a:spcBef>
                <a:spcPts val="860"/>
              </a:spcBef>
              <a:buClr>
                <a:srgbClr val="40458B"/>
              </a:buClr>
              <a:buAutoNum type="arabicPeriod"/>
              <a:tabLst>
                <a:tab pos="621665" algn="l"/>
              </a:tabLst>
            </a:pPr>
            <a:r>
              <a:rPr dirty="0" u="sng" sz="2400">
                <a:solidFill>
                  <a:srgbClr val="4668F5"/>
                </a:solidFill>
                <a:uFill>
                  <a:solidFill>
                    <a:srgbClr val="4668F5"/>
                  </a:solidFill>
                </a:uFill>
                <a:latin typeface="黑体"/>
                <a:cs typeface="黑体"/>
                <a:hlinkClick r:id="rId6" action="ppaction://hlinksldjump"/>
              </a:rPr>
              <a:t>显式并行指令计算</a:t>
            </a:r>
            <a:r>
              <a:rPr dirty="0" u="sng" sz="2400" spc="-20">
                <a:solidFill>
                  <a:srgbClr val="4668F5"/>
                </a:solidFill>
                <a:uFill>
                  <a:solidFill>
                    <a:srgbClr val="4668F5"/>
                  </a:solidFill>
                </a:uFill>
                <a:latin typeface="黑体"/>
                <a:cs typeface="黑体"/>
                <a:hlinkClick r:id="rId6" action="ppaction://hlinksldjump"/>
              </a:rPr>
              <a:t>EPIC</a:t>
            </a:r>
            <a:endParaRPr sz="2400">
              <a:latin typeface="黑体"/>
              <a:cs typeface="黑体"/>
            </a:endParaRPr>
          </a:p>
          <a:p>
            <a:pPr lvl="1" marL="620395" indent="-607695">
              <a:lnSpc>
                <a:spcPct val="100000"/>
              </a:lnSpc>
              <a:spcBef>
                <a:spcPts val="865"/>
              </a:spcBef>
              <a:buClr>
                <a:srgbClr val="40458B"/>
              </a:buClr>
              <a:buAutoNum type="arabicPeriod"/>
              <a:tabLst>
                <a:tab pos="620395" algn="l"/>
              </a:tabLst>
            </a:pPr>
            <a:r>
              <a:rPr dirty="0" u="sng" sz="2400" spc="-15">
                <a:solidFill>
                  <a:srgbClr val="4668F5"/>
                </a:solidFill>
                <a:uFill>
                  <a:solidFill>
                    <a:srgbClr val="4668F5"/>
                  </a:solidFill>
                </a:uFill>
                <a:latin typeface="黑体"/>
                <a:cs typeface="黑体"/>
                <a:hlinkClick r:id="rId7" action="ppaction://hlinksldjump"/>
              </a:rPr>
              <a:t>开发更多的指令级并行</a:t>
            </a:r>
            <a:endParaRPr sz="2400">
              <a:latin typeface="黑体"/>
              <a:cs typeface="黑体"/>
            </a:endParaRPr>
          </a:p>
          <a:p>
            <a:pPr lvl="1" marL="621665" indent="-608965">
              <a:lnSpc>
                <a:spcPct val="100000"/>
              </a:lnSpc>
              <a:spcBef>
                <a:spcPts val="870"/>
              </a:spcBef>
              <a:buClr>
                <a:srgbClr val="40458B"/>
              </a:buClr>
              <a:buAutoNum type="arabicPeriod"/>
              <a:tabLst>
                <a:tab pos="621665" algn="l"/>
              </a:tabLst>
            </a:pPr>
            <a:r>
              <a:rPr dirty="0" u="sng" sz="2400">
                <a:solidFill>
                  <a:srgbClr val="4668F5"/>
                </a:solidFill>
                <a:uFill>
                  <a:solidFill>
                    <a:srgbClr val="4668F5"/>
                  </a:solidFill>
                </a:uFill>
                <a:latin typeface="黑体"/>
                <a:cs typeface="黑体"/>
                <a:hlinkClick r:id="rId8" action="ppaction://hlinksldjump"/>
              </a:rPr>
              <a:t>实例：</a:t>
            </a:r>
            <a:r>
              <a:rPr dirty="0" u="sng" sz="2400">
                <a:solidFill>
                  <a:srgbClr val="4668F5"/>
                </a:solidFill>
                <a:uFill>
                  <a:solidFill>
                    <a:srgbClr val="4668F5"/>
                  </a:solidFill>
                </a:uFill>
                <a:latin typeface="黑体"/>
                <a:cs typeface="黑体"/>
                <a:hlinkClick r:id="rId8" action="ppaction://hlinksldjump"/>
              </a:rPr>
              <a:t>IA</a:t>
            </a:r>
            <a:r>
              <a:rPr dirty="0" u="sng" sz="2400">
                <a:solidFill>
                  <a:srgbClr val="4668F5"/>
                </a:solidFill>
                <a:uFill>
                  <a:solidFill>
                    <a:srgbClr val="4668F5"/>
                  </a:solidFill>
                </a:uFill>
                <a:latin typeface="黑体"/>
                <a:cs typeface="黑体"/>
                <a:hlinkClick r:id="rId8" action="ppaction://hlinksldjump"/>
              </a:rPr>
              <a:t>-</a:t>
            </a:r>
            <a:r>
              <a:rPr dirty="0" u="sng" sz="2400" spc="-10">
                <a:solidFill>
                  <a:srgbClr val="4668F5"/>
                </a:solidFill>
                <a:uFill>
                  <a:solidFill>
                    <a:srgbClr val="4668F5"/>
                  </a:solidFill>
                </a:uFill>
                <a:latin typeface="黑体"/>
                <a:cs typeface="黑体"/>
                <a:hlinkClick r:id="rId8" action="ppaction://hlinksldjump"/>
              </a:rPr>
              <a:t>64</a:t>
            </a:r>
            <a:r>
              <a:rPr dirty="0" u="sng" sz="2400" spc="-15">
                <a:solidFill>
                  <a:srgbClr val="4668F5"/>
                </a:solidFill>
                <a:uFill>
                  <a:solidFill>
                    <a:srgbClr val="4668F5"/>
                  </a:solidFill>
                </a:uFill>
                <a:latin typeface="黑体"/>
                <a:cs typeface="黑体"/>
                <a:hlinkClick r:id="rId8" action="ppaction://hlinksldjump"/>
              </a:rPr>
              <a:t>体系结构</a:t>
            </a:r>
            <a:endParaRPr sz="2400">
              <a:latin typeface="黑体"/>
              <a:cs typeface="黑体"/>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563735" cy="209550"/>
          </a:xfrm>
          <a:prstGeom prst="rect">
            <a:avLst/>
          </a:prstGeom>
        </p:spPr>
        <p:txBody>
          <a:bodyPr wrap="square" lIns="0" tIns="0" rIns="0" bIns="0" rtlCol="0" vert="horz">
            <a:spAutoFit/>
          </a:bodyPr>
          <a:lstStyle/>
          <a:p>
            <a:pPr>
              <a:lnSpc>
                <a:spcPts val="1650"/>
              </a:lnSpc>
              <a:tabLst>
                <a:tab pos="914908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30" b="1">
                <a:solidFill>
                  <a:srgbClr val="40458B"/>
                </a:solidFill>
                <a:latin typeface="宋体"/>
                <a:cs typeface="宋体"/>
              </a:rPr>
              <a:t>2/89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2287270" y="1443050"/>
            <a:ext cx="6033135" cy="3802379"/>
          </a:xfrm>
          <a:prstGeom prst="rect">
            <a:avLst/>
          </a:prstGeom>
        </p:spPr>
        <p:txBody>
          <a:bodyPr wrap="square" lIns="0" tIns="0" rIns="0" bIns="0" rtlCol="0" vert="horz">
            <a:spAutoFit/>
          </a:bodyPr>
          <a:lstStyle/>
          <a:p>
            <a:pPr marL="361315" indent="-350520">
              <a:lnSpc>
                <a:spcPts val="3995"/>
              </a:lnSpc>
              <a:buClr>
                <a:srgbClr val="0000CC"/>
              </a:buClr>
              <a:buSzPct val="104687"/>
              <a:buFont typeface="Wingdings"/>
              <a:buChar char=""/>
              <a:tabLst>
                <a:tab pos="361315" algn="l"/>
              </a:tabLst>
            </a:pPr>
            <a:r>
              <a:rPr dirty="0" sz="3200" spc="-10">
                <a:solidFill>
                  <a:srgbClr val="40458B"/>
                </a:solidFill>
                <a:latin typeface="黑体"/>
                <a:cs typeface="黑体"/>
              </a:rPr>
              <a:t>开发ILP</a:t>
            </a:r>
            <a:r>
              <a:rPr dirty="0" sz="3200" spc="-15">
                <a:solidFill>
                  <a:srgbClr val="40458B"/>
                </a:solidFill>
                <a:latin typeface="黑体"/>
                <a:cs typeface="黑体"/>
              </a:rPr>
              <a:t>的两种方法</a:t>
            </a:r>
            <a:endParaRPr sz="3200">
              <a:latin typeface="黑体"/>
              <a:cs typeface="黑体"/>
            </a:endParaRPr>
          </a:p>
          <a:p>
            <a:pPr lvl="1" marL="828040" indent="-456565">
              <a:lnSpc>
                <a:spcPct val="100000"/>
              </a:lnSpc>
              <a:spcBef>
                <a:spcPts val="3979"/>
              </a:spcBef>
              <a:buClr>
                <a:srgbClr val="0000CC"/>
              </a:buClr>
              <a:buSzPct val="80357"/>
              <a:buFont typeface="Wingdings"/>
              <a:buChar char=""/>
              <a:tabLst>
                <a:tab pos="828040" algn="l"/>
              </a:tabLst>
            </a:pPr>
            <a:r>
              <a:rPr dirty="0" sz="2800" spc="-40">
                <a:solidFill>
                  <a:srgbClr val="FF09FF"/>
                </a:solidFill>
                <a:latin typeface="黑体"/>
                <a:cs typeface="黑体"/>
              </a:rPr>
              <a:t>基于硬件的动态开发方法</a:t>
            </a:r>
            <a:endParaRPr sz="2800">
              <a:latin typeface="黑体"/>
              <a:cs typeface="黑体"/>
            </a:endParaRPr>
          </a:p>
          <a:p>
            <a:pPr lvl="1" marL="828040" indent="-456565">
              <a:lnSpc>
                <a:spcPct val="100000"/>
              </a:lnSpc>
              <a:spcBef>
                <a:spcPts val="1010"/>
              </a:spcBef>
              <a:buClr>
                <a:srgbClr val="0000CC"/>
              </a:buClr>
              <a:buSzPct val="80357"/>
              <a:buFont typeface="Wingdings"/>
              <a:buChar char=""/>
              <a:tabLst>
                <a:tab pos="828040" algn="l"/>
              </a:tabLst>
            </a:pPr>
            <a:r>
              <a:rPr dirty="0" sz="2800" spc="-40">
                <a:solidFill>
                  <a:srgbClr val="FF09FF"/>
                </a:solidFill>
                <a:latin typeface="黑体"/>
                <a:cs typeface="黑体"/>
              </a:rPr>
              <a:t>基于软件的静态开发方法</a:t>
            </a:r>
            <a:endParaRPr sz="2800">
              <a:latin typeface="黑体"/>
              <a:cs typeface="黑体"/>
            </a:endParaRPr>
          </a:p>
          <a:p>
            <a:pPr>
              <a:lnSpc>
                <a:spcPct val="100000"/>
              </a:lnSpc>
              <a:spcBef>
                <a:spcPts val="3000"/>
              </a:spcBef>
            </a:pPr>
            <a:endParaRPr sz="2800">
              <a:latin typeface="黑体"/>
              <a:cs typeface="黑体"/>
            </a:endParaRPr>
          </a:p>
          <a:p>
            <a:pPr marL="228600" marR="5080">
              <a:lnSpc>
                <a:spcPct val="130000"/>
              </a:lnSpc>
              <a:spcBef>
                <a:spcPts val="5"/>
              </a:spcBef>
            </a:pPr>
            <a:r>
              <a:rPr dirty="0" sz="2400">
                <a:solidFill>
                  <a:srgbClr val="0000CC"/>
                </a:solidFill>
                <a:latin typeface="黑体"/>
                <a:cs typeface="黑体"/>
              </a:rPr>
              <a:t>第5</a:t>
            </a:r>
            <a:r>
              <a:rPr dirty="0" sz="2400" spc="-35">
                <a:solidFill>
                  <a:srgbClr val="0000CC"/>
                </a:solidFill>
                <a:latin typeface="黑体"/>
                <a:cs typeface="黑体"/>
              </a:rPr>
              <a:t>章 围绕基于硬件的动态开发展开的，本</a:t>
            </a:r>
            <a:r>
              <a:rPr dirty="0" sz="2400" spc="-5">
                <a:solidFill>
                  <a:srgbClr val="0000CC"/>
                </a:solidFill>
                <a:latin typeface="黑体"/>
                <a:cs typeface="黑体"/>
              </a:rPr>
              <a:t>章是基于软件的静态开发方法</a:t>
            </a:r>
            <a:endParaRPr sz="2400">
              <a:latin typeface="黑体"/>
              <a:cs typeface="黑体"/>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563735" cy="209550"/>
          </a:xfrm>
          <a:prstGeom prst="rect">
            <a:avLst/>
          </a:prstGeom>
        </p:spPr>
        <p:txBody>
          <a:bodyPr wrap="square" lIns="0" tIns="0" rIns="0" bIns="0" rtlCol="0" vert="horz">
            <a:spAutoFit/>
          </a:bodyPr>
          <a:lstStyle/>
          <a:p>
            <a:pPr>
              <a:lnSpc>
                <a:spcPts val="1650"/>
              </a:lnSpc>
              <a:tabLst>
                <a:tab pos="914908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30" b="1">
                <a:solidFill>
                  <a:srgbClr val="40458B"/>
                </a:solidFill>
                <a:latin typeface="宋体"/>
                <a:cs typeface="宋体"/>
              </a:rPr>
              <a:t>3/89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197916" y="696595"/>
            <a:ext cx="11515725" cy="5553710"/>
          </a:xfrm>
          <a:prstGeom prst="rect">
            <a:avLst/>
          </a:prstGeom>
        </p:spPr>
        <p:txBody>
          <a:bodyPr wrap="square" lIns="0" tIns="13335" rIns="0" bIns="0" rtlCol="0" vert="horz">
            <a:spAutoFit/>
          </a:bodyPr>
          <a:lstStyle/>
          <a:p>
            <a:pPr marL="1597025">
              <a:lnSpc>
                <a:spcPct val="100000"/>
              </a:lnSpc>
              <a:spcBef>
                <a:spcPts val="105"/>
              </a:spcBef>
            </a:pPr>
            <a:r>
              <a:rPr dirty="0" sz="2600">
                <a:solidFill>
                  <a:srgbClr val="0000CC"/>
                </a:solidFill>
                <a:latin typeface="黑体"/>
                <a:cs typeface="黑体"/>
              </a:rPr>
              <a:t>6.1.1</a:t>
            </a:r>
            <a:r>
              <a:rPr dirty="0" sz="2600" spc="-15">
                <a:solidFill>
                  <a:srgbClr val="0000CC"/>
                </a:solidFill>
                <a:latin typeface="黑体"/>
                <a:cs typeface="黑体"/>
              </a:rPr>
              <a:t> 指令调度的基本方法</a:t>
            </a:r>
            <a:endParaRPr sz="2600">
              <a:latin typeface="黑体"/>
              <a:cs typeface="黑体"/>
            </a:endParaRPr>
          </a:p>
          <a:p>
            <a:pPr marL="354965" indent="-342265">
              <a:lnSpc>
                <a:spcPct val="100000"/>
              </a:lnSpc>
              <a:spcBef>
                <a:spcPts val="2780"/>
              </a:spcBef>
              <a:buClr>
                <a:srgbClr val="0000CC"/>
              </a:buClr>
              <a:buFont typeface="Wingdings"/>
              <a:buChar char=""/>
              <a:tabLst>
                <a:tab pos="354965" algn="l"/>
              </a:tabLst>
            </a:pPr>
            <a:r>
              <a:rPr dirty="0" sz="2400">
                <a:solidFill>
                  <a:srgbClr val="40458B"/>
                </a:solidFill>
                <a:latin typeface="黑体"/>
                <a:cs typeface="黑体"/>
              </a:rPr>
              <a:t>开发指令级并行的方法很多</a:t>
            </a:r>
            <a:r>
              <a:rPr dirty="0" sz="2400">
                <a:solidFill>
                  <a:srgbClr val="40458B"/>
                </a:solidFill>
                <a:latin typeface="Tahoma"/>
                <a:cs typeface="Tahoma"/>
              </a:rPr>
              <a:t>,</a:t>
            </a:r>
            <a:r>
              <a:rPr dirty="0" sz="2400" spc="-5">
                <a:solidFill>
                  <a:srgbClr val="40458B"/>
                </a:solidFill>
                <a:latin typeface="黑体"/>
                <a:cs typeface="黑体"/>
              </a:rPr>
              <a:t>除了硬件机制外</a:t>
            </a:r>
            <a:r>
              <a:rPr dirty="0" sz="2400">
                <a:solidFill>
                  <a:srgbClr val="40458B"/>
                </a:solidFill>
                <a:latin typeface="Tahoma"/>
                <a:cs typeface="Tahoma"/>
              </a:rPr>
              <a:t>,</a:t>
            </a:r>
            <a:r>
              <a:rPr dirty="0" sz="2400" spc="-5">
                <a:solidFill>
                  <a:srgbClr val="40458B"/>
                </a:solidFill>
                <a:latin typeface="黑体"/>
                <a:cs typeface="黑体"/>
              </a:rPr>
              <a:t>编译器承担指令调度工作。</a:t>
            </a:r>
            <a:endParaRPr sz="2400">
              <a:latin typeface="黑体"/>
              <a:cs typeface="黑体"/>
            </a:endParaRPr>
          </a:p>
          <a:p>
            <a:pPr marL="354965" indent="-342265">
              <a:lnSpc>
                <a:spcPct val="100000"/>
              </a:lnSpc>
              <a:spcBef>
                <a:spcPts val="1440"/>
              </a:spcBef>
              <a:buClr>
                <a:srgbClr val="0000CC"/>
              </a:buClr>
              <a:buFont typeface="Wingdings"/>
              <a:buChar char=""/>
              <a:tabLst>
                <a:tab pos="354965" algn="l"/>
              </a:tabLst>
            </a:pPr>
            <a:r>
              <a:rPr dirty="0" sz="2400" spc="-5">
                <a:solidFill>
                  <a:srgbClr val="40458B"/>
                </a:solidFill>
                <a:latin typeface="黑体"/>
                <a:cs typeface="黑体"/>
              </a:rPr>
              <a:t>我们将编译器所使用的指令级并行开发方法称做“软件方法”。</a:t>
            </a:r>
            <a:endParaRPr sz="2400">
              <a:latin typeface="黑体"/>
              <a:cs typeface="黑体"/>
            </a:endParaRPr>
          </a:p>
          <a:p>
            <a:pPr marL="354965" indent="-342265">
              <a:lnSpc>
                <a:spcPct val="100000"/>
              </a:lnSpc>
              <a:spcBef>
                <a:spcPts val="1440"/>
              </a:spcBef>
              <a:buClr>
                <a:srgbClr val="0000CC"/>
              </a:buClr>
              <a:buFont typeface="Wingdings"/>
              <a:buChar char=""/>
              <a:tabLst>
                <a:tab pos="354965" algn="l"/>
              </a:tabLst>
            </a:pPr>
            <a:r>
              <a:rPr dirty="0" sz="2400" spc="-5">
                <a:solidFill>
                  <a:srgbClr val="FF0000"/>
                </a:solidFill>
                <a:latin typeface="黑体"/>
                <a:cs typeface="黑体"/>
              </a:rPr>
              <a:t>指令调度：</a:t>
            </a:r>
            <a:r>
              <a:rPr dirty="0" sz="2400" spc="-5">
                <a:solidFill>
                  <a:srgbClr val="40458B"/>
                </a:solidFill>
                <a:latin typeface="黑体"/>
                <a:cs typeface="黑体"/>
              </a:rPr>
              <a:t>找出不相关的指令序列，让它们在流水线上重叠并行执行</a:t>
            </a:r>
            <a:r>
              <a:rPr dirty="0" sz="2400" spc="-50">
                <a:solidFill>
                  <a:srgbClr val="40458B"/>
                </a:solidFill>
                <a:latin typeface="Tahoma"/>
                <a:cs typeface="Tahoma"/>
              </a:rPr>
              <a:t>.</a:t>
            </a:r>
            <a:endParaRPr sz="2400">
              <a:latin typeface="Tahoma"/>
              <a:cs typeface="Tahoma"/>
            </a:endParaRPr>
          </a:p>
          <a:p>
            <a:pPr marL="12700" marR="5080">
              <a:lnSpc>
                <a:spcPct val="150000"/>
              </a:lnSpc>
            </a:pPr>
            <a:r>
              <a:rPr dirty="0" sz="2400">
                <a:solidFill>
                  <a:srgbClr val="FF0000"/>
                </a:solidFill>
                <a:latin typeface="黑体"/>
                <a:cs typeface="黑体"/>
              </a:rPr>
              <a:t>缺点</a:t>
            </a:r>
            <a:r>
              <a:rPr dirty="0" sz="2400" spc="-55">
                <a:solidFill>
                  <a:srgbClr val="40458B"/>
                </a:solidFill>
                <a:latin typeface="黑体"/>
                <a:cs typeface="黑体"/>
              </a:rPr>
              <a:t>： 但缺乏必要的运行时的信息</a:t>
            </a:r>
            <a:r>
              <a:rPr dirty="0" sz="2400" spc="-10">
                <a:solidFill>
                  <a:srgbClr val="40458B"/>
                </a:solidFill>
                <a:latin typeface="Tahoma"/>
                <a:cs typeface="Tahoma"/>
              </a:rPr>
              <a:t>(</a:t>
            </a:r>
            <a:r>
              <a:rPr dirty="0" sz="2400" spc="-5">
                <a:solidFill>
                  <a:srgbClr val="40458B"/>
                </a:solidFill>
                <a:latin typeface="黑体"/>
                <a:cs typeface="黑体"/>
              </a:rPr>
              <a:t>如寄存器的值、访存指令的延迟、分支转移的方向</a:t>
            </a:r>
            <a:r>
              <a:rPr dirty="0" sz="2400" spc="-10">
                <a:solidFill>
                  <a:srgbClr val="40458B"/>
                </a:solidFill>
                <a:latin typeface="黑体"/>
                <a:cs typeface="黑体"/>
              </a:rPr>
              <a:t>等</a:t>
            </a:r>
            <a:r>
              <a:rPr dirty="0" sz="2400" spc="-10">
                <a:solidFill>
                  <a:srgbClr val="40458B"/>
                </a:solidFill>
                <a:latin typeface="Tahoma"/>
                <a:cs typeface="Tahoma"/>
              </a:rPr>
              <a:t>)</a:t>
            </a:r>
            <a:r>
              <a:rPr dirty="0" sz="2400" spc="-15">
                <a:solidFill>
                  <a:srgbClr val="40458B"/>
                </a:solidFill>
                <a:latin typeface="黑体"/>
                <a:cs typeface="黑体"/>
              </a:rPr>
              <a:t>又使得软件方法的实际效果不甚如意。因此软件方法通常需要与一定的硬件机制结</a:t>
            </a:r>
            <a:r>
              <a:rPr dirty="0" sz="2400" spc="-10">
                <a:solidFill>
                  <a:srgbClr val="40458B"/>
                </a:solidFill>
                <a:latin typeface="黑体"/>
                <a:cs typeface="黑体"/>
              </a:rPr>
              <a:t>合在一起使用</a:t>
            </a:r>
            <a:endParaRPr sz="2400">
              <a:latin typeface="黑体"/>
              <a:cs typeface="黑体"/>
            </a:endParaRPr>
          </a:p>
          <a:p>
            <a:pPr lvl="1" marL="1115695" indent="-455295">
              <a:lnSpc>
                <a:spcPct val="100000"/>
              </a:lnSpc>
              <a:spcBef>
                <a:spcPts val="1570"/>
              </a:spcBef>
              <a:buClr>
                <a:srgbClr val="40458B"/>
              </a:buClr>
              <a:buFont typeface="Wingdings"/>
              <a:buChar char=""/>
              <a:tabLst>
                <a:tab pos="1115695" algn="l"/>
              </a:tabLst>
            </a:pPr>
            <a:r>
              <a:rPr dirty="0" sz="2400" spc="-5">
                <a:solidFill>
                  <a:srgbClr val="E14B04"/>
                </a:solidFill>
                <a:latin typeface="黑体"/>
                <a:cs typeface="黑体"/>
              </a:rPr>
              <a:t>制约编译器指令调度的因素</a:t>
            </a:r>
            <a:endParaRPr sz="2400">
              <a:latin typeface="黑体"/>
              <a:cs typeface="黑体"/>
            </a:endParaRPr>
          </a:p>
          <a:p>
            <a:pPr lvl="2" marL="1457960" indent="-340995">
              <a:lnSpc>
                <a:spcPct val="100000"/>
              </a:lnSpc>
              <a:spcBef>
                <a:spcPts val="960"/>
              </a:spcBef>
              <a:buClr>
                <a:srgbClr val="40458B"/>
              </a:buClr>
              <a:buSzPct val="89285"/>
              <a:buFont typeface="Wingdings"/>
              <a:buChar char=""/>
              <a:tabLst>
                <a:tab pos="1457960" algn="l"/>
              </a:tabLst>
            </a:pPr>
            <a:r>
              <a:rPr dirty="0" sz="2800" spc="-40">
                <a:solidFill>
                  <a:srgbClr val="0000CC"/>
                </a:solidFill>
                <a:latin typeface="黑体"/>
                <a:cs typeface="黑体"/>
              </a:rPr>
              <a:t>程序固有的指令级并行</a:t>
            </a:r>
            <a:endParaRPr sz="2800">
              <a:latin typeface="黑体"/>
              <a:cs typeface="黑体"/>
            </a:endParaRPr>
          </a:p>
          <a:p>
            <a:pPr lvl="2" marL="1457960" indent="-340995">
              <a:lnSpc>
                <a:spcPct val="100000"/>
              </a:lnSpc>
              <a:spcBef>
                <a:spcPts val="1010"/>
              </a:spcBef>
              <a:buClr>
                <a:srgbClr val="40458B"/>
              </a:buClr>
              <a:buSzPct val="89285"/>
              <a:buFont typeface="Wingdings"/>
              <a:buChar char=""/>
              <a:tabLst>
                <a:tab pos="1457960" algn="l"/>
              </a:tabLst>
            </a:pPr>
            <a:r>
              <a:rPr dirty="0" sz="2800" spc="-40">
                <a:solidFill>
                  <a:srgbClr val="0000CC"/>
                </a:solidFill>
                <a:latin typeface="黑体"/>
                <a:cs typeface="黑体"/>
              </a:rPr>
              <a:t>流水线功能部件的延迟</a:t>
            </a:r>
            <a:endParaRPr sz="2800">
              <a:latin typeface="黑体"/>
              <a:cs typeface="黑体"/>
            </a:endParaRPr>
          </a:p>
        </p:txBody>
      </p:sp>
      <p:sp>
        <p:nvSpPr>
          <p:cNvPr id="9" name="object 9"/>
          <p:cNvSpPr txBox="1">
            <a:spLocks noGrp="1"/>
          </p:cNvSpPr>
          <p:nvPr>
            <p:ph type="title"/>
          </p:nvPr>
        </p:nvSpPr>
        <p:spPr>
          <a:xfrm>
            <a:off x="1403350" y="50419"/>
            <a:ext cx="10801350" cy="513715"/>
          </a:xfrm>
          <a:prstGeom prst="rect"/>
        </p:spPr>
        <p:txBody>
          <a:bodyPr wrap="square" lIns="0" tIns="12700" rIns="0" bIns="0" rtlCol="0" vert="horz">
            <a:spAutoFit/>
          </a:bodyPr>
          <a:lstStyle/>
          <a:p>
            <a:pPr marL="12700">
              <a:lnSpc>
                <a:spcPct val="100000"/>
              </a:lnSpc>
              <a:spcBef>
                <a:spcPts val="100"/>
              </a:spcBef>
              <a:tabLst>
                <a:tab pos="10788015" algn="l"/>
              </a:tabLst>
            </a:pPr>
            <a:r>
              <a:rPr dirty="0" spc="-100"/>
              <a:t>  </a:t>
            </a:r>
            <a:r>
              <a:rPr dirty="0"/>
              <a:t>6.1</a:t>
            </a:r>
            <a:r>
              <a:rPr dirty="0" spc="-5"/>
              <a:t> </a:t>
            </a:r>
            <a:r>
              <a:rPr dirty="0"/>
              <a:t>基本指</a:t>
            </a:r>
            <a:r>
              <a:rPr dirty="0" spc="-15"/>
              <a:t>令</a:t>
            </a:r>
            <a:r>
              <a:rPr dirty="0"/>
              <a:t>调度</a:t>
            </a:r>
            <a:r>
              <a:rPr dirty="0" spc="-15"/>
              <a:t>及</a:t>
            </a:r>
            <a:r>
              <a:rPr dirty="0"/>
              <a:t>循环</a:t>
            </a:r>
            <a:r>
              <a:rPr dirty="0" spc="-15"/>
              <a:t>展</a:t>
            </a:r>
            <a:r>
              <a:rPr dirty="0" spc="-50"/>
              <a:t>开</a:t>
            </a:r>
            <a:r>
              <a:rPr dirty="0"/>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563735" cy="209550"/>
          </a:xfrm>
          <a:prstGeom prst="rect">
            <a:avLst/>
          </a:prstGeom>
        </p:spPr>
        <p:txBody>
          <a:bodyPr wrap="square" lIns="0" tIns="0" rIns="0" bIns="0" rtlCol="0" vert="horz">
            <a:spAutoFit/>
          </a:bodyPr>
          <a:lstStyle/>
          <a:p>
            <a:pPr>
              <a:lnSpc>
                <a:spcPts val="1650"/>
              </a:lnSpc>
              <a:tabLst>
                <a:tab pos="914908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30" b="1">
                <a:solidFill>
                  <a:srgbClr val="40458B"/>
                </a:solidFill>
                <a:latin typeface="宋体"/>
                <a:cs typeface="宋体"/>
              </a:rPr>
              <a:t>4/89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22758" y="779526"/>
            <a:ext cx="8336280" cy="729615"/>
          </a:xfrm>
          <a:prstGeom prst="rect">
            <a:avLst/>
          </a:prstGeom>
        </p:spPr>
        <p:txBody>
          <a:bodyPr wrap="square" lIns="0" tIns="12700" rIns="0" bIns="0" rtlCol="0" vert="horz">
            <a:spAutoFit/>
          </a:bodyPr>
          <a:lstStyle/>
          <a:p>
            <a:pPr marL="353695" indent="-340995">
              <a:lnSpc>
                <a:spcPts val="2770"/>
              </a:lnSpc>
              <a:spcBef>
                <a:spcPts val="100"/>
              </a:spcBef>
              <a:buFont typeface="Wingdings"/>
              <a:buChar char=""/>
              <a:tabLst>
                <a:tab pos="353695" algn="l"/>
              </a:tabLst>
            </a:pPr>
            <a:r>
              <a:rPr dirty="0" sz="2400" spc="-5">
                <a:solidFill>
                  <a:srgbClr val="40458B"/>
                </a:solidFill>
                <a:latin typeface="黑体"/>
                <a:cs typeface="黑体"/>
              </a:rPr>
              <a:t>流水线功能部件的延迟</a:t>
            </a:r>
            <a:endParaRPr sz="2400">
              <a:latin typeface="黑体"/>
              <a:cs typeface="黑体"/>
            </a:endParaRPr>
          </a:p>
          <a:p>
            <a:pPr marL="3572510">
              <a:lnSpc>
                <a:spcPts val="2770"/>
              </a:lnSpc>
            </a:pPr>
            <a:r>
              <a:rPr dirty="0" sz="2400" spc="-20" b="1">
                <a:solidFill>
                  <a:srgbClr val="40458B"/>
                </a:solidFill>
                <a:latin typeface="宋体"/>
                <a:cs typeface="宋体"/>
              </a:rPr>
              <a:t>表6.1</a:t>
            </a:r>
            <a:r>
              <a:rPr dirty="0" sz="2400" spc="-25" b="1">
                <a:solidFill>
                  <a:srgbClr val="40458B"/>
                </a:solidFill>
                <a:latin typeface="宋体"/>
                <a:cs typeface="宋体"/>
              </a:rPr>
              <a:t>本节使用的浮点流水线的延迟</a:t>
            </a:r>
            <a:endParaRPr sz="2400">
              <a:latin typeface="宋体"/>
              <a:cs typeface="宋体"/>
            </a:endParaRPr>
          </a:p>
        </p:txBody>
      </p:sp>
      <p:sp>
        <p:nvSpPr>
          <p:cNvPr id="10" name="object 10"/>
          <p:cNvSpPr txBox="1">
            <a:spLocks noGrp="1"/>
          </p:cNvSpPr>
          <p:nvPr>
            <p:ph type="title"/>
          </p:nvPr>
        </p:nvSpPr>
        <p:spPr>
          <a:xfrm>
            <a:off x="1804161" y="36068"/>
            <a:ext cx="5309235" cy="513715"/>
          </a:xfrm>
          <a:prstGeom prst="rect"/>
        </p:spPr>
        <p:txBody>
          <a:bodyPr wrap="square" lIns="0" tIns="12700" rIns="0" bIns="0" rtlCol="0" vert="horz">
            <a:spAutoFit/>
          </a:bodyPr>
          <a:lstStyle/>
          <a:p>
            <a:pPr marL="12700">
              <a:lnSpc>
                <a:spcPct val="100000"/>
              </a:lnSpc>
              <a:spcBef>
                <a:spcPts val="100"/>
              </a:spcBef>
            </a:pPr>
            <a:r>
              <a:rPr dirty="0" u="none"/>
              <a:t>6.1</a:t>
            </a:r>
            <a:r>
              <a:rPr dirty="0" u="none" spc="-20"/>
              <a:t> 基本指令调度及循环展开</a:t>
            </a:r>
          </a:p>
        </p:txBody>
      </p:sp>
      <p:graphicFrame>
        <p:nvGraphicFramePr>
          <p:cNvPr id="11" name="object 11" descr=""/>
          <p:cNvGraphicFramePr>
            <a:graphicFrameLocks noGrp="1"/>
          </p:cNvGraphicFramePr>
          <p:nvPr/>
        </p:nvGraphicFramePr>
        <p:xfrm>
          <a:off x="2481262" y="1830387"/>
          <a:ext cx="6729730" cy="2849244"/>
        </p:xfrm>
        <a:graphic>
          <a:graphicData uri="http://schemas.openxmlformats.org/drawingml/2006/table">
            <a:tbl>
              <a:tblPr firstRow="1" bandRow="1">
                <a:tableStyleId>{2D5ABB26-0587-4C30-8999-92F81FD0307C}</a:tableStyleId>
              </a:tblPr>
              <a:tblGrid>
                <a:gridCol w="2395855"/>
                <a:gridCol w="2368549"/>
                <a:gridCol w="1860550"/>
              </a:tblGrid>
              <a:tr h="589915">
                <a:tc>
                  <a:txBody>
                    <a:bodyPr/>
                    <a:lstStyle/>
                    <a:p>
                      <a:pPr algn="ctr">
                        <a:lnSpc>
                          <a:spcPct val="100000"/>
                        </a:lnSpc>
                        <a:spcBef>
                          <a:spcPts val="345"/>
                        </a:spcBef>
                      </a:pPr>
                      <a:r>
                        <a:rPr dirty="0" sz="2000" spc="-20" b="1">
                          <a:solidFill>
                            <a:srgbClr val="CC0000"/>
                          </a:solidFill>
                          <a:latin typeface="宋体"/>
                          <a:cs typeface="宋体"/>
                        </a:rPr>
                        <a:t>产生结果的指令</a:t>
                      </a:r>
                      <a:endParaRPr sz="2000">
                        <a:latin typeface="宋体"/>
                        <a:cs typeface="宋体"/>
                      </a:endParaRPr>
                    </a:p>
                  </a:txBody>
                  <a:tcPr marL="0" marR="0" marB="0" marT="43815">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a:lnSpc>
                          <a:spcPct val="100000"/>
                        </a:lnSpc>
                        <a:spcBef>
                          <a:spcPts val="345"/>
                        </a:spcBef>
                      </a:pPr>
                      <a:r>
                        <a:rPr dirty="0" sz="2000" spc="-20" b="1">
                          <a:solidFill>
                            <a:srgbClr val="CC0000"/>
                          </a:solidFill>
                          <a:latin typeface="宋体"/>
                          <a:cs typeface="宋体"/>
                        </a:rPr>
                        <a:t>使用结果的指令</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marL="2540">
                        <a:lnSpc>
                          <a:spcPct val="100000"/>
                        </a:lnSpc>
                        <a:spcBef>
                          <a:spcPts val="345"/>
                        </a:spcBef>
                      </a:pPr>
                      <a:r>
                        <a:rPr dirty="0" sz="2000" spc="-10" b="1">
                          <a:solidFill>
                            <a:srgbClr val="CC0000"/>
                          </a:solidFill>
                          <a:latin typeface="宋体"/>
                          <a:cs typeface="宋体"/>
                        </a:rPr>
                        <a:t>延迟</a:t>
                      </a:r>
                      <a:r>
                        <a:rPr dirty="0" sz="2000" spc="-10" b="1">
                          <a:solidFill>
                            <a:srgbClr val="CC0000"/>
                          </a:solidFill>
                          <a:latin typeface="Times New Roman"/>
                          <a:cs typeface="Times New Roman"/>
                        </a:rPr>
                        <a:t>(cycles)</a:t>
                      </a:r>
                      <a:endParaRPr sz="2000">
                        <a:latin typeface="Times New Roman"/>
                        <a:cs typeface="Times New Roman"/>
                      </a:endParaRPr>
                    </a:p>
                  </a:txBody>
                  <a:tcPr marL="0" marR="0" marB="0" marT="43815">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r>
              <a:tr h="489584">
                <a:tc>
                  <a:txBody>
                    <a:bodyPr/>
                    <a:lstStyle/>
                    <a:p>
                      <a:pPr algn="ctr">
                        <a:lnSpc>
                          <a:spcPct val="100000"/>
                        </a:lnSpc>
                        <a:spcBef>
                          <a:spcPts val="340"/>
                        </a:spcBef>
                      </a:pPr>
                      <a:r>
                        <a:rPr dirty="0" sz="2000" spc="-20" b="1">
                          <a:solidFill>
                            <a:srgbClr val="006600"/>
                          </a:solidFill>
                          <a:latin typeface="宋体"/>
                          <a:cs typeface="宋体"/>
                        </a:rPr>
                        <a:t>浮点计算</a:t>
                      </a:r>
                      <a:endParaRPr sz="2000">
                        <a:latin typeface="宋体"/>
                        <a:cs typeface="宋体"/>
                      </a:endParaRPr>
                    </a:p>
                  </a:txBody>
                  <a:tcPr marL="0" marR="0" marB="0" marT="4318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40"/>
                        </a:spcBef>
                      </a:pPr>
                      <a:r>
                        <a:rPr dirty="0" sz="2000" spc="-20" b="1">
                          <a:solidFill>
                            <a:srgbClr val="080808"/>
                          </a:solidFill>
                          <a:latin typeface="宋体"/>
                          <a:cs typeface="宋体"/>
                        </a:rPr>
                        <a:t>另一个浮点计算</a:t>
                      </a:r>
                      <a:endParaRPr sz="2000">
                        <a:latin typeface="宋体"/>
                        <a:cs typeface="宋体"/>
                      </a:endParaRPr>
                    </a:p>
                  </a:txBody>
                  <a:tcPr marL="0" marR="0" marB="0" marT="4318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35">
                        <a:lnSpc>
                          <a:spcPct val="100000"/>
                        </a:lnSpc>
                        <a:spcBef>
                          <a:spcPts val="340"/>
                        </a:spcBef>
                      </a:pPr>
                      <a:r>
                        <a:rPr dirty="0" sz="2000" spc="-50" b="1">
                          <a:solidFill>
                            <a:srgbClr val="080808"/>
                          </a:solidFill>
                          <a:latin typeface="Times New Roman"/>
                          <a:cs typeface="Times New Roman"/>
                        </a:rPr>
                        <a:t>3</a:t>
                      </a:r>
                      <a:endParaRPr sz="2000">
                        <a:latin typeface="Times New Roman"/>
                        <a:cs typeface="Times New Roman"/>
                      </a:endParaRPr>
                    </a:p>
                  </a:txBody>
                  <a:tcPr marL="0" marR="0" marB="0" marT="4318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589915">
                <a:tc>
                  <a:txBody>
                    <a:bodyPr/>
                    <a:lstStyle/>
                    <a:p>
                      <a:pPr algn="ctr">
                        <a:lnSpc>
                          <a:spcPct val="100000"/>
                        </a:lnSpc>
                        <a:spcBef>
                          <a:spcPts val="345"/>
                        </a:spcBef>
                      </a:pPr>
                      <a:r>
                        <a:rPr dirty="0" sz="2000" spc="-20" b="1">
                          <a:solidFill>
                            <a:srgbClr val="006600"/>
                          </a:solidFill>
                          <a:latin typeface="宋体"/>
                          <a:cs typeface="宋体"/>
                        </a:rPr>
                        <a:t>浮点计算</a:t>
                      </a:r>
                      <a:endParaRPr sz="2000">
                        <a:latin typeface="宋体"/>
                        <a:cs typeface="宋体"/>
                      </a:endParaRPr>
                    </a:p>
                  </a:txBody>
                  <a:tcPr marL="0" marR="0" marB="0" marT="4381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45"/>
                        </a:spcBef>
                      </a:pPr>
                      <a:r>
                        <a:rPr dirty="0" sz="2000" spc="-10" b="1">
                          <a:solidFill>
                            <a:srgbClr val="080808"/>
                          </a:solidFill>
                          <a:latin typeface="宋体"/>
                          <a:cs typeface="宋体"/>
                        </a:rPr>
                        <a:t>浮点</a:t>
                      </a:r>
                      <a:r>
                        <a:rPr dirty="0" sz="2000" spc="-10" b="1">
                          <a:solidFill>
                            <a:srgbClr val="080808"/>
                          </a:solidFill>
                          <a:latin typeface="Times New Roman"/>
                          <a:cs typeface="Times New Roman"/>
                        </a:rPr>
                        <a:t>store(S.D)</a:t>
                      </a:r>
                      <a:endParaRPr sz="2000">
                        <a:latin typeface="Times New Roman"/>
                        <a:cs typeface="Times New Roman"/>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35">
                        <a:lnSpc>
                          <a:spcPct val="100000"/>
                        </a:lnSpc>
                        <a:spcBef>
                          <a:spcPts val="345"/>
                        </a:spcBef>
                      </a:pPr>
                      <a:r>
                        <a:rPr dirty="0" sz="2000" spc="-50" b="1">
                          <a:solidFill>
                            <a:srgbClr val="080808"/>
                          </a:solidFill>
                          <a:latin typeface="Times New Roman"/>
                          <a:cs typeface="Times New Roman"/>
                        </a:rPr>
                        <a:t>2</a:t>
                      </a:r>
                      <a:endParaRPr sz="2000">
                        <a:latin typeface="Times New Roman"/>
                        <a:cs typeface="Times New Roman"/>
                      </a:endParaRPr>
                    </a:p>
                  </a:txBody>
                  <a:tcPr marL="0" marR="0" marB="0" marT="4381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589915">
                <a:tc>
                  <a:txBody>
                    <a:bodyPr/>
                    <a:lstStyle/>
                    <a:p>
                      <a:pPr algn="ctr">
                        <a:lnSpc>
                          <a:spcPct val="100000"/>
                        </a:lnSpc>
                        <a:spcBef>
                          <a:spcPts val="345"/>
                        </a:spcBef>
                      </a:pPr>
                      <a:r>
                        <a:rPr dirty="0" sz="2000" spc="-10" b="1">
                          <a:solidFill>
                            <a:srgbClr val="006600"/>
                          </a:solidFill>
                          <a:latin typeface="宋体"/>
                          <a:cs typeface="宋体"/>
                        </a:rPr>
                        <a:t>浮点</a:t>
                      </a:r>
                      <a:r>
                        <a:rPr dirty="0" sz="2000" spc="-10" b="1">
                          <a:solidFill>
                            <a:srgbClr val="006600"/>
                          </a:solidFill>
                          <a:latin typeface="Times New Roman"/>
                          <a:cs typeface="Times New Roman"/>
                        </a:rPr>
                        <a:t>Load(L.D)</a:t>
                      </a:r>
                      <a:endParaRPr sz="2000">
                        <a:latin typeface="Times New Roman"/>
                        <a:cs typeface="Times New Roman"/>
                      </a:endParaRPr>
                    </a:p>
                  </a:txBody>
                  <a:tcPr marL="0" marR="0" marB="0" marT="4381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45"/>
                        </a:spcBef>
                      </a:pPr>
                      <a:r>
                        <a:rPr dirty="0" sz="2000" spc="-20" b="1">
                          <a:solidFill>
                            <a:srgbClr val="080808"/>
                          </a:solidFill>
                          <a:latin typeface="宋体"/>
                          <a:cs typeface="宋体"/>
                        </a:rPr>
                        <a:t>浮点计算</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35">
                        <a:lnSpc>
                          <a:spcPct val="100000"/>
                        </a:lnSpc>
                        <a:spcBef>
                          <a:spcPts val="345"/>
                        </a:spcBef>
                      </a:pPr>
                      <a:r>
                        <a:rPr dirty="0" sz="2000" spc="-50" b="1">
                          <a:solidFill>
                            <a:srgbClr val="080808"/>
                          </a:solidFill>
                          <a:latin typeface="Times New Roman"/>
                          <a:cs typeface="Times New Roman"/>
                        </a:rPr>
                        <a:t>1</a:t>
                      </a:r>
                      <a:endParaRPr sz="2000">
                        <a:latin typeface="Times New Roman"/>
                        <a:cs typeface="Times New Roman"/>
                      </a:endParaRPr>
                    </a:p>
                  </a:txBody>
                  <a:tcPr marL="0" marR="0" marB="0" marT="4381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589915">
                <a:tc>
                  <a:txBody>
                    <a:bodyPr/>
                    <a:lstStyle/>
                    <a:p>
                      <a:pPr algn="ctr">
                        <a:lnSpc>
                          <a:spcPct val="100000"/>
                        </a:lnSpc>
                        <a:spcBef>
                          <a:spcPts val="350"/>
                        </a:spcBef>
                      </a:pPr>
                      <a:r>
                        <a:rPr dirty="0" sz="2000" spc="-10" b="1">
                          <a:solidFill>
                            <a:srgbClr val="006600"/>
                          </a:solidFill>
                          <a:latin typeface="宋体"/>
                          <a:cs typeface="宋体"/>
                        </a:rPr>
                        <a:t>浮点</a:t>
                      </a:r>
                      <a:r>
                        <a:rPr dirty="0" sz="2000" spc="-10" b="1">
                          <a:solidFill>
                            <a:srgbClr val="006600"/>
                          </a:solidFill>
                          <a:latin typeface="Times New Roman"/>
                          <a:cs typeface="Times New Roman"/>
                        </a:rPr>
                        <a:t>Load(L.D)</a:t>
                      </a:r>
                      <a:endParaRPr sz="2000">
                        <a:latin typeface="Times New Roman"/>
                        <a:cs typeface="Times New Roman"/>
                      </a:endParaRPr>
                    </a:p>
                  </a:txBody>
                  <a:tcPr marL="0" marR="0" marB="0" marT="44450">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a:lnSpc>
                          <a:spcPct val="100000"/>
                        </a:lnSpc>
                        <a:spcBef>
                          <a:spcPts val="350"/>
                        </a:spcBef>
                      </a:pPr>
                      <a:r>
                        <a:rPr dirty="0" sz="2000" spc="-10" b="1">
                          <a:solidFill>
                            <a:srgbClr val="080808"/>
                          </a:solidFill>
                          <a:latin typeface="宋体"/>
                          <a:cs typeface="宋体"/>
                        </a:rPr>
                        <a:t>浮点</a:t>
                      </a:r>
                      <a:r>
                        <a:rPr dirty="0" sz="2000" spc="-10" b="1">
                          <a:solidFill>
                            <a:srgbClr val="080808"/>
                          </a:solidFill>
                          <a:latin typeface="Times New Roman"/>
                          <a:cs typeface="Times New Roman"/>
                        </a:rPr>
                        <a:t>store(S.D)</a:t>
                      </a:r>
                      <a:endParaRPr sz="2000">
                        <a:latin typeface="Times New Roman"/>
                        <a:cs typeface="Times New Roman"/>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marL="635">
                        <a:lnSpc>
                          <a:spcPct val="100000"/>
                        </a:lnSpc>
                        <a:spcBef>
                          <a:spcPts val="350"/>
                        </a:spcBef>
                      </a:pPr>
                      <a:r>
                        <a:rPr dirty="0" sz="2000" spc="-50" b="1">
                          <a:solidFill>
                            <a:srgbClr val="080808"/>
                          </a:solidFill>
                          <a:latin typeface="Times New Roman"/>
                          <a:cs typeface="Times New Roman"/>
                        </a:rPr>
                        <a:t>0</a:t>
                      </a:r>
                      <a:endParaRPr sz="2000">
                        <a:latin typeface="Times New Roman"/>
                        <a:cs typeface="Times New Roman"/>
                      </a:endParaRPr>
                    </a:p>
                  </a:txBody>
                  <a:tcPr marL="0" marR="0" marB="0" marT="44450">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tcPr>
                </a:tc>
              </a:tr>
            </a:tbl>
          </a:graphicData>
        </a:graphic>
      </p:graphicFrame>
      <p:sp>
        <p:nvSpPr>
          <p:cNvPr id="12" name="object 12" descr=""/>
          <p:cNvSpPr txBox="1"/>
          <p:nvPr/>
        </p:nvSpPr>
        <p:spPr>
          <a:xfrm>
            <a:off x="1061415" y="5085715"/>
            <a:ext cx="9966325" cy="756920"/>
          </a:xfrm>
          <a:prstGeom prst="rect">
            <a:avLst/>
          </a:prstGeom>
        </p:spPr>
        <p:txBody>
          <a:bodyPr wrap="square" lIns="0" tIns="12700" rIns="0" bIns="0" rtlCol="0" vert="horz">
            <a:spAutoFit/>
          </a:bodyPr>
          <a:lstStyle/>
          <a:p>
            <a:pPr marL="12700" marR="5080">
              <a:lnSpc>
                <a:spcPct val="100000"/>
              </a:lnSpc>
              <a:spcBef>
                <a:spcPts val="100"/>
              </a:spcBef>
            </a:pPr>
            <a:r>
              <a:rPr dirty="0" sz="2400" spc="-95">
                <a:solidFill>
                  <a:srgbClr val="40458B"/>
                </a:solidFill>
                <a:latin typeface="黑体"/>
                <a:cs typeface="黑体"/>
              </a:rPr>
              <a:t>注：浮点 </a:t>
            </a:r>
            <a:r>
              <a:rPr dirty="0" sz="2400">
                <a:solidFill>
                  <a:srgbClr val="40458B"/>
                </a:solidFill>
                <a:latin typeface="Tahoma"/>
                <a:cs typeface="Tahoma"/>
              </a:rPr>
              <a:t>load</a:t>
            </a:r>
            <a:r>
              <a:rPr dirty="0" sz="2400" spc="-85">
                <a:solidFill>
                  <a:srgbClr val="40458B"/>
                </a:solidFill>
                <a:latin typeface="Tahoma"/>
                <a:cs typeface="Tahoma"/>
              </a:rPr>
              <a:t> </a:t>
            </a:r>
            <a:r>
              <a:rPr dirty="0" sz="2400" spc="-25">
                <a:solidFill>
                  <a:srgbClr val="40458B"/>
                </a:solidFill>
                <a:latin typeface="黑体"/>
                <a:cs typeface="黑体"/>
              </a:rPr>
              <a:t>指令的结果可以通过定向路径及时地送给浮点 </a:t>
            </a:r>
            <a:r>
              <a:rPr dirty="0" sz="2400">
                <a:solidFill>
                  <a:srgbClr val="40458B"/>
                </a:solidFill>
                <a:latin typeface="Tahoma"/>
                <a:cs typeface="Tahoma"/>
              </a:rPr>
              <a:t>store</a:t>
            </a:r>
            <a:r>
              <a:rPr dirty="0" sz="2400" spc="-35">
                <a:solidFill>
                  <a:srgbClr val="40458B"/>
                </a:solidFill>
                <a:latin typeface="Tahoma"/>
                <a:cs typeface="Tahoma"/>
              </a:rPr>
              <a:t> </a:t>
            </a:r>
            <a:r>
              <a:rPr dirty="0" sz="2400">
                <a:solidFill>
                  <a:srgbClr val="40458B"/>
                </a:solidFill>
                <a:latin typeface="黑体"/>
                <a:cs typeface="黑体"/>
              </a:rPr>
              <a:t>指令</a:t>
            </a:r>
            <a:r>
              <a:rPr dirty="0" sz="2400">
                <a:solidFill>
                  <a:srgbClr val="40458B"/>
                </a:solidFill>
                <a:latin typeface="Tahoma"/>
                <a:cs typeface="Tahoma"/>
              </a:rPr>
              <a:t>,</a:t>
            </a:r>
            <a:r>
              <a:rPr dirty="0" sz="2400" spc="-50">
                <a:solidFill>
                  <a:srgbClr val="40458B"/>
                </a:solidFill>
                <a:latin typeface="黑体"/>
                <a:cs typeface="黑体"/>
              </a:rPr>
              <a:t>所</a:t>
            </a:r>
            <a:r>
              <a:rPr dirty="0" sz="2400" spc="-90">
                <a:solidFill>
                  <a:srgbClr val="40458B"/>
                </a:solidFill>
                <a:latin typeface="黑体"/>
                <a:cs typeface="黑体"/>
              </a:rPr>
              <a:t>以延迟为 </a:t>
            </a:r>
            <a:r>
              <a:rPr dirty="0" sz="2400" spc="-20">
                <a:solidFill>
                  <a:srgbClr val="40458B"/>
                </a:solidFill>
                <a:latin typeface="Tahoma"/>
                <a:cs typeface="Tahoma"/>
              </a:rPr>
              <a:t>0(</a:t>
            </a:r>
            <a:r>
              <a:rPr dirty="0" sz="2400">
                <a:solidFill>
                  <a:srgbClr val="40458B"/>
                </a:solidFill>
                <a:latin typeface="黑体"/>
                <a:cs typeface="黑体"/>
              </a:rPr>
              <a:t>就是不用插入停顿</a:t>
            </a:r>
            <a:r>
              <a:rPr dirty="0" sz="2400" spc="-10">
                <a:solidFill>
                  <a:srgbClr val="40458B"/>
                </a:solidFill>
                <a:latin typeface="Tahoma"/>
                <a:cs typeface="Tahoma"/>
              </a:rPr>
              <a:t>)</a:t>
            </a:r>
            <a:r>
              <a:rPr dirty="0" sz="2400" spc="-50">
                <a:solidFill>
                  <a:srgbClr val="40458B"/>
                </a:solidFill>
                <a:latin typeface="黑体"/>
                <a:cs typeface="黑体"/>
              </a:rPr>
              <a:t>。</a:t>
            </a:r>
            <a:endParaRPr sz="2400">
              <a:latin typeface="黑体"/>
              <a:cs typeface="黑体"/>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563735" cy="209550"/>
          </a:xfrm>
          <a:prstGeom prst="rect">
            <a:avLst/>
          </a:prstGeom>
        </p:spPr>
        <p:txBody>
          <a:bodyPr wrap="square" lIns="0" tIns="0" rIns="0" bIns="0" rtlCol="0" vert="horz">
            <a:spAutoFit/>
          </a:bodyPr>
          <a:lstStyle/>
          <a:p>
            <a:pPr>
              <a:lnSpc>
                <a:spcPts val="1650"/>
              </a:lnSpc>
              <a:tabLst>
                <a:tab pos="914908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30" b="1">
                <a:solidFill>
                  <a:srgbClr val="40458B"/>
                </a:solidFill>
                <a:latin typeface="宋体"/>
                <a:cs typeface="宋体"/>
              </a:rPr>
              <a:t>5/89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918768" y="682879"/>
            <a:ext cx="11320145" cy="1918970"/>
          </a:xfrm>
          <a:prstGeom prst="rect">
            <a:avLst/>
          </a:prstGeom>
        </p:spPr>
        <p:txBody>
          <a:bodyPr wrap="square" lIns="0" tIns="12700" rIns="0" bIns="0" rtlCol="0" vert="horz">
            <a:spAutoFit/>
          </a:bodyPr>
          <a:lstStyle/>
          <a:p>
            <a:pPr marL="12700" marR="5080" indent="694690">
              <a:lnSpc>
                <a:spcPct val="130000"/>
              </a:lnSpc>
              <a:spcBef>
                <a:spcPts val="100"/>
              </a:spcBef>
            </a:pPr>
            <a:r>
              <a:rPr dirty="0" sz="1800" spc="-10" b="1">
                <a:solidFill>
                  <a:srgbClr val="E14B04"/>
                </a:solidFill>
                <a:latin typeface="宋体"/>
                <a:cs typeface="宋体"/>
              </a:rPr>
              <a:t>注：采用5段流水线，分支、整数load</a:t>
            </a:r>
            <a:r>
              <a:rPr dirty="0" sz="1800" spc="-15" b="1">
                <a:solidFill>
                  <a:srgbClr val="E14B04"/>
                </a:solidFill>
                <a:latin typeface="宋体"/>
                <a:cs typeface="宋体"/>
              </a:rPr>
              <a:t>的延迟都是一个时钟周期 假设整数运算部件是全流水的或者重复设置了足够多的份数,因而每个时钟周期都能流出一条整数指令。</a:t>
            </a:r>
            <a:endParaRPr sz="1800">
              <a:latin typeface="宋体"/>
              <a:cs typeface="宋体"/>
            </a:endParaRPr>
          </a:p>
          <a:p>
            <a:pPr>
              <a:lnSpc>
                <a:spcPct val="100000"/>
              </a:lnSpc>
              <a:spcBef>
                <a:spcPts val="1980"/>
              </a:spcBef>
            </a:pPr>
            <a:endParaRPr sz="1800">
              <a:latin typeface="宋体"/>
              <a:cs typeface="宋体"/>
            </a:endParaRPr>
          </a:p>
          <a:p>
            <a:pPr marL="12700">
              <a:lnSpc>
                <a:spcPct val="100000"/>
              </a:lnSpc>
            </a:pPr>
            <a:r>
              <a:rPr dirty="0" sz="1800" spc="-20" b="1">
                <a:solidFill>
                  <a:srgbClr val="E14B04"/>
                </a:solidFill>
                <a:latin typeface="宋体"/>
                <a:cs typeface="宋体"/>
              </a:rPr>
              <a:t>例</a:t>
            </a:r>
            <a:r>
              <a:rPr dirty="0" sz="1800" b="1">
                <a:solidFill>
                  <a:srgbClr val="E14B04"/>
                </a:solidFill>
                <a:latin typeface="宋体"/>
                <a:cs typeface="宋体"/>
              </a:rPr>
              <a:t>6.1</a:t>
            </a:r>
            <a:r>
              <a:rPr dirty="0" sz="1800" spc="290" b="1">
                <a:solidFill>
                  <a:srgbClr val="E14B04"/>
                </a:solidFill>
                <a:latin typeface="宋体"/>
                <a:cs typeface="宋体"/>
              </a:rPr>
              <a:t> </a:t>
            </a:r>
            <a:r>
              <a:rPr dirty="0" sz="1800" spc="-20" b="1">
                <a:solidFill>
                  <a:srgbClr val="0000CC"/>
                </a:solidFill>
                <a:latin typeface="宋体"/>
                <a:cs typeface="宋体"/>
              </a:rPr>
              <a:t>对于下面的源代码，转换成</a:t>
            </a:r>
            <a:r>
              <a:rPr dirty="0" sz="1800" spc="-10" b="1">
                <a:solidFill>
                  <a:srgbClr val="0000CC"/>
                </a:solidFill>
                <a:latin typeface="宋体"/>
                <a:cs typeface="宋体"/>
              </a:rPr>
              <a:t>MIPS</a:t>
            </a:r>
            <a:r>
              <a:rPr dirty="0" sz="1800" spc="-25" b="1">
                <a:solidFill>
                  <a:srgbClr val="0000CC"/>
                </a:solidFill>
                <a:latin typeface="宋体"/>
                <a:cs typeface="宋体"/>
              </a:rPr>
              <a:t>汇编语言，在不进行指令调度和进行指令调度两种情况下，分析其代码一</a:t>
            </a:r>
            <a:endParaRPr sz="1800">
              <a:latin typeface="宋体"/>
              <a:cs typeface="宋体"/>
            </a:endParaRPr>
          </a:p>
          <a:p>
            <a:pPr marL="12700">
              <a:lnSpc>
                <a:spcPct val="100000"/>
              </a:lnSpc>
              <a:spcBef>
                <a:spcPts val="650"/>
              </a:spcBef>
            </a:pPr>
            <a:r>
              <a:rPr dirty="0" sz="1800" spc="-15" b="1">
                <a:solidFill>
                  <a:srgbClr val="0000CC"/>
                </a:solidFill>
                <a:latin typeface="宋体"/>
                <a:cs typeface="宋体"/>
              </a:rPr>
              <a:t>次循环所需的执行时间。</a:t>
            </a:r>
            <a:endParaRPr sz="1800">
              <a:latin typeface="宋体"/>
              <a:cs typeface="宋体"/>
            </a:endParaRPr>
          </a:p>
        </p:txBody>
      </p:sp>
      <p:sp>
        <p:nvSpPr>
          <p:cNvPr id="10" name="object 10" descr=""/>
          <p:cNvSpPr txBox="1"/>
          <p:nvPr/>
        </p:nvSpPr>
        <p:spPr>
          <a:xfrm>
            <a:off x="1226616" y="2560320"/>
            <a:ext cx="3566160" cy="1544955"/>
          </a:xfrm>
          <a:prstGeom prst="rect">
            <a:avLst/>
          </a:prstGeom>
        </p:spPr>
        <p:txBody>
          <a:bodyPr wrap="square" lIns="0" tIns="195580" rIns="0" bIns="0" rtlCol="0" vert="horz">
            <a:spAutoFit/>
          </a:bodyPr>
          <a:lstStyle/>
          <a:p>
            <a:pPr marL="12700">
              <a:lnSpc>
                <a:spcPct val="100000"/>
              </a:lnSpc>
              <a:spcBef>
                <a:spcPts val="1540"/>
              </a:spcBef>
            </a:pPr>
            <a:r>
              <a:rPr dirty="0" sz="2400" b="1">
                <a:solidFill>
                  <a:srgbClr val="40458B"/>
                </a:solidFill>
                <a:latin typeface="宋体"/>
                <a:cs typeface="宋体"/>
              </a:rPr>
              <a:t>for</a:t>
            </a:r>
            <a:r>
              <a:rPr dirty="0" sz="2400" spc="-60" b="1">
                <a:solidFill>
                  <a:srgbClr val="40458B"/>
                </a:solidFill>
                <a:latin typeface="宋体"/>
                <a:cs typeface="宋体"/>
              </a:rPr>
              <a:t> </a:t>
            </a:r>
            <a:r>
              <a:rPr dirty="0" sz="2400" b="1">
                <a:solidFill>
                  <a:srgbClr val="40458B"/>
                </a:solidFill>
                <a:latin typeface="宋体"/>
                <a:cs typeface="宋体"/>
              </a:rPr>
              <a:t>(i=1000;</a:t>
            </a:r>
            <a:r>
              <a:rPr dirty="0" sz="2400" spc="-45" b="1">
                <a:solidFill>
                  <a:srgbClr val="40458B"/>
                </a:solidFill>
                <a:latin typeface="宋体"/>
                <a:cs typeface="宋体"/>
              </a:rPr>
              <a:t> </a:t>
            </a:r>
            <a:r>
              <a:rPr dirty="0" sz="2400" b="1">
                <a:solidFill>
                  <a:srgbClr val="40458B"/>
                </a:solidFill>
                <a:latin typeface="宋体"/>
                <a:cs typeface="宋体"/>
              </a:rPr>
              <a:t>i&gt;0;</a:t>
            </a:r>
            <a:r>
              <a:rPr dirty="0" sz="2400" spc="-60" b="1">
                <a:solidFill>
                  <a:srgbClr val="40458B"/>
                </a:solidFill>
                <a:latin typeface="宋体"/>
                <a:cs typeface="宋体"/>
              </a:rPr>
              <a:t> </a:t>
            </a:r>
            <a:r>
              <a:rPr dirty="0" sz="2400" b="1">
                <a:solidFill>
                  <a:srgbClr val="40458B"/>
                </a:solidFill>
                <a:latin typeface="宋体"/>
                <a:cs typeface="宋体"/>
              </a:rPr>
              <a:t>i-</a:t>
            </a:r>
            <a:r>
              <a:rPr dirty="0" sz="2400" spc="-55" b="1">
                <a:solidFill>
                  <a:srgbClr val="40458B"/>
                </a:solidFill>
                <a:latin typeface="宋体"/>
                <a:cs typeface="宋体"/>
              </a:rPr>
              <a:t> </a:t>
            </a:r>
            <a:r>
              <a:rPr dirty="0" sz="2400" spc="-20" b="1">
                <a:solidFill>
                  <a:srgbClr val="40458B"/>
                </a:solidFill>
                <a:latin typeface="宋体"/>
                <a:cs typeface="宋体"/>
              </a:rPr>
              <a:t>-</a:t>
            </a:r>
            <a:r>
              <a:rPr dirty="0" sz="2400" spc="-50" b="1">
                <a:solidFill>
                  <a:srgbClr val="40458B"/>
                </a:solidFill>
                <a:latin typeface="宋体"/>
                <a:cs typeface="宋体"/>
              </a:rPr>
              <a:t>)</a:t>
            </a:r>
            <a:endParaRPr sz="2400">
              <a:latin typeface="宋体"/>
              <a:cs typeface="宋体"/>
            </a:endParaRPr>
          </a:p>
          <a:p>
            <a:pPr marL="926465">
              <a:lnSpc>
                <a:spcPct val="100000"/>
              </a:lnSpc>
              <a:spcBef>
                <a:spcPts val="1445"/>
              </a:spcBef>
            </a:pPr>
            <a:r>
              <a:rPr dirty="0" sz="2400" b="1">
                <a:solidFill>
                  <a:srgbClr val="40458B"/>
                </a:solidFill>
                <a:latin typeface="宋体"/>
                <a:cs typeface="宋体"/>
              </a:rPr>
              <a:t>x[i]</a:t>
            </a:r>
            <a:r>
              <a:rPr dirty="0" sz="2400" spc="-45" b="1">
                <a:solidFill>
                  <a:srgbClr val="40458B"/>
                </a:solidFill>
                <a:latin typeface="宋体"/>
                <a:cs typeface="宋体"/>
              </a:rPr>
              <a:t> </a:t>
            </a:r>
            <a:r>
              <a:rPr dirty="0" sz="2400" b="1">
                <a:solidFill>
                  <a:srgbClr val="40458B"/>
                </a:solidFill>
                <a:latin typeface="宋体"/>
                <a:cs typeface="宋体"/>
              </a:rPr>
              <a:t>=</a:t>
            </a:r>
            <a:r>
              <a:rPr dirty="0" sz="2400" spc="-35" b="1">
                <a:solidFill>
                  <a:srgbClr val="40458B"/>
                </a:solidFill>
                <a:latin typeface="宋体"/>
                <a:cs typeface="宋体"/>
              </a:rPr>
              <a:t> </a:t>
            </a:r>
            <a:r>
              <a:rPr dirty="0" sz="2400" b="1">
                <a:solidFill>
                  <a:srgbClr val="40458B"/>
                </a:solidFill>
                <a:latin typeface="宋体"/>
                <a:cs typeface="宋体"/>
              </a:rPr>
              <a:t>x[i]</a:t>
            </a:r>
            <a:r>
              <a:rPr dirty="0" sz="2400" spc="-30" b="1">
                <a:solidFill>
                  <a:srgbClr val="40458B"/>
                </a:solidFill>
                <a:latin typeface="宋体"/>
                <a:cs typeface="宋体"/>
              </a:rPr>
              <a:t> </a:t>
            </a:r>
            <a:r>
              <a:rPr dirty="0" sz="2400" b="1">
                <a:solidFill>
                  <a:srgbClr val="40458B"/>
                </a:solidFill>
                <a:latin typeface="宋体"/>
                <a:cs typeface="宋体"/>
              </a:rPr>
              <a:t>+</a:t>
            </a:r>
            <a:r>
              <a:rPr dirty="0" sz="2400" spc="-30" b="1">
                <a:solidFill>
                  <a:srgbClr val="40458B"/>
                </a:solidFill>
                <a:latin typeface="宋体"/>
                <a:cs typeface="宋体"/>
              </a:rPr>
              <a:t> </a:t>
            </a:r>
            <a:r>
              <a:rPr dirty="0" sz="2400" spc="-25" b="1">
                <a:solidFill>
                  <a:srgbClr val="40458B"/>
                </a:solidFill>
                <a:latin typeface="宋体"/>
                <a:cs typeface="宋体"/>
              </a:rPr>
              <a:t>s;</a:t>
            </a:r>
            <a:endParaRPr sz="2400">
              <a:latin typeface="宋体"/>
              <a:cs typeface="宋体"/>
            </a:endParaRPr>
          </a:p>
          <a:p>
            <a:pPr marL="85725">
              <a:lnSpc>
                <a:spcPct val="100000"/>
              </a:lnSpc>
              <a:spcBef>
                <a:spcPts val="915"/>
              </a:spcBef>
            </a:pPr>
            <a:r>
              <a:rPr dirty="0" sz="2000" spc="-30" b="1">
                <a:solidFill>
                  <a:srgbClr val="E14B04"/>
                </a:solidFill>
                <a:latin typeface="宋体"/>
                <a:cs typeface="宋体"/>
              </a:rPr>
              <a:t>解：</a:t>
            </a:r>
            <a:endParaRPr sz="2000">
              <a:latin typeface="宋体"/>
              <a:cs typeface="宋体"/>
            </a:endParaRPr>
          </a:p>
        </p:txBody>
      </p:sp>
      <p:sp>
        <p:nvSpPr>
          <p:cNvPr id="11" name="object 11" descr=""/>
          <p:cNvSpPr txBox="1"/>
          <p:nvPr/>
        </p:nvSpPr>
        <p:spPr>
          <a:xfrm>
            <a:off x="5066741" y="3292602"/>
            <a:ext cx="3554095" cy="391160"/>
          </a:xfrm>
          <a:prstGeom prst="rect">
            <a:avLst/>
          </a:prstGeom>
        </p:spPr>
        <p:txBody>
          <a:bodyPr wrap="square" lIns="0" tIns="12700" rIns="0" bIns="0" rtlCol="0" vert="horz">
            <a:spAutoFit/>
          </a:bodyPr>
          <a:lstStyle/>
          <a:p>
            <a:pPr marL="12700">
              <a:lnSpc>
                <a:spcPct val="100000"/>
              </a:lnSpc>
              <a:spcBef>
                <a:spcPts val="100"/>
              </a:spcBef>
            </a:pPr>
            <a:r>
              <a:rPr dirty="0" sz="2400" spc="-20" b="1">
                <a:solidFill>
                  <a:srgbClr val="40458B"/>
                </a:solidFill>
                <a:latin typeface="宋体"/>
                <a:cs typeface="宋体"/>
              </a:rPr>
              <a:t>//X</a:t>
            </a:r>
            <a:r>
              <a:rPr dirty="0" sz="2400" spc="-25" b="1">
                <a:solidFill>
                  <a:srgbClr val="40458B"/>
                </a:solidFill>
                <a:latin typeface="宋体"/>
                <a:cs typeface="宋体"/>
              </a:rPr>
              <a:t>为向量，s为标量/常量</a:t>
            </a:r>
            <a:endParaRPr sz="2400">
              <a:latin typeface="宋体"/>
              <a:cs typeface="宋体"/>
            </a:endParaRPr>
          </a:p>
        </p:txBody>
      </p:sp>
      <p:sp>
        <p:nvSpPr>
          <p:cNvPr id="12" name="object 12" descr=""/>
          <p:cNvSpPr txBox="1"/>
          <p:nvPr/>
        </p:nvSpPr>
        <p:spPr>
          <a:xfrm>
            <a:off x="1366774" y="4080008"/>
            <a:ext cx="4241800" cy="817880"/>
          </a:xfrm>
          <a:prstGeom prst="rect">
            <a:avLst/>
          </a:prstGeom>
        </p:spPr>
        <p:txBody>
          <a:bodyPr wrap="square" lIns="0" tIns="103505" rIns="0" bIns="0" rtlCol="0" vert="horz">
            <a:spAutoFit/>
          </a:bodyPr>
          <a:lstStyle/>
          <a:p>
            <a:pPr marL="12700">
              <a:lnSpc>
                <a:spcPct val="100000"/>
              </a:lnSpc>
              <a:spcBef>
                <a:spcPts val="815"/>
              </a:spcBef>
            </a:pPr>
            <a:r>
              <a:rPr dirty="0" sz="2000" spc="-10" b="1">
                <a:solidFill>
                  <a:srgbClr val="080808"/>
                </a:solidFill>
                <a:latin typeface="宋体"/>
                <a:cs typeface="宋体"/>
              </a:rPr>
              <a:t>先把该程序翻译成</a:t>
            </a:r>
            <a:r>
              <a:rPr dirty="0" sz="2000" spc="-10" b="1">
                <a:solidFill>
                  <a:srgbClr val="080808"/>
                </a:solidFill>
                <a:latin typeface="Times New Roman"/>
                <a:cs typeface="Times New Roman"/>
              </a:rPr>
              <a:t>MIPS</a:t>
            </a:r>
            <a:r>
              <a:rPr dirty="0" sz="2000" spc="-25" b="1">
                <a:solidFill>
                  <a:srgbClr val="080808"/>
                </a:solidFill>
                <a:latin typeface="宋体"/>
                <a:cs typeface="宋体"/>
              </a:rPr>
              <a:t>汇编语言代码</a:t>
            </a:r>
            <a:endParaRPr sz="2000">
              <a:latin typeface="宋体"/>
              <a:cs typeface="宋体"/>
            </a:endParaRPr>
          </a:p>
          <a:p>
            <a:pPr marL="1409700">
              <a:lnSpc>
                <a:spcPct val="100000"/>
              </a:lnSpc>
              <a:spcBef>
                <a:spcPts val="720"/>
              </a:spcBef>
              <a:tabLst>
                <a:tab pos="2965450" algn="l"/>
              </a:tabLst>
            </a:pPr>
            <a:r>
              <a:rPr dirty="0" sz="2000" spc="-10" b="1">
                <a:solidFill>
                  <a:srgbClr val="0000CC"/>
                </a:solidFill>
                <a:latin typeface="Times New Roman"/>
                <a:cs typeface="Times New Roman"/>
              </a:rPr>
              <a:t>Loop</a:t>
            </a:r>
            <a:r>
              <a:rPr dirty="0" sz="2000" spc="-10" b="1">
                <a:solidFill>
                  <a:srgbClr val="0000CC"/>
                </a:solidFill>
                <a:latin typeface="宋体"/>
                <a:cs typeface="宋体"/>
              </a:rPr>
              <a:t>：</a:t>
            </a:r>
            <a:r>
              <a:rPr dirty="0" sz="2000" spc="-495" b="1">
                <a:solidFill>
                  <a:srgbClr val="0000CC"/>
                </a:solidFill>
                <a:latin typeface="宋体"/>
                <a:cs typeface="宋体"/>
              </a:rPr>
              <a:t> </a:t>
            </a:r>
            <a:r>
              <a:rPr dirty="0" sz="2000" spc="-25" b="1">
                <a:solidFill>
                  <a:srgbClr val="0000CC"/>
                </a:solidFill>
                <a:latin typeface="Times New Roman"/>
                <a:cs typeface="Times New Roman"/>
              </a:rPr>
              <a:t>L.D</a:t>
            </a:r>
            <a:r>
              <a:rPr dirty="0" sz="2000" b="1">
                <a:solidFill>
                  <a:srgbClr val="0000CC"/>
                </a:solidFill>
                <a:latin typeface="Times New Roman"/>
                <a:cs typeface="Times New Roman"/>
              </a:rPr>
              <a:t>	F0,</a:t>
            </a:r>
            <a:r>
              <a:rPr dirty="0" sz="2000" spc="-15" b="1">
                <a:solidFill>
                  <a:srgbClr val="0000CC"/>
                </a:solidFill>
                <a:latin typeface="Times New Roman"/>
                <a:cs typeface="Times New Roman"/>
              </a:rPr>
              <a:t> </a:t>
            </a:r>
            <a:r>
              <a:rPr dirty="0" sz="2000" spc="-20" b="1">
                <a:solidFill>
                  <a:srgbClr val="0000CC"/>
                </a:solidFill>
                <a:latin typeface="Times New Roman"/>
                <a:cs typeface="Times New Roman"/>
              </a:rPr>
              <a:t>0(R1)</a:t>
            </a:r>
            <a:endParaRPr sz="2000">
              <a:latin typeface="Times New Roman"/>
              <a:cs typeface="Times New Roman"/>
            </a:endParaRPr>
          </a:p>
        </p:txBody>
      </p:sp>
      <p:sp>
        <p:nvSpPr>
          <p:cNvPr id="13" name="object 13" descr=""/>
          <p:cNvSpPr txBox="1"/>
          <p:nvPr/>
        </p:nvSpPr>
        <p:spPr>
          <a:xfrm>
            <a:off x="6185957" y="4475228"/>
            <a:ext cx="5787390" cy="2007870"/>
          </a:xfrm>
          <a:prstGeom prst="rect">
            <a:avLst/>
          </a:prstGeom>
        </p:spPr>
        <p:txBody>
          <a:bodyPr wrap="square" lIns="0" tIns="104139" rIns="0" bIns="0" rtlCol="0" vert="horz">
            <a:spAutoFit/>
          </a:bodyPr>
          <a:lstStyle/>
          <a:p>
            <a:pPr marL="50800">
              <a:lnSpc>
                <a:spcPct val="100000"/>
              </a:lnSpc>
              <a:spcBef>
                <a:spcPts val="819"/>
              </a:spcBef>
            </a:pPr>
            <a:r>
              <a:rPr dirty="0" sz="2000" b="1">
                <a:solidFill>
                  <a:srgbClr val="0000CC"/>
                </a:solidFill>
                <a:latin typeface="Times New Roman"/>
                <a:cs typeface="Times New Roman"/>
              </a:rPr>
              <a:t>//</a:t>
            </a:r>
            <a:r>
              <a:rPr dirty="0" sz="2000" spc="-15" b="1">
                <a:solidFill>
                  <a:srgbClr val="0000CC"/>
                </a:solidFill>
                <a:latin typeface="宋体"/>
                <a:cs typeface="宋体"/>
              </a:rPr>
              <a:t>取一个向量元素放入</a:t>
            </a:r>
            <a:r>
              <a:rPr dirty="0" sz="2000" spc="-25" b="1">
                <a:solidFill>
                  <a:srgbClr val="0000CC"/>
                </a:solidFill>
                <a:latin typeface="Times New Roman"/>
                <a:cs typeface="Times New Roman"/>
              </a:rPr>
              <a:t>F0</a:t>
            </a:r>
            <a:endParaRPr sz="2000">
              <a:latin typeface="Times New Roman"/>
              <a:cs typeface="Times New Roman"/>
            </a:endParaRPr>
          </a:p>
          <a:p>
            <a:pPr marL="12700">
              <a:lnSpc>
                <a:spcPct val="100000"/>
              </a:lnSpc>
              <a:spcBef>
                <a:spcPts val="725"/>
              </a:spcBef>
            </a:pPr>
            <a:r>
              <a:rPr dirty="0" sz="2000" b="1">
                <a:solidFill>
                  <a:srgbClr val="0000CC"/>
                </a:solidFill>
                <a:latin typeface="Times New Roman"/>
                <a:cs typeface="Times New Roman"/>
              </a:rPr>
              <a:t>//</a:t>
            </a:r>
            <a:r>
              <a:rPr dirty="0" sz="2000" spc="-10" b="1">
                <a:solidFill>
                  <a:srgbClr val="0000CC"/>
                </a:solidFill>
                <a:latin typeface="宋体"/>
                <a:cs typeface="宋体"/>
              </a:rPr>
              <a:t>向量元素加上在</a:t>
            </a:r>
            <a:r>
              <a:rPr dirty="0" sz="2000" b="1">
                <a:solidFill>
                  <a:srgbClr val="0000CC"/>
                </a:solidFill>
                <a:latin typeface="Times New Roman"/>
                <a:cs typeface="Times New Roman"/>
              </a:rPr>
              <a:t>F2</a:t>
            </a:r>
            <a:r>
              <a:rPr dirty="0" sz="2000" spc="-15" b="1">
                <a:solidFill>
                  <a:srgbClr val="0000CC"/>
                </a:solidFill>
                <a:latin typeface="宋体"/>
                <a:cs typeface="宋体"/>
              </a:rPr>
              <a:t>中的标量，</a:t>
            </a:r>
            <a:r>
              <a:rPr dirty="0" sz="2000" spc="-10" b="1">
                <a:solidFill>
                  <a:srgbClr val="0000CC"/>
                </a:solidFill>
                <a:latin typeface="Times New Roman"/>
                <a:cs typeface="Times New Roman"/>
              </a:rPr>
              <a:t>F2==s</a:t>
            </a:r>
            <a:endParaRPr sz="2000">
              <a:latin typeface="Times New Roman"/>
              <a:cs typeface="Times New Roman"/>
            </a:endParaRPr>
          </a:p>
          <a:p>
            <a:pPr marL="53340">
              <a:lnSpc>
                <a:spcPct val="100000"/>
              </a:lnSpc>
              <a:spcBef>
                <a:spcPts val="720"/>
              </a:spcBef>
            </a:pPr>
            <a:r>
              <a:rPr dirty="0" sz="2000" b="1">
                <a:solidFill>
                  <a:srgbClr val="0000CC"/>
                </a:solidFill>
                <a:latin typeface="Times New Roman"/>
                <a:cs typeface="Times New Roman"/>
              </a:rPr>
              <a:t>//</a:t>
            </a:r>
            <a:r>
              <a:rPr dirty="0" sz="2000" spc="-25" b="1">
                <a:solidFill>
                  <a:srgbClr val="0000CC"/>
                </a:solidFill>
                <a:latin typeface="宋体"/>
                <a:cs typeface="宋体"/>
              </a:rPr>
              <a:t>存结果</a:t>
            </a:r>
            <a:endParaRPr sz="2000">
              <a:latin typeface="宋体"/>
              <a:cs typeface="宋体"/>
            </a:endParaRPr>
          </a:p>
          <a:p>
            <a:pPr marL="52069">
              <a:lnSpc>
                <a:spcPct val="100000"/>
              </a:lnSpc>
              <a:spcBef>
                <a:spcPts val="720"/>
              </a:spcBef>
            </a:pPr>
            <a:r>
              <a:rPr dirty="0" sz="2000" b="1">
                <a:solidFill>
                  <a:srgbClr val="0000CC"/>
                </a:solidFill>
                <a:latin typeface="Times New Roman"/>
                <a:cs typeface="Times New Roman"/>
              </a:rPr>
              <a:t>//  </a:t>
            </a:r>
            <a:r>
              <a:rPr dirty="0" sz="2000" spc="-15" b="1">
                <a:solidFill>
                  <a:srgbClr val="0000CC"/>
                </a:solidFill>
                <a:latin typeface="宋体"/>
                <a:cs typeface="宋体"/>
              </a:rPr>
              <a:t>将指针减</a:t>
            </a:r>
            <a:r>
              <a:rPr dirty="0" sz="2000" spc="-10" b="1">
                <a:solidFill>
                  <a:srgbClr val="0000CC"/>
                </a:solidFill>
                <a:latin typeface="Times New Roman"/>
                <a:cs typeface="Times New Roman"/>
              </a:rPr>
              <a:t>8</a:t>
            </a:r>
            <a:r>
              <a:rPr dirty="0" sz="2000" spc="-10" b="1">
                <a:solidFill>
                  <a:srgbClr val="0000CC"/>
                </a:solidFill>
                <a:latin typeface="宋体"/>
                <a:cs typeface="宋体"/>
              </a:rPr>
              <a:t>（</a:t>
            </a:r>
            <a:r>
              <a:rPr dirty="0" sz="2000" spc="-15" b="1">
                <a:solidFill>
                  <a:srgbClr val="0000CC"/>
                </a:solidFill>
                <a:latin typeface="宋体"/>
                <a:cs typeface="宋体"/>
              </a:rPr>
              <a:t>每个数据占</a:t>
            </a:r>
            <a:r>
              <a:rPr dirty="0" sz="2000" spc="-10" b="1">
                <a:solidFill>
                  <a:srgbClr val="0000CC"/>
                </a:solidFill>
                <a:latin typeface="Times New Roman"/>
                <a:cs typeface="Times New Roman"/>
              </a:rPr>
              <a:t>8</a:t>
            </a:r>
            <a:r>
              <a:rPr dirty="0" sz="2000" spc="-20" b="1">
                <a:solidFill>
                  <a:srgbClr val="0000CC"/>
                </a:solidFill>
                <a:latin typeface="宋体"/>
                <a:cs typeface="宋体"/>
              </a:rPr>
              <a:t>个字节</a:t>
            </a:r>
            <a:r>
              <a:rPr dirty="0" sz="2000" spc="-15" b="1">
                <a:solidFill>
                  <a:srgbClr val="0000CC"/>
                </a:solidFill>
                <a:latin typeface="宋体"/>
                <a:cs typeface="宋体"/>
              </a:rPr>
              <a:t>），</a:t>
            </a:r>
            <a:r>
              <a:rPr dirty="0" sz="2000" spc="-20" b="1">
                <a:solidFill>
                  <a:srgbClr val="0000CC"/>
                </a:solidFill>
                <a:latin typeface="宋体"/>
                <a:cs typeface="宋体"/>
              </a:rPr>
              <a:t>每次减</a:t>
            </a:r>
            <a:r>
              <a:rPr dirty="0" sz="2000" spc="-50" b="1">
                <a:solidFill>
                  <a:srgbClr val="0000CC"/>
                </a:solidFill>
                <a:latin typeface="Times New Roman"/>
                <a:cs typeface="Times New Roman"/>
              </a:rPr>
              <a:t>8</a:t>
            </a:r>
            <a:endParaRPr sz="2000">
              <a:latin typeface="Times New Roman"/>
              <a:cs typeface="Times New Roman"/>
            </a:endParaRPr>
          </a:p>
          <a:p>
            <a:pPr marL="97790">
              <a:lnSpc>
                <a:spcPct val="100000"/>
              </a:lnSpc>
              <a:spcBef>
                <a:spcPts val="720"/>
              </a:spcBef>
            </a:pPr>
            <a:r>
              <a:rPr dirty="0" sz="2000" b="1">
                <a:solidFill>
                  <a:srgbClr val="0000CC"/>
                </a:solidFill>
                <a:latin typeface="Times New Roman"/>
                <a:cs typeface="Times New Roman"/>
              </a:rPr>
              <a:t>//  </a:t>
            </a:r>
            <a:r>
              <a:rPr dirty="0" sz="2000" spc="-10" b="1">
                <a:solidFill>
                  <a:srgbClr val="0000CC"/>
                </a:solidFill>
                <a:latin typeface="宋体"/>
                <a:cs typeface="宋体"/>
              </a:rPr>
              <a:t>若</a:t>
            </a:r>
            <a:r>
              <a:rPr dirty="0" sz="2000" spc="-10" b="1">
                <a:solidFill>
                  <a:srgbClr val="0000CC"/>
                </a:solidFill>
                <a:latin typeface="Times New Roman"/>
                <a:cs typeface="Times New Roman"/>
              </a:rPr>
              <a:t>R1</a:t>
            </a:r>
            <a:r>
              <a:rPr dirty="0" sz="2000" spc="-10" b="1">
                <a:solidFill>
                  <a:srgbClr val="0000CC"/>
                </a:solidFill>
                <a:latin typeface="宋体"/>
                <a:cs typeface="宋体"/>
              </a:rPr>
              <a:t>不等于</a:t>
            </a:r>
            <a:r>
              <a:rPr dirty="0" sz="2000" b="1">
                <a:solidFill>
                  <a:srgbClr val="0000CC"/>
                </a:solidFill>
                <a:latin typeface="Times New Roman"/>
                <a:cs typeface="Times New Roman"/>
              </a:rPr>
              <a:t>R2</a:t>
            </a:r>
            <a:r>
              <a:rPr dirty="0" sz="2000" spc="-20" b="1">
                <a:solidFill>
                  <a:srgbClr val="0000CC"/>
                </a:solidFill>
                <a:latin typeface="Times New Roman"/>
                <a:cs typeface="Times New Roman"/>
              </a:rPr>
              <a:t>, </a:t>
            </a:r>
            <a:r>
              <a:rPr dirty="0" sz="2000" spc="-10" b="1">
                <a:solidFill>
                  <a:srgbClr val="0000CC"/>
                </a:solidFill>
                <a:latin typeface="宋体"/>
                <a:cs typeface="宋体"/>
              </a:rPr>
              <a:t>继续循环，</a:t>
            </a:r>
            <a:r>
              <a:rPr dirty="0" sz="2000" spc="-10" b="1">
                <a:solidFill>
                  <a:srgbClr val="0000CC"/>
                </a:solidFill>
                <a:latin typeface="Times New Roman"/>
                <a:cs typeface="Times New Roman"/>
              </a:rPr>
              <a:t>R2</a:t>
            </a:r>
            <a:r>
              <a:rPr dirty="0" sz="2000" spc="-20" b="1">
                <a:solidFill>
                  <a:srgbClr val="0000CC"/>
                </a:solidFill>
                <a:latin typeface="宋体"/>
                <a:cs typeface="宋体"/>
              </a:rPr>
              <a:t>指向最后一个元素</a:t>
            </a:r>
            <a:endParaRPr sz="2000">
              <a:latin typeface="宋体"/>
              <a:cs typeface="宋体"/>
            </a:endParaRPr>
          </a:p>
        </p:txBody>
      </p:sp>
      <p:sp>
        <p:nvSpPr>
          <p:cNvPr id="14" name="object 14" descr=""/>
          <p:cNvSpPr txBox="1"/>
          <p:nvPr/>
        </p:nvSpPr>
        <p:spPr>
          <a:xfrm>
            <a:off x="3636390" y="4872329"/>
            <a:ext cx="826135" cy="817880"/>
          </a:xfrm>
          <a:prstGeom prst="rect">
            <a:avLst/>
          </a:prstGeom>
        </p:spPr>
        <p:txBody>
          <a:bodyPr wrap="square" lIns="0" tIns="12700" rIns="0" bIns="0" rtlCol="0" vert="horz">
            <a:spAutoFit/>
          </a:bodyPr>
          <a:lstStyle/>
          <a:p>
            <a:pPr marL="12700" marR="5080">
              <a:lnSpc>
                <a:spcPct val="130000"/>
              </a:lnSpc>
              <a:spcBef>
                <a:spcPts val="100"/>
              </a:spcBef>
            </a:pPr>
            <a:r>
              <a:rPr dirty="0" sz="2000" spc="-10" b="1">
                <a:solidFill>
                  <a:srgbClr val="0000CC"/>
                </a:solidFill>
                <a:latin typeface="Times New Roman"/>
                <a:cs typeface="Times New Roman"/>
              </a:rPr>
              <a:t>ADD.D </a:t>
            </a:r>
            <a:r>
              <a:rPr dirty="0" sz="2000" spc="-25" b="1">
                <a:solidFill>
                  <a:srgbClr val="0000CC"/>
                </a:solidFill>
                <a:latin typeface="Times New Roman"/>
                <a:cs typeface="Times New Roman"/>
              </a:rPr>
              <a:t>S.D</a:t>
            </a:r>
            <a:endParaRPr sz="2000">
              <a:latin typeface="Times New Roman"/>
              <a:cs typeface="Times New Roman"/>
            </a:endParaRPr>
          </a:p>
        </p:txBody>
      </p:sp>
      <p:sp>
        <p:nvSpPr>
          <p:cNvPr id="15" name="object 15" descr=""/>
          <p:cNvSpPr txBox="1"/>
          <p:nvPr/>
        </p:nvSpPr>
        <p:spPr>
          <a:xfrm>
            <a:off x="4640707" y="4872329"/>
            <a:ext cx="1126490" cy="817880"/>
          </a:xfrm>
          <a:prstGeom prst="rect">
            <a:avLst/>
          </a:prstGeom>
        </p:spPr>
        <p:txBody>
          <a:bodyPr wrap="square" lIns="0" tIns="12700" rIns="0" bIns="0" rtlCol="0" vert="horz">
            <a:spAutoFit/>
          </a:bodyPr>
          <a:lstStyle/>
          <a:p>
            <a:pPr marL="12700" marR="5080">
              <a:lnSpc>
                <a:spcPct val="130000"/>
              </a:lnSpc>
              <a:spcBef>
                <a:spcPts val="100"/>
              </a:spcBef>
            </a:pPr>
            <a:r>
              <a:rPr dirty="0" sz="2000" b="1">
                <a:solidFill>
                  <a:srgbClr val="0000CC"/>
                </a:solidFill>
                <a:latin typeface="Times New Roman"/>
                <a:cs typeface="Times New Roman"/>
              </a:rPr>
              <a:t>F4,</a:t>
            </a:r>
            <a:r>
              <a:rPr dirty="0" sz="2000" spc="-25" b="1">
                <a:solidFill>
                  <a:srgbClr val="0000CC"/>
                </a:solidFill>
                <a:latin typeface="Times New Roman"/>
                <a:cs typeface="Times New Roman"/>
              </a:rPr>
              <a:t> </a:t>
            </a:r>
            <a:r>
              <a:rPr dirty="0" sz="2000" b="1">
                <a:solidFill>
                  <a:srgbClr val="0000CC"/>
                </a:solidFill>
                <a:latin typeface="Times New Roman"/>
                <a:cs typeface="Times New Roman"/>
              </a:rPr>
              <a:t>F0,</a:t>
            </a:r>
            <a:r>
              <a:rPr dirty="0" sz="2000" spc="-5" b="1">
                <a:solidFill>
                  <a:srgbClr val="0000CC"/>
                </a:solidFill>
                <a:latin typeface="Times New Roman"/>
                <a:cs typeface="Times New Roman"/>
              </a:rPr>
              <a:t> </a:t>
            </a:r>
            <a:r>
              <a:rPr dirty="0" sz="2000" spc="-25" b="1">
                <a:solidFill>
                  <a:srgbClr val="0000CC"/>
                </a:solidFill>
                <a:latin typeface="Times New Roman"/>
                <a:cs typeface="Times New Roman"/>
              </a:rPr>
              <a:t>F2 </a:t>
            </a:r>
            <a:r>
              <a:rPr dirty="0" sz="2000" b="1">
                <a:solidFill>
                  <a:srgbClr val="0000CC"/>
                </a:solidFill>
                <a:latin typeface="Times New Roman"/>
                <a:cs typeface="Times New Roman"/>
              </a:rPr>
              <a:t>F4,</a:t>
            </a:r>
            <a:r>
              <a:rPr dirty="0" sz="2000" spc="-15" b="1">
                <a:solidFill>
                  <a:srgbClr val="0000CC"/>
                </a:solidFill>
                <a:latin typeface="Times New Roman"/>
                <a:cs typeface="Times New Roman"/>
              </a:rPr>
              <a:t> </a:t>
            </a:r>
            <a:r>
              <a:rPr dirty="0" sz="2000" spc="-10" b="1">
                <a:solidFill>
                  <a:srgbClr val="0000CC"/>
                </a:solidFill>
                <a:latin typeface="Times New Roman"/>
                <a:cs typeface="Times New Roman"/>
              </a:rPr>
              <a:t>0(R1)</a:t>
            </a:r>
            <a:endParaRPr sz="2000">
              <a:latin typeface="Times New Roman"/>
              <a:cs typeface="Times New Roman"/>
            </a:endParaRPr>
          </a:p>
        </p:txBody>
      </p:sp>
      <p:sp>
        <p:nvSpPr>
          <p:cNvPr id="16" name="object 16" descr=""/>
          <p:cNvSpPr txBox="1"/>
          <p:nvPr/>
        </p:nvSpPr>
        <p:spPr>
          <a:xfrm>
            <a:off x="3573907" y="5664151"/>
            <a:ext cx="2534920" cy="819150"/>
          </a:xfrm>
          <a:prstGeom prst="rect">
            <a:avLst/>
          </a:prstGeom>
        </p:spPr>
        <p:txBody>
          <a:bodyPr wrap="square" lIns="0" tIns="104775" rIns="0" bIns="0" rtlCol="0" vert="horz">
            <a:spAutoFit/>
          </a:bodyPr>
          <a:lstStyle/>
          <a:p>
            <a:pPr marL="50800">
              <a:lnSpc>
                <a:spcPct val="100000"/>
              </a:lnSpc>
              <a:spcBef>
                <a:spcPts val="825"/>
              </a:spcBef>
            </a:pPr>
            <a:r>
              <a:rPr dirty="0" sz="2000" b="1">
                <a:solidFill>
                  <a:srgbClr val="0000CC"/>
                </a:solidFill>
                <a:latin typeface="Times New Roman"/>
                <a:cs typeface="Times New Roman"/>
              </a:rPr>
              <a:t>DADDIU</a:t>
            </a:r>
            <a:r>
              <a:rPr dirty="0" sz="2000" spc="-40" b="1">
                <a:solidFill>
                  <a:srgbClr val="0000CC"/>
                </a:solidFill>
                <a:latin typeface="Times New Roman"/>
                <a:cs typeface="Times New Roman"/>
              </a:rPr>
              <a:t> </a:t>
            </a:r>
            <a:r>
              <a:rPr dirty="0" sz="2000" b="1">
                <a:solidFill>
                  <a:srgbClr val="0000CC"/>
                </a:solidFill>
                <a:latin typeface="Times New Roman"/>
                <a:cs typeface="Times New Roman"/>
              </a:rPr>
              <a:t>R1,</a:t>
            </a:r>
            <a:r>
              <a:rPr dirty="0" sz="2000" spc="-25" b="1">
                <a:solidFill>
                  <a:srgbClr val="0000CC"/>
                </a:solidFill>
                <a:latin typeface="Times New Roman"/>
                <a:cs typeface="Times New Roman"/>
              </a:rPr>
              <a:t> </a:t>
            </a:r>
            <a:r>
              <a:rPr dirty="0" sz="2000" b="1">
                <a:solidFill>
                  <a:srgbClr val="0000CC"/>
                </a:solidFill>
                <a:latin typeface="Times New Roman"/>
                <a:cs typeface="Times New Roman"/>
              </a:rPr>
              <a:t>R1,</a:t>
            </a:r>
            <a:r>
              <a:rPr dirty="0" sz="2000" spc="-35" b="1">
                <a:solidFill>
                  <a:srgbClr val="0000CC"/>
                </a:solidFill>
                <a:latin typeface="Times New Roman"/>
                <a:cs typeface="Times New Roman"/>
              </a:rPr>
              <a:t> </a:t>
            </a:r>
            <a:r>
              <a:rPr dirty="0" sz="2000" b="1">
                <a:solidFill>
                  <a:srgbClr val="0000CC"/>
                </a:solidFill>
                <a:latin typeface="Times New Roman"/>
                <a:cs typeface="Times New Roman"/>
              </a:rPr>
              <a:t>#-</a:t>
            </a:r>
            <a:r>
              <a:rPr dirty="0" sz="2000" spc="-50" b="1">
                <a:solidFill>
                  <a:srgbClr val="0000CC"/>
                </a:solidFill>
                <a:latin typeface="Times New Roman"/>
                <a:cs typeface="Times New Roman"/>
              </a:rPr>
              <a:t>8</a:t>
            </a:r>
            <a:endParaRPr sz="2000">
              <a:latin typeface="Times New Roman"/>
              <a:cs typeface="Times New Roman"/>
            </a:endParaRPr>
          </a:p>
          <a:p>
            <a:pPr marL="12700">
              <a:lnSpc>
                <a:spcPct val="100000"/>
              </a:lnSpc>
              <a:spcBef>
                <a:spcPts val="720"/>
              </a:spcBef>
              <a:tabLst>
                <a:tab pos="1078865" algn="l"/>
              </a:tabLst>
            </a:pPr>
            <a:r>
              <a:rPr dirty="0" sz="2000" spc="-25" b="1">
                <a:solidFill>
                  <a:srgbClr val="0000CC"/>
                </a:solidFill>
                <a:latin typeface="Times New Roman"/>
                <a:cs typeface="Times New Roman"/>
              </a:rPr>
              <a:t>BNE</a:t>
            </a:r>
            <a:r>
              <a:rPr dirty="0" sz="2000" b="1">
                <a:solidFill>
                  <a:srgbClr val="0000CC"/>
                </a:solidFill>
                <a:latin typeface="Times New Roman"/>
                <a:cs typeface="Times New Roman"/>
              </a:rPr>
              <a:t>	R1,</a:t>
            </a:r>
            <a:r>
              <a:rPr dirty="0" sz="2000" spc="-35" b="1">
                <a:solidFill>
                  <a:srgbClr val="0000CC"/>
                </a:solidFill>
                <a:latin typeface="Times New Roman"/>
                <a:cs typeface="Times New Roman"/>
              </a:rPr>
              <a:t> </a:t>
            </a:r>
            <a:r>
              <a:rPr dirty="0" sz="2000" b="1">
                <a:solidFill>
                  <a:srgbClr val="0000CC"/>
                </a:solidFill>
                <a:latin typeface="Times New Roman"/>
                <a:cs typeface="Times New Roman"/>
              </a:rPr>
              <a:t>R2,</a:t>
            </a:r>
            <a:r>
              <a:rPr dirty="0" sz="2000" spc="-15" b="1">
                <a:solidFill>
                  <a:srgbClr val="0000CC"/>
                </a:solidFill>
                <a:latin typeface="Times New Roman"/>
                <a:cs typeface="Times New Roman"/>
              </a:rPr>
              <a:t> </a:t>
            </a:r>
            <a:r>
              <a:rPr dirty="0" sz="2000" spc="-20" b="1">
                <a:solidFill>
                  <a:srgbClr val="0000CC"/>
                </a:solidFill>
                <a:latin typeface="Times New Roman"/>
                <a:cs typeface="Times New Roman"/>
              </a:rPr>
              <a:t>Loop</a:t>
            </a:r>
            <a:endParaRPr sz="2000">
              <a:latin typeface="Times New Roman"/>
              <a:cs typeface="Times New Roman"/>
            </a:endParaRPr>
          </a:p>
        </p:txBody>
      </p:sp>
      <p:sp>
        <p:nvSpPr>
          <p:cNvPr id="17" name="object 17" descr=""/>
          <p:cNvSpPr txBox="1"/>
          <p:nvPr/>
        </p:nvSpPr>
        <p:spPr>
          <a:xfrm>
            <a:off x="8832850" y="2900426"/>
            <a:ext cx="3359150" cy="1200150"/>
          </a:xfrm>
          <a:prstGeom prst="rect">
            <a:avLst/>
          </a:prstGeom>
          <a:ln w="9525">
            <a:solidFill>
              <a:srgbClr val="FF0000"/>
            </a:solidFill>
          </a:ln>
        </p:spPr>
        <p:txBody>
          <a:bodyPr wrap="square" lIns="0" tIns="31750" rIns="0" bIns="0" rtlCol="0" vert="horz">
            <a:spAutoFit/>
          </a:bodyPr>
          <a:lstStyle/>
          <a:p>
            <a:pPr marL="92075" marR="274955">
              <a:lnSpc>
                <a:spcPct val="101299"/>
              </a:lnSpc>
              <a:spcBef>
                <a:spcPts val="250"/>
              </a:spcBef>
            </a:pPr>
            <a:r>
              <a:rPr dirty="0" sz="1800">
                <a:solidFill>
                  <a:srgbClr val="FF0000"/>
                </a:solidFill>
                <a:latin typeface="Calibri"/>
                <a:cs typeface="Calibri"/>
              </a:rPr>
              <a:t>R1</a:t>
            </a:r>
            <a:r>
              <a:rPr dirty="0" sz="1800" spc="-105">
                <a:solidFill>
                  <a:srgbClr val="FF0000"/>
                </a:solidFill>
                <a:latin typeface="Calibri"/>
                <a:cs typeface="Calibri"/>
              </a:rPr>
              <a:t> </a:t>
            </a:r>
            <a:r>
              <a:rPr dirty="0" sz="1800">
                <a:solidFill>
                  <a:srgbClr val="FF0000"/>
                </a:solidFill>
                <a:latin typeface="黑体"/>
                <a:cs typeface="黑体"/>
              </a:rPr>
              <a:t>：</a:t>
            </a:r>
            <a:r>
              <a:rPr dirty="0" sz="1800">
                <a:solidFill>
                  <a:srgbClr val="40458B"/>
                </a:solidFill>
                <a:latin typeface="黑体"/>
                <a:cs typeface="黑体"/>
              </a:rPr>
              <a:t>指向向量</a:t>
            </a:r>
            <a:r>
              <a:rPr dirty="0" sz="1800" spc="-10">
                <a:solidFill>
                  <a:srgbClr val="40458B"/>
                </a:solidFill>
                <a:latin typeface="Calibri"/>
                <a:cs typeface="Calibri"/>
              </a:rPr>
              <a:t>X</a:t>
            </a:r>
            <a:r>
              <a:rPr dirty="0" sz="1800">
                <a:solidFill>
                  <a:srgbClr val="40458B"/>
                </a:solidFill>
                <a:latin typeface="黑体"/>
                <a:cs typeface="黑体"/>
              </a:rPr>
              <a:t>中的当前元素</a:t>
            </a:r>
            <a:r>
              <a:rPr dirty="0" sz="1800" spc="-50">
                <a:solidFill>
                  <a:srgbClr val="40458B"/>
                </a:solidFill>
                <a:latin typeface="Calibri"/>
                <a:cs typeface="Calibri"/>
              </a:rPr>
              <a:t>,</a:t>
            </a:r>
            <a:r>
              <a:rPr dirty="0" sz="1800">
                <a:solidFill>
                  <a:srgbClr val="40458B"/>
                </a:solidFill>
                <a:latin typeface="黑体"/>
                <a:cs typeface="黑体"/>
              </a:rPr>
              <a:t>其初值指向第一个元素（</a:t>
            </a:r>
            <a:r>
              <a:rPr dirty="0" sz="1800" spc="-25">
                <a:solidFill>
                  <a:srgbClr val="40458B"/>
                </a:solidFill>
                <a:latin typeface="黑体"/>
                <a:cs typeface="黑体"/>
              </a:rPr>
              <a:t>地址</a:t>
            </a:r>
            <a:r>
              <a:rPr dirty="0" sz="1800" spc="-10">
                <a:solidFill>
                  <a:srgbClr val="40458B"/>
                </a:solidFill>
                <a:latin typeface="黑体"/>
                <a:cs typeface="黑体"/>
              </a:rPr>
              <a:t>最高）</a:t>
            </a:r>
            <a:r>
              <a:rPr dirty="0" sz="1800" spc="-10">
                <a:solidFill>
                  <a:srgbClr val="40458B"/>
                </a:solidFill>
                <a:latin typeface="Calibri"/>
                <a:cs typeface="Calibri"/>
              </a:rPr>
              <a:t>,R2</a:t>
            </a:r>
            <a:r>
              <a:rPr dirty="0" sz="1800" spc="-20">
                <a:solidFill>
                  <a:srgbClr val="40458B"/>
                </a:solidFill>
                <a:latin typeface="黑体"/>
                <a:cs typeface="黑体"/>
              </a:rPr>
              <a:t>指向最后一个元素</a:t>
            </a:r>
            <a:r>
              <a:rPr dirty="0" sz="1800" spc="-50">
                <a:solidFill>
                  <a:srgbClr val="40458B"/>
                </a:solidFill>
                <a:latin typeface="黑体"/>
                <a:cs typeface="黑体"/>
              </a:rPr>
              <a:t> </a:t>
            </a:r>
            <a:r>
              <a:rPr dirty="0" sz="1800" spc="-20">
                <a:solidFill>
                  <a:srgbClr val="FF0000"/>
                </a:solidFill>
                <a:latin typeface="Tahoma"/>
                <a:cs typeface="Tahoma"/>
              </a:rPr>
              <a:t>F2</a:t>
            </a:r>
            <a:r>
              <a:rPr dirty="0" sz="1800" spc="-20">
                <a:solidFill>
                  <a:srgbClr val="40458B"/>
                </a:solidFill>
                <a:latin typeface="Tahoma"/>
                <a:cs typeface="Tahoma"/>
              </a:rPr>
              <a:t>:</a:t>
            </a:r>
            <a:r>
              <a:rPr dirty="0" sz="1800">
                <a:solidFill>
                  <a:srgbClr val="40458B"/>
                </a:solidFill>
                <a:latin typeface="黑体"/>
                <a:cs typeface="黑体"/>
              </a:rPr>
              <a:t>保存常数</a:t>
            </a:r>
            <a:r>
              <a:rPr dirty="0" sz="1800" spc="-50">
                <a:solidFill>
                  <a:srgbClr val="FF0000"/>
                </a:solidFill>
                <a:latin typeface="Tahoma"/>
                <a:cs typeface="Tahoma"/>
              </a:rPr>
              <a:t>s</a:t>
            </a:r>
            <a:endParaRPr sz="1800">
              <a:latin typeface="Tahoma"/>
              <a:cs typeface="Tahoma"/>
            </a:endParaRPr>
          </a:p>
        </p:txBody>
      </p:sp>
      <p:grpSp>
        <p:nvGrpSpPr>
          <p:cNvPr id="18" name="object 18" descr=""/>
          <p:cNvGrpSpPr/>
          <p:nvPr/>
        </p:nvGrpSpPr>
        <p:grpSpPr>
          <a:xfrm>
            <a:off x="5443537" y="1479613"/>
            <a:ext cx="370205" cy="370205"/>
            <a:chOff x="5443537" y="1479613"/>
            <a:chExt cx="370205" cy="370205"/>
          </a:xfrm>
        </p:grpSpPr>
        <p:sp>
          <p:nvSpPr>
            <p:cNvPr id="19" name="object 19" descr=""/>
            <p:cNvSpPr/>
            <p:nvPr/>
          </p:nvSpPr>
          <p:spPr>
            <a:xfrm>
              <a:off x="5448300" y="1484375"/>
              <a:ext cx="360680" cy="360680"/>
            </a:xfrm>
            <a:custGeom>
              <a:avLst/>
              <a:gdLst/>
              <a:ahLst/>
              <a:cxnLst/>
              <a:rect l="l" t="t" r="r" b="b"/>
              <a:pathLst>
                <a:path w="360679" h="360680">
                  <a:moveTo>
                    <a:pt x="270255" y="0"/>
                  </a:moveTo>
                  <a:lnTo>
                    <a:pt x="90042" y="0"/>
                  </a:lnTo>
                  <a:lnTo>
                    <a:pt x="90042" y="180086"/>
                  </a:lnTo>
                  <a:lnTo>
                    <a:pt x="0" y="180086"/>
                  </a:lnTo>
                  <a:lnTo>
                    <a:pt x="180212" y="360299"/>
                  </a:lnTo>
                  <a:lnTo>
                    <a:pt x="360425" y="180086"/>
                  </a:lnTo>
                  <a:lnTo>
                    <a:pt x="270255" y="180086"/>
                  </a:lnTo>
                  <a:lnTo>
                    <a:pt x="270255" y="0"/>
                  </a:lnTo>
                  <a:close/>
                </a:path>
              </a:pathLst>
            </a:custGeom>
            <a:solidFill>
              <a:srgbClr val="EBD782"/>
            </a:solidFill>
          </p:spPr>
          <p:txBody>
            <a:bodyPr wrap="square" lIns="0" tIns="0" rIns="0" bIns="0" rtlCol="0"/>
            <a:lstStyle/>
            <a:p/>
          </p:txBody>
        </p:sp>
        <p:sp>
          <p:nvSpPr>
            <p:cNvPr id="20" name="object 20" descr=""/>
            <p:cNvSpPr/>
            <p:nvPr/>
          </p:nvSpPr>
          <p:spPr>
            <a:xfrm>
              <a:off x="5448300" y="1484375"/>
              <a:ext cx="360680" cy="360680"/>
            </a:xfrm>
            <a:custGeom>
              <a:avLst/>
              <a:gdLst/>
              <a:ahLst/>
              <a:cxnLst/>
              <a:rect l="l" t="t" r="r" b="b"/>
              <a:pathLst>
                <a:path w="360679" h="360680">
                  <a:moveTo>
                    <a:pt x="0" y="180086"/>
                  </a:moveTo>
                  <a:lnTo>
                    <a:pt x="90042" y="180086"/>
                  </a:lnTo>
                  <a:lnTo>
                    <a:pt x="90042" y="0"/>
                  </a:lnTo>
                  <a:lnTo>
                    <a:pt x="270255" y="0"/>
                  </a:lnTo>
                  <a:lnTo>
                    <a:pt x="270255" y="180086"/>
                  </a:lnTo>
                  <a:lnTo>
                    <a:pt x="360425" y="180086"/>
                  </a:lnTo>
                  <a:lnTo>
                    <a:pt x="180212" y="360299"/>
                  </a:lnTo>
                  <a:lnTo>
                    <a:pt x="0" y="180086"/>
                  </a:lnTo>
                  <a:close/>
                </a:path>
              </a:pathLst>
            </a:custGeom>
            <a:ln w="9524">
              <a:solidFill>
                <a:srgbClr val="40458B"/>
              </a:solidFill>
            </a:ln>
          </p:spPr>
          <p:txBody>
            <a:bodyPr wrap="square" lIns="0" tIns="0" rIns="0" bIns="0" rtlCol="0"/>
            <a:lstStyle/>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563735" cy="209550"/>
          </a:xfrm>
          <a:prstGeom prst="rect">
            <a:avLst/>
          </a:prstGeom>
        </p:spPr>
        <p:txBody>
          <a:bodyPr wrap="square" lIns="0" tIns="0" rIns="0" bIns="0" rtlCol="0" vert="horz">
            <a:spAutoFit/>
          </a:bodyPr>
          <a:lstStyle/>
          <a:p>
            <a:pPr>
              <a:lnSpc>
                <a:spcPts val="1650"/>
              </a:lnSpc>
              <a:tabLst>
                <a:tab pos="914908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30" b="1">
                <a:solidFill>
                  <a:srgbClr val="40458B"/>
                </a:solidFill>
                <a:latin typeface="宋体"/>
                <a:cs typeface="宋体"/>
              </a:rPr>
              <a:t>6/89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2426589" y="127838"/>
            <a:ext cx="5309870" cy="514350"/>
          </a:xfrm>
          <a:prstGeom prst="rect"/>
        </p:spPr>
        <p:txBody>
          <a:bodyPr wrap="square" lIns="0" tIns="13335" rIns="0" bIns="0" rtlCol="0" vert="horz">
            <a:spAutoFit/>
          </a:bodyPr>
          <a:lstStyle/>
          <a:p>
            <a:pPr marL="12700">
              <a:lnSpc>
                <a:spcPct val="100000"/>
              </a:lnSpc>
              <a:spcBef>
                <a:spcPts val="105"/>
              </a:spcBef>
            </a:pPr>
            <a:r>
              <a:rPr dirty="0" u="none"/>
              <a:t>6.1</a:t>
            </a:r>
            <a:r>
              <a:rPr dirty="0" u="none" spc="-25"/>
              <a:t> 基本指令调度及循环展开</a:t>
            </a:r>
          </a:p>
        </p:txBody>
      </p:sp>
      <p:sp>
        <p:nvSpPr>
          <p:cNvPr id="10" name="object 10" descr=""/>
          <p:cNvSpPr txBox="1"/>
          <p:nvPr/>
        </p:nvSpPr>
        <p:spPr>
          <a:xfrm>
            <a:off x="5307838" y="1187552"/>
            <a:ext cx="6875780" cy="1592580"/>
          </a:xfrm>
          <a:prstGeom prst="rect">
            <a:avLst/>
          </a:prstGeom>
        </p:spPr>
        <p:txBody>
          <a:bodyPr wrap="square" lIns="0" tIns="12700" rIns="0" bIns="0" rtlCol="0" vert="horz">
            <a:spAutoFit/>
          </a:bodyPr>
          <a:lstStyle/>
          <a:p>
            <a:pPr marL="467995" marR="5080" indent="-455930">
              <a:lnSpc>
                <a:spcPct val="130000"/>
              </a:lnSpc>
              <a:spcBef>
                <a:spcPts val="100"/>
              </a:spcBef>
              <a:buClr>
                <a:srgbClr val="40458B"/>
              </a:buClr>
              <a:buSzPct val="90000"/>
              <a:buFont typeface="Wingdings"/>
              <a:buChar char=""/>
              <a:tabLst>
                <a:tab pos="467995" algn="l"/>
              </a:tabLst>
            </a:pPr>
            <a:r>
              <a:rPr dirty="0" sz="2000" spc="-25" b="1">
                <a:solidFill>
                  <a:srgbClr val="080808"/>
                </a:solidFill>
                <a:latin typeface="宋体"/>
                <a:cs typeface="宋体"/>
              </a:rPr>
              <a:t>在不进行指令调度的情况下，根据表中给出的浮点流水线中指令执行的延迟，程序的实际执行情况如下：</a:t>
            </a:r>
            <a:endParaRPr sz="2000">
              <a:latin typeface="宋体"/>
              <a:cs typeface="宋体"/>
            </a:endParaRPr>
          </a:p>
          <a:p>
            <a:pPr marL="4869815">
              <a:lnSpc>
                <a:spcPct val="100000"/>
              </a:lnSpc>
              <a:spcBef>
                <a:spcPts val="815"/>
              </a:spcBef>
            </a:pPr>
            <a:r>
              <a:rPr dirty="0" sz="2000" spc="-20" b="1">
                <a:solidFill>
                  <a:srgbClr val="006600"/>
                </a:solidFill>
                <a:latin typeface="宋体"/>
                <a:cs typeface="宋体"/>
              </a:rPr>
              <a:t>指令流出时钟</a:t>
            </a:r>
            <a:endParaRPr sz="2000">
              <a:latin typeface="宋体"/>
              <a:cs typeface="宋体"/>
            </a:endParaRPr>
          </a:p>
          <a:p>
            <a:pPr marL="12700">
              <a:lnSpc>
                <a:spcPct val="100000"/>
              </a:lnSpc>
              <a:spcBef>
                <a:spcPts val="480"/>
              </a:spcBef>
            </a:pPr>
            <a:r>
              <a:rPr dirty="0" sz="2000" spc="-10" b="1">
                <a:solidFill>
                  <a:srgbClr val="0000CC"/>
                </a:solidFill>
                <a:latin typeface="Times New Roman"/>
                <a:cs typeface="Times New Roman"/>
              </a:rPr>
              <a:t>Loop</a:t>
            </a:r>
            <a:r>
              <a:rPr dirty="0" sz="2000" spc="-10" b="1">
                <a:solidFill>
                  <a:srgbClr val="0000CC"/>
                </a:solidFill>
                <a:latin typeface="宋体"/>
                <a:cs typeface="宋体"/>
              </a:rPr>
              <a:t>：</a:t>
            </a:r>
            <a:endParaRPr sz="2000">
              <a:latin typeface="宋体"/>
              <a:cs typeface="宋体"/>
            </a:endParaRPr>
          </a:p>
        </p:txBody>
      </p:sp>
      <p:graphicFrame>
        <p:nvGraphicFramePr>
          <p:cNvPr id="11" name="object 11" descr=""/>
          <p:cNvGraphicFramePr>
            <a:graphicFrameLocks noGrp="1"/>
          </p:cNvGraphicFramePr>
          <p:nvPr/>
        </p:nvGraphicFramePr>
        <p:xfrm>
          <a:off x="6488176" y="2489607"/>
          <a:ext cx="4839970" cy="2044699"/>
        </p:xfrm>
        <a:graphic>
          <a:graphicData uri="http://schemas.openxmlformats.org/drawingml/2006/table">
            <a:tbl>
              <a:tblPr firstRow="1" bandRow="1">
                <a:tableStyleId>{2D5ABB26-0587-4C30-8999-92F81FD0307C}</a:tableStyleId>
              </a:tblPr>
              <a:tblGrid>
                <a:gridCol w="922019"/>
                <a:gridCol w="2435860"/>
                <a:gridCol w="1405254"/>
              </a:tblGrid>
              <a:tr h="323215">
                <a:tc>
                  <a:txBody>
                    <a:bodyPr/>
                    <a:lstStyle/>
                    <a:p>
                      <a:pPr marL="31750">
                        <a:lnSpc>
                          <a:spcPts val="2185"/>
                        </a:lnSpc>
                      </a:pPr>
                      <a:r>
                        <a:rPr dirty="0" sz="2000" spc="-25" b="1">
                          <a:solidFill>
                            <a:srgbClr val="0000CC"/>
                          </a:solidFill>
                          <a:latin typeface="Times New Roman"/>
                          <a:cs typeface="Times New Roman"/>
                        </a:rPr>
                        <a:t>L.D</a:t>
                      </a:r>
                      <a:endParaRPr sz="2000">
                        <a:latin typeface="Times New Roman"/>
                        <a:cs typeface="Times New Roman"/>
                      </a:endParaRPr>
                    </a:p>
                  </a:txBody>
                  <a:tcPr marL="0" marR="0" marB="0" marT="0"/>
                </a:tc>
                <a:tc>
                  <a:txBody>
                    <a:bodyPr/>
                    <a:lstStyle/>
                    <a:p>
                      <a:pPr marL="88265">
                        <a:lnSpc>
                          <a:spcPts val="2185"/>
                        </a:lnSpc>
                      </a:pPr>
                      <a:r>
                        <a:rPr dirty="0" sz="2000" b="1">
                          <a:solidFill>
                            <a:srgbClr val="0000CC"/>
                          </a:solidFill>
                          <a:latin typeface="Times New Roman"/>
                          <a:cs typeface="Times New Roman"/>
                        </a:rPr>
                        <a:t>F0,</a:t>
                      </a:r>
                      <a:r>
                        <a:rPr dirty="0" sz="2000" spc="-15" b="1">
                          <a:solidFill>
                            <a:srgbClr val="0000CC"/>
                          </a:solidFill>
                          <a:latin typeface="Times New Roman"/>
                          <a:cs typeface="Times New Roman"/>
                        </a:rPr>
                        <a:t> </a:t>
                      </a:r>
                      <a:r>
                        <a:rPr dirty="0" sz="2000" spc="-10" b="1">
                          <a:solidFill>
                            <a:srgbClr val="0000CC"/>
                          </a:solidFill>
                          <a:latin typeface="Times New Roman"/>
                          <a:cs typeface="Times New Roman"/>
                        </a:rPr>
                        <a:t>0(R1)</a:t>
                      </a:r>
                      <a:endParaRPr sz="2000">
                        <a:latin typeface="Times New Roman"/>
                        <a:cs typeface="Times New Roman"/>
                      </a:endParaRPr>
                    </a:p>
                  </a:txBody>
                  <a:tcPr marL="0" marR="0" marB="0" marT="0"/>
                </a:tc>
                <a:tc>
                  <a:txBody>
                    <a:bodyPr/>
                    <a:lstStyle/>
                    <a:p>
                      <a:pPr algn="r" marR="24130">
                        <a:lnSpc>
                          <a:spcPts val="2185"/>
                        </a:lnSpc>
                      </a:pPr>
                      <a:r>
                        <a:rPr dirty="0" sz="2000" spc="-50" b="1">
                          <a:solidFill>
                            <a:srgbClr val="0000CC"/>
                          </a:solidFill>
                          <a:latin typeface="Times New Roman"/>
                          <a:cs typeface="Times New Roman"/>
                        </a:rPr>
                        <a:t>1</a:t>
                      </a:r>
                      <a:endParaRPr sz="2000">
                        <a:latin typeface="Times New Roman"/>
                        <a:cs typeface="Times New Roman"/>
                      </a:endParaRPr>
                    </a:p>
                  </a:txBody>
                  <a:tcPr marL="0" marR="0" marB="0" marT="0"/>
                </a:tc>
              </a:tr>
              <a:tr h="363855">
                <a:tc>
                  <a:txBody>
                    <a:bodyPr/>
                    <a:lstStyle/>
                    <a:p>
                      <a:pPr marL="31750">
                        <a:lnSpc>
                          <a:spcPct val="100000"/>
                        </a:lnSpc>
                        <a:spcBef>
                          <a:spcPts val="114"/>
                        </a:spcBef>
                      </a:pPr>
                      <a:r>
                        <a:rPr dirty="0" sz="2000" b="1">
                          <a:solidFill>
                            <a:srgbClr val="FF3300"/>
                          </a:solidFill>
                          <a:latin typeface="Times New Roman"/>
                          <a:cs typeface="Times New Roman"/>
                        </a:rPr>
                        <a:t>(</a:t>
                      </a:r>
                      <a:r>
                        <a:rPr dirty="0" sz="2000" spc="-10" b="1">
                          <a:solidFill>
                            <a:srgbClr val="FF3300"/>
                          </a:solidFill>
                          <a:latin typeface="宋体"/>
                          <a:cs typeface="宋体"/>
                        </a:rPr>
                        <a:t>空转</a:t>
                      </a:r>
                      <a:r>
                        <a:rPr dirty="0" sz="2000" spc="-50" b="1">
                          <a:solidFill>
                            <a:srgbClr val="FF3300"/>
                          </a:solidFill>
                          <a:latin typeface="Times New Roman"/>
                          <a:cs typeface="Times New Roman"/>
                        </a:rPr>
                        <a:t>)</a:t>
                      </a:r>
                      <a:endParaRPr sz="2000">
                        <a:latin typeface="Times New Roman"/>
                        <a:cs typeface="Times New Roman"/>
                      </a:endParaRPr>
                    </a:p>
                  </a:txBody>
                  <a:tcPr marL="0" marR="0" marB="0" marT="14604"/>
                </a:tc>
                <a:tc>
                  <a:txBody>
                    <a:bodyPr/>
                    <a:lstStyle/>
                    <a:p>
                      <a:pPr>
                        <a:lnSpc>
                          <a:spcPct val="100000"/>
                        </a:lnSpc>
                      </a:pPr>
                      <a:endParaRPr sz="2200">
                        <a:latin typeface="Times New Roman"/>
                        <a:cs typeface="Times New Roman"/>
                      </a:endParaRPr>
                    </a:p>
                  </a:txBody>
                  <a:tcPr marL="0" marR="0" marB="0" marT="0"/>
                </a:tc>
                <a:tc>
                  <a:txBody>
                    <a:bodyPr/>
                    <a:lstStyle/>
                    <a:p>
                      <a:pPr algn="r" marR="24130">
                        <a:lnSpc>
                          <a:spcPct val="100000"/>
                        </a:lnSpc>
                        <a:spcBef>
                          <a:spcPts val="114"/>
                        </a:spcBef>
                      </a:pPr>
                      <a:r>
                        <a:rPr dirty="0" sz="2000" spc="-50" b="1">
                          <a:solidFill>
                            <a:srgbClr val="FF3300"/>
                          </a:solidFill>
                          <a:latin typeface="Times New Roman"/>
                          <a:cs typeface="Times New Roman"/>
                        </a:rPr>
                        <a:t>2</a:t>
                      </a:r>
                      <a:endParaRPr sz="2000">
                        <a:latin typeface="Times New Roman"/>
                        <a:cs typeface="Times New Roman"/>
                      </a:endParaRPr>
                    </a:p>
                  </a:txBody>
                  <a:tcPr marL="0" marR="0" marB="0" marT="14604"/>
                </a:tc>
              </a:tr>
              <a:tr h="365760">
                <a:tc>
                  <a:txBody>
                    <a:bodyPr/>
                    <a:lstStyle/>
                    <a:p>
                      <a:pPr marL="31750">
                        <a:lnSpc>
                          <a:spcPct val="100000"/>
                        </a:lnSpc>
                        <a:spcBef>
                          <a:spcPts val="105"/>
                        </a:spcBef>
                      </a:pPr>
                      <a:r>
                        <a:rPr dirty="0" sz="2000" spc="-10" b="1">
                          <a:solidFill>
                            <a:srgbClr val="0000CC"/>
                          </a:solidFill>
                          <a:latin typeface="Times New Roman"/>
                          <a:cs typeface="Times New Roman"/>
                        </a:rPr>
                        <a:t>ADD.D</a:t>
                      </a:r>
                      <a:endParaRPr sz="2000">
                        <a:latin typeface="Times New Roman"/>
                        <a:cs typeface="Times New Roman"/>
                      </a:endParaRPr>
                    </a:p>
                  </a:txBody>
                  <a:tcPr marL="0" marR="0" marB="0" marT="13335"/>
                </a:tc>
                <a:tc>
                  <a:txBody>
                    <a:bodyPr/>
                    <a:lstStyle/>
                    <a:p>
                      <a:pPr marL="88265">
                        <a:lnSpc>
                          <a:spcPct val="100000"/>
                        </a:lnSpc>
                        <a:spcBef>
                          <a:spcPts val="105"/>
                        </a:spcBef>
                      </a:pPr>
                      <a:r>
                        <a:rPr dirty="0" sz="2000" b="1">
                          <a:solidFill>
                            <a:srgbClr val="0000CC"/>
                          </a:solidFill>
                          <a:latin typeface="Times New Roman"/>
                          <a:cs typeface="Times New Roman"/>
                        </a:rPr>
                        <a:t>F4,</a:t>
                      </a:r>
                      <a:r>
                        <a:rPr dirty="0" sz="2000" spc="-15" b="1">
                          <a:solidFill>
                            <a:srgbClr val="0000CC"/>
                          </a:solidFill>
                          <a:latin typeface="Times New Roman"/>
                          <a:cs typeface="Times New Roman"/>
                        </a:rPr>
                        <a:t> </a:t>
                      </a:r>
                      <a:r>
                        <a:rPr dirty="0" sz="2000" b="1">
                          <a:solidFill>
                            <a:srgbClr val="0000CC"/>
                          </a:solidFill>
                          <a:latin typeface="Times New Roman"/>
                          <a:cs typeface="Times New Roman"/>
                        </a:rPr>
                        <a:t>F0, </a:t>
                      </a:r>
                      <a:r>
                        <a:rPr dirty="0" sz="2000" spc="-25" b="1">
                          <a:solidFill>
                            <a:srgbClr val="0000CC"/>
                          </a:solidFill>
                          <a:latin typeface="Times New Roman"/>
                          <a:cs typeface="Times New Roman"/>
                        </a:rPr>
                        <a:t>F2</a:t>
                      </a:r>
                      <a:endParaRPr sz="2000">
                        <a:latin typeface="Times New Roman"/>
                        <a:cs typeface="Times New Roman"/>
                      </a:endParaRPr>
                    </a:p>
                  </a:txBody>
                  <a:tcPr marL="0" marR="0" marB="0" marT="13335"/>
                </a:tc>
                <a:tc>
                  <a:txBody>
                    <a:bodyPr/>
                    <a:lstStyle/>
                    <a:p>
                      <a:pPr algn="r" marR="24130">
                        <a:lnSpc>
                          <a:spcPct val="100000"/>
                        </a:lnSpc>
                        <a:spcBef>
                          <a:spcPts val="105"/>
                        </a:spcBef>
                      </a:pPr>
                      <a:r>
                        <a:rPr dirty="0" sz="2000" spc="-50" b="1">
                          <a:solidFill>
                            <a:srgbClr val="0000CC"/>
                          </a:solidFill>
                          <a:latin typeface="Times New Roman"/>
                          <a:cs typeface="Times New Roman"/>
                        </a:rPr>
                        <a:t>3</a:t>
                      </a:r>
                      <a:endParaRPr sz="2000">
                        <a:latin typeface="Times New Roman"/>
                        <a:cs typeface="Times New Roman"/>
                      </a:endParaRPr>
                    </a:p>
                  </a:txBody>
                  <a:tcPr marL="0" marR="0" marB="0" marT="13335"/>
                </a:tc>
              </a:tr>
              <a:tr h="336550">
                <a:tc>
                  <a:txBody>
                    <a:bodyPr/>
                    <a:lstStyle/>
                    <a:p>
                      <a:pPr marL="31750">
                        <a:lnSpc>
                          <a:spcPct val="100000"/>
                        </a:lnSpc>
                        <a:spcBef>
                          <a:spcPts val="125"/>
                        </a:spcBef>
                      </a:pPr>
                      <a:r>
                        <a:rPr dirty="0" sz="2000" b="1">
                          <a:solidFill>
                            <a:srgbClr val="FF3300"/>
                          </a:solidFill>
                          <a:latin typeface="Times New Roman"/>
                          <a:cs typeface="Times New Roman"/>
                        </a:rPr>
                        <a:t>(</a:t>
                      </a:r>
                      <a:r>
                        <a:rPr dirty="0" sz="2000" spc="-10" b="1">
                          <a:solidFill>
                            <a:srgbClr val="FF3300"/>
                          </a:solidFill>
                          <a:latin typeface="宋体"/>
                          <a:cs typeface="宋体"/>
                        </a:rPr>
                        <a:t>空转</a:t>
                      </a:r>
                      <a:r>
                        <a:rPr dirty="0" sz="2000" spc="-50" b="1">
                          <a:solidFill>
                            <a:srgbClr val="FF3300"/>
                          </a:solidFill>
                          <a:latin typeface="Times New Roman"/>
                          <a:cs typeface="Times New Roman"/>
                        </a:rPr>
                        <a:t>)</a:t>
                      </a:r>
                      <a:endParaRPr sz="2000">
                        <a:latin typeface="Times New Roman"/>
                        <a:cs typeface="Times New Roman"/>
                      </a:endParaRPr>
                    </a:p>
                  </a:txBody>
                  <a:tcPr marL="0" marR="0" marB="0" marT="15875"/>
                </a:tc>
                <a:tc>
                  <a:txBody>
                    <a:bodyPr/>
                    <a:lstStyle/>
                    <a:p>
                      <a:pPr>
                        <a:lnSpc>
                          <a:spcPct val="100000"/>
                        </a:lnSpc>
                      </a:pPr>
                      <a:endParaRPr sz="2100">
                        <a:latin typeface="Times New Roman"/>
                        <a:cs typeface="Times New Roman"/>
                      </a:endParaRPr>
                    </a:p>
                  </a:txBody>
                  <a:tcPr marL="0" marR="0" marB="0" marT="0"/>
                </a:tc>
                <a:tc>
                  <a:txBody>
                    <a:bodyPr/>
                    <a:lstStyle/>
                    <a:p>
                      <a:pPr algn="r" marR="24130">
                        <a:lnSpc>
                          <a:spcPct val="100000"/>
                        </a:lnSpc>
                        <a:spcBef>
                          <a:spcPts val="125"/>
                        </a:spcBef>
                      </a:pPr>
                      <a:r>
                        <a:rPr dirty="0" sz="2000" spc="-50" b="1">
                          <a:solidFill>
                            <a:srgbClr val="FF3300"/>
                          </a:solidFill>
                          <a:latin typeface="Times New Roman"/>
                          <a:cs typeface="Times New Roman"/>
                        </a:rPr>
                        <a:t>4</a:t>
                      </a:r>
                      <a:endParaRPr sz="2000">
                        <a:latin typeface="Times New Roman"/>
                        <a:cs typeface="Times New Roman"/>
                      </a:endParaRPr>
                    </a:p>
                  </a:txBody>
                  <a:tcPr marL="0" marR="0" marB="0" marT="15875"/>
                </a:tc>
              </a:tr>
              <a:tr h="333375">
                <a:tc>
                  <a:txBody>
                    <a:bodyPr/>
                    <a:lstStyle/>
                    <a:p>
                      <a:pPr marL="31750">
                        <a:lnSpc>
                          <a:spcPts val="2275"/>
                        </a:lnSpc>
                      </a:pPr>
                      <a:r>
                        <a:rPr dirty="0" sz="2000" b="1">
                          <a:solidFill>
                            <a:srgbClr val="FF3300"/>
                          </a:solidFill>
                          <a:latin typeface="Times New Roman"/>
                          <a:cs typeface="Times New Roman"/>
                        </a:rPr>
                        <a:t>(</a:t>
                      </a:r>
                      <a:r>
                        <a:rPr dirty="0" sz="2000" spc="-10" b="1">
                          <a:solidFill>
                            <a:srgbClr val="FF3300"/>
                          </a:solidFill>
                          <a:latin typeface="宋体"/>
                          <a:cs typeface="宋体"/>
                        </a:rPr>
                        <a:t>空转</a:t>
                      </a:r>
                      <a:r>
                        <a:rPr dirty="0" sz="2000" spc="-50" b="1">
                          <a:solidFill>
                            <a:srgbClr val="FF3300"/>
                          </a:solidFill>
                          <a:latin typeface="Times New Roman"/>
                          <a:cs typeface="Times New Roman"/>
                        </a:rPr>
                        <a:t>)</a:t>
                      </a:r>
                      <a:endParaRPr sz="2000">
                        <a:latin typeface="Times New Roman"/>
                        <a:cs typeface="Times New Roman"/>
                      </a:endParaRPr>
                    </a:p>
                  </a:txBody>
                  <a:tcPr marL="0" marR="0" marB="0" marT="0"/>
                </a:tc>
                <a:tc>
                  <a:txBody>
                    <a:bodyPr/>
                    <a:lstStyle/>
                    <a:p>
                      <a:pPr>
                        <a:lnSpc>
                          <a:spcPct val="100000"/>
                        </a:lnSpc>
                      </a:pPr>
                      <a:endParaRPr sz="2100">
                        <a:latin typeface="Times New Roman"/>
                        <a:cs typeface="Times New Roman"/>
                      </a:endParaRPr>
                    </a:p>
                  </a:txBody>
                  <a:tcPr marL="0" marR="0" marB="0" marT="0"/>
                </a:tc>
                <a:tc>
                  <a:txBody>
                    <a:bodyPr/>
                    <a:lstStyle/>
                    <a:p>
                      <a:pPr algn="r" marR="24130">
                        <a:lnSpc>
                          <a:spcPts val="2275"/>
                        </a:lnSpc>
                      </a:pPr>
                      <a:r>
                        <a:rPr dirty="0" sz="2000" spc="-50" b="1">
                          <a:solidFill>
                            <a:srgbClr val="FF3300"/>
                          </a:solidFill>
                          <a:latin typeface="Times New Roman"/>
                          <a:cs typeface="Times New Roman"/>
                        </a:rPr>
                        <a:t>5</a:t>
                      </a:r>
                      <a:endParaRPr sz="2000">
                        <a:latin typeface="Times New Roman"/>
                        <a:cs typeface="Times New Roman"/>
                      </a:endParaRPr>
                    </a:p>
                  </a:txBody>
                  <a:tcPr marL="0" marR="0" marB="0" marT="0"/>
                </a:tc>
              </a:tr>
              <a:tr h="321945">
                <a:tc>
                  <a:txBody>
                    <a:bodyPr/>
                    <a:lstStyle/>
                    <a:p>
                      <a:pPr marL="31750">
                        <a:lnSpc>
                          <a:spcPts val="2335"/>
                        </a:lnSpc>
                        <a:spcBef>
                          <a:spcPts val="105"/>
                        </a:spcBef>
                      </a:pPr>
                      <a:r>
                        <a:rPr dirty="0" sz="2000" spc="-25" b="1">
                          <a:solidFill>
                            <a:srgbClr val="0000CC"/>
                          </a:solidFill>
                          <a:latin typeface="Times New Roman"/>
                          <a:cs typeface="Times New Roman"/>
                        </a:rPr>
                        <a:t>S.D</a:t>
                      </a:r>
                      <a:endParaRPr sz="2000">
                        <a:latin typeface="Times New Roman"/>
                        <a:cs typeface="Times New Roman"/>
                      </a:endParaRPr>
                    </a:p>
                  </a:txBody>
                  <a:tcPr marL="0" marR="0" marB="0" marT="13335"/>
                </a:tc>
                <a:tc>
                  <a:txBody>
                    <a:bodyPr/>
                    <a:lstStyle/>
                    <a:p>
                      <a:pPr marL="88265">
                        <a:lnSpc>
                          <a:spcPts val="2335"/>
                        </a:lnSpc>
                        <a:spcBef>
                          <a:spcPts val="105"/>
                        </a:spcBef>
                      </a:pPr>
                      <a:r>
                        <a:rPr dirty="0" sz="2000" b="1">
                          <a:solidFill>
                            <a:srgbClr val="0000CC"/>
                          </a:solidFill>
                          <a:latin typeface="Times New Roman"/>
                          <a:cs typeface="Times New Roman"/>
                        </a:rPr>
                        <a:t>F4,</a:t>
                      </a:r>
                      <a:r>
                        <a:rPr dirty="0" sz="2000" spc="-15" b="1">
                          <a:solidFill>
                            <a:srgbClr val="0000CC"/>
                          </a:solidFill>
                          <a:latin typeface="Times New Roman"/>
                          <a:cs typeface="Times New Roman"/>
                        </a:rPr>
                        <a:t> </a:t>
                      </a:r>
                      <a:r>
                        <a:rPr dirty="0" sz="2000" spc="-10" b="1">
                          <a:solidFill>
                            <a:srgbClr val="0000CC"/>
                          </a:solidFill>
                          <a:latin typeface="Times New Roman"/>
                          <a:cs typeface="Times New Roman"/>
                        </a:rPr>
                        <a:t>0(R1)</a:t>
                      </a:r>
                      <a:endParaRPr sz="2000">
                        <a:latin typeface="Times New Roman"/>
                        <a:cs typeface="Times New Roman"/>
                      </a:endParaRPr>
                    </a:p>
                  </a:txBody>
                  <a:tcPr marL="0" marR="0" marB="0" marT="13335"/>
                </a:tc>
                <a:tc>
                  <a:txBody>
                    <a:bodyPr/>
                    <a:lstStyle/>
                    <a:p>
                      <a:pPr algn="r" marR="24130">
                        <a:lnSpc>
                          <a:spcPts val="2335"/>
                        </a:lnSpc>
                        <a:spcBef>
                          <a:spcPts val="105"/>
                        </a:spcBef>
                      </a:pPr>
                      <a:r>
                        <a:rPr dirty="0" sz="2000" spc="-50" b="1">
                          <a:solidFill>
                            <a:srgbClr val="0000CC"/>
                          </a:solidFill>
                          <a:latin typeface="Times New Roman"/>
                          <a:cs typeface="Times New Roman"/>
                        </a:rPr>
                        <a:t>6</a:t>
                      </a:r>
                      <a:endParaRPr sz="2000">
                        <a:latin typeface="Times New Roman"/>
                        <a:cs typeface="Times New Roman"/>
                      </a:endParaRPr>
                    </a:p>
                  </a:txBody>
                  <a:tcPr marL="0" marR="0" marB="0" marT="13335"/>
                </a:tc>
              </a:tr>
            </a:tbl>
          </a:graphicData>
        </a:graphic>
      </p:graphicFrame>
      <p:sp>
        <p:nvSpPr>
          <p:cNvPr id="12" name="object 12" descr=""/>
          <p:cNvSpPr txBox="1"/>
          <p:nvPr/>
        </p:nvSpPr>
        <p:spPr>
          <a:xfrm>
            <a:off x="6507226" y="4515901"/>
            <a:ext cx="2325370" cy="764540"/>
          </a:xfrm>
          <a:prstGeom prst="rect">
            <a:avLst/>
          </a:prstGeom>
        </p:spPr>
        <p:txBody>
          <a:bodyPr wrap="square" lIns="0" tIns="76835" rIns="0" bIns="0" rtlCol="0" vert="horz">
            <a:spAutoFit/>
          </a:bodyPr>
          <a:lstStyle/>
          <a:p>
            <a:pPr marL="12700">
              <a:lnSpc>
                <a:spcPct val="100000"/>
              </a:lnSpc>
              <a:spcBef>
                <a:spcPts val="605"/>
              </a:spcBef>
            </a:pPr>
            <a:r>
              <a:rPr dirty="0" sz="2000" b="1">
                <a:solidFill>
                  <a:srgbClr val="0000CC"/>
                </a:solidFill>
                <a:latin typeface="Times New Roman"/>
                <a:cs typeface="Times New Roman"/>
              </a:rPr>
              <a:t>DADDIU</a:t>
            </a:r>
            <a:r>
              <a:rPr dirty="0" sz="2000" spc="-35" b="1">
                <a:solidFill>
                  <a:srgbClr val="0000CC"/>
                </a:solidFill>
                <a:latin typeface="Times New Roman"/>
                <a:cs typeface="Times New Roman"/>
              </a:rPr>
              <a:t> </a:t>
            </a:r>
            <a:r>
              <a:rPr dirty="0" sz="2000" b="1">
                <a:solidFill>
                  <a:srgbClr val="FF0000"/>
                </a:solidFill>
                <a:latin typeface="Times New Roman"/>
                <a:cs typeface="Times New Roman"/>
              </a:rPr>
              <a:t>R1</a:t>
            </a:r>
            <a:r>
              <a:rPr dirty="0" sz="2000" b="1">
                <a:solidFill>
                  <a:srgbClr val="0000CC"/>
                </a:solidFill>
                <a:latin typeface="Times New Roman"/>
                <a:cs typeface="Times New Roman"/>
              </a:rPr>
              <a:t>,</a:t>
            </a:r>
            <a:r>
              <a:rPr dirty="0" sz="2000" spc="-30" b="1">
                <a:solidFill>
                  <a:srgbClr val="0000CC"/>
                </a:solidFill>
                <a:latin typeface="Times New Roman"/>
                <a:cs typeface="Times New Roman"/>
              </a:rPr>
              <a:t> </a:t>
            </a:r>
            <a:r>
              <a:rPr dirty="0" sz="2000" b="1">
                <a:solidFill>
                  <a:srgbClr val="0000CC"/>
                </a:solidFill>
                <a:latin typeface="Times New Roman"/>
                <a:cs typeface="Times New Roman"/>
              </a:rPr>
              <a:t>R1,</a:t>
            </a:r>
            <a:r>
              <a:rPr dirty="0" sz="2000" spc="-40" b="1">
                <a:solidFill>
                  <a:srgbClr val="0000CC"/>
                </a:solidFill>
                <a:latin typeface="Times New Roman"/>
                <a:cs typeface="Times New Roman"/>
              </a:rPr>
              <a:t> </a:t>
            </a:r>
            <a:r>
              <a:rPr dirty="0" sz="2000" b="1">
                <a:solidFill>
                  <a:srgbClr val="0000CC"/>
                </a:solidFill>
                <a:latin typeface="Times New Roman"/>
                <a:cs typeface="Times New Roman"/>
              </a:rPr>
              <a:t>#-</a:t>
            </a:r>
            <a:r>
              <a:rPr dirty="0" sz="2000" spc="-50" b="1">
                <a:solidFill>
                  <a:srgbClr val="0000CC"/>
                </a:solidFill>
                <a:latin typeface="Times New Roman"/>
                <a:cs typeface="Times New Roman"/>
              </a:rPr>
              <a:t>8</a:t>
            </a:r>
            <a:endParaRPr sz="2000">
              <a:latin typeface="Times New Roman"/>
              <a:cs typeface="Times New Roman"/>
            </a:endParaRPr>
          </a:p>
          <a:p>
            <a:pPr marL="12700">
              <a:lnSpc>
                <a:spcPct val="100000"/>
              </a:lnSpc>
              <a:spcBef>
                <a:spcPts val="509"/>
              </a:spcBef>
            </a:pPr>
            <a:r>
              <a:rPr dirty="0" sz="2000" b="1">
                <a:solidFill>
                  <a:srgbClr val="FF3300"/>
                </a:solidFill>
                <a:latin typeface="Times New Roman"/>
                <a:cs typeface="Times New Roman"/>
              </a:rPr>
              <a:t>(</a:t>
            </a:r>
            <a:r>
              <a:rPr dirty="0" sz="2000" spc="-10" b="1">
                <a:solidFill>
                  <a:srgbClr val="FF3300"/>
                </a:solidFill>
                <a:latin typeface="宋体"/>
                <a:cs typeface="宋体"/>
              </a:rPr>
              <a:t>空转</a:t>
            </a:r>
            <a:r>
              <a:rPr dirty="0" sz="2000" spc="-50" b="1">
                <a:solidFill>
                  <a:srgbClr val="FF3300"/>
                </a:solidFill>
                <a:latin typeface="Times New Roman"/>
                <a:cs typeface="Times New Roman"/>
              </a:rPr>
              <a:t>)</a:t>
            </a:r>
            <a:endParaRPr sz="2000">
              <a:latin typeface="Times New Roman"/>
              <a:cs typeface="Times New Roman"/>
            </a:endParaRPr>
          </a:p>
        </p:txBody>
      </p:sp>
      <p:sp>
        <p:nvSpPr>
          <p:cNvPr id="13" name="object 13" descr=""/>
          <p:cNvSpPr txBox="1"/>
          <p:nvPr/>
        </p:nvSpPr>
        <p:spPr>
          <a:xfrm>
            <a:off x="6507226" y="5248554"/>
            <a:ext cx="2447290" cy="763270"/>
          </a:xfrm>
          <a:prstGeom prst="rect">
            <a:avLst/>
          </a:prstGeom>
        </p:spPr>
        <p:txBody>
          <a:bodyPr wrap="square" lIns="0" tIns="76200" rIns="0" bIns="0" rtlCol="0" vert="horz">
            <a:spAutoFit/>
          </a:bodyPr>
          <a:lstStyle/>
          <a:p>
            <a:pPr marL="12700">
              <a:lnSpc>
                <a:spcPct val="100000"/>
              </a:lnSpc>
              <a:spcBef>
                <a:spcPts val="600"/>
              </a:spcBef>
              <a:tabLst>
                <a:tab pos="991235" algn="l"/>
              </a:tabLst>
            </a:pPr>
            <a:r>
              <a:rPr dirty="0" sz="2000" spc="-25" b="1">
                <a:solidFill>
                  <a:srgbClr val="0000CC"/>
                </a:solidFill>
                <a:latin typeface="Times New Roman"/>
                <a:cs typeface="Times New Roman"/>
              </a:rPr>
              <a:t>BNE</a:t>
            </a:r>
            <a:r>
              <a:rPr dirty="0" sz="2000" b="1">
                <a:solidFill>
                  <a:srgbClr val="0000CC"/>
                </a:solidFill>
                <a:latin typeface="Times New Roman"/>
                <a:cs typeface="Times New Roman"/>
              </a:rPr>
              <a:t>	</a:t>
            </a:r>
            <a:r>
              <a:rPr dirty="0" sz="2000" b="1">
                <a:solidFill>
                  <a:srgbClr val="FF0000"/>
                </a:solidFill>
                <a:latin typeface="Times New Roman"/>
                <a:cs typeface="Times New Roman"/>
              </a:rPr>
              <a:t>R1</a:t>
            </a:r>
            <a:r>
              <a:rPr dirty="0" sz="2000" b="1">
                <a:solidFill>
                  <a:srgbClr val="0000CC"/>
                </a:solidFill>
                <a:latin typeface="Times New Roman"/>
                <a:cs typeface="Times New Roman"/>
              </a:rPr>
              <a:t>,</a:t>
            </a:r>
            <a:r>
              <a:rPr dirty="0" sz="2000" spc="-35" b="1">
                <a:solidFill>
                  <a:srgbClr val="0000CC"/>
                </a:solidFill>
                <a:latin typeface="Times New Roman"/>
                <a:cs typeface="Times New Roman"/>
              </a:rPr>
              <a:t> </a:t>
            </a:r>
            <a:r>
              <a:rPr dirty="0" sz="2000" b="1">
                <a:solidFill>
                  <a:srgbClr val="0000CC"/>
                </a:solidFill>
                <a:latin typeface="Times New Roman"/>
                <a:cs typeface="Times New Roman"/>
              </a:rPr>
              <a:t>R2,</a:t>
            </a:r>
            <a:r>
              <a:rPr dirty="0" sz="2000" spc="-15" b="1">
                <a:solidFill>
                  <a:srgbClr val="0000CC"/>
                </a:solidFill>
                <a:latin typeface="Times New Roman"/>
                <a:cs typeface="Times New Roman"/>
              </a:rPr>
              <a:t> </a:t>
            </a:r>
            <a:r>
              <a:rPr dirty="0" sz="2000" spc="-20" b="1">
                <a:solidFill>
                  <a:srgbClr val="0000CC"/>
                </a:solidFill>
                <a:latin typeface="Times New Roman"/>
                <a:cs typeface="Times New Roman"/>
              </a:rPr>
              <a:t>Loop</a:t>
            </a:r>
            <a:endParaRPr sz="2000">
              <a:latin typeface="Times New Roman"/>
              <a:cs typeface="Times New Roman"/>
            </a:endParaRPr>
          </a:p>
          <a:p>
            <a:pPr marL="12700">
              <a:lnSpc>
                <a:spcPct val="100000"/>
              </a:lnSpc>
              <a:spcBef>
                <a:spcPts val="505"/>
              </a:spcBef>
              <a:tabLst>
                <a:tab pos="1053465" algn="l"/>
              </a:tabLst>
            </a:pPr>
            <a:r>
              <a:rPr dirty="0" sz="2000" b="1">
                <a:solidFill>
                  <a:srgbClr val="FF3300"/>
                </a:solidFill>
                <a:latin typeface="Times New Roman"/>
                <a:cs typeface="Times New Roman"/>
              </a:rPr>
              <a:t>(</a:t>
            </a:r>
            <a:r>
              <a:rPr dirty="0" sz="2000" spc="-10" b="1">
                <a:solidFill>
                  <a:srgbClr val="FF3300"/>
                </a:solidFill>
                <a:latin typeface="宋体"/>
                <a:cs typeface="宋体"/>
              </a:rPr>
              <a:t>空转</a:t>
            </a:r>
            <a:r>
              <a:rPr dirty="0" sz="2000" spc="-50" b="1">
                <a:solidFill>
                  <a:srgbClr val="FF3300"/>
                </a:solidFill>
                <a:latin typeface="Times New Roman"/>
                <a:cs typeface="Times New Roman"/>
              </a:rPr>
              <a:t>)</a:t>
            </a:r>
            <a:r>
              <a:rPr dirty="0" sz="2000" b="1">
                <a:solidFill>
                  <a:srgbClr val="FF3300"/>
                </a:solidFill>
                <a:latin typeface="Times New Roman"/>
                <a:cs typeface="Times New Roman"/>
              </a:rPr>
              <a:t>	</a:t>
            </a:r>
            <a:r>
              <a:rPr dirty="0" sz="2000" spc="-10" b="1">
                <a:solidFill>
                  <a:srgbClr val="FF3300"/>
                </a:solidFill>
                <a:latin typeface="宋体"/>
                <a:cs typeface="宋体"/>
              </a:rPr>
              <a:t>分支延迟</a:t>
            </a:r>
            <a:r>
              <a:rPr dirty="0" sz="2000" spc="-50" b="1">
                <a:solidFill>
                  <a:srgbClr val="FF3300"/>
                </a:solidFill>
                <a:latin typeface="宋体"/>
                <a:cs typeface="宋体"/>
              </a:rPr>
              <a:t>槽</a:t>
            </a:r>
            <a:endParaRPr sz="2000">
              <a:latin typeface="宋体"/>
              <a:cs typeface="宋体"/>
            </a:endParaRPr>
          </a:p>
        </p:txBody>
      </p:sp>
      <p:sp>
        <p:nvSpPr>
          <p:cNvPr id="14" name="object 14" descr=""/>
          <p:cNvSpPr txBox="1"/>
          <p:nvPr/>
        </p:nvSpPr>
        <p:spPr>
          <a:xfrm>
            <a:off x="11079860" y="4515901"/>
            <a:ext cx="281940" cy="1496060"/>
          </a:xfrm>
          <a:prstGeom prst="rect">
            <a:avLst/>
          </a:prstGeom>
        </p:spPr>
        <p:txBody>
          <a:bodyPr wrap="square" lIns="0" tIns="76835" rIns="0" bIns="0" rtlCol="0" vert="horz">
            <a:spAutoFit/>
          </a:bodyPr>
          <a:lstStyle/>
          <a:p>
            <a:pPr marL="12700">
              <a:lnSpc>
                <a:spcPct val="100000"/>
              </a:lnSpc>
              <a:spcBef>
                <a:spcPts val="605"/>
              </a:spcBef>
            </a:pPr>
            <a:r>
              <a:rPr dirty="0" sz="2000" spc="-50" b="1">
                <a:solidFill>
                  <a:srgbClr val="0000CC"/>
                </a:solidFill>
                <a:latin typeface="Times New Roman"/>
                <a:cs typeface="Times New Roman"/>
              </a:rPr>
              <a:t>7</a:t>
            </a:r>
            <a:endParaRPr sz="2000">
              <a:latin typeface="Times New Roman"/>
              <a:cs typeface="Times New Roman"/>
            </a:endParaRPr>
          </a:p>
          <a:p>
            <a:pPr marL="12700">
              <a:lnSpc>
                <a:spcPct val="100000"/>
              </a:lnSpc>
              <a:spcBef>
                <a:spcPts val="509"/>
              </a:spcBef>
            </a:pPr>
            <a:r>
              <a:rPr dirty="0" sz="2000" spc="-50" b="1">
                <a:solidFill>
                  <a:srgbClr val="FF3300"/>
                </a:solidFill>
                <a:latin typeface="Times New Roman"/>
                <a:cs typeface="Times New Roman"/>
              </a:rPr>
              <a:t>8</a:t>
            </a:r>
            <a:endParaRPr sz="2000">
              <a:latin typeface="Times New Roman"/>
              <a:cs typeface="Times New Roman"/>
            </a:endParaRPr>
          </a:p>
          <a:p>
            <a:pPr marL="12700">
              <a:lnSpc>
                <a:spcPct val="100000"/>
              </a:lnSpc>
              <a:spcBef>
                <a:spcPts val="455"/>
              </a:spcBef>
            </a:pPr>
            <a:r>
              <a:rPr dirty="0" sz="2000" spc="-50" b="1">
                <a:solidFill>
                  <a:srgbClr val="0000CC"/>
                </a:solidFill>
                <a:latin typeface="Times New Roman"/>
                <a:cs typeface="Times New Roman"/>
              </a:rPr>
              <a:t>9</a:t>
            </a:r>
            <a:endParaRPr sz="2000">
              <a:latin typeface="Times New Roman"/>
              <a:cs typeface="Times New Roman"/>
            </a:endParaRPr>
          </a:p>
          <a:p>
            <a:pPr marL="12700">
              <a:lnSpc>
                <a:spcPct val="100000"/>
              </a:lnSpc>
              <a:spcBef>
                <a:spcPts val="505"/>
              </a:spcBef>
            </a:pPr>
            <a:r>
              <a:rPr dirty="0" sz="2000" spc="-25" b="1">
                <a:solidFill>
                  <a:srgbClr val="FF3300"/>
                </a:solidFill>
                <a:latin typeface="Times New Roman"/>
                <a:cs typeface="Times New Roman"/>
              </a:rPr>
              <a:t>10</a:t>
            </a:r>
            <a:endParaRPr sz="2000">
              <a:latin typeface="Times New Roman"/>
              <a:cs typeface="Times New Roman"/>
            </a:endParaRPr>
          </a:p>
        </p:txBody>
      </p:sp>
      <p:pic>
        <p:nvPicPr>
          <p:cNvPr id="15" name="object 15" descr=""/>
          <p:cNvPicPr/>
          <p:nvPr/>
        </p:nvPicPr>
        <p:blipFill>
          <a:blip r:embed="rId3" cstate="print"/>
          <a:stretch>
            <a:fillRect/>
          </a:stretch>
        </p:blipFill>
        <p:spPr>
          <a:xfrm>
            <a:off x="269025" y="1111250"/>
            <a:ext cx="4187630" cy="2817376"/>
          </a:xfrm>
          <a:prstGeom prst="rect">
            <a:avLst/>
          </a:prstGeom>
        </p:spPr>
      </p:pic>
      <p:sp>
        <p:nvSpPr>
          <p:cNvPr id="16" name="object 16" descr=""/>
          <p:cNvSpPr txBox="1"/>
          <p:nvPr/>
        </p:nvSpPr>
        <p:spPr>
          <a:xfrm>
            <a:off x="5670550" y="6151270"/>
            <a:ext cx="5096510"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黑体"/>
                <a:cs typeface="黑体"/>
              </a:rPr>
              <a:t>一次操作</a:t>
            </a:r>
            <a:r>
              <a:rPr dirty="0" sz="2400" spc="-25">
                <a:solidFill>
                  <a:srgbClr val="40458B"/>
                </a:solidFill>
                <a:latin typeface="Tahoma"/>
                <a:cs typeface="Tahoma"/>
              </a:rPr>
              <a:t>10</a:t>
            </a:r>
            <a:r>
              <a:rPr dirty="0" sz="2400">
                <a:solidFill>
                  <a:srgbClr val="40458B"/>
                </a:solidFill>
                <a:latin typeface="黑体"/>
                <a:cs typeface="黑体"/>
              </a:rPr>
              <a:t>个周期，其中空转</a:t>
            </a:r>
            <a:r>
              <a:rPr dirty="0" sz="2400" spc="-25">
                <a:solidFill>
                  <a:srgbClr val="40458B"/>
                </a:solidFill>
                <a:latin typeface="Tahoma"/>
                <a:cs typeface="Tahoma"/>
              </a:rPr>
              <a:t>5</a:t>
            </a:r>
            <a:r>
              <a:rPr dirty="0" sz="2400" spc="-20">
                <a:solidFill>
                  <a:srgbClr val="40458B"/>
                </a:solidFill>
                <a:latin typeface="黑体"/>
                <a:cs typeface="黑体"/>
              </a:rPr>
              <a:t>个周期</a:t>
            </a:r>
            <a:endParaRPr sz="2400">
              <a:latin typeface="黑体"/>
              <a:cs typeface="黑体"/>
            </a:endParaRPr>
          </a:p>
        </p:txBody>
      </p:sp>
      <p:grpSp>
        <p:nvGrpSpPr>
          <p:cNvPr id="17" name="object 17" descr=""/>
          <p:cNvGrpSpPr/>
          <p:nvPr/>
        </p:nvGrpSpPr>
        <p:grpSpPr>
          <a:xfrm>
            <a:off x="10085387" y="-4762"/>
            <a:ext cx="1958975" cy="1265555"/>
            <a:chOff x="10085387" y="-4762"/>
            <a:chExt cx="1958975" cy="1265555"/>
          </a:xfrm>
        </p:grpSpPr>
        <p:sp>
          <p:nvSpPr>
            <p:cNvPr id="18" name="object 18" descr=""/>
            <p:cNvSpPr/>
            <p:nvPr/>
          </p:nvSpPr>
          <p:spPr>
            <a:xfrm>
              <a:off x="10090150" y="0"/>
              <a:ext cx="1949450" cy="1256030"/>
            </a:xfrm>
            <a:custGeom>
              <a:avLst/>
              <a:gdLst/>
              <a:ahLst/>
              <a:cxnLst/>
              <a:rect l="l" t="t" r="r" b="b"/>
              <a:pathLst>
                <a:path w="1949450" h="1256030">
                  <a:moveTo>
                    <a:pt x="1081807" y="0"/>
                  </a:moveTo>
                  <a:lnTo>
                    <a:pt x="867642" y="0"/>
                  </a:lnTo>
                  <a:lnTo>
                    <a:pt x="649858" y="229361"/>
                  </a:lnTo>
                  <a:lnTo>
                    <a:pt x="0" y="229361"/>
                  </a:lnTo>
                  <a:lnTo>
                    <a:pt x="324866" y="571500"/>
                  </a:lnTo>
                  <a:lnTo>
                    <a:pt x="0" y="913638"/>
                  </a:lnTo>
                  <a:lnTo>
                    <a:pt x="649858" y="913638"/>
                  </a:lnTo>
                  <a:lnTo>
                    <a:pt x="974725" y="1255776"/>
                  </a:lnTo>
                  <a:lnTo>
                    <a:pt x="1299591" y="913638"/>
                  </a:lnTo>
                  <a:lnTo>
                    <a:pt x="1949450" y="913638"/>
                  </a:lnTo>
                  <a:lnTo>
                    <a:pt x="1624583" y="571500"/>
                  </a:lnTo>
                  <a:lnTo>
                    <a:pt x="1949450" y="229361"/>
                  </a:lnTo>
                  <a:lnTo>
                    <a:pt x="1299591" y="229361"/>
                  </a:lnTo>
                  <a:lnTo>
                    <a:pt x="1081807" y="0"/>
                  </a:lnTo>
                  <a:close/>
                </a:path>
              </a:pathLst>
            </a:custGeom>
            <a:solidFill>
              <a:srgbClr val="FFFF00"/>
            </a:solidFill>
          </p:spPr>
          <p:txBody>
            <a:bodyPr wrap="square" lIns="0" tIns="0" rIns="0" bIns="0" rtlCol="0"/>
            <a:lstStyle/>
            <a:p/>
          </p:txBody>
        </p:sp>
        <p:sp>
          <p:nvSpPr>
            <p:cNvPr id="19" name="object 19" descr=""/>
            <p:cNvSpPr/>
            <p:nvPr/>
          </p:nvSpPr>
          <p:spPr>
            <a:xfrm>
              <a:off x="10090150" y="0"/>
              <a:ext cx="1949450" cy="1256030"/>
            </a:xfrm>
            <a:custGeom>
              <a:avLst/>
              <a:gdLst/>
              <a:ahLst/>
              <a:cxnLst/>
              <a:rect l="l" t="t" r="r" b="b"/>
              <a:pathLst>
                <a:path w="1949450" h="1256030">
                  <a:moveTo>
                    <a:pt x="1081807" y="0"/>
                  </a:moveTo>
                  <a:lnTo>
                    <a:pt x="1299591" y="229361"/>
                  </a:lnTo>
                  <a:lnTo>
                    <a:pt x="1949450" y="229361"/>
                  </a:lnTo>
                  <a:lnTo>
                    <a:pt x="1624583" y="571500"/>
                  </a:lnTo>
                  <a:lnTo>
                    <a:pt x="1949450" y="913638"/>
                  </a:lnTo>
                  <a:lnTo>
                    <a:pt x="1299591" y="913638"/>
                  </a:lnTo>
                  <a:lnTo>
                    <a:pt x="974725" y="1255776"/>
                  </a:lnTo>
                  <a:lnTo>
                    <a:pt x="649858" y="913638"/>
                  </a:lnTo>
                  <a:lnTo>
                    <a:pt x="0" y="913638"/>
                  </a:lnTo>
                  <a:lnTo>
                    <a:pt x="324866" y="571500"/>
                  </a:lnTo>
                  <a:lnTo>
                    <a:pt x="0" y="229361"/>
                  </a:lnTo>
                  <a:lnTo>
                    <a:pt x="649858" y="229361"/>
                  </a:lnTo>
                  <a:lnTo>
                    <a:pt x="867642" y="0"/>
                  </a:lnTo>
                </a:path>
              </a:pathLst>
            </a:custGeom>
            <a:ln w="9525">
              <a:solidFill>
                <a:srgbClr val="40458B"/>
              </a:solidFill>
            </a:ln>
          </p:spPr>
          <p:txBody>
            <a:bodyPr wrap="square" lIns="0" tIns="0" rIns="0" bIns="0" rtlCol="0"/>
            <a:lstStyle/>
            <a:p/>
          </p:txBody>
        </p:sp>
      </p:grpSp>
      <p:sp>
        <p:nvSpPr>
          <p:cNvPr id="20" name="object 20" descr=""/>
          <p:cNvSpPr txBox="1"/>
          <p:nvPr/>
        </p:nvSpPr>
        <p:spPr>
          <a:xfrm>
            <a:off x="10495026" y="262509"/>
            <a:ext cx="1244600" cy="391160"/>
          </a:xfrm>
          <a:prstGeom prst="rect">
            <a:avLst/>
          </a:prstGeom>
        </p:spPr>
        <p:txBody>
          <a:bodyPr wrap="square" lIns="0" tIns="12700" rIns="0" bIns="0" rtlCol="0" vert="horz">
            <a:spAutoFit/>
          </a:bodyPr>
          <a:lstStyle/>
          <a:p>
            <a:pPr marL="12700">
              <a:lnSpc>
                <a:spcPct val="100000"/>
              </a:lnSpc>
              <a:spcBef>
                <a:spcPts val="100"/>
              </a:spcBef>
            </a:pPr>
            <a:r>
              <a:rPr dirty="0" sz="2400" spc="-15">
                <a:solidFill>
                  <a:srgbClr val="FF0000"/>
                </a:solidFill>
                <a:latin typeface="黑体"/>
                <a:cs typeface="黑体"/>
              </a:rPr>
              <a:t>浪费一半</a:t>
            </a:r>
            <a:endParaRPr sz="2400">
              <a:latin typeface="黑体"/>
              <a:cs typeface="黑体"/>
            </a:endParaRPr>
          </a:p>
        </p:txBody>
      </p:sp>
      <p:sp>
        <p:nvSpPr>
          <p:cNvPr id="21" name="object 21" descr=""/>
          <p:cNvSpPr txBox="1"/>
          <p:nvPr/>
        </p:nvSpPr>
        <p:spPr>
          <a:xfrm>
            <a:off x="70815" y="4264914"/>
            <a:ext cx="6138545" cy="1489075"/>
          </a:xfrm>
          <a:prstGeom prst="rect">
            <a:avLst/>
          </a:prstGeom>
        </p:spPr>
        <p:txBody>
          <a:bodyPr wrap="square" lIns="0" tIns="12700" rIns="0" bIns="0" rtlCol="0" vert="horz">
            <a:spAutoFit/>
          </a:bodyPr>
          <a:lstStyle/>
          <a:p>
            <a:pPr marL="12700" marR="194945" indent="342265">
              <a:lnSpc>
                <a:spcPct val="100000"/>
              </a:lnSpc>
              <a:spcBef>
                <a:spcPts val="100"/>
              </a:spcBef>
              <a:buClr>
                <a:srgbClr val="0000CC"/>
              </a:buClr>
              <a:buFont typeface="Wingdings"/>
              <a:buChar char=""/>
              <a:tabLst>
                <a:tab pos="354965" algn="l"/>
              </a:tabLst>
            </a:pPr>
            <a:r>
              <a:rPr dirty="0" sz="2400" spc="-10">
                <a:solidFill>
                  <a:srgbClr val="40458B"/>
                </a:solidFill>
                <a:latin typeface="Tahoma"/>
                <a:cs typeface="Tahoma"/>
              </a:rPr>
              <a:t>BNE</a:t>
            </a:r>
            <a:r>
              <a:rPr dirty="0" sz="2400">
                <a:solidFill>
                  <a:srgbClr val="40458B"/>
                </a:solidFill>
                <a:latin typeface="黑体"/>
                <a:cs typeface="黑体"/>
              </a:rPr>
              <a:t>在</a:t>
            </a:r>
            <a:r>
              <a:rPr dirty="0" sz="2400" spc="-10">
                <a:solidFill>
                  <a:srgbClr val="40458B"/>
                </a:solidFill>
                <a:latin typeface="Tahoma"/>
                <a:cs typeface="Tahoma"/>
              </a:rPr>
              <a:t>DADDIU</a:t>
            </a:r>
            <a:r>
              <a:rPr dirty="0" sz="2400">
                <a:solidFill>
                  <a:srgbClr val="40458B"/>
                </a:solidFill>
                <a:latin typeface="黑体"/>
                <a:cs typeface="黑体"/>
              </a:rPr>
              <a:t>的</a:t>
            </a:r>
            <a:r>
              <a:rPr dirty="0" sz="2400" spc="-30">
                <a:solidFill>
                  <a:srgbClr val="40458B"/>
                </a:solidFill>
                <a:latin typeface="Tahoma"/>
                <a:cs typeface="Tahoma"/>
              </a:rPr>
              <a:t>MENM</a:t>
            </a:r>
            <a:r>
              <a:rPr dirty="0" sz="2400" spc="-5">
                <a:solidFill>
                  <a:srgbClr val="40458B"/>
                </a:solidFill>
                <a:latin typeface="黑体"/>
                <a:cs typeface="黑体"/>
              </a:rPr>
              <a:t>段才执行</a:t>
            </a:r>
            <a:r>
              <a:rPr dirty="0" sz="2400" spc="-20">
                <a:solidFill>
                  <a:srgbClr val="40458B"/>
                </a:solidFill>
                <a:latin typeface="Tahoma"/>
                <a:cs typeface="Tahoma"/>
              </a:rPr>
              <a:t>ID</a:t>
            </a:r>
            <a:r>
              <a:rPr dirty="0" sz="2400" spc="-20">
                <a:solidFill>
                  <a:srgbClr val="40458B"/>
                </a:solidFill>
                <a:latin typeface="黑体"/>
                <a:cs typeface="黑体"/>
              </a:rPr>
              <a:t>译码？</a:t>
            </a:r>
            <a:r>
              <a:rPr dirty="0" sz="2400">
                <a:solidFill>
                  <a:srgbClr val="FF0000"/>
                </a:solidFill>
                <a:latin typeface="黑体"/>
                <a:cs typeface="黑体"/>
              </a:rPr>
              <a:t>因为分支指令</a:t>
            </a:r>
            <a:r>
              <a:rPr dirty="0" sz="2400" spc="-25">
                <a:solidFill>
                  <a:srgbClr val="FF0000"/>
                </a:solidFill>
                <a:latin typeface="Tahoma"/>
                <a:cs typeface="Tahoma"/>
              </a:rPr>
              <a:t>R1</a:t>
            </a:r>
            <a:r>
              <a:rPr dirty="0" sz="2400">
                <a:solidFill>
                  <a:srgbClr val="FF0000"/>
                </a:solidFill>
                <a:latin typeface="黑体"/>
                <a:cs typeface="黑体"/>
              </a:rPr>
              <a:t>依赖于</a:t>
            </a:r>
            <a:r>
              <a:rPr dirty="0" sz="2400" spc="-10">
                <a:solidFill>
                  <a:srgbClr val="FF0000"/>
                </a:solidFill>
                <a:latin typeface="Tahoma"/>
                <a:cs typeface="Tahoma"/>
              </a:rPr>
              <a:t>ADDIU</a:t>
            </a:r>
            <a:r>
              <a:rPr dirty="0" sz="2400" spc="-25">
                <a:solidFill>
                  <a:srgbClr val="FF0000"/>
                </a:solidFill>
                <a:latin typeface="黑体"/>
                <a:cs typeface="黑体"/>
              </a:rPr>
              <a:t>指令</a:t>
            </a:r>
            <a:endParaRPr sz="2400">
              <a:latin typeface="黑体"/>
              <a:cs typeface="黑体"/>
            </a:endParaRPr>
          </a:p>
          <a:p>
            <a:pPr marL="12700" marR="5080">
              <a:lnSpc>
                <a:spcPct val="100000"/>
              </a:lnSpc>
            </a:pPr>
            <a:r>
              <a:rPr dirty="0" sz="2400" spc="-5">
                <a:solidFill>
                  <a:srgbClr val="0000CC"/>
                </a:solidFill>
                <a:latin typeface="黑体"/>
                <a:cs typeface="黑体"/>
              </a:rPr>
              <a:t>假设：</a:t>
            </a:r>
            <a:r>
              <a:rPr dirty="0" sz="2400" spc="-10">
                <a:solidFill>
                  <a:srgbClr val="FF0000"/>
                </a:solidFill>
                <a:latin typeface="Tahoma"/>
                <a:cs typeface="Tahoma"/>
              </a:rPr>
              <a:t>ID</a:t>
            </a:r>
            <a:r>
              <a:rPr dirty="0" sz="2400" spc="-5">
                <a:solidFill>
                  <a:srgbClr val="FF0000"/>
                </a:solidFill>
                <a:latin typeface="黑体"/>
                <a:cs typeface="黑体"/>
              </a:rPr>
              <a:t>段得到分支条件是否成立，以及分支</a:t>
            </a:r>
            <a:r>
              <a:rPr dirty="0" sz="2400" spc="-15">
                <a:solidFill>
                  <a:srgbClr val="FF0000"/>
                </a:solidFill>
                <a:latin typeface="黑体"/>
                <a:cs typeface="黑体"/>
              </a:rPr>
              <a:t>目标指令，那么分支的延迟是一个时钟周期</a:t>
            </a:r>
            <a:endParaRPr sz="2400">
              <a:latin typeface="黑体"/>
              <a:cs typeface="黑体"/>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563735" cy="209550"/>
          </a:xfrm>
          <a:prstGeom prst="rect">
            <a:avLst/>
          </a:prstGeom>
        </p:spPr>
        <p:txBody>
          <a:bodyPr wrap="square" lIns="0" tIns="0" rIns="0" bIns="0" rtlCol="0" vert="horz">
            <a:spAutoFit/>
          </a:bodyPr>
          <a:lstStyle/>
          <a:p>
            <a:pPr>
              <a:lnSpc>
                <a:spcPts val="1650"/>
              </a:lnSpc>
              <a:tabLst>
                <a:tab pos="914908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30" b="1">
                <a:solidFill>
                  <a:srgbClr val="40458B"/>
                </a:solidFill>
                <a:latin typeface="宋体"/>
                <a:cs typeface="宋体"/>
              </a:rPr>
              <a:t>7/89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659763" y="36068"/>
            <a:ext cx="5309235" cy="513715"/>
          </a:xfrm>
          <a:prstGeom prst="rect"/>
        </p:spPr>
        <p:txBody>
          <a:bodyPr wrap="square" lIns="0" tIns="12700" rIns="0" bIns="0" rtlCol="0" vert="horz">
            <a:spAutoFit/>
          </a:bodyPr>
          <a:lstStyle/>
          <a:p>
            <a:pPr marL="12700">
              <a:lnSpc>
                <a:spcPct val="100000"/>
              </a:lnSpc>
              <a:spcBef>
                <a:spcPts val="100"/>
              </a:spcBef>
            </a:pPr>
            <a:r>
              <a:rPr dirty="0" u="none"/>
              <a:t>6.1</a:t>
            </a:r>
            <a:r>
              <a:rPr dirty="0" u="none" spc="-20"/>
              <a:t> 基本指令调度及循环展开</a:t>
            </a:r>
          </a:p>
        </p:txBody>
      </p:sp>
      <p:sp>
        <p:nvSpPr>
          <p:cNvPr id="10" name="object 10" descr=""/>
          <p:cNvSpPr txBox="1"/>
          <p:nvPr/>
        </p:nvSpPr>
        <p:spPr>
          <a:xfrm>
            <a:off x="5023484" y="781435"/>
            <a:ext cx="6903720" cy="2011045"/>
          </a:xfrm>
          <a:prstGeom prst="rect">
            <a:avLst/>
          </a:prstGeom>
        </p:spPr>
        <p:txBody>
          <a:bodyPr wrap="square" lIns="0" tIns="12065" rIns="0" bIns="0" rtlCol="0" vert="horz">
            <a:spAutoFit/>
          </a:bodyPr>
          <a:lstStyle/>
          <a:p>
            <a:pPr marL="469900" marR="5080" indent="-457200">
              <a:lnSpc>
                <a:spcPct val="150000"/>
              </a:lnSpc>
              <a:spcBef>
                <a:spcPts val="95"/>
              </a:spcBef>
              <a:buClr>
                <a:srgbClr val="40458B"/>
              </a:buClr>
              <a:buSzPct val="89285"/>
              <a:buFont typeface="Wingdings"/>
              <a:buChar char=""/>
              <a:tabLst>
                <a:tab pos="469900" algn="l"/>
              </a:tabLst>
            </a:pPr>
            <a:r>
              <a:rPr dirty="0" sz="2800" spc="-25" b="1">
                <a:solidFill>
                  <a:srgbClr val="FF0000"/>
                </a:solidFill>
                <a:latin typeface="宋体"/>
                <a:cs typeface="宋体"/>
              </a:rPr>
              <a:t>优化：</a:t>
            </a:r>
            <a:r>
              <a:rPr dirty="0" sz="2800" spc="-25" b="1">
                <a:solidFill>
                  <a:srgbClr val="080808"/>
                </a:solidFill>
                <a:latin typeface="宋体"/>
                <a:cs typeface="宋体"/>
              </a:rPr>
              <a:t>在用编译器对上述程序进行</a:t>
            </a:r>
            <a:r>
              <a:rPr dirty="0" sz="2800" spc="-30" b="1">
                <a:solidFill>
                  <a:srgbClr val="FF0000"/>
                </a:solidFill>
                <a:latin typeface="宋体"/>
                <a:cs typeface="宋体"/>
              </a:rPr>
              <a:t>指令调</a:t>
            </a:r>
            <a:r>
              <a:rPr dirty="0" sz="2800" spc="-25" b="1">
                <a:solidFill>
                  <a:srgbClr val="FF0000"/>
                </a:solidFill>
                <a:latin typeface="宋体"/>
                <a:cs typeface="宋体"/>
              </a:rPr>
              <a:t>度</a:t>
            </a:r>
            <a:r>
              <a:rPr dirty="0" sz="2800" spc="-30" b="1">
                <a:solidFill>
                  <a:srgbClr val="080808"/>
                </a:solidFill>
                <a:latin typeface="宋体"/>
                <a:cs typeface="宋体"/>
              </a:rPr>
              <a:t>以后，程序的执行情况如下</a:t>
            </a:r>
            <a:r>
              <a:rPr dirty="0" sz="2000" spc="-50" b="1">
                <a:solidFill>
                  <a:srgbClr val="080808"/>
                </a:solidFill>
                <a:latin typeface="宋体"/>
                <a:cs typeface="宋体"/>
              </a:rPr>
              <a:t>：</a:t>
            </a:r>
            <a:endParaRPr sz="2000">
              <a:latin typeface="宋体"/>
              <a:cs typeface="宋体"/>
            </a:endParaRPr>
          </a:p>
          <a:p>
            <a:pPr algn="r" marR="488950">
              <a:lnSpc>
                <a:spcPct val="100000"/>
              </a:lnSpc>
              <a:spcBef>
                <a:spcPts val="3155"/>
              </a:spcBef>
            </a:pPr>
            <a:r>
              <a:rPr dirty="0" sz="2000" spc="-20" b="1">
                <a:solidFill>
                  <a:srgbClr val="006600"/>
                </a:solidFill>
                <a:latin typeface="宋体"/>
                <a:cs typeface="宋体"/>
              </a:rPr>
              <a:t>指令流出时钟</a:t>
            </a:r>
            <a:endParaRPr sz="2000">
              <a:latin typeface="宋体"/>
              <a:cs typeface="宋体"/>
            </a:endParaRPr>
          </a:p>
        </p:txBody>
      </p:sp>
      <p:sp>
        <p:nvSpPr>
          <p:cNvPr id="11" name="object 11" descr=""/>
          <p:cNvSpPr txBox="1"/>
          <p:nvPr/>
        </p:nvSpPr>
        <p:spPr>
          <a:xfrm>
            <a:off x="5290184" y="2828977"/>
            <a:ext cx="4172585" cy="2245995"/>
          </a:xfrm>
          <a:prstGeom prst="rect">
            <a:avLst/>
          </a:prstGeom>
        </p:spPr>
        <p:txBody>
          <a:bodyPr wrap="square" lIns="0" tIns="13335" rIns="0" bIns="0" rtlCol="0" vert="horz">
            <a:spAutoFit/>
          </a:bodyPr>
          <a:lstStyle/>
          <a:p>
            <a:pPr marL="945515" marR="5080" indent="-933450">
              <a:lnSpc>
                <a:spcPct val="130000"/>
              </a:lnSpc>
              <a:spcBef>
                <a:spcPts val="105"/>
              </a:spcBef>
              <a:tabLst>
                <a:tab pos="1948180" algn="l"/>
                <a:tab pos="2240915" algn="l"/>
              </a:tabLst>
            </a:pPr>
            <a:r>
              <a:rPr dirty="0" sz="2800" spc="-10" b="1">
                <a:solidFill>
                  <a:srgbClr val="0000CC"/>
                </a:solidFill>
                <a:latin typeface="Times New Roman"/>
                <a:cs typeface="Times New Roman"/>
              </a:rPr>
              <a:t>Loop</a:t>
            </a:r>
            <a:r>
              <a:rPr dirty="0" sz="2800" spc="-10" b="1">
                <a:solidFill>
                  <a:srgbClr val="0000CC"/>
                </a:solidFill>
                <a:latin typeface="宋体"/>
                <a:cs typeface="宋体"/>
              </a:rPr>
              <a:t>：</a:t>
            </a:r>
            <a:r>
              <a:rPr dirty="0" sz="2800" spc="-10" b="1">
                <a:solidFill>
                  <a:srgbClr val="0000CC"/>
                </a:solidFill>
                <a:latin typeface="Times New Roman"/>
                <a:cs typeface="Times New Roman"/>
              </a:rPr>
              <a:t>L.D</a:t>
            </a:r>
            <a:r>
              <a:rPr dirty="0" sz="2800" b="1">
                <a:solidFill>
                  <a:srgbClr val="0000CC"/>
                </a:solidFill>
                <a:latin typeface="Times New Roman"/>
                <a:cs typeface="Times New Roman"/>
              </a:rPr>
              <a:t>	F0,</a:t>
            </a:r>
            <a:r>
              <a:rPr dirty="0" sz="2800" spc="-45" b="1">
                <a:solidFill>
                  <a:srgbClr val="0000CC"/>
                </a:solidFill>
                <a:latin typeface="Times New Roman"/>
                <a:cs typeface="Times New Roman"/>
              </a:rPr>
              <a:t> </a:t>
            </a:r>
            <a:r>
              <a:rPr dirty="0" sz="2800" spc="-10" b="1">
                <a:solidFill>
                  <a:srgbClr val="0000CC"/>
                </a:solidFill>
                <a:latin typeface="Times New Roman"/>
                <a:cs typeface="Times New Roman"/>
              </a:rPr>
              <a:t>0(R1) </a:t>
            </a:r>
            <a:r>
              <a:rPr dirty="0" sz="2800" b="1">
                <a:solidFill>
                  <a:srgbClr val="FF5CFF"/>
                </a:solidFill>
                <a:latin typeface="Times New Roman"/>
                <a:cs typeface="Times New Roman"/>
              </a:rPr>
              <a:t>DADDIU</a:t>
            </a:r>
            <a:r>
              <a:rPr dirty="0" sz="2800" spc="-40" b="1">
                <a:solidFill>
                  <a:srgbClr val="FF5CFF"/>
                </a:solidFill>
                <a:latin typeface="Times New Roman"/>
                <a:cs typeface="Times New Roman"/>
              </a:rPr>
              <a:t> </a:t>
            </a:r>
            <a:r>
              <a:rPr dirty="0" sz="2800" b="1">
                <a:solidFill>
                  <a:srgbClr val="FF5CFF"/>
                </a:solidFill>
                <a:latin typeface="Times New Roman"/>
                <a:cs typeface="Times New Roman"/>
              </a:rPr>
              <a:t>R1,</a:t>
            </a:r>
            <a:r>
              <a:rPr dirty="0" sz="2800" spc="-70" b="1">
                <a:solidFill>
                  <a:srgbClr val="FF5CFF"/>
                </a:solidFill>
                <a:latin typeface="Times New Roman"/>
                <a:cs typeface="Times New Roman"/>
              </a:rPr>
              <a:t> </a:t>
            </a:r>
            <a:r>
              <a:rPr dirty="0" sz="2800" b="1">
                <a:solidFill>
                  <a:srgbClr val="FF5CFF"/>
                </a:solidFill>
                <a:latin typeface="Times New Roman"/>
                <a:cs typeface="Times New Roman"/>
              </a:rPr>
              <a:t>R1,</a:t>
            </a:r>
            <a:r>
              <a:rPr dirty="0" sz="2800" spc="-70" b="1">
                <a:solidFill>
                  <a:srgbClr val="FF5CFF"/>
                </a:solidFill>
                <a:latin typeface="Times New Roman"/>
                <a:cs typeface="Times New Roman"/>
              </a:rPr>
              <a:t> </a:t>
            </a:r>
            <a:r>
              <a:rPr dirty="0" sz="2800" spc="-10" b="1">
                <a:solidFill>
                  <a:srgbClr val="FF5CFF"/>
                </a:solidFill>
                <a:latin typeface="Times New Roman"/>
                <a:cs typeface="Times New Roman"/>
              </a:rPr>
              <a:t>#-</a:t>
            </a:r>
            <a:r>
              <a:rPr dirty="0" sz="2800" spc="-50" b="1">
                <a:solidFill>
                  <a:srgbClr val="FF5CFF"/>
                </a:solidFill>
                <a:latin typeface="Times New Roman"/>
                <a:cs typeface="Times New Roman"/>
              </a:rPr>
              <a:t>8 </a:t>
            </a:r>
            <a:r>
              <a:rPr dirty="0" sz="2800" spc="-10" b="1">
                <a:solidFill>
                  <a:srgbClr val="0000CC"/>
                </a:solidFill>
                <a:latin typeface="Times New Roman"/>
                <a:cs typeface="Times New Roman"/>
              </a:rPr>
              <a:t>ADD.D</a:t>
            </a:r>
            <a:r>
              <a:rPr dirty="0" sz="2800" b="1">
                <a:solidFill>
                  <a:srgbClr val="0000CC"/>
                </a:solidFill>
                <a:latin typeface="Times New Roman"/>
                <a:cs typeface="Times New Roman"/>
              </a:rPr>
              <a:t>	F4,</a:t>
            </a:r>
            <a:r>
              <a:rPr dirty="0" sz="2800" spc="-45" b="1">
                <a:solidFill>
                  <a:srgbClr val="0000CC"/>
                </a:solidFill>
                <a:latin typeface="Times New Roman"/>
                <a:cs typeface="Times New Roman"/>
              </a:rPr>
              <a:t> </a:t>
            </a:r>
            <a:r>
              <a:rPr dirty="0" sz="2800" b="1">
                <a:solidFill>
                  <a:srgbClr val="0000CC"/>
                </a:solidFill>
                <a:latin typeface="Times New Roman"/>
                <a:cs typeface="Times New Roman"/>
              </a:rPr>
              <a:t>F0,</a:t>
            </a:r>
            <a:r>
              <a:rPr dirty="0" sz="2800" spc="-35" b="1">
                <a:solidFill>
                  <a:srgbClr val="0000CC"/>
                </a:solidFill>
                <a:latin typeface="Times New Roman"/>
                <a:cs typeface="Times New Roman"/>
              </a:rPr>
              <a:t> </a:t>
            </a:r>
            <a:r>
              <a:rPr dirty="0" sz="2800" spc="-25" b="1">
                <a:solidFill>
                  <a:srgbClr val="0000CC"/>
                </a:solidFill>
                <a:latin typeface="Times New Roman"/>
                <a:cs typeface="Times New Roman"/>
              </a:rPr>
              <a:t>F2</a:t>
            </a:r>
            <a:endParaRPr sz="2800">
              <a:latin typeface="Times New Roman"/>
              <a:cs typeface="Times New Roman"/>
            </a:endParaRPr>
          </a:p>
          <a:p>
            <a:pPr marL="945515">
              <a:lnSpc>
                <a:spcPct val="100000"/>
              </a:lnSpc>
              <a:spcBef>
                <a:spcPts val="1010"/>
              </a:spcBef>
            </a:pPr>
            <a:r>
              <a:rPr dirty="0" sz="2800" spc="-10" b="1">
                <a:solidFill>
                  <a:srgbClr val="FF3300"/>
                </a:solidFill>
                <a:latin typeface="Times New Roman"/>
                <a:cs typeface="Times New Roman"/>
              </a:rPr>
              <a:t>(</a:t>
            </a:r>
            <a:r>
              <a:rPr dirty="0" sz="2800" spc="-25" b="1">
                <a:solidFill>
                  <a:srgbClr val="FF3300"/>
                </a:solidFill>
                <a:latin typeface="宋体"/>
                <a:cs typeface="宋体"/>
              </a:rPr>
              <a:t>空转</a:t>
            </a:r>
            <a:r>
              <a:rPr dirty="0" sz="2800" spc="-50" b="1">
                <a:solidFill>
                  <a:srgbClr val="FF3300"/>
                </a:solidFill>
                <a:latin typeface="Times New Roman"/>
                <a:cs typeface="Times New Roman"/>
              </a:rPr>
              <a:t>)</a:t>
            </a:r>
            <a:endParaRPr sz="2800">
              <a:latin typeface="Times New Roman"/>
              <a:cs typeface="Times New Roman"/>
            </a:endParaRPr>
          </a:p>
        </p:txBody>
      </p:sp>
      <p:sp>
        <p:nvSpPr>
          <p:cNvPr id="12" name="object 12" descr=""/>
          <p:cNvSpPr txBox="1"/>
          <p:nvPr/>
        </p:nvSpPr>
        <p:spPr>
          <a:xfrm>
            <a:off x="6090665" y="5049630"/>
            <a:ext cx="3303904" cy="1134745"/>
          </a:xfrm>
          <a:prstGeom prst="rect">
            <a:avLst/>
          </a:prstGeom>
        </p:spPr>
        <p:txBody>
          <a:bodyPr wrap="square" lIns="0" tIns="140335" rIns="0" bIns="0" rtlCol="0" vert="horz">
            <a:spAutoFit/>
          </a:bodyPr>
          <a:lstStyle/>
          <a:p>
            <a:pPr marL="12700">
              <a:lnSpc>
                <a:spcPct val="100000"/>
              </a:lnSpc>
              <a:spcBef>
                <a:spcPts val="1105"/>
              </a:spcBef>
              <a:tabLst>
                <a:tab pos="1276350" algn="l"/>
              </a:tabLst>
            </a:pPr>
            <a:r>
              <a:rPr dirty="0" sz="2800" spc="-25" b="1">
                <a:solidFill>
                  <a:srgbClr val="0000CC"/>
                </a:solidFill>
                <a:latin typeface="Times New Roman"/>
                <a:cs typeface="Times New Roman"/>
              </a:rPr>
              <a:t>BNE</a:t>
            </a:r>
            <a:r>
              <a:rPr dirty="0" sz="2800" b="1">
                <a:solidFill>
                  <a:srgbClr val="0000CC"/>
                </a:solidFill>
                <a:latin typeface="Times New Roman"/>
                <a:cs typeface="Times New Roman"/>
              </a:rPr>
              <a:t>	R1,</a:t>
            </a:r>
            <a:r>
              <a:rPr dirty="0" sz="2800" spc="-45" b="1">
                <a:solidFill>
                  <a:srgbClr val="0000CC"/>
                </a:solidFill>
                <a:latin typeface="Times New Roman"/>
                <a:cs typeface="Times New Roman"/>
              </a:rPr>
              <a:t> </a:t>
            </a:r>
            <a:r>
              <a:rPr dirty="0" sz="2800" b="1">
                <a:solidFill>
                  <a:srgbClr val="0000CC"/>
                </a:solidFill>
                <a:latin typeface="Times New Roman"/>
                <a:cs typeface="Times New Roman"/>
              </a:rPr>
              <a:t>R2,</a:t>
            </a:r>
            <a:r>
              <a:rPr dirty="0" sz="2800" spc="-45" b="1">
                <a:solidFill>
                  <a:srgbClr val="0000CC"/>
                </a:solidFill>
                <a:latin typeface="Times New Roman"/>
                <a:cs typeface="Times New Roman"/>
              </a:rPr>
              <a:t> </a:t>
            </a:r>
            <a:r>
              <a:rPr dirty="0" sz="2800" spc="-20" b="1">
                <a:solidFill>
                  <a:srgbClr val="0000CC"/>
                </a:solidFill>
                <a:latin typeface="Times New Roman"/>
                <a:cs typeface="Times New Roman"/>
              </a:rPr>
              <a:t>Loop</a:t>
            </a:r>
            <a:endParaRPr sz="2800">
              <a:latin typeface="Times New Roman"/>
              <a:cs typeface="Times New Roman"/>
            </a:endParaRPr>
          </a:p>
          <a:p>
            <a:pPr marL="144780">
              <a:lnSpc>
                <a:spcPct val="100000"/>
              </a:lnSpc>
              <a:spcBef>
                <a:spcPts val="1005"/>
              </a:spcBef>
              <a:tabLst>
                <a:tab pos="1147445" algn="l"/>
              </a:tabLst>
            </a:pPr>
            <a:r>
              <a:rPr dirty="0" sz="2800" spc="-25" b="1">
                <a:solidFill>
                  <a:srgbClr val="0000CC"/>
                </a:solidFill>
                <a:latin typeface="Times New Roman"/>
                <a:cs typeface="Times New Roman"/>
              </a:rPr>
              <a:t>S.D</a:t>
            </a:r>
            <a:r>
              <a:rPr dirty="0" sz="2800" b="1">
                <a:solidFill>
                  <a:srgbClr val="0000CC"/>
                </a:solidFill>
                <a:latin typeface="Times New Roman"/>
                <a:cs typeface="Times New Roman"/>
              </a:rPr>
              <a:t>	F4,</a:t>
            </a:r>
            <a:r>
              <a:rPr dirty="0" sz="2800" spc="-40" b="1">
                <a:solidFill>
                  <a:srgbClr val="0000CC"/>
                </a:solidFill>
                <a:latin typeface="Times New Roman"/>
                <a:cs typeface="Times New Roman"/>
              </a:rPr>
              <a:t> </a:t>
            </a:r>
            <a:r>
              <a:rPr dirty="0" sz="2800" spc="-10" b="1">
                <a:solidFill>
                  <a:srgbClr val="FF5CFF"/>
                </a:solidFill>
                <a:latin typeface="Times New Roman"/>
                <a:cs typeface="Times New Roman"/>
              </a:rPr>
              <a:t>8(R1)</a:t>
            </a:r>
            <a:endParaRPr sz="2800">
              <a:latin typeface="Times New Roman"/>
              <a:cs typeface="Times New Roman"/>
            </a:endParaRPr>
          </a:p>
        </p:txBody>
      </p:sp>
      <p:sp>
        <p:nvSpPr>
          <p:cNvPr id="13" name="object 13" descr=""/>
          <p:cNvSpPr txBox="1"/>
          <p:nvPr/>
        </p:nvSpPr>
        <p:spPr>
          <a:xfrm>
            <a:off x="10795761" y="2828977"/>
            <a:ext cx="381635" cy="3355340"/>
          </a:xfrm>
          <a:prstGeom prst="rect">
            <a:avLst/>
          </a:prstGeom>
        </p:spPr>
        <p:txBody>
          <a:bodyPr wrap="square" lIns="0" tIns="140970" rIns="0" bIns="0" rtlCol="0" vert="horz">
            <a:spAutoFit/>
          </a:bodyPr>
          <a:lstStyle/>
          <a:p>
            <a:pPr marL="100965">
              <a:lnSpc>
                <a:spcPct val="100000"/>
              </a:lnSpc>
              <a:spcBef>
                <a:spcPts val="1110"/>
              </a:spcBef>
            </a:pPr>
            <a:r>
              <a:rPr dirty="0" sz="2800" spc="-50" b="1">
                <a:solidFill>
                  <a:srgbClr val="0000CC"/>
                </a:solidFill>
                <a:latin typeface="Times New Roman"/>
                <a:cs typeface="Times New Roman"/>
              </a:rPr>
              <a:t>1</a:t>
            </a:r>
            <a:endParaRPr sz="2800">
              <a:latin typeface="Times New Roman"/>
              <a:cs typeface="Times New Roman"/>
            </a:endParaRPr>
          </a:p>
          <a:p>
            <a:pPr marL="100965">
              <a:lnSpc>
                <a:spcPct val="100000"/>
              </a:lnSpc>
              <a:spcBef>
                <a:spcPts val="1010"/>
              </a:spcBef>
            </a:pPr>
            <a:r>
              <a:rPr dirty="0" sz="2800" spc="-50" b="1">
                <a:solidFill>
                  <a:srgbClr val="0000CC"/>
                </a:solidFill>
                <a:latin typeface="Times New Roman"/>
                <a:cs typeface="Times New Roman"/>
              </a:rPr>
              <a:t>2</a:t>
            </a:r>
            <a:endParaRPr sz="2800">
              <a:latin typeface="Times New Roman"/>
              <a:cs typeface="Times New Roman"/>
            </a:endParaRPr>
          </a:p>
          <a:p>
            <a:pPr marL="100965">
              <a:lnSpc>
                <a:spcPct val="100000"/>
              </a:lnSpc>
              <a:spcBef>
                <a:spcPts val="1010"/>
              </a:spcBef>
            </a:pPr>
            <a:r>
              <a:rPr dirty="0" sz="2800" spc="-50" b="1">
                <a:solidFill>
                  <a:srgbClr val="0000CC"/>
                </a:solidFill>
                <a:latin typeface="Times New Roman"/>
                <a:cs typeface="Times New Roman"/>
              </a:rPr>
              <a:t>3</a:t>
            </a:r>
            <a:endParaRPr sz="2800">
              <a:latin typeface="Times New Roman"/>
              <a:cs typeface="Times New Roman"/>
            </a:endParaRPr>
          </a:p>
          <a:p>
            <a:pPr marL="12700">
              <a:lnSpc>
                <a:spcPct val="100000"/>
              </a:lnSpc>
              <a:spcBef>
                <a:spcPts val="1010"/>
              </a:spcBef>
            </a:pPr>
            <a:r>
              <a:rPr dirty="0" sz="2800" spc="-50" b="1">
                <a:solidFill>
                  <a:srgbClr val="FF3300"/>
                </a:solidFill>
                <a:latin typeface="Times New Roman"/>
                <a:cs typeface="Times New Roman"/>
              </a:rPr>
              <a:t>4</a:t>
            </a:r>
            <a:endParaRPr sz="2800">
              <a:latin typeface="Times New Roman"/>
              <a:cs typeface="Times New Roman"/>
            </a:endParaRPr>
          </a:p>
          <a:p>
            <a:pPr marL="190500">
              <a:lnSpc>
                <a:spcPct val="100000"/>
              </a:lnSpc>
              <a:spcBef>
                <a:spcPts val="1010"/>
              </a:spcBef>
            </a:pPr>
            <a:r>
              <a:rPr dirty="0" sz="2800" spc="-50" b="1">
                <a:solidFill>
                  <a:srgbClr val="0000CC"/>
                </a:solidFill>
                <a:latin typeface="Times New Roman"/>
                <a:cs typeface="Times New Roman"/>
              </a:rPr>
              <a:t>5</a:t>
            </a:r>
            <a:endParaRPr sz="2800">
              <a:latin typeface="Times New Roman"/>
              <a:cs typeface="Times New Roman"/>
            </a:endParaRPr>
          </a:p>
          <a:p>
            <a:pPr marL="100965">
              <a:lnSpc>
                <a:spcPct val="100000"/>
              </a:lnSpc>
              <a:spcBef>
                <a:spcPts val="1005"/>
              </a:spcBef>
            </a:pPr>
            <a:r>
              <a:rPr dirty="0" sz="2800" spc="-50" b="1">
                <a:solidFill>
                  <a:srgbClr val="0000CC"/>
                </a:solidFill>
                <a:latin typeface="Times New Roman"/>
                <a:cs typeface="Times New Roman"/>
              </a:rPr>
              <a:t>6</a:t>
            </a:r>
            <a:endParaRPr sz="2800">
              <a:latin typeface="Times New Roman"/>
              <a:cs typeface="Times New Roman"/>
            </a:endParaRPr>
          </a:p>
        </p:txBody>
      </p:sp>
      <p:grpSp>
        <p:nvGrpSpPr>
          <p:cNvPr id="14" name="object 14" descr=""/>
          <p:cNvGrpSpPr/>
          <p:nvPr/>
        </p:nvGrpSpPr>
        <p:grpSpPr>
          <a:xfrm>
            <a:off x="109537" y="984186"/>
            <a:ext cx="3907154" cy="1733550"/>
            <a:chOff x="109537" y="984186"/>
            <a:chExt cx="3907154" cy="1733550"/>
          </a:xfrm>
        </p:grpSpPr>
        <p:pic>
          <p:nvPicPr>
            <p:cNvPr id="15" name="object 15" descr=""/>
            <p:cNvPicPr/>
            <p:nvPr/>
          </p:nvPicPr>
          <p:blipFill>
            <a:blip r:embed="rId3" cstate="print"/>
            <a:stretch>
              <a:fillRect/>
            </a:stretch>
          </p:blipFill>
          <p:spPr>
            <a:xfrm>
              <a:off x="119062" y="993775"/>
              <a:ext cx="3887724" cy="1714500"/>
            </a:xfrm>
            <a:prstGeom prst="rect">
              <a:avLst/>
            </a:prstGeom>
          </p:spPr>
        </p:pic>
        <p:sp>
          <p:nvSpPr>
            <p:cNvPr id="16" name="object 16" descr=""/>
            <p:cNvSpPr/>
            <p:nvPr/>
          </p:nvSpPr>
          <p:spPr>
            <a:xfrm>
              <a:off x="114300" y="988949"/>
              <a:ext cx="3897629" cy="1724025"/>
            </a:xfrm>
            <a:custGeom>
              <a:avLst/>
              <a:gdLst/>
              <a:ahLst/>
              <a:cxnLst/>
              <a:rect l="l" t="t" r="r" b="b"/>
              <a:pathLst>
                <a:path w="3897629" h="1724025">
                  <a:moveTo>
                    <a:pt x="0" y="1724025"/>
                  </a:moveTo>
                  <a:lnTo>
                    <a:pt x="3897249" y="1724025"/>
                  </a:lnTo>
                  <a:lnTo>
                    <a:pt x="3897249" y="0"/>
                  </a:lnTo>
                  <a:lnTo>
                    <a:pt x="0" y="0"/>
                  </a:lnTo>
                  <a:lnTo>
                    <a:pt x="0" y="1724025"/>
                  </a:lnTo>
                  <a:close/>
                </a:path>
              </a:pathLst>
            </a:custGeom>
            <a:ln w="9525">
              <a:solidFill>
                <a:srgbClr val="FF0000"/>
              </a:solidFill>
            </a:ln>
          </p:spPr>
          <p:txBody>
            <a:bodyPr wrap="square" lIns="0" tIns="0" rIns="0" bIns="0" rtlCol="0"/>
            <a:lstStyle/>
            <a:p/>
          </p:txBody>
        </p:sp>
      </p:grpSp>
      <p:grpSp>
        <p:nvGrpSpPr>
          <p:cNvPr id="17" name="object 17" descr=""/>
          <p:cNvGrpSpPr/>
          <p:nvPr/>
        </p:nvGrpSpPr>
        <p:grpSpPr>
          <a:xfrm>
            <a:off x="182562" y="2967037"/>
            <a:ext cx="6057900" cy="3762375"/>
            <a:chOff x="182562" y="2967037"/>
            <a:chExt cx="6057900" cy="3762375"/>
          </a:xfrm>
        </p:grpSpPr>
        <p:pic>
          <p:nvPicPr>
            <p:cNvPr id="18" name="object 18" descr=""/>
            <p:cNvPicPr/>
            <p:nvPr/>
          </p:nvPicPr>
          <p:blipFill>
            <a:blip r:embed="rId4" cstate="print"/>
            <a:stretch>
              <a:fillRect/>
            </a:stretch>
          </p:blipFill>
          <p:spPr>
            <a:xfrm>
              <a:off x="192087" y="2976562"/>
              <a:ext cx="4679950" cy="3743325"/>
            </a:xfrm>
            <a:prstGeom prst="rect">
              <a:avLst/>
            </a:prstGeom>
          </p:spPr>
        </p:pic>
        <p:sp>
          <p:nvSpPr>
            <p:cNvPr id="19" name="object 19" descr=""/>
            <p:cNvSpPr/>
            <p:nvPr/>
          </p:nvSpPr>
          <p:spPr>
            <a:xfrm>
              <a:off x="187325" y="2971800"/>
              <a:ext cx="4689475" cy="3752850"/>
            </a:xfrm>
            <a:custGeom>
              <a:avLst/>
              <a:gdLst/>
              <a:ahLst/>
              <a:cxnLst/>
              <a:rect l="l" t="t" r="r" b="b"/>
              <a:pathLst>
                <a:path w="4689475" h="3752850">
                  <a:moveTo>
                    <a:pt x="0" y="3752850"/>
                  </a:moveTo>
                  <a:lnTo>
                    <a:pt x="4689475" y="3752850"/>
                  </a:lnTo>
                  <a:lnTo>
                    <a:pt x="4689475" y="0"/>
                  </a:lnTo>
                  <a:lnTo>
                    <a:pt x="0" y="0"/>
                  </a:lnTo>
                  <a:lnTo>
                    <a:pt x="0" y="3752850"/>
                  </a:lnTo>
                  <a:close/>
                </a:path>
              </a:pathLst>
            </a:custGeom>
            <a:ln w="9525">
              <a:solidFill>
                <a:srgbClr val="FF09FF"/>
              </a:solidFill>
            </a:ln>
          </p:spPr>
          <p:txBody>
            <a:bodyPr wrap="square" lIns="0" tIns="0" rIns="0" bIns="0" rtlCol="0"/>
            <a:lstStyle/>
            <a:p/>
          </p:txBody>
        </p:sp>
        <p:sp>
          <p:nvSpPr>
            <p:cNvPr id="20" name="object 20" descr=""/>
            <p:cNvSpPr/>
            <p:nvPr/>
          </p:nvSpPr>
          <p:spPr>
            <a:xfrm>
              <a:off x="2852166" y="3663950"/>
              <a:ext cx="3315335" cy="1788160"/>
            </a:xfrm>
            <a:custGeom>
              <a:avLst/>
              <a:gdLst/>
              <a:ahLst/>
              <a:cxnLst/>
              <a:rect l="l" t="t" r="r" b="b"/>
              <a:pathLst>
                <a:path w="3315335" h="1788160">
                  <a:moveTo>
                    <a:pt x="3244429" y="29146"/>
                  </a:moveTo>
                  <a:lnTo>
                    <a:pt x="0" y="1774189"/>
                  </a:lnTo>
                  <a:lnTo>
                    <a:pt x="7492" y="1788160"/>
                  </a:lnTo>
                  <a:lnTo>
                    <a:pt x="3251938" y="43107"/>
                  </a:lnTo>
                  <a:lnTo>
                    <a:pt x="3244429" y="29146"/>
                  </a:lnTo>
                  <a:close/>
                </a:path>
                <a:path w="3315335" h="1788160">
                  <a:moveTo>
                    <a:pt x="3298926" y="23113"/>
                  </a:moveTo>
                  <a:lnTo>
                    <a:pt x="3255645" y="23113"/>
                  </a:lnTo>
                  <a:lnTo>
                    <a:pt x="3263137" y="37083"/>
                  </a:lnTo>
                  <a:lnTo>
                    <a:pt x="3251938" y="43107"/>
                  </a:lnTo>
                  <a:lnTo>
                    <a:pt x="3266185" y="69595"/>
                  </a:lnTo>
                  <a:lnTo>
                    <a:pt x="3298926" y="23113"/>
                  </a:lnTo>
                  <a:close/>
                </a:path>
                <a:path w="3315335" h="1788160">
                  <a:moveTo>
                    <a:pt x="3255645" y="23113"/>
                  </a:moveTo>
                  <a:lnTo>
                    <a:pt x="3244429" y="29146"/>
                  </a:lnTo>
                  <a:lnTo>
                    <a:pt x="3251938" y="43107"/>
                  </a:lnTo>
                  <a:lnTo>
                    <a:pt x="3263137" y="37083"/>
                  </a:lnTo>
                  <a:lnTo>
                    <a:pt x="3255645" y="23113"/>
                  </a:lnTo>
                  <a:close/>
                </a:path>
                <a:path w="3315335" h="1788160">
                  <a:moveTo>
                    <a:pt x="3315207" y="0"/>
                  </a:moveTo>
                  <a:lnTo>
                    <a:pt x="3230118" y="2539"/>
                  </a:lnTo>
                  <a:lnTo>
                    <a:pt x="3244429" y="29146"/>
                  </a:lnTo>
                  <a:lnTo>
                    <a:pt x="3255645" y="23113"/>
                  </a:lnTo>
                  <a:lnTo>
                    <a:pt x="3298926" y="23113"/>
                  </a:lnTo>
                  <a:lnTo>
                    <a:pt x="3315207" y="0"/>
                  </a:lnTo>
                  <a:close/>
                </a:path>
              </a:pathLst>
            </a:custGeom>
            <a:solidFill>
              <a:srgbClr val="FF0000"/>
            </a:solidFill>
          </p:spPr>
          <p:txBody>
            <a:bodyPr wrap="square" lIns="0" tIns="0" rIns="0" bIns="0" rtlCol="0"/>
            <a:lstStyle/>
            <a:p/>
          </p:txBody>
        </p:sp>
        <p:sp>
          <p:nvSpPr>
            <p:cNvPr id="21" name="object 21" descr=""/>
            <p:cNvSpPr/>
            <p:nvPr/>
          </p:nvSpPr>
          <p:spPr>
            <a:xfrm>
              <a:off x="911225" y="4941951"/>
              <a:ext cx="1945005" cy="358775"/>
            </a:xfrm>
            <a:custGeom>
              <a:avLst/>
              <a:gdLst/>
              <a:ahLst/>
              <a:cxnLst/>
              <a:rect l="l" t="t" r="r" b="b"/>
              <a:pathLst>
                <a:path w="1945005" h="358775">
                  <a:moveTo>
                    <a:pt x="0" y="358775"/>
                  </a:moveTo>
                  <a:lnTo>
                    <a:pt x="1944751" y="358775"/>
                  </a:lnTo>
                  <a:lnTo>
                    <a:pt x="1944751" y="0"/>
                  </a:lnTo>
                  <a:lnTo>
                    <a:pt x="0" y="0"/>
                  </a:lnTo>
                  <a:lnTo>
                    <a:pt x="0" y="358775"/>
                  </a:lnTo>
                  <a:close/>
                </a:path>
              </a:pathLst>
            </a:custGeom>
            <a:ln w="9525">
              <a:solidFill>
                <a:srgbClr val="FF0000"/>
              </a:solidFill>
            </a:ln>
          </p:spPr>
          <p:txBody>
            <a:bodyPr wrap="square" lIns="0" tIns="0" rIns="0" bIns="0" rtlCol="0"/>
            <a:lstStyle/>
            <a:p/>
          </p:txBody>
        </p:sp>
        <p:sp>
          <p:nvSpPr>
            <p:cNvPr id="22" name="object 22" descr=""/>
            <p:cNvSpPr/>
            <p:nvPr/>
          </p:nvSpPr>
          <p:spPr>
            <a:xfrm>
              <a:off x="1729867" y="3442461"/>
              <a:ext cx="4511040" cy="2526665"/>
            </a:xfrm>
            <a:custGeom>
              <a:avLst/>
              <a:gdLst/>
              <a:ahLst/>
              <a:cxnLst/>
              <a:rect l="l" t="t" r="r" b="b"/>
              <a:pathLst>
                <a:path w="4511040" h="2526665">
                  <a:moveTo>
                    <a:pt x="4366133" y="32639"/>
                  </a:moveTo>
                  <a:lnTo>
                    <a:pt x="4357852" y="29210"/>
                  </a:lnTo>
                  <a:lnTo>
                    <a:pt x="4287393" y="0"/>
                  </a:lnTo>
                  <a:lnTo>
                    <a:pt x="4289488" y="29210"/>
                  </a:lnTo>
                  <a:lnTo>
                    <a:pt x="4289552" y="30124"/>
                  </a:lnTo>
                  <a:lnTo>
                    <a:pt x="0" y="338963"/>
                  </a:lnTo>
                  <a:lnTo>
                    <a:pt x="1016" y="354838"/>
                  </a:lnTo>
                  <a:lnTo>
                    <a:pt x="4290695" y="45999"/>
                  </a:lnTo>
                  <a:lnTo>
                    <a:pt x="4292854" y="76073"/>
                  </a:lnTo>
                  <a:lnTo>
                    <a:pt x="4366133" y="32639"/>
                  </a:lnTo>
                  <a:close/>
                </a:path>
                <a:path w="4511040" h="2526665">
                  <a:moveTo>
                    <a:pt x="4510532" y="2507488"/>
                  </a:moveTo>
                  <a:lnTo>
                    <a:pt x="4501820" y="2500096"/>
                  </a:lnTo>
                  <a:lnTo>
                    <a:pt x="4445635" y="2452357"/>
                  </a:lnTo>
                  <a:lnTo>
                    <a:pt x="4438447" y="2481656"/>
                  </a:lnTo>
                  <a:lnTo>
                    <a:pt x="1127887" y="1671066"/>
                  </a:lnTo>
                  <a:lnTo>
                    <a:pt x="1124204" y="1686560"/>
                  </a:lnTo>
                  <a:lnTo>
                    <a:pt x="4434662" y="2497074"/>
                  </a:lnTo>
                  <a:lnTo>
                    <a:pt x="4427474" y="2526373"/>
                  </a:lnTo>
                  <a:lnTo>
                    <a:pt x="4510532" y="2507488"/>
                  </a:lnTo>
                  <a:close/>
                </a:path>
              </a:pathLst>
            </a:custGeom>
            <a:solidFill>
              <a:srgbClr val="FF0000"/>
            </a:solidFill>
          </p:spPr>
          <p:txBody>
            <a:bodyPr wrap="square" lIns="0" tIns="0" rIns="0" bIns="0" rtlCol="0"/>
            <a:lstStyle/>
            <a:p/>
          </p:txBody>
        </p:sp>
      </p:grpSp>
      <p:sp>
        <p:nvSpPr>
          <p:cNvPr id="23" name="object 23" descr=""/>
          <p:cNvSpPr txBox="1"/>
          <p:nvPr/>
        </p:nvSpPr>
        <p:spPr>
          <a:xfrm>
            <a:off x="3243198" y="5281041"/>
            <a:ext cx="2230755" cy="208279"/>
          </a:xfrm>
          <a:prstGeom prst="rect">
            <a:avLst/>
          </a:prstGeom>
        </p:spPr>
        <p:txBody>
          <a:bodyPr wrap="square" lIns="0" tIns="12700" rIns="0" bIns="0" rtlCol="0" vert="horz">
            <a:spAutoFit/>
          </a:bodyPr>
          <a:lstStyle/>
          <a:p>
            <a:pPr marL="12700">
              <a:lnSpc>
                <a:spcPct val="100000"/>
              </a:lnSpc>
              <a:spcBef>
                <a:spcPts val="100"/>
              </a:spcBef>
            </a:pPr>
            <a:r>
              <a:rPr dirty="0" sz="1200">
                <a:solidFill>
                  <a:srgbClr val="40458B"/>
                </a:solidFill>
                <a:latin typeface="黑体"/>
                <a:cs typeface="黑体"/>
              </a:rPr>
              <a:t>可消除</a:t>
            </a:r>
            <a:r>
              <a:rPr dirty="0" sz="1200" spc="-30">
                <a:solidFill>
                  <a:srgbClr val="40458B"/>
                </a:solidFill>
                <a:latin typeface="Tahoma"/>
                <a:cs typeface="Tahoma"/>
              </a:rPr>
              <a:t>RWAW</a:t>
            </a:r>
            <a:r>
              <a:rPr dirty="0" sz="1200">
                <a:solidFill>
                  <a:srgbClr val="40458B"/>
                </a:solidFill>
                <a:latin typeface="黑体"/>
                <a:cs typeface="黑体"/>
              </a:rPr>
              <a:t>冲突</a:t>
            </a:r>
            <a:r>
              <a:rPr dirty="0" sz="1200" spc="-10">
                <a:solidFill>
                  <a:srgbClr val="40458B"/>
                </a:solidFill>
                <a:latin typeface="黑体"/>
                <a:cs typeface="黑体"/>
              </a:rPr>
              <a:t>（</a:t>
            </a:r>
            <a:r>
              <a:rPr dirty="0" sz="1200" spc="-10">
                <a:solidFill>
                  <a:srgbClr val="40458B"/>
                </a:solidFill>
                <a:latin typeface="Tahoma"/>
                <a:cs typeface="Tahoma"/>
              </a:rPr>
              <a:t>ADD</a:t>
            </a:r>
            <a:r>
              <a:rPr dirty="0" sz="1200">
                <a:solidFill>
                  <a:srgbClr val="40458B"/>
                </a:solidFill>
                <a:latin typeface="黑体"/>
                <a:cs typeface="黑体"/>
              </a:rPr>
              <a:t>和</a:t>
            </a:r>
            <a:r>
              <a:rPr dirty="0" sz="1200" spc="-20">
                <a:solidFill>
                  <a:srgbClr val="40458B"/>
                </a:solidFill>
                <a:latin typeface="Tahoma"/>
                <a:cs typeface="Tahoma"/>
              </a:rPr>
              <a:t>S.D</a:t>
            </a:r>
            <a:r>
              <a:rPr dirty="0" sz="1200" spc="-20">
                <a:solidFill>
                  <a:srgbClr val="40458B"/>
                </a:solidFill>
                <a:latin typeface="黑体"/>
                <a:cs typeface="黑体"/>
              </a:rPr>
              <a:t>）</a:t>
            </a:r>
            <a:endParaRPr sz="1200">
              <a:latin typeface="黑体"/>
              <a:cs typeface="黑体"/>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563735" cy="209550"/>
          </a:xfrm>
          <a:prstGeom prst="rect">
            <a:avLst/>
          </a:prstGeom>
        </p:spPr>
        <p:txBody>
          <a:bodyPr wrap="square" lIns="0" tIns="0" rIns="0" bIns="0" rtlCol="0" vert="horz">
            <a:spAutoFit/>
          </a:bodyPr>
          <a:lstStyle/>
          <a:p>
            <a:pPr>
              <a:lnSpc>
                <a:spcPts val="1650"/>
              </a:lnSpc>
              <a:tabLst>
                <a:tab pos="914908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30" b="1">
                <a:solidFill>
                  <a:srgbClr val="40458B"/>
                </a:solidFill>
                <a:latin typeface="宋体"/>
                <a:cs typeface="宋体"/>
              </a:rPr>
              <a:t>8/89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659763" y="36068"/>
            <a:ext cx="5309235" cy="513715"/>
          </a:xfrm>
          <a:prstGeom prst="rect"/>
        </p:spPr>
        <p:txBody>
          <a:bodyPr wrap="square" lIns="0" tIns="12700" rIns="0" bIns="0" rtlCol="0" vert="horz">
            <a:spAutoFit/>
          </a:bodyPr>
          <a:lstStyle/>
          <a:p>
            <a:pPr marL="12700">
              <a:lnSpc>
                <a:spcPct val="100000"/>
              </a:lnSpc>
              <a:spcBef>
                <a:spcPts val="100"/>
              </a:spcBef>
            </a:pPr>
            <a:r>
              <a:rPr dirty="0" u="none"/>
              <a:t>6.1</a:t>
            </a:r>
            <a:r>
              <a:rPr dirty="0" u="none" spc="-20"/>
              <a:t> 基本指令调度及循环展开</a:t>
            </a:r>
          </a:p>
        </p:txBody>
      </p:sp>
      <p:sp>
        <p:nvSpPr>
          <p:cNvPr id="10" name="object 10" descr=""/>
          <p:cNvSpPr txBox="1"/>
          <p:nvPr/>
        </p:nvSpPr>
        <p:spPr>
          <a:xfrm>
            <a:off x="5037835" y="788669"/>
            <a:ext cx="7256145" cy="452120"/>
          </a:xfrm>
          <a:prstGeom prst="rect">
            <a:avLst/>
          </a:prstGeom>
        </p:spPr>
        <p:txBody>
          <a:bodyPr wrap="square" lIns="0" tIns="12065" rIns="0" bIns="0" rtlCol="0" vert="horz">
            <a:spAutoFit/>
          </a:bodyPr>
          <a:lstStyle/>
          <a:p>
            <a:pPr marL="469265" indent="-456565">
              <a:lnSpc>
                <a:spcPct val="100000"/>
              </a:lnSpc>
              <a:spcBef>
                <a:spcPts val="95"/>
              </a:spcBef>
              <a:buClr>
                <a:srgbClr val="40458B"/>
              </a:buClr>
              <a:buSzPct val="89285"/>
              <a:buFont typeface="Wingdings"/>
              <a:buChar char=""/>
              <a:tabLst>
                <a:tab pos="469265" algn="l"/>
              </a:tabLst>
            </a:pPr>
            <a:r>
              <a:rPr dirty="0" sz="2800" spc="-35" b="1">
                <a:solidFill>
                  <a:srgbClr val="080808"/>
                </a:solidFill>
                <a:latin typeface="宋体"/>
                <a:cs typeface="宋体"/>
              </a:rPr>
              <a:t>在用编译器对上述程序进行指令调度以后，</a:t>
            </a:r>
            <a:endParaRPr sz="2800">
              <a:latin typeface="宋体"/>
              <a:cs typeface="宋体"/>
            </a:endParaRPr>
          </a:p>
        </p:txBody>
      </p:sp>
      <p:sp>
        <p:nvSpPr>
          <p:cNvPr id="11" name="object 11" descr=""/>
          <p:cNvSpPr txBox="1"/>
          <p:nvPr/>
        </p:nvSpPr>
        <p:spPr>
          <a:xfrm>
            <a:off x="5495035" y="1428749"/>
            <a:ext cx="3490595" cy="452120"/>
          </a:xfrm>
          <a:prstGeom prst="rect">
            <a:avLst/>
          </a:prstGeom>
        </p:spPr>
        <p:txBody>
          <a:bodyPr wrap="square" lIns="0" tIns="12065" rIns="0" bIns="0" rtlCol="0" vert="horz">
            <a:spAutoFit/>
          </a:bodyPr>
          <a:lstStyle/>
          <a:p>
            <a:pPr marL="12700">
              <a:lnSpc>
                <a:spcPct val="100000"/>
              </a:lnSpc>
              <a:spcBef>
                <a:spcPts val="95"/>
              </a:spcBef>
            </a:pPr>
            <a:r>
              <a:rPr dirty="0" sz="2800" spc="-25" b="1">
                <a:solidFill>
                  <a:srgbClr val="080808"/>
                </a:solidFill>
                <a:latin typeface="宋体"/>
                <a:cs typeface="宋体"/>
              </a:rPr>
              <a:t>程序的执行情况如下</a:t>
            </a:r>
            <a:r>
              <a:rPr dirty="0" sz="2000" spc="-60" b="1">
                <a:solidFill>
                  <a:srgbClr val="080808"/>
                </a:solidFill>
                <a:latin typeface="宋体"/>
                <a:cs typeface="宋体"/>
              </a:rPr>
              <a:t>：</a:t>
            </a:r>
            <a:endParaRPr sz="2000">
              <a:latin typeface="宋体"/>
              <a:cs typeface="宋体"/>
            </a:endParaRPr>
          </a:p>
        </p:txBody>
      </p:sp>
      <p:sp>
        <p:nvSpPr>
          <p:cNvPr id="12" name="object 12" descr=""/>
          <p:cNvSpPr txBox="1"/>
          <p:nvPr/>
        </p:nvSpPr>
        <p:spPr>
          <a:xfrm>
            <a:off x="9895458" y="2255012"/>
            <a:ext cx="1562100" cy="330835"/>
          </a:xfrm>
          <a:prstGeom prst="rect">
            <a:avLst/>
          </a:prstGeom>
        </p:spPr>
        <p:txBody>
          <a:bodyPr wrap="square" lIns="0" tIns="13335" rIns="0" bIns="0" rtlCol="0" vert="horz">
            <a:spAutoFit/>
          </a:bodyPr>
          <a:lstStyle/>
          <a:p>
            <a:pPr marL="12700">
              <a:lnSpc>
                <a:spcPct val="100000"/>
              </a:lnSpc>
              <a:spcBef>
                <a:spcPts val="105"/>
              </a:spcBef>
            </a:pPr>
            <a:r>
              <a:rPr dirty="0" sz="2000" spc="-20" b="1">
                <a:solidFill>
                  <a:srgbClr val="006600"/>
                </a:solidFill>
                <a:latin typeface="宋体"/>
                <a:cs typeface="宋体"/>
              </a:rPr>
              <a:t>指令流出时钟</a:t>
            </a:r>
            <a:endParaRPr sz="2000">
              <a:latin typeface="宋体"/>
              <a:cs typeface="宋体"/>
            </a:endParaRPr>
          </a:p>
        </p:txBody>
      </p:sp>
      <p:sp>
        <p:nvSpPr>
          <p:cNvPr id="13" name="object 13" descr=""/>
          <p:cNvSpPr txBox="1"/>
          <p:nvPr/>
        </p:nvSpPr>
        <p:spPr>
          <a:xfrm>
            <a:off x="5304535" y="2751836"/>
            <a:ext cx="3382645" cy="452120"/>
          </a:xfrm>
          <a:prstGeom prst="rect">
            <a:avLst/>
          </a:prstGeom>
        </p:spPr>
        <p:txBody>
          <a:bodyPr wrap="square" lIns="0" tIns="12065" rIns="0" bIns="0" rtlCol="0" vert="horz">
            <a:spAutoFit/>
          </a:bodyPr>
          <a:lstStyle/>
          <a:p>
            <a:pPr marL="12700">
              <a:lnSpc>
                <a:spcPct val="100000"/>
              </a:lnSpc>
              <a:spcBef>
                <a:spcPts val="95"/>
              </a:spcBef>
              <a:tabLst>
                <a:tab pos="1948180" algn="l"/>
              </a:tabLst>
            </a:pPr>
            <a:r>
              <a:rPr dirty="0" sz="2800" spc="-10" b="1">
                <a:solidFill>
                  <a:srgbClr val="0000CC"/>
                </a:solidFill>
                <a:latin typeface="Times New Roman"/>
                <a:cs typeface="Times New Roman"/>
              </a:rPr>
              <a:t>Loop</a:t>
            </a:r>
            <a:r>
              <a:rPr dirty="0" sz="2800" spc="-10" b="1">
                <a:solidFill>
                  <a:srgbClr val="0000CC"/>
                </a:solidFill>
                <a:latin typeface="宋体"/>
                <a:cs typeface="宋体"/>
              </a:rPr>
              <a:t>：</a:t>
            </a:r>
            <a:r>
              <a:rPr dirty="0" sz="2800" spc="-10" b="1">
                <a:solidFill>
                  <a:srgbClr val="0000CC"/>
                </a:solidFill>
                <a:latin typeface="Times New Roman"/>
                <a:cs typeface="Times New Roman"/>
              </a:rPr>
              <a:t>L.D</a:t>
            </a:r>
            <a:r>
              <a:rPr dirty="0" sz="2800" b="1">
                <a:solidFill>
                  <a:srgbClr val="0000CC"/>
                </a:solidFill>
                <a:latin typeface="Times New Roman"/>
                <a:cs typeface="Times New Roman"/>
              </a:rPr>
              <a:t>	F0,</a:t>
            </a:r>
            <a:r>
              <a:rPr dirty="0" sz="2800" spc="-45" b="1">
                <a:solidFill>
                  <a:srgbClr val="0000CC"/>
                </a:solidFill>
                <a:latin typeface="Times New Roman"/>
                <a:cs typeface="Times New Roman"/>
              </a:rPr>
              <a:t> </a:t>
            </a:r>
            <a:r>
              <a:rPr dirty="0" sz="2800" spc="-10" b="1">
                <a:solidFill>
                  <a:srgbClr val="0000CC"/>
                </a:solidFill>
                <a:latin typeface="Times New Roman"/>
                <a:cs typeface="Times New Roman"/>
              </a:rPr>
              <a:t>0(R1)</a:t>
            </a:r>
            <a:endParaRPr sz="2800">
              <a:latin typeface="Times New Roman"/>
              <a:cs typeface="Times New Roman"/>
            </a:endParaRPr>
          </a:p>
        </p:txBody>
      </p:sp>
      <p:sp>
        <p:nvSpPr>
          <p:cNvPr id="14" name="object 14" descr=""/>
          <p:cNvSpPr txBox="1"/>
          <p:nvPr/>
        </p:nvSpPr>
        <p:spPr>
          <a:xfrm>
            <a:off x="10898505" y="2751836"/>
            <a:ext cx="203200" cy="452120"/>
          </a:xfrm>
          <a:prstGeom prst="rect">
            <a:avLst/>
          </a:prstGeom>
        </p:spPr>
        <p:txBody>
          <a:bodyPr wrap="square" lIns="0" tIns="12065" rIns="0" bIns="0" rtlCol="0" vert="horz">
            <a:spAutoFit/>
          </a:bodyPr>
          <a:lstStyle/>
          <a:p>
            <a:pPr marL="12700">
              <a:lnSpc>
                <a:spcPct val="100000"/>
              </a:lnSpc>
              <a:spcBef>
                <a:spcPts val="95"/>
              </a:spcBef>
            </a:pPr>
            <a:r>
              <a:rPr dirty="0" sz="2800" spc="-50" b="1">
                <a:solidFill>
                  <a:srgbClr val="0000CC"/>
                </a:solidFill>
                <a:latin typeface="Times New Roman"/>
                <a:cs typeface="Times New Roman"/>
              </a:rPr>
              <a:t>1</a:t>
            </a:r>
            <a:endParaRPr sz="2800">
              <a:latin typeface="Times New Roman"/>
              <a:cs typeface="Times New Roman"/>
            </a:endParaRPr>
          </a:p>
        </p:txBody>
      </p:sp>
      <p:sp>
        <p:nvSpPr>
          <p:cNvPr id="15" name="object 15" descr=""/>
          <p:cNvSpPr txBox="1"/>
          <p:nvPr/>
        </p:nvSpPr>
        <p:spPr>
          <a:xfrm>
            <a:off x="6237478" y="3306267"/>
            <a:ext cx="3239770" cy="452120"/>
          </a:xfrm>
          <a:prstGeom prst="rect">
            <a:avLst/>
          </a:prstGeom>
        </p:spPr>
        <p:txBody>
          <a:bodyPr wrap="square" lIns="0" tIns="12065" rIns="0" bIns="0" rtlCol="0" vert="horz">
            <a:spAutoFit/>
          </a:bodyPr>
          <a:lstStyle/>
          <a:p>
            <a:pPr marL="12700">
              <a:lnSpc>
                <a:spcPct val="100000"/>
              </a:lnSpc>
              <a:spcBef>
                <a:spcPts val="95"/>
              </a:spcBef>
            </a:pPr>
            <a:r>
              <a:rPr dirty="0" sz="2800" b="1">
                <a:solidFill>
                  <a:srgbClr val="FF5CFF"/>
                </a:solidFill>
                <a:latin typeface="Times New Roman"/>
                <a:cs typeface="Times New Roman"/>
              </a:rPr>
              <a:t>DADDIU</a:t>
            </a:r>
            <a:r>
              <a:rPr dirty="0" sz="2800" spc="-40" b="1">
                <a:solidFill>
                  <a:srgbClr val="FF5CFF"/>
                </a:solidFill>
                <a:latin typeface="Times New Roman"/>
                <a:cs typeface="Times New Roman"/>
              </a:rPr>
              <a:t> </a:t>
            </a:r>
            <a:r>
              <a:rPr dirty="0" sz="2800" b="1">
                <a:solidFill>
                  <a:srgbClr val="FF5CFF"/>
                </a:solidFill>
                <a:latin typeface="Times New Roman"/>
                <a:cs typeface="Times New Roman"/>
              </a:rPr>
              <a:t>R1,</a:t>
            </a:r>
            <a:r>
              <a:rPr dirty="0" sz="2800" spc="-80" b="1">
                <a:solidFill>
                  <a:srgbClr val="FF5CFF"/>
                </a:solidFill>
                <a:latin typeface="Times New Roman"/>
                <a:cs typeface="Times New Roman"/>
              </a:rPr>
              <a:t> </a:t>
            </a:r>
            <a:r>
              <a:rPr dirty="0" sz="2800" b="1">
                <a:solidFill>
                  <a:srgbClr val="FF5CFF"/>
                </a:solidFill>
                <a:latin typeface="Times New Roman"/>
                <a:cs typeface="Times New Roman"/>
              </a:rPr>
              <a:t>R1,</a:t>
            </a:r>
            <a:r>
              <a:rPr dirty="0" sz="2800" spc="-70" b="1">
                <a:solidFill>
                  <a:srgbClr val="FF5CFF"/>
                </a:solidFill>
                <a:latin typeface="Times New Roman"/>
                <a:cs typeface="Times New Roman"/>
              </a:rPr>
              <a:t> </a:t>
            </a:r>
            <a:r>
              <a:rPr dirty="0" sz="2800" spc="-10" b="1">
                <a:solidFill>
                  <a:srgbClr val="FF5CFF"/>
                </a:solidFill>
                <a:latin typeface="Times New Roman"/>
                <a:cs typeface="Times New Roman"/>
              </a:rPr>
              <a:t>#-</a:t>
            </a:r>
            <a:r>
              <a:rPr dirty="0" sz="2800" spc="-50" b="1">
                <a:solidFill>
                  <a:srgbClr val="FF5CFF"/>
                </a:solidFill>
                <a:latin typeface="Times New Roman"/>
                <a:cs typeface="Times New Roman"/>
              </a:rPr>
              <a:t>8</a:t>
            </a:r>
            <a:endParaRPr sz="2800">
              <a:latin typeface="Times New Roman"/>
              <a:cs typeface="Times New Roman"/>
            </a:endParaRPr>
          </a:p>
        </p:txBody>
      </p:sp>
      <p:sp>
        <p:nvSpPr>
          <p:cNvPr id="16" name="object 16" descr=""/>
          <p:cNvSpPr txBox="1"/>
          <p:nvPr/>
        </p:nvSpPr>
        <p:spPr>
          <a:xfrm>
            <a:off x="10898505" y="3306267"/>
            <a:ext cx="203200" cy="452120"/>
          </a:xfrm>
          <a:prstGeom prst="rect">
            <a:avLst/>
          </a:prstGeom>
        </p:spPr>
        <p:txBody>
          <a:bodyPr wrap="square" lIns="0" tIns="12065" rIns="0" bIns="0" rtlCol="0" vert="horz">
            <a:spAutoFit/>
          </a:bodyPr>
          <a:lstStyle/>
          <a:p>
            <a:pPr marL="12700">
              <a:lnSpc>
                <a:spcPct val="100000"/>
              </a:lnSpc>
              <a:spcBef>
                <a:spcPts val="95"/>
              </a:spcBef>
            </a:pPr>
            <a:r>
              <a:rPr dirty="0" sz="2800" spc="-50" b="1">
                <a:solidFill>
                  <a:srgbClr val="0000CC"/>
                </a:solidFill>
                <a:latin typeface="Times New Roman"/>
                <a:cs typeface="Times New Roman"/>
              </a:rPr>
              <a:t>2</a:t>
            </a:r>
            <a:endParaRPr sz="2800">
              <a:latin typeface="Times New Roman"/>
              <a:cs typeface="Times New Roman"/>
            </a:endParaRPr>
          </a:p>
        </p:txBody>
      </p:sp>
      <p:sp>
        <p:nvSpPr>
          <p:cNvPr id="17" name="object 17" descr=""/>
          <p:cNvSpPr txBox="1"/>
          <p:nvPr/>
        </p:nvSpPr>
        <p:spPr>
          <a:xfrm>
            <a:off x="6237478" y="3861561"/>
            <a:ext cx="2860675" cy="452120"/>
          </a:xfrm>
          <a:prstGeom prst="rect">
            <a:avLst/>
          </a:prstGeom>
        </p:spPr>
        <p:txBody>
          <a:bodyPr wrap="square" lIns="0" tIns="12065" rIns="0" bIns="0" rtlCol="0" vert="horz">
            <a:spAutoFit/>
          </a:bodyPr>
          <a:lstStyle/>
          <a:p>
            <a:pPr marL="12700">
              <a:lnSpc>
                <a:spcPct val="100000"/>
              </a:lnSpc>
              <a:spcBef>
                <a:spcPts val="95"/>
              </a:spcBef>
              <a:tabLst>
                <a:tab pos="1308100" algn="l"/>
              </a:tabLst>
            </a:pPr>
            <a:r>
              <a:rPr dirty="0" sz="2800" spc="-10" b="1">
                <a:solidFill>
                  <a:srgbClr val="0000CC"/>
                </a:solidFill>
                <a:latin typeface="Times New Roman"/>
                <a:cs typeface="Times New Roman"/>
              </a:rPr>
              <a:t>ADD.D</a:t>
            </a:r>
            <a:r>
              <a:rPr dirty="0" sz="2800" b="1">
                <a:solidFill>
                  <a:srgbClr val="0000CC"/>
                </a:solidFill>
                <a:latin typeface="Times New Roman"/>
                <a:cs typeface="Times New Roman"/>
              </a:rPr>
              <a:t>	F4,</a:t>
            </a:r>
            <a:r>
              <a:rPr dirty="0" sz="2800" spc="-45" b="1">
                <a:solidFill>
                  <a:srgbClr val="0000CC"/>
                </a:solidFill>
                <a:latin typeface="Times New Roman"/>
                <a:cs typeface="Times New Roman"/>
              </a:rPr>
              <a:t> </a:t>
            </a:r>
            <a:r>
              <a:rPr dirty="0" sz="2800" b="1">
                <a:solidFill>
                  <a:srgbClr val="0000CC"/>
                </a:solidFill>
                <a:latin typeface="Times New Roman"/>
                <a:cs typeface="Times New Roman"/>
              </a:rPr>
              <a:t>F0,</a:t>
            </a:r>
            <a:r>
              <a:rPr dirty="0" sz="2800" spc="-35" b="1">
                <a:solidFill>
                  <a:srgbClr val="0000CC"/>
                </a:solidFill>
                <a:latin typeface="Times New Roman"/>
                <a:cs typeface="Times New Roman"/>
              </a:rPr>
              <a:t> </a:t>
            </a:r>
            <a:r>
              <a:rPr dirty="0" sz="2800" spc="-25" b="1">
                <a:solidFill>
                  <a:srgbClr val="0000CC"/>
                </a:solidFill>
                <a:latin typeface="Times New Roman"/>
                <a:cs typeface="Times New Roman"/>
              </a:rPr>
              <a:t>F2</a:t>
            </a:r>
            <a:endParaRPr sz="2800">
              <a:latin typeface="Times New Roman"/>
              <a:cs typeface="Times New Roman"/>
            </a:endParaRPr>
          </a:p>
        </p:txBody>
      </p:sp>
      <p:sp>
        <p:nvSpPr>
          <p:cNvPr id="18" name="object 18" descr=""/>
          <p:cNvSpPr txBox="1"/>
          <p:nvPr/>
        </p:nvSpPr>
        <p:spPr>
          <a:xfrm>
            <a:off x="10809858" y="3733351"/>
            <a:ext cx="292100" cy="1134745"/>
          </a:xfrm>
          <a:prstGeom prst="rect">
            <a:avLst/>
          </a:prstGeom>
        </p:spPr>
        <p:txBody>
          <a:bodyPr wrap="square" lIns="0" tIns="140335" rIns="0" bIns="0" rtlCol="0" vert="horz">
            <a:spAutoFit/>
          </a:bodyPr>
          <a:lstStyle/>
          <a:p>
            <a:pPr marL="100965">
              <a:lnSpc>
                <a:spcPct val="100000"/>
              </a:lnSpc>
              <a:spcBef>
                <a:spcPts val="1105"/>
              </a:spcBef>
            </a:pPr>
            <a:r>
              <a:rPr dirty="0" sz="2800" spc="-50" b="1">
                <a:solidFill>
                  <a:srgbClr val="0000CC"/>
                </a:solidFill>
                <a:latin typeface="Times New Roman"/>
                <a:cs typeface="Times New Roman"/>
              </a:rPr>
              <a:t>3</a:t>
            </a:r>
            <a:endParaRPr sz="2800">
              <a:latin typeface="Times New Roman"/>
              <a:cs typeface="Times New Roman"/>
            </a:endParaRPr>
          </a:p>
          <a:p>
            <a:pPr marL="12700">
              <a:lnSpc>
                <a:spcPct val="100000"/>
              </a:lnSpc>
              <a:spcBef>
                <a:spcPts val="1005"/>
              </a:spcBef>
            </a:pPr>
            <a:r>
              <a:rPr dirty="0" sz="2800" spc="-50" b="1">
                <a:solidFill>
                  <a:srgbClr val="FF3300"/>
                </a:solidFill>
                <a:latin typeface="Times New Roman"/>
                <a:cs typeface="Times New Roman"/>
              </a:rPr>
              <a:t>4</a:t>
            </a:r>
            <a:endParaRPr sz="2800">
              <a:latin typeface="Times New Roman"/>
              <a:cs typeface="Times New Roman"/>
            </a:endParaRPr>
          </a:p>
        </p:txBody>
      </p:sp>
      <p:sp>
        <p:nvSpPr>
          <p:cNvPr id="19" name="object 19" descr=""/>
          <p:cNvSpPr txBox="1"/>
          <p:nvPr/>
        </p:nvSpPr>
        <p:spPr>
          <a:xfrm>
            <a:off x="6237478" y="4372354"/>
            <a:ext cx="3302000" cy="1520190"/>
          </a:xfrm>
          <a:prstGeom prst="rect">
            <a:avLst/>
          </a:prstGeom>
        </p:spPr>
        <p:txBody>
          <a:bodyPr wrap="square" lIns="0" tIns="55880" rIns="0" bIns="0" rtlCol="0" vert="horz">
            <a:spAutoFit/>
          </a:bodyPr>
          <a:lstStyle/>
          <a:p>
            <a:pPr marL="12700">
              <a:lnSpc>
                <a:spcPct val="100000"/>
              </a:lnSpc>
              <a:spcBef>
                <a:spcPts val="440"/>
              </a:spcBef>
            </a:pPr>
            <a:r>
              <a:rPr dirty="0" sz="2800" spc="-10" b="1">
                <a:solidFill>
                  <a:srgbClr val="FF3300"/>
                </a:solidFill>
                <a:latin typeface="Times New Roman"/>
                <a:cs typeface="Times New Roman"/>
              </a:rPr>
              <a:t>(</a:t>
            </a:r>
            <a:r>
              <a:rPr dirty="0" sz="2800" spc="-30" b="1">
                <a:solidFill>
                  <a:srgbClr val="FF3300"/>
                </a:solidFill>
                <a:latin typeface="宋体"/>
                <a:cs typeface="宋体"/>
              </a:rPr>
              <a:t>空转</a:t>
            </a:r>
            <a:r>
              <a:rPr dirty="0" sz="2800" spc="-50" b="1">
                <a:solidFill>
                  <a:srgbClr val="FF3300"/>
                </a:solidFill>
                <a:latin typeface="Times New Roman"/>
                <a:cs typeface="Times New Roman"/>
              </a:rPr>
              <a:t>)</a:t>
            </a:r>
            <a:endParaRPr sz="2800">
              <a:latin typeface="Times New Roman"/>
              <a:cs typeface="Times New Roman"/>
            </a:endParaRPr>
          </a:p>
          <a:p>
            <a:pPr marL="12700">
              <a:lnSpc>
                <a:spcPct val="100000"/>
              </a:lnSpc>
              <a:spcBef>
                <a:spcPts val="340"/>
              </a:spcBef>
              <a:tabLst>
                <a:tab pos="1275080" algn="l"/>
              </a:tabLst>
            </a:pPr>
            <a:r>
              <a:rPr dirty="0" sz="2800" spc="-25" b="1">
                <a:solidFill>
                  <a:srgbClr val="0000CC"/>
                </a:solidFill>
                <a:latin typeface="Times New Roman"/>
                <a:cs typeface="Times New Roman"/>
              </a:rPr>
              <a:t>BNE</a:t>
            </a:r>
            <a:r>
              <a:rPr dirty="0" sz="2800" b="1">
                <a:solidFill>
                  <a:srgbClr val="0000CC"/>
                </a:solidFill>
                <a:latin typeface="Times New Roman"/>
                <a:cs typeface="Times New Roman"/>
              </a:rPr>
              <a:t>	R1,</a:t>
            </a:r>
            <a:r>
              <a:rPr dirty="0" sz="2800" spc="-45" b="1">
                <a:solidFill>
                  <a:srgbClr val="0000CC"/>
                </a:solidFill>
                <a:latin typeface="Times New Roman"/>
                <a:cs typeface="Times New Roman"/>
              </a:rPr>
              <a:t> </a:t>
            </a:r>
            <a:r>
              <a:rPr dirty="0" sz="2800" b="1">
                <a:solidFill>
                  <a:srgbClr val="0000CC"/>
                </a:solidFill>
                <a:latin typeface="Times New Roman"/>
                <a:cs typeface="Times New Roman"/>
              </a:rPr>
              <a:t>R2,</a:t>
            </a:r>
            <a:r>
              <a:rPr dirty="0" sz="2800" spc="-40" b="1">
                <a:solidFill>
                  <a:srgbClr val="0000CC"/>
                </a:solidFill>
                <a:latin typeface="Times New Roman"/>
                <a:cs typeface="Times New Roman"/>
              </a:rPr>
              <a:t> </a:t>
            </a:r>
            <a:r>
              <a:rPr dirty="0" sz="2800" spc="-20" b="1">
                <a:solidFill>
                  <a:srgbClr val="0000CC"/>
                </a:solidFill>
                <a:latin typeface="Times New Roman"/>
                <a:cs typeface="Times New Roman"/>
              </a:rPr>
              <a:t>Loop</a:t>
            </a:r>
            <a:endParaRPr sz="2800">
              <a:latin typeface="Times New Roman"/>
              <a:cs typeface="Times New Roman"/>
            </a:endParaRPr>
          </a:p>
          <a:p>
            <a:pPr marL="12700">
              <a:lnSpc>
                <a:spcPct val="100000"/>
              </a:lnSpc>
              <a:spcBef>
                <a:spcPts val="1005"/>
              </a:spcBef>
              <a:tabLst>
                <a:tab pos="1015365" algn="l"/>
              </a:tabLst>
            </a:pPr>
            <a:r>
              <a:rPr dirty="0" sz="2800" spc="-25" b="1">
                <a:solidFill>
                  <a:srgbClr val="0000CC"/>
                </a:solidFill>
                <a:latin typeface="Times New Roman"/>
                <a:cs typeface="Times New Roman"/>
              </a:rPr>
              <a:t>S.D</a:t>
            </a:r>
            <a:r>
              <a:rPr dirty="0" sz="2800" b="1">
                <a:solidFill>
                  <a:srgbClr val="0000CC"/>
                </a:solidFill>
                <a:latin typeface="Times New Roman"/>
                <a:cs typeface="Times New Roman"/>
              </a:rPr>
              <a:t>	F4,</a:t>
            </a:r>
            <a:r>
              <a:rPr dirty="0" sz="2800" spc="-35" b="1">
                <a:solidFill>
                  <a:srgbClr val="0000CC"/>
                </a:solidFill>
                <a:latin typeface="Times New Roman"/>
                <a:cs typeface="Times New Roman"/>
              </a:rPr>
              <a:t> </a:t>
            </a:r>
            <a:r>
              <a:rPr dirty="0" sz="2800" spc="-10" b="1">
                <a:solidFill>
                  <a:srgbClr val="FF5CFF"/>
                </a:solidFill>
                <a:latin typeface="Times New Roman"/>
                <a:cs typeface="Times New Roman"/>
              </a:rPr>
              <a:t>8(R1)</a:t>
            </a:r>
            <a:endParaRPr sz="2800">
              <a:latin typeface="Times New Roman"/>
              <a:cs typeface="Times New Roman"/>
            </a:endParaRPr>
          </a:p>
        </p:txBody>
      </p:sp>
      <p:sp>
        <p:nvSpPr>
          <p:cNvPr id="20" name="object 20" descr=""/>
          <p:cNvSpPr txBox="1"/>
          <p:nvPr/>
        </p:nvSpPr>
        <p:spPr>
          <a:xfrm>
            <a:off x="11255120" y="4886071"/>
            <a:ext cx="203200" cy="452120"/>
          </a:xfrm>
          <a:prstGeom prst="rect">
            <a:avLst/>
          </a:prstGeom>
        </p:spPr>
        <p:txBody>
          <a:bodyPr wrap="square" lIns="0" tIns="12065" rIns="0" bIns="0" rtlCol="0" vert="horz">
            <a:spAutoFit/>
          </a:bodyPr>
          <a:lstStyle/>
          <a:p>
            <a:pPr marL="12700">
              <a:lnSpc>
                <a:spcPct val="100000"/>
              </a:lnSpc>
              <a:spcBef>
                <a:spcPts val="95"/>
              </a:spcBef>
            </a:pPr>
            <a:r>
              <a:rPr dirty="0" sz="2800" spc="-50" b="1">
                <a:solidFill>
                  <a:srgbClr val="0000CC"/>
                </a:solidFill>
                <a:latin typeface="Times New Roman"/>
                <a:cs typeface="Times New Roman"/>
              </a:rPr>
              <a:t>5</a:t>
            </a:r>
            <a:endParaRPr sz="2800">
              <a:latin typeface="Times New Roman"/>
              <a:cs typeface="Times New Roman"/>
            </a:endParaRPr>
          </a:p>
        </p:txBody>
      </p:sp>
      <p:sp>
        <p:nvSpPr>
          <p:cNvPr id="21" name="object 21" descr=""/>
          <p:cNvSpPr txBox="1"/>
          <p:nvPr/>
        </p:nvSpPr>
        <p:spPr>
          <a:xfrm>
            <a:off x="10898505" y="5440781"/>
            <a:ext cx="203200" cy="452120"/>
          </a:xfrm>
          <a:prstGeom prst="rect">
            <a:avLst/>
          </a:prstGeom>
        </p:spPr>
        <p:txBody>
          <a:bodyPr wrap="square" lIns="0" tIns="12065" rIns="0" bIns="0" rtlCol="0" vert="horz">
            <a:spAutoFit/>
          </a:bodyPr>
          <a:lstStyle/>
          <a:p>
            <a:pPr marL="12700">
              <a:lnSpc>
                <a:spcPct val="100000"/>
              </a:lnSpc>
              <a:spcBef>
                <a:spcPts val="95"/>
              </a:spcBef>
            </a:pPr>
            <a:r>
              <a:rPr dirty="0" sz="2800" spc="-50" b="1">
                <a:solidFill>
                  <a:srgbClr val="0000CC"/>
                </a:solidFill>
                <a:latin typeface="Times New Roman"/>
                <a:cs typeface="Times New Roman"/>
              </a:rPr>
              <a:t>6</a:t>
            </a:r>
            <a:endParaRPr sz="2800">
              <a:latin typeface="Times New Roman"/>
              <a:cs typeface="Times New Roman"/>
            </a:endParaRPr>
          </a:p>
        </p:txBody>
      </p:sp>
      <p:sp>
        <p:nvSpPr>
          <p:cNvPr id="22" name="object 22" descr=""/>
          <p:cNvSpPr/>
          <p:nvPr/>
        </p:nvSpPr>
        <p:spPr>
          <a:xfrm>
            <a:off x="3930650" y="3926840"/>
            <a:ext cx="2262505" cy="1646555"/>
          </a:xfrm>
          <a:custGeom>
            <a:avLst/>
            <a:gdLst/>
            <a:ahLst/>
            <a:cxnLst/>
            <a:rect l="l" t="t" r="r" b="b"/>
            <a:pathLst>
              <a:path w="2262504" h="1646554">
                <a:moveTo>
                  <a:pt x="2195849" y="1608107"/>
                </a:moveTo>
                <a:lnTo>
                  <a:pt x="2178177" y="1632458"/>
                </a:lnTo>
                <a:lnTo>
                  <a:pt x="2262124" y="1646428"/>
                </a:lnTo>
                <a:lnTo>
                  <a:pt x="2246097" y="1615567"/>
                </a:lnTo>
                <a:lnTo>
                  <a:pt x="2206116" y="1615567"/>
                </a:lnTo>
                <a:lnTo>
                  <a:pt x="2195849" y="1608107"/>
                </a:lnTo>
                <a:close/>
              </a:path>
              <a:path w="2262504" h="1646554">
                <a:moveTo>
                  <a:pt x="2205189" y="1595239"/>
                </a:moveTo>
                <a:lnTo>
                  <a:pt x="2195849" y="1608107"/>
                </a:lnTo>
                <a:lnTo>
                  <a:pt x="2206116" y="1615567"/>
                </a:lnTo>
                <a:lnTo>
                  <a:pt x="2215515" y="1602740"/>
                </a:lnTo>
                <a:lnTo>
                  <a:pt x="2205189" y="1595239"/>
                </a:lnTo>
                <a:close/>
              </a:path>
              <a:path w="2262504" h="1646554">
                <a:moveTo>
                  <a:pt x="2222880" y="1570863"/>
                </a:moveTo>
                <a:lnTo>
                  <a:pt x="2205189" y="1595239"/>
                </a:lnTo>
                <a:lnTo>
                  <a:pt x="2215515" y="1602740"/>
                </a:lnTo>
                <a:lnTo>
                  <a:pt x="2206116" y="1615567"/>
                </a:lnTo>
                <a:lnTo>
                  <a:pt x="2246097" y="1615567"/>
                </a:lnTo>
                <a:lnTo>
                  <a:pt x="2222880" y="1570863"/>
                </a:lnTo>
                <a:close/>
              </a:path>
              <a:path w="2262504" h="1646554">
                <a:moveTo>
                  <a:pt x="9271" y="0"/>
                </a:moveTo>
                <a:lnTo>
                  <a:pt x="0" y="12827"/>
                </a:lnTo>
                <a:lnTo>
                  <a:pt x="2195849" y="1608107"/>
                </a:lnTo>
                <a:lnTo>
                  <a:pt x="2205189" y="1595239"/>
                </a:lnTo>
                <a:lnTo>
                  <a:pt x="9271" y="0"/>
                </a:lnTo>
                <a:close/>
              </a:path>
            </a:pathLst>
          </a:custGeom>
          <a:solidFill>
            <a:srgbClr val="FF0000"/>
          </a:solidFill>
        </p:spPr>
        <p:txBody>
          <a:bodyPr wrap="square" lIns="0" tIns="0" rIns="0" bIns="0" rtlCol="0"/>
          <a:lstStyle/>
          <a:p/>
        </p:txBody>
      </p:sp>
      <p:graphicFrame>
        <p:nvGraphicFramePr>
          <p:cNvPr id="23" name="object 23" descr=""/>
          <p:cNvGraphicFramePr>
            <a:graphicFrameLocks noGrp="1"/>
          </p:cNvGraphicFramePr>
          <p:nvPr/>
        </p:nvGraphicFramePr>
        <p:xfrm>
          <a:off x="125412" y="3333750"/>
          <a:ext cx="6578600" cy="3118485"/>
        </p:xfrm>
        <a:graphic>
          <a:graphicData uri="http://schemas.openxmlformats.org/drawingml/2006/table">
            <a:tbl>
              <a:tblPr firstRow="1" bandRow="1">
                <a:tableStyleId>{2D5ABB26-0587-4C30-8999-92F81FD0307C}</a:tableStyleId>
              </a:tblPr>
              <a:tblGrid>
                <a:gridCol w="4027804"/>
                <a:gridCol w="857249"/>
                <a:gridCol w="1608454"/>
              </a:tblGrid>
              <a:tr h="2176145">
                <a:tc gridSpan="2">
                  <a:txBody>
                    <a:bodyPr/>
                    <a:lstStyle/>
                    <a:p>
                      <a:pPr marL="90805" marR="423545">
                        <a:lnSpc>
                          <a:spcPct val="100000"/>
                        </a:lnSpc>
                        <a:spcBef>
                          <a:spcPts val="135"/>
                        </a:spcBef>
                      </a:pPr>
                      <a:r>
                        <a:rPr dirty="0" sz="2400" spc="-5">
                          <a:solidFill>
                            <a:srgbClr val="FF0000"/>
                          </a:solidFill>
                          <a:latin typeface="黑体"/>
                          <a:cs typeface="黑体"/>
                        </a:rPr>
                        <a:t>指令调度不能跨越分支指令</a:t>
                      </a:r>
                      <a:endParaRPr sz="2400">
                        <a:latin typeface="黑体"/>
                        <a:cs typeface="黑体"/>
                      </a:endParaRPr>
                    </a:p>
                    <a:p>
                      <a:pPr algn="just" marL="90805" marR="423545">
                        <a:lnSpc>
                          <a:spcPct val="100000"/>
                        </a:lnSpc>
                        <a:spcBef>
                          <a:spcPts val="25"/>
                        </a:spcBef>
                      </a:pPr>
                      <a:r>
                        <a:rPr dirty="0" sz="2400">
                          <a:solidFill>
                            <a:srgbClr val="FF5CFF"/>
                          </a:solidFill>
                          <a:latin typeface="Calibri"/>
                          <a:cs typeface="Calibri"/>
                        </a:rPr>
                        <a:t>S.D</a:t>
                      </a:r>
                      <a:r>
                        <a:rPr dirty="0" sz="2400" spc="595">
                          <a:solidFill>
                            <a:srgbClr val="FF5CFF"/>
                          </a:solidFill>
                          <a:latin typeface="Calibri"/>
                          <a:cs typeface="Calibri"/>
                        </a:rPr>
                        <a:t>    </a:t>
                      </a:r>
                      <a:r>
                        <a:rPr dirty="0" sz="2400">
                          <a:solidFill>
                            <a:srgbClr val="FF5CFF"/>
                          </a:solidFill>
                          <a:latin typeface="Calibri"/>
                          <a:cs typeface="Calibri"/>
                        </a:rPr>
                        <a:t>F4,</a:t>
                      </a:r>
                      <a:r>
                        <a:rPr dirty="0" sz="2400" spc="-20">
                          <a:solidFill>
                            <a:srgbClr val="FF5CFF"/>
                          </a:solidFill>
                          <a:latin typeface="Calibri"/>
                          <a:cs typeface="Calibri"/>
                        </a:rPr>
                        <a:t> </a:t>
                      </a:r>
                      <a:r>
                        <a:rPr dirty="0" sz="2400" spc="-10">
                          <a:solidFill>
                            <a:srgbClr val="FF5CFF"/>
                          </a:solidFill>
                          <a:latin typeface="Calibri"/>
                          <a:cs typeface="Calibri"/>
                        </a:rPr>
                        <a:t>8(R1)</a:t>
                      </a:r>
                      <a:r>
                        <a:rPr dirty="0" sz="2400" spc="-10">
                          <a:solidFill>
                            <a:srgbClr val="FF5CFF"/>
                          </a:solidFill>
                          <a:latin typeface="黑体"/>
                          <a:cs typeface="黑体"/>
                        </a:rPr>
                        <a:t>放入延迟槽：</a:t>
                      </a:r>
                      <a:endParaRPr sz="2400">
                        <a:latin typeface="黑体"/>
                        <a:cs typeface="黑体"/>
                      </a:endParaRPr>
                    </a:p>
                    <a:p>
                      <a:pPr algn="just" marL="433705" marR="684530" indent="-342900">
                        <a:lnSpc>
                          <a:spcPct val="100699"/>
                        </a:lnSpc>
                        <a:spcBef>
                          <a:spcPts val="5"/>
                        </a:spcBef>
                        <a:buClr>
                          <a:srgbClr val="0000CC"/>
                        </a:buClr>
                        <a:buSzPct val="79166"/>
                        <a:buFont typeface="Wingdings"/>
                        <a:buChar char=""/>
                        <a:tabLst>
                          <a:tab pos="433705" algn="l"/>
                        </a:tabLst>
                      </a:pPr>
                      <a:r>
                        <a:rPr dirty="0" sz="2400" spc="-10">
                          <a:solidFill>
                            <a:srgbClr val="4D4D4D"/>
                          </a:solidFill>
                          <a:latin typeface="黑体"/>
                          <a:cs typeface="黑体"/>
                        </a:rPr>
                        <a:t>不管分支是否成功</a:t>
                      </a:r>
                      <a:r>
                        <a:rPr dirty="0" sz="2400" spc="-10">
                          <a:solidFill>
                            <a:srgbClr val="4D4D4D"/>
                          </a:solidFill>
                          <a:latin typeface="Calibri"/>
                          <a:cs typeface="Calibri"/>
                        </a:rPr>
                        <a:t>,</a:t>
                      </a:r>
                      <a:r>
                        <a:rPr dirty="0" sz="2400" spc="-20">
                          <a:solidFill>
                            <a:srgbClr val="4D4D4D"/>
                          </a:solidFill>
                          <a:latin typeface="黑体"/>
                          <a:cs typeface="黑体"/>
                        </a:rPr>
                        <a:t>都要按顺</a:t>
                      </a:r>
                      <a:r>
                        <a:rPr dirty="0" sz="2400">
                          <a:solidFill>
                            <a:srgbClr val="4D4D4D"/>
                          </a:solidFill>
                          <a:latin typeface="黑体"/>
                          <a:cs typeface="黑体"/>
                        </a:rPr>
                        <a:t>序执行延迟槽中的</a:t>
                      </a:r>
                      <a:r>
                        <a:rPr dirty="0" sz="2400" spc="-10">
                          <a:solidFill>
                            <a:srgbClr val="4D4D4D"/>
                          </a:solidFill>
                          <a:latin typeface="Calibri"/>
                          <a:cs typeface="Calibri"/>
                        </a:rPr>
                        <a:t>S.D</a:t>
                      </a:r>
                      <a:r>
                        <a:rPr dirty="0" sz="2400" spc="-20">
                          <a:solidFill>
                            <a:srgbClr val="4D4D4D"/>
                          </a:solidFill>
                          <a:latin typeface="黑体"/>
                          <a:cs typeface="黑体"/>
                        </a:rPr>
                        <a:t>指令，</a:t>
                      </a:r>
                      <a:r>
                        <a:rPr dirty="0" sz="2400">
                          <a:solidFill>
                            <a:srgbClr val="FF0000"/>
                          </a:solidFill>
                          <a:latin typeface="黑体"/>
                          <a:cs typeface="黑体"/>
                        </a:rPr>
                        <a:t>且先于分支指令提交</a:t>
                      </a:r>
                      <a:r>
                        <a:rPr dirty="0" sz="2400" spc="-50">
                          <a:solidFill>
                            <a:srgbClr val="4D4D4D"/>
                          </a:solidFill>
                          <a:latin typeface="黑体"/>
                          <a:cs typeface="黑体"/>
                        </a:rPr>
                        <a:t>。</a:t>
                      </a:r>
                      <a:endParaRPr sz="2400">
                        <a:latin typeface="黑体"/>
                        <a:cs typeface="黑体"/>
                      </a:endParaRPr>
                    </a:p>
                    <a:p>
                      <a:pPr algn="just" marL="433070" marR="423545" indent="-342265">
                        <a:lnSpc>
                          <a:spcPts val="2390"/>
                        </a:lnSpc>
                        <a:spcBef>
                          <a:spcPts val="25"/>
                        </a:spcBef>
                        <a:buClr>
                          <a:srgbClr val="0000CC"/>
                        </a:buClr>
                        <a:buSzPct val="79166"/>
                        <a:buFont typeface="Wingdings"/>
                        <a:buChar char=""/>
                        <a:tabLst>
                          <a:tab pos="433070" algn="l"/>
                        </a:tabLst>
                      </a:pPr>
                      <a:r>
                        <a:rPr dirty="0" sz="2400" spc="-15">
                          <a:solidFill>
                            <a:srgbClr val="4D4D4D"/>
                          </a:solidFill>
                          <a:latin typeface="黑体"/>
                          <a:cs typeface="黑体"/>
                        </a:rPr>
                        <a:t>放入延迟槽中的指令是由编</a:t>
                      </a:r>
                      <a:endParaRPr sz="2400">
                        <a:latin typeface="黑体"/>
                        <a:cs typeface="黑体"/>
                      </a:endParaRPr>
                    </a:p>
                  </a:txBody>
                  <a:tcPr marL="0" marR="0" marB="0" marT="17145">
                    <a:lnL w="9525">
                      <a:solidFill>
                        <a:srgbClr val="E14B04"/>
                      </a:solidFill>
                      <a:prstDash val="solid"/>
                    </a:lnL>
                    <a:lnR w="9525">
                      <a:solidFill>
                        <a:srgbClr val="E14B04"/>
                      </a:solidFill>
                      <a:prstDash val="solid"/>
                    </a:lnR>
                    <a:lnT w="9525">
                      <a:solidFill>
                        <a:srgbClr val="E14B04"/>
                      </a:solidFill>
                      <a:prstDash val="solid"/>
                    </a:lnT>
                  </a:tcPr>
                </a:tc>
                <a:tc hMerge="1">
                  <a:txBody>
                    <a:bodyPr/>
                    <a:lstStyle/>
                    <a:p>
                      <a:pPr/>
                    </a:p>
                  </a:txBody>
                  <a:tcPr marL="0" marR="0" marB="0" marT="0"/>
                </a:tc>
                <a:tc>
                  <a:txBody>
                    <a:bodyPr/>
                    <a:lstStyle/>
                    <a:p>
                      <a:pPr>
                        <a:lnSpc>
                          <a:spcPct val="100000"/>
                        </a:lnSpc>
                      </a:pPr>
                      <a:endParaRPr sz="2500">
                        <a:latin typeface="Times New Roman"/>
                        <a:cs typeface="Times New Roman"/>
                      </a:endParaRPr>
                    </a:p>
                  </a:txBody>
                  <a:tcPr marL="0" marR="0" marB="0" marT="0">
                    <a:lnL w="9525">
                      <a:solidFill>
                        <a:srgbClr val="E14B04"/>
                      </a:solidFill>
                      <a:prstDash val="solid"/>
                    </a:lnL>
                    <a:lnB w="9525">
                      <a:solidFill>
                        <a:srgbClr val="E14B04"/>
                      </a:solidFill>
                      <a:prstDash val="solid"/>
                    </a:lnB>
                  </a:tcPr>
                </a:tc>
              </a:tr>
              <a:tr h="487045">
                <a:tc>
                  <a:txBody>
                    <a:bodyPr/>
                    <a:lstStyle/>
                    <a:p>
                      <a:pPr marL="433705">
                        <a:lnSpc>
                          <a:spcPct val="100000"/>
                        </a:lnSpc>
                        <a:spcBef>
                          <a:spcPts val="405"/>
                        </a:spcBef>
                      </a:pPr>
                      <a:r>
                        <a:rPr dirty="0" sz="2400" spc="-10">
                          <a:solidFill>
                            <a:srgbClr val="4D4D4D"/>
                          </a:solidFill>
                          <a:latin typeface="黑体"/>
                          <a:cs typeface="黑体"/>
                        </a:rPr>
                        <a:t>译器来选择的</a:t>
                      </a:r>
                      <a:endParaRPr sz="2400">
                        <a:latin typeface="黑体"/>
                        <a:cs typeface="黑体"/>
                      </a:endParaRPr>
                    </a:p>
                  </a:txBody>
                  <a:tcPr marL="0" marR="0" marB="0" marT="51435">
                    <a:lnL w="9525">
                      <a:solidFill>
                        <a:srgbClr val="E14B04"/>
                      </a:solidFill>
                      <a:prstDash val="solid"/>
                    </a:lnL>
                    <a:lnR w="9525">
                      <a:solidFill>
                        <a:srgbClr val="E14B04"/>
                      </a:solidFill>
                      <a:prstDash val="solid"/>
                    </a:lnR>
                    <a:lnB w="9525">
                      <a:solidFill>
                        <a:srgbClr val="E14B04"/>
                      </a:solidFill>
                      <a:prstDash val="solid"/>
                    </a:lnB>
                  </a:tcPr>
                </a:tc>
                <a:tc>
                  <a:txBody>
                    <a:bodyPr/>
                    <a:lstStyle/>
                    <a:p>
                      <a:pPr marL="91440">
                        <a:lnSpc>
                          <a:spcPts val="2165"/>
                        </a:lnSpc>
                      </a:pPr>
                      <a:r>
                        <a:rPr dirty="0" sz="2400" spc="-10">
                          <a:solidFill>
                            <a:srgbClr val="FF0000"/>
                          </a:solidFill>
                          <a:latin typeface="Calibri"/>
                          <a:cs typeface="Calibri"/>
                        </a:rPr>
                        <a:t>1</a:t>
                      </a:r>
                      <a:r>
                        <a:rPr dirty="0" sz="2400" spc="-25">
                          <a:solidFill>
                            <a:srgbClr val="FF0000"/>
                          </a:solidFill>
                          <a:latin typeface="黑体"/>
                          <a:cs typeface="黑体"/>
                        </a:rPr>
                        <a:t>、分</a:t>
                      </a:r>
                      <a:endParaRPr sz="2400">
                        <a:latin typeface="黑体"/>
                        <a:cs typeface="黑体"/>
                      </a:endParaRPr>
                    </a:p>
                    <a:p>
                      <a:pPr marL="91440">
                        <a:lnSpc>
                          <a:spcPts val="1575"/>
                        </a:lnSpc>
                      </a:pPr>
                      <a:r>
                        <a:rPr dirty="0" sz="2400" spc="-10">
                          <a:solidFill>
                            <a:srgbClr val="FF0000"/>
                          </a:solidFill>
                          <a:latin typeface="Calibri"/>
                          <a:cs typeface="Calibri"/>
                        </a:rPr>
                        <a:t>2</a:t>
                      </a:r>
                      <a:r>
                        <a:rPr dirty="0" sz="2400" spc="-25">
                          <a:solidFill>
                            <a:srgbClr val="FF0000"/>
                          </a:solidFill>
                          <a:latin typeface="黑体"/>
                          <a:cs typeface="黑体"/>
                        </a:rPr>
                        <a:t>、延</a:t>
                      </a:r>
                      <a:endParaRPr sz="2400">
                        <a:latin typeface="黑体"/>
                        <a:cs typeface="黑体"/>
                      </a:endParaRPr>
                    </a:p>
                  </a:txBody>
                  <a:tcPr marL="0" marR="0" marB="0" marT="0">
                    <a:lnL w="9525">
                      <a:solidFill>
                        <a:srgbClr val="E14B04"/>
                      </a:solidFill>
                      <a:prstDash val="solid"/>
                    </a:lnL>
                    <a:lnR w="9525">
                      <a:solidFill>
                        <a:srgbClr val="E14B04"/>
                      </a:solidFill>
                      <a:prstDash val="solid"/>
                    </a:lnR>
                    <a:lnT w="9525">
                      <a:solidFill>
                        <a:srgbClr val="E14B04"/>
                      </a:solidFill>
                      <a:prstDash val="solid"/>
                    </a:lnT>
                    <a:lnB w="9525">
                      <a:solidFill>
                        <a:srgbClr val="E14B04"/>
                      </a:solidFill>
                      <a:prstDash val="solid"/>
                    </a:lnB>
                  </a:tcPr>
                </a:tc>
                <a:tc>
                  <a:txBody>
                    <a:bodyPr/>
                    <a:lstStyle/>
                    <a:p>
                      <a:pPr marL="428625">
                        <a:lnSpc>
                          <a:spcPts val="2165"/>
                        </a:lnSpc>
                      </a:pPr>
                      <a:r>
                        <a:rPr dirty="0" sz="2400" spc="-20">
                          <a:solidFill>
                            <a:srgbClr val="FF0000"/>
                          </a:solidFill>
                          <a:latin typeface="黑体"/>
                          <a:cs typeface="黑体"/>
                        </a:rPr>
                        <a:t>支指令</a:t>
                      </a:r>
                      <a:endParaRPr sz="2400">
                        <a:latin typeface="黑体"/>
                        <a:cs typeface="黑体"/>
                      </a:endParaRPr>
                    </a:p>
                    <a:p>
                      <a:pPr marL="428625">
                        <a:lnSpc>
                          <a:spcPts val="1575"/>
                        </a:lnSpc>
                      </a:pPr>
                      <a:r>
                        <a:rPr dirty="0" sz="2400" spc="-25">
                          <a:solidFill>
                            <a:srgbClr val="FF0000"/>
                          </a:solidFill>
                          <a:latin typeface="黑体"/>
                          <a:cs typeface="黑体"/>
                        </a:rPr>
                        <a:t>迟槽</a:t>
                      </a:r>
                      <a:endParaRPr sz="2400">
                        <a:latin typeface="黑体"/>
                        <a:cs typeface="黑体"/>
                      </a:endParaRPr>
                    </a:p>
                  </a:txBody>
                  <a:tcPr marL="0" marR="0" marB="0" marT="0">
                    <a:lnL w="9525">
                      <a:solidFill>
                        <a:srgbClr val="E14B04"/>
                      </a:solidFill>
                      <a:prstDash val="solid"/>
                    </a:lnL>
                    <a:lnR w="9525">
                      <a:solidFill>
                        <a:srgbClr val="E14B04"/>
                      </a:solidFill>
                      <a:prstDash val="solid"/>
                    </a:lnR>
                    <a:lnT w="9525">
                      <a:solidFill>
                        <a:srgbClr val="E14B04"/>
                      </a:solidFill>
                      <a:prstDash val="solid"/>
                    </a:lnT>
                  </a:tcPr>
                </a:tc>
              </a:tr>
              <a:tr h="455295">
                <a:tc>
                  <a:txBody>
                    <a:bodyPr/>
                    <a:lstStyle/>
                    <a:p>
                      <a:pPr>
                        <a:lnSpc>
                          <a:spcPct val="100000"/>
                        </a:lnSpc>
                      </a:pPr>
                      <a:endParaRPr sz="2500">
                        <a:latin typeface="Times New Roman"/>
                        <a:cs typeface="Times New Roman"/>
                      </a:endParaRPr>
                    </a:p>
                  </a:txBody>
                  <a:tcPr marL="0" marR="0" marB="0" marT="0">
                    <a:lnR w="9525">
                      <a:solidFill>
                        <a:srgbClr val="E14B04"/>
                      </a:solidFill>
                      <a:prstDash val="solid"/>
                    </a:lnR>
                    <a:lnT w="9525">
                      <a:solidFill>
                        <a:srgbClr val="E14B04"/>
                      </a:solidFill>
                      <a:prstDash val="solid"/>
                    </a:lnT>
                  </a:tcPr>
                </a:tc>
                <a:tc gridSpan="2">
                  <a:txBody>
                    <a:bodyPr/>
                    <a:lstStyle/>
                    <a:p>
                      <a:pPr marL="91440">
                        <a:lnSpc>
                          <a:spcPct val="100000"/>
                        </a:lnSpc>
                        <a:spcBef>
                          <a:spcPts val="180"/>
                        </a:spcBef>
                      </a:pPr>
                      <a:r>
                        <a:rPr dirty="0" sz="2400" spc="-10">
                          <a:solidFill>
                            <a:srgbClr val="FF0000"/>
                          </a:solidFill>
                          <a:latin typeface="Calibri"/>
                          <a:cs typeface="Calibri"/>
                        </a:rPr>
                        <a:t>3</a:t>
                      </a:r>
                      <a:r>
                        <a:rPr dirty="0" sz="2400" spc="-10">
                          <a:solidFill>
                            <a:srgbClr val="FF0000"/>
                          </a:solidFill>
                          <a:latin typeface="黑体"/>
                          <a:cs typeface="黑体"/>
                        </a:rPr>
                        <a:t>、后续指令</a:t>
                      </a:r>
                      <a:endParaRPr sz="2400">
                        <a:latin typeface="黑体"/>
                        <a:cs typeface="黑体"/>
                      </a:endParaRPr>
                    </a:p>
                  </a:txBody>
                  <a:tcPr marL="0" marR="0" marB="0" marT="22860">
                    <a:lnL w="9525">
                      <a:solidFill>
                        <a:srgbClr val="E14B04"/>
                      </a:solidFill>
                      <a:prstDash val="solid"/>
                    </a:lnL>
                    <a:lnR w="9525">
                      <a:solidFill>
                        <a:srgbClr val="E14B04"/>
                      </a:solidFill>
                      <a:prstDash val="solid"/>
                    </a:lnR>
                    <a:lnB w="9525">
                      <a:solidFill>
                        <a:srgbClr val="E14B04"/>
                      </a:solidFill>
                      <a:prstDash val="solid"/>
                    </a:lnB>
                  </a:tcPr>
                </a:tc>
                <a:tc hMerge="1">
                  <a:txBody>
                    <a:bodyPr/>
                    <a:lstStyle/>
                    <a:p>
                      <a:pPr/>
                    </a:p>
                  </a:txBody>
                  <a:tcPr marL="0" marR="0" marB="0" marT="0"/>
                </a:tc>
              </a:tr>
            </a:tbl>
          </a:graphicData>
        </a:graphic>
      </p:graphicFrame>
      <p:sp>
        <p:nvSpPr>
          <p:cNvPr id="24" name="object 24" descr=""/>
          <p:cNvSpPr txBox="1"/>
          <p:nvPr/>
        </p:nvSpPr>
        <p:spPr>
          <a:xfrm>
            <a:off x="231775" y="1147762"/>
            <a:ext cx="4189729" cy="1122680"/>
          </a:xfrm>
          <a:prstGeom prst="rect">
            <a:avLst/>
          </a:prstGeom>
          <a:ln w="9525">
            <a:solidFill>
              <a:srgbClr val="E14B04"/>
            </a:solidFill>
          </a:ln>
        </p:spPr>
        <p:txBody>
          <a:bodyPr wrap="square" lIns="0" tIns="18415" rIns="0" bIns="0" rtlCol="0" vert="horz">
            <a:spAutoFit/>
          </a:bodyPr>
          <a:lstStyle/>
          <a:p>
            <a:pPr marL="91440" marR="127635">
              <a:lnSpc>
                <a:spcPts val="4320"/>
              </a:lnSpc>
              <a:spcBef>
                <a:spcPts val="145"/>
              </a:spcBef>
            </a:pPr>
            <a:r>
              <a:rPr dirty="0" sz="2400">
                <a:solidFill>
                  <a:srgbClr val="FF0000"/>
                </a:solidFill>
                <a:latin typeface="黑体"/>
                <a:cs typeface="黑体"/>
              </a:rPr>
              <a:t>思考：</a:t>
            </a:r>
            <a:r>
              <a:rPr dirty="0" sz="2400" spc="-5">
                <a:solidFill>
                  <a:srgbClr val="40458B"/>
                </a:solidFill>
                <a:latin typeface="黑体"/>
                <a:cs typeface="黑体"/>
              </a:rPr>
              <a:t>对比不进行指令调度之</a:t>
            </a:r>
            <a:r>
              <a:rPr dirty="0" sz="2400" spc="-20">
                <a:solidFill>
                  <a:srgbClr val="40458B"/>
                </a:solidFill>
                <a:latin typeface="黑体"/>
                <a:cs typeface="黑体"/>
              </a:rPr>
              <a:t>间的区别？</a:t>
            </a:r>
            <a:endParaRPr sz="2400">
              <a:latin typeface="黑体"/>
              <a:cs typeface="黑体"/>
            </a:endParaRPr>
          </a:p>
        </p:txBody>
      </p:sp>
      <p:sp>
        <p:nvSpPr>
          <p:cNvPr id="25" name="object 25" descr=""/>
          <p:cNvSpPr/>
          <p:nvPr/>
        </p:nvSpPr>
        <p:spPr>
          <a:xfrm>
            <a:off x="9264650" y="4632325"/>
            <a:ext cx="450215" cy="844550"/>
          </a:xfrm>
          <a:custGeom>
            <a:avLst/>
            <a:gdLst/>
            <a:ahLst/>
            <a:cxnLst/>
            <a:rect l="l" t="t" r="r" b="b"/>
            <a:pathLst>
              <a:path w="450215" h="844550">
                <a:moveTo>
                  <a:pt x="0" y="0"/>
                </a:moveTo>
                <a:lnTo>
                  <a:pt x="71086" y="1909"/>
                </a:lnTo>
                <a:lnTo>
                  <a:pt x="132827" y="7225"/>
                </a:lnTo>
                <a:lnTo>
                  <a:pt x="181517" y="15334"/>
                </a:lnTo>
                <a:lnTo>
                  <a:pt x="224917" y="37464"/>
                </a:lnTo>
                <a:lnTo>
                  <a:pt x="224917" y="384810"/>
                </a:lnTo>
                <a:lnTo>
                  <a:pt x="236384" y="396655"/>
                </a:lnTo>
                <a:lnTo>
                  <a:pt x="268316" y="406940"/>
                </a:lnTo>
                <a:lnTo>
                  <a:pt x="317006" y="415049"/>
                </a:lnTo>
                <a:lnTo>
                  <a:pt x="378747" y="420365"/>
                </a:lnTo>
                <a:lnTo>
                  <a:pt x="449833" y="422275"/>
                </a:lnTo>
                <a:lnTo>
                  <a:pt x="378747" y="424184"/>
                </a:lnTo>
                <a:lnTo>
                  <a:pt x="317006" y="429500"/>
                </a:lnTo>
                <a:lnTo>
                  <a:pt x="268316" y="437609"/>
                </a:lnTo>
                <a:lnTo>
                  <a:pt x="236384" y="447894"/>
                </a:lnTo>
                <a:lnTo>
                  <a:pt x="224917" y="459739"/>
                </a:lnTo>
                <a:lnTo>
                  <a:pt x="224917" y="807085"/>
                </a:lnTo>
                <a:lnTo>
                  <a:pt x="213449" y="818930"/>
                </a:lnTo>
                <a:lnTo>
                  <a:pt x="181517" y="829215"/>
                </a:lnTo>
                <a:lnTo>
                  <a:pt x="132827" y="837324"/>
                </a:lnTo>
                <a:lnTo>
                  <a:pt x="71086" y="842640"/>
                </a:lnTo>
                <a:lnTo>
                  <a:pt x="0" y="844550"/>
                </a:lnTo>
              </a:path>
            </a:pathLst>
          </a:custGeom>
          <a:ln w="9525">
            <a:solidFill>
              <a:srgbClr val="FF0000"/>
            </a:solidFill>
          </a:ln>
        </p:spPr>
        <p:txBody>
          <a:bodyPr wrap="square" lIns="0" tIns="0" rIns="0" bIns="0" rtlCol="0"/>
          <a:lstStyle/>
          <a:p/>
        </p:txBody>
      </p:sp>
      <p:sp>
        <p:nvSpPr>
          <p:cNvPr id="26" name="object 26" descr=""/>
          <p:cNvSpPr txBox="1"/>
          <p:nvPr/>
        </p:nvSpPr>
        <p:spPr>
          <a:xfrm>
            <a:off x="9571863" y="4876355"/>
            <a:ext cx="1499870" cy="374650"/>
          </a:xfrm>
          <a:prstGeom prst="rect">
            <a:avLst/>
          </a:prstGeom>
          <a:ln w="9525">
            <a:solidFill>
              <a:srgbClr val="E14B04"/>
            </a:solidFill>
          </a:ln>
        </p:spPr>
        <p:txBody>
          <a:bodyPr wrap="square" lIns="0" tIns="28575" rIns="0" bIns="0" rtlCol="0" vert="horz">
            <a:spAutoFit/>
          </a:bodyPr>
          <a:lstStyle/>
          <a:p>
            <a:pPr marL="92075">
              <a:lnSpc>
                <a:spcPct val="100000"/>
              </a:lnSpc>
              <a:spcBef>
                <a:spcPts val="225"/>
              </a:spcBef>
            </a:pPr>
            <a:r>
              <a:rPr dirty="0" sz="1800" spc="-15">
                <a:solidFill>
                  <a:srgbClr val="FF0000"/>
                </a:solidFill>
                <a:latin typeface="黑体"/>
                <a:cs typeface="黑体"/>
              </a:rPr>
              <a:t>循环开销</a:t>
            </a:r>
            <a:endParaRPr sz="1800">
              <a:latin typeface="黑体"/>
              <a:cs typeface="黑体"/>
            </a:endParaRPr>
          </a:p>
        </p:txBody>
      </p:sp>
      <p:sp>
        <p:nvSpPr>
          <p:cNvPr id="27" name="object 27" descr=""/>
          <p:cNvSpPr/>
          <p:nvPr/>
        </p:nvSpPr>
        <p:spPr>
          <a:xfrm>
            <a:off x="6096000" y="2636901"/>
            <a:ext cx="3355975" cy="1656080"/>
          </a:xfrm>
          <a:custGeom>
            <a:avLst/>
            <a:gdLst/>
            <a:ahLst/>
            <a:cxnLst/>
            <a:rect l="l" t="t" r="r" b="b"/>
            <a:pathLst>
              <a:path w="3355975" h="1656079">
                <a:moveTo>
                  <a:pt x="0" y="1655699"/>
                </a:moveTo>
                <a:lnTo>
                  <a:pt x="3355467" y="1655699"/>
                </a:lnTo>
                <a:lnTo>
                  <a:pt x="3355467" y="0"/>
                </a:lnTo>
                <a:lnTo>
                  <a:pt x="0" y="0"/>
                </a:lnTo>
                <a:lnTo>
                  <a:pt x="0" y="1655699"/>
                </a:lnTo>
                <a:close/>
              </a:path>
            </a:pathLst>
          </a:custGeom>
          <a:ln w="9524">
            <a:solidFill>
              <a:srgbClr val="FF0000"/>
            </a:solidFill>
          </a:ln>
        </p:spPr>
        <p:txBody>
          <a:bodyPr wrap="square" lIns="0" tIns="0" rIns="0" bIns="0" rtlCol="0"/>
          <a:lstStyle/>
          <a:p/>
        </p:txBody>
      </p:sp>
      <p:sp>
        <p:nvSpPr>
          <p:cNvPr id="28" name="object 28" descr=""/>
          <p:cNvSpPr/>
          <p:nvPr/>
        </p:nvSpPr>
        <p:spPr>
          <a:xfrm>
            <a:off x="9611486" y="3028111"/>
            <a:ext cx="1598295" cy="472440"/>
          </a:xfrm>
          <a:custGeom>
            <a:avLst/>
            <a:gdLst/>
            <a:ahLst/>
            <a:cxnLst/>
            <a:rect l="l" t="t" r="r" b="b"/>
            <a:pathLst>
              <a:path w="1598295" h="472439">
                <a:moveTo>
                  <a:pt x="0" y="472262"/>
                </a:moveTo>
                <a:lnTo>
                  <a:pt x="1597913" y="472262"/>
                </a:lnTo>
                <a:lnTo>
                  <a:pt x="1597913" y="0"/>
                </a:lnTo>
                <a:lnTo>
                  <a:pt x="0" y="0"/>
                </a:lnTo>
                <a:lnTo>
                  <a:pt x="0" y="472262"/>
                </a:lnTo>
                <a:close/>
              </a:path>
            </a:pathLst>
          </a:custGeom>
          <a:ln w="9525">
            <a:solidFill>
              <a:srgbClr val="E14B04"/>
            </a:solidFill>
          </a:ln>
        </p:spPr>
        <p:txBody>
          <a:bodyPr wrap="square" lIns="0" tIns="0" rIns="0" bIns="0" rtlCol="0"/>
          <a:lstStyle/>
          <a:p/>
        </p:txBody>
      </p:sp>
      <p:sp>
        <p:nvSpPr>
          <p:cNvPr id="29" name="object 29" descr=""/>
          <p:cNvSpPr txBox="1"/>
          <p:nvPr/>
        </p:nvSpPr>
        <p:spPr>
          <a:xfrm>
            <a:off x="9691496" y="3043554"/>
            <a:ext cx="939800" cy="299720"/>
          </a:xfrm>
          <a:prstGeom prst="rect">
            <a:avLst/>
          </a:prstGeom>
        </p:spPr>
        <p:txBody>
          <a:bodyPr wrap="square" lIns="0" tIns="12700" rIns="0" bIns="0" rtlCol="0" vert="horz">
            <a:spAutoFit/>
          </a:bodyPr>
          <a:lstStyle/>
          <a:p>
            <a:pPr marL="12700">
              <a:lnSpc>
                <a:spcPct val="100000"/>
              </a:lnSpc>
              <a:spcBef>
                <a:spcPts val="100"/>
              </a:spcBef>
            </a:pPr>
            <a:r>
              <a:rPr dirty="0" sz="1800" spc="-15">
                <a:solidFill>
                  <a:srgbClr val="FF0000"/>
                </a:solidFill>
                <a:latin typeface="黑体"/>
                <a:cs typeface="黑体"/>
              </a:rPr>
              <a:t>有效操作</a:t>
            </a:r>
            <a:endParaRPr sz="1800">
              <a:latin typeface="黑体"/>
              <a:cs typeface="黑体"/>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563735" cy="209550"/>
          </a:xfrm>
          <a:prstGeom prst="rect">
            <a:avLst/>
          </a:prstGeom>
        </p:spPr>
        <p:txBody>
          <a:bodyPr wrap="square" lIns="0" tIns="0" rIns="0" bIns="0" rtlCol="0" vert="horz">
            <a:spAutoFit/>
          </a:bodyPr>
          <a:lstStyle/>
          <a:p>
            <a:pPr>
              <a:lnSpc>
                <a:spcPts val="1650"/>
              </a:lnSpc>
              <a:tabLst>
                <a:tab pos="914908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30" b="1">
                <a:solidFill>
                  <a:srgbClr val="40458B"/>
                </a:solidFill>
                <a:latin typeface="宋体"/>
                <a:cs typeface="宋体"/>
              </a:rPr>
              <a:t>9/89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graphicFrame>
        <p:nvGraphicFramePr>
          <p:cNvPr id="9" name="object 9" descr=""/>
          <p:cNvGraphicFramePr>
            <a:graphicFrameLocks noGrp="1"/>
          </p:cNvGraphicFramePr>
          <p:nvPr/>
        </p:nvGraphicFramePr>
        <p:xfrm>
          <a:off x="3490912" y="3575113"/>
          <a:ext cx="8456930" cy="2216785"/>
        </p:xfrm>
        <a:graphic>
          <a:graphicData uri="http://schemas.openxmlformats.org/drawingml/2006/table">
            <a:tbl>
              <a:tblPr firstRow="1" bandRow="1">
                <a:tableStyleId>{2D5ABB26-0587-4C30-8999-92F81FD0307C}</a:tableStyleId>
              </a:tblPr>
              <a:tblGrid>
                <a:gridCol w="594995"/>
                <a:gridCol w="2385695"/>
                <a:gridCol w="598170"/>
                <a:gridCol w="596900"/>
                <a:gridCol w="595629"/>
                <a:gridCol w="598804"/>
                <a:gridCol w="595629"/>
                <a:gridCol w="595630"/>
                <a:gridCol w="597534"/>
                <a:gridCol w="599440"/>
                <a:gridCol w="596265"/>
              </a:tblGrid>
              <a:tr h="447675">
                <a:tc rowSpan="5">
                  <a:txBody>
                    <a:bodyPr/>
                    <a:lstStyle/>
                    <a:p>
                      <a:pPr algn="just" marL="91440" marR="240665">
                        <a:lnSpc>
                          <a:spcPct val="125499"/>
                        </a:lnSpc>
                        <a:spcBef>
                          <a:spcPts val="2220"/>
                        </a:spcBef>
                      </a:pPr>
                      <a:r>
                        <a:rPr dirty="0" sz="2000" spc="-50" b="1">
                          <a:solidFill>
                            <a:srgbClr val="008000"/>
                          </a:solidFill>
                          <a:latin typeface="宋体"/>
                          <a:cs typeface="宋体"/>
                        </a:rPr>
                        <a:t>分支成功</a:t>
                      </a:r>
                      <a:endParaRPr sz="2000">
                        <a:latin typeface="宋体"/>
                        <a:cs typeface="宋体"/>
                      </a:endParaRPr>
                    </a:p>
                  </a:txBody>
                  <a:tcPr marL="0" marR="0" marB="0" marT="281940">
                    <a:lnL w="28575">
                      <a:solidFill>
                        <a:srgbClr val="40458B"/>
                      </a:solidFill>
                      <a:prstDash val="solid"/>
                    </a:lnL>
                    <a:lnR w="12700">
                      <a:solidFill>
                        <a:srgbClr val="40458B"/>
                      </a:solidFill>
                      <a:prstDash val="solid"/>
                    </a:lnR>
                    <a:lnT w="28575">
                      <a:solidFill>
                        <a:srgbClr val="40458B"/>
                      </a:solidFill>
                      <a:prstDash val="solid"/>
                    </a:lnT>
                    <a:lnB w="28575">
                      <a:solidFill>
                        <a:srgbClr val="40458B"/>
                      </a:solidFill>
                      <a:prstDash val="solid"/>
                    </a:lnB>
                  </a:tcPr>
                </a:tc>
                <a:tc>
                  <a:txBody>
                    <a:bodyPr/>
                    <a:lstStyle/>
                    <a:p>
                      <a:pPr algn="ctr">
                        <a:lnSpc>
                          <a:spcPct val="100000"/>
                        </a:lnSpc>
                        <a:spcBef>
                          <a:spcPts val="345"/>
                        </a:spcBef>
                      </a:pPr>
                      <a:r>
                        <a:rPr dirty="0" sz="2000" spc="-10" b="1">
                          <a:solidFill>
                            <a:srgbClr val="E14B04"/>
                          </a:solidFill>
                          <a:latin typeface="宋体"/>
                          <a:cs typeface="宋体"/>
                        </a:rPr>
                        <a:t>分支指令</a:t>
                      </a:r>
                      <a:r>
                        <a:rPr dirty="0" sz="2000" spc="-50" b="1">
                          <a:solidFill>
                            <a:srgbClr val="E14B04"/>
                          </a:solidFill>
                          <a:latin typeface="宋体"/>
                          <a:cs typeface="宋体"/>
                        </a:rPr>
                        <a:t>i</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92075">
                        <a:lnSpc>
                          <a:spcPct val="100000"/>
                        </a:lnSpc>
                        <a:spcBef>
                          <a:spcPts val="345"/>
                        </a:spcBef>
                      </a:pPr>
                      <a:r>
                        <a:rPr dirty="0" sz="2000" spc="-25" b="1">
                          <a:solidFill>
                            <a:srgbClr val="40458B"/>
                          </a:solidFill>
                          <a:latin typeface="宋体"/>
                          <a:cs typeface="宋体"/>
                        </a:rPr>
                        <a:t>IF</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92075">
                        <a:lnSpc>
                          <a:spcPct val="100000"/>
                        </a:lnSpc>
                        <a:spcBef>
                          <a:spcPts val="345"/>
                        </a:spcBef>
                      </a:pPr>
                      <a:r>
                        <a:rPr dirty="0" sz="2000" spc="-25" b="1">
                          <a:solidFill>
                            <a:srgbClr val="40458B"/>
                          </a:solidFill>
                          <a:latin typeface="宋体"/>
                          <a:cs typeface="宋体"/>
                        </a:rPr>
                        <a:t>ID</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92075">
                        <a:lnSpc>
                          <a:spcPct val="100000"/>
                        </a:lnSpc>
                        <a:spcBef>
                          <a:spcPts val="345"/>
                        </a:spcBef>
                      </a:pPr>
                      <a:r>
                        <a:rPr dirty="0" sz="2000" spc="-25" b="1">
                          <a:solidFill>
                            <a:srgbClr val="40458B"/>
                          </a:solidFill>
                          <a:latin typeface="宋体"/>
                          <a:cs typeface="宋体"/>
                        </a:rPr>
                        <a:t>EX</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92075">
                        <a:lnSpc>
                          <a:spcPct val="100000"/>
                        </a:lnSpc>
                        <a:spcBef>
                          <a:spcPts val="345"/>
                        </a:spcBef>
                      </a:pPr>
                      <a:r>
                        <a:rPr dirty="0" sz="2000" spc="-25" b="1">
                          <a:solidFill>
                            <a:srgbClr val="40458B"/>
                          </a:solidFill>
                          <a:latin typeface="宋体"/>
                          <a:cs typeface="宋体"/>
                        </a:rPr>
                        <a:t>MEM</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92075">
                        <a:lnSpc>
                          <a:spcPct val="100000"/>
                        </a:lnSpc>
                        <a:spcBef>
                          <a:spcPts val="345"/>
                        </a:spcBef>
                      </a:pPr>
                      <a:r>
                        <a:rPr dirty="0" sz="2000" spc="-25" b="1">
                          <a:solidFill>
                            <a:srgbClr val="40458B"/>
                          </a:solidFill>
                          <a:latin typeface="宋体"/>
                          <a:cs typeface="宋体"/>
                        </a:rPr>
                        <a:t>WB</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r>
              <a:tr h="447675">
                <a:tc vMerge="1">
                  <a:txBody>
                    <a:bodyPr/>
                    <a:lstStyle/>
                    <a:p>
                      <a:pPr/>
                    </a:p>
                  </a:txBody>
                  <a:tcPr marL="0" marR="0" marB="0" marT="281940">
                    <a:lnL w="28575">
                      <a:solidFill>
                        <a:srgbClr val="40458B"/>
                      </a:solidFill>
                      <a:prstDash val="solid"/>
                    </a:lnL>
                    <a:lnR w="12700">
                      <a:solidFill>
                        <a:srgbClr val="40458B"/>
                      </a:solidFill>
                      <a:prstDash val="solid"/>
                    </a:lnR>
                    <a:lnT w="28575">
                      <a:solidFill>
                        <a:srgbClr val="40458B"/>
                      </a:solidFill>
                      <a:prstDash val="solid"/>
                    </a:lnT>
                    <a:lnB w="28575">
                      <a:solidFill>
                        <a:srgbClr val="40458B"/>
                      </a:solidFill>
                      <a:prstDash val="solid"/>
                    </a:lnB>
                  </a:tcPr>
                </a:tc>
                <a:tc>
                  <a:txBody>
                    <a:bodyPr/>
                    <a:lstStyle/>
                    <a:p>
                      <a:pPr algn="ctr">
                        <a:lnSpc>
                          <a:spcPct val="100000"/>
                        </a:lnSpc>
                        <a:spcBef>
                          <a:spcPts val="345"/>
                        </a:spcBef>
                      </a:pPr>
                      <a:r>
                        <a:rPr dirty="0" sz="2000" spc="-15" b="1">
                          <a:solidFill>
                            <a:srgbClr val="D50092"/>
                          </a:solidFill>
                          <a:latin typeface="宋体"/>
                          <a:cs typeface="宋体"/>
                        </a:rPr>
                        <a:t>延迟槽指令 </a:t>
                      </a:r>
                      <a:r>
                        <a:rPr dirty="0" sz="2000" spc="-25" b="1">
                          <a:solidFill>
                            <a:srgbClr val="D50092"/>
                          </a:solidFill>
                          <a:latin typeface="宋体"/>
                          <a:cs typeface="宋体"/>
                        </a:rPr>
                        <a:t>i+1</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marL="92075">
                        <a:lnSpc>
                          <a:spcPct val="100000"/>
                        </a:lnSpc>
                        <a:spcBef>
                          <a:spcPts val="345"/>
                        </a:spcBef>
                      </a:pPr>
                      <a:r>
                        <a:rPr dirty="0" sz="2000" spc="-25" b="1">
                          <a:solidFill>
                            <a:srgbClr val="40458B"/>
                          </a:solidFill>
                          <a:latin typeface="宋体"/>
                          <a:cs typeface="宋体"/>
                        </a:rPr>
                        <a:t>IF</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marL="92075">
                        <a:lnSpc>
                          <a:spcPct val="100000"/>
                        </a:lnSpc>
                        <a:spcBef>
                          <a:spcPts val="345"/>
                        </a:spcBef>
                      </a:pPr>
                      <a:r>
                        <a:rPr dirty="0" sz="2000" spc="-25" b="1">
                          <a:solidFill>
                            <a:srgbClr val="40458B"/>
                          </a:solidFill>
                          <a:latin typeface="宋体"/>
                          <a:cs typeface="宋体"/>
                        </a:rPr>
                        <a:t>ID</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marL="92075">
                        <a:lnSpc>
                          <a:spcPct val="100000"/>
                        </a:lnSpc>
                        <a:spcBef>
                          <a:spcPts val="345"/>
                        </a:spcBef>
                      </a:pPr>
                      <a:r>
                        <a:rPr dirty="0" sz="2000" spc="-25" b="1">
                          <a:solidFill>
                            <a:srgbClr val="40458B"/>
                          </a:solidFill>
                          <a:latin typeface="宋体"/>
                          <a:cs typeface="宋体"/>
                        </a:rPr>
                        <a:t>EX</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marL="92075">
                        <a:lnSpc>
                          <a:spcPct val="100000"/>
                        </a:lnSpc>
                        <a:spcBef>
                          <a:spcPts val="345"/>
                        </a:spcBef>
                      </a:pPr>
                      <a:r>
                        <a:rPr dirty="0" sz="2000" spc="-25" b="1">
                          <a:solidFill>
                            <a:srgbClr val="40458B"/>
                          </a:solidFill>
                          <a:latin typeface="宋体"/>
                          <a:cs typeface="宋体"/>
                        </a:rPr>
                        <a:t>MEM</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marL="92075">
                        <a:lnSpc>
                          <a:spcPct val="100000"/>
                        </a:lnSpc>
                        <a:spcBef>
                          <a:spcPts val="345"/>
                        </a:spcBef>
                      </a:pPr>
                      <a:r>
                        <a:rPr dirty="0" sz="2000" spc="-25" b="1">
                          <a:solidFill>
                            <a:srgbClr val="40458B"/>
                          </a:solidFill>
                          <a:latin typeface="宋体"/>
                          <a:cs typeface="宋体"/>
                        </a:rPr>
                        <a:t>WB</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solidFill>
                      <a:srgbClr val="F5EABA"/>
                    </a:solidFill>
                  </a:tcPr>
                </a:tc>
              </a:tr>
              <a:tr h="447675">
                <a:tc vMerge="1">
                  <a:txBody>
                    <a:bodyPr/>
                    <a:lstStyle/>
                    <a:p>
                      <a:pPr/>
                    </a:p>
                  </a:txBody>
                  <a:tcPr marL="0" marR="0" marB="0" marT="281940">
                    <a:lnL w="28575">
                      <a:solidFill>
                        <a:srgbClr val="40458B"/>
                      </a:solidFill>
                      <a:prstDash val="solid"/>
                    </a:lnL>
                    <a:lnR w="12700">
                      <a:solidFill>
                        <a:srgbClr val="40458B"/>
                      </a:solidFill>
                      <a:prstDash val="solid"/>
                    </a:lnR>
                    <a:lnT w="28575">
                      <a:solidFill>
                        <a:srgbClr val="40458B"/>
                      </a:solidFill>
                      <a:prstDash val="solid"/>
                    </a:lnT>
                    <a:lnB w="28575">
                      <a:solidFill>
                        <a:srgbClr val="40458B"/>
                      </a:solidFill>
                      <a:prstDash val="solid"/>
                    </a:lnB>
                  </a:tcPr>
                </a:tc>
                <a:tc>
                  <a:txBody>
                    <a:bodyPr/>
                    <a:lstStyle/>
                    <a:p>
                      <a:pPr algn="ctr">
                        <a:lnSpc>
                          <a:spcPct val="100000"/>
                        </a:lnSpc>
                        <a:spcBef>
                          <a:spcPts val="350"/>
                        </a:spcBef>
                      </a:pPr>
                      <a:r>
                        <a:rPr dirty="0" sz="2000" spc="-10" b="1">
                          <a:solidFill>
                            <a:srgbClr val="E14B04"/>
                          </a:solidFill>
                          <a:latin typeface="宋体"/>
                          <a:cs typeface="宋体"/>
                        </a:rPr>
                        <a:t>分支目标指令</a:t>
                      </a:r>
                      <a:r>
                        <a:rPr dirty="0" sz="2000" spc="-60" b="1">
                          <a:solidFill>
                            <a:srgbClr val="E14B04"/>
                          </a:solidFill>
                          <a:latin typeface="宋体"/>
                          <a:cs typeface="宋体"/>
                        </a:rPr>
                        <a:t>j</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350"/>
                        </a:spcBef>
                      </a:pPr>
                      <a:r>
                        <a:rPr dirty="0" sz="2000" spc="-25" b="1">
                          <a:solidFill>
                            <a:srgbClr val="40458B"/>
                          </a:solidFill>
                          <a:latin typeface="宋体"/>
                          <a:cs typeface="宋体"/>
                        </a:rPr>
                        <a:t>IF</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350"/>
                        </a:spcBef>
                      </a:pPr>
                      <a:r>
                        <a:rPr dirty="0" sz="2000" spc="-25" b="1">
                          <a:solidFill>
                            <a:srgbClr val="40458B"/>
                          </a:solidFill>
                          <a:latin typeface="宋体"/>
                          <a:cs typeface="宋体"/>
                        </a:rPr>
                        <a:t>ID</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350"/>
                        </a:spcBef>
                      </a:pPr>
                      <a:r>
                        <a:rPr dirty="0" sz="2000" spc="-25" b="1">
                          <a:solidFill>
                            <a:srgbClr val="40458B"/>
                          </a:solidFill>
                          <a:latin typeface="宋体"/>
                          <a:cs typeface="宋体"/>
                        </a:rPr>
                        <a:t>EX</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350"/>
                        </a:spcBef>
                      </a:pPr>
                      <a:r>
                        <a:rPr dirty="0" sz="2000" spc="-25" b="1">
                          <a:solidFill>
                            <a:srgbClr val="40458B"/>
                          </a:solidFill>
                          <a:latin typeface="宋体"/>
                          <a:cs typeface="宋体"/>
                        </a:rPr>
                        <a:t>MEM</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350"/>
                        </a:spcBef>
                      </a:pPr>
                      <a:r>
                        <a:rPr dirty="0" sz="2000" spc="-25" b="1">
                          <a:solidFill>
                            <a:srgbClr val="40458B"/>
                          </a:solidFill>
                          <a:latin typeface="宋体"/>
                          <a:cs typeface="宋体"/>
                        </a:rPr>
                        <a:t>WB</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47675">
                <a:tc vMerge="1">
                  <a:txBody>
                    <a:bodyPr/>
                    <a:lstStyle/>
                    <a:p>
                      <a:pPr/>
                    </a:p>
                  </a:txBody>
                  <a:tcPr marL="0" marR="0" marB="0" marT="281940">
                    <a:lnL w="28575">
                      <a:solidFill>
                        <a:srgbClr val="40458B"/>
                      </a:solidFill>
                      <a:prstDash val="solid"/>
                    </a:lnL>
                    <a:lnR w="12700">
                      <a:solidFill>
                        <a:srgbClr val="40458B"/>
                      </a:solidFill>
                      <a:prstDash val="solid"/>
                    </a:lnR>
                    <a:lnT w="28575">
                      <a:solidFill>
                        <a:srgbClr val="40458B"/>
                      </a:solidFill>
                      <a:prstDash val="solid"/>
                    </a:lnT>
                    <a:lnB w="28575">
                      <a:solidFill>
                        <a:srgbClr val="40458B"/>
                      </a:solidFill>
                      <a:prstDash val="solid"/>
                    </a:lnB>
                  </a:tcPr>
                </a:tc>
                <a:tc>
                  <a:txBody>
                    <a:bodyPr/>
                    <a:lstStyle/>
                    <a:p>
                      <a:pPr algn="ctr">
                        <a:lnSpc>
                          <a:spcPct val="100000"/>
                        </a:lnSpc>
                        <a:spcBef>
                          <a:spcPts val="350"/>
                        </a:spcBef>
                      </a:pPr>
                      <a:r>
                        <a:rPr dirty="0" sz="2000" spc="-10" b="1">
                          <a:solidFill>
                            <a:srgbClr val="E14B04"/>
                          </a:solidFill>
                          <a:latin typeface="宋体"/>
                          <a:cs typeface="宋体"/>
                        </a:rPr>
                        <a:t>分支目标指令</a:t>
                      </a:r>
                      <a:r>
                        <a:rPr dirty="0" sz="2000" spc="-25" b="1">
                          <a:solidFill>
                            <a:srgbClr val="E14B04"/>
                          </a:solidFill>
                          <a:latin typeface="宋体"/>
                          <a:cs typeface="宋体"/>
                        </a:rPr>
                        <a:t>j+1</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350"/>
                        </a:spcBef>
                      </a:pPr>
                      <a:r>
                        <a:rPr dirty="0" sz="2000" spc="-25" b="1">
                          <a:solidFill>
                            <a:srgbClr val="40458B"/>
                          </a:solidFill>
                          <a:latin typeface="宋体"/>
                          <a:cs typeface="宋体"/>
                        </a:rPr>
                        <a:t>IF</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350"/>
                        </a:spcBef>
                      </a:pPr>
                      <a:r>
                        <a:rPr dirty="0" sz="2000" spc="-25" b="1">
                          <a:solidFill>
                            <a:srgbClr val="40458B"/>
                          </a:solidFill>
                          <a:latin typeface="宋体"/>
                          <a:cs typeface="宋体"/>
                        </a:rPr>
                        <a:t>ID</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350"/>
                        </a:spcBef>
                      </a:pPr>
                      <a:r>
                        <a:rPr dirty="0" sz="2000" spc="-25" b="1">
                          <a:solidFill>
                            <a:srgbClr val="40458B"/>
                          </a:solidFill>
                          <a:latin typeface="宋体"/>
                          <a:cs typeface="宋体"/>
                        </a:rPr>
                        <a:t>EX</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350"/>
                        </a:spcBef>
                      </a:pPr>
                      <a:r>
                        <a:rPr dirty="0" sz="2000" spc="-25" b="1">
                          <a:solidFill>
                            <a:srgbClr val="40458B"/>
                          </a:solidFill>
                          <a:latin typeface="宋体"/>
                          <a:cs typeface="宋体"/>
                        </a:rPr>
                        <a:t>MEM</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710">
                        <a:lnSpc>
                          <a:spcPct val="100000"/>
                        </a:lnSpc>
                        <a:spcBef>
                          <a:spcPts val="350"/>
                        </a:spcBef>
                      </a:pPr>
                      <a:r>
                        <a:rPr dirty="0" sz="2000" spc="-25" b="1">
                          <a:solidFill>
                            <a:srgbClr val="40458B"/>
                          </a:solidFill>
                          <a:latin typeface="宋体"/>
                          <a:cs typeface="宋体"/>
                        </a:rPr>
                        <a:t>WB</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26084">
                <a:tc vMerge="1">
                  <a:txBody>
                    <a:bodyPr/>
                    <a:lstStyle/>
                    <a:p>
                      <a:pPr/>
                    </a:p>
                  </a:txBody>
                  <a:tcPr marL="0" marR="0" marB="0" marT="281940">
                    <a:lnL w="28575">
                      <a:solidFill>
                        <a:srgbClr val="40458B"/>
                      </a:solidFill>
                      <a:prstDash val="solid"/>
                    </a:lnL>
                    <a:lnR w="12700">
                      <a:solidFill>
                        <a:srgbClr val="40458B"/>
                      </a:solidFill>
                      <a:prstDash val="solid"/>
                    </a:lnR>
                    <a:lnT w="28575">
                      <a:solidFill>
                        <a:srgbClr val="40458B"/>
                      </a:solidFill>
                      <a:prstDash val="solid"/>
                    </a:lnT>
                    <a:lnB w="28575">
                      <a:solidFill>
                        <a:srgbClr val="40458B"/>
                      </a:solidFill>
                      <a:prstDash val="solid"/>
                    </a:lnB>
                  </a:tcPr>
                </a:tc>
                <a:tc>
                  <a:txBody>
                    <a:bodyPr/>
                    <a:lstStyle/>
                    <a:p>
                      <a:pPr algn="ctr" marL="1270">
                        <a:lnSpc>
                          <a:spcPct val="100000"/>
                        </a:lnSpc>
                        <a:spcBef>
                          <a:spcPts val="350"/>
                        </a:spcBef>
                      </a:pPr>
                      <a:r>
                        <a:rPr dirty="0" sz="2000" spc="-10" b="1">
                          <a:solidFill>
                            <a:srgbClr val="E14B04"/>
                          </a:solidFill>
                          <a:latin typeface="宋体"/>
                          <a:cs typeface="宋体"/>
                        </a:rPr>
                        <a:t>分支目标指令</a:t>
                      </a:r>
                      <a:r>
                        <a:rPr dirty="0" sz="2000" spc="-25" b="1">
                          <a:solidFill>
                            <a:srgbClr val="E14B04"/>
                          </a:solidFill>
                          <a:latin typeface="宋体"/>
                          <a:cs typeface="宋体"/>
                        </a:rPr>
                        <a:t>j+2</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92075">
                        <a:lnSpc>
                          <a:spcPct val="100000"/>
                        </a:lnSpc>
                        <a:spcBef>
                          <a:spcPts val="350"/>
                        </a:spcBef>
                      </a:pPr>
                      <a:r>
                        <a:rPr dirty="0" sz="2000" spc="-25" b="1">
                          <a:solidFill>
                            <a:srgbClr val="40458B"/>
                          </a:solidFill>
                          <a:latin typeface="宋体"/>
                          <a:cs typeface="宋体"/>
                        </a:rPr>
                        <a:t>IF</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92075">
                        <a:lnSpc>
                          <a:spcPct val="100000"/>
                        </a:lnSpc>
                        <a:spcBef>
                          <a:spcPts val="350"/>
                        </a:spcBef>
                      </a:pPr>
                      <a:r>
                        <a:rPr dirty="0" sz="2000" spc="-25" b="1">
                          <a:solidFill>
                            <a:srgbClr val="40458B"/>
                          </a:solidFill>
                          <a:latin typeface="宋体"/>
                          <a:cs typeface="宋体"/>
                        </a:rPr>
                        <a:t>ID</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92075">
                        <a:lnSpc>
                          <a:spcPct val="100000"/>
                        </a:lnSpc>
                        <a:spcBef>
                          <a:spcPts val="350"/>
                        </a:spcBef>
                      </a:pPr>
                      <a:r>
                        <a:rPr dirty="0" sz="2000" spc="-25" b="1">
                          <a:solidFill>
                            <a:srgbClr val="40458B"/>
                          </a:solidFill>
                          <a:latin typeface="宋体"/>
                          <a:cs typeface="宋体"/>
                        </a:rPr>
                        <a:t>EX</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92710">
                        <a:lnSpc>
                          <a:spcPct val="100000"/>
                        </a:lnSpc>
                        <a:spcBef>
                          <a:spcPts val="350"/>
                        </a:spcBef>
                      </a:pPr>
                      <a:r>
                        <a:rPr dirty="0" sz="2000" spc="-25" b="1">
                          <a:solidFill>
                            <a:srgbClr val="40458B"/>
                          </a:solidFill>
                          <a:latin typeface="宋体"/>
                          <a:cs typeface="宋体"/>
                        </a:rPr>
                        <a:t>MEM</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92710">
                        <a:lnSpc>
                          <a:spcPct val="100000"/>
                        </a:lnSpc>
                        <a:spcBef>
                          <a:spcPts val="350"/>
                        </a:spcBef>
                      </a:pPr>
                      <a:r>
                        <a:rPr dirty="0" sz="2000" spc="-25" b="1">
                          <a:solidFill>
                            <a:srgbClr val="40458B"/>
                          </a:solidFill>
                          <a:latin typeface="宋体"/>
                          <a:cs typeface="宋体"/>
                        </a:rPr>
                        <a:t>WB</a:t>
                      </a:r>
                      <a:endParaRPr sz="2000">
                        <a:latin typeface="宋体"/>
                        <a:cs typeface="宋体"/>
                      </a:endParaRPr>
                    </a:p>
                  </a:txBody>
                  <a:tcPr marL="0" marR="0" marB="0" marT="44450">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tcPr>
                </a:tc>
              </a:tr>
            </a:tbl>
          </a:graphicData>
        </a:graphic>
      </p:graphicFrame>
      <p:graphicFrame>
        <p:nvGraphicFramePr>
          <p:cNvPr id="10" name="object 10" descr=""/>
          <p:cNvGraphicFramePr>
            <a:graphicFrameLocks noGrp="1"/>
          </p:cNvGraphicFramePr>
          <p:nvPr/>
        </p:nvGraphicFramePr>
        <p:xfrm>
          <a:off x="3490912" y="1254188"/>
          <a:ext cx="8458200" cy="2139950"/>
        </p:xfrm>
        <a:graphic>
          <a:graphicData uri="http://schemas.openxmlformats.org/drawingml/2006/table">
            <a:tbl>
              <a:tblPr firstRow="1" bandRow="1">
                <a:tableStyleId>{2D5ABB26-0587-4C30-8999-92F81FD0307C}</a:tableStyleId>
              </a:tblPr>
              <a:tblGrid>
                <a:gridCol w="594995"/>
                <a:gridCol w="2385695"/>
                <a:gridCol w="599439"/>
                <a:gridCol w="596264"/>
                <a:gridCol w="593089"/>
                <a:gridCol w="599439"/>
                <a:gridCol w="594360"/>
                <a:gridCol w="594359"/>
                <a:gridCol w="594359"/>
                <a:gridCol w="599440"/>
                <a:gridCol w="594995"/>
              </a:tblGrid>
              <a:tr h="427990">
                <a:tc rowSpan="5">
                  <a:txBody>
                    <a:bodyPr/>
                    <a:lstStyle/>
                    <a:p>
                      <a:pPr algn="just" marL="91440" marR="240665">
                        <a:lnSpc>
                          <a:spcPct val="125499"/>
                        </a:lnSpc>
                        <a:spcBef>
                          <a:spcPts val="1980"/>
                        </a:spcBef>
                      </a:pPr>
                      <a:r>
                        <a:rPr dirty="0" sz="2000" spc="-50" b="1">
                          <a:solidFill>
                            <a:srgbClr val="008000"/>
                          </a:solidFill>
                          <a:latin typeface="宋体"/>
                          <a:cs typeface="宋体"/>
                        </a:rPr>
                        <a:t>分支失败</a:t>
                      </a:r>
                      <a:endParaRPr sz="2000">
                        <a:latin typeface="宋体"/>
                        <a:cs typeface="宋体"/>
                      </a:endParaRPr>
                    </a:p>
                  </a:txBody>
                  <a:tcPr marL="0" marR="0" marB="0" marT="251460">
                    <a:lnL w="28575">
                      <a:solidFill>
                        <a:srgbClr val="40458B"/>
                      </a:solidFill>
                      <a:prstDash val="solid"/>
                    </a:lnL>
                    <a:lnR w="12700">
                      <a:solidFill>
                        <a:srgbClr val="40458B"/>
                      </a:solidFill>
                      <a:prstDash val="solid"/>
                    </a:lnR>
                    <a:lnT w="28575">
                      <a:solidFill>
                        <a:srgbClr val="40458B"/>
                      </a:solidFill>
                      <a:prstDash val="solid"/>
                    </a:lnT>
                    <a:lnB w="28575">
                      <a:solidFill>
                        <a:srgbClr val="40458B"/>
                      </a:solidFill>
                      <a:prstDash val="solid"/>
                    </a:lnB>
                  </a:tcPr>
                </a:tc>
                <a:tc>
                  <a:txBody>
                    <a:bodyPr/>
                    <a:lstStyle/>
                    <a:p>
                      <a:pPr algn="ctr">
                        <a:lnSpc>
                          <a:spcPct val="100000"/>
                        </a:lnSpc>
                        <a:spcBef>
                          <a:spcPts val="345"/>
                        </a:spcBef>
                      </a:pPr>
                      <a:r>
                        <a:rPr dirty="0" sz="2000" spc="-10" b="1">
                          <a:solidFill>
                            <a:srgbClr val="E14B04"/>
                          </a:solidFill>
                          <a:latin typeface="宋体"/>
                          <a:cs typeface="宋体"/>
                        </a:rPr>
                        <a:t>分支指令</a:t>
                      </a:r>
                      <a:r>
                        <a:rPr dirty="0" sz="2000" spc="-50" b="1">
                          <a:solidFill>
                            <a:srgbClr val="E14B04"/>
                          </a:solidFill>
                          <a:latin typeface="宋体"/>
                          <a:cs typeface="宋体"/>
                        </a:rPr>
                        <a:t>i</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170180">
                        <a:lnSpc>
                          <a:spcPct val="100000"/>
                        </a:lnSpc>
                        <a:spcBef>
                          <a:spcPts val="345"/>
                        </a:spcBef>
                      </a:pPr>
                      <a:r>
                        <a:rPr dirty="0" sz="2000" spc="-25" b="1">
                          <a:solidFill>
                            <a:srgbClr val="40458B"/>
                          </a:solidFill>
                          <a:latin typeface="宋体"/>
                          <a:cs typeface="宋体"/>
                        </a:rPr>
                        <a:t>IF</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a:lnSpc>
                          <a:spcPct val="100000"/>
                        </a:lnSpc>
                        <a:spcBef>
                          <a:spcPts val="345"/>
                        </a:spcBef>
                      </a:pPr>
                      <a:r>
                        <a:rPr dirty="0" sz="2000" spc="-25" b="1">
                          <a:solidFill>
                            <a:srgbClr val="40458B"/>
                          </a:solidFill>
                          <a:latin typeface="宋体"/>
                          <a:cs typeface="宋体"/>
                        </a:rPr>
                        <a:t>ID</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marL="635">
                        <a:lnSpc>
                          <a:spcPct val="100000"/>
                        </a:lnSpc>
                        <a:spcBef>
                          <a:spcPts val="345"/>
                        </a:spcBef>
                      </a:pPr>
                      <a:r>
                        <a:rPr dirty="0" sz="2000" spc="-25" b="1">
                          <a:solidFill>
                            <a:srgbClr val="40458B"/>
                          </a:solidFill>
                          <a:latin typeface="宋体"/>
                          <a:cs typeface="宋体"/>
                        </a:rPr>
                        <a:t>EX</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marL="1905">
                        <a:lnSpc>
                          <a:spcPct val="100000"/>
                        </a:lnSpc>
                        <a:spcBef>
                          <a:spcPts val="345"/>
                        </a:spcBef>
                      </a:pPr>
                      <a:r>
                        <a:rPr dirty="0" sz="2000" spc="-25" b="1">
                          <a:solidFill>
                            <a:srgbClr val="40458B"/>
                          </a:solidFill>
                          <a:latin typeface="宋体"/>
                          <a:cs typeface="宋体"/>
                        </a:rPr>
                        <a:t>MEM</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marL="2540">
                        <a:lnSpc>
                          <a:spcPct val="100000"/>
                        </a:lnSpc>
                        <a:spcBef>
                          <a:spcPts val="345"/>
                        </a:spcBef>
                      </a:pPr>
                      <a:r>
                        <a:rPr dirty="0" sz="2000" spc="-25" b="1">
                          <a:solidFill>
                            <a:srgbClr val="40458B"/>
                          </a:solidFill>
                          <a:latin typeface="宋体"/>
                          <a:cs typeface="宋体"/>
                        </a:rPr>
                        <a:t>WB</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r>
              <a:tr h="427990">
                <a:tc vMerge="1">
                  <a:txBody>
                    <a:bodyPr/>
                    <a:lstStyle/>
                    <a:p>
                      <a:pPr/>
                    </a:p>
                  </a:txBody>
                  <a:tcPr marL="0" marR="0" marB="0" marT="251460">
                    <a:lnL w="28575">
                      <a:solidFill>
                        <a:srgbClr val="40458B"/>
                      </a:solidFill>
                      <a:prstDash val="solid"/>
                    </a:lnL>
                    <a:lnR w="12700">
                      <a:solidFill>
                        <a:srgbClr val="40458B"/>
                      </a:solidFill>
                      <a:prstDash val="solid"/>
                    </a:lnR>
                    <a:lnT w="28575">
                      <a:solidFill>
                        <a:srgbClr val="40458B"/>
                      </a:solidFill>
                      <a:prstDash val="solid"/>
                    </a:lnT>
                    <a:lnB w="28575">
                      <a:solidFill>
                        <a:srgbClr val="40458B"/>
                      </a:solidFill>
                      <a:prstDash val="solid"/>
                    </a:lnB>
                  </a:tcPr>
                </a:tc>
                <a:tc>
                  <a:txBody>
                    <a:bodyPr/>
                    <a:lstStyle/>
                    <a:p>
                      <a:pPr algn="ctr">
                        <a:lnSpc>
                          <a:spcPct val="100000"/>
                        </a:lnSpc>
                        <a:spcBef>
                          <a:spcPts val="350"/>
                        </a:spcBef>
                      </a:pPr>
                      <a:r>
                        <a:rPr dirty="0" sz="2000" spc="-15" b="1">
                          <a:solidFill>
                            <a:srgbClr val="D50092"/>
                          </a:solidFill>
                          <a:latin typeface="宋体"/>
                          <a:cs typeface="宋体"/>
                        </a:rPr>
                        <a:t>延迟槽指令 </a:t>
                      </a:r>
                      <a:r>
                        <a:rPr dirty="0" sz="2000" spc="-25" b="1">
                          <a:solidFill>
                            <a:srgbClr val="D50092"/>
                          </a:solidFill>
                          <a:latin typeface="宋体"/>
                          <a:cs typeface="宋体"/>
                        </a:rPr>
                        <a:t>i+1</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algn="ctr">
                        <a:lnSpc>
                          <a:spcPct val="100000"/>
                        </a:lnSpc>
                        <a:spcBef>
                          <a:spcPts val="350"/>
                        </a:spcBef>
                      </a:pPr>
                      <a:r>
                        <a:rPr dirty="0" sz="2000" spc="-25" b="1">
                          <a:solidFill>
                            <a:srgbClr val="40458B"/>
                          </a:solidFill>
                          <a:latin typeface="宋体"/>
                          <a:cs typeface="宋体"/>
                        </a:rPr>
                        <a:t>IF</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algn="ctr" marL="635">
                        <a:lnSpc>
                          <a:spcPct val="100000"/>
                        </a:lnSpc>
                        <a:spcBef>
                          <a:spcPts val="350"/>
                        </a:spcBef>
                      </a:pPr>
                      <a:r>
                        <a:rPr dirty="0" sz="2000" spc="-25" b="1">
                          <a:solidFill>
                            <a:srgbClr val="40458B"/>
                          </a:solidFill>
                          <a:latin typeface="宋体"/>
                          <a:cs typeface="宋体"/>
                        </a:rPr>
                        <a:t>ID</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algn="ctr" marL="635">
                        <a:lnSpc>
                          <a:spcPct val="100000"/>
                        </a:lnSpc>
                        <a:spcBef>
                          <a:spcPts val="350"/>
                        </a:spcBef>
                      </a:pPr>
                      <a:r>
                        <a:rPr dirty="0" sz="2000" spc="-25" b="1">
                          <a:solidFill>
                            <a:srgbClr val="40458B"/>
                          </a:solidFill>
                          <a:latin typeface="宋体"/>
                          <a:cs typeface="宋体"/>
                        </a:rPr>
                        <a:t>EX</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algn="ctr" marL="635">
                        <a:lnSpc>
                          <a:spcPct val="100000"/>
                        </a:lnSpc>
                        <a:spcBef>
                          <a:spcPts val="350"/>
                        </a:spcBef>
                      </a:pPr>
                      <a:r>
                        <a:rPr dirty="0" sz="2000" spc="-25" b="1">
                          <a:solidFill>
                            <a:srgbClr val="40458B"/>
                          </a:solidFill>
                          <a:latin typeface="宋体"/>
                          <a:cs typeface="宋体"/>
                        </a:rPr>
                        <a:t>MEM</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algn="ctr" marL="2540">
                        <a:lnSpc>
                          <a:spcPct val="100000"/>
                        </a:lnSpc>
                        <a:spcBef>
                          <a:spcPts val="350"/>
                        </a:spcBef>
                      </a:pPr>
                      <a:r>
                        <a:rPr dirty="0" sz="2000" spc="-25" b="1">
                          <a:solidFill>
                            <a:srgbClr val="40458B"/>
                          </a:solidFill>
                          <a:latin typeface="宋体"/>
                          <a:cs typeface="宋体"/>
                        </a:rPr>
                        <a:t>WB</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solidFill>
                      <a:srgbClr val="F5EABA"/>
                    </a:solidFill>
                  </a:tcPr>
                </a:tc>
              </a:tr>
              <a:tr h="427990">
                <a:tc vMerge="1">
                  <a:txBody>
                    <a:bodyPr/>
                    <a:lstStyle/>
                    <a:p>
                      <a:pPr/>
                    </a:p>
                  </a:txBody>
                  <a:tcPr marL="0" marR="0" marB="0" marT="251460">
                    <a:lnL w="28575">
                      <a:solidFill>
                        <a:srgbClr val="40458B"/>
                      </a:solidFill>
                      <a:prstDash val="solid"/>
                    </a:lnL>
                    <a:lnR w="12700">
                      <a:solidFill>
                        <a:srgbClr val="40458B"/>
                      </a:solidFill>
                      <a:prstDash val="solid"/>
                    </a:lnR>
                    <a:lnT w="28575">
                      <a:solidFill>
                        <a:srgbClr val="40458B"/>
                      </a:solidFill>
                      <a:prstDash val="solid"/>
                    </a:lnT>
                    <a:lnB w="28575">
                      <a:solidFill>
                        <a:srgbClr val="40458B"/>
                      </a:solidFill>
                      <a:prstDash val="solid"/>
                    </a:lnB>
                  </a:tcPr>
                </a:tc>
                <a:tc>
                  <a:txBody>
                    <a:bodyPr/>
                    <a:lstStyle/>
                    <a:p>
                      <a:pPr algn="ctr" marL="1270">
                        <a:lnSpc>
                          <a:spcPct val="100000"/>
                        </a:lnSpc>
                        <a:spcBef>
                          <a:spcPts val="350"/>
                        </a:spcBef>
                      </a:pPr>
                      <a:r>
                        <a:rPr dirty="0" sz="2000" spc="-10" b="1">
                          <a:solidFill>
                            <a:srgbClr val="E14B04"/>
                          </a:solidFill>
                          <a:latin typeface="宋体"/>
                          <a:cs typeface="宋体"/>
                        </a:rPr>
                        <a:t>指令 </a:t>
                      </a:r>
                      <a:r>
                        <a:rPr dirty="0" sz="2000" spc="-25" b="1">
                          <a:solidFill>
                            <a:srgbClr val="E14B04"/>
                          </a:solidFill>
                          <a:latin typeface="宋体"/>
                          <a:cs typeface="宋体"/>
                        </a:rPr>
                        <a:t>i+2</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35">
                        <a:lnSpc>
                          <a:spcPct val="100000"/>
                        </a:lnSpc>
                        <a:spcBef>
                          <a:spcPts val="350"/>
                        </a:spcBef>
                      </a:pPr>
                      <a:r>
                        <a:rPr dirty="0" sz="2000" spc="-25" b="1">
                          <a:solidFill>
                            <a:srgbClr val="40458B"/>
                          </a:solidFill>
                          <a:latin typeface="宋体"/>
                          <a:cs typeface="宋体"/>
                        </a:rPr>
                        <a:t>IF</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35">
                        <a:lnSpc>
                          <a:spcPct val="100000"/>
                        </a:lnSpc>
                        <a:spcBef>
                          <a:spcPts val="350"/>
                        </a:spcBef>
                      </a:pPr>
                      <a:r>
                        <a:rPr dirty="0" sz="2000" spc="-25" b="1">
                          <a:solidFill>
                            <a:srgbClr val="40458B"/>
                          </a:solidFill>
                          <a:latin typeface="宋体"/>
                          <a:cs typeface="宋体"/>
                        </a:rPr>
                        <a:t>ID</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2540">
                        <a:lnSpc>
                          <a:spcPct val="100000"/>
                        </a:lnSpc>
                        <a:spcBef>
                          <a:spcPts val="350"/>
                        </a:spcBef>
                      </a:pPr>
                      <a:r>
                        <a:rPr dirty="0" sz="2000" spc="-25" b="1">
                          <a:solidFill>
                            <a:srgbClr val="40458B"/>
                          </a:solidFill>
                          <a:latin typeface="宋体"/>
                          <a:cs typeface="宋体"/>
                        </a:rPr>
                        <a:t>EX</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350"/>
                        </a:spcBef>
                      </a:pPr>
                      <a:r>
                        <a:rPr dirty="0" sz="2000" spc="-25" b="1">
                          <a:solidFill>
                            <a:srgbClr val="40458B"/>
                          </a:solidFill>
                          <a:latin typeface="宋体"/>
                          <a:cs typeface="宋体"/>
                        </a:rPr>
                        <a:t>MEM</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3175">
                        <a:lnSpc>
                          <a:spcPct val="100000"/>
                        </a:lnSpc>
                        <a:spcBef>
                          <a:spcPts val="350"/>
                        </a:spcBef>
                      </a:pPr>
                      <a:r>
                        <a:rPr dirty="0" sz="2000" spc="-25" b="1">
                          <a:solidFill>
                            <a:srgbClr val="40458B"/>
                          </a:solidFill>
                          <a:latin typeface="宋体"/>
                          <a:cs typeface="宋体"/>
                        </a:rPr>
                        <a:t>WB</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27990">
                <a:tc vMerge="1">
                  <a:txBody>
                    <a:bodyPr/>
                    <a:lstStyle/>
                    <a:p>
                      <a:pPr/>
                    </a:p>
                  </a:txBody>
                  <a:tcPr marL="0" marR="0" marB="0" marT="251460">
                    <a:lnL w="28575">
                      <a:solidFill>
                        <a:srgbClr val="40458B"/>
                      </a:solidFill>
                      <a:prstDash val="solid"/>
                    </a:lnL>
                    <a:lnR w="12700">
                      <a:solidFill>
                        <a:srgbClr val="40458B"/>
                      </a:solidFill>
                      <a:prstDash val="solid"/>
                    </a:lnR>
                    <a:lnT w="28575">
                      <a:solidFill>
                        <a:srgbClr val="40458B"/>
                      </a:solidFill>
                      <a:prstDash val="solid"/>
                    </a:lnT>
                    <a:lnB w="28575">
                      <a:solidFill>
                        <a:srgbClr val="40458B"/>
                      </a:solidFill>
                      <a:prstDash val="solid"/>
                    </a:lnB>
                  </a:tcPr>
                </a:tc>
                <a:tc>
                  <a:txBody>
                    <a:bodyPr/>
                    <a:lstStyle/>
                    <a:p>
                      <a:pPr algn="ctr" marL="1270">
                        <a:lnSpc>
                          <a:spcPct val="100000"/>
                        </a:lnSpc>
                        <a:spcBef>
                          <a:spcPts val="350"/>
                        </a:spcBef>
                      </a:pPr>
                      <a:r>
                        <a:rPr dirty="0" sz="2000" spc="-10" b="1">
                          <a:solidFill>
                            <a:srgbClr val="E14B04"/>
                          </a:solidFill>
                          <a:latin typeface="宋体"/>
                          <a:cs typeface="宋体"/>
                        </a:rPr>
                        <a:t>指令 </a:t>
                      </a:r>
                      <a:r>
                        <a:rPr dirty="0" sz="2000" spc="-25" b="1">
                          <a:solidFill>
                            <a:srgbClr val="E14B04"/>
                          </a:solidFill>
                          <a:latin typeface="宋体"/>
                          <a:cs typeface="宋体"/>
                        </a:rPr>
                        <a:t>i+3</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35">
                        <a:lnSpc>
                          <a:spcPct val="100000"/>
                        </a:lnSpc>
                        <a:spcBef>
                          <a:spcPts val="350"/>
                        </a:spcBef>
                      </a:pPr>
                      <a:r>
                        <a:rPr dirty="0" sz="2000" spc="-25" b="1">
                          <a:solidFill>
                            <a:srgbClr val="40458B"/>
                          </a:solidFill>
                          <a:latin typeface="宋体"/>
                          <a:cs typeface="宋体"/>
                        </a:rPr>
                        <a:t>IF</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2540">
                        <a:lnSpc>
                          <a:spcPct val="100000"/>
                        </a:lnSpc>
                        <a:spcBef>
                          <a:spcPts val="350"/>
                        </a:spcBef>
                      </a:pPr>
                      <a:r>
                        <a:rPr dirty="0" sz="2000" spc="-25" b="1">
                          <a:solidFill>
                            <a:srgbClr val="40458B"/>
                          </a:solidFill>
                          <a:latin typeface="宋体"/>
                          <a:cs typeface="宋体"/>
                        </a:rPr>
                        <a:t>ID</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2540">
                        <a:lnSpc>
                          <a:spcPct val="100000"/>
                        </a:lnSpc>
                        <a:spcBef>
                          <a:spcPts val="350"/>
                        </a:spcBef>
                      </a:pPr>
                      <a:r>
                        <a:rPr dirty="0" sz="2000" spc="-25" b="1">
                          <a:solidFill>
                            <a:srgbClr val="40458B"/>
                          </a:solidFill>
                          <a:latin typeface="宋体"/>
                          <a:cs typeface="宋体"/>
                        </a:rPr>
                        <a:t>EX</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350"/>
                        </a:spcBef>
                      </a:pPr>
                      <a:r>
                        <a:rPr dirty="0" sz="2000" spc="-25" b="1">
                          <a:solidFill>
                            <a:srgbClr val="40458B"/>
                          </a:solidFill>
                          <a:latin typeface="宋体"/>
                          <a:cs typeface="宋体"/>
                        </a:rPr>
                        <a:t>MEM</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350"/>
                        </a:spcBef>
                      </a:pPr>
                      <a:r>
                        <a:rPr dirty="0" sz="2000" spc="-25" b="1">
                          <a:solidFill>
                            <a:srgbClr val="40458B"/>
                          </a:solidFill>
                          <a:latin typeface="宋体"/>
                          <a:cs typeface="宋体"/>
                        </a:rPr>
                        <a:t>WB</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27990">
                <a:tc vMerge="1">
                  <a:txBody>
                    <a:bodyPr/>
                    <a:lstStyle/>
                    <a:p>
                      <a:pPr/>
                    </a:p>
                  </a:txBody>
                  <a:tcPr marL="0" marR="0" marB="0" marT="251460">
                    <a:lnL w="28575">
                      <a:solidFill>
                        <a:srgbClr val="40458B"/>
                      </a:solidFill>
                      <a:prstDash val="solid"/>
                    </a:lnL>
                    <a:lnR w="12700">
                      <a:solidFill>
                        <a:srgbClr val="40458B"/>
                      </a:solidFill>
                      <a:prstDash val="solid"/>
                    </a:lnR>
                    <a:lnT w="28575">
                      <a:solidFill>
                        <a:srgbClr val="40458B"/>
                      </a:solidFill>
                      <a:prstDash val="solid"/>
                    </a:lnT>
                    <a:lnB w="28575">
                      <a:solidFill>
                        <a:srgbClr val="40458B"/>
                      </a:solidFill>
                      <a:prstDash val="solid"/>
                    </a:lnB>
                  </a:tcPr>
                </a:tc>
                <a:tc>
                  <a:txBody>
                    <a:bodyPr/>
                    <a:lstStyle/>
                    <a:p>
                      <a:pPr algn="ctr" marL="1270">
                        <a:lnSpc>
                          <a:spcPct val="100000"/>
                        </a:lnSpc>
                        <a:spcBef>
                          <a:spcPts val="350"/>
                        </a:spcBef>
                      </a:pPr>
                      <a:r>
                        <a:rPr dirty="0" sz="2000" spc="-10" b="1">
                          <a:solidFill>
                            <a:srgbClr val="E14B04"/>
                          </a:solidFill>
                          <a:latin typeface="宋体"/>
                          <a:cs typeface="宋体"/>
                        </a:rPr>
                        <a:t>指令 </a:t>
                      </a:r>
                      <a:r>
                        <a:rPr dirty="0" sz="2000" spc="-25" b="1">
                          <a:solidFill>
                            <a:srgbClr val="E14B04"/>
                          </a:solidFill>
                          <a:latin typeface="宋体"/>
                          <a:cs typeface="宋体"/>
                        </a:rPr>
                        <a:t>i+4</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marL="2540">
                        <a:lnSpc>
                          <a:spcPct val="100000"/>
                        </a:lnSpc>
                        <a:spcBef>
                          <a:spcPts val="350"/>
                        </a:spcBef>
                      </a:pPr>
                      <a:r>
                        <a:rPr dirty="0" sz="2000" spc="-25" b="1">
                          <a:solidFill>
                            <a:srgbClr val="40458B"/>
                          </a:solidFill>
                          <a:latin typeface="宋体"/>
                          <a:cs typeface="宋体"/>
                        </a:rPr>
                        <a:t>IF</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marL="2540">
                        <a:lnSpc>
                          <a:spcPct val="100000"/>
                        </a:lnSpc>
                        <a:spcBef>
                          <a:spcPts val="350"/>
                        </a:spcBef>
                      </a:pPr>
                      <a:r>
                        <a:rPr dirty="0" sz="2000" spc="-25" b="1">
                          <a:solidFill>
                            <a:srgbClr val="40458B"/>
                          </a:solidFill>
                          <a:latin typeface="宋体"/>
                          <a:cs typeface="宋体"/>
                        </a:rPr>
                        <a:t>ID</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marL="3175">
                        <a:lnSpc>
                          <a:spcPct val="100000"/>
                        </a:lnSpc>
                        <a:spcBef>
                          <a:spcPts val="350"/>
                        </a:spcBef>
                      </a:pPr>
                      <a:r>
                        <a:rPr dirty="0" sz="2000" spc="-25" b="1">
                          <a:solidFill>
                            <a:srgbClr val="40458B"/>
                          </a:solidFill>
                          <a:latin typeface="宋体"/>
                          <a:cs typeface="宋体"/>
                        </a:rPr>
                        <a:t>EX</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marL="2540">
                        <a:lnSpc>
                          <a:spcPct val="100000"/>
                        </a:lnSpc>
                        <a:spcBef>
                          <a:spcPts val="350"/>
                        </a:spcBef>
                      </a:pPr>
                      <a:r>
                        <a:rPr dirty="0" sz="2000" spc="-25" b="1">
                          <a:solidFill>
                            <a:srgbClr val="40458B"/>
                          </a:solidFill>
                          <a:latin typeface="宋体"/>
                          <a:cs typeface="宋体"/>
                        </a:rPr>
                        <a:t>MEM</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169545">
                        <a:lnSpc>
                          <a:spcPct val="100000"/>
                        </a:lnSpc>
                        <a:spcBef>
                          <a:spcPts val="350"/>
                        </a:spcBef>
                      </a:pPr>
                      <a:r>
                        <a:rPr dirty="0" sz="2000" spc="-25" b="1">
                          <a:solidFill>
                            <a:srgbClr val="40458B"/>
                          </a:solidFill>
                          <a:latin typeface="宋体"/>
                          <a:cs typeface="宋体"/>
                        </a:rPr>
                        <a:t>WB</a:t>
                      </a:r>
                      <a:endParaRPr sz="2000">
                        <a:latin typeface="宋体"/>
                        <a:cs typeface="宋体"/>
                      </a:endParaRPr>
                    </a:p>
                  </a:txBody>
                  <a:tcPr marL="0" marR="0" marB="0" marT="44450">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tcPr>
                </a:tc>
              </a:tr>
            </a:tbl>
          </a:graphicData>
        </a:graphic>
      </p:graphicFrame>
      <p:sp>
        <p:nvSpPr>
          <p:cNvPr id="11" name="object 11" descr=""/>
          <p:cNvSpPr txBox="1"/>
          <p:nvPr/>
        </p:nvSpPr>
        <p:spPr>
          <a:xfrm>
            <a:off x="5273802" y="733171"/>
            <a:ext cx="4168140" cy="299720"/>
          </a:xfrm>
          <a:prstGeom prst="rect">
            <a:avLst/>
          </a:prstGeom>
        </p:spPr>
        <p:txBody>
          <a:bodyPr wrap="square" lIns="0" tIns="12700" rIns="0" bIns="0" rtlCol="0" vert="horz">
            <a:spAutoFit/>
          </a:bodyPr>
          <a:lstStyle/>
          <a:p>
            <a:pPr marL="12700">
              <a:lnSpc>
                <a:spcPct val="100000"/>
              </a:lnSpc>
              <a:spcBef>
                <a:spcPts val="100"/>
              </a:spcBef>
            </a:pPr>
            <a:r>
              <a:rPr dirty="0" sz="1800" spc="-15" b="1">
                <a:solidFill>
                  <a:srgbClr val="E14B04"/>
                </a:solidFill>
                <a:latin typeface="黑体"/>
                <a:cs typeface="黑体"/>
              </a:rPr>
              <a:t>具有一个分支延迟槽的流水线的执行过程</a:t>
            </a:r>
            <a:endParaRPr sz="1800">
              <a:latin typeface="黑体"/>
              <a:cs typeface="黑体"/>
            </a:endParaRPr>
          </a:p>
        </p:txBody>
      </p:sp>
      <p:sp>
        <p:nvSpPr>
          <p:cNvPr id="12" name="object 12" descr=""/>
          <p:cNvSpPr txBox="1"/>
          <p:nvPr/>
        </p:nvSpPr>
        <p:spPr>
          <a:xfrm>
            <a:off x="4087748" y="6090920"/>
            <a:ext cx="7439025" cy="330835"/>
          </a:xfrm>
          <a:prstGeom prst="rect">
            <a:avLst/>
          </a:prstGeom>
        </p:spPr>
        <p:txBody>
          <a:bodyPr wrap="square" lIns="0" tIns="12700" rIns="0" bIns="0" rtlCol="0" vert="horz">
            <a:spAutoFit/>
          </a:bodyPr>
          <a:lstStyle/>
          <a:p>
            <a:pPr marL="12700">
              <a:lnSpc>
                <a:spcPct val="100000"/>
              </a:lnSpc>
              <a:spcBef>
                <a:spcPts val="100"/>
              </a:spcBef>
            </a:pPr>
            <a:r>
              <a:rPr dirty="0" sz="2000" spc="-25" b="1">
                <a:solidFill>
                  <a:srgbClr val="080808"/>
                </a:solidFill>
                <a:latin typeface="宋体"/>
                <a:cs typeface="宋体"/>
              </a:rPr>
              <a:t>分支延迟槽中的指令“掩盖”了流水线原来必需插入的暂停周期。</a:t>
            </a:r>
            <a:endParaRPr sz="2000">
              <a:latin typeface="宋体"/>
              <a:cs typeface="宋体"/>
            </a:endParaRPr>
          </a:p>
        </p:txBody>
      </p:sp>
      <p:sp>
        <p:nvSpPr>
          <p:cNvPr id="13" name="object 13"/>
          <p:cNvSpPr txBox="1">
            <a:spLocks noGrp="1"/>
          </p:cNvSpPr>
          <p:nvPr>
            <p:ph type="title"/>
          </p:nvPr>
        </p:nvSpPr>
        <p:spPr>
          <a:xfrm>
            <a:off x="2865247" y="107696"/>
            <a:ext cx="7340600" cy="391160"/>
          </a:xfrm>
          <a:prstGeom prst="rect"/>
        </p:spPr>
        <p:txBody>
          <a:bodyPr wrap="square" lIns="0" tIns="12700" rIns="0" bIns="0" rtlCol="0" vert="horz">
            <a:spAutoFit/>
          </a:bodyPr>
          <a:lstStyle/>
          <a:p>
            <a:pPr marL="12700">
              <a:lnSpc>
                <a:spcPct val="100000"/>
              </a:lnSpc>
              <a:spcBef>
                <a:spcPts val="100"/>
              </a:spcBef>
            </a:pPr>
            <a:r>
              <a:rPr dirty="0" u="none" sz="2400" spc="-5">
                <a:solidFill>
                  <a:srgbClr val="FF09FF"/>
                </a:solidFill>
              </a:rPr>
              <a:t>无论分支是否成功，都要按顺序执行延迟槽中的指令。</a:t>
            </a:r>
            <a:endParaRPr sz="2400"/>
          </a:p>
        </p:txBody>
      </p:sp>
      <p:sp>
        <p:nvSpPr>
          <p:cNvPr id="14" name="object 14" descr=""/>
          <p:cNvSpPr txBox="1"/>
          <p:nvPr/>
        </p:nvSpPr>
        <p:spPr>
          <a:xfrm>
            <a:off x="78739" y="686511"/>
            <a:ext cx="3180715" cy="5504180"/>
          </a:xfrm>
          <a:prstGeom prst="rect">
            <a:avLst/>
          </a:prstGeom>
        </p:spPr>
        <p:txBody>
          <a:bodyPr wrap="square" lIns="0" tIns="12700" rIns="0" bIns="0" rtlCol="0" vert="horz">
            <a:spAutoFit/>
          </a:bodyPr>
          <a:lstStyle/>
          <a:p>
            <a:pPr marL="354965" indent="-342265">
              <a:lnSpc>
                <a:spcPct val="100000"/>
              </a:lnSpc>
              <a:spcBef>
                <a:spcPts val="100"/>
              </a:spcBef>
              <a:buClr>
                <a:srgbClr val="0000CC"/>
              </a:buClr>
              <a:buFont typeface="Wingdings"/>
              <a:buChar char=""/>
              <a:tabLst>
                <a:tab pos="354965" algn="l"/>
              </a:tabLst>
            </a:pPr>
            <a:r>
              <a:rPr dirty="0" sz="2400" spc="-15">
                <a:solidFill>
                  <a:srgbClr val="2C44A3"/>
                </a:solidFill>
                <a:latin typeface="黑体"/>
                <a:cs typeface="黑体"/>
              </a:rPr>
              <a:t>在分支指令开始进入</a:t>
            </a:r>
            <a:endParaRPr sz="2400">
              <a:latin typeface="黑体"/>
              <a:cs typeface="黑体"/>
            </a:endParaRPr>
          </a:p>
          <a:p>
            <a:pPr marL="355600">
              <a:lnSpc>
                <a:spcPct val="100000"/>
              </a:lnSpc>
              <a:spcBef>
                <a:spcPts val="5"/>
              </a:spcBef>
            </a:pPr>
            <a:r>
              <a:rPr dirty="0" sz="2400" spc="-10">
                <a:solidFill>
                  <a:srgbClr val="2C44A3"/>
                </a:solidFill>
                <a:latin typeface="黑体"/>
                <a:cs typeface="黑体"/>
              </a:rPr>
              <a:t>流水的第二个阶段时</a:t>
            </a:r>
            <a:endParaRPr sz="2400">
              <a:latin typeface="黑体"/>
              <a:cs typeface="黑体"/>
            </a:endParaRPr>
          </a:p>
          <a:p>
            <a:pPr marL="355600" marR="5080">
              <a:lnSpc>
                <a:spcPct val="99200"/>
              </a:lnSpc>
              <a:spcBef>
                <a:spcPts val="20"/>
              </a:spcBef>
            </a:pPr>
            <a:r>
              <a:rPr dirty="0" sz="2400" spc="-10">
                <a:solidFill>
                  <a:srgbClr val="2C44A3"/>
                </a:solidFill>
                <a:latin typeface="黑体"/>
                <a:cs typeface="黑体"/>
              </a:rPr>
              <a:t>，它的下一条指令也</a:t>
            </a:r>
            <a:r>
              <a:rPr dirty="0" sz="2400" spc="-80">
                <a:solidFill>
                  <a:srgbClr val="2C44A3"/>
                </a:solidFill>
                <a:latin typeface="黑体"/>
                <a:cs typeface="黑体"/>
              </a:rPr>
              <a:t>开始。 而一般是否跳</a:t>
            </a:r>
            <a:r>
              <a:rPr dirty="0" sz="2400" spc="-15">
                <a:solidFill>
                  <a:srgbClr val="2C44A3"/>
                </a:solidFill>
                <a:latin typeface="黑体"/>
                <a:cs typeface="黑体"/>
              </a:rPr>
              <a:t>转以及跳转的目标地</a:t>
            </a:r>
            <a:r>
              <a:rPr dirty="0" sz="2400">
                <a:solidFill>
                  <a:srgbClr val="2C44A3"/>
                </a:solidFill>
                <a:latin typeface="黑体"/>
                <a:cs typeface="黑体"/>
              </a:rPr>
              <a:t>址的获取都是在</a:t>
            </a:r>
            <a:r>
              <a:rPr dirty="0" sz="2400" spc="-25">
                <a:solidFill>
                  <a:srgbClr val="2C44A3"/>
                </a:solidFill>
                <a:latin typeface="Calibri"/>
                <a:cs typeface="Calibri"/>
              </a:rPr>
              <a:t>ALU</a:t>
            </a:r>
            <a:r>
              <a:rPr dirty="0" sz="2400" spc="-10">
                <a:solidFill>
                  <a:srgbClr val="2C44A3"/>
                </a:solidFill>
                <a:latin typeface="黑体"/>
                <a:cs typeface="黑体"/>
              </a:rPr>
              <a:t>阶段开始在决定了，</a:t>
            </a:r>
            <a:r>
              <a:rPr dirty="0" sz="2400" spc="-15">
                <a:solidFill>
                  <a:srgbClr val="2C44A3"/>
                </a:solidFill>
                <a:latin typeface="黑体"/>
                <a:cs typeface="黑体"/>
              </a:rPr>
              <a:t>而在这时刚好来得及</a:t>
            </a:r>
            <a:r>
              <a:rPr dirty="0" sz="2400" spc="-10">
                <a:solidFill>
                  <a:srgbClr val="2C44A3"/>
                </a:solidFill>
                <a:latin typeface="黑体"/>
                <a:cs typeface="黑体"/>
              </a:rPr>
              <a:t>获取目标地址是下下条指令，而不是下一</a:t>
            </a:r>
            <a:r>
              <a:rPr dirty="0" sz="2400" spc="-15">
                <a:solidFill>
                  <a:srgbClr val="2C44A3"/>
                </a:solidFill>
                <a:latin typeface="黑体"/>
                <a:cs typeface="黑体"/>
              </a:rPr>
              <a:t>条指令。</a:t>
            </a:r>
            <a:endParaRPr sz="2400">
              <a:latin typeface="黑体"/>
              <a:cs typeface="黑体"/>
            </a:endParaRPr>
          </a:p>
          <a:p>
            <a:pPr marL="355600" marR="5080" indent="-342900">
              <a:lnSpc>
                <a:spcPct val="100000"/>
              </a:lnSpc>
              <a:buFont typeface="Wingdings"/>
              <a:buChar char=""/>
              <a:tabLst>
                <a:tab pos="355600" algn="l"/>
                <a:tab pos="492125" algn="l"/>
              </a:tabLst>
            </a:pPr>
            <a:r>
              <a:rPr dirty="0" sz="2400">
                <a:solidFill>
                  <a:srgbClr val="0000CC"/>
                </a:solidFill>
                <a:latin typeface="Times New Roman"/>
                <a:cs typeface="Times New Roman"/>
              </a:rPr>
              <a:t>	</a:t>
            </a:r>
            <a:r>
              <a:rPr dirty="0" sz="2400" spc="-20">
                <a:solidFill>
                  <a:srgbClr val="2C44A3"/>
                </a:solidFill>
                <a:latin typeface="黑体"/>
                <a:cs typeface="黑体"/>
              </a:rPr>
              <a:t>为了利用这一点，</a:t>
            </a:r>
            <a:r>
              <a:rPr dirty="0" sz="2400" spc="-50">
                <a:solidFill>
                  <a:srgbClr val="2C44A3"/>
                </a:solidFill>
                <a:latin typeface="黑体"/>
                <a:cs typeface="黑体"/>
              </a:rPr>
              <a:t> </a:t>
            </a:r>
            <a:r>
              <a:rPr dirty="0" u="sng" sz="2400" spc="-10">
                <a:solidFill>
                  <a:srgbClr val="4668F5"/>
                </a:solidFill>
                <a:uFill>
                  <a:solidFill>
                    <a:srgbClr val="4668F5"/>
                  </a:solidFill>
                </a:uFill>
                <a:latin typeface="Calibri"/>
                <a:cs typeface="Calibri"/>
                <a:hlinkClick r:id="rId3"/>
              </a:rPr>
              <a:t>MIPS</a:t>
            </a:r>
            <a:r>
              <a:rPr dirty="0" u="none" sz="2400" spc="-10">
                <a:solidFill>
                  <a:srgbClr val="2C44A3"/>
                </a:solidFill>
                <a:latin typeface="黑体"/>
                <a:cs typeface="黑体"/>
              </a:rPr>
              <a:t>规定，分支指令</a:t>
            </a:r>
            <a:r>
              <a:rPr dirty="0" u="none" sz="2400" spc="45">
                <a:solidFill>
                  <a:srgbClr val="2C44A3"/>
                </a:solidFill>
                <a:latin typeface="黑体"/>
                <a:cs typeface="黑体"/>
              </a:rPr>
              <a:t>之后的指令总是在分</a:t>
            </a:r>
            <a:endParaRPr sz="2400">
              <a:latin typeface="黑体"/>
              <a:cs typeface="黑体"/>
            </a:endParaRPr>
          </a:p>
          <a:p>
            <a:pPr marL="355600">
              <a:lnSpc>
                <a:spcPct val="100000"/>
              </a:lnSpc>
              <a:spcBef>
                <a:spcPts val="110"/>
              </a:spcBef>
            </a:pPr>
            <a:r>
              <a:rPr dirty="0" sz="2400" spc="-10">
                <a:solidFill>
                  <a:srgbClr val="2C44A3"/>
                </a:solidFill>
                <a:latin typeface="黑体"/>
                <a:cs typeface="黑体"/>
              </a:rPr>
              <a:t>支目标指令之前执行</a:t>
            </a:r>
            <a:endParaRPr sz="2400">
              <a:latin typeface="黑体"/>
              <a:cs typeface="黑体"/>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10/89</a:t>
            </a:r>
            <a:endParaRPr baseline="1736" sz="2400">
              <a:latin typeface="宋体"/>
              <a:cs typeface="宋体"/>
            </a:endParaRPr>
          </a:p>
        </p:txBody>
      </p:sp>
      <p:sp>
        <p:nvSpPr>
          <p:cNvPr id="3" name="object 3"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4" name="object 4" descr=""/>
          <p:cNvSpPr txBox="1"/>
          <p:nvPr/>
        </p:nvSpPr>
        <p:spPr>
          <a:xfrm>
            <a:off x="1350391" y="1527428"/>
            <a:ext cx="9037320" cy="422275"/>
          </a:xfrm>
          <a:prstGeom prst="rect">
            <a:avLst/>
          </a:prstGeom>
        </p:spPr>
        <p:txBody>
          <a:bodyPr wrap="square" lIns="0" tIns="13335" rIns="0" bIns="0" rtlCol="0" vert="horz">
            <a:spAutoFit/>
          </a:bodyPr>
          <a:lstStyle/>
          <a:p>
            <a:pPr marL="12700">
              <a:lnSpc>
                <a:spcPct val="100000"/>
              </a:lnSpc>
              <a:spcBef>
                <a:spcPts val="105"/>
              </a:spcBef>
            </a:pPr>
            <a:r>
              <a:rPr dirty="0" sz="2600" spc="-10">
                <a:latin typeface="微软雅黑"/>
                <a:cs typeface="微软雅黑"/>
              </a:rPr>
              <a:t>编译时指令调度 </a:t>
            </a:r>
            <a:r>
              <a:rPr dirty="0" sz="2600" spc="-5">
                <a:solidFill>
                  <a:srgbClr val="629EF4"/>
                </a:solidFill>
                <a:latin typeface="微软雅黑"/>
                <a:cs typeface="微软雅黑"/>
              </a:rPr>
              <a:t>[填空</a:t>
            </a:r>
            <a:r>
              <a:rPr dirty="0" sz="2600">
                <a:solidFill>
                  <a:srgbClr val="629EF4"/>
                </a:solidFill>
                <a:latin typeface="微软雅黑"/>
                <a:cs typeface="微软雅黑"/>
              </a:rPr>
              <a:t>1</a:t>
            </a:r>
            <a:r>
              <a:rPr dirty="0" sz="2600" spc="-5">
                <a:solidFill>
                  <a:srgbClr val="629EF4"/>
                </a:solidFill>
                <a:latin typeface="微软雅黑"/>
                <a:cs typeface="微软雅黑"/>
              </a:rPr>
              <a:t>] </a:t>
            </a:r>
            <a:r>
              <a:rPr dirty="0" sz="2600">
                <a:latin typeface="微软雅黑"/>
                <a:cs typeface="微软雅黑"/>
              </a:rPr>
              <a:t>（会/不会）</a:t>
            </a:r>
            <a:r>
              <a:rPr dirty="0" sz="2600" spc="-15">
                <a:latin typeface="微软雅黑"/>
                <a:cs typeface="微软雅黑"/>
              </a:rPr>
              <a:t>真正消除指令间的相关。</a:t>
            </a:r>
            <a:endParaRPr sz="2600">
              <a:latin typeface="微软雅黑"/>
              <a:cs typeface="微软雅黑"/>
            </a:endParaRPr>
          </a:p>
        </p:txBody>
      </p:sp>
      <p:grpSp>
        <p:nvGrpSpPr>
          <p:cNvPr id="5" name="object 5" descr=""/>
          <p:cNvGrpSpPr/>
          <p:nvPr/>
        </p:nvGrpSpPr>
        <p:grpSpPr>
          <a:xfrm>
            <a:off x="8453501" y="4202176"/>
            <a:ext cx="1581150" cy="449580"/>
            <a:chOff x="8453501" y="4202176"/>
            <a:chExt cx="1581150" cy="449580"/>
          </a:xfrm>
        </p:grpSpPr>
        <p:sp>
          <p:nvSpPr>
            <p:cNvPr id="6" name="object 6" descr=""/>
            <p:cNvSpPr/>
            <p:nvPr/>
          </p:nvSpPr>
          <p:spPr>
            <a:xfrm>
              <a:off x="8472551" y="4221226"/>
              <a:ext cx="1543050" cy="411480"/>
            </a:xfrm>
            <a:custGeom>
              <a:avLst/>
              <a:gdLst/>
              <a:ahLst/>
              <a:cxnLst/>
              <a:rect l="l" t="t" r="r" b="b"/>
              <a:pathLst>
                <a:path w="1543050" h="411479">
                  <a:moveTo>
                    <a:pt x="1474470" y="0"/>
                  </a:moveTo>
                  <a:lnTo>
                    <a:pt x="68452" y="0"/>
                  </a:lnTo>
                  <a:lnTo>
                    <a:pt x="41790" y="5373"/>
                  </a:lnTo>
                  <a:lnTo>
                    <a:pt x="20034" y="20034"/>
                  </a:lnTo>
                  <a:lnTo>
                    <a:pt x="5373" y="41790"/>
                  </a:lnTo>
                  <a:lnTo>
                    <a:pt x="0" y="68453"/>
                  </a:lnTo>
                  <a:lnTo>
                    <a:pt x="0" y="342519"/>
                  </a:lnTo>
                  <a:lnTo>
                    <a:pt x="5373" y="369200"/>
                  </a:lnTo>
                  <a:lnTo>
                    <a:pt x="20034" y="391001"/>
                  </a:lnTo>
                  <a:lnTo>
                    <a:pt x="41790" y="405705"/>
                  </a:lnTo>
                  <a:lnTo>
                    <a:pt x="68452" y="411099"/>
                  </a:lnTo>
                  <a:lnTo>
                    <a:pt x="1474470" y="411099"/>
                  </a:lnTo>
                  <a:lnTo>
                    <a:pt x="1501151" y="405705"/>
                  </a:lnTo>
                  <a:lnTo>
                    <a:pt x="1522952" y="391001"/>
                  </a:lnTo>
                  <a:lnTo>
                    <a:pt x="1537656" y="369200"/>
                  </a:lnTo>
                  <a:lnTo>
                    <a:pt x="1543050" y="342519"/>
                  </a:lnTo>
                  <a:lnTo>
                    <a:pt x="1543050" y="68453"/>
                  </a:lnTo>
                  <a:lnTo>
                    <a:pt x="1537656" y="41790"/>
                  </a:lnTo>
                  <a:lnTo>
                    <a:pt x="1522952" y="20034"/>
                  </a:lnTo>
                  <a:lnTo>
                    <a:pt x="1501151" y="5373"/>
                  </a:lnTo>
                  <a:lnTo>
                    <a:pt x="1474470" y="0"/>
                  </a:lnTo>
                  <a:close/>
                </a:path>
              </a:pathLst>
            </a:custGeom>
            <a:solidFill>
              <a:srgbClr val="808080"/>
            </a:solidFill>
          </p:spPr>
          <p:txBody>
            <a:bodyPr wrap="square" lIns="0" tIns="0" rIns="0" bIns="0" rtlCol="0"/>
            <a:lstStyle/>
            <a:p/>
          </p:txBody>
        </p:sp>
        <p:sp>
          <p:nvSpPr>
            <p:cNvPr id="7" name="object 7" descr=""/>
            <p:cNvSpPr/>
            <p:nvPr/>
          </p:nvSpPr>
          <p:spPr>
            <a:xfrm>
              <a:off x="8472551" y="4221226"/>
              <a:ext cx="1543050" cy="411480"/>
            </a:xfrm>
            <a:custGeom>
              <a:avLst/>
              <a:gdLst/>
              <a:ahLst/>
              <a:cxnLst/>
              <a:rect l="l" t="t" r="r" b="b"/>
              <a:pathLst>
                <a:path w="1543050" h="411479">
                  <a:moveTo>
                    <a:pt x="0" y="68453"/>
                  </a:moveTo>
                  <a:lnTo>
                    <a:pt x="5373" y="41790"/>
                  </a:lnTo>
                  <a:lnTo>
                    <a:pt x="20034" y="20034"/>
                  </a:lnTo>
                  <a:lnTo>
                    <a:pt x="41790" y="5373"/>
                  </a:lnTo>
                  <a:lnTo>
                    <a:pt x="68452" y="0"/>
                  </a:lnTo>
                  <a:lnTo>
                    <a:pt x="1474470" y="0"/>
                  </a:lnTo>
                  <a:lnTo>
                    <a:pt x="1501151" y="5373"/>
                  </a:lnTo>
                  <a:lnTo>
                    <a:pt x="1522952" y="20034"/>
                  </a:lnTo>
                  <a:lnTo>
                    <a:pt x="1537656" y="41790"/>
                  </a:lnTo>
                  <a:lnTo>
                    <a:pt x="1543050" y="68453"/>
                  </a:lnTo>
                  <a:lnTo>
                    <a:pt x="1543050" y="342519"/>
                  </a:lnTo>
                  <a:lnTo>
                    <a:pt x="1537656" y="369200"/>
                  </a:lnTo>
                  <a:lnTo>
                    <a:pt x="1522952" y="391001"/>
                  </a:lnTo>
                  <a:lnTo>
                    <a:pt x="1501151" y="405705"/>
                  </a:lnTo>
                  <a:lnTo>
                    <a:pt x="1474470" y="411099"/>
                  </a:lnTo>
                  <a:lnTo>
                    <a:pt x="68452" y="411099"/>
                  </a:lnTo>
                  <a:lnTo>
                    <a:pt x="41790" y="405705"/>
                  </a:lnTo>
                  <a:lnTo>
                    <a:pt x="20034" y="391001"/>
                  </a:lnTo>
                  <a:lnTo>
                    <a:pt x="5373" y="369200"/>
                  </a:lnTo>
                  <a:lnTo>
                    <a:pt x="0" y="342519"/>
                  </a:lnTo>
                  <a:lnTo>
                    <a:pt x="0" y="68453"/>
                  </a:lnTo>
                  <a:close/>
                </a:path>
              </a:pathLst>
            </a:custGeom>
            <a:ln w="38100">
              <a:solidFill>
                <a:srgbClr val="000000"/>
              </a:solidFill>
            </a:ln>
          </p:spPr>
          <p:txBody>
            <a:bodyPr wrap="square" lIns="0" tIns="0" rIns="0" bIns="0" rtlCol="0"/>
            <a:lstStyle/>
            <a:p/>
          </p:txBody>
        </p:sp>
      </p:grpSp>
      <p:sp>
        <p:nvSpPr>
          <p:cNvPr id="8" name="object 8" descr=""/>
          <p:cNvSpPr txBox="1"/>
          <p:nvPr/>
        </p:nvSpPr>
        <p:spPr>
          <a:xfrm>
            <a:off x="9029192" y="4285615"/>
            <a:ext cx="431165" cy="269240"/>
          </a:xfrm>
          <a:prstGeom prst="rect">
            <a:avLst/>
          </a:prstGeom>
        </p:spPr>
        <p:txBody>
          <a:bodyPr wrap="square" lIns="0" tIns="12065" rIns="0" bIns="0" rtlCol="0" vert="horz">
            <a:spAutoFit/>
          </a:bodyPr>
          <a:lstStyle/>
          <a:p>
            <a:pPr marL="12700">
              <a:lnSpc>
                <a:spcPct val="100000"/>
              </a:lnSpc>
              <a:spcBef>
                <a:spcPts val="95"/>
              </a:spcBef>
            </a:pPr>
            <a:r>
              <a:rPr dirty="0" sz="1600" spc="-40">
                <a:solidFill>
                  <a:srgbClr val="FFFFFF"/>
                </a:solidFill>
                <a:latin typeface="微软雅黑"/>
                <a:cs typeface="微软雅黑"/>
              </a:rPr>
              <a:t>作答</a:t>
            </a:r>
            <a:endParaRPr sz="1600">
              <a:latin typeface="微软雅黑"/>
              <a:cs typeface="微软雅黑"/>
            </a:endParaRPr>
          </a:p>
        </p:txBody>
      </p:sp>
      <p:grpSp>
        <p:nvGrpSpPr>
          <p:cNvPr id="9" name="object 9" descr=""/>
          <p:cNvGrpSpPr/>
          <p:nvPr/>
        </p:nvGrpSpPr>
        <p:grpSpPr>
          <a:xfrm>
            <a:off x="0" y="0"/>
            <a:ext cx="12192000" cy="635000"/>
            <a:chOff x="0" y="0"/>
            <a:chExt cx="12192000" cy="635000"/>
          </a:xfrm>
        </p:grpSpPr>
        <p:sp>
          <p:nvSpPr>
            <p:cNvPr id="10" name="object 10" descr=""/>
            <p:cNvSpPr/>
            <p:nvPr/>
          </p:nvSpPr>
          <p:spPr>
            <a:xfrm>
              <a:off x="190500" y="0"/>
              <a:ext cx="12001500" cy="635000"/>
            </a:xfrm>
            <a:custGeom>
              <a:avLst/>
              <a:gdLst/>
              <a:ahLst/>
              <a:cxnLst/>
              <a:rect l="l" t="t" r="r" b="b"/>
              <a:pathLst>
                <a:path w="12001500" h="635000">
                  <a:moveTo>
                    <a:pt x="0" y="635000"/>
                  </a:moveTo>
                  <a:lnTo>
                    <a:pt x="12001500" y="635000"/>
                  </a:lnTo>
                  <a:lnTo>
                    <a:pt x="12001500" y="0"/>
                  </a:lnTo>
                  <a:lnTo>
                    <a:pt x="0" y="0"/>
                  </a:lnTo>
                  <a:lnTo>
                    <a:pt x="0" y="635000"/>
                  </a:lnTo>
                  <a:close/>
                </a:path>
              </a:pathLst>
            </a:custGeom>
            <a:solidFill>
              <a:srgbClr val="F6F7F8"/>
            </a:solidFill>
          </p:spPr>
          <p:txBody>
            <a:bodyPr wrap="square" lIns="0" tIns="0" rIns="0" bIns="0" rtlCol="0"/>
            <a:lstStyle/>
            <a:p/>
          </p:txBody>
        </p:sp>
        <p:sp>
          <p:nvSpPr>
            <p:cNvPr id="11" name="object 11" descr=""/>
            <p:cNvSpPr/>
            <p:nvPr/>
          </p:nvSpPr>
          <p:spPr>
            <a:xfrm>
              <a:off x="0" y="0"/>
              <a:ext cx="190500" cy="635000"/>
            </a:xfrm>
            <a:custGeom>
              <a:avLst/>
              <a:gdLst/>
              <a:ahLst/>
              <a:cxnLst/>
              <a:rect l="l" t="t" r="r" b="b"/>
              <a:pathLst>
                <a:path w="190500" h="635000">
                  <a:moveTo>
                    <a:pt x="190500" y="0"/>
                  </a:moveTo>
                  <a:lnTo>
                    <a:pt x="0" y="0"/>
                  </a:lnTo>
                  <a:lnTo>
                    <a:pt x="0" y="635000"/>
                  </a:lnTo>
                  <a:lnTo>
                    <a:pt x="190500" y="635000"/>
                  </a:lnTo>
                  <a:lnTo>
                    <a:pt x="190500" y="0"/>
                  </a:lnTo>
                  <a:close/>
                </a:path>
              </a:pathLst>
            </a:custGeom>
            <a:solidFill>
              <a:srgbClr val="629EF4"/>
            </a:solidFill>
          </p:spPr>
          <p:txBody>
            <a:bodyPr wrap="square" lIns="0" tIns="0" rIns="0" bIns="0" rtlCol="0"/>
            <a:lstStyle/>
            <a:p/>
          </p:txBody>
        </p:sp>
      </p:grpSp>
      <p:sp>
        <p:nvSpPr>
          <p:cNvPr id="12" name="object 12" descr=""/>
          <p:cNvSpPr txBox="1"/>
          <p:nvPr/>
        </p:nvSpPr>
        <p:spPr>
          <a:xfrm>
            <a:off x="332943" y="93090"/>
            <a:ext cx="1017905" cy="422275"/>
          </a:xfrm>
          <a:prstGeom prst="rect">
            <a:avLst/>
          </a:prstGeom>
        </p:spPr>
        <p:txBody>
          <a:bodyPr wrap="square" lIns="0" tIns="12700" rIns="0" bIns="0" rtlCol="0" vert="horz">
            <a:spAutoFit/>
          </a:bodyPr>
          <a:lstStyle/>
          <a:p>
            <a:pPr marL="12700">
              <a:lnSpc>
                <a:spcPct val="100000"/>
              </a:lnSpc>
              <a:spcBef>
                <a:spcPts val="100"/>
              </a:spcBef>
            </a:pPr>
            <a:r>
              <a:rPr dirty="0" sz="2600" spc="-20">
                <a:latin typeface="微软雅黑"/>
                <a:cs typeface="微软雅黑"/>
              </a:rPr>
              <a:t>填空题</a:t>
            </a:r>
            <a:endParaRPr sz="2600">
              <a:latin typeface="微软雅黑"/>
              <a:cs typeface="微软雅黑"/>
            </a:endParaRPr>
          </a:p>
        </p:txBody>
      </p:sp>
      <p:sp>
        <p:nvSpPr>
          <p:cNvPr id="13" name="object 13" descr=""/>
          <p:cNvSpPr txBox="1"/>
          <p:nvPr/>
        </p:nvSpPr>
        <p:spPr>
          <a:xfrm>
            <a:off x="1604899" y="187578"/>
            <a:ext cx="429259" cy="330835"/>
          </a:xfrm>
          <a:prstGeom prst="rect">
            <a:avLst/>
          </a:prstGeom>
        </p:spPr>
        <p:txBody>
          <a:bodyPr wrap="square" lIns="0" tIns="12700" rIns="0" bIns="0" rtlCol="0" vert="horz">
            <a:spAutoFit/>
          </a:bodyPr>
          <a:lstStyle/>
          <a:p>
            <a:pPr marL="12700">
              <a:lnSpc>
                <a:spcPct val="100000"/>
              </a:lnSpc>
              <a:spcBef>
                <a:spcPts val="100"/>
              </a:spcBef>
            </a:pPr>
            <a:r>
              <a:rPr dirty="0" sz="2000">
                <a:solidFill>
                  <a:srgbClr val="808080"/>
                </a:solidFill>
                <a:latin typeface="微软雅黑"/>
                <a:cs typeface="微软雅黑"/>
              </a:rPr>
              <a:t>1</a:t>
            </a:r>
            <a:r>
              <a:rPr dirty="0" sz="2000" spc="-50">
                <a:solidFill>
                  <a:srgbClr val="808080"/>
                </a:solidFill>
                <a:latin typeface="微软雅黑"/>
                <a:cs typeface="微软雅黑"/>
              </a:rPr>
              <a:t>分</a:t>
            </a:r>
            <a:endParaRPr sz="2000">
              <a:latin typeface="微软雅黑"/>
              <a:cs typeface="微软雅黑"/>
            </a:endParaRPr>
          </a:p>
        </p:txBody>
      </p:sp>
      <p:pic>
        <p:nvPicPr>
          <p:cNvPr id="14" name="object 14" descr=""/>
          <p:cNvPicPr/>
          <p:nvPr/>
        </p:nvPicPr>
        <p:blipFill>
          <a:blip r:embed="rId3" cstate="print"/>
          <a:stretch>
            <a:fillRect/>
          </a:stretch>
        </p:blipFill>
        <p:spPr>
          <a:xfrm>
            <a:off x="10642600" y="63500"/>
            <a:ext cx="1422400" cy="50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11/89</a:t>
            </a:r>
            <a:endParaRPr baseline="1736" sz="2400">
              <a:latin typeface="宋体"/>
              <a:cs typeface="宋体"/>
            </a:endParaRPr>
          </a:p>
        </p:txBody>
      </p:sp>
      <p:sp>
        <p:nvSpPr>
          <p:cNvPr id="3" name="object 3"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4" name="object 4" descr=""/>
          <p:cNvSpPr txBox="1"/>
          <p:nvPr/>
        </p:nvSpPr>
        <p:spPr>
          <a:xfrm>
            <a:off x="1285494" y="1931924"/>
            <a:ext cx="10356850" cy="1214755"/>
          </a:xfrm>
          <a:prstGeom prst="rect">
            <a:avLst/>
          </a:prstGeom>
        </p:spPr>
        <p:txBody>
          <a:bodyPr wrap="square" lIns="0" tIns="13335" rIns="0" bIns="0" rtlCol="0" vert="horz">
            <a:spAutoFit/>
          </a:bodyPr>
          <a:lstStyle/>
          <a:p>
            <a:pPr marL="12700">
              <a:lnSpc>
                <a:spcPct val="100000"/>
              </a:lnSpc>
              <a:spcBef>
                <a:spcPts val="105"/>
              </a:spcBef>
            </a:pPr>
            <a:r>
              <a:rPr dirty="0" sz="2600" spc="-5">
                <a:latin typeface="微软雅黑"/>
                <a:cs typeface="微软雅黑"/>
              </a:rPr>
              <a:t>编译时指令调度 </a:t>
            </a:r>
            <a:r>
              <a:rPr dirty="0" sz="2600" spc="-5">
                <a:solidFill>
                  <a:srgbClr val="629EF4"/>
                </a:solidFill>
                <a:latin typeface="微软雅黑"/>
                <a:cs typeface="微软雅黑"/>
              </a:rPr>
              <a:t>[填空</a:t>
            </a:r>
            <a:r>
              <a:rPr dirty="0" sz="2600">
                <a:solidFill>
                  <a:srgbClr val="629EF4"/>
                </a:solidFill>
                <a:latin typeface="微软雅黑"/>
                <a:cs typeface="微软雅黑"/>
              </a:rPr>
              <a:t>1</a:t>
            </a:r>
            <a:r>
              <a:rPr dirty="0" sz="2600" spc="-5">
                <a:solidFill>
                  <a:srgbClr val="629EF4"/>
                </a:solidFill>
                <a:latin typeface="微软雅黑"/>
                <a:cs typeface="微软雅黑"/>
              </a:rPr>
              <a:t>] </a:t>
            </a:r>
            <a:r>
              <a:rPr dirty="0" sz="2600">
                <a:latin typeface="微软雅黑"/>
                <a:cs typeface="微软雅黑"/>
              </a:rPr>
              <a:t>（能/不能）</a:t>
            </a:r>
            <a:r>
              <a:rPr dirty="0" sz="2600" spc="-20">
                <a:latin typeface="微软雅黑"/>
                <a:cs typeface="微软雅黑"/>
              </a:rPr>
              <a:t>跨越分支指令。调度到分支槽中的</a:t>
            </a:r>
            <a:endParaRPr sz="2600">
              <a:latin typeface="微软雅黑"/>
              <a:cs typeface="微软雅黑"/>
            </a:endParaRPr>
          </a:p>
          <a:p>
            <a:pPr marL="12700">
              <a:lnSpc>
                <a:spcPct val="100000"/>
              </a:lnSpc>
              <a:spcBef>
                <a:spcPts val="3115"/>
              </a:spcBef>
            </a:pPr>
            <a:r>
              <a:rPr dirty="0" sz="2600" spc="-5">
                <a:latin typeface="微软雅黑"/>
                <a:cs typeface="微软雅黑"/>
              </a:rPr>
              <a:t>指令 </a:t>
            </a:r>
            <a:r>
              <a:rPr dirty="0" sz="2600" spc="-5">
                <a:solidFill>
                  <a:srgbClr val="629EF4"/>
                </a:solidFill>
                <a:latin typeface="微软雅黑"/>
                <a:cs typeface="微软雅黑"/>
              </a:rPr>
              <a:t>[填空</a:t>
            </a:r>
            <a:r>
              <a:rPr dirty="0" sz="2600">
                <a:solidFill>
                  <a:srgbClr val="629EF4"/>
                </a:solidFill>
                <a:latin typeface="微软雅黑"/>
                <a:cs typeface="微软雅黑"/>
              </a:rPr>
              <a:t>2]</a:t>
            </a:r>
            <a:r>
              <a:rPr dirty="0" sz="2600" spc="-10">
                <a:solidFill>
                  <a:srgbClr val="629EF4"/>
                </a:solidFill>
                <a:latin typeface="微软雅黑"/>
                <a:cs typeface="微软雅黑"/>
              </a:rPr>
              <a:t> </a:t>
            </a:r>
            <a:r>
              <a:rPr dirty="0" sz="2600">
                <a:latin typeface="微软雅黑"/>
                <a:cs typeface="微软雅黑"/>
              </a:rPr>
              <a:t>（属于/不属于）</a:t>
            </a:r>
            <a:r>
              <a:rPr dirty="0" sz="2600" spc="-20">
                <a:latin typeface="微软雅黑"/>
                <a:cs typeface="微软雅黑"/>
              </a:rPr>
              <a:t>跨越分支指令的情况。</a:t>
            </a:r>
            <a:endParaRPr sz="2600">
              <a:latin typeface="微软雅黑"/>
              <a:cs typeface="微软雅黑"/>
            </a:endParaRPr>
          </a:p>
        </p:txBody>
      </p:sp>
      <p:grpSp>
        <p:nvGrpSpPr>
          <p:cNvPr id="5" name="object 5" descr=""/>
          <p:cNvGrpSpPr/>
          <p:nvPr/>
        </p:nvGrpSpPr>
        <p:grpSpPr>
          <a:xfrm>
            <a:off x="8453501" y="4202176"/>
            <a:ext cx="1581150" cy="449580"/>
            <a:chOff x="8453501" y="4202176"/>
            <a:chExt cx="1581150" cy="449580"/>
          </a:xfrm>
        </p:grpSpPr>
        <p:sp>
          <p:nvSpPr>
            <p:cNvPr id="6" name="object 6" descr=""/>
            <p:cNvSpPr/>
            <p:nvPr/>
          </p:nvSpPr>
          <p:spPr>
            <a:xfrm>
              <a:off x="8472551" y="4221226"/>
              <a:ext cx="1543050" cy="411480"/>
            </a:xfrm>
            <a:custGeom>
              <a:avLst/>
              <a:gdLst/>
              <a:ahLst/>
              <a:cxnLst/>
              <a:rect l="l" t="t" r="r" b="b"/>
              <a:pathLst>
                <a:path w="1543050" h="411479">
                  <a:moveTo>
                    <a:pt x="1474470" y="0"/>
                  </a:moveTo>
                  <a:lnTo>
                    <a:pt x="68452" y="0"/>
                  </a:lnTo>
                  <a:lnTo>
                    <a:pt x="41790" y="5373"/>
                  </a:lnTo>
                  <a:lnTo>
                    <a:pt x="20034" y="20034"/>
                  </a:lnTo>
                  <a:lnTo>
                    <a:pt x="5373" y="41790"/>
                  </a:lnTo>
                  <a:lnTo>
                    <a:pt x="0" y="68453"/>
                  </a:lnTo>
                  <a:lnTo>
                    <a:pt x="0" y="342519"/>
                  </a:lnTo>
                  <a:lnTo>
                    <a:pt x="5373" y="369200"/>
                  </a:lnTo>
                  <a:lnTo>
                    <a:pt x="20034" y="391001"/>
                  </a:lnTo>
                  <a:lnTo>
                    <a:pt x="41790" y="405705"/>
                  </a:lnTo>
                  <a:lnTo>
                    <a:pt x="68452" y="411099"/>
                  </a:lnTo>
                  <a:lnTo>
                    <a:pt x="1474470" y="411099"/>
                  </a:lnTo>
                  <a:lnTo>
                    <a:pt x="1501151" y="405705"/>
                  </a:lnTo>
                  <a:lnTo>
                    <a:pt x="1522952" y="391001"/>
                  </a:lnTo>
                  <a:lnTo>
                    <a:pt x="1537656" y="369200"/>
                  </a:lnTo>
                  <a:lnTo>
                    <a:pt x="1543050" y="342519"/>
                  </a:lnTo>
                  <a:lnTo>
                    <a:pt x="1543050" y="68453"/>
                  </a:lnTo>
                  <a:lnTo>
                    <a:pt x="1537656" y="41790"/>
                  </a:lnTo>
                  <a:lnTo>
                    <a:pt x="1522952" y="20034"/>
                  </a:lnTo>
                  <a:lnTo>
                    <a:pt x="1501151" y="5373"/>
                  </a:lnTo>
                  <a:lnTo>
                    <a:pt x="1474470" y="0"/>
                  </a:lnTo>
                  <a:close/>
                </a:path>
              </a:pathLst>
            </a:custGeom>
            <a:solidFill>
              <a:srgbClr val="808080"/>
            </a:solidFill>
          </p:spPr>
          <p:txBody>
            <a:bodyPr wrap="square" lIns="0" tIns="0" rIns="0" bIns="0" rtlCol="0"/>
            <a:lstStyle/>
            <a:p/>
          </p:txBody>
        </p:sp>
        <p:sp>
          <p:nvSpPr>
            <p:cNvPr id="7" name="object 7" descr=""/>
            <p:cNvSpPr/>
            <p:nvPr/>
          </p:nvSpPr>
          <p:spPr>
            <a:xfrm>
              <a:off x="8472551" y="4221226"/>
              <a:ext cx="1543050" cy="411480"/>
            </a:xfrm>
            <a:custGeom>
              <a:avLst/>
              <a:gdLst/>
              <a:ahLst/>
              <a:cxnLst/>
              <a:rect l="l" t="t" r="r" b="b"/>
              <a:pathLst>
                <a:path w="1543050" h="411479">
                  <a:moveTo>
                    <a:pt x="0" y="68453"/>
                  </a:moveTo>
                  <a:lnTo>
                    <a:pt x="5373" y="41790"/>
                  </a:lnTo>
                  <a:lnTo>
                    <a:pt x="20034" y="20034"/>
                  </a:lnTo>
                  <a:lnTo>
                    <a:pt x="41790" y="5373"/>
                  </a:lnTo>
                  <a:lnTo>
                    <a:pt x="68452" y="0"/>
                  </a:lnTo>
                  <a:lnTo>
                    <a:pt x="1474470" y="0"/>
                  </a:lnTo>
                  <a:lnTo>
                    <a:pt x="1501151" y="5373"/>
                  </a:lnTo>
                  <a:lnTo>
                    <a:pt x="1522952" y="20034"/>
                  </a:lnTo>
                  <a:lnTo>
                    <a:pt x="1537656" y="41790"/>
                  </a:lnTo>
                  <a:lnTo>
                    <a:pt x="1543050" y="68453"/>
                  </a:lnTo>
                  <a:lnTo>
                    <a:pt x="1543050" y="342519"/>
                  </a:lnTo>
                  <a:lnTo>
                    <a:pt x="1537656" y="369200"/>
                  </a:lnTo>
                  <a:lnTo>
                    <a:pt x="1522952" y="391001"/>
                  </a:lnTo>
                  <a:lnTo>
                    <a:pt x="1501151" y="405705"/>
                  </a:lnTo>
                  <a:lnTo>
                    <a:pt x="1474470" y="411099"/>
                  </a:lnTo>
                  <a:lnTo>
                    <a:pt x="68452" y="411099"/>
                  </a:lnTo>
                  <a:lnTo>
                    <a:pt x="41790" y="405705"/>
                  </a:lnTo>
                  <a:lnTo>
                    <a:pt x="20034" y="391001"/>
                  </a:lnTo>
                  <a:lnTo>
                    <a:pt x="5373" y="369200"/>
                  </a:lnTo>
                  <a:lnTo>
                    <a:pt x="0" y="342519"/>
                  </a:lnTo>
                  <a:lnTo>
                    <a:pt x="0" y="68453"/>
                  </a:lnTo>
                  <a:close/>
                </a:path>
              </a:pathLst>
            </a:custGeom>
            <a:ln w="38100">
              <a:solidFill>
                <a:srgbClr val="000000"/>
              </a:solidFill>
            </a:ln>
          </p:spPr>
          <p:txBody>
            <a:bodyPr wrap="square" lIns="0" tIns="0" rIns="0" bIns="0" rtlCol="0"/>
            <a:lstStyle/>
            <a:p/>
          </p:txBody>
        </p:sp>
      </p:grpSp>
      <p:sp>
        <p:nvSpPr>
          <p:cNvPr id="8" name="object 8" descr=""/>
          <p:cNvSpPr txBox="1"/>
          <p:nvPr/>
        </p:nvSpPr>
        <p:spPr>
          <a:xfrm>
            <a:off x="9029192" y="4285615"/>
            <a:ext cx="431165" cy="269240"/>
          </a:xfrm>
          <a:prstGeom prst="rect">
            <a:avLst/>
          </a:prstGeom>
        </p:spPr>
        <p:txBody>
          <a:bodyPr wrap="square" lIns="0" tIns="12065" rIns="0" bIns="0" rtlCol="0" vert="horz">
            <a:spAutoFit/>
          </a:bodyPr>
          <a:lstStyle/>
          <a:p>
            <a:pPr marL="12700">
              <a:lnSpc>
                <a:spcPct val="100000"/>
              </a:lnSpc>
              <a:spcBef>
                <a:spcPts val="95"/>
              </a:spcBef>
            </a:pPr>
            <a:r>
              <a:rPr dirty="0" sz="1600" spc="-40">
                <a:solidFill>
                  <a:srgbClr val="FFFFFF"/>
                </a:solidFill>
                <a:latin typeface="微软雅黑"/>
                <a:cs typeface="微软雅黑"/>
              </a:rPr>
              <a:t>作答</a:t>
            </a:r>
            <a:endParaRPr sz="1600">
              <a:latin typeface="微软雅黑"/>
              <a:cs typeface="微软雅黑"/>
            </a:endParaRPr>
          </a:p>
        </p:txBody>
      </p:sp>
      <p:grpSp>
        <p:nvGrpSpPr>
          <p:cNvPr id="9" name="object 9" descr=""/>
          <p:cNvGrpSpPr/>
          <p:nvPr/>
        </p:nvGrpSpPr>
        <p:grpSpPr>
          <a:xfrm>
            <a:off x="0" y="0"/>
            <a:ext cx="12192000" cy="635000"/>
            <a:chOff x="0" y="0"/>
            <a:chExt cx="12192000" cy="635000"/>
          </a:xfrm>
        </p:grpSpPr>
        <p:sp>
          <p:nvSpPr>
            <p:cNvPr id="10" name="object 10" descr=""/>
            <p:cNvSpPr/>
            <p:nvPr/>
          </p:nvSpPr>
          <p:spPr>
            <a:xfrm>
              <a:off x="190500" y="0"/>
              <a:ext cx="12001500" cy="635000"/>
            </a:xfrm>
            <a:custGeom>
              <a:avLst/>
              <a:gdLst/>
              <a:ahLst/>
              <a:cxnLst/>
              <a:rect l="l" t="t" r="r" b="b"/>
              <a:pathLst>
                <a:path w="12001500" h="635000">
                  <a:moveTo>
                    <a:pt x="0" y="635000"/>
                  </a:moveTo>
                  <a:lnTo>
                    <a:pt x="12001500" y="635000"/>
                  </a:lnTo>
                  <a:lnTo>
                    <a:pt x="12001500" y="0"/>
                  </a:lnTo>
                  <a:lnTo>
                    <a:pt x="0" y="0"/>
                  </a:lnTo>
                  <a:lnTo>
                    <a:pt x="0" y="635000"/>
                  </a:lnTo>
                  <a:close/>
                </a:path>
              </a:pathLst>
            </a:custGeom>
            <a:solidFill>
              <a:srgbClr val="F6F7F8"/>
            </a:solidFill>
          </p:spPr>
          <p:txBody>
            <a:bodyPr wrap="square" lIns="0" tIns="0" rIns="0" bIns="0" rtlCol="0"/>
            <a:lstStyle/>
            <a:p/>
          </p:txBody>
        </p:sp>
        <p:sp>
          <p:nvSpPr>
            <p:cNvPr id="11" name="object 11" descr=""/>
            <p:cNvSpPr/>
            <p:nvPr/>
          </p:nvSpPr>
          <p:spPr>
            <a:xfrm>
              <a:off x="0" y="0"/>
              <a:ext cx="190500" cy="635000"/>
            </a:xfrm>
            <a:custGeom>
              <a:avLst/>
              <a:gdLst/>
              <a:ahLst/>
              <a:cxnLst/>
              <a:rect l="l" t="t" r="r" b="b"/>
              <a:pathLst>
                <a:path w="190500" h="635000">
                  <a:moveTo>
                    <a:pt x="190500" y="0"/>
                  </a:moveTo>
                  <a:lnTo>
                    <a:pt x="0" y="0"/>
                  </a:lnTo>
                  <a:lnTo>
                    <a:pt x="0" y="635000"/>
                  </a:lnTo>
                  <a:lnTo>
                    <a:pt x="190500" y="635000"/>
                  </a:lnTo>
                  <a:lnTo>
                    <a:pt x="190500" y="0"/>
                  </a:lnTo>
                  <a:close/>
                </a:path>
              </a:pathLst>
            </a:custGeom>
            <a:solidFill>
              <a:srgbClr val="629EF4"/>
            </a:solidFill>
          </p:spPr>
          <p:txBody>
            <a:bodyPr wrap="square" lIns="0" tIns="0" rIns="0" bIns="0" rtlCol="0"/>
            <a:lstStyle/>
            <a:p/>
          </p:txBody>
        </p:sp>
      </p:grpSp>
      <p:sp>
        <p:nvSpPr>
          <p:cNvPr id="12" name="object 12" descr=""/>
          <p:cNvSpPr txBox="1"/>
          <p:nvPr/>
        </p:nvSpPr>
        <p:spPr>
          <a:xfrm>
            <a:off x="332943" y="93090"/>
            <a:ext cx="1017905" cy="422275"/>
          </a:xfrm>
          <a:prstGeom prst="rect">
            <a:avLst/>
          </a:prstGeom>
        </p:spPr>
        <p:txBody>
          <a:bodyPr wrap="square" lIns="0" tIns="12700" rIns="0" bIns="0" rtlCol="0" vert="horz">
            <a:spAutoFit/>
          </a:bodyPr>
          <a:lstStyle/>
          <a:p>
            <a:pPr marL="12700">
              <a:lnSpc>
                <a:spcPct val="100000"/>
              </a:lnSpc>
              <a:spcBef>
                <a:spcPts val="100"/>
              </a:spcBef>
            </a:pPr>
            <a:r>
              <a:rPr dirty="0" sz="2600" spc="-20">
                <a:latin typeface="微软雅黑"/>
                <a:cs typeface="微软雅黑"/>
              </a:rPr>
              <a:t>填空题</a:t>
            </a:r>
            <a:endParaRPr sz="2600">
              <a:latin typeface="微软雅黑"/>
              <a:cs typeface="微软雅黑"/>
            </a:endParaRPr>
          </a:p>
        </p:txBody>
      </p:sp>
      <p:sp>
        <p:nvSpPr>
          <p:cNvPr id="13" name="object 13" descr=""/>
          <p:cNvSpPr txBox="1"/>
          <p:nvPr/>
        </p:nvSpPr>
        <p:spPr>
          <a:xfrm>
            <a:off x="1604899" y="187578"/>
            <a:ext cx="429259" cy="330835"/>
          </a:xfrm>
          <a:prstGeom prst="rect">
            <a:avLst/>
          </a:prstGeom>
        </p:spPr>
        <p:txBody>
          <a:bodyPr wrap="square" lIns="0" tIns="12700" rIns="0" bIns="0" rtlCol="0" vert="horz">
            <a:spAutoFit/>
          </a:bodyPr>
          <a:lstStyle/>
          <a:p>
            <a:pPr marL="12700">
              <a:lnSpc>
                <a:spcPct val="100000"/>
              </a:lnSpc>
              <a:spcBef>
                <a:spcPts val="100"/>
              </a:spcBef>
            </a:pPr>
            <a:r>
              <a:rPr dirty="0" sz="2000">
                <a:solidFill>
                  <a:srgbClr val="808080"/>
                </a:solidFill>
                <a:latin typeface="微软雅黑"/>
                <a:cs typeface="微软雅黑"/>
              </a:rPr>
              <a:t>2</a:t>
            </a:r>
            <a:r>
              <a:rPr dirty="0" sz="2000" spc="-50">
                <a:solidFill>
                  <a:srgbClr val="808080"/>
                </a:solidFill>
                <a:latin typeface="微软雅黑"/>
                <a:cs typeface="微软雅黑"/>
              </a:rPr>
              <a:t>分</a:t>
            </a:r>
            <a:endParaRPr sz="2000">
              <a:latin typeface="微软雅黑"/>
              <a:cs typeface="微软雅黑"/>
            </a:endParaRPr>
          </a:p>
        </p:txBody>
      </p:sp>
      <p:pic>
        <p:nvPicPr>
          <p:cNvPr id="14" name="object 14" descr=""/>
          <p:cNvPicPr/>
          <p:nvPr/>
        </p:nvPicPr>
        <p:blipFill>
          <a:blip r:embed="rId3" cstate="print"/>
          <a:stretch>
            <a:fillRect/>
          </a:stretch>
        </p:blipFill>
        <p:spPr>
          <a:xfrm>
            <a:off x="10642600" y="63500"/>
            <a:ext cx="1422400" cy="50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12/89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xfrm>
            <a:off x="1403350" y="127838"/>
            <a:ext cx="10801350" cy="514350"/>
          </a:xfrm>
          <a:prstGeom prst="rect"/>
        </p:spPr>
        <p:txBody>
          <a:bodyPr wrap="square" lIns="0" tIns="13335" rIns="0" bIns="0" rtlCol="0" vert="horz">
            <a:spAutoFit/>
          </a:bodyPr>
          <a:lstStyle/>
          <a:p>
            <a:pPr marL="12700">
              <a:lnSpc>
                <a:spcPct val="100000"/>
              </a:lnSpc>
              <a:spcBef>
                <a:spcPts val="105"/>
              </a:spcBef>
              <a:tabLst>
                <a:tab pos="1035685" algn="l"/>
                <a:tab pos="10788015" algn="l"/>
              </a:tabLst>
            </a:pPr>
            <a:r>
              <a:rPr dirty="0"/>
              <a:t>	6.1</a:t>
            </a:r>
            <a:r>
              <a:rPr dirty="0" spc="-15"/>
              <a:t> </a:t>
            </a:r>
            <a:r>
              <a:rPr dirty="0"/>
              <a:t>基本指</a:t>
            </a:r>
            <a:r>
              <a:rPr dirty="0" spc="-25"/>
              <a:t>令</a:t>
            </a:r>
            <a:r>
              <a:rPr dirty="0"/>
              <a:t>调度</a:t>
            </a:r>
            <a:r>
              <a:rPr dirty="0" spc="-20"/>
              <a:t>及</a:t>
            </a:r>
            <a:r>
              <a:rPr dirty="0"/>
              <a:t>循环</a:t>
            </a:r>
            <a:r>
              <a:rPr dirty="0" spc="-20"/>
              <a:t>展</a:t>
            </a:r>
            <a:r>
              <a:rPr dirty="0" spc="-50"/>
              <a:t>开</a:t>
            </a:r>
            <a:r>
              <a:rPr dirty="0"/>
              <a:t>	</a:t>
            </a:r>
          </a:p>
        </p:txBody>
      </p:sp>
      <p:sp>
        <p:nvSpPr>
          <p:cNvPr id="9" name="object 9" descr=""/>
          <p:cNvSpPr txBox="1"/>
          <p:nvPr/>
        </p:nvSpPr>
        <p:spPr>
          <a:xfrm>
            <a:off x="331114" y="503935"/>
            <a:ext cx="11291570" cy="5045075"/>
          </a:xfrm>
          <a:prstGeom prst="rect">
            <a:avLst/>
          </a:prstGeom>
        </p:spPr>
        <p:txBody>
          <a:bodyPr wrap="square" lIns="0" tIns="195580" rIns="0" bIns="0" rtlCol="0" vert="horz">
            <a:spAutoFit/>
          </a:bodyPr>
          <a:lstStyle/>
          <a:p>
            <a:pPr marL="23495">
              <a:lnSpc>
                <a:spcPct val="100000"/>
              </a:lnSpc>
              <a:spcBef>
                <a:spcPts val="1540"/>
              </a:spcBef>
            </a:pPr>
            <a:r>
              <a:rPr dirty="0" sz="2400" spc="-10">
                <a:solidFill>
                  <a:srgbClr val="E14B04"/>
                </a:solidFill>
                <a:latin typeface="黑体"/>
                <a:cs typeface="黑体"/>
              </a:rPr>
              <a:t>进一步优化分析：</a:t>
            </a:r>
            <a:endParaRPr sz="2400">
              <a:latin typeface="黑体"/>
              <a:cs typeface="黑体"/>
            </a:endParaRPr>
          </a:p>
          <a:p>
            <a:pPr marL="1108710" indent="-455930">
              <a:lnSpc>
                <a:spcPct val="100000"/>
              </a:lnSpc>
              <a:spcBef>
                <a:spcPts val="1440"/>
              </a:spcBef>
              <a:buClr>
                <a:srgbClr val="40458B"/>
              </a:buClr>
              <a:buSzPct val="89583"/>
              <a:buFont typeface="Wingdings"/>
              <a:buChar char=""/>
              <a:tabLst>
                <a:tab pos="1108710" algn="l"/>
              </a:tabLst>
            </a:pPr>
            <a:r>
              <a:rPr dirty="0" sz="2400" spc="-5">
                <a:solidFill>
                  <a:srgbClr val="0000CC"/>
                </a:solidFill>
                <a:latin typeface="黑体"/>
                <a:cs typeface="黑体"/>
              </a:rPr>
              <a:t>编译时指令调度是怎样减少整个指令序列在流水线上的执行时间的？</a:t>
            </a:r>
            <a:endParaRPr sz="2400">
              <a:latin typeface="黑体"/>
              <a:cs typeface="黑体"/>
            </a:endParaRPr>
          </a:p>
          <a:p>
            <a:pPr marL="1108710" indent="-455930">
              <a:lnSpc>
                <a:spcPct val="100000"/>
              </a:lnSpc>
              <a:spcBef>
                <a:spcPts val="1440"/>
              </a:spcBef>
              <a:buClr>
                <a:srgbClr val="40458B"/>
              </a:buClr>
              <a:buSzPct val="89583"/>
              <a:buFont typeface="Wingdings"/>
              <a:buChar char=""/>
              <a:tabLst>
                <a:tab pos="1108710" algn="l"/>
              </a:tabLst>
            </a:pPr>
            <a:r>
              <a:rPr dirty="0" sz="2400" spc="-5">
                <a:solidFill>
                  <a:srgbClr val="0000CC"/>
                </a:solidFill>
                <a:latin typeface="黑体"/>
                <a:cs typeface="黑体"/>
              </a:rPr>
              <a:t>指令调度能否跨越分支边界？</a:t>
            </a:r>
            <a:endParaRPr sz="2400">
              <a:latin typeface="黑体"/>
              <a:cs typeface="黑体"/>
            </a:endParaRPr>
          </a:p>
          <a:p>
            <a:pPr marL="1108710" indent="-455930">
              <a:lnSpc>
                <a:spcPct val="100000"/>
              </a:lnSpc>
              <a:spcBef>
                <a:spcPts val="1440"/>
              </a:spcBef>
              <a:buClr>
                <a:srgbClr val="40458B"/>
              </a:buClr>
              <a:buSzPct val="89583"/>
              <a:buFont typeface="Wingdings"/>
              <a:buChar char=""/>
              <a:tabLst>
                <a:tab pos="1108710" algn="l"/>
              </a:tabLst>
            </a:pPr>
            <a:r>
              <a:rPr dirty="0" sz="2400">
                <a:solidFill>
                  <a:srgbClr val="0000CC"/>
                </a:solidFill>
                <a:latin typeface="黑体"/>
                <a:cs typeface="黑体"/>
              </a:rPr>
              <a:t>怎样提高整个执行过程中</a:t>
            </a:r>
            <a:r>
              <a:rPr dirty="0" sz="2400">
                <a:solidFill>
                  <a:srgbClr val="D50092"/>
                </a:solidFill>
                <a:latin typeface="黑体"/>
                <a:cs typeface="黑体"/>
              </a:rPr>
              <a:t>有效操作</a:t>
            </a:r>
            <a:r>
              <a:rPr dirty="0" sz="2400" spc="-15">
                <a:solidFill>
                  <a:srgbClr val="0000CC"/>
                </a:solidFill>
                <a:latin typeface="黑体"/>
                <a:cs typeface="黑体"/>
              </a:rPr>
              <a:t>的比率？</a:t>
            </a:r>
            <a:endParaRPr sz="2400">
              <a:latin typeface="黑体"/>
              <a:cs typeface="黑体"/>
            </a:endParaRPr>
          </a:p>
          <a:p>
            <a:pPr lvl="1" marL="2006600" indent="-455930">
              <a:lnSpc>
                <a:spcPct val="100000"/>
              </a:lnSpc>
              <a:spcBef>
                <a:spcPts val="1275"/>
              </a:spcBef>
              <a:buClr>
                <a:srgbClr val="FF09FF"/>
              </a:buClr>
              <a:buSzPct val="65000"/>
              <a:buFont typeface="Wingdings"/>
              <a:buChar char=""/>
              <a:tabLst>
                <a:tab pos="2006600" algn="l"/>
              </a:tabLst>
            </a:pPr>
            <a:r>
              <a:rPr dirty="0" sz="2000" spc="-10" b="1">
                <a:solidFill>
                  <a:srgbClr val="006FC0"/>
                </a:solidFill>
                <a:latin typeface="宋体"/>
                <a:cs typeface="宋体"/>
              </a:rPr>
              <a:t>（</a:t>
            </a:r>
            <a:r>
              <a:rPr dirty="0" sz="2000" spc="-10" b="1">
                <a:solidFill>
                  <a:srgbClr val="006FC0"/>
                </a:solidFill>
                <a:latin typeface="Tahoma"/>
                <a:cs typeface="Tahoma"/>
              </a:rPr>
              <a:t>10-4</a:t>
            </a:r>
            <a:r>
              <a:rPr dirty="0" sz="2000" spc="-10" b="1">
                <a:solidFill>
                  <a:srgbClr val="006FC0"/>
                </a:solidFill>
                <a:latin typeface="宋体"/>
                <a:cs typeface="宋体"/>
              </a:rPr>
              <a:t>）</a:t>
            </a:r>
            <a:r>
              <a:rPr dirty="0" sz="2000" spc="-10" b="1">
                <a:solidFill>
                  <a:srgbClr val="006FC0"/>
                </a:solidFill>
                <a:latin typeface="Tahoma"/>
                <a:cs typeface="Tahoma"/>
              </a:rPr>
              <a:t>/10=0.6</a:t>
            </a:r>
            <a:endParaRPr sz="2000">
              <a:latin typeface="Tahoma"/>
              <a:cs typeface="Tahoma"/>
            </a:endParaRPr>
          </a:p>
          <a:p>
            <a:pPr lvl="1">
              <a:lnSpc>
                <a:spcPct val="100000"/>
              </a:lnSpc>
              <a:spcBef>
                <a:spcPts val="335"/>
              </a:spcBef>
              <a:buClr>
                <a:srgbClr val="FF09FF"/>
              </a:buClr>
              <a:buFont typeface="Wingdings"/>
              <a:buChar char=""/>
            </a:pPr>
            <a:endParaRPr sz="2000">
              <a:latin typeface="Tahoma"/>
              <a:cs typeface="Tahoma"/>
            </a:endParaRPr>
          </a:p>
          <a:p>
            <a:pPr marL="12700">
              <a:lnSpc>
                <a:spcPct val="100000"/>
              </a:lnSpc>
            </a:pPr>
            <a:r>
              <a:rPr dirty="0" sz="2400" spc="-10">
                <a:solidFill>
                  <a:srgbClr val="E14B04"/>
                </a:solidFill>
                <a:latin typeface="黑体"/>
                <a:cs typeface="黑体"/>
              </a:rPr>
              <a:t>分析引入：</a:t>
            </a:r>
            <a:endParaRPr sz="2400">
              <a:latin typeface="黑体"/>
              <a:cs typeface="黑体"/>
            </a:endParaRPr>
          </a:p>
          <a:p>
            <a:pPr marL="1099185" indent="-457200">
              <a:lnSpc>
                <a:spcPct val="100000"/>
              </a:lnSpc>
              <a:spcBef>
                <a:spcPts val="1440"/>
              </a:spcBef>
              <a:buClr>
                <a:srgbClr val="40458B"/>
              </a:buClr>
              <a:buSzPct val="89583"/>
              <a:buFont typeface="Wingdings"/>
              <a:buChar char=""/>
              <a:tabLst>
                <a:tab pos="1099185" algn="l"/>
              </a:tabLst>
            </a:pPr>
            <a:r>
              <a:rPr dirty="0" sz="2400" spc="-10">
                <a:solidFill>
                  <a:srgbClr val="0000CC"/>
                </a:solidFill>
                <a:latin typeface="黑体"/>
                <a:cs typeface="黑体"/>
              </a:rPr>
              <a:t>例</a:t>
            </a:r>
            <a:r>
              <a:rPr dirty="0" sz="2400" spc="-10">
                <a:solidFill>
                  <a:srgbClr val="0000CC"/>
                </a:solidFill>
                <a:latin typeface="Tahoma"/>
                <a:cs typeface="Tahoma"/>
              </a:rPr>
              <a:t>6.1</a:t>
            </a:r>
            <a:r>
              <a:rPr dirty="0" sz="2400" spc="-10">
                <a:solidFill>
                  <a:srgbClr val="0000CC"/>
                </a:solidFill>
                <a:latin typeface="黑体"/>
                <a:cs typeface="黑体"/>
              </a:rPr>
              <a:t>每个循环迭代只有</a:t>
            </a:r>
            <a:r>
              <a:rPr dirty="0" sz="2400" spc="-25">
                <a:solidFill>
                  <a:srgbClr val="0000CC"/>
                </a:solidFill>
                <a:latin typeface="Tahoma"/>
                <a:cs typeface="Tahoma"/>
              </a:rPr>
              <a:t>5</a:t>
            </a:r>
            <a:r>
              <a:rPr dirty="0" sz="2400" spc="-15">
                <a:solidFill>
                  <a:srgbClr val="0000CC"/>
                </a:solidFill>
                <a:latin typeface="黑体"/>
                <a:cs typeface="黑体"/>
              </a:rPr>
              <a:t>条指令存在进行指令调度的空间较小</a:t>
            </a:r>
            <a:endParaRPr sz="2400">
              <a:latin typeface="黑体"/>
              <a:cs typeface="黑体"/>
            </a:endParaRPr>
          </a:p>
          <a:p>
            <a:pPr marL="1099185" indent="-457200">
              <a:lnSpc>
                <a:spcPct val="100000"/>
              </a:lnSpc>
              <a:spcBef>
                <a:spcPts val="1445"/>
              </a:spcBef>
              <a:buClr>
                <a:srgbClr val="40458B"/>
              </a:buClr>
              <a:buSzPct val="89583"/>
              <a:buFont typeface="Wingdings"/>
              <a:buChar char=""/>
              <a:tabLst>
                <a:tab pos="1099185" algn="l"/>
              </a:tabLst>
            </a:pPr>
            <a:r>
              <a:rPr dirty="0" sz="2400">
                <a:solidFill>
                  <a:srgbClr val="0000CC"/>
                </a:solidFill>
                <a:latin typeface="黑体"/>
                <a:cs typeface="黑体"/>
              </a:rPr>
              <a:t>例</a:t>
            </a:r>
            <a:r>
              <a:rPr dirty="0" sz="2400" spc="-20">
                <a:solidFill>
                  <a:srgbClr val="0000CC"/>
                </a:solidFill>
                <a:latin typeface="Tahoma"/>
                <a:cs typeface="Tahoma"/>
              </a:rPr>
              <a:t>6.1</a:t>
            </a:r>
            <a:r>
              <a:rPr dirty="0" sz="2400" spc="-5">
                <a:solidFill>
                  <a:srgbClr val="0000CC"/>
                </a:solidFill>
                <a:latin typeface="黑体"/>
                <a:cs typeface="黑体"/>
              </a:rPr>
              <a:t>若循环迭代指令越多，指令调度更能挖掘更多的并行指令以减少停顿？</a:t>
            </a:r>
            <a:endParaRPr sz="2400">
              <a:latin typeface="黑体"/>
              <a:cs typeface="黑体"/>
            </a:endParaRPr>
          </a:p>
          <a:p>
            <a:pPr marL="1099185">
              <a:lnSpc>
                <a:spcPct val="100000"/>
              </a:lnSpc>
              <a:spcBef>
                <a:spcPts val="930"/>
              </a:spcBef>
            </a:pPr>
            <a:r>
              <a:rPr dirty="0" sz="2800" spc="-35">
                <a:solidFill>
                  <a:srgbClr val="FF0000"/>
                </a:solidFill>
                <a:latin typeface="黑体"/>
                <a:cs typeface="黑体"/>
              </a:rPr>
              <a:t>如何解决？？</a:t>
            </a:r>
            <a:endParaRPr sz="2800">
              <a:latin typeface="黑体"/>
              <a:cs typeface="黑体"/>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13/89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342391" y="1044219"/>
            <a:ext cx="11526520" cy="3666490"/>
          </a:xfrm>
          <a:prstGeom prst="rect">
            <a:avLst/>
          </a:prstGeom>
        </p:spPr>
        <p:txBody>
          <a:bodyPr wrap="square" lIns="0" tIns="140970" rIns="0" bIns="0" rtlCol="0" vert="horz">
            <a:spAutoFit/>
          </a:bodyPr>
          <a:lstStyle/>
          <a:p>
            <a:pPr marL="12700">
              <a:lnSpc>
                <a:spcPct val="100000"/>
              </a:lnSpc>
              <a:spcBef>
                <a:spcPts val="1110"/>
              </a:spcBef>
            </a:pPr>
            <a:r>
              <a:rPr dirty="0" sz="2800" spc="-25">
                <a:solidFill>
                  <a:srgbClr val="FF0000"/>
                </a:solidFill>
                <a:latin typeface="黑体"/>
                <a:cs typeface="黑体"/>
              </a:rPr>
              <a:t>循环展开</a:t>
            </a:r>
            <a:r>
              <a:rPr dirty="0" sz="2800">
                <a:solidFill>
                  <a:srgbClr val="FF0000"/>
                </a:solidFill>
                <a:latin typeface="Tahoma"/>
                <a:cs typeface="Tahoma"/>
              </a:rPr>
              <a:t>LU(Loop</a:t>
            </a:r>
            <a:r>
              <a:rPr dirty="0" sz="2800" spc="-95">
                <a:solidFill>
                  <a:srgbClr val="FF0000"/>
                </a:solidFill>
                <a:latin typeface="Tahoma"/>
                <a:cs typeface="Tahoma"/>
              </a:rPr>
              <a:t> </a:t>
            </a:r>
            <a:r>
              <a:rPr dirty="0" sz="2800" spc="-10">
                <a:solidFill>
                  <a:srgbClr val="FF0000"/>
                </a:solidFill>
                <a:latin typeface="Tahoma"/>
                <a:cs typeface="Tahoma"/>
              </a:rPr>
              <a:t>Unrolling)</a:t>
            </a:r>
            <a:endParaRPr sz="2800">
              <a:latin typeface="Tahoma"/>
              <a:cs typeface="Tahoma"/>
            </a:endParaRPr>
          </a:p>
          <a:p>
            <a:pPr marL="848994" marR="243840" indent="-379730">
              <a:lnSpc>
                <a:spcPct val="110000"/>
              </a:lnSpc>
              <a:spcBef>
                <a:spcPts val="675"/>
              </a:spcBef>
              <a:buClr>
                <a:srgbClr val="40458B"/>
              </a:buClr>
              <a:buSzPct val="89285"/>
              <a:buFont typeface="Wingdings"/>
              <a:buChar char=""/>
              <a:tabLst>
                <a:tab pos="848994" algn="l"/>
              </a:tabLst>
            </a:pPr>
            <a:r>
              <a:rPr dirty="0" sz="2800" spc="-55">
                <a:solidFill>
                  <a:srgbClr val="0000CC"/>
                </a:solidFill>
                <a:latin typeface="黑体"/>
                <a:cs typeface="黑体"/>
              </a:rPr>
              <a:t>把循环体的代码复制多次并按顺序排放， 然后相应调整循环的结束</a:t>
            </a:r>
            <a:r>
              <a:rPr dirty="0" sz="2800" spc="-40">
                <a:solidFill>
                  <a:srgbClr val="0000CC"/>
                </a:solidFill>
                <a:latin typeface="黑体"/>
                <a:cs typeface="黑体"/>
              </a:rPr>
              <a:t>条件。</a:t>
            </a:r>
            <a:endParaRPr sz="2800">
              <a:latin typeface="黑体"/>
              <a:cs typeface="黑体"/>
            </a:endParaRPr>
          </a:p>
          <a:p>
            <a:pPr marL="847725" marR="5715" indent="-378460">
              <a:lnSpc>
                <a:spcPct val="110100"/>
              </a:lnSpc>
              <a:spcBef>
                <a:spcPts val="670"/>
              </a:spcBef>
              <a:buClr>
                <a:srgbClr val="40458B"/>
              </a:buClr>
              <a:buSzPct val="89285"/>
              <a:buFont typeface="Wingdings"/>
              <a:buChar char=""/>
              <a:tabLst>
                <a:tab pos="848994" algn="l"/>
              </a:tabLst>
            </a:pPr>
            <a:r>
              <a:rPr dirty="0" sz="2800" spc="-40">
                <a:solidFill>
                  <a:srgbClr val="0000CC"/>
                </a:solidFill>
                <a:latin typeface="黑体"/>
                <a:cs typeface="黑体"/>
              </a:rPr>
              <a:t>删除多余的测试和分支指令以及循环控制指令引起的开销；再通过寄	存器重命名和指令调度等操作消除相关性，有效实施指令并行</a:t>
            </a:r>
            <a:endParaRPr sz="2800">
              <a:latin typeface="黑体"/>
              <a:cs typeface="黑体"/>
            </a:endParaRPr>
          </a:p>
          <a:p>
            <a:pPr marL="848994" indent="-379095">
              <a:lnSpc>
                <a:spcPct val="100000"/>
              </a:lnSpc>
              <a:spcBef>
                <a:spcPts val="1005"/>
              </a:spcBef>
              <a:buClr>
                <a:srgbClr val="40458B"/>
              </a:buClr>
              <a:buSzPct val="89285"/>
              <a:buFont typeface="Wingdings"/>
              <a:buChar char=""/>
              <a:tabLst>
                <a:tab pos="848994" algn="l"/>
              </a:tabLst>
            </a:pPr>
            <a:r>
              <a:rPr dirty="0" sz="2800" spc="-30">
                <a:solidFill>
                  <a:srgbClr val="0000CC"/>
                </a:solidFill>
                <a:latin typeface="黑体"/>
                <a:cs typeface="黑体"/>
              </a:rPr>
              <a:t>开发</a:t>
            </a:r>
            <a:r>
              <a:rPr dirty="0" sz="2800" spc="-40">
                <a:solidFill>
                  <a:srgbClr val="D50092"/>
                </a:solidFill>
                <a:latin typeface="黑体"/>
                <a:cs typeface="黑体"/>
              </a:rPr>
              <a:t>循环级并行</a:t>
            </a:r>
            <a:r>
              <a:rPr dirty="0" sz="2800" spc="-40">
                <a:solidFill>
                  <a:srgbClr val="0000CC"/>
                </a:solidFill>
                <a:latin typeface="黑体"/>
                <a:cs typeface="黑体"/>
              </a:rPr>
              <a:t>的有效方法，是一种编译时的优化技术</a:t>
            </a:r>
            <a:endParaRPr sz="2800">
              <a:latin typeface="黑体"/>
              <a:cs typeface="黑体"/>
            </a:endParaRPr>
          </a:p>
          <a:p>
            <a:pPr lvl="1" marL="1423670" indent="-379730">
              <a:lnSpc>
                <a:spcPct val="100000"/>
              </a:lnSpc>
              <a:spcBef>
                <a:spcPts val="920"/>
              </a:spcBef>
              <a:buClr>
                <a:srgbClr val="4668F5"/>
              </a:buClr>
              <a:buSzPct val="60416"/>
              <a:buFont typeface="Wingdings"/>
              <a:buChar char=""/>
              <a:tabLst>
                <a:tab pos="1423670" algn="l"/>
              </a:tabLst>
            </a:pPr>
            <a:r>
              <a:rPr dirty="0" sz="2400" spc="-25" b="1">
                <a:solidFill>
                  <a:srgbClr val="FF5CFF"/>
                </a:solidFill>
                <a:latin typeface="黑体"/>
                <a:cs typeface="黑体"/>
              </a:rPr>
              <a:t>循环级并行</a:t>
            </a:r>
            <a:r>
              <a:rPr dirty="0" sz="2400" b="1">
                <a:solidFill>
                  <a:srgbClr val="FF5CFF"/>
                </a:solidFill>
                <a:latin typeface="黑体"/>
                <a:cs typeface="黑体"/>
              </a:rPr>
              <a:t>（</a:t>
            </a:r>
            <a:r>
              <a:rPr dirty="0" sz="2400">
                <a:solidFill>
                  <a:srgbClr val="FF5CFF"/>
                </a:solidFill>
                <a:latin typeface="黑体"/>
                <a:cs typeface="黑体"/>
              </a:rPr>
              <a:t>(LoopLevel</a:t>
            </a:r>
            <a:r>
              <a:rPr dirty="0" sz="2400" spc="90">
                <a:solidFill>
                  <a:srgbClr val="FF5CFF"/>
                </a:solidFill>
                <a:latin typeface="黑体"/>
                <a:cs typeface="黑体"/>
              </a:rPr>
              <a:t> </a:t>
            </a:r>
            <a:r>
              <a:rPr dirty="0" sz="2400" spc="-10">
                <a:solidFill>
                  <a:srgbClr val="FF5CFF"/>
                </a:solidFill>
                <a:latin typeface="黑体"/>
                <a:cs typeface="黑体"/>
              </a:rPr>
              <a:t>Parallelism,LLP</a:t>
            </a:r>
            <a:r>
              <a:rPr dirty="0" sz="2400" spc="-10" b="1">
                <a:solidFill>
                  <a:srgbClr val="FF5CFF"/>
                </a:solidFill>
                <a:latin typeface="黑体"/>
                <a:cs typeface="黑体"/>
              </a:rPr>
              <a:t>）：</a:t>
            </a:r>
            <a:r>
              <a:rPr dirty="0" sz="2400" spc="-30" b="1">
                <a:solidFill>
                  <a:srgbClr val="FF5CFF"/>
                </a:solidFill>
                <a:latin typeface="黑体"/>
                <a:cs typeface="黑体"/>
              </a:rPr>
              <a:t>循环的不同迭代之间并行性</a:t>
            </a:r>
            <a:endParaRPr sz="2400">
              <a:latin typeface="黑体"/>
              <a:cs typeface="黑体"/>
            </a:endParaRPr>
          </a:p>
        </p:txBody>
      </p:sp>
      <p:sp>
        <p:nvSpPr>
          <p:cNvPr id="9" name="object 9"/>
          <p:cNvSpPr txBox="1">
            <a:spLocks noGrp="1"/>
          </p:cNvSpPr>
          <p:nvPr>
            <p:ph type="title"/>
          </p:nvPr>
        </p:nvSpPr>
        <p:spPr>
          <a:xfrm>
            <a:off x="1403350" y="69342"/>
            <a:ext cx="10801350" cy="513715"/>
          </a:xfrm>
          <a:prstGeom prst="rect"/>
        </p:spPr>
        <p:txBody>
          <a:bodyPr wrap="square" lIns="0" tIns="12700" rIns="0" bIns="0" rtlCol="0" vert="horz">
            <a:spAutoFit/>
          </a:bodyPr>
          <a:lstStyle/>
          <a:p>
            <a:pPr marL="12700">
              <a:lnSpc>
                <a:spcPct val="100000"/>
              </a:lnSpc>
              <a:spcBef>
                <a:spcPts val="100"/>
              </a:spcBef>
              <a:tabLst>
                <a:tab pos="10788015" algn="l"/>
              </a:tabLst>
            </a:pPr>
            <a:r>
              <a:rPr dirty="0" spc="170">
                <a:solidFill>
                  <a:srgbClr val="0000CC"/>
                </a:solidFill>
              </a:rPr>
              <a:t>  </a:t>
            </a:r>
            <a:r>
              <a:rPr dirty="0">
                <a:solidFill>
                  <a:srgbClr val="0000CC"/>
                </a:solidFill>
              </a:rPr>
              <a:t>6.1.2</a:t>
            </a:r>
            <a:r>
              <a:rPr dirty="0" spc="-5">
                <a:solidFill>
                  <a:srgbClr val="0000CC"/>
                </a:solidFill>
              </a:rPr>
              <a:t> </a:t>
            </a:r>
            <a:r>
              <a:rPr dirty="0">
                <a:solidFill>
                  <a:srgbClr val="0000CC"/>
                </a:solidFill>
              </a:rPr>
              <a:t>循环</a:t>
            </a:r>
            <a:r>
              <a:rPr dirty="0" spc="-15">
                <a:solidFill>
                  <a:srgbClr val="0000CC"/>
                </a:solidFill>
              </a:rPr>
              <a:t>展</a:t>
            </a:r>
            <a:r>
              <a:rPr dirty="0" spc="-50">
                <a:solidFill>
                  <a:srgbClr val="0000CC"/>
                </a:solidFill>
              </a:rPr>
              <a:t>开</a:t>
            </a:r>
            <a:r>
              <a:rPr dirty="0">
                <a:solidFill>
                  <a:srgbClr val="0000CC"/>
                </a:solidFill>
              </a:rPr>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14/89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grpSp>
        <p:nvGrpSpPr>
          <p:cNvPr id="7" name="object 7" descr=""/>
          <p:cNvGrpSpPr/>
          <p:nvPr/>
        </p:nvGrpSpPr>
        <p:grpSpPr>
          <a:xfrm>
            <a:off x="6350" y="4679950"/>
            <a:ext cx="12185650" cy="2179955"/>
            <a:chOff x="6350" y="4679950"/>
            <a:chExt cx="12185650" cy="2179955"/>
          </a:xfrm>
        </p:grpSpPr>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p:nvPr/>
          </p:nvSpPr>
          <p:spPr>
            <a:xfrm>
              <a:off x="214312" y="4684712"/>
              <a:ext cx="7610475" cy="2016125"/>
            </a:xfrm>
            <a:custGeom>
              <a:avLst/>
              <a:gdLst/>
              <a:ahLst/>
              <a:cxnLst/>
              <a:rect l="l" t="t" r="r" b="b"/>
              <a:pathLst>
                <a:path w="7610475" h="2016125">
                  <a:moveTo>
                    <a:pt x="0" y="2016125"/>
                  </a:moveTo>
                  <a:lnTo>
                    <a:pt x="7610475" y="2016125"/>
                  </a:lnTo>
                  <a:lnTo>
                    <a:pt x="7610475" y="0"/>
                  </a:lnTo>
                  <a:lnTo>
                    <a:pt x="0" y="0"/>
                  </a:lnTo>
                  <a:lnTo>
                    <a:pt x="0" y="2016125"/>
                  </a:lnTo>
                  <a:close/>
                </a:path>
              </a:pathLst>
            </a:custGeom>
            <a:ln w="9525">
              <a:solidFill>
                <a:srgbClr val="FF0000"/>
              </a:solidFill>
            </a:ln>
          </p:spPr>
          <p:txBody>
            <a:bodyPr wrap="square" lIns="0" tIns="0" rIns="0" bIns="0" rtlCol="0"/>
            <a:lstStyle/>
            <a:p/>
          </p:txBody>
        </p:sp>
      </p:grpSp>
      <p:sp>
        <p:nvSpPr>
          <p:cNvPr id="10" name="object 10" descr=""/>
          <p:cNvSpPr txBox="1"/>
          <p:nvPr/>
        </p:nvSpPr>
        <p:spPr>
          <a:xfrm>
            <a:off x="270763" y="580078"/>
            <a:ext cx="5046345" cy="1040765"/>
          </a:xfrm>
          <a:prstGeom prst="rect">
            <a:avLst/>
          </a:prstGeom>
        </p:spPr>
        <p:txBody>
          <a:bodyPr wrap="square" lIns="0" tIns="154305" rIns="0" bIns="0" rtlCol="0" vert="horz">
            <a:spAutoFit/>
          </a:bodyPr>
          <a:lstStyle/>
          <a:p>
            <a:pPr marL="12700">
              <a:lnSpc>
                <a:spcPct val="100000"/>
              </a:lnSpc>
              <a:spcBef>
                <a:spcPts val="1215"/>
              </a:spcBef>
            </a:pPr>
            <a:r>
              <a:rPr dirty="0" sz="2800" spc="-25">
                <a:solidFill>
                  <a:srgbClr val="FF0000"/>
                </a:solidFill>
                <a:latin typeface="黑体"/>
                <a:cs typeface="黑体"/>
              </a:rPr>
              <a:t>循环展开</a:t>
            </a:r>
            <a:r>
              <a:rPr dirty="0" sz="2800">
                <a:solidFill>
                  <a:srgbClr val="FF0000"/>
                </a:solidFill>
                <a:latin typeface="Tahoma"/>
                <a:cs typeface="Tahoma"/>
              </a:rPr>
              <a:t>LU(Loop</a:t>
            </a:r>
            <a:r>
              <a:rPr dirty="0" sz="2800" spc="-95">
                <a:solidFill>
                  <a:srgbClr val="FF0000"/>
                </a:solidFill>
                <a:latin typeface="Tahoma"/>
                <a:cs typeface="Tahoma"/>
              </a:rPr>
              <a:t> </a:t>
            </a:r>
            <a:r>
              <a:rPr dirty="0" sz="2800" spc="-10">
                <a:solidFill>
                  <a:srgbClr val="FF0000"/>
                </a:solidFill>
                <a:latin typeface="Tahoma"/>
                <a:cs typeface="Tahoma"/>
              </a:rPr>
              <a:t>Unrolling)</a:t>
            </a:r>
            <a:endParaRPr sz="2800">
              <a:latin typeface="Tahoma"/>
              <a:cs typeface="Tahoma"/>
            </a:endParaRPr>
          </a:p>
          <a:p>
            <a:pPr marL="354965" indent="-342265">
              <a:lnSpc>
                <a:spcPct val="100000"/>
              </a:lnSpc>
              <a:spcBef>
                <a:spcPts val="875"/>
              </a:spcBef>
              <a:buClr>
                <a:srgbClr val="40458B"/>
              </a:buClr>
              <a:buFont typeface="Wingdings"/>
              <a:buChar char=""/>
              <a:tabLst>
                <a:tab pos="354965" algn="l"/>
              </a:tabLst>
            </a:pPr>
            <a:r>
              <a:rPr dirty="0" sz="2200" spc="-25">
                <a:solidFill>
                  <a:srgbClr val="E14B04"/>
                </a:solidFill>
                <a:latin typeface="黑体"/>
                <a:cs typeface="黑体"/>
              </a:rPr>
              <a:t>循环要执行</a:t>
            </a:r>
            <a:r>
              <a:rPr dirty="0" sz="2200" spc="-20">
                <a:solidFill>
                  <a:srgbClr val="E14B04"/>
                </a:solidFill>
                <a:latin typeface="Tahoma"/>
                <a:cs typeface="Tahoma"/>
              </a:rPr>
              <a:t>1000</a:t>
            </a:r>
            <a:r>
              <a:rPr dirty="0" sz="2200" spc="-30">
                <a:solidFill>
                  <a:srgbClr val="E14B04"/>
                </a:solidFill>
                <a:latin typeface="黑体"/>
                <a:cs typeface="黑体"/>
              </a:rPr>
              <a:t>次，</a:t>
            </a:r>
            <a:r>
              <a:rPr dirty="0" sz="2200" spc="-25">
                <a:solidFill>
                  <a:srgbClr val="006FC0"/>
                </a:solidFill>
                <a:latin typeface="黑体"/>
                <a:cs typeface="黑体"/>
              </a:rPr>
              <a:t>以步长是</a:t>
            </a:r>
            <a:r>
              <a:rPr dirty="0" sz="2200" spc="-20">
                <a:solidFill>
                  <a:srgbClr val="006FC0"/>
                </a:solidFill>
                <a:latin typeface="Tahoma"/>
                <a:cs typeface="Tahoma"/>
              </a:rPr>
              <a:t>1</a:t>
            </a:r>
            <a:r>
              <a:rPr dirty="0" sz="2200" spc="-30">
                <a:solidFill>
                  <a:srgbClr val="006FC0"/>
                </a:solidFill>
                <a:latin typeface="黑体"/>
                <a:cs typeface="黑体"/>
              </a:rPr>
              <a:t>为例</a:t>
            </a:r>
            <a:r>
              <a:rPr dirty="0" sz="2200" spc="-50">
                <a:solidFill>
                  <a:srgbClr val="E14B04"/>
                </a:solidFill>
                <a:latin typeface="黑体"/>
                <a:cs typeface="黑体"/>
              </a:rPr>
              <a:t>，</a:t>
            </a:r>
            <a:endParaRPr sz="2200">
              <a:latin typeface="黑体"/>
              <a:cs typeface="黑体"/>
            </a:endParaRPr>
          </a:p>
        </p:txBody>
      </p:sp>
      <p:sp>
        <p:nvSpPr>
          <p:cNvPr id="11" name="object 11"/>
          <p:cNvSpPr txBox="1">
            <a:spLocks noGrp="1"/>
          </p:cNvSpPr>
          <p:nvPr>
            <p:ph type="title"/>
          </p:nvPr>
        </p:nvSpPr>
        <p:spPr>
          <a:xfrm>
            <a:off x="1403350" y="69342"/>
            <a:ext cx="10801350" cy="513715"/>
          </a:xfrm>
          <a:prstGeom prst="rect"/>
        </p:spPr>
        <p:txBody>
          <a:bodyPr wrap="square" lIns="0" tIns="12700" rIns="0" bIns="0" rtlCol="0" vert="horz">
            <a:spAutoFit/>
          </a:bodyPr>
          <a:lstStyle/>
          <a:p>
            <a:pPr marL="12700">
              <a:lnSpc>
                <a:spcPct val="100000"/>
              </a:lnSpc>
              <a:spcBef>
                <a:spcPts val="100"/>
              </a:spcBef>
              <a:tabLst>
                <a:tab pos="10788015" algn="l"/>
              </a:tabLst>
            </a:pPr>
            <a:r>
              <a:rPr dirty="0" spc="170">
                <a:solidFill>
                  <a:srgbClr val="0000CC"/>
                </a:solidFill>
              </a:rPr>
              <a:t>  </a:t>
            </a:r>
            <a:r>
              <a:rPr dirty="0">
                <a:solidFill>
                  <a:srgbClr val="0000CC"/>
                </a:solidFill>
              </a:rPr>
              <a:t>6.1.2</a:t>
            </a:r>
            <a:r>
              <a:rPr dirty="0" spc="-5">
                <a:solidFill>
                  <a:srgbClr val="0000CC"/>
                </a:solidFill>
              </a:rPr>
              <a:t> </a:t>
            </a:r>
            <a:r>
              <a:rPr dirty="0">
                <a:solidFill>
                  <a:srgbClr val="0000CC"/>
                </a:solidFill>
              </a:rPr>
              <a:t>循环</a:t>
            </a:r>
            <a:r>
              <a:rPr dirty="0" spc="-15">
                <a:solidFill>
                  <a:srgbClr val="0000CC"/>
                </a:solidFill>
              </a:rPr>
              <a:t>展</a:t>
            </a:r>
            <a:r>
              <a:rPr dirty="0" spc="-50">
                <a:solidFill>
                  <a:srgbClr val="0000CC"/>
                </a:solidFill>
              </a:rPr>
              <a:t>开</a:t>
            </a:r>
            <a:r>
              <a:rPr dirty="0">
                <a:solidFill>
                  <a:srgbClr val="0000CC"/>
                </a:solidFill>
              </a:rPr>
              <a:t>	</a:t>
            </a:r>
          </a:p>
        </p:txBody>
      </p:sp>
      <p:pic>
        <p:nvPicPr>
          <p:cNvPr id="12" name="object 12" descr=""/>
          <p:cNvPicPr/>
          <p:nvPr/>
        </p:nvPicPr>
        <p:blipFill>
          <a:blip r:embed="rId3" cstate="print"/>
          <a:stretch>
            <a:fillRect/>
          </a:stretch>
        </p:blipFill>
        <p:spPr>
          <a:xfrm>
            <a:off x="7521575" y="273050"/>
            <a:ext cx="4670425" cy="1295400"/>
          </a:xfrm>
          <a:prstGeom prst="rect">
            <a:avLst/>
          </a:prstGeom>
        </p:spPr>
      </p:pic>
      <p:sp>
        <p:nvSpPr>
          <p:cNvPr id="13" name="object 13" descr=""/>
          <p:cNvSpPr txBox="1"/>
          <p:nvPr/>
        </p:nvSpPr>
        <p:spPr>
          <a:xfrm>
            <a:off x="219075" y="4624070"/>
            <a:ext cx="7600950" cy="2007870"/>
          </a:xfrm>
          <a:prstGeom prst="rect">
            <a:avLst/>
          </a:prstGeom>
        </p:spPr>
        <p:txBody>
          <a:bodyPr wrap="square" lIns="0" tIns="45085" rIns="0" bIns="0" rtlCol="0" vert="horz">
            <a:spAutoFit/>
          </a:bodyPr>
          <a:lstStyle/>
          <a:p>
            <a:pPr marL="86360">
              <a:lnSpc>
                <a:spcPct val="100000"/>
              </a:lnSpc>
              <a:spcBef>
                <a:spcPts val="355"/>
              </a:spcBef>
            </a:pPr>
            <a:r>
              <a:rPr dirty="0" sz="2400" spc="-20" b="1">
                <a:solidFill>
                  <a:srgbClr val="40458B"/>
                </a:solidFill>
                <a:latin typeface="黑体"/>
                <a:cs typeface="黑体"/>
              </a:rPr>
              <a:t>循环展开</a:t>
            </a:r>
            <a:r>
              <a:rPr dirty="0" sz="2400" spc="-10" b="1">
                <a:solidFill>
                  <a:srgbClr val="40458B"/>
                </a:solidFill>
                <a:latin typeface="Tahoma"/>
                <a:cs typeface="Tahoma"/>
              </a:rPr>
              <a:t>2</a:t>
            </a:r>
            <a:r>
              <a:rPr dirty="0" sz="2400" spc="-35" b="1">
                <a:solidFill>
                  <a:srgbClr val="40458B"/>
                </a:solidFill>
                <a:latin typeface="黑体"/>
                <a:cs typeface="黑体"/>
              </a:rPr>
              <a:t>次后</a:t>
            </a:r>
            <a:endParaRPr sz="2400">
              <a:latin typeface="黑体"/>
              <a:cs typeface="黑体"/>
            </a:endParaRPr>
          </a:p>
          <a:p>
            <a:pPr marL="86360">
              <a:lnSpc>
                <a:spcPct val="100000"/>
              </a:lnSpc>
              <a:spcBef>
                <a:spcPts val="190"/>
              </a:spcBef>
            </a:pPr>
            <a:r>
              <a:rPr dirty="0" sz="1800">
                <a:solidFill>
                  <a:srgbClr val="A625A3"/>
                </a:solidFill>
                <a:latin typeface="Calibri"/>
                <a:cs typeface="Calibri"/>
              </a:rPr>
              <a:t>for</a:t>
            </a:r>
            <a:r>
              <a:rPr dirty="0" sz="1800" spc="-25">
                <a:solidFill>
                  <a:srgbClr val="A625A3"/>
                </a:solidFill>
                <a:latin typeface="Calibri"/>
                <a:cs typeface="Calibri"/>
              </a:rPr>
              <a:t> </a:t>
            </a:r>
            <a:r>
              <a:rPr dirty="0" sz="1800">
                <a:solidFill>
                  <a:srgbClr val="383942"/>
                </a:solidFill>
                <a:latin typeface="Calibri"/>
                <a:cs typeface="Calibri"/>
              </a:rPr>
              <a:t>(</a:t>
            </a:r>
            <a:r>
              <a:rPr dirty="0" sz="1800">
                <a:solidFill>
                  <a:srgbClr val="A625A3"/>
                </a:solidFill>
                <a:latin typeface="Calibri"/>
                <a:cs typeface="Calibri"/>
              </a:rPr>
              <a:t>int</a:t>
            </a:r>
            <a:r>
              <a:rPr dirty="0" sz="1800" spc="5">
                <a:solidFill>
                  <a:srgbClr val="A625A3"/>
                </a:solidFill>
                <a:latin typeface="Calibri"/>
                <a:cs typeface="Calibri"/>
              </a:rPr>
              <a:t> </a:t>
            </a:r>
            <a:r>
              <a:rPr dirty="0" sz="1800">
                <a:solidFill>
                  <a:srgbClr val="0E1115"/>
                </a:solidFill>
                <a:latin typeface="Calibri"/>
                <a:cs typeface="Calibri"/>
              </a:rPr>
              <a:t>i</a:t>
            </a:r>
            <a:r>
              <a:rPr dirty="0" sz="1800" spc="-25">
                <a:solidFill>
                  <a:srgbClr val="0E1115"/>
                </a:solidFill>
                <a:latin typeface="Calibri"/>
                <a:cs typeface="Calibri"/>
              </a:rPr>
              <a:t> </a:t>
            </a:r>
            <a:r>
              <a:rPr dirty="0" sz="1800">
                <a:solidFill>
                  <a:srgbClr val="4078F1"/>
                </a:solidFill>
                <a:latin typeface="Calibri"/>
                <a:cs typeface="Calibri"/>
              </a:rPr>
              <a:t>= </a:t>
            </a:r>
            <a:r>
              <a:rPr dirty="0" sz="1800">
                <a:solidFill>
                  <a:srgbClr val="B76B00"/>
                </a:solidFill>
                <a:latin typeface="Calibri"/>
                <a:cs typeface="Calibri"/>
              </a:rPr>
              <a:t>0</a:t>
            </a:r>
            <a:r>
              <a:rPr dirty="0" sz="1800" spc="-5">
                <a:solidFill>
                  <a:srgbClr val="383942"/>
                </a:solidFill>
                <a:latin typeface="Calibri"/>
                <a:cs typeface="Calibri"/>
              </a:rPr>
              <a:t>; </a:t>
            </a:r>
            <a:r>
              <a:rPr dirty="0" sz="1800">
                <a:solidFill>
                  <a:srgbClr val="0E1115"/>
                </a:solidFill>
                <a:latin typeface="Calibri"/>
                <a:cs typeface="Calibri"/>
              </a:rPr>
              <a:t>i</a:t>
            </a:r>
            <a:r>
              <a:rPr dirty="0" sz="1800" spc="-10">
                <a:solidFill>
                  <a:srgbClr val="0E1115"/>
                </a:solidFill>
                <a:latin typeface="Calibri"/>
                <a:cs typeface="Calibri"/>
              </a:rPr>
              <a:t> </a:t>
            </a:r>
            <a:r>
              <a:rPr dirty="0" sz="1800" spc="-10">
                <a:solidFill>
                  <a:srgbClr val="4078F1"/>
                </a:solidFill>
                <a:latin typeface="Calibri"/>
                <a:cs typeface="Calibri"/>
              </a:rPr>
              <a:t>&lt; </a:t>
            </a:r>
            <a:r>
              <a:rPr dirty="0" sz="1800">
                <a:solidFill>
                  <a:srgbClr val="B76B00"/>
                </a:solidFill>
                <a:latin typeface="Calibri"/>
                <a:cs typeface="Calibri"/>
              </a:rPr>
              <a:t>1000</a:t>
            </a:r>
            <a:r>
              <a:rPr dirty="0" sz="1800" spc="-5">
                <a:solidFill>
                  <a:srgbClr val="383942"/>
                </a:solidFill>
                <a:latin typeface="Calibri"/>
                <a:cs typeface="Calibri"/>
              </a:rPr>
              <a:t>; </a:t>
            </a:r>
            <a:r>
              <a:rPr dirty="0" sz="1800">
                <a:solidFill>
                  <a:srgbClr val="0E1115"/>
                </a:solidFill>
                <a:latin typeface="Calibri"/>
                <a:cs typeface="Calibri"/>
              </a:rPr>
              <a:t>i</a:t>
            </a:r>
            <a:r>
              <a:rPr dirty="0" sz="1800" spc="-10">
                <a:solidFill>
                  <a:srgbClr val="0E1115"/>
                </a:solidFill>
                <a:latin typeface="Calibri"/>
                <a:cs typeface="Calibri"/>
              </a:rPr>
              <a:t> </a:t>
            </a:r>
            <a:r>
              <a:rPr dirty="0" sz="1800" spc="-10">
                <a:solidFill>
                  <a:srgbClr val="4078F1"/>
                </a:solidFill>
                <a:latin typeface="Calibri"/>
                <a:cs typeface="Calibri"/>
              </a:rPr>
              <a:t>+= </a:t>
            </a:r>
            <a:r>
              <a:rPr dirty="0" sz="1800">
                <a:solidFill>
                  <a:srgbClr val="B76B00"/>
                </a:solidFill>
                <a:latin typeface="Calibri"/>
                <a:cs typeface="Calibri"/>
              </a:rPr>
              <a:t>2</a:t>
            </a:r>
            <a:r>
              <a:rPr dirty="0" sz="1800">
                <a:solidFill>
                  <a:srgbClr val="383942"/>
                </a:solidFill>
                <a:latin typeface="Calibri"/>
                <a:cs typeface="Calibri"/>
              </a:rPr>
              <a:t>) </a:t>
            </a:r>
            <a:r>
              <a:rPr dirty="0" sz="1800" spc="-5">
                <a:solidFill>
                  <a:srgbClr val="006FC0"/>
                </a:solidFill>
                <a:latin typeface="Calibri"/>
                <a:cs typeface="Calibri"/>
              </a:rPr>
              <a:t>// </a:t>
            </a:r>
            <a:r>
              <a:rPr dirty="0" sz="1800" spc="-5">
                <a:solidFill>
                  <a:srgbClr val="006FC0"/>
                </a:solidFill>
                <a:latin typeface="黑体"/>
                <a:cs typeface="黑体"/>
              </a:rPr>
              <a:t>步长变为</a:t>
            </a:r>
            <a:r>
              <a:rPr dirty="0" sz="1800" spc="-10">
                <a:solidFill>
                  <a:srgbClr val="006FC0"/>
                </a:solidFill>
                <a:latin typeface="Calibri"/>
                <a:cs typeface="Calibri"/>
              </a:rPr>
              <a:t>2</a:t>
            </a:r>
            <a:r>
              <a:rPr dirty="0" sz="1800" spc="-5">
                <a:solidFill>
                  <a:srgbClr val="006FC0"/>
                </a:solidFill>
                <a:latin typeface="黑体"/>
                <a:cs typeface="黑体"/>
              </a:rPr>
              <a:t>，迭代次数为</a:t>
            </a:r>
            <a:r>
              <a:rPr dirty="0" sz="1800" spc="-20">
                <a:solidFill>
                  <a:srgbClr val="006FC0"/>
                </a:solidFill>
                <a:latin typeface="Calibri"/>
                <a:cs typeface="Calibri"/>
              </a:rPr>
              <a:t>500</a:t>
            </a:r>
            <a:r>
              <a:rPr dirty="0" sz="1800" spc="-50">
                <a:solidFill>
                  <a:srgbClr val="006FC0"/>
                </a:solidFill>
                <a:latin typeface="黑体"/>
                <a:cs typeface="黑体"/>
              </a:rPr>
              <a:t>次</a:t>
            </a:r>
            <a:endParaRPr sz="1800">
              <a:latin typeface="黑体"/>
              <a:cs typeface="黑体"/>
            </a:endParaRPr>
          </a:p>
          <a:p>
            <a:pPr marL="86360">
              <a:lnSpc>
                <a:spcPct val="100000"/>
              </a:lnSpc>
              <a:spcBef>
                <a:spcPts val="335"/>
              </a:spcBef>
            </a:pPr>
            <a:r>
              <a:rPr dirty="0" sz="1800" spc="-50">
                <a:solidFill>
                  <a:srgbClr val="383942"/>
                </a:solidFill>
                <a:latin typeface="Calibri"/>
                <a:cs typeface="Calibri"/>
              </a:rPr>
              <a:t>{</a:t>
            </a:r>
            <a:endParaRPr sz="1800">
              <a:latin typeface="Calibri"/>
              <a:cs typeface="Calibri"/>
            </a:endParaRPr>
          </a:p>
          <a:p>
            <a:pPr marL="295275">
              <a:lnSpc>
                <a:spcPct val="100000"/>
              </a:lnSpc>
              <a:spcBef>
                <a:spcPts val="340"/>
              </a:spcBef>
              <a:tabLst>
                <a:tab pos="1724660" algn="l"/>
              </a:tabLst>
            </a:pPr>
            <a:r>
              <a:rPr dirty="0" sz="1800">
                <a:solidFill>
                  <a:srgbClr val="0E1115"/>
                </a:solidFill>
                <a:latin typeface="Calibri"/>
                <a:cs typeface="Calibri"/>
              </a:rPr>
              <a:t>a</a:t>
            </a:r>
            <a:r>
              <a:rPr dirty="0" sz="1800">
                <a:solidFill>
                  <a:srgbClr val="383942"/>
                </a:solidFill>
                <a:latin typeface="Calibri"/>
                <a:cs typeface="Calibri"/>
              </a:rPr>
              <a:t>[</a:t>
            </a:r>
            <a:r>
              <a:rPr dirty="0" sz="1800">
                <a:solidFill>
                  <a:srgbClr val="0E1115"/>
                </a:solidFill>
                <a:latin typeface="Calibri"/>
                <a:cs typeface="Calibri"/>
              </a:rPr>
              <a:t>i</a:t>
            </a:r>
            <a:r>
              <a:rPr dirty="0" sz="1800">
                <a:solidFill>
                  <a:srgbClr val="383942"/>
                </a:solidFill>
                <a:latin typeface="Calibri"/>
                <a:cs typeface="Calibri"/>
              </a:rPr>
              <a:t>] </a:t>
            </a:r>
            <a:r>
              <a:rPr dirty="0" sz="1800" spc="-10">
                <a:solidFill>
                  <a:srgbClr val="4078F1"/>
                </a:solidFill>
                <a:latin typeface="Calibri"/>
                <a:cs typeface="Calibri"/>
              </a:rPr>
              <a:t>= </a:t>
            </a:r>
            <a:r>
              <a:rPr dirty="0" sz="1800">
                <a:solidFill>
                  <a:srgbClr val="0E1115"/>
                </a:solidFill>
                <a:latin typeface="Calibri"/>
                <a:cs typeface="Calibri"/>
              </a:rPr>
              <a:t>a</a:t>
            </a:r>
            <a:r>
              <a:rPr dirty="0" sz="1800">
                <a:solidFill>
                  <a:srgbClr val="383942"/>
                </a:solidFill>
                <a:latin typeface="Calibri"/>
                <a:cs typeface="Calibri"/>
              </a:rPr>
              <a:t>[</a:t>
            </a:r>
            <a:r>
              <a:rPr dirty="0" sz="1800">
                <a:solidFill>
                  <a:srgbClr val="0E1115"/>
                </a:solidFill>
                <a:latin typeface="Calibri"/>
                <a:cs typeface="Calibri"/>
              </a:rPr>
              <a:t>i</a:t>
            </a:r>
            <a:r>
              <a:rPr dirty="0" sz="1800" spc="-10">
                <a:solidFill>
                  <a:srgbClr val="383942"/>
                </a:solidFill>
                <a:latin typeface="Calibri"/>
                <a:cs typeface="Calibri"/>
              </a:rPr>
              <a:t>] </a:t>
            </a:r>
            <a:r>
              <a:rPr dirty="0" sz="1800">
                <a:solidFill>
                  <a:srgbClr val="4078F1"/>
                </a:solidFill>
                <a:latin typeface="Calibri"/>
                <a:cs typeface="Calibri"/>
              </a:rPr>
              <a:t>+ </a:t>
            </a:r>
            <a:r>
              <a:rPr dirty="0" sz="1800" spc="-25">
                <a:solidFill>
                  <a:srgbClr val="B76B00"/>
                </a:solidFill>
                <a:latin typeface="Calibri"/>
                <a:cs typeface="Calibri"/>
              </a:rPr>
              <a:t>1</a:t>
            </a:r>
            <a:r>
              <a:rPr dirty="0" sz="1800" spc="-25">
                <a:solidFill>
                  <a:srgbClr val="383942"/>
                </a:solidFill>
                <a:latin typeface="Calibri"/>
                <a:cs typeface="Calibri"/>
              </a:rPr>
              <a:t>;</a:t>
            </a:r>
            <a:r>
              <a:rPr dirty="0" sz="1800">
                <a:solidFill>
                  <a:srgbClr val="383942"/>
                </a:solidFill>
                <a:latin typeface="Calibri"/>
                <a:cs typeface="Calibri"/>
              </a:rPr>
              <a:t>	</a:t>
            </a:r>
            <a:r>
              <a:rPr dirty="0" sz="1800" spc="-5">
                <a:solidFill>
                  <a:srgbClr val="006FC0"/>
                </a:solidFill>
                <a:latin typeface="Calibri"/>
                <a:cs typeface="Calibri"/>
              </a:rPr>
              <a:t>// </a:t>
            </a:r>
            <a:r>
              <a:rPr dirty="0" sz="1800">
                <a:solidFill>
                  <a:srgbClr val="006FC0"/>
                </a:solidFill>
                <a:latin typeface="黑体"/>
                <a:cs typeface="黑体"/>
              </a:rPr>
              <a:t>原循环体，第</a:t>
            </a:r>
            <a:r>
              <a:rPr dirty="0" sz="1800" spc="-10">
                <a:solidFill>
                  <a:srgbClr val="006FC0"/>
                </a:solidFill>
                <a:latin typeface="Calibri"/>
                <a:cs typeface="Calibri"/>
              </a:rPr>
              <a:t>i</a:t>
            </a:r>
            <a:r>
              <a:rPr dirty="0" sz="1800" spc="-20">
                <a:solidFill>
                  <a:srgbClr val="006FC0"/>
                </a:solidFill>
                <a:latin typeface="黑体"/>
                <a:cs typeface="黑体"/>
              </a:rPr>
              <a:t>次迭代</a:t>
            </a:r>
            <a:endParaRPr sz="1800">
              <a:latin typeface="黑体"/>
              <a:cs typeface="黑体"/>
            </a:endParaRPr>
          </a:p>
          <a:p>
            <a:pPr marL="295275">
              <a:lnSpc>
                <a:spcPts val="2030"/>
              </a:lnSpc>
              <a:spcBef>
                <a:spcPts val="345"/>
              </a:spcBef>
            </a:pPr>
            <a:r>
              <a:rPr dirty="0" sz="1800">
                <a:solidFill>
                  <a:srgbClr val="0E1115"/>
                </a:solidFill>
                <a:latin typeface="Calibri"/>
                <a:cs typeface="Calibri"/>
              </a:rPr>
              <a:t>a</a:t>
            </a:r>
            <a:r>
              <a:rPr dirty="0" sz="1800">
                <a:solidFill>
                  <a:srgbClr val="383942"/>
                </a:solidFill>
                <a:latin typeface="Calibri"/>
                <a:cs typeface="Calibri"/>
              </a:rPr>
              <a:t>[</a:t>
            </a:r>
            <a:r>
              <a:rPr dirty="0" sz="1800">
                <a:solidFill>
                  <a:srgbClr val="0E1115"/>
                </a:solidFill>
                <a:latin typeface="Calibri"/>
                <a:cs typeface="Calibri"/>
              </a:rPr>
              <a:t>i</a:t>
            </a:r>
            <a:r>
              <a:rPr dirty="0" sz="1800">
                <a:solidFill>
                  <a:srgbClr val="4078F1"/>
                </a:solidFill>
                <a:latin typeface="Calibri"/>
                <a:cs typeface="Calibri"/>
              </a:rPr>
              <a:t>+</a:t>
            </a:r>
            <a:r>
              <a:rPr dirty="0" sz="1800">
                <a:solidFill>
                  <a:srgbClr val="B76B00"/>
                </a:solidFill>
                <a:latin typeface="Calibri"/>
                <a:cs typeface="Calibri"/>
              </a:rPr>
              <a:t>1</a:t>
            </a:r>
            <a:r>
              <a:rPr dirty="0" sz="1800" spc="-5">
                <a:solidFill>
                  <a:srgbClr val="383942"/>
                </a:solidFill>
                <a:latin typeface="Calibri"/>
                <a:cs typeface="Calibri"/>
              </a:rPr>
              <a:t>] </a:t>
            </a:r>
            <a:r>
              <a:rPr dirty="0" sz="1800" spc="-5">
                <a:solidFill>
                  <a:srgbClr val="4078F1"/>
                </a:solidFill>
                <a:latin typeface="Calibri"/>
                <a:cs typeface="Calibri"/>
              </a:rPr>
              <a:t>= </a:t>
            </a:r>
            <a:r>
              <a:rPr dirty="0" sz="1800">
                <a:solidFill>
                  <a:srgbClr val="0E1115"/>
                </a:solidFill>
                <a:latin typeface="Calibri"/>
                <a:cs typeface="Calibri"/>
              </a:rPr>
              <a:t>a</a:t>
            </a:r>
            <a:r>
              <a:rPr dirty="0" sz="1800">
                <a:solidFill>
                  <a:srgbClr val="383942"/>
                </a:solidFill>
                <a:latin typeface="Calibri"/>
                <a:cs typeface="Calibri"/>
              </a:rPr>
              <a:t>[</a:t>
            </a:r>
            <a:r>
              <a:rPr dirty="0" sz="1800">
                <a:solidFill>
                  <a:srgbClr val="0E1115"/>
                </a:solidFill>
                <a:latin typeface="Calibri"/>
                <a:cs typeface="Calibri"/>
              </a:rPr>
              <a:t>i</a:t>
            </a:r>
            <a:r>
              <a:rPr dirty="0" sz="1800">
                <a:solidFill>
                  <a:srgbClr val="4078F1"/>
                </a:solidFill>
                <a:latin typeface="Calibri"/>
                <a:cs typeface="Calibri"/>
              </a:rPr>
              <a:t>+</a:t>
            </a:r>
            <a:r>
              <a:rPr dirty="0" sz="1800">
                <a:solidFill>
                  <a:srgbClr val="B76B00"/>
                </a:solidFill>
                <a:latin typeface="Calibri"/>
                <a:cs typeface="Calibri"/>
              </a:rPr>
              <a:t>1</a:t>
            </a:r>
            <a:r>
              <a:rPr dirty="0" sz="1800">
                <a:solidFill>
                  <a:srgbClr val="383942"/>
                </a:solidFill>
                <a:latin typeface="Calibri"/>
                <a:cs typeface="Calibri"/>
              </a:rPr>
              <a:t>] </a:t>
            </a:r>
            <a:r>
              <a:rPr dirty="0" sz="1800" spc="-10">
                <a:solidFill>
                  <a:srgbClr val="4078F1"/>
                </a:solidFill>
                <a:latin typeface="Calibri"/>
                <a:cs typeface="Calibri"/>
              </a:rPr>
              <a:t>+ </a:t>
            </a:r>
            <a:r>
              <a:rPr dirty="0" sz="1800">
                <a:solidFill>
                  <a:srgbClr val="B76B00"/>
                </a:solidFill>
                <a:latin typeface="Calibri"/>
                <a:cs typeface="Calibri"/>
              </a:rPr>
              <a:t>1</a:t>
            </a:r>
            <a:r>
              <a:rPr dirty="0" sz="1800">
                <a:solidFill>
                  <a:srgbClr val="383942"/>
                </a:solidFill>
                <a:latin typeface="Calibri"/>
                <a:cs typeface="Calibri"/>
              </a:rPr>
              <a:t>; </a:t>
            </a:r>
            <a:r>
              <a:rPr dirty="0" sz="1800">
                <a:solidFill>
                  <a:srgbClr val="006FC0"/>
                </a:solidFill>
                <a:latin typeface="Calibri"/>
                <a:cs typeface="Calibri"/>
              </a:rPr>
              <a:t>// </a:t>
            </a:r>
            <a:r>
              <a:rPr dirty="0" sz="1800" spc="-10">
                <a:solidFill>
                  <a:srgbClr val="006FC0"/>
                </a:solidFill>
                <a:latin typeface="黑体"/>
                <a:cs typeface="黑体"/>
              </a:rPr>
              <a:t>复制一份，第</a:t>
            </a:r>
            <a:r>
              <a:rPr dirty="0" sz="1800" spc="-10">
                <a:solidFill>
                  <a:srgbClr val="006FC0"/>
                </a:solidFill>
                <a:latin typeface="Calibri"/>
                <a:cs typeface="Calibri"/>
              </a:rPr>
              <a:t>i+1</a:t>
            </a:r>
            <a:r>
              <a:rPr dirty="0" sz="1800" spc="-25">
                <a:solidFill>
                  <a:srgbClr val="006FC0"/>
                </a:solidFill>
                <a:latin typeface="黑体"/>
                <a:cs typeface="黑体"/>
              </a:rPr>
              <a:t>次迭代</a:t>
            </a:r>
            <a:endParaRPr sz="1800">
              <a:latin typeface="黑体"/>
              <a:cs typeface="黑体"/>
            </a:endParaRPr>
          </a:p>
          <a:p>
            <a:pPr marL="86360">
              <a:lnSpc>
                <a:spcPts val="2750"/>
              </a:lnSpc>
            </a:pPr>
            <a:r>
              <a:rPr dirty="0" sz="2400" spc="-50">
                <a:solidFill>
                  <a:srgbClr val="006FC0"/>
                </a:solidFill>
                <a:latin typeface="Calibri"/>
                <a:cs typeface="Calibri"/>
              </a:rPr>
              <a:t>}</a:t>
            </a:r>
            <a:endParaRPr sz="2400">
              <a:latin typeface="Calibri"/>
              <a:cs typeface="Calibri"/>
            </a:endParaRPr>
          </a:p>
        </p:txBody>
      </p:sp>
      <p:sp>
        <p:nvSpPr>
          <p:cNvPr id="14" name="object 14" descr=""/>
          <p:cNvSpPr/>
          <p:nvPr/>
        </p:nvSpPr>
        <p:spPr>
          <a:xfrm>
            <a:off x="4754626" y="1687448"/>
            <a:ext cx="7272655" cy="2965450"/>
          </a:xfrm>
          <a:custGeom>
            <a:avLst/>
            <a:gdLst/>
            <a:ahLst/>
            <a:cxnLst/>
            <a:rect l="l" t="t" r="r" b="b"/>
            <a:pathLst>
              <a:path w="7272655" h="2965450">
                <a:moveTo>
                  <a:pt x="0" y="2965450"/>
                </a:moveTo>
                <a:lnTo>
                  <a:pt x="7272401" y="2965450"/>
                </a:lnTo>
                <a:lnTo>
                  <a:pt x="7272401" y="0"/>
                </a:lnTo>
                <a:lnTo>
                  <a:pt x="0" y="0"/>
                </a:lnTo>
                <a:lnTo>
                  <a:pt x="0" y="2965450"/>
                </a:lnTo>
                <a:close/>
              </a:path>
            </a:pathLst>
          </a:custGeom>
          <a:ln w="9525">
            <a:solidFill>
              <a:srgbClr val="006FC0"/>
            </a:solidFill>
          </a:ln>
        </p:spPr>
        <p:txBody>
          <a:bodyPr wrap="square" lIns="0" tIns="0" rIns="0" bIns="0" rtlCol="0"/>
          <a:lstStyle/>
          <a:p/>
        </p:txBody>
      </p:sp>
      <p:sp>
        <p:nvSpPr>
          <p:cNvPr id="15" name="object 15" descr=""/>
          <p:cNvSpPr txBox="1"/>
          <p:nvPr/>
        </p:nvSpPr>
        <p:spPr>
          <a:xfrm>
            <a:off x="4759388" y="1658492"/>
            <a:ext cx="7263130" cy="2578735"/>
          </a:xfrm>
          <a:prstGeom prst="rect">
            <a:avLst/>
          </a:prstGeom>
        </p:spPr>
        <p:txBody>
          <a:bodyPr wrap="square" lIns="0" tIns="12700" rIns="0" bIns="0" rtlCol="0" vert="horz">
            <a:spAutoFit/>
          </a:bodyPr>
          <a:lstStyle/>
          <a:p>
            <a:pPr marL="86995">
              <a:lnSpc>
                <a:spcPts val="2675"/>
              </a:lnSpc>
              <a:spcBef>
                <a:spcPts val="100"/>
              </a:spcBef>
            </a:pPr>
            <a:r>
              <a:rPr dirty="0" sz="2400" spc="-20" b="1">
                <a:solidFill>
                  <a:srgbClr val="40458B"/>
                </a:solidFill>
                <a:latin typeface="黑体"/>
                <a:cs typeface="黑体"/>
              </a:rPr>
              <a:t>循环展开</a:t>
            </a:r>
            <a:r>
              <a:rPr dirty="0" sz="2400" spc="-10" b="1">
                <a:solidFill>
                  <a:srgbClr val="40458B"/>
                </a:solidFill>
                <a:latin typeface="Tahoma"/>
                <a:cs typeface="Tahoma"/>
              </a:rPr>
              <a:t>4</a:t>
            </a:r>
            <a:r>
              <a:rPr dirty="0" sz="2400" spc="-35" b="1">
                <a:solidFill>
                  <a:srgbClr val="40458B"/>
                </a:solidFill>
                <a:latin typeface="黑体"/>
                <a:cs typeface="黑体"/>
              </a:rPr>
              <a:t>次后</a:t>
            </a:r>
            <a:endParaRPr sz="2400">
              <a:latin typeface="黑体"/>
              <a:cs typeface="黑体"/>
            </a:endParaRPr>
          </a:p>
          <a:p>
            <a:pPr marL="86995">
              <a:lnSpc>
                <a:spcPts val="2485"/>
              </a:lnSpc>
            </a:pPr>
            <a:r>
              <a:rPr dirty="0" sz="2400">
                <a:solidFill>
                  <a:srgbClr val="A625A3"/>
                </a:solidFill>
                <a:latin typeface="Calibri"/>
                <a:cs typeface="Calibri"/>
              </a:rPr>
              <a:t>for</a:t>
            </a:r>
            <a:r>
              <a:rPr dirty="0" sz="2400" spc="-25">
                <a:solidFill>
                  <a:srgbClr val="A625A3"/>
                </a:solidFill>
                <a:latin typeface="Calibri"/>
                <a:cs typeface="Calibri"/>
              </a:rPr>
              <a:t> </a:t>
            </a:r>
            <a:r>
              <a:rPr dirty="0" sz="2400">
                <a:solidFill>
                  <a:srgbClr val="383942"/>
                </a:solidFill>
                <a:latin typeface="Calibri"/>
                <a:cs typeface="Calibri"/>
              </a:rPr>
              <a:t>(</a:t>
            </a:r>
            <a:r>
              <a:rPr dirty="0" sz="2400">
                <a:solidFill>
                  <a:srgbClr val="A625A3"/>
                </a:solidFill>
                <a:latin typeface="Calibri"/>
                <a:cs typeface="Calibri"/>
              </a:rPr>
              <a:t>int</a:t>
            </a:r>
            <a:r>
              <a:rPr dirty="0" sz="2400" spc="-30">
                <a:solidFill>
                  <a:srgbClr val="A625A3"/>
                </a:solidFill>
                <a:latin typeface="Calibri"/>
                <a:cs typeface="Calibri"/>
              </a:rPr>
              <a:t> </a:t>
            </a:r>
            <a:r>
              <a:rPr dirty="0" sz="2400">
                <a:solidFill>
                  <a:srgbClr val="0E1115"/>
                </a:solidFill>
                <a:latin typeface="Calibri"/>
                <a:cs typeface="Calibri"/>
              </a:rPr>
              <a:t>i</a:t>
            </a:r>
            <a:r>
              <a:rPr dirty="0" sz="2400" spc="-20">
                <a:solidFill>
                  <a:srgbClr val="0E1115"/>
                </a:solidFill>
                <a:latin typeface="Calibri"/>
                <a:cs typeface="Calibri"/>
              </a:rPr>
              <a:t> </a:t>
            </a:r>
            <a:r>
              <a:rPr dirty="0" sz="2400" spc="-15">
                <a:solidFill>
                  <a:srgbClr val="4078F1"/>
                </a:solidFill>
                <a:latin typeface="Calibri"/>
                <a:cs typeface="Calibri"/>
              </a:rPr>
              <a:t>= </a:t>
            </a:r>
            <a:r>
              <a:rPr dirty="0" sz="2400">
                <a:solidFill>
                  <a:srgbClr val="B76B00"/>
                </a:solidFill>
                <a:latin typeface="Calibri"/>
                <a:cs typeface="Calibri"/>
              </a:rPr>
              <a:t>0</a:t>
            </a:r>
            <a:r>
              <a:rPr dirty="0" sz="2400" spc="-15">
                <a:solidFill>
                  <a:srgbClr val="383942"/>
                </a:solidFill>
                <a:latin typeface="Calibri"/>
                <a:cs typeface="Calibri"/>
              </a:rPr>
              <a:t>; </a:t>
            </a:r>
            <a:r>
              <a:rPr dirty="0" sz="2400">
                <a:solidFill>
                  <a:srgbClr val="0E1115"/>
                </a:solidFill>
                <a:latin typeface="Calibri"/>
                <a:cs typeface="Calibri"/>
              </a:rPr>
              <a:t>i</a:t>
            </a:r>
            <a:r>
              <a:rPr dirty="0" sz="2400" spc="-20">
                <a:solidFill>
                  <a:srgbClr val="0E1115"/>
                </a:solidFill>
                <a:latin typeface="Calibri"/>
                <a:cs typeface="Calibri"/>
              </a:rPr>
              <a:t> </a:t>
            </a:r>
            <a:r>
              <a:rPr dirty="0" sz="2400" spc="-10">
                <a:solidFill>
                  <a:srgbClr val="4078F1"/>
                </a:solidFill>
                <a:latin typeface="Calibri"/>
                <a:cs typeface="Calibri"/>
              </a:rPr>
              <a:t>&lt; </a:t>
            </a:r>
            <a:r>
              <a:rPr dirty="0" sz="2400">
                <a:solidFill>
                  <a:srgbClr val="B76B00"/>
                </a:solidFill>
                <a:latin typeface="Calibri"/>
                <a:cs typeface="Calibri"/>
              </a:rPr>
              <a:t>1000</a:t>
            </a:r>
            <a:r>
              <a:rPr dirty="0" sz="2400" spc="-10">
                <a:solidFill>
                  <a:srgbClr val="383942"/>
                </a:solidFill>
                <a:latin typeface="Calibri"/>
                <a:cs typeface="Calibri"/>
              </a:rPr>
              <a:t>; </a:t>
            </a:r>
            <a:r>
              <a:rPr dirty="0" sz="2400">
                <a:solidFill>
                  <a:srgbClr val="0E1115"/>
                </a:solidFill>
                <a:latin typeface="Calibri"/>
                <a:cs typeface="Calibri"/>
              </a:rPr>
              <a:t>i</a:t>
            </a:r>
            <a:r>
              <a:rPr dirty="0" sz="2400" spc="-20">
                <a:solidFill>
                  <a:srgbClr val="0E1115"/>
                </a:solidFill>
                <a:latin typeface="Calibri"/>
                <a:cs typeface="Calibri"/>
              </a:rPr>
              <a:t> </a:t>
            </a:r>
            <a:r>
              <a:rPr dirty="0" sz="2400" spc="-10">
                <a:solidFill>
                  <a:srgbClr val="4078F1"/>
                </a:solidFill>
                <a:latin typeface="Calibri"/>
                <a:cs typeface="Calibri"/>
              </a:rPr>
              <a:t>+= </a:t>
            </a:r>
            <a:r>
              <a:rPr dirty="0" sz="2400">
                <a:solidFill>
                  <a:srgbClr val="B76B00"/>
                </a:solidFill>
                <a:latin typeface="Calibri"/>
                <a:cs typeface="Calibri"/>
              </a:rPr>
              <a:t>4</a:t>
            </a:r>
            <a:r>
              <a:rPr dirty="0" sz="2400" spc="-10">
                <a:solidFill>
                  <a:srgbClr val="383942"/>
                </a:solidFill>
                <a:latin typeface="Calibri"/>
                <a:cs typeface="Calibri"/>
              </a:rPr>
              <a:t>) </a:t>
            </a:r>
            <a:r>
              <a:rPr dirty="0" sz="1800">
                <a:solidFill>
                  <a:srgbClr val="006FC0"/>
                </a:solidFill>
                <a:latin typeface="Calibri"/>
                <a:cs typeface="Calibri"/>
              </a:rPr>
              <a:t>// </a:t>
            </a:r>
            <a:r>
              <a:rPr dirty="0" sz="1800" spc="-5">
                <a:solidFill>
                  <a:srgbClr val="006FC0"/>
                </a:solidFill>
                <a:latin typeface="黑体"/>
                <a:cs typeface="黑体"/>
              </a:rPr>
              <a:t>步长变为</a:t>
            </a:r>
            <a:r>
              <a:rPr dirty="0" sz="1800" spc="-10">
                <a:solidFill>
                  <a:srgbClr val="006FC0"/>
                </a:solidFill>
                <a:latin typeface="Calibri"/>
                <a:cs typeface="Calibri"/>
              </a:rPr>
              <a:t>4</a:t>
            </a:r>
            <a:r>
              <a:rPr dirty="0" sz="1800" spc="-5">
                <a:solidFill>
                  <a:srgbClr val="006FC0"/>
                </a:solidFill>
                <a:latin typeface="黑体"/>
                <a:cs typeface="黑体"/>
              </a:rPr>
              <a:t>，迭代次数为</a:t>
            </a:r>
            <a:r>
              <a:rPr dirty="0" sz="1800" spc="-20">
                <a:solidFill>
                  <a:srgbClr val="006FC0"/>
                </a:solidFill>
                <a:latin typeface="Calibri"/>
                <a:cs typeface="Calibri"/>
              </a:rPr>
              <a:t>250</a:t>
            </a:r>
            <a:r>
              <a:rPr dirty="0" sz="1800" spc="-50">
                <a:solidFill>
                  <a:srgbClr val="006FC0"/>
                </a:solidFill>
                <a:latin typeface="黑体"/>
                <a:cs typeface="黑体"/>
              </a:rPr>
              <a:t>次</a:t>
            </a:r>
            <a:endParaRPr sz="1800">
              <a:latin typeface="黑体"/>
              <a:cs typeface="黑体"/>
            </a:endParaRPr>
          </a:p>
          <a:p>
            <a:pPr marL="86995">
              <a:lnSpc>
                <a:spcPts val="2690"/>
              </a:lnSpc>
            </a:pPr>
            <a:r>
              <a:rPr dirty="0" sz="2400" spc="-50">
                <a:solidFill>
                  <a:srgbClr val="383942"/>
                </a:solidFill>
                <a:latin typeface="Calibri"/>
                <a:cs typeface="Calibri"/>
              </a:rPr>
              <a:t>{</a:t>
            </a:r>
            <a:endParaRPr sz="2400">
              <a:latin typeface="Calibri"/>
              <a:cs typeface="Calibri"/>
            </a:endParaRPr>
          </a:p>
          <a:p>
            <a:pPr marL="290830">
              <a:lnSpc>
                <a:spcPct val="100000"/>
              </a:lnSpc>
              <a:spcBef>
                <a:spcPts val="75"/>
              </a:spcBef>
              <a:tabLst>
                <a:tab pos="2184400" algn="l"/>
              </a:tabLst>
            </a:pPr>
            <a:r>
              <a:rPr dirty="0" sz="2400">
                <a:solidFill>
                  <a:srgbClr val="0E1115"/>
                </a:solidFill>
                <a:latin typeface="Calibri"/>
                <a:cs typeface="Calibri"/>
              </a:rPr>
              <a:t>a</a:t>
            </a:r>
            <a:r>
              <a:rPr dirty="0" sz="2400">
                <a:solidFill>
                  <a:srgbClr val="383942"/>
                </a:solidFill>
                <a:latin typeface="Calibri"/>
                <a:cs typeface="Calibri"/>
              </a:rPr>
              <a:t>[</a:t>
            </a:r>
            <a:r>
              <a:rPr dirty="0" sz="2400">
                <a:solidFill>
                  <a:srgbClr val="0E1115"/>
                </a:solidFill>
                <a:latin typeface="Calibri"/>
                <a:cs typeface="Calibri"/>
              </a:rPr>
              <a:t>i</a:t>
            </a:r>
            <a:r>
              <a:rPr dirty="0" sz="2400" spc="-10">
                <a:solidFill>
                  <a:srgbClr val="383942"/>
                </a:solidFill>
                <a:latin typeface="Calibri"/>
                <a:cs typeface="Calibri"/>
              </a:rPr>
              <a:t>] </a:t>
            </a:r>
            <a:r>
              <a:rPr dirty="0" sz="2400" spc="-10">
                <a:solidFill>
                  <a:srgbClr val="4078F1"/>
                </a:solidFill>
                <a:latin typeface="Calibri"/>
                <a:cs typeface="Calibri"/>
              </a:rPr>
              <a:t>= </a:t>
            </a:r>
            <a:r>
              <a:rPr dirty="0" sz="2400">
                <a:solidFill>
                  <a:srgbClr val="0E1115"/>
                </a:solidFill>
                <a:latin typeface="Calibri"/>
                <a:cs typeface="Calibri"/>
              </a:rPr>
              <a:t>a</a:t>
            </a:r>
            <a:r>
              <a:rPr dirty="0" sz="2400">
                <a:solidFill>
                  <a:srgbClr val="383942"/>
                </a:solidFill>
                <a:latin typeface="Calibri"/>
                <a:cs typeface="Calibri"/>
              </a:rPr>
              <a:t>[</a:t>
            </a:r>
            <a:r>
              <a:rPr dirty="0" sz="2400">
                <a:solidFill>
                  <a:srgbClr val="0E1115"/>
                </a:solidFill>
                <a:latin typeface="Calibri"/>
                <a:cs typeface="Calibri"/>
              </a:rPr>
              <a:t>i</a:t>
            </a:r>
            <a:r>
              <a:rPr dirty="0" sz="2400" spc="-15">
                <a:solidFill>
                  <a:srgbClr val="383942"/>
                </a:solidFill>
                <a:latin typeface="Calibri"/>
                <a:cs typeface="Calibri"/>
              </a:rPr>
              <a:t>] </a:t>
            </a:r>
            <a:r>
              <a:rPr dirty="0" sz="2400" spc="-10">
                <a:solidFill>
                  <a:srgbClr val="4078F1"/>
                </a:solidFill>
                <a:latin typeface="Calibri"/>
                <a:cs typeface="Calibri"/>
              </a:rPr>
              <a:t>+ </a:t>
            </a:r>
            <a:r>
              <a:rPr dirty="0" sz="2400" spc="-25">
                <a:solidFill>
                  <a:srgbClr val="B76B00"/>
                </a:solidFill>
                <a:latin typeface="Calibri"/>
                <a:cs typeface="Calibri"/>
              </a:rPr>
              <a:t>1</a:t>
            </a:r>
            <a:r>
              <a:rPr dirty="0" sz="2400" spc="-25">
                <a:solidFill>
                  <a:srgbClr val="383942"/>
                </a:solidFill>
                <a:latin typeface="Calibri"/>
                <a:cs typeface="Calibri"/>
              </a:rPr>
              <a:t>;</a:t>
            </a:r>
            <a:r>
              <a:rPr dirty="0" sz="2400">
                <a:solidFill>
                  <a:srgbClr val="383942"/>
                </a:solidFill>
                <a:latin typeface="Calibri"/>
                <a:cs typeface="Calibri"/>
              </a:rPr>
              <a:t>	</a:t>
            </a:r>
            <a:r>
              <a:rPr dirty="0" sz="1800" spc="-5">
                <a:solidFill>
                  <a:srgbClr val="006FC0"/>
                </a:solidFill>
                <a:latin typeface="Calibri"/>
                <a:cs typeface="Calibri"/>
              </a:rPr>
              <a:t>// </a:t>
            </a:r>
            <a:r>
              <a:rPr dirty="0" sz="1800">
                <a:solidFill>
                  <a:srgbClr val="006FC0"/>
                </a:solidFill>
                <a:latin typeface="黑体"/>
                <a:cs typeface="黑体"/>
              </a:rPr>
              <a:t>原循环体，第</a:t>
            </a:r>
            <a:r>
              <a:rPr dirty="0" sz="1800" spc="-10">
                <a:solidFill>
                  <a:srgbClr val="006FC0"/>
                </a:solidFill>
                <a:latin typeface="Calibri"/>
                <a:cs typeface="Calibri"/>
              </a:rPr>
              <a:t>i</a:t>
            </a:r>
            <a:r>
              <a:rPr dirty="0" sz="1800" spc="-20">
                <a:solidFill>
                  <a:srgbClr val="006FC0"/>
                </a:solidFill>
                <a:latin typeface="黑体"/>
                <a:cs typeface="黑体"/>
              </a:rPr>
              <a:t>次迭代</a:t>
            </a:r>
            <a:endParaRPr sz="1800">
              <a:latin typeface="黑体"/>
              <a:cs typeface="黑体"/>
            </a:endParaRPr>
          </a:p>
          <a:p>
            <a:pPr marL="290830">
              <a:lnSpc>
                <a:spcPct val="100000"/>
              </a:lnSpc>
              <a:spcBef>
                <a:spcPts val="215"/>
              </a:spcBef>
            </a:pPr>
            <a:r>
              <a:rPr dirty="0" sz="2400">
                <a:solidFill>
                  <a:srgbClr val="FF5CFF"/>
                </a:solidFill>
                <a:latin typeface="Calibri"/>
                <a:cs typeface="Calibri"/>
              </a:rPr>
              <a:t>a[i+1]</a:t>
            </a:r>
            <a:r>
              <a:rPr dirty="0" sz="2400" spc="-20">
                <a:solidFill>
                  <a:srgbClr val="FF5CFF"/>
                </a:solidFill>
                <a:latin typeface="Calibri"/>
                <a:cs typeface="Calibri"/>
              </a:rPr>
              <a:t> = </a:t>
            </a:r>
            <a:r>
              <a:rPr dirty="0" sz="2400">
                <a:solidFill>
                  <a:srgbClr val="FF5CFF"/>
                </a:solidFill>
                <a:latin typeface="Calibri"/>
                <a:cs typeface="Calibri"/>
              </a:rPr>
              <a:t>a[i+1]</a:t>
            </a:r>
            <a:r>
              <a:rPr dirty="0" sz="2400" spc="-25">
                <a:solidFill>
                  <a:srgbClr val="FF5CFF"/>
                </a:solidFill>
                <a:latin typeface="Calibri"/>
                <a:cs typeface="Calibri"/>
              </a:rPr>
              <a:t> + </a:t>
            </a:r>
            <a:r>
              <a:rPr dirty="0" sz="2400">
                <a:solidFill>
                  <a:srgbClr val="FF5CFF"/>
                </a:solidFill>
                <a:latin typeface="Calibri"/>
                <a:cs typeface="Calibri"/>
              </a:rPr>
              <a:t>1</a:t>
            </a:r>
            <a:r>
              <a:rPr dirty="0" sz="2400" spc="-20">
                <a:solidFill>
                  <a:srgbClr val="383942"/>
                </a:solidFill>
                <a:latin typeface="Calibri"/>
                <a:cs typeface="Calibri"/>
              </a:rPr>
              <a:t>; </a:t>
            </a:r>
            <a:r>
              <a:rPr dirty="0" sz="1800" spc="-5">
                <a:solidFill>
                  <a:srgbClr val="006FC0"/>
                </a:solidFill>
                <a:latin typeface="Calibri"/>
                <a:cs typeface="Calibri"/>
              </a:rPr>
              <a:t>// </a:t>
            </a:r>
            <a:r>
              <a:rPr dirty="0" sz="1800">
                <a:solidFill>
                  <a:srgbClr val="006FC0"/>
                </a:solidFill>
                <a:latin typeface="黑体"/>
                <a:cs typeface="黑体"/>
              </a:rPr>
              <a:t>复制一份，第</a:t>
            </a:r>
            <a:r>
              <a:rPr dirty="0" sz="1800" spc="-10">
                <a:solidFill>
                  <a:srgbClr val="006FC0"/>
                </a:solidFill>
                <a:latin typeface="Calibri"/>
                <a:cs typeface="Calibri"/>
              </a:rPr>
              <a:t>i+1</a:t>
            </a:r>
            <a:r>
              <a:rPr dirty="0" sz="1800" spc="-20">
                <a:solidFill>
                  <a:srgbClr val="006FC0"/>
                </a:solidFill>
                <a:latin typeface="黑体"/>
                <a:cs typeface="黑体"/>
              </a:rPr>
              <a:t>次迭代</a:t>
            </a:r>
            <a:endParaRPr sz="1800">
              <a:latin typeface="黑体"/>
              <a:cs typeface="黑体"/>
            </a:endParaRPr>
          </a:p>
          <a:p>
            <a:pPr marL="562610">
              <a:lnSpc>
                <a:spcPct val="100000"/>
              </a:lnSpc>
              <a:spcBef>
                <a:spcPts val="215"/>
              </a:spcBef>
            </a:pPr>
            <a:r>
              <a:rPr dirty="0" sz="2400">
                <a:solidFill>
                  <a:srgbClr val="00AF50"/>
                </a:solidFill>
                <a:latin typeface="Calibri"/>
                <a:cs typeface="Calibri"/>
              </a:rPr>
              <a:t>a[i+2]</a:t>
            </a:r>
            <a:r>
              <a:rPr dirty="0" sz="2400" spc="-15">
                <a:solidFill>
                  <a:srgbClr val="00AF50"/>
                </a:solidFill>
                <a:latin typeface="Calibri"/>
                <a:cs typeface="Calibri"/>
              </a:rPr>
              <a:t> </a:t>
            </a:r>
            <a:r>
              <a:rPr dirty="0" sz="2400">
                <a:solidFill>
                  <a:srgbClr val="00AF50"/>
                </a:solidFill>
                <a:latin typeface="Calibri"/>
                <a:cs typeface="Calibri"/>
              </a:rPr>
              <a:t>=</a:t>
            </a:r>
            <a:r>
              <a:rPr dirty="0" sz="2400" spc="-10">
                <a:solidFill>
                  <a:srgbClr val="00AF50"/>
                </a:solidFill>
                <a:latin typeface="Calibri"/>
                <a:cs typeface="Calibri"/>
              </a:rPr>
              <a:t> </a:t>
            </a:r>
            <a:r>
              <a:rPr dirty="0" sz="2400">
                <a:solidFill>
                  <a:srgbClr val="00AF50"/>
                </a:solidFill>
                <a:latin typeface="Calibri"/>
                <a:cs typeface="Calibri"/>
              </a:rPr>
              <a:t>a[i+2]</a:t>
            </a:r>
            <a:r>
              <a:rPr dirty="0" sz="2400" spc="-20">
                <a:solidFill>
                  <a:srgbClr val="00AF50"/>
                </a:solidFill>
                <a:latin typeface="Calibri"/>
                <a:cs typeface="Calibri"/>
              </a:rPr>
              <a:t> </a:t>
            </a:r>
            <a:r>
              <a:rPr dirty="0" sz="2400">
                <a:solidFill>
                  <a:srgbClr val="00AF50"/>
                </a:solidFill>
                <a:latin typeface="Calibri"/>
                <a:cs typeface="Calibri"/>
              </a:rPr>
              <a:t>+</a:t>
            </a:r>
            <a:r>
              <a:rPr dirty="0" sz="2400" spc="-10">
                <a:solidFill>
                  <a:srgbClr val="00AF50"/>
                </a:solidFill>
                <a:latin typeface="Calibri"/>
                <a:cs typeface="Calibri"/>
              </a:rPr>
              <a:t> </a:t>
            </a:r>
            <a:r>
              <a:rPr dirty="0" sz="2400" spc="-25">
                <a:solidFill>
                  <a:srgbClr val="00AF50"/>
                </a:solidFill>
                <a:latin typeface="Calibri"/>
                <a:cs typeface="Calibri"/>
              </a:rPr>
              <a:t>1</a:t>
            </a:r>
            <a:r>
              <a:rPr dirty="0" sz="2400" spc="-25">
                <a:solidFill>
                  <a:srgbClr val="001F5F"/>
                </a:solidFill>
                <a:latin typeface="Calibri"/>
                <a:cs typeface="Calibri"/>
              </a:rPr>
              <a:t>;</a:t>
            </a:r>
            <a:endParaRPr sz="2400">
              <a:latin typeface="Calibri"/>
              <a:cs typeface="Calibri"/>
            </a:endParaRPr>
          </a:p>
          <a:p>
            <a:pPr marL="290830">
              <a:lnSpc>
                <a:spcPct val="100000"/>
              </a:lnSpc>
              <a:spcBef>
                <a:spcPts val="229"/>
              </a:spcBef>
              <a:tabLst>
                <a:tab pos="2661285" algn="l"/>
              </a:tabLst>
            </a:pPr>
            <a:r>
              <a:rPr dirty="0" sz="2400">
                <a:solidFill>
                  <a:srgbClr val="001F5F"/>
                </a:solidFill>
                <a:latin typeface="Calibri"/>
                <a:cs typeface="Calibri"/>
              </a:rPr>
              <a:t>a[i+</a:t>
            </a:r>
            <a:r>
              <a:rPr dirty="0" sz="2400">
                <a:solidFill>
                  <a:srgbClr val="B76B00"/>
                </a:solidFill>
                <a:latin typeface="Calibri"/>
                <a:cs typeface="Calibri"/>
              </a:rPr>
              <a:t>3</a:t>
            </a:r>
            <a:r>
              <a:rPr dirty="0" sz="2400" spc="-20">
                <a:solidFill>
                  <a:srgbClr val="001F5F"/>
                </a:solidFill>
                <a:latin typeface="Calibri"/>
                <a:cs typeface="Calibri"/>
              </a:rPr>
              <a:t>] = </a:t>
            </a:r>
            <a:r>
              <a:rPr dirty="0" sz="2400">
                <a:solidFill>
                  <a:srgbClr val="001F5F"/>
                </a:solidFill>
                <a:latin typeface="Calibri"/>
                <a:cs typeface="Calibri"/>
              </a:rPr>
              <a:t>a[i+</a:t>
            </a:r>
            <a:r>
              <a:rPr dirty="0" sz="2400">
                <a:solidFill>
                  <a:srgbClr val="B76B00"/>
                </a:solidFill>
                <a:latin typeface="Calibri"/>
                <a:cs typeface="Calibri"/>
              </a:rPr>
              <a:t>3</a:t>
            </a:r>
            <a:r>
              <a:rPr dirty="0" sz="2400" spc="-25">
                <a:solidFill>
                  <a:srgbClr val="001F5F"/>
                </a:solidFill>
                <a:latin typeface="Calibri"/>
                <a:cs typeface="Calibri"/>
              </a:rPr>
              <a:t>] + </a:t>
            </a:r>
            <a:r>
              <a:rPr dirty="0" sz="2400" spc="-25">
                <a:solidFill>
                  <a:srgbClr val="B76B00"/>
                </a:solidFill>
                <a:latin typeface="Calibri"/>
                <a:cs typeface="Calibri"/>
              </a:rPr>
              <a:t>1</a:t>
            </a:r>
            <a:r>
              <a:rPr dirty="0" sz="2400" spc="-25">
                <a:solidFill>
                  <a:srgbClr val="001F5F"/>
                </a:solidFill>
                <a:latin typeface="Calibri"/>
                <a:cs typeface="Calibri"/>
              </a:rPr>
              <a:t>;</a:t>
            </a:r>
            <a:r>
              <a:rPr dirty="0" sz="2400">
                <a:solidFill>
                  <a:srgbClr val="001F5F"/>
                </a:solidFill>
                <a:latin typeface="Calibri"/>
                <a:cs typeface="Calibri"/>
              </a:rPr>
              <a:t>	</a:t>
            </a:r>
            <a:r>
              <a:rPr dirty="0" sz="1800" spc="-10">
                <a:solidFill>
                  <a:srgbClr val="006FC0"/>
                </a:solidFill>
                <a:latin typeface="Calibri"/>
                <a:cs typeface="Calibri"/>
              </a:rPr>
              <a:t>//</a:t>
            </a:r>
            <a:r>
              <a:rPr dirty="0" sz="1800" spc="-10">
                <a:solidFill>
                  <a:srgbClr val="006FC0"/>
                </a:solidFill>
                <a:latin typeface="黑体"/>
                <a:cs typeface="黑体"/>
              </a:rPr>
              <a:t>迭代之间无依赖</a:t>
            </a:r>
            <a:endParaRPr sz="1800">
              <a:latin typeface="黑体"/>
              <a:cs typeface="黑体"/>
            </a:endParaRPr>
          </a:p>
        </p:txBody>
      </p:sp>
      <p:sp>
        <p:nvSpPr>
          <p:cNvPr id="16" name="object 16" descr=""/>
          <p:cNvSpPr txBox="1"/>
          <p:nvPr/>
        </p:nvSpPr>
        <p:spPr>
          <a:xfrm>
            <a:off x="270763" y="1526465"/>
            <a:ext cx="4158615" cy="3069590"/>
          </a:xfrm>
          <a:prstGeom prst="rect">
            <a:avLst/>
          </a:prstGeom>
        </p:spPr>
        <p:txBody>
          <a:bodyPr wrap="square" lIns="0" tIns="114935" rIns="0" bIns="0" rtlCol="0" vert="horz">
            <a:spAutoFit/>
          </a:bodyPr>
          <a:lstStyle/>
          <a:p>
            <a:pPr marL="355600">
              <a:lnSpc>
                <a:spcPct val="100000"/>
              </a:lnSpc>
              <a:spcBef>
                <a:spcPts val="905"/>
              </a:spcBef>
            </a:pPr>
            <a:r>
              <a:rPr dirty="0" sz="2200" spc="-35">
                <a:solidFill>
                  <a:srgbClr val="E14B04"/>
                </a:solidFill>
                <a:latin typeface="黑体"/>
                <a:cs typeface="黑体"/>
              </a:rPr>
              <a:t>每次迭代包含：</a:t>
            </a:r>
            <a:endParaRPr sz="2200">
              <a:latin typeface="黑体"/>
              <a:cs typeface="黑体"/>
            </a:endParaRPr>
          </a:p>
          <a:p>
            <a:pPr marL="12700">
              <a:lnSpc>
                <a:spcPct val="100000"/>
              </a:lnSpc>
              <a:spcBef>
                <a:spcPts val="740"/>
              </a:spcBef>
            </a:pPr>
            <a:r>
              <a:rPr dirty="0" sz="2000" spc="-10">
                <a:solidFill>
                  <a:srgbClr val="006FC0"/>
                </a:solidFill>
                <a:latin typeface="Tahoma"/>
                <a:cs typeface="Tahoma"/>
              </a:rPr>
              <a:t>1</a:t>
            </a:r>
            <a:r>
              <a:rPr dirty="0" sz="2000" spc="-105">
                <a:solidFill>
                  <a:srgbClr val="006FC0"/>
                </a:solidFill>
                <a:latin typeface="黑体"/>
                <a:cs typeface="黑体"/>
              </a:rPr>
              <a:t>、比较 </a:t>
            </a:r>
            <a:r>
              <a:rPr dirty="0" sz="2000">
                <a:solidFill>
                  <a:srgbClr val="006FC0"/>
                </a:solidFill>
                <a:latin typeface="Tahoma"/>
                <a:cs typeface="Tahoma"/>
              </a:rPr>
              <a:t>i &lt; 1000</a:t>
            </a:r>
            <a:r>
              <a:rPr dirty="0" sz="2000" spc="-10">
                <a:solidFill>
                  <a:srgbClr val="006FC0"/>
                </a:solidFill>
                <a:latin typeface="Tahoma"/>
                <a:cs typeface="Tahoma"/>
              </a:rPr>
              <a:t> </a:t>
            </a:r>
            <a:r>
              <a:rPr dirty="0" sz="2000">
                <a:solidFill>
                  <a:srgbClr val="006FC0"/>
                </a:solidFill>
                <a:latin typeface="黑体"/>
                <a:cs typeface="黑体"/>
              </a:rPr>
              <a:t>（分支</a:t>
            </a:r>
            <a:r>
              <a:rPr dirty="0" sz="2000" spc="-50">
                <a:solidFill>
                  <a:srgbClr val="006FC0"/>
                </a:solidFill>
                <a:latin typeface="黑体"/>
                <a:cs typeface="黑体"/>
              </a:rPr>
              <a:t>）</a:t>
            </a:r>
            <a:endParaRPr sz="2000">
              <a:latin typeface="黑体"/>
              <a:cs typeface="黑体"/>
            </a:endParaRPr>
          </a:p>
          <a:p>
            <a:pPr marL="12700">
              <a:lnSpc>
                <a:spcPct val="100000"/>
              </a:lnSpc>
              <a:spcBef>
                <a:spcPts val="720"/>
              </a:spcBef>
            </a:pPr>
            <a:r>
              <a:rPr dirty="0" sz="2000" spc="-10">
                <a:solidFill>
                  <a:srgbClr val="006FC0"/>
                </a:solidFill>
                <a:latin typeface="Tahoma"/>
                <a:cs typeface="Tahoma"/>
              </a:rPr>
              <a:t>2</a:t>
            </a:r>
            <a:r>
              <a:rPr dirty="0" sz="2000" spc="-100">
                <a:solidFill>
                  <a:srgbClr val="006FC0"/>
                </a:solidFill>
                <a:latin typeface="黑体"/>
                <a:cs typeface="黑体"/>
              </a:rPr>
              <a:t>、加载 </a:t>
            </a:r>
            <a:r>
              <a:rPr dirty="0" sz="2000" spc="-20">
                <a:solidFill>
                  <a:srgbClr val="006FC0"/>
                </a:solidFill>
                <a:latin typeface="Tahoma"/>
                <a:cs typeface="Tahoma"/>
              </a:rPr>
              <a:t>a[i]</a:t>
            </a:r>
            <a:endParaRPr sz="2000">
              <a:latin typeface="Tahoma"/>
              <a:cs typeface="Tahoma"/>
            </a:endParaRPr>
          </a:p>
          <a:p>
            <a:pPr marL="12700">
              <a:lnSpc>
                <a:spcPct val="100000"/>
              </a:lnSpc>
              <a:spcBef>
                <a:spcPts val="720"/>
              </a:spcBef>
            </a:pPr>
            <a:r>
              <a:rPr dirty="0" sz="2000" spc="-10">
                <a:solidFill>
                  <a:srgbClr val="006FC0"/>
                </a:solidFill>
                <a:latin typeface="Tahoma"/>
                <a:cs typeface="Tahoma"/>
              </a:rPr>
              <a:t>3</a:t>
            </a:r>
            <a:r>
              <a:rPr dirty="0" sz="2000" spc="-75">
                <a:solidFill>
                  <a:srgbClr val="006FC0"/>
                </a:solidFill>
                <a:latin typeface="黑体"/>
                <a:cs typeface="黑体"/>
              </a:rPr>
              <a:t>、执行加法 </a:t>
            </a:r>
            <a:r>
              <a:rPr dirty="0" sz="2000">
                <a:solidFill>
                  <a:srgbClr val="006FC0"/>
                </a:solidFill>
                <a:latin typeface="Tahoma"/>
                <a:cs typeface="Tahoma"/>
              </a:rPr>
              <a:t>a[i]</a:t>
            </a:r>
            <a:r>
              <a:rPr dirty="0" sz="2000" spc="-5">
                <a:solidFill>
                  <a:srgbClr val="006FC0"/>
                </a:solidFill>
                <a:latin typeface="Tahoma"/>
                <a:cs typeface="Tahoma"/>
              </a:rPr>
              <a:t> + </a:t>
            </a:r>
            <a:r>
              <a:rPr dirty="0" sz="2000" spc="-50">
                <a:solidFill>
                  <a:srgbClr val="006FC0"/>
                </a:solidFill>
                <a:latin typeface="Tahoma"/>
                <a:cs typeface="Tahoma"/>
              </a:rPr>
              <a:t>1</a:t>
            </a:r>
            <a:endParaRPr sz="2000">
              <a:latin typeface="Tahoma"/>
              <a:cs typeface="Tahoma"/>
            </a:endParaRPr>
          </a:p>
          <a:p>
            <a:pPr marL="12700">
              <a:lnSpc>
                <a:spcPct val="100000"/>
              </a:lnSpc>
              <a:spcBef>
                <a:spcPts val="720"/>
              </a:spcBef>
            </a:pPr>
            <a:r>
              <a:rPr dirty="0" sz="2000" spc="-10">
                <a:solidFill>
                  <a:srgbClr val="006FC0"/>
                </a:solidFill>
                <a:latin typeface="Tahoma"/>
                <a:cs typeface="Tahoma"/>
              </a:rPr>
              <a:t>4</a:t>
            </a:r>
            <a:r>
              <a:rPr dirty="0" sz="2000" spc="-65">
                <a:solidFill>
                  <a:srgbClr val="006FC0"/>
                </a:solidFill>
                <a:latin typeface="黑体"/>
                <a:cs typeface="黑体"/>
              </a:rPr>
              <a:t>、存回结果到 </a:t>
            </a:r>
            <a:r>
              <a:rPr dirty="0" sz="2000" spc="-20">
                <a:solidFill>
                  <a:srgbClr val="006FC0"/>
                </a:solidFill>
                <a:latin typeface="Tahoma"/>
                <a:cs typeface="Tahoma"/>
              </a:rPr>
              <a:t>a[i]</a:t>
            </a:r>
            <a:endParaRPr sz="2000">
              <a:latin typeface="Tahoma"/>
              <a:cs typeface="Tahoma"/>
            </a:endParaRPr>
          </a:p>
          <a:p>
            <a:pPr marL="12700">
              <a:lnSpc>
                <a:spcPct val="100000"/>
              </a:lnSpc>
              <a:spcBef>
                <a:spcPts val="725"/>
              </a:spcBef>
            </a:pPr>
            <a:r>
              <a:rPr dirty="0" sz="2000" spc="-10">
                <a:solidFill>
                  <a:srgbClr val="006FC0"/>
                </a:solidFill>
                <a:latin typeface="Tahoma"/>
                <a:cs typeface="Tahoma"/>
              </a:rPr>
              <a:t>5</a:t>
            </a:r>
            <a:r>
              <a:rPr dirty="0" sz="2000" spc="-100">
                <a:solidFill>
                  <a:srgbClr val="006FC0"/>
                </a:solidFill>
                <a:latin typeface="黑体"/>
                <a:cs typeface="黑体"/>
              </a:rPr>
              <a:t>、递增 </a:t>
            </a:r>
            <a:r>
              <a:rPr dirty="0" sz="2000" spc="-25">
                <a:solidFill>
                  <a:srgbClr val="006FC0"/>
                </a:solidFill>
                <a:latin typeface="Tahoma"/>
                <a:cs typeface="Tahoma"/>
              </a:rPr>
              <a:t>i++</a:t>
            </a:r>
            <a:endParaRPr sz="2000">
              <a:latin typeface="Tahoma"/>
              <a:cs typeface="Tahoma"/>
            </a:endParaRPr>
          </a:p>
          <a:p>
            <a:pPr algn="r" marR="5080">
              <a:lnSpc>
                <a:spcPct val="100000"/>
              </a:lnSpc>
              <a:spcBef>
                <a:spcPts val="2020"/>
              </a:spcBef>
            </a:pPr>
            <a:r>
              <a:rPr dirty="0" sz="2400">
                <a:solidFill>
                  <a:srgbClr val="006FC0"/>
                </a:solidFill>
                <a:latin typeface="黑体"/>
                <a:cs typeface="黑体"/>
              </a:rPr>
              <a:t>假设</a:t>
            </a:r>
            <a:r>
              <a:rPr dirty="0" sz="2400" spc="-25">
                <a:solidFill>
                  <a:srgbClr val="006FC0"/>
                </a:solidFill>
                <a:latin typeface="Tahoma"/>
                <a:cs typeface="Tahoma"/>
              </a:rPr>
              <a:t>s=1</a:t>
            </a:r>
            <a:endParaRPr sz="2400">
              <a:latin typeface="Tahoma"/>
              <a:cs typeface="Tahoma"/>
            </a:endParaRPr>
          </a:p>
        </p:txBody>
      </p:sp>
      <p:sp>
        <p:nvSpPr>
          <p:cNvPr id="17" name="object 17" descr=""/>
          <p:cNvSpPr txBox="1"/>
          <p:nvPr/>
        </p:nvSpPr>
        <p:spPr>
          <a:xfrm>
            <a:off x="8171180" y="4728209"/>
            <a:ext cx="3378200" cy="748030"/>
          </a:xfrm>
          <a:prstGeom prst="rect">
            <a:avLst/>
          </a:prstGeom>
        </p:spPr>
        <p:txBody>
          <a:bodyPr wrap="square" lIns="0" tIns="31750" rIns="0" bIns="0" rtlCol="0" vert="horz">
            <a:spAutoFit/>
          </a:bodyPr>
          <a:lstStyle/>
          <a:p>
            <a:pPr marL="12700" marR="5080">
              <a:lnSpc>
                <a:spcPts val="2810"/>
              </a:lnSpc>
              <a:spcBef>
                <a:spcPts val="250"/>
              </a:spcBef>
            </a:pPr>
            <a:r>
              <a:rPr dirty="0" sz="2400" spc="-5">
                <a:solidFill>
                  <a:srgbClr val="006FC0"/>
                </a:solidFill>
                <a:latin typeface="黑体"/>
                <a:cs typeface="黑体"/>
              </a:rPr>
              <a:t>由展开可以得知，多次迭代可以合并到一次迭代中</a:t>
            </a:r>
            <a:endParaRPr sz="2400">
              <a:latin typeface="黑体"/>
              <a:cs typeface="黑体"/>
            </a:endParaRPr>
          </a:p>
        </p:txBody>
      </p:sp>
      <p:sp>
        <p:nvSpPr>
          <p:cNvPr id="18" name="object 18" descr=""/>
          <p:cNvSpPr txBox="1"/>
          <p:nvPr/>
        </p:nvSpPr>
        <p:spPr>
          <a:xfrm>
            <a:off x="7966329" y="5736437"/>
            <a:ext cx="3683000" cy="748030"/>
          </a:xfrm>
          <a:prstGeom prst="rect">
            <a:avLst/>
          </a:prstGeom>
        </p:spPr>
        <p:txBody>
          <a:bodyPr wrap="square" lIns="0" tIns="12700" rIns="0" bIns="0" rtlCol="0" vert="horz">
            <a:spAutoFit/>
          </a:bodyPr>
          <a:lstStyle/>
          <a:p>
            <a:pPr marL="12700">
              <a:lnSpc>
                <a:spcPts val="2845"/>
              </a:lnSpc>
              <a:spcBef>
                <a:spcPts val="100"/>
              </a:spcBef>
            </a:pPr>
            <a:r>
              <a:rPr dirty="0" sz="2400" spc="-5">
                <a:solidFill>
                  <a:srgbClr val="006FC0"/>
                </a:solidFill>
                <a:latin typeface="黑体"/>
                <a:cs typeface="黑体"/>
              </a:rPr>
              <a:t>由循环展开到合并一次迭代</a:t>
            </a:r>
            <a:endParaRPr sz="2400">
              <a:latin typeface="黑体"/>
              <a:cs typeface="黑体"/>
            </a:endParaRPr>
          </a:p>
          <a:p>
            <a:pPr marL="12700">
              <a:lnSpc>
                <a:spcPts val="2845"/>
              </a:lnSpc>
            </a:pPr>
            <a:r>
              <a:rPr dirty="0" sz="2400" spc="-5">
                <a:solidFill>
                  <a:srgbClr val="006FC0"/>
                </a:solidFill>
                <a:latin typeface="黑体"/>
                <a:cs typeface="黑体"/>
              </a:rPr>
              <a:t>，你可以得出什么结论？</a:t>
            </a:r>
            <a:endParaRPr sz="2400">
              <a:latin typeface="黑体"/>
              <a:cs typeface="黑体"/>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15/89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217119" y="864869"/>
            <a:ext cx="11874500" cy="4746625"/>
          </a:xfrm>
          <a:prstGeom prst="rect">
            <a:avLst/>
          </a:prstGeom>
        </p:spPr>
        <p:txBody>
          <a:bodyPr wrap="square" lIns="0" tIns="12700" rIns="0" bIns="0" rtlCol="0" vert="horz">
            <a:spAutoFit/>
          </a:bodyPr>
          <a:lstStyle/>
          <a:p>
            <a:pPr marL="158750" marR="755015" indent="-21590">
              <a:lnSpc>
                <a:spcPct val="150100"/>
              </a:lnSpc>
              <a:spcBef>
                <a:spcPts val="100"/>
              </a:spcBef>
            </a:pPr>
            <a:r>
              <a:rPr dirty="0" u="sng" sz="2400">
                <a:solidFill>
                  <a:srgbClr val="FF0000"/>
                </a:solidFill>
                <a:uFill>
                  <a:solidFill>
                    <a:srgbClr val="FF0000"/>
                  </a:solidFill>
                </a:uFill>
                <a:latin typeface="黑体"/>
                <a:cs typeface="黑体"/>
              </a:rPr>
              <a:t>循环展开的本质</a:t>
            </a:r>
            <a:r>
              <a:rPr dirty="0" u="none" sz="2400">
                <a:solidFill>
                  <a:srgbClr val="E14B04"/>
                </a:solidFill>
                <a:latin typeface="黑体"/>
                <a:cs typeface="黑体"/>
              </a:rPr>
              <a:t>是增加循环体内语句的并行性（</a:t>
            </a:r>
            <a:r>
              <a:rPr dirty="0" u="none" sz="2400" spc="-5">
                <a:solidFill>
                  <a:srgbClr val="FF09FF"/>
                </a:solidFill>
                <a:latin typeface="黑体"/>
                <a:cs typeface="黑体"/>
              </a:rPr>
              <a:t>前提是循环体中不存在递推关系或</a:t>
            </a:r>
            <a:r>
              <a:rPr dirty="0" u="none" sz="2400">
                <a:solidFill>
                  <a:srgbClr val="FF09FF"/>
                </a:solidFill>
                <a:latin typeface="黑体"/>
                <a:cs typeface="黑体"/>
              </a:rPr>
              <a:t>数据相关，例如</a:t>
            </a:r>
            <a:r>
              <a:rPr dirty="0" u="none" sz="2400" spc="-10">
                <a:solidFill>
                  <a:srgbClr val="FF09FF"/>
                </a:solidFill>
                <a:latin typeface="Tahoma"/>
                <a:cs typeface="Tahoma"/>
              </a:rPr>
              <a:t>a[i]=a[i-1]</a:t>
            </a:r>
            <a:r>
              <a:rPr dirty="0" u="none" sz="2400" spc="-10">
                <a:solidFill>
                  <a:srgbClr val="E14B04"/>
                </a:solidFill>
                <a:latin typeface="黑体"/>
                <a:cs typeface="黑体"/>
              </a:rPr>
              <a:t>），</a:t>
            </a:r>
            <a:r>
              <a:rPr dirty="0" u="none" sz="2400">
                <a:solidFill>
                  <a:srgbClr val="E14B04"/>
                </a:solidFill>
                <a:latin typeface="黑体"/>
                <a:cs typeface="黑体"/>
              </a:rPr>
              <a:t>利用</a:t>
            </a:r>
            <a:r>
              <a:rPr dirty="0" u="none" sz="2400" spc="-10">
                <a:solidFill>
                  <a:srgbClr val="E14B04"/>
                </a:solidFill>
                <a:latin typeface="Tahoma"/>
                <a:cs typeface="Tahoma"/>
              </a:rPr>
              <a:t>CPU</a:t>
            </a:r>
            <a:r>
              <a:rPr dirty="0" u="none" sz="2400" spc="-5">
                <a:solidFill>
                  <a:srgbClr val="E14B04"/>
                </a:solidFill>
                <a:latin typeface="黑体"/>
                <a:cs typeface="黑体"/>
              </a:rPr>
              <a:t>指令级并行，减少更多的停顿。</a:t>
            </a:r>
            <a:endParaRPr sz="2400">
              <a:latin typeface="黑体"/>
              <a:cs typeface="黑体"/>
            </a:endParaRPr>
          </a:p>
          <a:p>
            <a:pPr marL="1050290" marR="626110" indent="-457200">
              <a:lnSpc>
                <a:spcPct val="150000"/>
              </a:lnSpc>
              <a:spcBef>
                <a:spcPts val="575"/>
              </a:spcBef>
              <a:buClr>
                <a:srgbClr val="40458B"/>
              </a:buClr>
              <a:buSzPct val="89583"/>
              <a:buFont typeface="Wingdings"/>
              <a:buChar char=""/>
              <a:tabLst>
                <a:tab pos="1050290" algn="l"/>
              </a:tabLst>
            </a:pPr>
            <a:r>
              <a:rPr dirty="0" sz="2400">
                <a:solidFill>
                  <a:srgbClr val="0000CC"/>
                </a:solidFill>
                <a:latin typeface="黑体"/>
                <a:cs typeface="黑体"/>
              </a:rPr>
              <a:t>循环展开本身并不直接创造并行，而是通过循环展开后为指令级并行</a:t>
            </a:r>
            <a:r>
              <a:rPr dirty="0" sz="2400" spc="-10">
                <a:solidFill>
                  <a:srgbClr val="0000CC"/>
                </a:solidFill>
                <a:latin typeface="黑体"/>
                <a:cs typeface="黑体"/>
              </a:rPr>
              <a:t>（</a:t>
            </a:r>
            <a:r>
              <a:rPr dirty="0" sz="2400" spc="-10">
                <a:solidFill>
                  <a:srgbClr val="0000CC"/>
                </a:solidFill>
                <a:latin typeface="Tahoma"/>
                <a:cs typeface="Tahoma"/>
              </a:rPr>
              <a:t>ILP</a:t>
            </a:r>
            <a:r>
              <a:rPr dirty="0" sz="2400" spc="-10">
                <a:solidFill>
                  <a:srgbClr val="0000CC"/>
                </a:solidFill>
                <a:latin typeface="黑体"/>
                <a:cs typeface="黑体"/>
              </a:rPr>
              <a:t>）</a:t>
            </a:r>
            <a:r>
              <a:rPr dirty="0" sz="2400" spc="-20">
                <a:solidFill>
                  <a:srgbClr val="0000CC"/>
                </a:solidFill>
                <a:latin typeface="黑体"/>
                <a:cs typeface="黑体"/>
              </a:rPr>
              <a:t>创造了条件</a:t>
            </a:r>
            <a:endParaRPr sz="2400">
              <a:latin typeface="黑体"/>
              <a:cs typeface="黑体"/>
            </a:endParaRPr>
          </a:p>
          <a:p>
            <a:pPr>
              <a:lnSpc>
                <a:spcPct val="100000"/>
              </a:lnSpc>
              <a:spcBef>
                <a:spcPts val="1120"/>
              </a:spcBef>
            </a:pPr>
            <a:endParaRPr sz="2400">
              <a:latin typeface="黑体"/>
              <a:cs typeface="黑体"/>
            </a:endParaRPr>
          </a:p>
          <a:p>
            <a:pPr marL="12700">
              <a:lnSpc>
                <a:spcPct val="100000"/>
              </a:lnSpc>
              <a:spcBef>
                <a:spcPts val="5"/>
              </a:spcBef>
            </a:pPr>
            <a:r>
              <a:rPr dirty="0" u="sng" sz="2400">
                <a:solidFill>
                  <a:srgbClr val="FF0000"/>
                </a:solidFill>
                <a:uFill>
                  <a:solidFill>
                    <a:srgbClr val="FF0000"/>
                  </a:solidFill>
                </a:uFill>
                <a:latin typeface="黑体"/>
                <a:cs typeface="黑体"/>
              </a:rPr>
              <a:t>总之：循环展开</a:t>
            </a:r>
            <a:r>
              <a:rPr dirty="0" u="none" sz="2400">
                <a:solidFill>
                  <a:srgbClr val="FF0000"/>
                </a:solidFill>
                <a:latin typeface="黑体"/>
                <a:cs typeface="黑体"/>
              </a:rPr>
              <a:t>是</a:t>
            </a:r>
            <a:r>
              <a:rPr dirty="0" u="none" sz="2400" spc="-10">
                <a:solidFill>
                  <a:srgbClr val="E14B04"/>
                </a:solidFill>
                <a:latin typeface="黑体"/>
                <a:cs typeface="黑体"/>
              </a:rPr>
              <a:t>将代码中的循环展开</a:t>
            </a:r>
            <a:endParaRPr sz="2400">
              <a:latin typeface="黑体"/>
              <a:cs typeface="黑体"/>
            </a:endParaRPr>
          </a:p>
          <a:p>
            <a:pPr marL="873125" indent="-324485">
              <a:lnSpc>
                <a:spcPct val="100000"/>
              </a:lnSpc>
              <a:spcBef>
                <a:spcPts val="1625"/>
              </a:spcBef>
              <a:buClr>
                <a:srgbClr val="4668F5"/>
              </a:buClr>
              <a:buSzPct val="60000"/>
              <a:buFont typeface="Wingdings"/>
              <a:buChar char=""/>
              <a:tabLst>
                <a:tab pos="873125" algn="l"/>
              </a:tabLst>
            </a:pPr>
            <a:r>
              <a:rPr dirty="0" sz="2000" spc="-10" b="1">
                <a:solidFill>
                  <a:srgbClr val="FF0000"/>
                </a:solidFill>
                <a:latin typeface="黑体"/>
                <a:cs typeface="黑体"/>
              </a:rPr>
              <a:t>减少</a:t>
            </a:r>
            <a:r>
              <a:rPr dirty="0" sz="2000" spc="-20" b="1">
                <a:solidFill>
                  <a:srgbClr val="FF5CFF"/>
                </a:solidFill>
                <a:latin typeface="黑体"/>
                <a:cs typeface="黑体"/>
              </a:rPr>
              <a:t>循环次数即减少循环相关，</a:t>
            </a:r>
            <a:r>
              <a:rPr dirty="0" sz="2000" spc="-10" b="1">
                <a:solidFill>
                  <a:srgbClr val="FF0000"/>
                </a:solidFill>
                <a:latin typeface="黑体"/>
                <a:cs typeface="黑体"/>
              </a:rPr>
              <a:t>减少</a:t>
            </a:r>
            <a:r>
              <a:rPr dirty="0" sz="2000" spc="-20" b="1">
                <a:solidFill>
                  <a:srgbClr val="FF5CFF"/>
                </a:solidFill>
                <a:latin typeface="黑体"/>
                <a:cs typeface="黑体"/>
              </a:rPr>
              <a:t>因循环引起的开销</a:t>
            </a:r>
            <a:r>
              <a:rPr dirty="0" sz="2000" spc="-10" b="1">
                <a:solidFill>
                  <a:srgbClr val="FF5CFF"/>
                </a:solidFill>
                <a:latin typeface="黑体"/>
                <a:cs typeface="黑体"/>
              </a:rPr>
              <a:t>（</a:t>
            </a:r>
            <a:r>
              <a:rPr dirty="0" sz="2000" spc="-5" b="1">
                <a:solidFill>
                  <a:srgbClr val="FF5CFF"/>
                </a:solidFill>
                <a:latin typeface="黑体"/>
                <a:cs typeface="黑体"/>
              </a:rPr>
              <a:t>例如</a:t>
            </a:r>
            <a:r>
              <a:rPr dirty="0" sz="2000" spc="-20" b="1">
                <a:solidFill>
                  <a:srgbClr val="FF09FF"/>
                </a:solidFill>
                <a:latin typeface="黑体"/>
                <a:cs typeface="黑体"/>
              </a:rPr>
              <a:t>地址的计算以及循环计数器的更新</a:t>
            </a:r>
            <a:r>
              <a:rPr dirty="0" sz="2000" spc="-50" b="1">
                <a:solidFill>
                  <a:srgbClr val="FF5CFF"/>
                </a:solidFill>
                <a:latin typeface="黑体"/>
                <a:cs typeface="黑体"/>
              </a:rPr>
              <a:t>）</a:t>
            </a:r>
            <a:endParaRPr sz="2000">
              <a:latin typeface="黑体"/>
              <a:cs typeface="黑体"/>
            </a:endParaRPr>
          </a:p>
          <a:p>
            <a:pPr marL="873125" indent="-324485">
              <a:lnSpc>
                <a:spcPct val="100000"/>
              </a:lnSpc>
              <a:spcBef>
                <a:spcPts val="1680"/>
              </a:spcBef>
              <a:buClr>
                <a:srgbClr val="4668F5"/>
              </a:buClr>
              <a:buSzPct val="60000"/>
              <a:buFont typeface="Wingdings"/>
              <a:buChar char=""/>
              <a:tabLst>
                <a:tab pos="873125" algn="l"/>
              </a:tabLst>
            </a:pPr>
            <a:r>
              <a:rPr dirty="0" sz="2000" spc="-25" b="1">
                <a:solidFill>
                  <a:srgbClr val="FF5CFF"/>
                </a:solidFill>
                <a:latin typeface="黑体"/>
                <a:cs typeface="黑体"/>
              </a:rPr>
              <a:t>减少分支预测错误率</a:t>
            </a:r>
            <a:endParaRPr sz="2000">
              <a:latin typeface="黑体"/>
              <a:cs typeface="黑体"/>
            </a:endParaRPr>
          </a:p>
          <a:p>
            <a:pPr marL="873125" indent="-324485">
              <a:lnSpc>
                <a:spcPct val="100000"/>
              </a:lnSpc>
              <a:spcBef>
                <a:spcPts val="1680"/>
              </a:spcBef>
              <a:buClr>
                <a:srgbClr val="4668F5"/>
              </a:buClr>
              <a:buSzPct val="60000"/>
              <a:buFont typeface="Wingdings"/>
              <a:buChar char=""/>
              <a:tabLst>
                <a:tab pos="873125" algn="l"/>
              </a:tabLst>
            </a:pPr>
            <a:r>
              <a:rPr dirty="0" sz="2000" spc="-25" b="1">
                <a:solidFill>
                  <a:srgbClr val="FF5CFF"/>
                </a:solidFill>
                <a:latin typeface="黑体"/>
                <a:cs typeface="黑体"/>
              </a:rPr>
              <a:t>但，代码膨胀，影响指令缓存效率；寄存器压力</a:t>
            </a:r>
            <a:endParaRPr sz="2000">
              <a:latin typeface="黑体"/>
              <a:cs typeface="黑体"/>
            </a:endParaRPr>
          </a:p>
        </p:txBody>
      </p:sp>
      <p:sp>
        <p:nvSpPr>
          <p:cNvPr id="9" name="object 9"/>
          <p:cNvSpPr txBox="1">
            <a:spLocks noGrp="1"/>
          </p:cNvSpPr>
          <p:nvPr>
            <p:ph type="title"/>
          </p:nvPr>
        </p:nvSpPr>
        <p:spPr>
          <a:xfrm>
            <a:off x="1403350" y="69342"/>
            <a:ext cx="10801350" cy="513715"/>
          </a:xfrm>
          <a:prstGeom prst="rect"/>
        </p:spPr>
        <p:txBody>
          <a:bodyPr wrap="square" lIns="0" tIns="12700" rIns="0" bIns="0" rtlCol="0" vert="horz">
            <a:spAutoFit/>
          </a:bodyPr>
          <a:lstStyle/>
          <a:p>
            <a:pPr marL="12700">
              <a:lnSpc>
                <a:spcPct val="100000"/>
              </a:lnSpc>
              <a:spcBef>
                <a:spcPts val="100"/>
              </a:spcBef>
              <a:tabLst>
                <a:tab pos="10788015" algn="l"/>
              </a:tabLst>
            </a:pPr>
            <a:r>
              <a:rPr dirty="0" spc="170">
                <a:solidFill>
                  <a:srgbClr val="0000CC"/>
                </a:solidFill>
              </a:rPr>
              <a:t>  </a:t>
            </a:r>
            <a:r>
              <a:rPr dirty="0">
                <a:solidFill>
                  <a:srgbClr val="0000CC"/>
                </a:solidFill>
              </a:rPr>
              <a:t>6.1.2</a:t>
            </a:r>
            <a:r>
              <a:rPr dirty="0" spc="-5">
                <a:solidFill>
                  <a:srgbClr val="0000CC"/>
                </a:solidFill>
              </a:rPr>
              <a:t> </a:t>
            </a:r>
            <a:r>
              <a:rPr dirty="0">
                <a:solidFill>
                  <a:srgbClr val="0000CC"/>
                </a:solidFill>
              </a:rPr>
              <a:t>循环</a:t>
            </a:r>
            <a:r>
              <a:rPr dirty="0" spc="-15">
                <a:solidFill>
                  <a:srgbClr val="0000CC"/>
                </a:solidFill>
              </a:rPr>
              <a:t>展</a:t>
            </a:r>
            <a:r>
              <a:rPr dirty="0" spc="-50">
                <a:solidFill>
                  <a:srgbClr val="0000CC"/>
                </a:solidFill>
              </a:rPr>
              <a:t>开</a:t>
            </a:r>
            <a:r>
              <a:rPr dirty="0">
                <a:solidFill>
                  <a:srgbClr val="0000CC"/>
                </a:solidFill>
              </a:rPr>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16/89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486867" y="707516"/>
            <a:ext cx="10971530" cy="5111750"/>
          </a:xfrm>
          <a:prstGeom prst="rect">
            <a:avLst/>
          </a:prstGeom>
        </p:spPr>
        <p:txBody>
          <a:bodyPr wrap="square" lIns="0" tIns="13335" rIns="0" bIns="0" rtlCol="0" vert="horz">
            <a:spAutoFit/>
          </a:bodyPr>
          <a:lstStyle/>
          <a:p>
            <a:pPr marL="1452245">
              <a:lnSpc>
                <a:spcPct val="100000"/>
              </a:lnSpc>
              <a:spcBef>
                <a:spcPts val="105"/>
              </a:spcBef>
            </a:pPr>
            <a:r>
              <a:rPr dirty="0" sz="2600">
                <a:solidFill>
                  <a:srgbClr val="0000CC"/>
                </a:solidFill>
                <a:latin typeface="黑体"/>
                <a:cs typeface="黑体"/>
              </a:rPr>
              <a:t>6.1.2</a:t>
            </a:r>
            <a:r>
              <a:rPr dirty="0" sz="2600" spc="-15">
                <a:solidFill>
                  <a:srgbClr val="0000CC"/>
                </a:solidFill>
                <a:latin typeface="黑体"/>
                <a:cs typeface="黑体"/>
              </a:rPr>
              <a:t> 循环展开</a:t>
            </a:r>
            <a:endParaRPr sz="2600">
              <a:latin typeface="黑体"/>
              <a:cs typeface="黑体"/>
            </a:endParaRPr>
          </a:p>
          <a:p>
            <a:pPr algn="just" marL="12700" marR="5080">
              <a:lnSpc>
                <a:spcPct val="150000"/>
              </a:lnSpc>
              <a:spcBef>
                <a:spcPts val="1180"/>
              </a:spcBef>
            </a:pPr>
            <a:r>
              <a:rPr dirty="0" sz="2400" spc="-20" b="1">
                <a:solidFill>
                  <a:srgbClr val="40458B"/>
                </a:solidFill>
                <a:latin typeface="宋体"/>
                <a:cs typeface="宋体"/>
              </a:rPr>
              <a:t>例</a:t>
            </a:r>
            <a:r>
              <a:rPr dirty="0" sz="2400" b="1">
                <a:solidFill>
                  <a:srgbClr val="40458B"/>
                </a:solidFill>
                <a:latin typeface="Times New Roman"/>
                <a:cs typeface="Times New Roman"/>
              </a:rPr>
              <a:t>6.2 </a:t>
            </a:r>
            <a:r>
              <a:rPr dirty="0" sz="2400" spc="-20" b="1">
                <a:solidFill>
                  <a:srgbClr val="080808"/>
                </a:solidFill>
                <a:latin typeface="宋体"/>
                <a:cs typeface="宋体"/>
              </a:rPr>
              <a:t>将例</a:t>
            </a:r>
            <a:r>
              <a:rPr dirty="0" sz="2400" b="1">
                <a:solidFill>
                  <a:srgbClr val="080808"/>
                </a:solidFill>
                <a:latin typeface="Times New Roman"/>
                <a:cs typeface="Times New Roman"/>
              </a:rPr>
              <a:t>6.1</a:t>
            </a:r>
            <a:r>
              <a:rPr dirty="0" sz="2400" spc="-25" b="1">
                <a:solidFill>
                  <a:srgbClr val="080808"/>
                </a:solidFill>
                <a:latin typeface="宋体"/>
                <a:cs typeface="宋体"/>
              </a:rPr>
              <a:t>中的循环展开</a:t>
            </a:r>
            <a:r>
              <a:rPr dirty="0" sz="2400" b="1">
                <a:solidFill>
                  <a:srgbClr val="6600FF"/>
                </a:solidFill>
                <a:latin typeface="Times New Roman"/>
                <a:cs typeface="Times New Roman"/>
              </a:rPr>
              <a:t>3</a:t>
            </a:r>
            <a:r>
              <a:rPr dirty="0" sz="2400" spc="-20" b="1">
                <a:solidFill>
                  <a:srgbClr val="080808"/>
                </a:solidFill>
                <a:latin typeface="宋体"/>
                <a:cs typeface="宋体"/>
              </a:rPr>
              <a:t>次得到</a:t>
            </a:r>
            <a:r>
              <a:rPr dirty="0" sz="2400" b="1">
                <a:solidFill>
                  <a:srgbClr val="6600FF"/>
                </a:solidFill>
                <a:latin typeface="Times New Roman"/>
                <a:cs typeface="Times New Roman"/>
              </a:rPr>
              <a:t>4</a:t>
            </a:r>
            <a:r>
              <a:rPr dirty="0" sz="2400" spc="-25" b="1">
                <a:solidFill>
                  <a:srgbClr val="080808"/>
                </a:solidFill>
                <a:latin typeface="宋体"/>
                <a:cs typeface="宋体"/>
              </a:rPr>
              <a:t>个循环体，然后对展开后的指令序列在不调度</a:t>
            </a:r>
            <a:r>
              <a:rPr dirty="0" sz="2400" spc="-20" b="1">
                <a:solidFill>
                  <a:srgbClr val="080808"/>
                </a:solidFill>
                <a:latin typeface="宋体"/>
                <a:cs typeface="宋体"/>
              </a:rPr>
              <a:t>和调度两种情况下，分析代码的性能。假定</a:t>
            </a:r>
            <a:r>
              <a:rPr dirty="0" sz="2400" spc="-25" b="1">
                <a:solidFill>
                  <a:srgbClr val="6600FF"/>
                </a:solidFill>
                <a:latin typeface="Times New Roman"/>
                <a:cs typeface="Times New Roman"/>
              </a:rPr>
              <a:t>R1</a:t>
            </a:r>
            <a:r>
              <a:rPr dirty="0" sz="2400" spc="-20" b="1">
                <a:solidFill>
                  <a:srgbClr val="080808"/>
                </a:solidFill>
                <a:latin typeface="宋体"/>
                <a:cs typeface="宋体"/>
              </a:rPr>
              <a:t>的初值为</a:t>
            </a:r>
            <a:r>
              <a:rPr dirty="0" sz="2400" b="1">
                <a:solidFill>
                  <a:srgbClr val="6600FF"/>
                </a:solidFill>
                <a:latin typeface="Times New Roman"/>
                <a:cs typeface="Times New Roman"/>
              </a:rPr>
              <a:t>32</a:t>
            </a:r>
            <a:r>
              <a:rPr dirty="0" sz="2400" spc="-20" b="1">
                <a:solidFill>
                  <a:srgbClr val="080808"/>
                </a:solidFill>
                <a:latin typeface="宋体"/>
                <a:cs typeface="宋体"/>
              </a:rPr>
              <a:t>的倍数，即循环次数为</a:t>
            </a:r>
            <a:r>
              <a:rPr dirty="0" sz="2400" spc="-50" b="1">
                <a:solidFill>
                  <a:srgbClr val="6600FF"/>
                </a:solidFill>
                <a:latin typeface="Times New Roman"/>
                <a:cs typeface="Times New Roman"/>
              </a:rPr>
              <a:t>4</a:t>
            </a:r>
            <a:r>
              <a:rPr dirty="0" sz="2400" spc="-30" b="1">
                <a:solidFill>
                  <a:srgbClr val="080808"/>
                </a:solidFill>
                <a:latin typeface="宋体"/>
                <a:cs typeface="宋体"/>
              </a:rPr>
              <a:t>的倍数。消除冗余的指令，并且不要重复使用寄存器。</a:t>
            </a:r>
            <a:endParaRPr sz="2400">
              <a:latin typeface="宋体"/>
              <a:cs typeface="宋体"/>
            </a:endParaRPr>
          </a:p>
          <a:p>
            <a:pPr marL="444500">
              <a:lnSpc>
                <a:spcPct val="100000"/>
              </a:lnSpc>
              <a:spcBef>
                <a:spcPts val="2705"/>
              </a:spcBef>
            </a:pPr>
            <a:r>
              <a:rPr dirty="0" sz="2400" spc="-10">
                <a:solidFill>
                  <a:srgbClr val="FF0000"/>
                </a:solidFill>
                <a:latin typeface="黑体"/>
                <a:cs typeface="黑体"/>
              </a:rPr>
              <a:t>循环展开，重新分配寄存器，确保不重复使用寄存器（使用了换名技术</a:t>
            </a:r>
            <a:r>
              <a:rPr dirty="0" sz="2400" spc="-50">
                <a:solidFill>
                  <a:srgbClr val="FF0000"/>
                </a:solidFill>
                <a:latin typeface="黑体"/>
                <a:cs typeface="黑体"/>
              </a:rPr>
              <a:t>）</a:t>
            </a:r>
            <a:endParaRPr sz="2400">
              <a:latin typeface="黑体"/>
              <a:cs typeface="黑体"/>
            </a:endParaRPr>
          </a:p>
          <a:p>
            <a:pPr marL="1280795" indent="-379095">
              <a:lnSpc>
                <a:spcPct val="100000"/>
              </a:lnSpc>
              <a:spcBef>
                <a:spcPts val="825"/>
              </a:spcBef>
              <a:buClr>
                <a:srgbClr val="40458B"/>
              </a:buClr>
              <a:buSzPct val="88636"/>
              <a:buFont typeface="Wingdings"/>
              <a:buChar char=""/>
              <a:tabLst>
                <a:tab pos="1280795" algn="l"/>
              </a:tabLst>
            </a:pPr>
            <a:r>
              <a:rPr dirty="0" sz="2200" spc="-25">
                <a:solidFill>
                  <a:srgbClr val="0000CC"/>
                </a:solidFill>
                <a:latin typeface="Tahoma"/>
                <a:cs typeface="Tahoma"/>
              </a:rPr>
              <a:t>F0</a:t>
            </a:r>
            <a:r>
              <a:rPr dirty="0" sz="2200" spc="-20">
                <a:solidFill>
                  <a:srgbClr val="0000CC"/>
                </a:solidFill>
                <a:latin typeface="黑体"/>
                <a:cs typeface="黑体"/>
              </a:rPr>
              <a:t>、</a:t>
            </a:r>
            <a:r>
              <a:rPr dirty="0" sz="2200" spc="-25">
                <a:solidFill>
                  <a:srgbClr val="0000CC"/>
                </a:solidFill>
                <a:latin typeface="Tahoma"/>
                <a:cs typeface="Tahoma"/>
              </a:rPr>
              <a:t>F4</a:t>
            </a:r>
            <a:r>
              <a:rPr dirty="0" sz="2200" spc="-30">
                <a:solidFill>
                  <a:srgbClr val="0000CC"/>
                </a:solidFill>
                <a:latin typeface="黑体"/>
                <a:cs typeface="黑体"/>
              </a:rPr>
              <a:t>：用于展开后的第</a:t>
            </a:r>
            <a:r>
              <a:rPr dirty="0" sz="2200" spc="-20">
                <a:solidFill>
                  <a:srgbClr val="0000CC"/>
                </a:solidFill>
                <a:latin typeface="Tahoma"/>
                <a:cs typeface="Tahoma"/>
              </a:rPr>
              <a:t>1</a:t>
            </a:r>
            <a:r>
              <a:rPr dirty="0" sz="2200" spc="-35">
                <a:solidFill>
                  <a:srgbClr val="0000CC"/>
                </a:solidFill>
                <a:latin typeface="黑体"/>
                <a:cs typeface="黑体"/>
              </a:rPr>
              <a:t>个循环体。</a:t>
            </a:r>
            <a:endParaRPr sz="2200">
              <a:latin typeface="黑体"/>
              <a:cs typeface="黑体"/>
            </a:endParaRPr>
          </a:p>
          <a:p>
            <a:pPr marL="1280795" indent="-379095">
              <a:lnSpc>
                <a:spcPct val="100000"/>
              </a:lnSpc>
              <a:spcBef>
                <a:spcPts val="795"/>
              </a:spcBef>
              <a:buClr>
                <a:srgbClr val="40458B"/>
              </a:buClr>
              <a:buSzPct val="88636"/>
              <a:buFont typeface="Wingdings"/>
              <a:buChar char=""/>
              <a:tabLst>
                <a:tab pos="1280795" algn="l"/>
              </a:tabLst>
            </a:pPr>
            <a:r>
              <a:rPr dirty="0" sz="2200" spc="-25">
                <a:solidFill>
                  <a:srgbClr val="0000CC"/>
                </a:solidFill>
                <a:latin typeface="Tahoma"/>
                <a:cs typeface="Tahoma"/>
              </a:rPr>
              <a:t>F2</a:t>
            </a:r>
            <a:r>
              <a:rPr dirty="0" sz="2200" spc="-35">
                <a:solidFill>
                  <a:srgbClr val="0000CC"/>
                </a:solidFill>
                <a:latin typeface="黑体"/>
                <a:cs typeface="黑体"/>
              </a:rPr>
              <a:t>：用于保存常数。</a:t>
            </a:r>
            <a:endParaRPr sz="2200">
              <a:latin typeface="黑体"/>
              <a:cs typeface="黑体"/>
            </a:endParaRPr>
          </a:p>
          <a:p>
            <a:pPr marL="1280795" indent="-379095">
              <a:lnSpc>
                <a:spcPct val="100000"/>
              </a:lnSpc>
              <a:spcBef>
                <a:spcPts val="790"/>
              </a:spcBef>
              <a:buClr>
                <a:srgbClr val="40458B"/>
              </a:buClr>
              <a:buSzPct val="88636"/>
              <a:buFont typeface="Wingdings"/>
              <a:buChar char=""/>
              <a:tabLst>
                <a:tab pos="1280795" algn="l"/>
              </a:tabLst>
            </a:pPr>
            <a:r>
              <a:rPr dirty="0" sz="2200" spc="-25">
                <a:solidFill>
                  <a:srgbClr val="0000CC"/>
                </a:solidFill>
                <a:latin typeface="Tahoma"/>
                <a:cs typeface="Tahoma"/>
              </a:rPr>
              <a:t>F6</a:t>
            </a:r>
            <a:r>
              <a:rPr dirty="0" sz="2200" spc="-25">
                <a:solidFill>
                  <a:srgbClr val="0000CC"/>
                </a:solidFill>
                <a:latin typeface="黑体"/>
                <a:cs typeface="黑体"/>
              </a:rPr>
              <a:t>、</a:t>
            </a:r>
            <a:r>
              <a:rPr dirty="0" sz="2200" spc="-25">
                <a:solidFill>
                  <a:srgbClr val="0000CC"/>
                </a:solidFill>
                <a:latin typeface="Tahoma"/>
                <a:cs typeface="Tahoma"/>
              </a:rPr>
              <a:t>F8</a:t>
            </a:r>
            <a:r>
              <a:rPr dirty="0" sz="2200" spc="-30">
                <a:solidFill>
                  <a:srgbClr val="0000CC"/>
                </a:solidFill>
                <a:latin typeface="黑体"/>
                <a:cs typeface="黑体"/>
              </a:rPr>
              <a:t>：用于展开后的第</a:t>
            </a:r>
            <a:r>
              <a:rPr dirty="0" sz="2200" spc="-10">
                <a:solidFill>
                  <a:srgbClr val="0000CC"/>
                </a:solidFill>
                <a:latin typeface="Tahoma"/>
                <a:cs typeface="Tahoma"/>
              </a:rPr>
              <a:t>2</a:t>
            </a:r>
            <a:r>
              <a:rPr dirty="0" sz="2200" spc="-35">
                <a:solidFill>
                  <a:srgbClr val="0000CC"/>
                </a:solidFill>
                <a:latin typeface="黑体"/>
                <a:cs typeface="黑体"/>
              </a:rPr>
              <a:t>个循环体。</a:t>
            </a:r>
            <a:endParaRPr sz="2200">
              <a:latin typeface="黑体"/>
              <a:cs typeface="黑体"/>
            </a:endParaRPr>
          </a:p>
          <a:p>
            <a:pPr marL="1280795" indent="-379095">
              <a:lnSpc>
                <a:spcPct val="100000"/>
              </a:lnSpc>
              <a:spcBef>
                <a:spcPts val="795"/>
              </a:spcBef>
              <a:buClr>
                <a:srgbClr val="40458B"/>
              </a:buClr>
              <a:buSzPct val="88636"/>
              <a:buFont typeface="Wingdings"/>
              <a:buChar char=""/>
              <a:tabLst>
                <a:tab pos="1280795" algn="l"/>
              </a:tabLst>
            </a:pPr>
            <a:r>
              <a:rPr dirty="0" sz="2200" spc="-20">
                <a:solidFill>
                  <a:srgbClr val="0000CC"/>
                </a:solidFill>
                <a:latin typeface="Tahoma"/>
                <a:cs typeface="Tahoma"/>
              </a:rPr>
              <a:t>F10</a:t>
            </a:r>
            <a:r>
              <a:rPr dirty="0" sz="2200" spc="-20">
                <a:solidFill>
                  <a:srgbClr val="0000CC"/>
                </a:solidFill>
                <a:latin typeface="黑体"/>
                <a:cs typeface="黑体"/>
              </a:rPr>
              <a:t>、</a:t>
            </a:r>
            <a:r>
              <a:rPr dirty="0" sz="2200" spc="-20">
                <a:solidFill>
                  <a:srgbClr val="0000CC"/>
                </a:solidFill>
                <a:latin typeface="Tahoma"/>
                <a:cs typeface="Tahoma"/>
              </a:rPr>
              <a:t>F12</a:t>
            </a:r>
            <a:r>
              <a:rPr dirty="0" sz="2200" spc="-25">
                <a:solidFill>
                  <a:srgbClr val="0000CC"/>
                </a:solidFill>
                <a:latin typeface="黑体"/>
                <a:cs typeface="黑体"/>
              </a:rPr>
              <a:t>：用于展开后的第</a:t>
            </a:r>
            <a:r>
              <a:rPr dirty="0" sz="2200" spc="-20">
                <a:solidFill>
                  <a:srgbClr val="0000CC"/>
                </a:solidFill>
                <a:latin typeface="Tahoma"/>
                <a:cs typeface="Tahoma"/>
              </a:rPr>
              <a:t>3</a:t>
            </a:r>
            <a:r>
              <a:rPr dirty="0" sz="2200" spc="-35">
                <a:solidFill>
                  <a:srgbClr val="0000CC"/>
                </a:solidFill>
                <a:latin typeface="黑体"/>
                <a:cs typeface="黑体"/>
              </a:rPr>
              <a:t>个循环体。</a:t>
            </a:r>
            <a:endParaRPr sz="2200">
              <a:latin typeface="黑体"/>
              <a:cs typeface="黑体"/>
            </a:endParaRPr>
          </a:p>
          <a:p>
            <a:pPr marL="1280795" indent="-379095">
              <a:lnSpc>
                <a:spcPct val="100000"/>
              </a:lnSpc>
              <a:spcBef>
                <a:spcPts val="790"/>
              </a:spcBef>
              <a:buClr>
                <a:srgbClr val="40458B"/>
              </a:buClr>
              <a:buSzPct val="88636"/>
              <a:buFont typeface="Wingdings"/>
              <a:buChar char=""/>
              <a:tabLst>
                <a:tab pos="1280795" algn="l"/>
              </a:tabLst>
            </a:pPr>
            <a:r>
              <a:rPr dirty="0" sz="2200" spc="-20">
                <a:solidFill>
                  <a:srgbClr val="0000CC"/>
                </a:solidFill>
                <a:latin typeface="Tahoma"/>
                <a:cs typeface="Tahoma"/>
              </a:rPr>
              <a:t>F14</a:t>
            </a:r>
            <a:r>
              <a:rPr dirty="0" sz="2200" spc="-20">
                <a:solidFill>
                  <a:srgbClr val="0000CC"/>
                </a:solidFill>
                <a:latin typeface="黑体"/>
                <a:cs typeface="黑体"/>
              </a:rPr>
              <a:t>、</a:t>
            </a:r>
            <a:r>
              <a:rPr dirty="0" sz="2200">
                <a:solidFill>
                  <a:srgbClr val="0000CC"/>
                </a:solidFill>
                <a:latin typeface="Tahoma"/>
                <a:cs typeface="Tahoma"/>
              </a:rPr>
              <a:t>F16</a:t>
            </a:r>
            <a:r>
              <a:rPr dirty="0" sz="2200" spc="90">
                <a:solidFill>
                  <a:srgbClr val="0000CC"/>
                </a:solidFill>
                <a:latin typeface="Tahoma"/>
                <a:cs typeface="Tahoma"/>
              </a:rPr>
              <a:t> </a:t>
            </a:r>
            <a:r>
              <a:rPr dirty="0" sz="2200" spc="-30">
                <a:solidFill>
                  <a:srgbClr val="0000CC"/>
                </a:solidFill>
                <a:latin typeface="黑体"/>
                <a:cs typeface="黑体"/>
              </a:rPr>
              <a:t>：用于展开后的第</a:t>
            </a:r>
            <a:r>
              <a:rPr dirty="0" sz="2200" spc="-20">
                <a:solidFill>
                  <a:srgbClr val="0000CC"/>
                </a:solidFill>
                <a:latin typeface="Tahoma"/>
                <a:cs typeface="Tahoma"/>
              </a:rPr>
              <a:t>4</a:t>
            </a:r>
            <a:r>
              <a:rPr dirty="0" sz="2200" spc="-35">
                <a:solidFill>
                  <a:srgbClr val="0000CC"/>
                </a:solidFill>
                <a:latin typeface="黑体"/>
                <a:cs typeface="黑体"/>
              </a:rPr>
              <a:t>个循环体。</a:t>
            </a:r>
            <a:endParaRPr sz="2200">
              <a:latin typeface="黑体"/>
              <a:cs typeface="黑体"/>
            </a:endParaRPr>
          </a:p>
        </p:txBody>
      </p:sp>
      <p:sp>
        <p:nvSpPr>
          <p:cNvPr id="10" name="object 10"/>
          <p:cNvSpPr txBox="1">
            <a:spLocks noGrp="1"/>
          </p:cNvSpPr>
          <p:nvPr>
            <p:ph type="title"/>
          </p:nvPr>
        </p:nvSpPr>
        <p:spPr>
          <a:xfrm>
            <a:off x="1875789" y="-11429"/>
            <a:ext cx="5309235" cy="513715"/>
          </a:xfrm>
          <a:prstGeom prst="rect"/>
        </p:spPr>
        <p:txBody>
          <a:bodyPr wrap="square" lIns="0" tIns="12700" rIns="0" bIns="0" rtlCol="0" vert="horz">
            <a:spAutoFit/>
          </a:bodyPr>
          <a:lstStyle/>
          <a:p>
            <a:pPr marL="12700">
              <a:lnSpc>
                <a:spcPct val="100000"/>
              </a:lnSpc>
              <a:spcBef>
                <a:spcPts val="100"/>
              </a:spcBef>
            </a:pPr>
            <a:r>
              <a:rPr dirty="0" u="none"/>
              <a:t>6.1</a:t>
            </a:r>
            <a:r>
              <a:rPr dirty="0" u="none" spc="-20"/>
              <a:t> 基本指令调度及循环展开</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17/89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3859784" y="66547"/>
            <a:ext cx="6814184" cy="391160"/>
          </a:xfrm>
          <a:prstGeom prst="rect">
            <a:avLst/>
          </a:prstGeom>
        </p:spPr>
        <p:txBody>
          <a:bodyPr wrap="square" lIns="0" tIns="12700" rIns="0" bIns="0" rtlCol="0" vert="horz">
            <a:spAutoFit/>
          </a:bodyPr>
          <a:lstStyle/>
          <a:p>
            <a:pPr marL="469265" indent="-456565">
              <a:lnSpc>
                <a:spcPct val="100000"/>
              </a:lnSpc>
              <a:spcBef>
                <a:spcPts val="100"/>
              </a:spcBef>
              <a:buClr>
                <a:srgbClr val="40458B"/>
              </a:buClr>
              <a:buSzPct val="89583"/>
              <a:buFont typeface="Wingdings"/>
              <a:buChar char=""/>
              <a:tabLst>
                <a:tab pos="469265" algn="l"/>
              </a:tabLst>
            </a:pPr>
            <a:r>
              <a:rPr dirty="0" sz="2400" spc="-20" b="1">
                <a:solidFill>
                  <a:srgbClr val="0000CC"/>
                </a:solidFill>
                <a:latin typeface="宋体"/>
                <a:cs typeface="宋体"/>
              </a:rPr>
              <a:t>展开后</a:t>
            </a:r>
            <a:r>
              <a:rPr dirty="0" sz="2400" spc="-20" b="1">
                <a:solidFill>
                  <a:srgbClr val="FF0000"/>
                </a:solidFill>
                <a:latin typeface="宋体"/>
                <a:cs typeface="宋体"/>
              </a:rPr>
              <a:t>没有调度</a:t>
            </a:r>
            <a:r>
              <a:rPr dirty="0" sz="2400" spc="-20" b="1">
                <a:solidFill>
                  <a:srgbClr val="0000CC"/>
                </a:solidFill>
                <a:latin typeface="宋体"/>
                <a:cs typeface="宋体"/>
              </a:rPr>
              <a:t>的代码如下</a:t>
            </a:r>
            <a:r>
              <a:rPr dirty="0" sz="2400" spc="-10" b="1">
                <a:solidFill>
                  <a:srgbClr val="0000CC"/>
                </a:solidFill>
                <a:latin typeface="Times New Roman"/>
                <a:cs typeface="Times New Roman"/>
              </a:rPr>
              <a:t>(</a:t>
            </a:r>
            <a:r>
              <a:rPr dirty="0" sz="2400" spc="-20" b="1">
                <a:solidFill>
                  <a:srgbClr val="0000CC"/>
                </a:solidFill>
                <a:latin typeface="宋体"/>
                <a:cs typeface="宋体"/>
              </a:rPr>
              <a:t>重复复制按序展开</a:t>
            </a:r>
            <a:r>
              <a:rPr dirty="0" sz="2400" spc="-50" b="1">
                <a:solidFill>
                  <a:srgbClr val="0000CC"/>
                </a:solidFill>
                <a:latin typeface="Times New Roman"/>
                <a:cs typeface="Times New Roman"/>
              </a:rPr>
              <a:t>)</a:t>
            </a:r>
            <a:endParaRPr sz="2400">
              <a:latin typeface="Times New Roman"/>
              <a:cs typeface="Times New Roman"/>
            </a:endParaRPr>
          </a:p>
        </p:txBody>
      </p:sp>
      <p:sp>
        <p:nvSpPr>
          <p:cNvPr id="10" name="object 10" descr=""/>
          <p:cNvSpPr txBox="1"/>
          <p:nvPr/>
        </p:nvSpPr>
        <p:spPr>
          <a:xfrm>
            <a:off x="36512" y="2779776"/>
            <a:ext cx="5988050" cy="1478280"/>
          </a:xfrm>
          <a:prstGeom prst="rect">
            <a:avLst/>
          </a:prstGeom>
          <a:ln w="9525">
            <a:solidFill>
              <a:srgbClr val="00AF50"/>
            </a:solidFill>
          </a:ln>
        </p:spPr>
        <p:txBody>
          <a:bodyPr wrap="square" lIns="0" tIns="135255" rIns="0" bIns="0" rtlCol="0" vert="horz">
            <a:spAutoFit/>
          </a:bodyPr>
          <a:lstStyle/>
          <a:p>
            <a:pPr marL="433705" indent="-342265">
              <a:lnSpc>
                <a:spcPct val="100000"/>
              </a:lnSpc>
              <a:spcBef>
                <a:spcPts val="1065"/>
              </a:spcBef>
              <a:buClr>
                <a:srgbClr val="0000CC"/>
              </a:buClr>
              <a:buFont typeface="Wingdings"/>
              <a:buChar char=""/>
              <a:tabLst>
                <a:tab pos="433705" algn="l"/>
              </a:tabLst>
            </a:pPr>
            <a:r>
              <a:rPr dirty="0" sz="2000" spc="-70">
                <a:solidFill>
                  <a:srgbClr val="FF0000"/>
                </a:solidFill>
                <a:latin typeface="黑体"/>
                <a:cs typeface="黑体"/>
              </a:rPr>
              <a:t>分析： 三个</a:t>
            </a:r>
            <a:r>
              <a:rPr dirty="0" sz="2000" spc="-20">
                <a:solidFill>
                  <a:srgbClr val="40458B"/>
                </a:solidFill>
                <a:latin typeface="黑体"/>
                <a:cs typeface="黑体"/>
              </a:rPr>
              <a:t>分支指令的存在引起控制相关，导致</a:t>
            </a:r>
            <a:endParaRPr sz="2000">
              <a:latin typeface="黑体"/>
              <a:cs typeface="黑体"/>
            </a:endParaRPr>
          </a:p>
          <a:p>
            <a:pPr marL="434340" marR="210185">
              <a:lnSpc>
                <a:spcPct val="150000"/>
              </a:lnSpc>
            </a:pPr>
            <a:r>
              <a:rPr dirty="0" sz="2000" spc="-20">
                <a:solidFill>
                  <a:srgbClr val="40458B"/>
                </a:solidFill>
                <a:latin typeface="黑体"/>
                <a:cs typeface="黑体"/>
              </a:rPr>
              <a:t>其后的指令不能跨越分支进行调度，即不同循环里的指令不能够跨越循环进行调度</a:t>
            </a:r>
            <a:endParaRPr sz="2000">
              <a:latin typeface="黑体"/>
              <a:cs typeface="黑体"/>
            </a:endParaRPr>
          </a:p>
        </p:txBody>
      </p:sp>
      <p:sp>
        <p:nvSpPr>
          <p:cNvPr id="11" name="object 11" descr=""/>
          <p:cNvSpPr txBox="1"/>
          <p:nvPr/>
        </p:nvSpPr>
        <p:spPr>
          <a:xfrm>
            <a:off x="69291" y="944321"/>
            <a:ext cx="2600960" cy="331470"/>
          </a:xfrm>
          <a:prstGeom prst="rect">
            <a:avLst/>
          </a:prstGeom>
        </p:spPr>
        <p:txBody>
          <a:bodyPr wrap="square" lIns="0" tIns="13335" rIns="0" bIns="0" rtlCol="0" vert="horz">
            <a:spAutoFit/>
          </a:bodyPr>
          <a:lstStyle/>
          <a:p>
            <a:pPr marL="12700">
              <a:lnSpc>
                <a:spcPct val="100000"/>
              </a:lnSpc>
              <a:spcBef>
                <a:spcPts val="105"/>
              </a:spcBef>
              <a:tabLst>
                <a:tab pos="1567180" algn="l"/>
              </a:tabLst>
            </a:pPr>
            <a:r>
              <a:rPr dirty="0" sz="2000" spc="-10" b="1">
                <a:solidFill>
                  <a:srgbClr val="40458B"/>
                </a:solidFill>
                <a:latin typeface="Times New Roman"/>
                <a:cs typeface="Times New Roman"/>
              </a:rPr>
              <a:t>Loop</a:t>
            </a:r>
            <a:r>
              <a:rPr dirty="0" sz="2000" spc="-10" b="1">
                <a:solidFill>
                  <a:srgbClr val="40458B"/>
                </a:solidFill>
                <a:latin typeface="宋体"/>
                <a:cs typeface="宋体"/>
              </a:rPr>
              <a:t>：</a:t>
            </a:r>
            <a:r>
              <a:rPr dirty="0" sz="2000" spc="-495" b="1">
                <a:solidFill>
                  <a:srgbClr val="40458B"/>
                </a:solidFill>
                <a:latin typeface="宋体"/>
                <a:cs typeface="宋体"/>
              </a:rPr>
              <a:t> </a:t>
            </a:r>
            <a:r>
              <a:rPr dirty="0" sz="2000" spc="-25" b="1">
                <a:solidFill>
                  <a:srgbClr val="40458B"/>
                </a:solidFill>
                <a:latin typeface="Times New Roman"/>
                <a:cs typeface="Times New Roman"/>
              </a:rPr>
              <a:t>L.D</a:t>
            </a:r>
            <a:r>
              <a:rPr dirty="0" sz="2000" b="1">
                <a:solidFill>
                  <a:srgbClr val="40458B"/>
                </a:solidFill>
                <a:latin typeface="Times New Roman"/>
                <a:cs typeface="Times New Roman"/>
              </a:rPr>
              <a:t>	F0,</a:t>
            </a:r>
            <a:r>
              <a:rPr dirty="0" sz="2000" spc="-5" b="1">
                <a:solidFill>
                  <a:srgbClr val="40458B"/>
                </a:solidFill>
                <a:latin typeface="Times New Roman"/>
                <a:cs typeface="Times New Roman"/>
              </a:rPr>
              <a:t> </a:t>
            </a:r>
            <a:r>
              <a:rPr dirty="0" sz="2000" spc="-20" b="1">
                <a:solidFill>
                  <a:srgbClr val="40458B"/>
                </a:solidFill>
                <a:latin typeface="Times New Roman"/>
                <a:cs typeface="Times New Roman"/>
              </a:rPr>
              <a:t>0(R1)</a:t>
            </a:r>
            <a:endParaRPr sz="2000">
              <a:latin typeface="Times New Roman"/>
              <a:cs typeface="Times New Roman"/>
            </a:endParaRPr>
          </a:p>
        </p:txBody>
      </p:sp>
      <p:sp>
        <p:nvSpPr>
          <p:cNvPr id="12" name="object 12" descr=""/>
          <p:cNvSpPr txBox="1"/>
          <p:nvPr/>
        </p:nvSpPr>
        <p:spPr>
          <a:xfrm>
            <a:off x="880059" y="1246758"/>
            <a:ext cx="1992630" cy="330835"/>
          </a:xfrm>
          <a:prstGeom prst="rect">
            <a:avLst/>
          </a:prstGeom>
        </p:spPr>
        <p:txBody>
          <a:bodyPr wrap="square" lIns="0" tIns="13335" rIns="0" bIns="0" rtlCol="0" vert="horz">
            <a:spAutoFit/>
          </a:bodyPr>
          <a:lstStyle/>
          <a:p>
            <a:pPr marL="12700">
              <a:lnSpc>
                <a:spcPct val="100000"/>
              </a:lnSpc>
              <a:spcBef>
                <a:spcPts val="105"/>
              </a:spcBef>
            </a:pPr>
            <a:r>
              <a:rPr dirty="0" sz="2000" b="1">
                <a:solidFill>
                  <a:srgbClr val="40458B"/>
                </a:solidFill>
                <a:latin typeface="Times New Roman"/>
                <a:cs typeface="Times New Roman"/>
              </a:rPr>
              <a:t>ADD.D</a:t>
            </a:r>
            <a:r>
              <a:rPr dirty="0" sz="2000" spc="-20" b="1">
                <a:solidFill>
                  <a:srgbClr val="40458B"/>
                </a:solidFill>
                <a:latin typeface="Times New Roman"/>
                <a:cs typeface="Times New Roman"/>
              </a:rPr>
              <a:t> </a:t>
            </a:r>
            <a:r>
              <a:rPr dirty="0" sz="2000" b="1">
                <a:solidFill>
                  <a:srgbClr val="40458B"/>
                </a:solidFill>
                <a:latin typeface="Times New Roman"/>
                <a:cs typeface="Times New Roman"/>
              </a:rPr>
              <a:t>F4,</a:t>
            </a:r>
            <a:r>
              <a:rPr dirty="0" sz="2000" spc="-20" b="1">
                <a:solidFill>
                  <a:srgbClr val="40458B"/>
                </a:solidFill>
                <a:latin typeface="Times New Roman"/>
                <a:cs typeface="Times New Roman"/>
              </a:rPr>
              <a:t> </a:t>
            </a:r>
            <a:r>
              <a:rPr dirty="0" sz="2000" b="1">
                <a:solidFill>
                  <a:srgbClr val="40458B"/>
                </a:solidFill>
                <a:latin typeface="Times New Roman"/>
                <a:cs typeface="Times New Roman"/>
              </a:rPr>
              <a:t>F0,</a:t>
            </a:r>
            <a:r>
              <a:rPr dirty="0" sz="2000" spc="-20" b="1">
                <a:solidFill>
                  <a:srgbClr val="40458B"/>
                </a:solidFill>
                <a:latin typeface="Times New Roman"/>
                <a:cs typeface="Times New Roman"/>
              </a:rPr>
              <a:t> </a:t>
            </a:r>
            <a:r>
              <a:rPr dirty="0" sz="2000" spc="-25" b="1">
                <a:solidFill>
                  <a:srgbClr val="40458B"/>
                </a:solidFill>
                <a:latin typeface="Times New Roman"/>
                <a:cs typeface="Times New Roman"/>
              </a:rPr>
              <a:t>F2</a:t>
            </a:r>
            <a:endParaRPr sz="2000">
              <a:latin typeface="Times New Roman"/>
              <a:cs typeface="Times New Roman"/>
            </a:endParaRPr>
          </a:p>
        </p:txBody>
      </p:sp>
      <p:sp>
        <p:nvSpPr>
          <p:cNvPr id="13" name="object 13" descr=""/>
          <p:cNvSpPr txBox="1"/>
          <p:nvPr/>
        </p:nvSpPr>
        <p:spPr>
          <a:xfrm>
            <a:off x="895299" y="1551558"/>
            <a:ext cx="1653539" cy="330835"/>
          </a:xfrm>
          <a:prstGeom prst="rect">
            <a:avLst/>
          </a:prstGeom>
        </p:spPr>
        <p:txBody>
          <a:bodyPr wrap="square" lIns="0" tIns="13335" rIns="0" bIns="0" rtlCol="0" vert="horz">
            <a:spAutoFit/>
          </a:bodyPr>
          <a:lstStyle/>
          <a:p>
            <a:pPr marL="12700">
              <a:lnSpc>
                <a:spcPct val="100000"/>
              </a:lnSpc>
              <a:spcBef>
                <a:spcPts val="105"/>
              </a:spcBef>
              <a:tabLst>
                <a:tab pos="621665" algn="l"/>
              </a:tabLst>
            </a:pPr>
            <a:r>
              <a:rPr dirty="0" sz="2000" spc="-25" b="1">
                <a:solidFill>
                  <a:srgbClr val="40458B"/>
                </a:solidFill>
                <a:latin typeface="Times New Roman"/>
                <a:cs typeface="Times New Roman"/>
              </a:rPr>
              <a:t>S.D</a:t>
            </a:r>
            <a:r>
              <a:rPr dirty="0" sz="2000" b="1">
                <a:solidFill>
                  <a:srgbClr val="40458B"/>
                </a:solidFill>
                <a:latin typeface="Times New Roman"/>
                <a:cs typeface="Times New Roman"/>
              </a:rPr>
              <a:t>	F4,</a:t>
            </a:r>
            <a:r>
              <a:rPr dirty="0" sz="2000" spc="-25" b="1">
                <a:solidFill>
                  <a:srgbClr val="40458B"/>
                </a:solidFill>
                <a:latin typeface="Times New Roman"/>
                <a:cs typeface="Times New Roman"/>
              </a:rPr>
              <a:t> </a:t>
            </a:r>
            <a:r>
              <a:rPr dirty="0" sz="2000" spc="-20" b="1">
                <a:solidFill>
                  <a:srgbClr val="40458B"/>
                </a:solidFill>
                <a:latin typeface="Times New Roman"/>
                <a:cs typeface="Times New Roman"/>
              </a:rPr>
              <a:t>0(R1)</a:t>
            </a:r>
            <a:endParaRPr sz="2000">
              <a:latin typeface="Times New Roman"/>
              <a:cs typeface="Times New Roman"/>
            </a:endParaRPr>
          </a:p>
        </p:txBody>
      </p:sp>
      <p:sp>
        <p:nvSpPr>
          <p:cNvPr id="14" name="object 14" descr=""/>
          <p:cNvSpPr txBox="1"/>
          <p:nvPr/>
        </p:nvSpPr>
        <p:spPr>
          <a:xfrm>
            <a:off x="831291" y="1861541"/>
            <a:ext cx="2388870" cy="708660"/>
          </a:xfrm>
          <a:prstGeom prst="rect">
            <a:avLst/>
          </a:prstGeom>
        </p:spPr>
        <p:txBody>
          <a:bodyPr wrap="square" lIns="0" tIns="12700" rIns="0" bIns="0" rtlCol="0" vert="horz">
            <a:spAutoFit/>
          </a:bodyPr>
          <a:lstStyle/>
          <a:p>
            <a:pPr marL="12700" marR="5080" indent="63500">
              <a:lnSpc>
                <a:spcPct val="112000"/>
              </a:lnSpc>
              <a:spcBef>
                <a:spcPts val="100"/>
              </a:spcBef>
            </a:pPr>
            <a:r>
              <a:rPr dirty="0" sz="2000" b="1">
                <a:solidFill>
                  <a:srgbClr val="40458B"/>
                </a:solidFill>
                <a:latin typeface="Times New Roman"/>
                <a:cs typeface="Times New Roman"/>
              </a:rPr>
              <a:t>DADDIU</a:t>
            </a:r>
            <a:r>
              <a:rPr dirty="0" sz="2000" spc="-45" b="1">
                <a:solidFill>
                  <a:srgbClr val="40458B"/>
                </a:solidFill>
                <a:latin typeface="Times New Roman"/>
                <a:cs typeface="Times New Roman"/>
              </a:rPr>
              <a:t> </a:t>
            </a:r>
            <a:r>
              <a:rPr dirty="0" sz="2000" b="1">
                <a:solidFill>
                  <a:srgbClr val="40458B"/>
                </a:solidFill>
                <a:latin typeface="Times New Roman"/>
                <a:cs typeface="Times New Roman"/>
              </a:rPr>
              <a:t>R1,</a:t>
            </a:r>
            <a:r>
              <a:rPr dirty="0" sz="2000" spc="-20" b="1">
                <a:solidFill>
                  <a:srgbClr val="40458B"/>
                </a:solidFill>
                <a:latin typeface="Times New Roman"/>
                <a:cs typeface="Times New Roman"/>
              </a:rPr>
              <a:t> </a:t>
            </a:r>
            <a:r>
              <a:rPr dirty="0" sz="2000" b="1">
                <a:solidFill>
                  <a:srgbClr val="40458B"/>
                </a:solidFill>
                <a:latin typeface="Times New Roman"/>
                <a:cs typeface="Times New Roman"/>
              </a:rPr>
              <a:t>R1,</a:t>
            </a:r>
            <a:r>
              <a:rPr dirty="0" sz="2000" spc="-35" b="1">
                <a:solidFill>
                  <a:srgbClr val="40458B"/>
                </a:solidFill>
                <a:latin typeface="Times New Roman"/>
                <a:cs typeface="Times New Roman"/>
              </a:rPr>
              <a:t> </a:t>
            </a:r>
            <a:r>
              <a:rPr dirty="0" sz="2000" b="1">
                <a:solidFill>
                  <a:srgbClr val="40458B"/>
                </a:solidFill>
                <a:latin typeface="Times New Roman"/>
                <a:cs typeface="Times New Roman"/>
              </a:rPr>
              <a:t>#-</a:t>
            </a:r>
            <a:r>
              <a:rPr dirty="0" sz="2000" spc="-50" b="1">
                <a:solidFill>
                  <a:srgbClr val="40458B"/>
                </a:solidFill>
                <a:latin typeface="Times New Roman"/>
                <a:cs typeface="Times New Roman"/>
              </a:rPr>
              <a:t>8 </a:t>
            </a:r>
            <a:r>
              <a:rPr dirty="0" sz="2000" b="1">
                <a:solidFill>
                  <a:srgbClr val="40458B"/>
                </a:solidFill>
                <a:latin typeface="Times New Roman"/>
                <a:cs typeface="Times New Roman"/>
              </a:rPr>
              <a:t>BNE</a:t>
            </a:r>
            <a:r>
              <a:rPr dirty="0" sz="2000" spc="145" b="1">
                <a:solidFill>
                  <a:srgbClr val="40458B"/>
                </a:solidFill>
                <a:latin typeface="Times New Roman"/>
                <a:cs typeface="Times New Roman"/>
              </a:rPr>
              <a:t> </a:t>
            </a:r>
            <a:r>
              <a:rPr dirty="0" sz="2000" b="1">
                <a:solidFill>
                  <a:srgbClr val="40458B"/>
                </a:solidFill>
                <a:latin typeface="Times New Roman"/>
                <a:cs typeface="Times New Roman"/>
              </a:rPr>
              <a:t>R1,</a:t>
            </a:r>
            <a:r>
              <a:rPr dirty="0" sz="2000" spc="-40" b="1">
                <a:solidFill>
                  <a:srgbClr val="40458B"/>
                </a:solidFill>
                <a:latin typeface="Times New Roman"/>
                <a:cs typeface="Times New Roman"/>
              </a:rPr>
              <a:t> </a:t>
            </a:r>
            <a:r>
              <a:rPr dirty="0" sz="2000" b="1">
                <a:solidFill>
                  <a:srgbClr val="40458B"/>
                </a:solidFill>
                <a:latin typeface="Times New Roman"/>
                <a:cs typeface="Times New Roman"/>
              </a:rPr>
              <a:t>R2,</a:t>
            </a:r>
            <a:r>
              <a:rPr dirty="0" sz="2000" spc="-25" b="1">
                <a:solidFill>
                  <a:srgbClr val="40458B"/>
                </a:solidFill>
                <a:latin typeface="Times New Roman"/>
                <a:cs typeface="Times New Roman"/>
              </a:rPr>
              <a:t> </a:t>
            </a:r>
            <a:r>
              <a:rPr dirty="0" sz="2000" spc="-20" b="1">
                <a:solidFill>
                  <a:srgbClr val="40458B"/>
                </a:solidFill>
                <a:latin typeface="Times New Roman"/>
                <a:cs typeface="Times New Roman"/>
              </a:rPr>
              <a:t>Loop</a:t>
            </a:r>
            <a:endParaRPr sz="2000">
              <a:latin typeface="Times New Roman"/>
              <a:cs typeface="Times New Roman"/>
            </a:endParaRPr>
          </a:p>
        </p:txBody>
      </p:sp>
      <p:sp>
        <p:nvSpPr>
          <p:cNvPr id="15" name="object 15" descr=""/>
          <p:cNvSpPr/>
          <p:nvPr/>
        </p:nvSpPr>
        <p:spPr>
          <a:xfrm>
            <a:off x="0" y="752475"/>
            <a:ext cx="3343910" cy="1783080"/>
          </a:xfrm>
          <a:custGeom>
            <a:avLst/>
            <a:gdLst/>
            <a:ahLst/>
            <a:cxnLst/>
            <a:rect l="l" t="t" r="r" b="b"/>
            <a:pathLst>
              <a:path w="3343910" h="1783080">
                <a:moveTo>
                  <a:pt x="0" y="1782826"/>
                </a:moveTo>
                <a:lnTo>
                  <a:pt x="3343338" y="1782826"/>
                </a:lnTo>
                <a:lnTo>
                  <a:pt x="3343338" y="0"/>
                </a:lnTo>
                <a:lnTo>
                  <a:pt x="0" y="0"/>
                </a:lnTo>
              </a:path>
            </a:pathLst>
          </a:custGeom>
          <a:ln w="9525">
            <a:solidFill>
              <a:srgbClr val="FF0000"/>
            </a:solidFill>
          </a:ln>
        </p:spPr>
        <p:txBody>
          <a:bodyPr wrap="square" lIns="0" tIns="0" rIns="0" bIns="0" rtlCol="0"/>
          <a:lstStyle/>
          <a:p/>
        </p:txBody>
      </p:sp>
      <p:sp>
        <p:nvSpPr>
          <p:cNvPr id="16" name="object 16" descr=""/>
          <p:cNvSpPr txBox="1"/>
          <p:nvPr/>
        </p:nvSpPr>
        <p:spPr>
          <a:xfrm>
            <a:off x="8936481" y="614553"/>
            <a:ext cx="2515235" cy="1089025"/>
          </a:xfrm>
          <a:prstGeom prst="rect">
            <a:avLst/>
          </a:prstGeom>
        </p:spPr>
        <p:txBody>
          <a:bodyPr wrap="square" lIns="0" tIns="12065" rIns="0" bIns="0" rtlCol="0" vert="horz">
            <a:spAutoFit/>
          </a:bodyPr>
          <a:lstStyle/>
          <a:p>
            <a:pPr marL="12700">
              <a:lnSpc>
                <a:spcPts val="1914"/>
              </a:lnSpc>
              <a:spcBef>
                <a:spcPts val="95"/>
              </a:spcBef>
              <a:tabLst>
                <a:tab pos="1254125" algn="l"/>
              </a:tabLst>
            </a:pPr>
            <a:r>
              <a:rPr dirty="0" sz="1600" spc="-10" b="1">
                <a:solidFill>
                  <a:srgbClr val="40458B"/>
                </a:solidFill>
                <a:latin typeface="Times New Roman"/>
                <a:cs typeface="Times New Roman"/>
              </a:rPr>
              <a:t>Loop</a:t>
            </a:r>
            <a:r>
              <a:rPr dirty="0" sz="1600" spc="-10" b="1">
                <a:solidFill>
                  <a:srgbClr val="40458B"/>
                </a:solidFill>
                <a:latin typeface="宋体"/>
                <a:cs typeface="宋体"/>
              </a:rPr>
              <a:t>：</a:t>
            </a:r>
            <a:r>
              <a:rPr dirty="0" sz="1600" spc="-385" b="1">
                <a:solidFill>
                  <a:srgbClr val="40458B"/>
                </a:solidFill>
                <a:latin typeface="宋体"/>
                <a:cs typeface="宋体"/>
              </a:rPr>
              <a:t> </a:t>
            </a:r>
            <a:r>
              <a:rPr dirty="0" sz="1600" spc="-25" b="1">
                <a:solidFill>
                  <a:srgbClr val="40458B"/>
                </a:solidFill>
                <a:latin typeface="Times New Roman"/>
                <a:cs typeface="Times New Roman"/>
              </a:rPr>
              <a:t>L.D</a:t>
            </a:r>
            <a:r>
              <a:rPr dirty="0" sz="1600" b="1">
                <a:solidFill>
                  <a:srgbClr val="40458B"/>
                </a:solidFill>
                <a:latin typeface="Times New Roman"/>
                <a:cs typeface="Times New Roman"/>
              </a:rPr>
              <a:t>	F0,</a:t>
            </a:r>
            <a:r>
              <a:rPr dirty="0" sz="1600" spc="-30" b="1">
                <a:solidFill>
                  <a:srgbClr val="40458B"/>
                </a:solidFill>
                <a:latin typeface="Times New Roman"/>
                <a:cs typeface="Times New Roman"/>
              </a:rPr>
              <a:t> </a:t>
            </a:r>
            <a:r>
              <a:rPr dirty="0" sz="1600" spc="-10" b="1">
                <a:solidFill>
                  <a:srgbClr val="40458B"/>
                </a:solidFill>
                <a:latin typeface="Times New Roman"/>
                <a:cs typeface="Times New Roman"/>
              </a:rPr>
              <a:t>0(R1)</a:t>
            </a:r>
            <a:endParaRPr sz="1600">
              <a:latin typeface="Times New Roman"/>
              <a:cs typeface="Times New Roman"/>
            </a:endParaRPr>
          </a:p>
          <a:p>
            <a:pPr marL="661670">
              <a:lnSpc>
                <a:spcPts val="1914"/>
              </a:lnSpc>
            </a:pPr>
            <a:r>
              <a:rPr dirty="0" sz="1600" b="1">
                <a:solidFill>
                  <a:srgbClr val="40458B"/>
                </a:solidFill>
                <a:latin typeface="Times New Roman"/>
                <a:cs typeface="Times New Roman"/>
              </a:rPr>
              <a:t>ADD.D</a:t>
            </a:r>
            <a:r>
              <a:rPr dirty="0" sz="1600" spc="-35" b="1">
                <a:solidFill>
                  <a:srgbClr val="40458B"/>
                </a:solidFill>
                <a:latin typeface="Times New Roman"/>
                <a:cs typeface="Times New Roman"/>
              </a:rPr>
              <a:t> </a:t>
            </a:r>
            <a:r>
              <a:rPr dirty="0" sz="1600" b="1">
                <a:solidFill>
                  <a:srgbClr val="40458B"/>
                </a:solidFill>
                <a:latin typeface="Times New Roman"/>
                <a:cs typeface="Times New Roman"/>
              </a:rPr>
              <a:t>F4,</a:t>
            </a:r>
            <a:r>
              <a:rPr dirty="0" sz="1600" spc="-15" b="1">
                <a:solidFill>
                  <a:srgbClr val="40458B"/>
                </a:solidFill>
                <a:latin typeface="Times New Roman"/>
                <a:cs typeface="Times New Roman"/>
              </a:rPr>
              <a:t> </a:t>
            </a:r>
            <a:r>
              <a:rPr dirty="0" sz="1600" b="1">
                <a:solidFill>
                  <a:srgbClr val="40458B"/>
                </a:solidFill>
                <a:latin typeface="Times New Roman"/>
                <a:cs typeface="Times New Roman"/>
              </a:rPr>
              <a:t>F0,</a:t>
            </a:r>
            <a:r>
              <a:rPr dirty="0" sz="1600" spc="-25" b="1">
                <a:solidFill>
                  <a:srgbClr val="40458B"/>
                </a:solidFill>
                <a:latin typeface="Times New Roman"/>
                <a:cs typeface="Times New Roman"/>
              </a:rPr>
              <a:t> F2</a:t>
            </a:r>
            <a:endParaRPr sz="1600">
              <a:latin typeface="Times New Roman"/>
              <a:cs typeface="Times New Roman"/>
            </a:endParaRPr>
          </a:p>
          <a:p>
            <a:pPr marL="672465">
              <a:lnSpc>
                <a:spcPct val="100000"/>
              </a:lnSpc>
              <a:tabLst>
                <a:tab pos="1434465" algn="l"/>
              </a:tabLst>
            </a:pPr>
            <a:r>
              <a:rPr dirty="0" sz="1600" spc="-25" b="1">
                <a:solidFill>
                  <a:srgbClr val="40458B"/>
                </a:solidFill>
                <a:latin typeface="Times New Roman"/>
                <a:cs typeface="Times New Roman"/>
              </a:rPr>
              <a:t>S.D</a:t>
            </a:r>
            <a:r>
              <a:rPr dirty="0" sz="1600" b="1">
                <a:solidFill>
                  <a:srgbClr val="40458B"/>
                </a:solidFill>
                <a:latin typeface="Times New Roman"/>
                <a:cs typeface="Times New Roman"/>
              </a:rPr>
              <a:t>	F4,</a:t>
            </a:r>
            <a:r>
              <a:rPr dirty="0" sz="1600" spc="-20" b="1">
                <a:solidFill>
                  <a:srgbClr val="40458B"/>
                </a:solidFill>
                <a:latin typeface="Times New Roman"/>
                <a:cs typeface="Times New Roman"/>
              </a:rPr>
              <a:t> 0(R1)</a:t>
            </a:r>
            <a:endParaRPr sz="1600">
              <a:latin typeface="Times New Roman"/>
              <a:cs typeface="Times New Roman"/>
            </a:endParaRPr>
          </a:p>
          <a:p>
            <a:pPr marL="672465">
              <a:lnSpc>
                <a:spcPct val="100000"/>
              </a:lnSpc>
              <a:spcBef>
                <a:spcPts val="710"/>
              </a:spcBef>
            </a:pPr>
            <a:r>
              <a:rPr dirty="0" sz="1600" b="1">
                <a:solidFill>
                  <a:srgbClr val="40458B"/>
                </a:solidFill>
                <a:latin typeface="Times New Roman"/>
                <a:cs typeface="Times New Roman"/>
              </a:rPr>
              <a:t>DADDIU</a:t>
            </a:r>
            <a:r>
              <a:rPr dirty="0" sz="1600" spc="-30" b="1">
                <a:solidFill>
                  <a:srgbClr val="40458B"/>
                </a:solidFill>
                <a:latin typeface="Times New Roman"/>
                <a:cs typeface="Times New Roman"/>
              </a:rPr>
              <a:t> </a:t>
            </a:r>
            <a:r>
              <a:rPr dirty="0" sz="1600" b="1">
                <a:solidFill>
                  <a:srgbClr val="40458B"/>
                </a:solidFill>
                <a:latin typeface="Times New Roman"/>
                <a:cs typeface="Times New Roman"/>
              </a:rPr>
              <a:t>R1,</a:t>
            </a:r>
            <a:r>
              <a:rPr dirty="0" sz="1600" spc="-30" b="1">
                <a:solidFill>
                  <a:srgbClr val="40458B"/>
                </a:solidFill>
                <a:latin typeface="Times New Roman"/>
                <a:cs typeface="Times New Roman"/>
              </a:rPr>
              <a:t> </a:t>
            </a:r>
            <a:r>
              <a:rPr dirty="0" sz="1600" b="1">
                <a:solidFill>
                  <a:srgbClr val="40458B"/>
                </a:solidFill>
                <a:latin typeface="Times New Roman"/>
                <a:cs typeface="Times New Roman"/>
              </a:rPr>
              <a:t>R1,</a:t>
            </a:r>
            <a:r>
              <a:rPr dirty="0" sz="1600" spc="-30" b="1">
                <a:solidFill>
                  <a:srgbClr val="40458B"/>
                </a:solidFill>
                <a:latin typeface="Times New Roman"/>
                <a:cs typeface="Times New Roman"/>
              </a:rPr>
              <a:t> </a:t>
            </a:r>
            <a:r>
              <a:rPr dirty="0" sz="1600" spc="-10" b="1">
                <a:solidFill>
                  <a:srgbClr val="40458B"/>
                </a:solidFill>
                <a:latin typeface="Times New Roman"/>
                <a:cs typeface="Times New Roman"/>
              </a:rPr>
              <a:t>#-</a:t>
            </a:r>
            <a:r>
              <a:rPr dirty="0" sz="1600" spc="-50" b="1">
                <a:solidFill>
                  <a:srgbClr val="40458B"/>
                </a:solidFill>
                <a:latin typeface="Times New Roman"/>
                <a:cs typeface="Times New Roman"/>
              </a:rPr>
              <a:t>8</a:t>
            </a:r>
            <a:endParaRPr sz="1600">
              <a:latin typeface="Times New Roman"/>
              <a:cs typeface="Times New Roman"/>
            </a:endParaRPr>
          </a:p>
        </p:txBody>
      </p:sp>
      <p:sp>
        <p:nvSpPr>
          <p:cNvPr id="17" name="object 17" descr=""/>
          <p:cNvSpPr txBox="1"/>
          <p:nvPr/>
        </p:nvSpPr>
        <p:spPr>
          <a:xfrm>
            <a:off x="9546081" y="1727073"/>
            <a:ext cx="1848485" cy="518795"/>
          </a:xfrm>
          <a:prstGeom prst="rect">
            <a:avLst/>
          </a:prstGeom>
        </p:spPr>
        <p:txBody>
          <a:bodyPr wrap="square" lIns="0" tIns="12065" rIns="0" bIns="0" rtlCol="0" vert="horz">
            <a:spAutoFit/>
          </a:bodyPr>
          <a:lstStyle/>
          <a:p>
            <a:pPr marL="12700">
              <a:lnSpc>
                <a:spcPct val="100000"/>
              </a:lnSpc>
              <a:spcBef>
                <a:spcPts val="95"/>
              </a:spcBef>
              <a:tabLst>
                <a:tab pos="774065" algn="l"/>
              </a:tabLst>
            </a:pPr>
            <a:r>
              <a:rPr dirty="0" sz="1600" spc="-25" b="1">
                <a:solidFill>
                  <a:srgbClr val="6600FF"/>
                </a:solidFill>
                <a:latin typeface="Times New Roman"/>
                <a:cs typeface="Times New Roman"/>
              </a:rPr>
              <a:t>BNE</a:t>
            </a:r>
            <a:r>
              <a:rPr dirty="0" sz="1600" b="1">
                <a:solidFill>
                  <a:srgbClr val="6600FF"/>
                </a:solidFill>
                <a:latin typeface="Times New Roman"/>
                <a:cs typeface="Times New Roman"/>
              </a:rPr>
              <a:t>	R1,</a:t>
            </a:r>
            <a:r>
              <a:rPr dirty="0" sz="1600" spc="-10" b="1">
                <a:solidFill>
                  <a:srgbClr val="6600FF"/>
                </a:solidFill>
                <a:latin typeface="Times New Roman"/>
                <a:cs typeface="Times New Roman"/>
              </a:rPr>
              <a:t> </a:t>
            </a:r>
            <a:r>
              <a:rPr dirty="0" sz="1600" b="1">
                <a:solidFill>
                  <a:srgbClr val="6600FF"/>
                </a:solidFill>
                <a:latin typeface="Times New Roman"/>
                <a:cs typeface="Times New Roman"/>
              </a:rPr>
              <a:t>R2,</a:t>
            </a:r>
            <a:r>
              <a:rPr dirty="0" sz="1600" spc="-10" b="1">
                <a:solidFill>
                  <a:srgbClr val="6600FF"/>
                </a:solidFill>
                <a:latin typeface="Times New Roman"/>
                <a:cs typeface="Times New Roman"/>
              </a:rPr>
              <a:t> </a:t>
            </a:r>
            <a:r>
              <a:rPr dirty="0" sz="1600" spc="-20" b="1">
                <a:solidFill>
                  <a:srgbClr val="6600FF"/>
                </a:solidFill>
                <a:latin typeface="Times New Roman"/>
                <a:cs typeface="Times New Roman"/>
              </a:rPr>
              <a:t>Exit</a:t>
            </a:r>
            <a:endParaRPr sz="1600">
              <a:latin typeface="Times New Roman"/>
              <a:cs typeface="Times New Roman"/>
            </a:endParaRPr>
          </a:p>
          <a:p>
            <a:pPr marL="26670">
              <a:lnSpc>
                <a:spcPct val="100000"/>
              </a:lnSpc>
              <a:spcBef>
                <a:spcPts val="45"/>
              </a:spcBef>
              <a:tabLst>
                <a:tab pos="561340" algn="l"/>
              </a:tabLst>
            </a:pPr>
            <a:r>
              <a:rPr dirty="0" sz="1600" spc="-25" b="1">
                <a:solidFill>
                  <a:srgbClr val="40458B"/>
                </a:solidFill>
                <a:latin typeface="Times New Roman"/>
                <a:cs typeface="Times New Roman"/>
              </a:rPr>
              <a:t>L.D</a:t>
            </a:r>
            <a:r>
              <a:rPr dirty="0" sz="1600" b="1">
                <a:solidFill>
                  <a:srgbClr val="40458B"/>
                </a:solidFill>
                <a:latin typeface="Times New Roman"/>
                <a:cs typeface="Times New Roman"/>
              </a:rPr>
              <a:t>	F0,</a:t>
            </a:r>
            <a:r>
              <a:rPr dirty="0" sz="1600" spc="-30" b="1">
                <a:solidFill>
                  <a:srgbClr val="40458B"/>
                </a:solidFill>
                <a:latin typeface="Times New Roman"/>
                <a:cs typeface="Times New Roman"/>
              </a:rPr>
              <a:t> </a:t>
            </a:r>
            <a:r>
              <a:rPr dirty="0" sz="1600" spc="-10" b="1">
                <a:solidFill>
                  <a:srgbClr val="40458B"/>
                </a:solidFill>
                <a:latin typeface="Times New Roman"/>
                <a:cs typeface="Times New Roman"/>
              </a:rPr>
              <a:t>0(R1)</a:t>
            </a:r>
            <a:endParaRPr sz="1600">
              <a:latin typeface="Times New Roman"/>
              <a:cs typeface="Times New Roman"/>
            </a:endParaRPr>
          </a:p>
        </p:txBody>
      </p:sp>
      <p:sp>
        <p:nvSpPr>
          <p:cNvPr id="18" name="object 18" descr=""/>
          <p:cNvSpPr txBox="1"/>
          <p:nvPr/>
        </p:nvSpPr>
        <p:spPr>
          <a:xfrm>
            <a:off x="9650094" y="2220594"/>
            <a:ext cx="1866264" cy="847090"/>
          </a:xfrm>
          <a:prstGeom prst="rect">
            <a:avLst/>
          </a:prstGeom>
        </p:spPr>
        <p:txBody>
          <a:bodyPr wrap="square" lIns="0" tIns="12065" rIns="0" bIns="0" rtlCol="0" vert="horz">
            <a:spAutoFit/>
          </a:bodyPr>
          <a:lstStyle/>
          <a:p>
            <a:pPr marL="12700">
              <a:lnSpc>
                <a:spcPct val="100000"/>
              </a:lnSpc>
              <a:spcBef>
                <a:spcPts val="95"/>
              </a:spcBef>
            </a:pPr>
            <a:r>
              <a:rPr dirty="0" sz="1600" b="1">
                <a:solidFill>
                  <a:srgbClr val="40458B"/>
                </a:solidFill>
                <a:latin typeface="Times New Roman"/>
                <a:cs typeface="Times New Roman"/>
              </a:rPr>
              <a:t>ADD.D</a:t>
            </a:r>
            <a:r>
              <a:rPr dirty="0" sz="1600" spc="-35" b="1">
                <a:solidFill>
                  <a:srgbClr val="40458B"/>
                </a:solidFill>
                <a:latin typeface="Times New Roman"/>
                <a:cs typeface="Times New Roman"/>
              </a:rPr>
              <a:t> </a:t>
            </a:r>
            <a:r>
              <a:rPr dirty="0" sz="1600" b="1">
                <a:solidFill>
                  <a:srgbClr val="40458B"/>
                </a:solidFill>
                <a:latin typeface="Times New Roman"/>
                <a:cs typeface="Times New Roman"/>
              </a:rPr>
              <a:t>F4,</a:t>
            </a:r>
            <a:r>
              <a:rPr dirty="0" sz="1600" spc="-15" b="1">
                <a:solidFill>
                  <a:srgbClr val="40458B"/>
                </a:solidFill>
                <a:latin typeface="Times New Roman"/>
                <a:cs typeface="Times New Roman"/>
              </a:rPr>
              <a:t> </a:t>
            </a:r>
            <a:r>
              <a:rPr dirty="0" sz="1600" b="1">
                <a:solidFill>
                  <a:srgbClr val="40458B"/>
                </a:solidFill>
                <a:latin typeface="Times New Roman"/>
                <a:cs typeface="Times New Roman"/>
              </a:rPr>
              <a:t>F0,</a:t>
            </a:r>
            <a:r>
              <a:rPr dirty="0" sz="1600" spc="-25" b="1">
                <a:solidFill>
                  <a:srgbClr val="40458B"/>
                </a:solidFill>
                <a:latin typeface="Times New Roman"/>
                <a:cs typeface="Times New Roman"/>
              </a:rPr>
              <a:t> F2</a:t>
            </a:r>
            <a:endParaRPr sz="1600">
              <a:latin typeface="Times New Roman"/>
              <a:cs typeface="Times New Roman"/>
            </a:endParaRPr>
          </a:p>
          <a:p>
            <a:pPr marL="22860">
              <a:lnSpc>
                <a:spcPct val="100000"/>
              </a:lnSpc>
              <a:tabLst>
                <a:tab pos="784860" algn="l"/>
              </a:tabLst>
            </a:pPr>
            <a:r>
              <a:rPr dirty="0" sz="1600" spc="-25" b="1">
                <a:solidFill>
                  <a:srgbClr val="40458B"/>
                </a:solidFill>
                <a:latin typeface="Times New Roman"/>
                <a:cs typeface="Times New Roman"/>
              </a:rPr>
              <a:t>S.D</a:t>
            </a:r>
            <a:r>
              <a:rPr dirty="0" sz="1600" b="1">
                <a:solidFill>
                  <a:srgbClr val="40458B"/>
                </a:solidFill>
                <a:latin typeface="Times New Roman"/>
                <a:cs typeface="Times New Roman"/>
              </a:rPr>
              <a:t>	F4,</a:t>
            </a:r>
            <a:r>
              <a:rPr dirty="0" sz="1600" spc="-20" b="1">
                <a:solidFill>
                  <a:srgbClr val="40458B"/>
                </a:solidFill>
                <a:latin typeface="Times New Roman"/>
                <a:cs typeface="Times New Roman"/>
              </a:rPr>
              <a:t> </a:t>
            </a:r>
            <a:r>
              <a:rPr dirty="0" sz="1600" spc="-10" b="1">
                <a:solidFill>
                  <a:srgbClr val="40458B"/>
                </a:solidFill>
                <a:latin typeface="Times New Roman"/>
                <a:cs typeface="Times New Roman"/>
              </a:rPr>
              <a:t>0(R1)</a:t>
            </a:r>
            <a:endParaRPr sz="1600">
              <a:latin typeface="Times New Roman"/>
              <a:cs typeface="Times New Roman"/>
            </a:endParaRPr>
          </a:p>
          <a:p>
            <a:pPr marL="22860">
              <a:lnSpc>
                <a:spcPct val="100000"/>
              </a:lnSpc>
              <a:spcBef>
                <a:spcPts val="710"/>
              </a:spcBef>
            </a:pPr>
            <a:r>
              <a:rPr dirty="0" sz="1600" b="1">
                <a:solidFill>
                  <a:srgbClr val="40458B"/>
                </a:solidFill>
                <a:latin typeface="Times New Roman"/>
                <a:cs typeface="Times New Roman"/>
              </a:rPr>
              <a:t>DADDIU</a:t>
            </a:r>
            <a:r>
              <a:rPr dirty="0" sz="1600" spc="-30" b="1">
                <a:solidFill>
                  <a:srgbClr val="40458B"/>
                </a:solidFill>
                <a:latin typeface="Times New Roman"/>
                <a:cs typeface="Times New Roman"/>
              </a:rPr>
              <a:t> </a:t>
            </a:r>
            <a:r>
              <a:rPr dirty="0" sz="1600" b="1">
                <a:solidFill>
                  <a:srgbClr val="40458B"/>
                </a:solidFill>
                <a:latin typeface="Times New Roman"/>
                <a:cs typeface="Times New Roman"/>
              </a:rPr>
              <a:t>R1,</a:t>
            </a:r>
            <a:r>
              <a:rPr dirty="0" sz="1600" spc="-30" b="1">
                <a:solidFill>
                  <a:srgbClr val="40458B"/>
                </a:solidFill>
                <a:latin typeface="Times New Roman"/>
                <a:cs typeface="Times New Roman"/>
              </a:rPr>
              <a:t> </a:t>
            </a:r>
            <a:r>
              <a:rPr dirty="0" sz="1600" b="1">
                <a:solidFill>
                  <a:srgbClr val="40458B"/>
                </a:solidFill>
                <a:latin typeface="Times New Roman"/>
                <a:cs typeface="Times New Roman"/>
              </a:rPr>
              <a:t>R1,</a:t>
            </a:r>
            <a:r>
              <a:rPr dirty="0" sz="1600" spc="-30" b="1">
                <a:solidFill>
                  <a:srgbClr val="40458B"/>
                </a:solidFill>
                <a:latin typeface="Times New Roman"/>
                <a:cs typeface="Times New Roman"/>
              </a:rPr>
              <a:t> </a:t>
            </a:r>
            <a:r>
              <a:rPr dirty="0" sz="1600" spc="-10" b="1">
                <a:solidFill>
                  <a:srgbClr val="40458B"/>
                </a:solidFill>
                <a:latin typeface="Times New Roman"/>
                <a:cs typeface="Times New Roman"/>
              </a:rPr>
              <a:t>#-</a:t>
            </a:r>
            <a:r>
              <a:rPr dirty="0" sz="1600" spc="-50" b="1">
                <a:solidFill>
                  <a:srgbClr val="40458B"/>
                </a:solidFill>
                <a:latin typeface="Times New Roman"/>
                <a:cs typeface="Times New Roman"/>
              </a:rPr>
              <a:t>8</a:t>
            </a:r>
            <a:endParaRPr sz="1600">
              <a:latin typeface="Times New Roman"/>
              <a:cs typeface="Times New Roman"/>
            </a:endParaRPr>
          </a:p>
        </p:txBody>
      </p:sp>
      <p:sp>
        <p:nvSpPr>
          <p:cNvPr id="19" name="object 19" descr=""/>
          <p:cNvSpPr txBox="1"/>
          <p:nvPr/>
        </p:nvSpPr>
        <p:spPr>
          <a:xfrm>
            <a:off x="9560179" y="3062122"/>
            <a:ext cx="1897380" cy="570230"/>
          </a:xfrm>
          <a:prstGeom prst="rect">
            <a:avLst/>
          </a:prstGeom>
        </p:spPr>
        <p:txBody>
          <a:bodyPr wrap="square" lIns="0" tIns="40640" rIns="0" bIns="0" rtlCol="0" vert="horz">
            <a:spAutoFit/>
          </a:bodyPr>
          <a:lstStyle/>
          <a:p>
            <a:pPr marL="62865">
              <a:lnSpc>
                <a:spcPct val="100000"/>
              </a:lnSpc>
              <a:spcBef>
                <a:spcPts val="320"/>
              </a:spcBef>
              <a:tabLst>
                <a:tab pos="824865" algn="l"/>
              </a:tabLst>
            </a:pPr>
            <a:r>
              <a:rPr dirty="0" sz="1600" spc="-25" b="1">
                <a:solidFill>
                  <a:srgbClr val="6600FF"/>
                </a:solidFill>
                <a:latin typeface="Times New Roman"/>
                <a:cs typeface="Times New Roman"/>
              </a:rPr>
              <a:t>BNE</a:t>
            </a:r>
            <a:r>
              <a:rPr dirty="0" sz="1600" b="1">
                <a:solidFill>
                  <a:srgbClr val="6600FF"/>
                </a:solidFill>
                <a:latin typeface="Times New Roman"/>
                <a:cs typeface="Times New Roman"/>
              </a:rPr>
              <a:t>	R1,</a:t>
            </a:r>
            <a:r>
              <a:rPr dirty="0" sz="1600" spc="-15" b="1">
                <a:solidFill>
                  <a:srgbClr val="6600FF"/>
                </a:solidFill>
                <a:latin typeface="Times New Roman"/>
                <a:cs typeface="Times New Roman"/>
              </a:rPr>
              <a:t> </a:t>
            </a:r>
            <a:r>
              <a:rPr dirty="0" sz="1600" b="1">
                <a:solidFill>
                  <a:srgbClr val="6600FF"/>
                </a:solidFill>
                <a:latin typeface="Times New Roman"/>
                <a:cs typeface="Times New Roman"/>
              </a:rPr>
              <a:t>R2,</a:t>
            </a:r>
            <a:r>
              <a:rPr dirty="0" sz="1600" spc="-15" b="1">
                <a:solidFill>
                  <a:srgbClr val="6600FF"/>
                </a:solidFill>
                <a:latin typeface="Times New Roman"/>
                <a:cs typeface="Times New Roman"/>
              </a:rPr>
              <a:t> </a:t>
            </a:r>
            <a:r>
              <a:rPr dirty="0" sz="1600" spc="-20" b="1">
                <a:solidFill>
                  <a:srgbClr val="6600FF"/>
                </a:solidFill>
                <a:latin typeface="Times New Roman"/>
                <a:cs typeface="Times New Roman"/>
              </a:rPr>
              <a:t>Exit</a:t>
            </a:r>
            <a:endParaRPr sz="1600">
              <a:latin typeface="Times New Roman"/>
              <a:cs typeface="Times New Roman"/>
            </a:endParaRPr>
          </a:p>
          <a:p>
            <a:pPr marL="12700">
              <a:lnSpc>
                <a:spcPct val="100000"/>
              </a:lnSpc>
              <a:spcBef>
                <a:spcPts val="225"/>
              </a:spcBef>
              <a:tabLst>
                <a:tab pos="546735" algn="l"/>
              </a:tabLst>
            </a:pPr>
            <a:r>
              <a:rPr dirty="0" sz="1600" spc="-25" b="1">
                <a:solidFill>
                  <a:srgbClr val="40458B"/>
                </a:solidFill>
                <a:latin typeface="Times New Roman"/>
                <a:cs typeface="Times New Roman"/>
              </a:rPr>
              <a:t>L.D</a:t>
            </a:r>
            <a:r>
              <a:rPr dirty="0" sz="1600" b="1">
                <a:solidFill>
                  <a:srgbClr val="40458B"/>
                </a:solidFill>
                <a:latin typeface="Times New Roman"/>
                <a:cs typeface="Times New Roman"/>
              </a:rPr>
              <a:t>	F0,</a:t>
            </a:r>
            <a:r>
              <a:rPr dirty="0" sz="1600" spc="-30" b="1">
                <a:solidFill>
                  <a:srgbClr val="40458B"/>
                </a:solidFill>
                <a:latin typeface="Times New Roman"/>
                <a:cs typeface="Times New Roman"/>
              </a:rPr>
              <a:t> </a:t>
            </a:r>
            <a:r>
              <a:rPr dirty="0" sz="1600" spc="-20" b="1">
                <a:solidFill>
                  <a:srgbClr val="40458B"/>
                </a:solidFill>
                <a:latin typeface="Times New Roman"/>
                <a:cs typeface="Times New Roman"/>
              </a:rPr>
              <a:t>0(R1)</a:t>
            </a:r>
            <a:endParaRPr sz="1600">
              <a:latin typeface="Times New Roman"/>
              <a:cs typeface="Times New Roman"/>
            </a:endParaRPr>
          </a:p>
        </p:txBody>
      </p:sp>
      <p:sp>
        <p:nvSpPr>
          <p:cNvPr id="20" name="object 20" descr=""/>
          <p:cNvSpPr txBox="1"/>
          <p:nvPr/>
        </p:nvSpPr>
        <p:spPr>
          <a:xfrm>
            <a:off x="9650094" y="3607053"/>
            <a:ext cx="1610360" cy="513080"/>
          </a:xfrm>
          <a:prstGeom prst="rect">
            <a:avLst/>
          </a:prstGeom>
        </p:spPr>
        <p:txBody>
          <a:bodyPr wrap="square" lIns="0" tIns="12065" rIns="0" bIns="0" rtlCol="0" vert="horz">
            <a:spAutoFit/>
          </a:bodyPr>
          <a:lstStyle/>
          <a:p>
            <a:pPr marL="12700">
              <a:lnSpc>
                <a:spcPct val="100000"/>
              </a:lnSpc>
              <a:spcBef>
                <a:spcPts val="95"/>
              </a:spcBef>
            </a:pPr>
            <a:r>
              <a:rPr dirty="0" sz="1600" b="1">
                <a:solidFill>
                  <a:srgbClr val="40458B"/>
                </a:solidFill>
                <a:latin typeface="Times New Roman"/>
                <a:cs typeface="Times New Roman"/>
              </a:rPr>
              <a:t>ADD.D</a:t>
            </a:r>
            <a:r>
              <a:rPr dirty="0" sz="1600" spc="-35" b="1">
                <a:solidFill>
                  <a:srgbClr val="40458B"/>
                </a:solidFill>
                <a:latin typeface="Times New Roman"/>
                <a:cs typeface="Times New Roman"/>
              </a:rPr>
              <a:t> </a:t>
            </a:r>
            <a:r>
              <a:rPr dirty="0" sz="1600" b="1">
                <a:solidFill>
                  <a:srgbClr val="40458B"/>
                </a:solidFill>
                <a:latin typeface="Times New Roman"/>
                <a:cs typeface="Times New Roman"/>
              </a:rPr>
              <a:t>F4,</a:t>
            </a:r>
            <a:r>
              <a:rPr dirty="0" sz="1600" spc="-15" b="1">
                <a:solidFill>
                  <a:srgbClr val="40458B"/>
                </a:solidFill>
                <a:latin typeface="Times New Roman"/>
                <a:cs typeface="Times New Roman"/>
              </a:rPr>
              <a:t> </a:t>
            </a:r>
            <a:r>
              <a:rPr dirty="0" sz="1600" b="1">
                <a:solidFill>
                  <a:srgbClr val="40458B"/>
                </a:solidFill>
                <a:latin typeface="Times New Roman"/>
                <a:cs typeface="Times New Roman"/>
              </a:rPr>
              <a:t>F0,</a:t>
            </a:r>
            <a:r>
              <a:rPr dirty="0" sz="1600" spc="-25" b="1">
                <a:solidFill>
                  <a:srgbClr val="40458B"/>
                </a:solidFill>
                <a:latin typeface="Times New Roman"/>
                <a:cs typeface="Times New Roman"/>
              </a:rPr>
              <a:t> F2</a:t>
            </a:r>
            <a:endParaRPr sz="1600">
              <a:latin typeface="Times New Roman"/>
              <a:cs typeface="Times New Roman"/>
            </a:endParaRPr>
          </a:p>
          <a:p>
            <a:pPr marL="22860">
              <a:lnSpc>
                <a:spcPct val="100000"/>
              </a:lnSpc>
              <a:tabLst>
                <a:tab pos="784860" algn="l"/>
              </a:tabLst>
            </a:pPr>
            <a:r>
              <a:rPr dirty="0" sz="1600" spc="-25" b="1">
                <a:solidFill>
                  <a:srgbClr val="40458B"/>
                </a:solidFill>
                <a:latin typeface="Times New Roman"/>
                <a:cs typeface="Times New Roman"/>
              </a:rPr>
              <a:t>S.D</a:t>
            </a:r>
            <a:r>
              <a:rPr dirty="0" sz="1600" b="1">
                <a:solidFill>
                  <a:srgbClr val="40458B"/>
                </a:solidFill>
                <a:latin typeface="Times New Roman"/>
                <a:cs typeface="Times New Roman"/>
              </a:rPr>
              <a:t>	F4,</a:t>
            </a:r>
            <a:r>
              <a:rPr dirty="0" sz="1600" spc="-20" b="1">
                <a:solidFill>
                  <a:srgbClr val="40458B"/>
                </a:solidFill>
                <a:latin typeface="Times New Roman"/>
                <a:cs typeface="Times New Roman"/>
              </a:rPr>
              <a:t> </a:t>
            </a:r>
            <a:r>
              <a:rPr dirty="0" sz="1600" spc="-10" b="1">
                <a:solidFill>
                  <a:srgbClr val="40458B"/>
                </a:solidFill>
                <a:latin typeface="Times New Roman"/>
                <a:cs typeface="Times New Roman"/>
              </a:rPr>
              <a:t>0(R1)</a:t>
            </a:r>
            <a:endParaRPr sz="1600">
              <a:latin typeface="Times New Roman"/>
              <a:cs typeface="Times New Roman"/>
            </a:endParaRPr>
          </a:p>
        </p:txBody>
      </p:sp>
      <p:sp>
        <p:nvSpPr>
          <p:cNvPr id="21" name="object 21" descr=""/>
          <p:cNvSpPr txBox="1"/>
          <p:nvPr/>
        </p:nvSpPr>
        <p:spPr>
          <a:xfrm>
            <a:off x="9660763" y="4185030"/>
            <a:ext cx="1855470" cy="269240"/>
          </a:xfrm>
          <a:prstGeom prst="rect">
            <a:avLst/>
          </a:prstGeom>
        </p:spPr>
        <p:txBody>
          <a:bodyPr wrap="square" lIns="0" tIns="12065" rIns="0" bIns="0" rtlCol="0" vert="horz">
            <a:spAutoFit/>
          </a:bodyPr>
          <a:lstStyle/>
          <a:p>
            <a:pPr marL="12700">
              <a:lnSpc>
                <a:spcPct val="100000"/>
              </a:lnSpc>
              <a:spcBef>
                <a:spcPts val="95"/>
              </a:spcBef>
            </a:pPr>
            <a:r>
              <a:rPr dirty="0" sz="1600" b="1">
                <a:solidFill>
                  <a:srgbClr val="40458B"/>
                </a:solidFill>
                <a:latin typeface="Times New Roman"/>
                <a:cs typeface="Times New Roman"/>
              </a:rPr>
              <a:t>DADDIU</a:t>
            </a:r>
            <a:r>
              <a:rPr dirty="0" sz="1600" spc="-30" b="1">
                <a:solidFill>
                  <a:srgbClr val="40458B"/>
                </a:solidFill>
                <a:latin typeface="Times New Roman"/>
                <a:cs typeface="Times New Roman"/>
              </a:rPr>
              <a:t> </a:t>
            </a:r>
            <a:r>
              <a:rPr dirty="0" sz="1600" b="1">
                <a:solidFill>
                  <a:srgbClr val="40458B"/>
                </a:solidFill>
                <a:latin typeface="Times New Roman"/>
                <a:cs typeface="Times New Roman"/>
              </a:rPr>
              <a:t>R1,</a:t>
            </a:r>
            <a:r>
              <a:rPr dirty="0" sz="1600" spc="-30" b="1">
                <a:solidFill>
                  <a:srgbClr val="40458B"/>
                </a:solidFill>
                <a:latin typeface="Times New Roman"/>
                <a:cs typeface="Times New Roman"/>
              </a:rPr>
              <a:t> </a:t>
            </a:r>
            <a:r>
              <a:rPr dirty="0" sz="1600" b="1">
                <a:solidFill>
                  <a:srgbClr val="40458B"/>
                </a:solidFill>
                <a:latin typeface="Times New Roman"/>
                <a:cs typeface="Times New Roman"/>
              </a:rPr>
              <a:t>R1,</a:t>
            </a:r>
            <a:r>
              <a:rPr dirty="0" sz="1600" spc="-30" b="1">
                <a:solidFill>
                  <a:srgbClr val="40458B"/>
                </a:solidFill>
                <a:latin typeface="Times New Roman"/>
                <a:cs typeface="Times New Roman"/>
              </a:rPr>
              <a:t> </a:t>
            </a:r>
            <a:r>
              <a:rPr dirty="0" sz="1600" spc="-10" b="1">
                <a:solidFill>
                  <a:srgbClr val="40458B"/>
                </a:solidFill>
                <a:latin typeface="Times New Roman"/>
                <a:cs typeface="Times New Roman"/>
              </a:rPr>
              <a:t>#-</a:t>
            </a:r>
            <a:r>
              <a:rPr dirty="0" sz="1600" spc="-50" b="1">
                <a:solidFill>
                  <a:srgbClr val="40458B"/>
                </a:solidFill>
                <a:latin typeface="Times New Roman"/>
                <a:cs typeface="Times New Roman"/>
              </a:rPr>
              <a:t>8</a:t>
            </a:r>
            <a:endParaRPr sz="1600">
              <a:latin typeface="Times New Roman"/>
              <a:cs typeface="Times New Roman"/>
            </a:endParaRPr>
          </a:p>
        </p:txBody>
      </p:sp>
      <p:sp>
        <p:nvSpPr>
          <p:cNvPr id="22" name="object 22" descr=""/>
          <p:cNvSpPr txBox="1"/>
          <p:nvPr/>
        </p:nvSpPr>
        <p:spPr>
          <a:xfrm>
            <a:off x="9574783" y="4427118"/>
            <a:ext cx="1882775" cy="613410"/>
          </a:xfrm>
          <a:prstGeom prst="rect">
            <a:avLst/>
          </a:prstGeom>
        </p:spPr>
        <p:txBody>
          <a:bodyPr wrap="square" lIns="0" tIns="62230" rIns="0" bIns="0" rtlCol="0" vert="horz">
            <a:spAutoFit/>
          </a:bodyPr>
          <a:lstStyle/>
          <a:p>
            <a:pPr marL="48260">
              <a:lnSpc>
                <a:spcPct val="100000"/>
              </a:lnSpc>
              <a:spcBef>
                <a:spcPts val="490"/>
              </a:spcBef>
              <a:tabLst>
                <a:tab pos="810260" algn="l"/>
              </a:tabLst>
            </a:pPr>
            <a:r>
              <a:rPr dirty="0" sz="1600" spc="-25" b="1">
                <a:solidFill>
                  <a:srgbClr val="6600FF"/>
                </a:solidFill>
                <a:latin typeface="Times New Roman"/>
                <a:cs typeface="Times New Roman"/>
              </a:rPr>
              <a:t>BNE</a:t>
            </a:r>
            <a:r>
              <a:rPr dirty="0" sz="1600" b="1">
                <a:solidFill>
                  <a:srgbClr val="6600FF"/>
                </a:solidFill>
                <a:latin typeface="Times New Roman"/>
                <a:cs typeface="Times New Roman"/>
              </a:rPr>
              <a:t>	R1,</a:t>
            </a:r>
            <a:r>
              <a:rPr dirty="0" sz="1600" spc="-15" b="1">
                <a:solidFill>
                  <a:srgbClr val="6600FF"/>
                </a:solidFill>
                <a:latin typeface="Times New Roman"/>
                <a:cs typeface="Times New Roman"/>
              </a:rPr>
              <a:t> </a:t>
            </a:r>
            <a:r>
              <a:rPr dirty="0" sz="1600" b="1">
                <a:solidFill>
                  <a:srgbClr val="6600FF"/>
                </a:solidFill>
                <a:latin typeface="Times New Roman"/>
                <a:cs typeface="Times New Roman"/>
              </a:rPr>
              <a:t>R2,</a:t>
            </a:r>
            <a:r>
              <a:rPr dirty="0" sz="1600" spc="-15" b="1">
                <a:solidFill>
                  <a:srgbClr val="6600FF"/>
                </a:solidFill>
                <a:latin typeface="Times New Roman"/>
                <a:cs typeface="Times New Roman"/>
              </a:rPr>
              <a:t> </a:t>
            </a:r>
            <a:r>
              <a:rPr dirty="0" sz="1600" spc="-20" b="1">
                <a:solidFill>
                  <a:srgbClr val="6600FF"/>
                </a:solidFill>
                <a:latin typeface="Times New Roman"/>
                <a:cs typeface="Times New Roman"/>
              </a:rPr>
              <a:t>Exit</a:t>
            </a:r>
            <a:endParaRPr sz="1600">
              <a:latin typeface="Times New Roman"/>
              <a:cs typeface="Times New Roman"/>
            </a:endParaRPr>
          </a:p>
          <a:p>
            <a:pPr marL="12700">
              <a:lnSpc>
                <a:spcPct val="100000"/>
              </a:lnSpc>
              <a:spcBef>
                <a:spcPts val="395"/>
              </a:spcBef>
              <a:tabLst>
                <a:tab pos="546735" algn="l"/>
              </a:tabLst>
            </a:pPr>
            <a:r>
              <a:rPr dirty="0" sz="1600" spc="-25" b="1">
                <a:solidFill>
                  <a:srgbClr val="40458B"/>
                </a:solidFill>
                <a:latin typeface="Times New Roman"/>
                <a:cs typeface="Times New Roman"/>
              </a:rPr>
              <a:t>L.D</a:t>
            </a:r>
            <a:r>
              <a:rPr dirty="0" sz="1600" b="1">
                <a:solidFill>
                  <a:srgbClr val="40458B"/>
                </a:solidFill>
                <a:latin typeface="Times New Roman"/>
                <a:cs typeface="Times New Roman"/>
              </a:rPr>
              <a:t>	F0,</a:t>
            </a:r>
            <a:r>
              <a:rPr dirty="0" sz="1600" spc="-30" b="1">
                <a:solidFill>
                  <a:srgbClr val="40458B"/>
                </a:solidFill>
                <a:latin typeface="Times New Roman"/>
                <a:cs typeface="Times New Roman"/>
              </a:rPr>
              <a:t> </a:t>
            </a:r>
            <a:r>
              <a:rPr dirty="0" sz="1600" spc="-20" b="1">
                <a:solidFill>
                  <a:srgbClr val="40458B"/>
                </a:solidFill>
                <a:latin typeface="Times New Roman"/>
                <a:cs typeface="Times New Roman"/>
              </a:rPr>
              <a:t>0(R1)</a:t>
            </a:r>
            <a:endParaRPr sz="1600">
              <a:latin typeface="Times New Roman"/>
              <a:cs typeface="Times New Roman"/>
            </a:endParaRPr>
          </a:p>
        </p:txBody>
      </p:sp>
      <p:sp>
        <p:nvSpPr>
          <p:cNvPr id="23" name="object 23" descr=""/>
          <p:cNvSpPr txBox="1"/>
          <p:nvPr/>
        </p:nvSpPr>
        <p:spPr>
          <a:xfrm>
            <a:off x="9625076" y="5015229"/>
            <a:ext cx="1906270" cy="1137920"/>
          </a:xfrm>
          <a:prstGeom prst="rect">
            <a:avLst/>
          </a:prstGeom>
        </p:spPr>
        <p:txBody>
          <a:bodyPr wrap="square" lIns="0" tIns="12065" rIns="0" bIns="0" rtlCol="0" vert="horz">
            <a:spAutoFit/>
          </a:bodyPr>
          <a:lstStyle/>
          <a:p>
            <a:pPr marL="52069">
              <a:lnSpc>
                <a:spcPct val="100000"/>
              </a:lnSpc>
              <a:spcBef>
                <a:spcPts val="95"/>
              </a:spcBef>
            </a:pPr>
            <a:r>
              <a:rPr dirty="0" sz="1600" b="1">
                <a:solidFill>
                  <a:srgbClr val="40458B"/>
                </a:solidFill>
                <a:latin typeface="Times New Roman"/>
                <a:cs typeface="Times New Roman"/>
              </a:rPr>
              <a:t>ADD.D</a:t>
            </a:r>
            <a:r>
              <a:rPr dirty="0" sz="1600" spc="-35" b="1">
                <a:solidFill>
                  <a:srgbClr val="40458B"/>
                </a:solidFill>
                <a:latin typeface="Times New Roman"/>
                <a:cs typeface="Times New Roman"/>
              </a:rPr>
              <a:t> </a:t>
            </a:r>
            <a:r>
              <a:rPr dirty="0" sz="1600" b="1">
                <a:solidFill>
                  <a:srgbClr val="40458B"/>
                </a:solidFill>
                <a:latin typeface="Times New Roman"/>
                <a:cs typeface="Times New Roman"/>
              </a:rPr>
              <a:t>F4,</a:t>
            </a:r>
            <a:r>
              <a:rPr dirty="0" sz="1600" spc="-15" b="1">
                <a:solidFill>
                  <a:srgbClr val="40458B"/>
                </a:solidFill>
                <a:latin typeface="Times New Roman"/>
                <a:cs typeface="Times New Roman"/>
              </a:rPr>
              <a:t> </a:t>
            </a:r>
            <a:r>
              <a:rPr dirty="0" sz="1600" b="1">
                <a:solidFill>
                  <a:srgbClr val="40458B"/>
                </a:solidFill>
                <a:latin typeface="Times New Roman"/>
                <a:cs typeface="Times New Roman"/>
              </a:rPr>
              <a:t>F0,</a:t>
            </a:r>
            <a:r>
              <a:rPr dirty="0" sz="1600" spc="-25" b="1">
                <a:solidFill>
                  <a:srgbClr val="40458B"/>
                </a:solidFill>
                <a:latin typeface="Times New Roman"/>
                <a:cs typeface="Times New Roman"/>
              </a:rPr>
              <a:t> F2</a:t>
            </a:r>
            <a:endParaRPr sz="1600">
              <a:latin typeface="Times New Roman"/>
              <a:cs typeface="Times New Roman"/>
            </a:endParaRPr>
          </a:p>
          <a:p>
            <a:pPr marL="62865">
              <a:lnSpc>
                <a:spcPct val="100000"/>
              </a:lnSpc>
              <a:tabLst>
                <a:tab pos="824865" algn="l"/>
              </a:tabLst>
            </a:pPr>
            <a:r>
              <a:rPr dirty="0" sz="1600" spc="-25" b="1">
                <a:solidFill>
                  <a:srgbClr val="40458B"/>
                </a:solidFill>
                <a:latin typeface="Times New Roman"/>
                <a:cs typeface="Times New Roman"/>
              </a:rPr>
              <a:t>S.D</a:t>
            </a:r>
            <a:r>
              <a:rPr dirty="0" sz="1600" b="1">
                <a:solidFill>
                  <a:srgbClr val="40458B"/>
                </a:solidFill>
                <a:latin typeface="Times New Roman"/>
                <a:cs typeface="Times New Roman"/>
              </a:rPr>
              <a:t>	F4,</a:t>
            </a:r>
            <a:r>
              <a:rPr dirty="0" sz="1600" spc="-20" b="1">
                <a:solidFill>
                  <a:srgbClr val="40458B"/>
                </a:solidFill>
                <a:latin typeface="Times New Roman"/>
                <a:cs typeface="Times New Roman"/>
              </a:rPr>
              <a:t> </a:t>
            </a:r>
            <a:r>
              <a:rPr dirty="0" sz="1600" spc="-10" b="1">
                <a:solidFill>
                  <a:srgbClr val="40458B"/>
                </a:solidFill>
                <a:latin typeface="Times New Roman"/>
                <a:cs typeface="Times New Roman"/>
              </a:rPr>
              <a:t>0(R1)</a:t>
            </a:r>
            <a:endParaRPr sz="1600">
              <a:latin typeface="Times New Roman"/>
              <a:cs typeface="Times New Roman"/>
            </a:endParaRPr>
          </a:p>
          <a:p>
            <a:pPr marL="62865">
              <a:lnSpc>
                <a:spcPct val="100000"/>
              </a:lnSpc>
              <a:spcBef>
                <a:spcPts val="710"/>
              </a:spcBef>
            </a:pPr>
            <a:r>
              <a:rPr dirty="0" sz="1600" b="1">
                <a:solidFill>
                  <a:srgbClr val="40458B"/>
                </a:solidFill>
                <a:latin typeface="Times New Roman"/>
                <a:cs typeface="Times New Roman"/>
              </a:rPr>
              <a:t>DADDIU</a:t>
            </a:r>
            <a:r>
              <a:rPr dirty="0" sz="1600" spc="-30" b="1">
                <a:solidFill>
                  <a:srgbClr val="40458B"/>
                </a:solidFill>
                <a:latin typeface="Times New Roman"/>
                <a:cs typeface="Times New Roman"/>
              </a:rPr>
              <a:t> </a:t>
            </a:r>
            <a:r>
              <a:rPr dirty="0" sz="1600" b="1">
                <a:solidFill>
                  <a:srgbClr val="40458B"/>
                </a:solidFill>
                <a:latin typeface="Times New Roman"/>
                <a:cs typeface="Times New Roman"/>
              </a:rPr>
              <a:t>R1,</a:t>
            </a:r>
            <a:r>
              <a:rPr dirty="0" sz="1600" spc="-20" b="1">
                <a:solidFill>
                  <a:srgbClr val="40458B"/>
                </a:solidFill>
                <a:latin typeface="Times New Roman"/>
                <a:cs typeface="Times New Roman"/>
              </a:rPr>
              <a:t> </a:t>
            </a:r>
            <a:r>
              <a:rPr dirty="0" sz="1600" b="1">
                <a:solidFill>
                  <a:srgbClr val="40458B"/>
                </a:solidFill>
                <a:latin typeface="Times New Roman"/>
                <a:cs typeface="Times New Roman"/>
              </a:rPr>
              <a:t>R1,</a:t>
            </a:r>
            <a:r>
              <a:rPr dirty="0" sz="1600" spc="-25" b="1">
                <a:solidFill>
                  <a:srgbClr val="40458B"/>
                </a:solidFill>
                <a:latin typeface="Times New Roman"/>
                <a:cs typeface="Times New Roman"/>
              </a:rPr>
              <a:t> </a:t>
            </a:r>
            <a:r>
              <a:rPr dirty="0" sz="1600" spc="-10" b="1">
                <a:solidFill>
                  <a:srgbClr val="40458B"/>
                </a:solidFill>
                <a:latin typeface="Times New Roman"/>
                <a:cs typeface="Times New Roman"/>
              </a:rPr>
              <a:t>#-</a:t>
            </a:r>
            <a:r>
              <a:rPr dirty="0" sz="1600" spc="-50" b="1">
                <a:solidFill>
                  <a:srgbClr val="40458B"/>
                </a:solidFill>
                <a:latin typeface="Times New Roman"/>
                <a:cs typeface="Times New Roman"/>
              </a:rPr>
              <a:t>8</a:t>
            </a:r>
            <a:endParaRPr sz="1600">
              <a:latin typeface="Times New Roman"/>
              <a:cs typeface="Times New Roman"/>
            </a:endParaRPr>
          </a:p>
          <a:p>
            <a:pPr marL="12700">
              <a:lnSpc>
                <a:spcPct val="100000"/>
              </a:lnSpc>
              <a:spcBef>
                <a:spcPts val="370"/>
              </a:spcBef>
              <a:tabLst>
                <a:tab pos="774700" algn="l"/>
              </a:tabLst>
            </a:pPr>
            <a:r>
              <a:rPr dirty="0" sz="1600" spc="-25" b="1">
                <a:solidFill>
                  <a:srgbClr val="6600FF"/>
                </a:solidFill>
                <a:latin typeface="Times New Roman"/>
                <a:cs typeface="Times New Roman"/>
              </a:rPr>
              <a:t>BNE</a:t>
            </a:r>
            <a:r>
              <a:rPr dirty="0" sz="1600" b="1">
                <a:solidFill>
                  <a:srgbClr val="6600FF"/>
                </a:solidFill>
                <a:latin typeface="Times New Roman"/>
                <a:cs typeface="Times New Roman"/>
              </a:rPr>
              <a:t>	R1,</a:t>
            </a:r>
            <a:r>
              <a:rPr dirty="0" sz="1600" spc="-15" b="1">
                <a:solidFill>
                  <a:srgbClr val="6600FF"/>
                </a:solidFill>
                <a:latin typeface="Times New Roman"/>
                <a:cs typeface="Times New Roman"/>
              </a:rPr>
              <a:t> </a:t>
            </a:r>
            <a:r>
              <a:rPr dirty="0" sz="1600" b="1">
                <a:solidFill>
                  <a:srgbClr val="6600FF"/>
                </a:solidFill>
                <a:latin typeface="Times New Roman"/>
                <a:cs typeface="Times New Roman"/>
              </a:rPr>
              <a:t>R2,</a:t>
            </a:r>
            <a:r>
              <a:rPr dirty="0" sz="1600" spc="-15" b="1">
                <a:solidFill>
                  <a:srgbClr val="6600FF"/>
                </a:solidFill>
                <a:latin typeface="Times New Roman"/>
                <a:cs typeface="Times New Roman"/>
              </a:rPr>
              <a:t> </a:t>
            </a:r>
            <a:r>
              <a:rPr dirty="0" sz="1600" spc="-20" b="1">
                <a:solidFill>
                  <a:srgbClr val="6600FF"/>
                </a:solidFill>
                <a:latin typeface="Times New Roman"/>
                <a:cs typeface="Times New Roman"/>
              </a:rPr>
              <a:t>Exit</a:t>
            </a:r>
            <a:endParaRPr sz="1600">
              <a:latin typeface="Times New Roman"/>
              <a:cs typeface="Times New Roman"/>
            </a:endParaRPr>
          </a:p>
        </p:txBody>
      </p:sp>
      <p:sp>
        <p:nvSpPr>
          <p:cNvPr id="24" name="object 24" descr=""/>
          <p:cNvSpPr txBox="1"/>
          <p:nvPr/>
        </p:nvSpPr>
        <p:spPr>
          <a:xfrm>
            <a:off x="9015476" y="6129629"/>
            <a:ext cx="58928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6600FF"/>
                </a:solidFill>
                <a:latin typeface="Times New Roman"/>
                <a:cs typeface="Times New Roman"/>
              </a:rPr>
              <a:t>Exit</a:t>
            </a:r>
            <a:r>
              <a:rPr dirty="0" sz="1600" spc="-10" b="1">
                <a:solidFill>
                  <a:srgbClr val="6600FF"/>
                </a:solidFill>
                <a:latin typeface="宋体"/>
                <a:cs typeface="宋体"/>
              </a:rPr>
              <a:t>：</a:t>
            </a:r>
            <a:endParaRPr sz="1600">
              <a:latin typeface="宋体"/>
              <a:cs typeface="宋体"/>
            </a:endParaRPr>
          </a:p>
        </p:txBody>
      </p:sp>
      <p:sp>
        <p:nvSpPr>
          <p:cNvPr id="25" name="object 25" descr=""/>
          <p:cNvSpPr/>
          <p:nvPr/>
        </p:nvSpPr>
        <p:spPr>
          <a:xfrm>
            <a:off x="6080505" y="1892807"/>
            <a:ext cx="3317875" cy="1315720"/>
          </a:xfrm>
          <a:custGeom>
            <a:avLst/>
            <a:gdLst/>
            <a:ahLst/>
            <a:cxnLst/>
            <a:rect l="l" t="t" r="r" b="b"/>
            <a:pathLst>
              <a:path w="3317875" h="1315720">
                <a:moveTo>
                  <a:pt x="3244659" y="31083"/>
                </a:moveTo>
                <a:lnTo>
                  <a:pt x="0" y="1306576"/>
                </a:lnTo>
                <a:lnTo>
                  <a:pt x="3429" y="1315465"/>
                </a:lnTo>
                <a:lnTo>
                  <a:pt x="3248110" y="39838"/>
                </a:lnTo>
                <a:lnTo>
                  <a:pt x="3244659" y="31083"/>
                </a:lnTo>
                <a:close/>
              </a:path>
              <a:path w="3317875" h="1315720">
                <a:moveTo>
                  <a:pt x="3300420" y="26415"/>
                </a:moveTo>
                <a:lnTo>
                  <a:pt x="3256534" y="26415"/>
                </a:lnTo>
                <a:lnTo>
                  <a:pt x="3259963" y="35178"/>
                </a:lnTo>
                <a:lnTo>
                  <a:pt x="3248110" y="39838"/>
                </a:lnTo>
                <a:lnTo>
                  <a:pt x="3260344" y="70865"/>
                </a:lnTo>
                <a:lnTo>
                  <a:pt x="3300420" y="26415"/>
                </a:lnTo>
                <a:close/>
              </a:path>
              <a:path w="3317875" h="1315720">
                <a:moveTo>
                  <a:pt x="3256534" y="26415"/>
                </a:moveTo>
                <a:lnTo>
                  <a:pt x="3244659" y="31083"/>
                </a:lnTo>
                <a:lnTo>
                  <a:pt x="3248110" y="39838"/>
                </a:lnTo>
                <a:lnTo>
                  <a:pt x="3259963" y="35178"/>
                </a:lnTo>
                <a:lnTo>
                  <a:pt x="3256534" y="26415"/>
                </a:lnTo>
                <a:close/>
              </a:path>
              <a:path w="3317875" h="1315720">
                <a:moveTo>
                  <a:pt x="3232404" y="0"/>
                </a:moveTo>
                <a:lnTo>
                  <a:pt x="3244659" y="31083"/>
                </a:lnTo>
                <a:lnTo>
                  <a:pt x="3256534" y="26415"/>
                </a:lnTo>
                <a:lnTo>
                  <a:pt x="3300420" y="26415"/>
                </a:lnTo>
                <a:lnTo>
                  <a:pt x="3317367" y="7619"/>
                </a:lnTo>
                <a:lnTo>
                  <a:pt x="3232404" y="0"/>
                </a:lnTo>
                <a:close/>
              </a:path>
            </a:pathLst>
          </a:custGeom>
          <a:solidFill>
            <a:srgbClr val="40458B"/>
          </a:solidFill>
        </p:spPr>
        <p:txBody>
          <a:bodyPr wrap="square" lIns="0" tIns="0" rIns="0" bIns="0" rtlCol="0"/>
          <a:lstStyle/>
          <a:p/>
        </p:txBody>
      </p:sp>
      <p:sp>
        <p:nvSpPr>
          <p:cNvPr id="26" name="object 26" descr=""/>
          <p:cNvSpPr/>
          <p:nvPr/>
        </p:nvSpPr>
        <p:spPr>
          <a:xfrm>
            <a:off x="6065392" y="3255517"/>
            <a:ext cx="3332479" cy="79375"/>
          </a:xfrm>
          <a:custGeom>
            <a:avLst/>
            <a:gdLst/>
            <a:ahLst/>
            <a:cxnLst/>
            <a:rect l="l" t="t" r="r" b="b"/>
            <a:pathLst>
              <a:path w="3332479" h="79375">
                <a:moveTo>
                  <a:pt x="3256161" y="33414"/>
                </a:moveTo>
                <a:lnTo>
                  <a:pt x="0" y="69342"/>
                </a:lnTo>
                <a:lnTo>
                  <a:pt x="91" y="76200"/>
                </a:lnTo>
                <a:lnTo>
                  <a:pt x="127" y="78867"/>
                </a:lnTo>
                <a:lnTo>
                  <a:pt x="3256272" y="42939"/>
                </a:lnTo>
                <a:lnTo>
                  <a:pt x="3256161" y="33414"/>
                </a:lnTo>
                <a:close/>
              </a:path>
              <a:path w="3332479" h="79375">
                <a:moveTo>
                  <a:pt x="3324130" y="33274"/>
                </a:moveTo>
                <a:lnTo>
                  <a:pt x="3268853" y="33274"/>
                </a:lnTo>
                <a:lnTo>
                  <a:pt x="3268980" y="42799"/>
                </a:lnTo>
                <a:lnTo>
                  <a:pt x="3256272" y="42939"/>
                </a:lnTo>
                <a:lnTo>
                  <a:pt x="3256580" y="69342"/>
                </a:lnTo>
                <a:lnTo>
                  <a:pt x="3256661" y="76200"/>
                </a:lnTo>
                <a:lnTo>
                  <a:pt x="3332480" y="37337"/>
                </a:lnTo>
                <a:lnTo>
                  <a:pt x="3324130" y="33274"/>
                </a:lnTo>
                <a:close/>
              </a:path>
              <a:path w="3332479" h="79375">
                <a:moveTo>
                  <a:pt x="3268853" y="33274"/>
                </a:moveTo>
                <a:lnTo>
                  <a:pt x="3256161" y="33414"/>
                </a:lnTo>
                <a:lnTo>
                  <a:pt x="3256272" y="42939"/>
                </a:lnTo>
                <a:lnTo>
                  <a:pt x="3268980" y="42799"/>
                </a:lnTo>
                <a:lnTo>
                  <a:pt x="3268853" y="33274"/>
                </a:lnTo>
                <a:close/>
              </a:path>
              <a:path w="3332479" h="79375">
                <a:moveTo>
                  <a:pt x="3255772" y="0"/>
                </a:moveTo>
                <a:lnTo>
                  <a:pt x="3256160" y="33274"/>
                </a:lnTo>
                <a:lnTo>
                  <a:pt x="3256161" y="33414"/>
                </a:lnTo>
                <a:lnTo>
                  <a:pt x="3268853" y="33274"/>
                </a:lnTo>
                <a:lnTo>
                  <a:pt x="3324130" y="33274"/>
                </a:lnTo>
                <a:lnTo>
                  <a:pt x="3255772" y="0"/>
                </a:lnTo>
                <a:close/>
              </a:path>
            </a:pathLst>
          </a:custGeom>
          <a:solidFill>
            <a:srgbClr val="40458B"/>
          </a:solidFill>
        </p:spPr>
        <p:txBody>
          <a:bodyPr wrap="square" lIns="0" tIns="0" rIns="0" bIns="0" rtlCol="0"/>
          <a:lstStyle/>
          <a:p/>
        </p:txBody>
      </p:sp>
      <p:sp>
        <p:nvSpPr>
          <p:cNvPr id="27" name="object 27" descr=""/>
          <p:cNvSpPr/>
          <p:nvPr/>
        </p:nvSpPr>
        <p:spPr>
          <a:xfrm>
            <a:off x="6075807" y="3400805"/>
            <a:ext cx="3462654" cy="1325880"/>
          </a:xfrm>
          <a:custGeom>
            <a:avLst/>
            <a:gdLst/>
            <a:ahLst/>
            <a:cxnLst/>
            <a:rect l="l" t="t" r="r" b="b"/>
            <a:pathLst>
              <a:path w="3462654" h="1325879">
                <a:moveTo>
                  <a:pt x="3389722" y="1294590"/>
                </a:moveTo>
                <a:lnTo>
                  <a:pt x="3377945" y="1325753"/>
                </a:lnTo>
                <a:lnTo>
                  <a:pt x="3462654" y="1317117"/>
                </a:lnTo>
                <a:lnTo>
                  <a:pt x="3446011" y="1299083"/>
                </a:lnTo>
                <a:lnTo>
                  <a:pt x="3401567" y="1299083"/>
                </a:lnTo>
                <a:lnTo>
                  <a:pt x="3389722" y="1294590"/>
                </a:lnTo>
                <a:close/>
              </a:path>
              <a:path w="3462654" h="1325879">
                <a:moveTo>
                  <a:pt x="3393090" y="1285676"/>
                </a:moveTo>
                <a:lnTo>
                  <a:pt x="3389722" y="1294590"/>
                </a:lnTo>
                <a:lnTo>
                  <a:pt x="3401567" y="1299083"/>
                </a:lnTo>
                <a:lnTo>
                  <a:pt x="3404996" y="1290193"/>
                </a:lnTo>
                <a:lnTo>
                  <a:pt x="3393090" y="1285676"/>
                </a:lnTo>
                <a:close/>
              </a:path>
              <a:path w="3462654" h="1325879">
                <a:moveTo>
                  <a:pt x="3404869" y="1254506"/>
                </a:moveTo>
                <a:lnTo>
                  <a:pt x="3393090" y="1285676"/>
                </a:lnTo>
                <a:lnTo>
                  <a:pt x="3404996" y="1290193"/>
                </a:lnTo>
                <a:lnTo>
                  <a:pt x="3401567" y="1299083"/>
                </a:lnTo>
                <a:lnTo>
                  <a:pt x="3446011" y="1299083"/>
                </a:lnTo>
                <a:lnTo>
                  <a:pt x="3404869" y="1254506"/>
                </a:lnTo>
                <a:close/>
              </a:path>
              <a:path w="3462654" h="1325879">
                <a:moveTo>
                  <a:pt x="3428" y="0"/>
                </a:moveTo>
                <a:lnTo>
                  <a:pt x="0" y="8890"/>
                </a:lnTo>
                <a:lnTo>
                  <a:pt x="3389722" y="1294590"/>
                </a:lnTo>
                <a:lnTo>
                  <a:pt x="3393090" y="1285676"/>
                </a:lnTo>
                <a:lnTo>
                  <a:pt x="3428" y="0"/>
                </a:lnTo>
                <a:close/>
              </a:path>
            </a:pathLst>
          </a:custGeom>
          <a:solidFill>
            <a:srgbClr val="40458B"/>
          </a:solidFill>
        </p:spPr>
        <p:txBody>
          <a:bodyPr wrap="square" lIns="0" tIns="0" rIns="0" bIns="0" rtlCol="0"/>
          <a:lstStyle/>
          <a:p/>
        </p:txBody>
      </p:sp>
      <p:sp>
        <p:nvSpPr>
          <p:cNvPr id="28" name="object 28" descr=""/>
          <p:cNvSpPr txBox="1"/>
          <p:nvPr/>
        </p:nvSpPr>
        <p:spPr>
          <a:xfrm>
            <a:off x="242887" y="4746625"/>
            <a:ext cx="5988050" cy="1412875"/>
          </a:xfrm>
          <a:prstGeom prst="rect">
            <a:avLst/>
          </a:prstGeom>
          <a:ln w="9525">
            <a:solidFill>
              <a:srgbClr val="00AF50"/>
            </a:solidFill>
          </a:ln>
        </p:spPr>
        <p:txBody>
          <a:bodyPr wrap="square" lIns="0" tIns="24130" rIns="0" bIns="0" rtlCol="0" vert="horz">
            <a:spAutoFit/>
          </a:bodyPr>
          <a:lstStyle/>
          <a:p>
            <a:pPr marL="434340" marR="127635" indent="-342900">
              <a:lnSpc>
                <a:spcPts val="3600"/>
              </a:lnSpc>
              <a:spcBef>
                <a:spcPts val="190"/>
              </a:spcBef>
              <a:buFont typeface="Wingdings"/>
              <a:buChar char=""/>
              <a:tabLst>
                <a:tab pos="434340" algn="l"/>
                <a:tab pos="513080" algn="l"/>
              </a:tabLst>
            </a:pPr>
            <a:r>
              <a:rPr dirty="0" sz="2000">
                <a:solidFill>
                  <a:srgbClr val="0000CC"/>
                </a:solidFill>
                <a:latin typeface="Times New Roman"/>
                <a:cs typeface="Times New Roman"/>
              </a:rPr>
              <a:t>	</a:t>
            </a:r>
            <a:r>
              <a:rPr dirty="0" sz="2000" spc="-10">
                <a:solidFill>
                  <a:srgbClr val="FF0000"/>
                </a:solidFill>
                <a:latin typeface="黑体"/>
                <a:cs typeface="黑体"/>
              </a:rPr>
              <a:t>去除三条分支指令后，</a:t>
            </a:r>
            <a:r>
              <a:rPr dirty="0" sz="2000" spc="-20">
                <a:solidFill>
                  <a:srgbClr val="40458B"/>
                </a:solidFill>
                <a:latin typeface="黑体"/>
                <a:cs typeface="黑体"/>
              </a:rPr>
              <a:t>即消除了程序中的控制先关，才可能在不同循环中进行全局调度调度，进而提高流水线吞吐量。</a:t>
            </a:r>
            <a:endParaRPr sz="2000">
              <a:latin typeface="黑体"/>
              <a:cs typeface="黑体"/>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3972559" y="355472"/>
            <a:ext cx="7426325" cy="391160"/>
          </a:xfrm>
          <a:prstGeom prst="rect">
            <a:avLst/>
          </a:prstGeom>
        </p:spPr>
        <p:txBody>
          <a:bodyPr wrap="square" lIns="0" tIns="12700" rIns="0" bIns="0" rtlCol="0" vert="horz">
            <a:spAutoFit/>
          </a:bodyPr>
          <a:lstStyle/>
          <a:p>
            <a:pPr marL="469265" indent="-456565">
              <a:lnSpc>
                <a:spcPct val="100000"/>
              </a:lnSpc>
              <a:spcBef>
                <a:spcPts val="100"/>
              </a:spcBef>
              <a:buClr>
                <a:srgbClr val="40458B"/>
              </a:buClr>
              <a:buSzPct val="89583"/>
              <a:buFont typeface="Wingdings"/>
              <a:buChar char=""/>
              <a:tabLst>
                <a:tab pos="469265" algn="l"/>
              </a:tabLst>
            </a:pPr>
            <a:r>
              <a:rPr dirty="0" sz="2400" spc="-20" b="1">
                <a:solidFill>
                  <a:srgbClr val="0000CC"/>
                </a:solidFill>
                <a:latin typeface="宋体"/>
                <a:cs typeface="宋体"/>
              </a:rPr>
              <a:t>展开后</a:t>
            </a:r>
            <a:r>
              <a:rPr dirty="0" sz="2400" spc="-20" b="1">
                <a:solidFill>
                  <a:srgbClr val="FF0000"/>
                </a:solidFill>
                <a:latin typeface="宋体"/>
                <a:cs typeface="宋体"/>
              </a:rPr>
              <a:t>没有调度</a:t>
            </a:r>
            <a:r>
              <a:rPr dirty="0" sz="2400" spc="-20" b="1">
                <a:solidFill>
                  <a:srgbClr val="0000CC"/>
                </a:solidFill>
                <a:latin typeface="宋体"/>
                <a:cs typeface="宋体"/>
              </a:rPr>
              <a:t>的代码如下</a:t>
            </a:r>
            <a:r>
              <a:rPr dirty="0" sz="2400" spc="-10" b="1">
                <a:solidFill>
                  <a:srgbClr val="0000CC"/>
                </a:solidFill>
                <a:latin typeface="Times New Roman"/>
                <a:cs typeface="Times New Roman"/>
              </a:rPr>
              <a:t>(</a:t>
            </a:r>
            <a:r>
              <a:rPr dirty="0" sz="2400" spc="-20" b="1">
                <a:solidFill>
                  <a:srgbClr val="0000CC"/>
                </a:solidFill>
                <a:latin typeface="宋体"/>
                <a:cs typeface="宋体"/>
              </a:rPr>
              <a:t>优化，需要分配寄存器</a:t>
            </a:r>
            <a:r>
              <a:rPr dirty="0" sz="2400" spc="-50" b="1">
                <a:solidFill>
                  <a:srgbClr val="0000CC"/>
                </a:solidFill>
                <a:latin typeface="Times New Roman"/>
                <a:cs typeface="Times New Roman"/>
              </a:rPr>
              <a:t>)</a:t>
            </a:r>
            <a:endParaRPr sz="2400">
              <a:latin typeface="Times New Roman"/>
              <a:cs typeface="Times New Roman"/>
            </a:endParaRPr>
          </a:p>
        </p:txBody>
      </p:sp>
      <p:sp>
        <p:nvSpPr>
          <p:cNvPr id="3" name="object 3" descr=""/>
          <p:cNvSpPr txBox="1"/>
          <p:nvPr/>
        </p:nvSpPr>
        <p:spPr>
          <a:xfrm>
            <a:off x="6456679" y="1120521"/>
            <a:ext cx="1406525" cy="1836420"/>
          </a:xfrm>
          <a:prstGeom prst="rect">
            <a:avLst/>
          </a:prstGeom>
        </p:spPr>
        <p:txBody>
          <a:bodyPr wrap="square" lIns="0" tIns="40005" rIns="0" bIns="0" rtlCol="0" vert="horz">
            <a:spAutoFit/>
          </a:bodyPr>
          <a:lstStyle/>
          <a:p>
            <a:pPr marL="12700">
              <a:lnSpc>
                <a:spcPct val="100000"/>
              </a:lnSpc>
              <a:spcBef>
                <a:spcPts val="315"/>
              </a:spcBef>
            </a:pPr>
            <a:r>
              <a:rPr dirty="0" sz="1800" spc="-20" b="1">
                <a:solidFill>
                  <a:srgbClr val="006600"/>
                </a:solidFill>
                <a:latin typeface="宋体"/>
                <a:cs typeface="宋体"/>
              </a:rPr>
              <a:t>指令流出时钟</a:t>
            </a:r>
            <a:endParaRPr sz="1800">
              <a:latin typeface="宋体"/>
              <a:cs typeface="宋体"/>
            </a:endParaRPr>
          </a:p>
          <a:p>
            <a:pPr algn="ctr" marL="333375">
              <a:lnSpc>
                <a:spcPct val="100000"/>
              </a:lnSpc>
              <a:spcBef>
                <a:spcPts val="215"/>
              </a:spcBef>
            </a:pPr>
            <a:r>
              <a:rPr dirty="0" sz="1800" spc="-50" b="1">
                <a:solidFill>
                  <a:srgbClr val="40458B"/>
                </a:solidFill>
                <a:latin typeface="Times New Roman"/>
                <a:cs typeface="Times New Roman"/>
              </a:rPr>
              <a:t>1</a:t>
            </a:r>
            <a:endParaRPr sz="1800">
              <a:latin typeface="Times New Roman"/>
              <a:cs typeface="Times New Roman"/>
            </a:endParaRPr>
          </a:p>
          <a:p>
            <a:pPr algn="ctr" marL="333375">
              <a:lnSpc>
                <a:spcPct val="100000"/>
              </a:lnSpc>
              <a:spcBef>
                <a:spcPts val="215"/>
              </a:spcBef>
            </a:pPr>
            <a:r>
              <a:rPr dirty="0" sz="1800" spc="-50" b="1">
                <a:solidFill>
                  <a:srgbClr val="CC0000"/>
                </a:solidFill>
                <a:latin typeface="Times New Roman"/>
                <a:cs typeface="Times New Roman"/>
              </a:rPr>
              <a:t>2</a:t>
            </a:r>
            <a:endParaRPr sz="1800">
              <a:latin typeface="Times New Roman"/>
              <a:cs typeface="Times New Roman"/>
            </a:endParaRPr>
          </a:p>
          <a:p>
            <a:pPr algn="ctr" marL="333375">
              <a:lnSpc>
                <a:spcPct val="100000"/>
              </a:lnSpc>
              <a:spcBef>
                <a:spcPts val="215"/>
              </a:spcBef>
            </a:pPr>
            <a:r>
              <a:rPr dirty="0" sz="1800" spc="-50" b="1">
                <a:solidFill>
                  <a:srgbClr val="40458B"/>
                </a:solidFill>
                <a:latin typeface="Times New Roman"/>
                <a:cs typeface="Times New Roman"/>
              </a:rPr>
              <a:t>3</a:t>
            </a:r>
            <a:endParaRPr sz="1800">
              <a:latin typeface="Times New Roman"/>
              <a:cs typeface="Times New Roman"/>
            </a:endParaRPr>
          </a:p>
          <a:p>
            <a:pPr algn="ctr" marL="333375">
              <a:lnSpc>
                <a:spcPct val="100000"/>
              </a:lnSpc>
              <a:spcBef>
                <a:spcPts val="219"/>
              </a:spcBef>
            </a:pPr>
            <a:r>
              <a:rPr dirty="0" sz="1800" spc="-50" b="1">
                <a:solidFill>
                  <a:srgbClr val="CC0000"/>
                </a:solidFill>
                <a:latin typeface="Times New Roman"/>
                <a:cs typeface="Times New Roman"/>
              </a:rPr>
              <a:t>4</a:t>
            </a:r>
            <a:endParaRPr sz="1800">
              <a:latin typeface="Times New Roman"/>
              <a:cs typeface="Times New Roman"/>
            </a:endParaRPr>
          </a:p>
          <a:p>
            <a:pPr algn="ctr" marL="333375">
              <a:lnSpc>
                <a:spcPct val="100000"/>
              </a:lnSpc>
              <a:spcBef>
                <a:spcPts val="215"/>
              </a:spcBef>
            </a:pPr>
            <a:r>
              <a:rPr dirty="0" sz="1800" spc="-50" b="1">
                <a:solidFill>
                  <a:srgbClr val="CC0000"/>
                </a:solidFill>
                <a:latin typeface="Times New Roman"/>
                <a:cs typeface="Times New Roman"/>
              </a:rPr>
              <a:t>5</a:t>
            </a:r>
            <a:endParaRPr sz="1800">
              <a:latin typeface="Times New Roman"/>
              <a:cs typeface="Times New Roman"/>
            </a:endParaRPr>
          </a:p>
        </p:txBody>
      </p:sp>
      <p:sp>
        <p:nvSpPr>
          <p:cNvPr id="4" name="object 4" descr=""/>
          <p:cNvSpPr txBox="1"/>
          <p:nvPr/>
        </p:nvSpPr>
        <p:spPr>
          <a:xfrm>
            <a:off x="3598545" y="1449704"/>
            <a:ext cx="1315720" cy="299720"/>
          </a:xfrm>
          <a:prstGeom prst="rect">
            <a:avLst/>
          </a:prstGeom>
        </p:spPr>
        <p:txBody>
          <a:bodyPr wrap="square" lIns="0" tIns="12700" rIns="0" bIns="0" rtlCol="0" vert="horz">
            <a:spAutoFit/>
          </a:bodyPr>
          <a:lstStyle/>
          <a:p>
            <a:pPr marL="12700">
              <a:lnSpc>
                <a:spcPct val="100000"/>
              </a:lnSpc>
              <a:spcBef>
                <a:spcPts val="100"/>
              </a:spcBef>
              <a:tabLst>
                <a:tab pos="927100" algn="l"/>
              </a:tabLst>
            </a:pPr>
            <a:r>
              <a:rPr dirty="0" sz="1800" spc="-10" b="1">
                <a:solidFill>
                  <a:srgbClr val="40458B"/>
                </a:solidFill>
                <a:latin typeface="Times New Roman"/>
                <a:cs typeface="Times New Roman"/>
              </a:rPr>
              <a:t>Loop:</a:t>
            </a:r>
            <a:r>
              <a:rPr dirty="0" sz="1800" b="1">
                <a:solidFill>
                  <a:srgbClr val="40458B"/>
                </a:solidFill>
                <a:latin typeface="Times New Roman"/>
                <a:cs typeface="Times New Roman"/>
              </a:rPr>
              <a:t>	</a:t>
            </a:r>
            <a:r>
              <a:rPr dirty="0" sz="1800" spc="-25" b="1">
                <a:solidFill>
                  <a:srgbClr val="40458B"/>
                </a:solidFill>
                <a:latin typeface="Times New Roman"/>
                <a:cs typeface="Times New Roman"/>
              </a:rPr>
              <a:t>L.D</a:t>
            </a:r>
            <a:endParaRPr sz="1800">
              <a:latin typeface="Times New Roman"/>
              <a:cs typeface="Times New Roman"/>
            </a:endParaRPr>
          </a:p>
        </p:txBody>
      </p:sp>
      <p:sp>
        <p:nvSpPr>
          <p:cNvPr id="5" name="object 5" descr=""/>
          <p:cNvSpPr txBox="1"/>
          <p:nvPr/>
        </p:nvSpPr>
        <p:spPr>
          <a:xfrm>
            <a:off x="5427726" y="1449704"/>
            <a:ext cx="940435" cy="299720"/>
          </a:xfrm>
          <a:prstGeom prst="rect">
            <a:avLst/>
          </a:prstGeom>
        </p:spPr>
        <p:txBody>
          <a:bodyPr wrap="square" lIns="0" tIns="12700" rIns="0" bIns="0" rtlCol="0" vert="horz">
            <a:spAutoFit/>
          </a:bodyPr>
          <a:lstStyle/>
          <a:p>
            <a:pPr marL="12700">
              <a:lnSpc>
                <a:spcPct val="100000"/>
              </a:lnSpc>
              <a:spcBef>
                <a:spcPts val="100"/>
              </a:spcBef>
            </a:pPr>
            <a:r>
              <a:rPr dirty="0" sz="1800" b="1">
                <a:solidFill>
                  <a:srgbClr val="40458B"/>
                </a:solidFill>
                <a:latin typeface="Times New Roman"/>
                <a:cs typeface="Times New Roman"/>
              </a:rPr>
              <a:t>F0,</a:t>
            </a:r>
            <a:r>
              <a:rPr dirty="0" sz="1800" spc="-25" b="1">
                <a:solidFill>
                  <a:srgbClr val="40458B"/>
                </a:solidFill>
                <a:latin typeface="Times New Roman"/>
                <a:cs typeface="Times New Roman"/>
              </a:rPr>
              <a:t> </a:t>
            </a:r>
            <a:r>
              <a:rPr dirty="0" sz="1800" spc="-10" b="1">
                <a:solidFill>
                  <a:srgbClr val="40458B"/>
                </a:solidFill>
                <a:latin typeface="Times New Roman"/>
                <a:cs typeface="Times New Roman"/>
              </a:rPr>
              <a:t>0(R1)</a:t>
            </a:r>
            <a:endParaRPr sz="1800">
              <a:latin typeface="Times New Roman"/>
              <a:cs typeface="Times New Roman"/>
            </a:endParaRPr>
          </a:p>
        </p:txBody>
      </p:sp>
      <p:sp>
        <p:nvSpPr>
          <p:cNvPr id="6" name="object 6" descr=""/>
          <p:cNvSpPr txBox="1"/>
          <p:nvPr/>
        </p:nvSpPr>
        <p:spPr>
          <a:xfrm>
            <a:off x="4513326" y="1751457"/>
            <a:ext cx="946150" cy="299720"/>
          </a:xfrm>
          <a:prstGeom prst="rect">
            <a:avLst/>
          </a:prstGeom>
        </p:spPr>
        <p:txBody>
          <a:bodyPr wrap="square" lIns="0" tIns="12700" rIns="0" bIns="0" rtlCol="0" vert="horz">
            <a:spAutoFit/>
          </a:bodyPr>
          <a:lstStyle/>
          <a:p>
            <a:pPr marL="12700">
              <a:lnSpc>
                <a:spcPct val="100000"/>
              </a:lnSpc>
              <a:spcBef>
                <a:spcPts val="100"/>
              </a:spcBef>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p:txBody>
      </p:sp>
      <p:sp>
        <p:nvSpPr>
          <p:cNvPr id="7" name="object 7" descr=""/>
          <p:cNvSpPr txBox="1"/>
          <p:nvPr/>
        </p:nvSpPr>
        <p:spPr>
          <a:xfrm>
            <a:off x="4513326" y="2053209"/>
            <a:ext cx="742315" cy="299720"/>
          </a:xfrm>
          <a:prstGeom prst="rect">
            <a:avLst/>
          </a:prstGeom>
        </p:spPr>
        <p:txBody>
          <a:bodyPr wrap="square" lIns="0" tIns="12700" rIns="0" bIns="0" rtlCol="0" vert="horz">
            <a:spAutoFit/>
          </a:bodyPr>
          <a:lstStyle/>
          <a:p>
            <a:pPr marL="12700">
              <a:lnSpc>
                <a:spcPct val="100000"/>
              </a:lnSpc>
              <a:spcBef>
                <a:spcPts val="100"/>
              </a:spcBef>
            </a:pPr>
            <a:r>
              <a:rPr dirty="0" sz="1800" spc="-10" b="1">
                <a:solidFill>
                  <a:srgbClr val="40458B"/>
                </a:solidFill>
                <a:latin typeface="Times New Roman"/>
                <a:cs typeface="Times New Roman"/>
              </a:rPr>
              <a:t>ADD.D</a:t>
            </a:r>
            <a:endParaRPr sz="1800">
              <a:latin typeface="Times New Roman"/>
              <a:cs typeface="Times New Roman"/>
            </a:endParaRPr>
          </a:p>
        </p:txBody>
      </p:sp>
      <p:sp>
        <p:nvSpPr>
          <p:cNvPr id="8" name="object 8" descr=""/>
          <p:cNvSpPr txBox="1"/>
          <p:nvPr/>
        </p:nvSpPr>
        <p:spPr>
          <a:xfrm>
            <a:off x="5427726" y="2053209"/>
            <a:ext cx="1015365" cy="299720"/>
          </a:xfrm>
          <a:prstGeom prst="rect">
            <a:avLst/>
          </a:prstGeom>
        </p:spPr>
        <p:txBody>
          <a:bodyPr wrap="square" lIns="0" tIns="12700" rIns="0" bIns="0" rtlCol="0" vert="horz">
            <a:spAutoFit/>
          </a:bodyPr>
          <a:lstStyle/>
          <a:p>
            <a:pPr marL="12700">
              <a:lnSpc>
                <a:spcPct val="100000"/>
              </a:lnSpc>
              <a:spcBef>
                <a:spcPts val="100"/>
              </a:spcBef>
            </a:pPr>
            <a:r>
              <a:rPr dirty="0" sz="1800" b="1">
                <a:solidFill>
                  <a:srgbClr val="40458B"/>
                </a:solidFill>
                <a:latin typeface="Times New Roman"/>
                <a:cs typeface="Times New Roman"/>
              </a:rPr>
              <a:t>F4,</a:t>
            </a:r>
            <a:r>
              <a:rPr dirty="0" sz="1800" spc="-25" b="1">
                <a:solidFill>
                  <a:srgbClr val="40458B"/>
                </a:solidFill>
                <a:latin typeface="Times New Roman"/>
                <a:cs typeface="Times New Roman"/>
              </a:rPr>
              <a:t> </a:t>
            </a:r>
            <a:r>
              <a:rPr dirty="0" sz="1800" b="1">
                <a:solidFill>
                  <a:srgbClr val="40458B"/>
                </a:solidFill>
                <a:latin typeface="Times New Roman"/>
                <a:cs typeface="Times New Roman"/>
              </a:rPr>
              <a:t>F0,</a:t>
            </a:r>
            <a:r>
              <a:rPr dirty="0" sz="1800" spc="-35" b="1">
                <a:solidFill>
                  <a:srgbClr val="40458B"/>
                </a:solidFill>
                <a:latin typeface="Times New Roman"/>
                <a:cs typeface="Times New Roman"/>
              </a:rPr>
              <a:t> </a:t>
            </a:r>
            <a:r>
              <a:rPr dirty="0" sz="1800" spc="-25" b="1">
                <a:solidFill>
                  <a:srgbClr val="40458B"/>
                </a:solidFill>
                <a:latin typeface="Times New Roman"/>
                <a:cs typeface="Times New Roman"/>
              </a:rPr>
              <a:t>F2</a:t>
            </a:r>
            <a:endParaRPr sz="1800">
              <a:latin typeface="Times New Roman"/>
              <a:cs typeface="Times New Roman"/>
            </a:endParaRPr>
          </a:p>
        </p:txBody>
      </p:sp>
      <p:sp>
        <p:nvSpPr>
          <p:cNvPr id="9" name="object 9" descr=""/>
          <p:cNvSpPr txBox="1"/>
          <p:nvPr/>
        </p:nvSpPr>
        <p:spPr>
          <a:xfrm>
            <a:off x="4513326" y="2326866"/>
            <a:ext cx="946150" cy="630555"/>
          </a:xfrm>
          <a:prstGeom prst="rect">
            <a:avLst/>
          </a:prstGeom>
        </p:spPr>
        <p:txBody>
          <a:bodyPr wrap="square" lIns="0" tIns="40640" rIns="0" bIns="0" rtlCol="0" vert="horz">
            <a:spAutoFit/>
          </a:bodyPr>
          <a:lstStyle/>
          <a:p>
            <a:pPr marL="12700">
              <a:lnSpc>
                <a:spcPct val="100000"/>
              </a:lnSpc>
              <a:spcBef>
                <a:spcPts val="320"/>
              </a:spcBef>
            </a:pPr>
            <a:r>
              <a:rPr dirty="0" sz="1800" spc="-20" b="1">
                <a:solidFill>
                  <a:srgbClr val="CC0000"/>
                </a:solidFill>
                <a:latin typeface="宋体"/>
                <a:cs typeface="宋体"/>
              </a:rPr>
              <a:t>（空转</a:t>
            </a:r>
            <a:r>
              <a:rPr dirty="0" sz="1800" spc="-50" b="1">
                <a:solidFill>
                  <a:srgbClr val="CC0000"/>
                </a:solidFill>
                <a:latin typeface="宋体"/>
                <a:cs typeface="宋体"/>
              </a:rPr>
              <a:t>）</a:t>
            </a:r>
            <a:endParaRPr sz="1800">
              <a:latin typeface="宋体"/>
              <a:cs typeface="宋体"/>
            </a:endParaRPr>
          </a:p>
          <a:p>
            <a:pPr marL="12700">
              <a:lnSpc>
                <a:spcPct val="100000"/>
              </a:lnSpc>
              <a:spcBef>
                <a:spcPts val="220"/>
              </a:spcBef>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p:txBody>
      </p:sp>
      <p:graphicFrame>
        <p:nvGraphicFramePr>
          <p:cNvPr id="10" name="object 10" descr=""/>
          <p:cNvGraphicFramePr>
            <a:graphicFrameLocks noGrp="1"/>
          </p:cNvGraphicFramePr>
          <p:nvPr/>
        </p:nvGraphicFramePr>
        <p:xfrm>
          <a:off x="4192651" y="2996437"/>
          <a:ext cx="3413760" cy="2664460"/>
        </p:xfrm>
        <a:graphic>
          <a:graphicData uri="http://schemas.openxmlformats.org/drawingml/2006/table">
            <a:tbl>
              <a:tblPr firstRow="1" bandRow="1">
                <a:tableStyleId>{2D5ABB26-0587-4C30-8999-92F81FD0307C}</a:tableStyleId>
              </a:tblPr>
              <a:tblGrid>
                <a:gridCol w="2850515"/>
                <a:gridCol w="487045"/>
              </a:tblGrid>
              <a:tr h="276860">
                <a:tc>
                  <a:txBody>
                    <a:bodyPr/>
                    <a:lstStyle/>
                    <a:p>
                      <a:pPr marL="31750">
                        <a:lnSpc>
                          <a:spcPts val="1964"/>
                        </a:lnSpc>
                        <a:tabLst>
                          <a:tab pos="332740" algn="l"/>
                          <a:tab pos="1247140" algn="l"/>
                          <a:tab pos="2550795" algn="l"/>
                        </a:tabLst>
                      </a:pPr>
                      <a:r>
                        <a:rPr dirty="0" u="sng" sz="1800" b="1">
                          <a:solidFill>
                            <a:srgbClr val="40458B"/>
                          </a:solidFill>
                          <a:uFill>
                            <a:solidFill>
                              <a:srgbClr val="FF09FF"/>
                            </a:solidFill>
                          </a:uFill>
                          <a:latin typeface="Times New Roman"/>
                          <a:cs typeface="Times New Roman"/>
                        </a:rPr>
                        <a:t>	</a:t>
                      </a:r>
                      <a:r>
                        <a:rPr dirty="0" u="sng" sz="1800" spc="-25" b="1">
                          <a:solidFill>
                            <a:srgbClr val="40458B"/>
                          </a:solidFill>
                          <a:uFill>
                            <a:solidFill>
                              <a:srgbClr val="FF09FF"/>
                            </a:solidFill>
                          </a:uFill>
                          <a:latin typeface="Times New Roman"/>
                          <a:cs typeface="Times New Roman"/>
                        </a:rPr>
                        <a:t>S.D</a:t>
                      </a:r>
                      <a:r>
                        <a:rPr dirty="0" u="sng" sz="1800" b="1">
                          <a:solidFill>
                            <a:srgbClr val="40458B"/>
                          </a:solidFill>
                          <a:uFill>
                            <a:solidFill>
                              <a:srgbClr val="FF09FF"/>
                            </a:solidFill>
                          </a:uFill>
                          <a:latin typeface="Times New Roman"/>
                          <a:cs typeface="Times New Roman"/>
                        </a:rPr>
                        <a:t>	F4,</a:t>
                      </a:r>
                      <a:r>
                        <a:rPr dirty="0" u="sng" sz="1800" spc="-20" b="1">
                          <a:solidFill>
                            <a:srgbClr val="40458B"/>
                          </a:solidFill>
                          <a:uFill>
                            <a:solidFill>
                              <a:srgbClr val="FF09FF"/>
                            </a:solidFill>
                          </a:uFill>
                          <a:latin typeface="Times New Roman"/>
                          <a:cs typeface="Times New Roman"/>
                        </a:rPr>
                        <a:t> </a:t>
                      </a:r>
                      <a:r>
                        <a:rPr dirty="0" u="sng" sz="1800" spc="-10" b="1">
                          <a:solidFill>
                            <a:srgbClr val="40458B"/>
                          </a:solidFill>
                          <a:uFill>
                            <a:solidFill>
                              <a:srgbClr val="FF09FF"/>
                            </a:solidFill>
                          </a:uFill>
                          <a:latin typeface="Times New Roman"/>
                          <a:cs typeface="Times New Roman"/>
                        </a:rPr>
                        <a:t>0(R1)</a:t>
                      </a:r>
                      <a:r>
                        <a:rPr dirty="0" u="sng" sz="1800" b="1">
                          <a:solidFill>
                            <a:srgbClr val="40458B"/>
                          </a:solidFill>
                          <a:uFill>
                            <a:solidFill>
                              <a:srgbClr val="FF09FF"/>
                            </a:solidFill>
                          </a:uFill>
                          <a:latin typeface="Times New Roman"/>
                          <a:cs typeface="Times New Roman"/>
                        </a:rPr>
                        <a:t>	</a:t>
                      </a:r>
                      <a:endParaRPr sz="1800">
                        <a:latin typeface="Times New Roman"/>
                        <a:cs typeface="Times New Roman"/>
                      </a:endParaRPr>
                    </a:p>
                  </a:txBody>
                  <a:tcPr marL="0" marR="0" marB="0" marT="0"/>
                </a:tc>
                <a:tc>
                  <a:txBody>
                    <a:bodyPr/>
                    <a:lstStyle/>
                    <a:p>
                      <a:pPr marL="226060">
                        <a:lnSpc>
                          <a:spcPts val="1964"/>
                        </a:lnSpc>
                      </a:pPr>
                      <a:r>
                        <a:rPr dirty="0" sz="1800" spc="-50" b="1">
                          <a:solidFill>
                            <a:srgbClr val="40458B"/>
                          </a:solidFill>
                          <a:latin typeface="Times New Roman"/>
                          <a:cs typeface="Times New Roman"/>
                        </a:rPr>
                        <a:t>6</a:t>
                      </a:r>
                      <a:endParaRPr sz="1800">
                        <a:latin typeface="Times New Roman"/>
                        <a:cs typeface="Times New Roman"/>
                      </a:endParaRPr>
                    </a:p>
                  </a:txBody>
                  <a:tcPr marL="0" marR="0" marB="0" marT="0"/>
                </a:tc>
              </a:tr>
              <a:tr h="300990">
                <a:tc>
                  <a:txBody>
                    <a:bodyPr/>
                    <a:lstStyle/>
                    <a:p>
                      <a:pPr marL="333375">
                        <a:lnSpc>
                          <a:spcPts val="2155"/>
                        </a:lnSpc>
                        <a:tabLst>
                          <a:tab pos="1247140" algn="l"/>
                        </a:tabLst>
                      </a:pPr>
                      <a:r>
                        <a:rPr dirty="0" sz="1800" spc="-25" b="1">
                          <a:solidFill>
                            <a:srgbClr val="40458B"/>
                          </a:solidFill>
                          <a:latin typeface="Times New Roman"/>
                          <a:cs typeface="Times New Roman"/>
                        </a:rPr>
                        <a:t>L.D</a:t>
                      </a:r>
                      <a:r>
                        <a:rPr dirty="0" sz="1800" b="1">
                          <a:solidFill>
                            <a:srgbClr val="40458B"/>
                          </a:solidFill>
                          <a:latin typeface="Times New Roman"/>
                          <a:cs typeface="Times New Roman"/>
                        </a:rPr>
                        <a:t>	F6,</a:t>
                      </a:r>
                      <a:r>
                        <a:rPr dirty="0" sz="1800" spc="-25" b="1">
                          <a:solidFill>
                            <a:srgbClr val="40458B"/>
                          </a:solidFill>
                          <a:latin typeface="Times New Roman"/>
                          <a:cs typeface="Times New Roman"/>
                        </a:rPr>
                        <a:t> </a:t>
                      </a:r>
                      <a:r>
                        <a:rPr dirty="0" sz="1800" spc="-10" b="1">
                          <a:solidFill>
                            <a:srgbClr val="40458B"/>
                          </a:solidFill>
                          <a:latin typeface="Times New Roman"/>
                          <a:cs typeface="Times New Roman"/>
                        </a:rPr>
                        <a:t>-8(R1)</a:t>
                      </a:r>
                      <a:endParaRPr sz="1800">
                        <a:latin typeface="Times New Roman"/>
                        <a:cs typeface="Times New Roman"/>
                      </a:endParaRPr>
                    </a:p>
                  </a:txBody>
                  <a:tcPr marL="0" marR="0" marB="0" marT="0"/>
                </a:tc>
                <a:tc>
                  <a:txBody>
                    <a:bodyPr/>
                    <a:lstStyle/>
                    <a:p>
                      <a:pPr marL="226060">
                        <a:lnSpc>
                          <a:spcPts val="2155"/>
                        </a:lnSpc>
                      </a:pPr>
                      <a:r>
                        <a:rPr dirty="0" sz="1800" spc="-50" b="1">
                          <a:solidFill>
                            <a:srgbClr val="40458B"/>
                          </a:solidFill>
                          <a:latin typeface="Times New Roman"/>
                          <a:cs typeface="Times New Roman"/>
                        </a:rPr>
                        <a:t>7</a:t>
                      </a:r>
                      <a:endParaRPr sz="1800">
                        <a:latin typeface="Times New Roman"/>
                        <a:cs typeface="Times New Roman"/>
                      </a:endParaRPr>
                    </a:p>
                  </a:txBody>
                  <a:tcPr marL="0" marR="0" marB="0" marT="0"/>
                </a:tc>
              </a:tr>
              <a:tr h="301625">
                <a:tc>
                  <a:txBody>
                    <a:bodyPr/>
                    <a:lstStyle/>
                    <a:p>
                      <a:pPr marL="333375">
                        <a:lnSpc>
                          <a:spcPts val="2155"/>
                        </a:lnSpc>
                      </a:pPr>
                      <a:r>
                        <a:rPr dirty="0" sz="1800" spc="-20" b="1">
                          <a:solidFill>
                            <a:srgbClr val="CC0000"/>
                          </a:solidFill>
                          <a:latin typeface="宋体"/>
                          <a:cs typeface="宋体"/>
                        </a:rPr>
                        <a:t>（空转</a:t>
                      </a:r>
                      <a:r>
                        <a:rPr dirty="0" sz="1800" spc="-50" b="1">
                          <a:solidFill>
                            <a:srgbClr val="CC0000"/>
                          </a:solidFill>
                          <a:latin typeface="宋体"/>
                          <a:cs typeface="宋体"/>
                        </a:rPr>
                        <a:t>）</a:t>
                      </a:r>
                      <a:endParaRPr sz="1800">
                        <a:latin typeface="宋体"/>
                        <a:cs typeface="宋体"/>
                      </a:endParaRPr>
                    </a:p>
                  </a:txBody>
                  <a:tcPr marL="0" marR="0" marB="0" marT="0"/>
                </a:tc>
                <a:tc>
                  <a:txBody>
                    <a:bodyPr/>
                    <a:lstStyle/>
                    <a:p>
                      <a:pPr marL="226060">
                        <a:lnSpc>
                          <a:spcPts val="2155"/>
                        </a:lnSpc>
                      </a:pPr>
                      <a:r>
                        <a:rPr dirty="0" sz="1800" spc="-50" b="1">
                          <a:solidFill>
                            <a:srgbClr val="CC0000"/>
                          </a:solidFill>
                          <a:latin typeface="Times New Roman"/>
                          <a:cs typeface="Times New Roman"/>
                        </a:rPr>
                        <a:t>8</a:t>
                      </a:r>
                      <a:endParaRPr sz="1800">
                        <a:latin typeface="Times New Roman"/>
                        <a:cs typeface="Times New Roman"/>
                      </a:endParaRPr>
                    </a:p>
                  </a:txBody>
                  <a:tcPr marL="0" marR="0" marB="0" marT="0"/>
                </a:tc>
              </a:tr>
              <a:tr h="301625">
                <a:tc>
                  <a:txBody>
                    <a:bodyPr/>
                    <a:lstStyle/>
                    <a:p>
                      <a:pPr marL="333375">
                        <a:lnSpc>
                          <a:spcPts val="2155"/>
                        </a:lnSpc>
                        <a:tabLst>
                          <a:tab pos="1247140" algn="l"/>
                        </a:tabLst>
                      </a:pPr>
                      <a:r>
                        <a:rPr dirty="0" sz="1800" spc="-10" b="1">
                          <a:solidFill>
                            <a:srgbClr val="40458B"/>
                          </a:solidFill>
                          <a:latin typeface="Times New Roman"/>
                          <a:cs typeface="Times New Roman"/>
                        </a:rPr>
                        <a:t>ADD.D</a:t>
                      </a:r>
                      <a:r>
                        <a:rPr dirty="0" sz="1800" b="1">
                          <a:solidFill>
                            <a:srgbClr val="40458B"/>
                          </a:solidFill>
                          <a:latin typeface="Times New Roman"/>
                          <a:cs typeface="Times New Roman"/>
                        </a:rPr>
                        <a:t>	F8,</a:t>
                      </a:r>
                      <a:r>
                        <a:rPr dirty="0" sz="1800" spc="-25" b="1">
                          <a:solidFill>
                            <a:srgbClr val="40458B"/>
                          </a:solidFill>
                          <a:latin typeface="Times New Roman"/>
                          <a:cs typeface="Times New Roman"/>
                        </a:rPr>
                        <a:t> </a:t>
                      </a:r>
                      <a:r>
                        <a:rPr dirty="0" sz="1800" b="1">
                          <a:solidFill>
                            <a:srgbClr val="40458B"/>
                          </a:solidFill>
                          <a:latin typeface="Times New Roman"/>
                          <a:cs typeface="Times New Roman"/>
                        </a:rPr>
                        <a:t>F6,</a:t>
                      </a:r>
                      <a:r>
                        <a:rPr dirty="0" sz="1800" spc="-35" b="1">
                          <a:solidFill>
                            <a:srgbClr val="40458B"/>
                          </a:solidFill>
                          <a:latin typeface="Times New Roman"/>
                          <a:cs typeface="Times New Roman"/>
                        </a:rPr>
                        <a:t> </a:t>
                      </a:r>
                      <a:r>
                        <a:rPr dirty="0" sz="1800" spc="-25" b="1">
                          <a:solidFill>
                            <a:srgbClr val="40458B"/>
                          </a:solidFill>
                          <a:latin typeface="Times New Roman"/>
                          <a:cs typeface="Times New Roman"/>
                        </a:rPr>
                        <a:t>F2</a:t>
                      </a:r>
                      <a:endParaRPr sz="1800">
                        <a:latin typeface="Times New Roman"/>
                        <a:cs typeface="Times New Roman"/>
                      </a:endParaRPr>
                    </a:p>
                  </a:txBody>
                  <a:tcPr marL="0" marR="0" marB="0" marT="0"/>
                </a:tc>
                <a:tc>
                  <a:txBody>
                    <a:bodyPr/>
                    <a:lstStyle/>
                    <a:p>
                      <a:pPr marL="226060">
                        <a:lnSpc>
                          <a:spcPts val="2155"/>
                        </a:lnSpc>
                      </a:pPr>
                      <a:r>
                        <a:rPr dirty="0" sz="1800" spc="-50" b="1">
                          <a:solidFill>
                            <a:srgbClr val="40458B"/>
                          </a:solidFill>
                          <a:latin typeface="Times New Roman"/>
                          <a:cs typeface="Times New Roman"/>
                        </a:rPr>
                        <a:t>9</a:t>
                      </a:r>
                      <a:endParaRPr sz="1800">
                        <a:latin typeface="Times New Roman"/>
                        <a:cs typeface="Times New Roman"/>
                      </a:endParaRPr>
                    </a:p>
                  </a:txBody>
                  <a:tcPr marL="0" marR="0" marB="0" marT="0"/>
                </a:tc>
              </a:tr>
              <a:tr h="301625">
                <a:tc>
                  <a:txBody>
                    <a:bodyPr/>
                    <a:lstStyle/>
                    <a:p>
                      <a:pPr marL="333375">
                        <a:lnSpc>
                          <a:spcPts val="2155"/>
                        </a:lnSpc>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a:txBody>
                  <a:tcPr marL="0" marR="0" marB="0" marT="0"/>
                </a:tc>
                <a:tc>
                  <a:txBody>
                    <a:bodyPr/>
                    <a:lstStyle/>
                    <a:p>
                      <a:pPr marL="226060">
                        <a:lnSpc>
                          <a:spcPts val="2155"/>
                        </a:lnSpc>
                      </a:pPr>
                      <a:r>
                        <a:rPr dirty="0" sz="1800" spc="-25" b="1">
                          <a:solidFill>
                            <a:srgbClr val="CC0000"/>
                          </a:solidFill>
                          <a:latin typeface="Times New Roman"/>
                          <a:cs typeface="Times New Roman"/>
                        </a:rPr>
                        <a:t>10</a:t>
                      </a:r>
                      <a:endParaRPr sz="1800">
                        <a:latin typeface="Times New Roman"/>
                        <a:cs typeface="Times New Roman"/>
                      </a:endParaRPr>
                    </a:p>
                  </a:txBody>
                  <a:tcPr marL="0" marR="0" marB="0" marT="0"/>
                </a:tc>
              </a:tr>
              <a:tr h="301625">
                <a:tc>
                  <a:txBody>
                    <a:bodyPr/>
                    <a:lstStyle/>
                    <a:p>
                      <a:pPr marL="333375">
                        <a:lnSpc>
                          <a:spcPts val="2155"/>
                        </a:lnSpc>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a:txBody>
                  <a:tcPr marL="0" marR="0" marB="0" marT="0"/>
                </a:tc>
                <a:tc>
                  <a:txBody>
                    <a:bodyPr/>
                    <a:lstStyle/>
                    <a:p>
                      <a:pPr marL="226060">
                        <a:lnSpc>
                          <a:spcPts val="2155"/>
                        </a:lnSpc>
                      </a:pPr>
                      <a:r>
                        <a:rPr dirty="0" sz="1800" spc="-25" b="1">
                          <a:solidFill>
                            <a:srgbClr val="CC0000"/>
                          </a:solidFill>
                          <a:latin typeface="Times New Roman"/>
                          <a:cs typeface="Times New Roman"/>
                        </a:rPr>
                        <a:t>11</a:t>
                      </a:r>
                      <a:endParaRPr sz="1800">
                        <a:latin typeface="Times New Roman"/>
                        <a:cs typeface="Times New Roman"/>
                      </a:endParaRPr>
                    </a:p>
                  </a:txBody>
                  <a:tcPr marL="0" marR="0" marB="0" marT="0"/>
                </a:tc>
              </a:tr>
              <a:tr h="300990">
                <a:tc>
                  <a:txBody>
                    <a:bodyPr/>
                    <a:lstStyle/>
                    <a:p>
                      <a:pPr marL="102870">
                        <a:lnSpc>
                          <a:spcPts val="2155"/>
                        </a:lnSpc>
                        <a:tabLst>
                          <a:tab pos="332740" algn="l"/>
                          <a:tab pos="1247140" algn="l"/>
                          <a:tab pos="2623820" algn="l"/>
                        </a:tabLst>
                      </a:pPr>
                      <a:r>
                        <a:rPr dirty="0" u="sng" sz="1800" b="1">
                          <a:solidFill>
                            <a:srgbClr val="40458B"/>
                          </a:solidFill>
                          <a:uFill>
                            <a:solidFill>
                              <a:srgbClr val="FF09FF"/>
                            </a:solidFill>
                          </a:uFill>
                          <a:latin typeface="Times New Roman"/>
                          <a:cs typeface="Times New Roman"/>
                        </a:rPr>
                        <a:t>	</a:t>
                      </a:r>
                      <a:r>
                        <a:rPr dirty="0" u="sng" sz="1800" spc="-25" b="1">
                          <a:solidFill>
                            <a:srgbClr val="40458B"/>
                          </a:solidFill>
                          <a:uFill>
                            <a:solidFill>
                              <a:srgbClr val="FF09FF"/>
                            </a:solidFill>
                          </a:uFill>
                          <a:latin typeface="Times New Roman"/>
                          <a:cs typeface="Times New Roman"/>
                        </a:rPr>
                        <a:t>S.D</a:t>
                      </a:r>
                      <a:r>
                        <a:rPr dirty="0" u="sng" sz="1800" b="1">
                          <a:solidFill>
                            <a:srgbClr val="40458B"/>
                          </a:solidFill>
                          <a:uFill>
                            <a:solidFill>
                              <a:srgbClr val="FF09FF"/>
                            </a:solidFill>
                          </a:uFill>
                          <a:latin typeface="Times New Roman"/>
                          <a:cs typeface="Times New Roman"/>
                        </a:rPr>
                        <a:t>	F8,</a:t>
                      </a:r>
                      <a:r>
                        <a:rPr dirty="0" u="sng" sz="1800" spc="-20" b="1">
                          <a:solidFill>
                            <a:srgbClr val="40458B"/>
                          </a:solidFill>
                          <a:uFill>
                            <a:solidFill>
                              <a:srgbClr val="FF09FF"/>
                            </a:solidFill>
                          </a:uFill>
                          <a:latin typeface="Times New Roman"/>
                          <a:cs typeface="Times New Roman"/>
                        </a:rPr>
                        <a:t> </a:t>
                      </a:r>
                      <a:r>
                        <a:rPr dirty="0" u="sng" sz="1800" spc="-10" b="1">
                          <a:solidFill>
                            <a:srgbClr val="40458B"/>
                          </a:solidFill>
                          <a:uFill>
                            <a:solidFill>
                              <a:srgbClr val="FF09FF"/>
                            </a:solidFill>
                          </a:uFill>
                          <a:latin typeface="Times New Roman"/>
                          <a:cs typeface="Times New Roman"/>
                        </a:rPr>
                        <a:t>-8(R1)</a:t>
                      </a:r>
                      <a:r>
                        <a:rPr dirty="0" u="sng" sz="1800" b="1">
                          <a:solidFill>
                            <a:srgbClr val="40458B"/>
                          </a:solidFill>
                          <a:uFill>
                            <a:solidFill>
                              <a:srgbClr val="FF09FF"/>
                            </a:solidFill>
                          </a:uFill>
                          <a:latin typeface="Times New Roman"/>
                          <a:cs typeface="Times New Roman"/>
                        </a:rPr>
                        <a:t>	</a:t>
                      </a:r>
                      <a:endParaRPr sz="1800">
                        <a:latin typeface="Times New Roman"/>
                        <a:cs typeface="Times New Roman"/>
                      </a:endParaRPr>
                    </a:p>
                  </a:txBody>
                  <a:tcPr marL="0" marR="0" marB="0" marT="0"/>
                </a:tc>
                <a:tc>
                  <a:txBody>
                    <a:bodyPr/>
                    <a:lstStyle/>
                    <a:p>
                      <a:pPr marL="226060">
                        <a:lnSpc>
                          <a:spcPts val="2155"/>
                        </a:lnSpc>
                      </a:pPr>
                      <a:r>
                        <a:rPr dirty="0" sz="1800" spc="-25" b="1">
                          <a:solidFill>
                            <a:srgbClr val="40458B"/>
                          </a:solidFill>
                          <a:latin typeface="Times New Roman"/>
                          <a:cs typeface="Times New Roman"/>
                        </a:rPr>
                        <a:t>12</a:t>
                      </a:r>
                      <a:endParaRPr sz="1800">
                        <a:latin typeface="Times New Roman"/>
                        <a:cs typeface="Times New Roman"/>
                      </a:endParaRPr>
                    </a:p>
                  </a:txBody>
                  <a:tcPr marL="0" marR="0" marB="0" marT="0"/>
                </a:tc>
              </a:tr>
              <a:tr h="301625">
                <a:tc>
                  <a:txBody>
                    <a:bodyPr/>
                    <a:lstStyle/>
                    <a:p>
                      <a:pPr marL="333375">
                        <a:lnSpc>
                          <a:spcPts val="2155"/>
                        </a:lnSpc>
                        <a:tabLst>
                          <a:tab pos="1247140" algn="l"/>
                        </a:tabLst>
                      </a:pPr>
                      <a:r>
                        <a:rPr dirty="0" sz="1800" spc="-25" b="1">
                          <a:solidFill>
                            <a:srgbClr val="40458B"/>
                          </a:solidFill>
                          <a:latin typeface="Times New Roman"/>
                          <a:cs typeface="Times New Roman"/>
                        </a:rPr>
                        <a:t>L.D</a:t>
                      </a:r>
                      <a:r>
                        <a:rPr dirty="0" sz="1800" b="1">
                          <a:solidFill>
                            <a:srgbClr val="40458B"/>
                          </a:solidFill>
                          <a:latin typeface="Times New Roman"/>
                          <a:cs typeface="Times New Roman"/>
                        </a:rPr>
                        <a:t>	F10,</a:t>
                      </a:r>
                      <a:r>
                        <a:rPr dirty="0" sz="1800" spc="5" b="1">
                          <a:solidFill>
                            <a:srgbClr val="40458B"/>
                          </a:solidFill>
                          <a:latin typeface="Times New Roman"/>
                          <a:cs typeface="Times New Roman"/>
                        </a:rPr>
                        <a:t> </a:t>
                      </a:r>
                      <a:r>
                        <a:rPr dirty="0" sz="1800" spc="-10" b="1">
                          <a:solidFill>
                            <a:srgbClr val="40458B"/>
                          </a:solidFill>
                          <a:latin typeface="Times New Roman"/>
                          <a:cs typeface="Times New Roman"/>
                        </a:rPr>
                        <a:t>-16(R1)</a:t>
                      </a:r>
                      <a:endParaRPr sz="1800">
                        <a:latin typeface="Times New Roman"/>
                        <a:cs typeface="Times New Roman"/>
                      </a:endParaRPr>
                    </a:p>
                  </a:txBody>
                  <a:tcPr marL="0" marR="0" marB="0" marT="0"/>
                </a:tc>
                <a:tc>
                  <a:txBody>
                    <a:bodyPr/>
                    <a:lstStyle/>
                    <a:p>
                      <a:pPr marL="226060">
                        <a:lnSpc>
                          <a:spcPts val="2155"/>
                        </a:lnSpc>
                      </a:pPr>
                      <a:r>
                        <a:rPr dirty="0" sz="1800" spc="-25" b="1">
                          <a:solidFill>
                            <a:srgbClr val="40458B"/>
                          </a:solidFill>
                          <a:latin typeface="Times New Roman"/>
                          <a:cs typeface="Times New Roman"/>
                        </a:rPr>
                        <a:t>13</a:t>
                      </a:r>
                      <a:endParaRPr sz="1800">
                        <a:latin typeface="Times New Roman"/>
                        <a:cs typeface="Times New Roman"/>
                      </a:endParaRPr>
                    </a:p>
                  </a:txBody>
                  <a:tcPr marL="0" marR="0" marB="0" marT="0"/>
                </a:tc>
              </a:tr>
              <a:tr h="277495">
                <a:tc>
                  <a:txBody>
                    <a:bodyPr/>
                    <a:lstStyle/>
                    <a:p>
                      <a:pPr marL="333375">
                        <a:lnSpc>
                          <a:spcPts val="2085"/>
                        </a:lnSpc>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a:txBody>
                  <a:tcPr marL="0" marR="0" marB="0" marT="0"/>
                </a:tc>
                <a:tc>
                  <a:txBody>
                    <a:bodyPr/>
                    <a:lstStyle/>
                    <a:p>
                      <a:pPr marL="226060">
                        <a:lnSpc>
                          <a:spcPts val="2085"/>
                        </a:lnSpc>
                      </a:pPr>
                      <a:r>
                        <a:rPr dirty="0" sz="1800" spc="-25" b="1">
                          <a:solidFill>
                            <a:srgbClr val="CC0000"/>
                          </a:solidFill>
                          <a:latin typeface="Times New Roman"/>
                          <a:cs typeface="Times New Roman"/>
                        </a:rPr>
                        <a:t>14</a:t>
                      </a:r>
                      <a:endParaRPr sz="1800">
                        <a:latin typeface="Times New Roman"/>
                        <a:cs typeface="Times New Roman"/>
                      </a:endParaRPr>
                    </a:p>
                  </a:txBody>
                  <a:tcPr marL="0" marR="0" marB="0" marT="0"/>
                </a:tc>
              </a:tr>
            </a:tbl>
          </a:graphicData>
        </a:graphic>
      </p:graphicFrame>
      <p:sp>
        <p:nvSpPr>
          <p:cNvPr id="11" name="object 11" descr=""/>
          <p:cNvSpPr txBox="1"/>
          <p:nvPr/>
        </p:nvSpPr>
        <p:spPr>
          <a:xfrm>
            <a:off x="10672698" y="1292478"/>
            <a:ext cx="1406525" cy="299720"/>
          </a:xfrm>
          <a:prstGeom prst="rect">
            <a:avLst/>
          </a:prstGeom>
        </p:spPr>
        <p:txBody>
          <a:bodyPr wrap="square" lIns="0" tIns="12700" rIns="0" bIns="0" rtlCol="0" vert="horz">
            <a:spAutoFit/>
          </a:bodyPr>
          <a:lstStyle/>
          <a:p>
            <a:pPr marL="12700">
              <a:lnSpc>
                <a:spcPct val="100000"/>
              </a:lnSpc>
              <a:spcBef>
                <a:spcPts val="100"/>
              </a:spcBef>
            </a:pPr>
            <a:r>
              <a:rPr dirty="0" sz="1800" spc="-20" b="1">
                <a:solidFill>
                  <a:srgbClr val="006600"/>
                </a:solidFill>
                <a:latin typeface="宋体"/>
                <a:cs typeface="宋体"/>
              </a:rPr>
              <a:t>指令流出时钟</a:t>
            </a:r>
            <a:endParaRPr sz="1800">
              <a:latin typeface="宋体"/>
              <a:cs typeface="宋体"/>
            </a:endParaRPr>
          </a:p>
        </p:txBody>
      </p:sp>
      <p:graphicFrame>
        <p:nvGraphicFramePr>
          <p:cNvPr id="12" name="object 12" descr=""/>
          <p:cNvGraphicFramePr>
            <a:graphicFrameLocks noGrp="1"/>
          </p:cNvGraphicFramePr>
          <p:nvPr/>
        </p:nvGraphicFramePr>
        <p:xfrm>
          <a:off x="8440801" y="1631822"/>
          <a:ext cx="3324860" cy="4171950"/>
        </p:xfrm>
        <a:graphic>
          <a:graphicData uri="http://schemas.openxmlformats.org/drawingml/2006/table">
            <a:tbl>
              <a:tblPr firstRow="1" bandRow="1">
                <a:tableStyleId>{2D5ABB26-0587-4C30-8999-92F81FD0307C}</a:tableStyleId>
              </a:tblPr>
              <a:tblGrid>
                <a:gridCol w="2878455"/>
                <a:gridCol w="370205"/>
              </a:tblGrid>
              <a:tr h="276860">
                <a:tc>
                  <a:txBody>
                    <a:bodyPr/>
                    <a:lstStyle/>
                    <a:p>
                      <a:pPr marL="244475">
                        <a:lnSpc>
                          <a:spcPts val="1964"/>
                        </a:lnSpc>
                        <a:tabLst>
                          <a:tab pos="1158875" algn="l"/>
                        </a:tabLst>
                      </a:pPr>
                      <a:r>
                        <a:rPr dirty="0" sz="1800" spc="-10" b="1">
                          <a:solidFill>
                            <a:srgbClr val="40458B"/>
                          </a:solidFill>
                          <a:latin typeface="Times New Roman"/>
                          <a:cs typeface="Times New Roman"/>
                        </a:rPr>
                        <a:t>ADD.D</a:t>
                      </a:r>
                      <a:r>
                        <a:rPr dirty="0" sz="1800" b="1">
                          <a:solidFill>
                            <a:srgbClr val="40458B"/>
                          </a:solidFill>
                          <a:latin typeface="Times New Roman"/>
                          <a:cs typeface="Times New Roman"/>
                        </a:rPr>
                        <a:t>	F12,</a:t>
                      </a:r>
                      <a:r>
                        <a:rPr dirty="0" sz="1800" spc="-40" b="1">
                          <a:solidFill>
                            <a:srgbClr val="40458B"/>
                          </a:solidFill>
                          <a:latin typeface="Times New Roman"/>
                          <a:cs typeface="Times New Roman"/>
                        </a:rPr>
                        <a:t> </a:t>
                      </a:r>
                      <a:r>
                        <a:rPr dirty="0" sz="1800" b="1">
                          <a:solidFill>
                            <a:srgbClr val="40458B"/>
                          </a:solidFill>
                          <a:latin typeface="Times New Roman"/>
                          <a:cs typeface="Times New Roman"/>
                        </a:rPr>
                        <a:t>F10,</a:t>
                      </a:r>
                      <a:r>
                        <a:rPr dirty="0" sz="1800" spc="-50" b="1">
                          <a:solidFill>
                            <a:srgbClr val="40458B"/>
                          </a:solidFill>
                          <a:latin typeface="Times New Roman"/>
                          <a:cs typeface="Times New Roman"/>
                        </a:rPr>
                        <a:t> </a:t>
                      </a:r>
                      <a:r>
                        <a:rPr dirty="0" sz="1800" spc="-25" b="1">
                          <a:solidFill>
                            <a:srgbClr val="40458B"/>
                          </a:solidFill>
                          <a:latin typeface="Times New Roman"/>
                          <a:cs typeface="Times New Roman"/>
                        </a:rPr>
                        <a:t>F2</a:t>
                      </a:r>
                      <a:endParaRPr sz="1800">
                        <a:latin typeface="Times New Roman"/>
                        <a:cs typeface="Times New Roman"/>
                      </a:endParaRPr>
                    </a:p>
                  </a:txBody>
                  <a:tcPr marL="0" marR="0" marB="0" marT="0"/>
                </a:tc>
                <a:tc>
                  <a:txBody>
                    <a:bodyPr/>
                    <a:lstStyle/>
                    <a:p>
                      <a:pPr algn="ctr" marL="77470">
                        <a:lnSpc>
                          <a:spcPts val="1964"/>
                        </a:lnSpc>
                      </a:pPr>
                      <a:r>
                        <a:rPr dirty="0" sz="1800" spc="-25" b="1">
                          <a:solidFill>
                            <a:srgbClr val="40458B"/>
                          </a:solidFill>
                          <a:latin typeface="Times New Roman"/>
                          <a:cs typeface="Times New Roman"/>
                        </a:rPr>
                        <a:t>15</a:t>
                      </a:r>
                      <a:endParaRPr sz="1800">
                        <a:latin typeface="Times New Roman"/>
                        <a:cs typeface="Times New Roman"/>
                      </a:endParaRPr>
                    </a:p>
                  </a:txBody>
                  <a:tcPr marL="0" marR="0" marB="0" marT="0"/>
                </a:tc>
              </a:tr>
              <a:tr h="301625">
                <a:tc>
                  <a:txBody>
                    <a:bodyPr/>
                    <a:lstStyle/>
                    <a:p>
                      <a:pPr marL="244475">
                        <a:lnSpc>
                          <a:spcPts val="2155"/>
                        </a:lnSpc>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a:txBody>
                  <a:tcPr marL="0" marR="0" marB="0" marT="0"/>
                </a:tc>
                <a:tc>
                  <a:txBody>
                    <a:bodyPr/>
                    <a:lstStyle/>
                    <a:p>
                      <a:pPr algn="ctr" marL="77470">
                        <a:lnSpc>
                          <a:spcPts val="2155"/>
                        </a:lnSpc>
                      </a:pPr>
                      <a:r>
                        <a:rPr dirty="0" sz="1800" spc="-25" b="1">
                          <a:solidFill>
                            <a:srgbClr val="CC0000"/>
                          </a:solidFill>
                          <a:latin typeface="Times New Roman"/>
                          <a:cs typeface="Times New Roman"/>
                        </a:rPr>
                        <a:t>16</a:t>
                      </a:r>
                      <a:endParaRPr sz="1800">
                        <a:latin typeface="Times New Roman"/>
                        <a:cs typeface="Times New Roman"/>
                      </a:endParaRPr>
                    </a:p>
                  </a:txBody>
                  <a:tcPr marL="0" marR="0" marB="0" marT="0"/>
                </a:tc>
              </a:tr>
              <a:tr h="300990">
                <a:tc>
                  <a:txBody>
                    <a:bodyPr/>
                    <a:lstStyle/>
                    <a:p>
                      <a:pPr marL="244475">
                        <a:lnSpc>
                          <a:spcPts val="2155"/>
                        </a:lnSpc>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a:txBody>
                  <a:tcPr marL="0" marR="0" marB="0" marT="0"/>
                </a:tc>
                <a:tc>
                  <a:txBody>
                    <a:bodyPr/>
                    <a:lstStyle/>
                    <a:p>
                      <a:pPr algn="ctr" marL="77470">
                        <a:lnSpc>
                          <a:spcPts val="2155"/>
                        </a:lnSpc>
                      </a:pPr>
                      <a:r>
                        <a:rPr dirty="0" sz="1800" spc="-25" b="1">
                          <a:solidFill>
                            <a:srgbClr val="CC0000"/>
                          </a:solidFill>
                          <a:latin typeface="Times New Roman"/>
                          <a:cs typeface="Times New Roman"/>
                        </a:rPr>
                        <a:t>17</a:t>
                      </a:r>
                      <a:endParaRPr sz="1800">
                        <a:latin typeface="Times New Roman"/>
                        <a:cs typeface="Times New Roman"/>
                      </a:endParaRPr>
                    </a:p>
                  </a:txBody>
                  <a:tcPr marL="0" marR="0" marB="0" marT="0"/>
                </a:tc>
              </a:tr>
              <a:tr h="301625">
                <a:tc>
                  <a:txBody>
                    <a:bodyPr/>
                    <a:lstStyle/>
                    <a:p>
                      <a:pPr marL="31750">
                        <a:lnSpc>
                          <a:spcPts val="2155"/>
                        </a:lnSpc>
                        <a:tabLst>
                          <a:tab pos="244475" algn="l"/>
                          <a:tab pos="1158875" algn="l"/>
                        </a:tabLst>
                      </a:pPr>
                      <a:r>
                        <a:rPr dirty="0" u="sng" sz="1800" b="1">
                          <a:solidFill>
                            <a:srgbClr val="40458B"/>
                          </a:solidFill>
                          <a:uFill>
                            <a:solidFill>
                              <a:srgbClr val="FF09FF"/>
                            </a:solidFill>
                          </a:uFill>
                          <a:latin typeface="Times New Roman"/>
                          <a:cs typeface="Times New Roman"/>
                        </a:rPr>
                        <a:t>	</a:t>
                      </a:r>
                      <a:r>
                        <a:rPr dirty="0" u="sng" sz="1800" spc="-25" b="1">
                          <a:solidFill>
                            <a:srgbClr val="40458B"/>
                          </a:solidFill>
                          <a:uFill>
                            <a:solidFill>
                              <a:srgbClr val="FF09FF"/>
                            </a:solidFill>
                          </a:uFill>
                          <a:latin typeface="Times New Roman"/>
                          <a:cs typeface="Times New Roman"/>
                        </a:rPr>
                        <a:t>S.D</a:t>
                      </a:r>
                      <a:r>
                        <a:rPr dirty="0" u="sng" sz="1800" b="1">
                          <a:solidFill>
                            <a:srgbClr val="40458B"/>
                          </a:solidFill>
                          <a:uFill>
                            <a:solidFill>
                              <a:srgbClr val="FF09FF"/>
                            </a:solidFill>
                          </a:uFill>
                          <a:latin typeface="Times New Roman"/>
                          <a:cs typeface="Times New Roman"/>
                        </a:rPr>
                        <a:t>	F12,</a:t>
                      </a:r>
                      <a:r>
                        <a:rPr dirty="0" u="sng" sz="1800" spc="5" b="1">
                          <a:solidFill>
                            <a:srgbClr val="40458B"/>
                          </a:solidFill>
                          <a:uFill>
                            <a:solidFill>
                              <a:srgbClr val="FF09FF"/>
                            </a:solidFill>
                          </a:uFill>
                          <a:latin typeface="Times New Roman"/>
                          <a:cs typeface="Times New Roman"/>
                        </a:rPr>
                        <a:t> </a:t>
                      </a:r>
                      <a:r>
                        <a:rPr dirty="0" u="sng" sz="1800" spc="-10" b="1">
                          <a:solidFill>
                            <a:srgbClr val="40458B"/>
                          </a:solidFill>
                          <a:uFill>
                            <a:solidFill>
                              <a:srgbClr val="FF09FF"/>
                            </a:solidFill>
                          </a:uFill>
                          <a:latin typeface="Times New Roman"/>
                          <a:cs typeface="Times New Roman"/>
                        </a:rPr>
                        <a:t>-16</a:t>
                      </a:r>
                      <a:r>
                        <a:rPr dirty="0" u="sng" sz="1800" spc="-10" b="1">
                          <a:solidFill>
                            <a:srgbClr val="40458B"/>
                          </a:solidFill>
                          <a:uFill>
                            <a:solidFill>
                              <a:srgbClr val="FF09FF"/>
                            </a:solidFill>
                          </a:uFill>
                          <a:latin typeface="宋体"/>
                          <a:cs typeface="宋体"/>
                        </a:rPr>
                        <a:t>（</a:t>
                      </a:r>
                      <a:r>
                        <a:rPr dirty="0" u="sng" sz="1800" spc="-10" b="1">
                          <a:solidFill>
                            <a:srgbClr val="40458B"/>
                          </a:solidFill>
                          <a:uFill>
                            <a:solidFill>
                              <a:srgbClr val="FF09FF"/>
                            </a:solidFill>
                          </a:uFill>
                          <a:latin typeface="Times New Roman"/>
                          <a:cs typeface="Times New Roman"/>
                        </a:rPr>
                        <a:t>R1</a:t>
                      </a:r>
                      <a:r>
                        <a:rPr dirty="0" u="sng" sz="1800" spc="-10" b="1">
                          <a:solidFill>
                            <a:srgbClr val="40458B"/>
                          </a:solidFill>
                          <a:uFill>
                            <a:solidFill>
                              <a:srgbClr val="FF09FF"/>
                            </a:solidFill>
                          </a:uFill>
                          <a:latin typeface="宋体"/>
                          <a:cs typeface="宋体"/>
                        </a:rPr>
                        <a:t>） </a:t>
                      </a:r>
                      <a:endParaRPr sz="1800">
                        <a:latin typeface="宋体"/>
                        <a:cs typeface="宋体"/>
                      </a:endParaRPr>
                    </a:p>
                  </a:txBody>
                  <a:tcPr marL="0" marR="0" marB="0" marT="0"/>
                </a:tc>
                <a:tc>
                  <a:txBody>
                    <a:bodyPr/>
                    <a:lstStyle/>
                    <a:p>
                      <a:pPr algn="ctr" marL="77470">
                        <a:lnSpc>
                          <a:spcPts val="2155"/>
                        </a:lnSpc>
                      </a:pPr>
                      <a:r>
                        <a:rPr dirty="0" sz="1800" spc="-25" b="1">
                          <a:solidFill>
                            <a:srgbClr val="40458B"/>
                          </a:solidFill>
                          <a:latin typeface="Times New Roman"/>
                          <a:cs typeface="Times New Roman"/>
                        </a:rPr>
                        <a:t>18</a:t>
                      </a:r>
                      <a:endParaRPr sz="1800">
                        <a:latin typeface="Times New Roman"/>
                        <a:cs typeface="Times New Roman"/>
                      </a:endParaRPr>
                    </a:p>
                  </a:txBody>
                  <a:tcPr marL="0" marR="0" marB="0" marT="0"/>
                </a:tc>
              </a:tr>
              <a:tr h="301625">
                <a:tc>
                  <a:txBody>
                    <a:bodyPr/>
                    <a:lstStyle/>
                    <a:p>
                      <a:pPr marL="244475">
                        <a:lnSpc>
                          <a:spcPts val="2155"/>
                        </a:lnSpc>
                        <a:tabLst>
                          <a:tab pos="1158875" algn="l"/>
                        </a:tabLst>
                      </a:pPr>
                      <a:r>
                        <a:rPr dirty="0" sz="1800" spc="-25" b="1">
                          <a:solidFill>
                            <a:srgbClr val="40458B"/>
                          </a:solidFill>
                          <a:latin typeface="Times New Roman"/>
                          <a:cs typeface="Times New Roman"/>
                        </a:rPr>
                        <a:t>L.D</a:t>
                      </a:r>
                      <a:r>
                        <a:rPr dirty="0" sz="1800" b="1">
                          <a:solidFill>
                            <a:srgbClr val="40458B"/>
                          </a:solidFill>
                          <a:latin typeface="Times New Roman"/>
                          <a:cs typeface="Times New Roman"/>
                        </a:rPr>
                        <a:t>	F14,</a:t>
                      </a:r>
                      <a:r>
                        <a:rPr dirty="0" sz="1800" spc="-35" b="1">
                          <a:solidFill>
                            <a:srgbClr val="40458B"/>
                          </a:solidFill>
                          <a:latin typeface="Times New Roman"/>
                          <a:cs typeface="Times New Roman"/>
                        </a:rPr>
                        <a:t> </a:t>
                      </a:r>
                      <a:r>
                        <a:rPr dirty="0" sz="1800" spc="-10" b="1">
                          <a:solidFill>
                            <a:srgbClr val="40458B"/>
                          </a:solidFill>
                          <a:latin typeface="Times New Roman"/>
                          <a:cs typeface="Times New Roman"/>
                        </a:rPr>
                        <a:t>-24</a:t>
                      </a:r>
                      <a:r>
                        <a:rPr dirty="0" sz="1800" spc="-10" b="1">
                          <a:solidFill>
                            <a:srgbClr val="40458B"/>
                          </a:solidFill>
                          <a:latin typeface="宋体"/>
                          <a:cs typeface="宋体"/>
                        </a:rPr>
                        <a:t>（</a:t>
                      </a:r>
                      <a:r>
                        <a:rPr dirty="0" sz="1800" spc="-10" b="1">
                          <a:solidFill>
                            <a:srgbClr val="40458B"/>
                          </a:solidFill>
                          <a:latin typeface="Times New Roman"/>
                          <a:cs typeface="Times New Roman"/>
                        </a:rPr>
                        <a:t>R1</a:t>
                      </a:r>
                      <a:r>
                        <a:rPr dirty="0" sz="1800" spc="-10" b="1">
                          <a:solidFill>
                            <a:srgbClr val="40458B"/>
                          </a:solidFill>
                          <a:latin typeface="宋体"/>
                          <a:cs typeface="宋体"/>
                        </a:rPr>
                        <a:t>）</a:t>
                      </a:r>
                      <a:endParaRPr sz="1800">
                        <a:latin typeface="宋体"/>
                        <a:cs typeface="宋体"/>
                      </a:endParaRPr>
                    </a:p>
                  </a:txBody>
                  <a:tcPr marL="0" marR="0" marB="0" marT="0"/>
                </a:tc>
                <a:tc>
                  <a:txBody>
                    <a:bodyPr/>
                    <a:lstStyle/>
                    <a:p>
                      <a:pPr algn="ctr" marL="77470">
                        <a:lnSpc>
                          <a:spcPts val="2155"/>
                        </a:lnSpc>
                      </a:pPr>
                      <a:r>
                        <a:rPr dirty="0" sz="1800" spc="-25" b="1">
                          <a:solidFill>
                            <a:srgbClr val="40458B"/>
                          </a:solidFill>
                          <a:latin typeface="Times New Roman"/>
                          <a:cs typeface="Times New Roman"/>
                        </a:rPr>
                        <a:t>19</a:t>
                      </a:r>
                      <a:endParaRPr sz="1800">
                        <a:latin typeface="Times New Roman"/>
                        <a:cs typeface="Times New Roman"/>
                      </a:endParaRPr>
                    </a:p>
                  </a:txBody>
                  <a:tcPr marL="0" marR="0" marB="0" marT="0"/>
                </a:tc>
              </a:tr>
              <a:tr h="301625">
                <a:tc>
                  <a:txBody>
                    <a:bodyPr/>
                    <a:lstStyle/>
                    <a:p>
                      <a:pPr marL="244475">
                        <a:lnSpc>
                          <a:spcPts val="2155"/>
                        </a:lnSpc>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a:txBody>
                  <a:tcPr marL="0" marR="0" marB="0" marT="0"/>
                </a:tc>
                <a:tc>
                  <a:txBody>
                    <a:bodyPr/>
                    <a:lstStyle/>
                    <a:p>
                      <a:pPr algn="ctr" marL="77470">
                        <a:lnSpc>
                          <a:spcPts val="2155"/>
                        </a:lnSpc>
                      </a:pPr>
                      <a:r>
                        <a:rPr dirty="0" sz="1800" spc="-25" b="1">
                          <a:solidFill>
                            <a:srgbClr val="CC0000"/>
                          </a:solidFill>
                          <a:latin typeface="Times New Roman"/>
                          <a:cs typeface="Times New Roman"/>
                        </a:rPr>
                        <a:t>20</a:t>
                      </a:r>
                      <a:endParaRPr sz="1800">
                        <a:latin typeface="Times New Roman"/>
                        <a:cs typeface="Times New Roman"/>
                      </a:endParaRPr>
                    </a:p>
                  </a:txBody>
                  <a:tcPr marL="0" marR="0" marB="0" marT="0"/>
                </a:tc>
              </a:tr>
              <a:tr h="300990">
                <a:tc>
                  <a:txBody>
                    <a:bodyPr/>
                    <a:lstStyle/>
                    <a:p>
                      <a:pPr marL="244475">
                        <a:lnSpc>
                          <a:spcPts val="2155"/>
                        </a:lnSpc>
                        <a:tabLst>
                          <a:tab pos="1158875" algn="l"/>
                        </a:tabLst>
                      </a:pPr>
                      <a:r>
                        <a:rPr dirty="0" sz="1800" spc="-10" b="1">
                          <a:solidFill>
                            <a:srgbClr val="40458B"/>
                          </a:solidFill>
                          <a:latin typeface="Times New Roman"/>
                          <a:cs typeface="Times New Roman"/>
                        </a:rPr>
                        <a:t>ADD.D</a:t>
                      </a:r>
                      <a:r>
                        <a:rPr dirty="0" sz="1800" b="1">
                          <a:solidFill>
                            <a:srgbClr val="40458B"/>
                          </a:solidFill>
                          <a:latin typeface="Times New Roman"/>
                          <a:cs typeface="Times New Roman"/>
                        </a:rPr>
                        <a:t>	F16,</a:t>
                      </a:r>
                      <a:r>
                        <a:rPr dirty="0" sz="1800" spc="-40" b="1">
                          <a:solidFill>
                            <a:srgbClr val="40458B"/>
                          </a:solidFill>
                          <a:latin typeface="Times New Roman"/>
                          <a:cs typeface="Times New Roman"/>
                        </a:rPr>
                        <a:t> </a:t>
                      </a:r>
                      <a:r>
                        <a:rPr dirty="0" sz="1800" b="1">
                          <a:solidFill>
                            <a:srgbClr val="40458B"/>
                          </a:solidFill>
                          <a:latin typeface="Times New Roman"/>
                          <a:cs typeface="Times New Roman"/>
                        </a:rPr>
                        <a:t>F14,</a:t>
                      </a:r>
                      <a:r>
                        <a:rPr dirty="0" sz="1800" spc="-50" b="1">
                          <a:solidFill>
                            <a:srgbClr val="40458B"/>
                          </a:solidFill>
                          <a:latin typeface="Times New Roman"/>
                          <a:cs typeface="Times New Roman"/>
                        </a:rPr>
                        <a:t> </a:t>
                      </a:r>
                      <a:r>
                        <a:rPr dirty="0" sz="1800" spc="-25" b="1">
                          <a:solidFill>
                            <a:srgbClr val="40458B"/>
                          </a:solidFill>
                          <a:latin typeface="Times New Roman"/>
                          <a:cs typeface="Times New Roman"/>
                        </a:rPr>
                        <a:t>F2</a:t>
                      </a:r>
                      <a:endParaRPr sz="1800">
                        <a:latin typeface="Times New Roman"/>
                        <a:cs typeface="Times New Roman"/>
                      </a:endParaRPr>
                    </a:p>
                  </a:txBody>
                  <a:tcPr marL="0" marR="0" marB="0" marT="0"/>
                </a:tc>
                <a:tc>
                  <a:txBody>
                    <a:bodyPr/>
                    <a:lstStyle/>
                    <a:p>
                      <a:pPr algn="ctr" marL="77470">
                        <a:lnSpc>
                          <a:spcPts val="2155"/>
                        </a:lnSpc>
                      </a:pPr>
                      <a:r>
                        <a:rPr dirty="0" sz="1800" spc="-25" b="1">
                          <a:solidFill>
                            <a:srgbClr val="40458B"/>
                          </a:solidFill>
                          <a:latin typeface="Times New Roman"/>
                          <a:cs typeface="Times New Roman"/>
                        </a:rPr>
                        <a:t>21</a:t>
                      </a:r>
                      <a:endParaRPr sz="1800">
                        <a:latin typeface="Times New Roman"/>
                        <a:cs typeface="Times New Roman"/>
                      </a:endParaRPr>
                    </a:p>
                  </a:txBody>
                  <a:tcPr marL="0" marR="0" marB="0" marT="0"/>
                </a:tc>
              </a:tr>
              <a:tr h="301625">
                <a:tc>
                  <a:txBody>
                    <a:bodyPr/>
                    <a:lstStyle/>
                    <a:p>
                      <a:pPr marL="244475">
                        <a:lnSpc>
                          <a:spcPts val="2155"/>
                        </a:lnSpc>
                      </a:pPr>
                      <a:r>
                        <a:rPr dirty="0" sz="1800" spc="-20" b="1">
                          <a:solidFill>
                            <a:srgbClr val="CC0000"/>
                          </a:solidFill>
                          <a:latin typeface="宋体"/>
                          <a:cs typeface="宋体"/>
                        </a:rPr>
                        <a:t>（空转</a:t>
                      </a:r>
                      <a:r>
                        <a:rPr dirty="0" sz="1800" spc="-50" b="1">
                          <a:solidFill>
                            <a:srgbClr val="CC0000"/>
                          </a:solidFill>
                          <a:latin typeface="宋体"/>
                          <a:cs typeface="宋体"/>
                        </a:rPr>
                        <a:t>）</a:t>
                      </a:r>
                      <a:endParaRPr sz="1800">
                        <a:latin typeface="宋体"/>
                        <a:cs typeface="宋体"/>
                      </a:endParaRPr>
                    </a:p>
                  </a:txBody>
                  <a:tcPr marL="0" marR="0" marB="0" marT="0"/>
                </a:tc>
                <a:tc>
                  <a:txBody>
                    <a:bodyPr/>
                    <a:lstStyle/>
                    <a:p>
                      <a:pPr algn="ctr" marL="77470">
                        <a:lnSpc>
                          <a:spcPts val="2155"/>
                        </a:lnSpc>
                      </a:pPr>
                      <a:r>
                        <a:rPr dirty="0" sz="1800" spc="-25" b="1">
                          <a:solidFill>
                            <a:srgbClr val="CC0000"/>
                          </a:solidFill>
                          <a:latin typeface="Times New Roman"/>
                          <a:cs typeface="Times New Roman"/>
                        </a:rPr>
                        <a:t>22</a:t>
                      </a:r>
                      <a:endParaRPr sz="1800">
                        <a:latin typeface="Times New Roman"/>
                        <a:cs typeface="Times New Roman"/>
                      </a:endParaRPr>
                    </a:p>
                  </a:txBody>
                  <a:tcPr marL="0" marR="0" marB="0" marT="0"/>
                </a:tc>
              </a:tr>
              <a:tr h="301625">
                <a:tc>
                  <a:txBody>
                    <a:bodyPr/>
                    <a:lstStyle/>
                    <a:p>
                      <a:pPr marL="244475">
                        <a:lnSpc>
                          <a:spcPts val="2155"/>
                        </a:lnSpc>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a:txBody>
                  <a:tcPr marL="0" marR="0" marB="0" marT="0"/>
                </a:tc>
                <a:tc>
                  <a:txBody>
                    <a:bodyPr/>
                    <a:lstStyle/>
                    <a:p>
                      <a:pPr algn="ctr" marL="77470">
                        <a:lnSpc>
                          <a:spcPts val="2155"/>
                        </a:lnSpc>
                      </a:pPr>
                      <a:r>
                        <a:rPr dirty="0" sz="1800" spc="-25" b="1">
                          <a:solidFill>
                            <a:srgbClr val="CC0000"/>
                          </a:solidFill>
                          <a:latin typeface="Times New Roman"/>
                          <a:cs typeface="Times New Roman"/>
                        </a:rPr>
                        <a:t>23</a:t>
                      </a:r>
                      <a:endParaRPr sz="1800">
                        <a:latin typeface="Times New Roman"/>
                        <a:cs typeface="Times New Roman"/>
                      </a:endParaRPr>
                    </a:p>
                  </a:txBody>
                  <a:tcPr marL="0" marR="0" marB="0" marT="0"/>
                </a:tc>
              </a:tr>
              <a:tr h="301625">
                <a:tc>
                  <a:txBody>
                    <a:bodyPr/>
                    <a:lstStyle/>
                    <a:p>
                      <a:pPr marL="102870">
                        <a:lnSpc>
                          <a:spcPts val="2155"/>
                        </a:lnSpc>
                        <a:tabLst>
                          <a:tab pos="1158875" algn="l"/>
                        </a:tabLst>
                      </a:pPr>
                      <a:r>
                        <a:rPr dirty="0" u="sng" sz="1800" spc="105" b="1">
                          <a:solidFill>
                            <a:srgbClr val="40458B"/>
                          </a:solidFill>
                          <a:uFill>
                            <a:solidFill>
                              <a:srgbClr val="FF09FF"/>
                            </a:solidFill>
                          </a:uFill>
                          <a:latin typeface="Times New Roman"/>
                          <a:cs typeface="Times New Roman"/>
                        </a:rPr>
                        <a:t>  </a:t>
                      </a:r>
                      <a:r>
                        <a:rPr dirty="0" u="sng" sz="1800" spc="-25" b="1">
                          <a:solidFill>
                            <a:srgbClr val="40458B"/>
                          </a:solidFill>
                          <a:uFill>
                            <a:solidFill>
                              <a:srgbClr val="FF09FF"/>
                            </a:solidFill>
                          </a:uFill>
                          <a:latin typeface="Times New Roman"/>
                          <a:cs typeface="Times New Roman"/>
                        </a:rPr>
                        <a:t>S.D</a:t>
                      </a:r>
                      <a:r>
                        <a:rPr dirty="0" u="sng" sz="1800" b="1">
                          <a:solidFill>
                            <a:srgbClr val="40458B"/>
                          </a:solidFill>
                          <a:uFill>
                            <a:solidFill>
                              <a:srgbClr val="FF09FF"/>
                            </a:solidFill>
                          </a:uFill>
                          <a:latin typeface="Times New Roman"/>
                          <a:cs typeface="Times New Roman"/>
                        </a:rPr>
                        <a:t>	F16,</a:t>
                      </a:r>
                      <a:r>
                        <a:rPr dirty="0" u="sng" sz="1800" spc="-25" b="1">
                          <a:solidFill>
                            <a:srgbClr val="40458B"/>
                          </a:solidFill>
                          <a:uFill>
                            <a:solidFill>
                              <a:srgbClr val="FF09FF"/>
                            </a:solidFill>
                          </a:uFill>
                          <a:latin typeface="Times New Roman"/>
                          <a:cs typeface="Times New Roman"/>
                        </a:rPr>
                        <a:t> </a:t>
                      </a:r>
                      <a:r>
                        <a:rPr dirty="0" u="sng" sz="1800" spc="-10" b="1">
                          <a:solidFill>
                            <a:srgbClr val="40458B"/>
                          </a:solidFill>
                          <a:uFill>
                            <a:solidFill>
                              <a:srgbClr val="FF09FF"/>
                            </a:solidFill>
                          </a:uFill>
                          <a:latin typeface="Times New Roman"/>
                          <a:cs typeface="Times New Roman"/>
                        </a:rPr>
                        <a:t>-24</a:t>
                      </a:r>
                      <a:r>
                        <a:rPr dirty="0" u="sng" sz="1800" spc="-10" b="1">
                          <a:solidFill>
                            <a:srgbClr val="40458B"/>
                          </a:solidFill>
                          <a:uFill>
                            <a:solidFill>
                              <a:srgbClr val="FF09FF"/>
                            </a:solidFill>
                          </a:uFill>
                          <a:latin typeface="宋体"/>
                          <a:cs typeface="宋体"/>
                        </a:rPr>
                        <a:t>（</a:t>
                      </a:r>
                      <a:r>
                        <a:rPr dirty="0" u="sng" sz="1800" spc="-10" b="1">
                          <a:solidFill>
                            <a:srgbClr val="40458B"/>
                          </a:solidFill>
                          <a:uFill>
                            <a:solidFill>
                              <a:srgbClr val="FF09FF"/>
                            </a:solidFill>
                          </a:uFill>
                          <a:latin typeface="Times New Roman"/>
                          <a:cs typeface="Times New Roman"/>
                        </a:rPr>
                        <a:t>R1</a:t>
                      </a:r>
                      <a:r>
                        <a:rPr dirty="0" u="sng" sz="1800" spc="-10" b="1">
                          <a:solidFill>
                            <a:srgbClr val="40458B"/>
                          </a:solidFill>
                          <a:uFill>
                            <a:solidFill>
                              <a:srgbClr val="FF09FF"/>
                            </a:solidFill>
                          </a:uFill>
                          <a:latin typeface="宋体"/>
                          <a:cs typeface="宋体"/>
                        </a:rPr>
                        <a:t>）</a:t>
                      </a:r>
                      <a:endParaRPr sz="1800">
                        <a:latin typeface="宋体"/>
                        <a:cs typeface="宋体"/>
                      </a:endParaRPr>
                    </a:p>
                  </a:txBody>
                  <a:tcPr marL="0" marR="0" marB="0" marT="0"/>
                </a:tc>
                <a:tc>
                  <a:txBody>
                    <a:bodyPr/>
                    <a:lstStyle/>
                    <a:p>
                      <a:pPr algn="ctr" marL="77470">
                        <a:lnSpc>
                          <a:spcPts val="2155"/>
                        </a:lnSpc>
                      </a:pPr>
                      <a:r>
                        <a:rPr dirty="0" sz="1800" spc="-25" b="1">
                          <a:solidFill>
                            <a:srgbClr val="40458B"/>
                          </a:solidFill>
                          <a:latin typeface="Times New Roman"/>
                          <a:cs typeface="Times New Roman"/>
                        </a:rPr>
                        <a:t>24</a:t>
                      </a:r>
                      <a:endParaRPr sz="1800">
                        <a:latin typeface="Times New Roman"/>
                        <a:cs typeface="Times New Roman"/>
                      </a:endParaRPr>
                    </a:p>
                  </a:txBody>
                  <a:tcPr marL="0" marR="0" marB="0" marT="0"/>
                </a:tc>
              </a:tr>
              <a:tr h="301625">
                <a:tc>
                  <a:txBody>
                    <a:bodyPr/>
                    <a:lstStyle/>
                    <a:p>
                      <a:pPr marL="244475">
                        <a:lnSpc>
                          <a:spcPts val="2155"/>
                        </a:lnSpc>
                      </a:pPr>
                      <a:r>
                        <a:rPr dirty="0" sz="1800" b="1">
                          <a:solidFill>
                            <a:srgbClr val="40458B"/>
                          </a:solidFill>
                          <a:latin typeface="Times New Roman"/>
                          <a:cs typeface="Times New Roman"/>
                        </a:rPr>
                        <a:t>DADDIU</a:t>
                      </a:r>
                      <a:r>
                        <a:rPr dirty="0" sz="1800" spc="-20" b="1">
                          <a:solidFill>
                            <a:srgbClr val="40458B"/>
                          </a:solidFill>
                          <a:latin typeface="Times New Roman"/>
                          <a:cs typeface="Times New Roman"/>
                        </a:rPr>
                        <a:t> </a:t>
                      </a:r>
                      <a:r>
                        <a:rPr dirty="0" sz="1800" b="1">
                          <a:solidFill>
                            <a:srgbClr val="40458B"/>
                          </a:solidFill>
                          <a:latin typeface="Times New Roman"/>
                          <a:cs typeface="Times New Roman"/>
                        </a:rPr>
                        <a:t>R1,</a:t>
                      </a:r>
                      <a:r>
                        <a:rPr dirty="0" sz="1800" spc="-15" b="1">
                          <a:solidFill>
                            <a:srgbClr val="40458B"/>
                          </a:solidFill>
                          <a:latin typeface="Times New Roman"/>
                          <a:cs typeface="Times New Roman"/>
                        </a:rPr>
                        <a:t> </a:t>
                      </a:r>
                      <a:r>
                        <a:rPr dirty="0" sz="1800" b="1">
                          <a:solidFill>
                            <a:srgbClr val="40458B"/>
                          </a:solidFill>
                          <a:latin typeface="Times New Roman"/>
                          <a:cs typeface="Times New Roman"/>
                        </a:rPr>
                        <a:t>R1,</a:t>
                      </a:r>
                      <a:r>
                        <a:rPr dirty="0" sz="1800" spc="-20" b="1">
                          <a:solidFill>
                            <a:srgbClr val="40458B"/>
                          </a:solidFill>
                          <a:latin typeface="Times New Roman"/>
                          <a:cs typeface="Times New Roman"/>
                        </a:rPr>
                        <a:t> </a:t>
                      </a:r>
                      <a:r>
                        <a:rPr dirty="0" sz="1800" b="1">
                          <a:solidFill>
                            <a:srgbClr val="40458B"/>
                          </a:solidFill>
                          <a:latin typeface="Times New Roman"/>
                          <a:cs typeface="Times New Roman"/>
                        </a:rPr>
                        <a:t>#</a:t>
                      </a:r>
                      <a:r>
                        <a:rPr dirty="0" sz="1800" spc="-15" b="1">
                          <a:solidFill>
                            <a:srgbClr val="40458B"/>
                          </a:solidFill>
                          <a:latin typeface="Times New Roman"/>
                          <a:cs typeface="Times New Roman"/>
                        </a:rPr>
                        <a:t> </a:t>
                      </a:r>
                      <a:r>
                        <a:rPr dirty="0" sz="1800" spc="-10" b="1">
                          <a:solidFill>
                            <a:srgbClr val="40458B"/>
                          </a:solidFill>
                          <a:latin typeface="Times New Roman"/>
                          <a:cs typeface="Times New Roman"/>
                        </a:rPr>
                        <a:t>-</a:t>
                      </a:r>
                      <a:r>
                        <a:rPr dirty="0" sz="1800" spc="-25" b="1">
                          <a:solidFill>
                            <a:srgbClr val="40458B"/>
                          </a:solidFill>
                          <a:latin typeface="Times New Roman"/>
                          <a:cs typeface="Times New Roman"/>
                        </a:rPr>
                        <a:t>32</a:t>
                      </a:r>
                      <a:endParaRPr sz="1800">
                        <a:latin typeface="Times New Roman"/>
                        <a:cs typeface="Times New Roman"/>
                      </a:endParaRPr>
                    </a:p>
                  </a:txBody>
                  <a:tcPr marL="0" marR="0" marB="0" marT="0"/>
                </a:tc>
                <a:tc>
                  <a:txBody>
                    <a:bodyPr/>
                    <a:lstStyle/>
                    <a:p>
                      <a:pPr algn="ctr" marL="77470">
                        <a:lnSpc>
                          <a:spcPts val="2155"/>
                        </a:lnSpc>
                      </a:pPr>
                      <a:r>
                        <a:rPr dirty="0" sz="1800" spc="-25" b="1">
                          <a:solidFill>
                            <a:srgbClr val="40458B"/>
                          </a:solidFill>
                          <a:latin typeface="Times New Roman"/>
                          <a:cs typeface="Times New Roman"/>
                        </a:rPr>
                        <a:t>25</a:t>
                      </a:r>
                      <a:endParaRPr sz="1800">
                        <a:latin typeface="Times New Roman"/>
                        <a:cs typeface="Times New Roman"/>
                      </a:endParaRPr>
                    </a:p>
                  </a:txBody>
                  <a:tcPr marL="0" marR="0" marB="0" marT="0"/>
                </a:tc>
              </a:tr>
              <a:tr h="301625">
                <a:tc>
                  <a:txBody>
                    <a:bodyPr/>
                    <a:lstStyle/>
                    <a:p>
                      <a:pPr marL="244475">
                        <a:lnSpc>
                          <a:spcPts val="2155"/>
                        </a:lnSpc>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a:txBody>
                  <a:tcPr marL="0" marR="0" marB="0" marT="0"/>
                </a:tc>
                <a:tc>
                  <a:txBody>
                    <a:bodyPr/>
                    <a:lstStyle/>
                    <a:p>
                      <a:pPr algn="ctr" marL="77470">
                        <a:lnSpc>
                          <a:spcPts val="2155"/>
                        </a:lnSpc>
                      </a:pPr>
                      <a:r>
                        <a:rPr dirty="0" sz="1800" spc="-25" b="1">
                          <a:solidFill>
                            <a:srgbClr val="CC0000"/>
                          </a:solidFill>
                          <a:latin typeface="Times New Roman"/>
                          <a:cs typeface="Times New Roman"/>
                        </a:rPr>
                        <a:t>26</a:t>
                      </a:r>
                      <a:endParaRPr sz="1800">
                        <a:latin typeface="Times New Roman"/>
                        <a:cs typeface="Times New Roman"/>
                      </a:endParaRPr>
                    </a:p>
                  </a:txBody>
                  <a:tcPr marL="0" marR="0" marB="0" marT="0"/>
                </a:tc>
              </a:tr>
              <a:tr h="301625">
                <a:tc>
                  <a:txBody>
                    <a:bodyPr/>
                    <a:lstStyle/>
                    <a:p>
                      <a:pPr marL="244475">
                        <a:lnSpc>
                          <a:spcPts val="2155"/>
                        </a:lnSpc>
                        <a:tabLst>
                          <a:tab pos="1158875" algn="l"/>
                        </a:tabLst>
                      </a:pPr>
                      <a:r>
                        <a:rPr dirty="0" sz="1800" spc="-25" b="1">
                          <a:solidFill>
                            <a:srgbClr val="40458B"/>
                          </a:solidFill>
                          <a:latin typeface="Times New Roman"/>
                          <a:cs typeface="Times New Roman"/>
                        </a:rPr>
                        <a:t>BNE</a:t>
                      </a:r>
                      <a:r>
                        <a:rPr dirty="0" sz="1800" b="1">
                          <a:solidFill>
                            <a:srgbClr val="40458B"/>
                          </a:solidFill>
                          <a:latin typeface="Times New Roman"/>
                          <a:cs typeface="Times New Roman"/>
                        </a:rPr>
                        <a:t>	R1,</a:t>
                      </a:r>
                      <a:r>
                        <a:rPr dirty="0" sz="1800" spc="-5" b="1">
                          <a:solidFill>
                            <a:srgbClr val="40458B"/>
                          </a:solidFill>
                          <a:latin typeface="Times New Roman"/>
                          <a:cs typeface="Times New Roman"/>
                        </a:rPr>
                        <a:t> </a:t>
                      </a:r>
                      <a:r>
                        <a:rPr dirty="0" sz="1800" b="1">
                          <a:solidFill>
                            <a:srgbClr val="40458B"/>
                          </a:solidFill>
                          <a:latin typeface="Times New Roman"/>
                          <a:cs typeface="Times New Roman"/>
                        </a:rPr>
                        <a:t>R2, </a:t>
                      </a:r>
                      <a:r>
                        <a:rPr dirty="0" sz="1800" spc="-20" b="1">
                          <a:solidFill>
                            <a:srgbClr val="40458B"/>
                          </a:solidFill>
                          <a:latin typeface="Times New Roman"/>
                          <a:cs typeface="Times New Roman"/>
                        </a:rPr>
                        <a:t>Loop</a:t>
                      </a:r>
                      <a:endParaRPr sz="1800">
                        <a:latin typeface="Times New Roman"/>
                        <a:cs typeface="Times New Roman"/>
                      </a:endParaRPr>
                    </a:p>
                  </a:txBody>
                  <a:tcPr marL="0" marR="0" marB="0" marT="0"/>
                </a:tc>
                <a:tc>
                  <a:txBody>
                    <a:bodyPr/>
                    <a:lstStyle/>
                    <a:p>
                      <a:pPr algn="ctr" marL="77470">
                        <a:lnSpc>
                          <a:spcPts val="2155"/>
                        </a:lnSpc>
                      </a:pPr>
                      <a:r>
                        <a:rPr dirty="0" sz="1800" spc="-25" b="1">
                          <a:solidFill>
                            <a:srgbClr val="40458B"/>
                          </a:solidFill>
                          <a:latin typeface="Times New Roman"/>
                          <a:cs typeface="Times New Roman"/>
                        </a:rPr>
                        <a:t>27</a:t>
                      </a:r>
                      <a:endParaRPr sz="1800">
                        <a:latin typeface="Times New Roman"/>
                        <a:cs typeface="Times New Roman"/>
                      </a:endParaRPr>
                    </a:p>
                  </a:txBody>
                  <a:tcPr marL="0" marR="0" marB="0" marT="0"/>
                </a:tc>
              </a:tr>
              <a:tr h="276860">
                <a:tc>
                  <a:txBody>
                    <a:bodyPr/>
                    <a:lstStyle/>
                    <a:p>
                      <a:pPr marL="244475">
                        <a:lnSpc>
                          <a:spcPts val="2085"/>
                        </a:lnSpc>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a:txBody>
                  <a:tcPr marL="0" marR="0" marB="0" marT="0"/>
                </a:tc>
                <a:tc>
                  <a:txBody>
                    <a:bodyPr/>
                    <a:lstStyle/>
                    <a:p>
                      <a:pPr algn="ctr" marL="77470">
                        <a:lnSpc>
                          <a:spcPts val="2085"/>
                        </a:lnSpc>
                      </a:pPr>
                      <a:r>
                        <a:rPr dirty="0" sz="1800" spc="-25" b="1">
                          <a:solidFill>
                            <a:srgbClr val="CC0000"/>
                          </a:solidFill>
                          <a:latin typeface="Times New Roman"/>
                          <a:cs typeface="Times New Roman"/>
                        </a:rPr>
                        <a:t>28</a:t>
                      </a:r>
                      <a:endParaRPr sz="1800">
                        <a:latin typeface="Times New Roman"/>
                        <a:cs typeface="Times New Roman"/>
                      </a:endParaRPr>
                    </a:p>
                  </a:txBody>
                  <a:tcPr marL="0" marR="0" marB="0" marT="0"/>
                </a:tc>
              </a:tr>
            </a:tbl>
          </a:graphicData>
        </a:graphic>
      </p:graphicFrame>
      <p:sp>
        <p:nvSpPr>
          <p:cNvPr id="13" name="object 13" descr=""/>
          <p:cNvSpPr/>
          <p:nvPr/>
        </p:nvSpPr>
        <p:spPr>
          <a:xfrm>
            <a:off x="8256651" y="1408175"/>
            <a:ext cx="0" cy="4319905"/>
          </a:xfrm>
          <a:custGeom>
            <a:avLst/>
            <a:gdLst/>
            <a:ahLst/>
            <a:cxnLst/>
            <a:rect l="l" t="t" r="r" b="b"/>
            <a:pathLst>
              <a:path w="0" h="4319905">
                <a:moveTo>
                  <a:pt x="0" y="0"/>
                </a:moveTo>
                <a:lnTo>
                  <a:pt x="0" y="4319524"/>
                </a:lnTo>
              </a:path>
            </a:pathLst>
          </a:custGeom>
          <a:ln w="9525">
            <a:solidFill>
              <a:srgbClr val="40458B"/>
            </a:solidFill>
          </a:ln>
        </p:spPr>
        <p:txBody>
          <a:bodyPr wrap="square" lIns="0" tIns="0" rIns="0" bIns="0" rtlCol="0"/>
          <a:lstStyle/>
          <a:p/>
        </p:txBody>
      </p:sp>
      <p:sp>
        <p:nvSpPr>
          <p:cNvPr id="14" name="object 14" descr=""/>
          <p:cNvSpPr txBox="1"/>
          <p:nvPr/>
        </p:nvSpPr>
        <p:spPr>
          <a:xfrm>
            <a:off x="6535928" y="6138773"/>
            <a:ext cx="2470150" cy="391160"/>
          </a:xfrm>
          <a:prstGeom prst="rect">
            <a:avLst/>
          </a:prstGeom>
        </p:spPr>
        <p:txBody>
          <a:bodyPr wrap="square" lIns="0" tIns="12700" rIns="0" bIns="0" rtlCol="0" vert="horz">
            <a:spAutoFit/>
          </a:bodyPr>
          <a:lstStyle/>
          <a:p>
            <a:pPr marL="12700">
              <a:lnSpc>
                <a:spcPct val="100000"/>
              </a:lnSpc>
              <a:spcBef>
                <a:spcPts val="100"/>
              </a:spcBef>
            </a:pPr>
            <a:r>
              <a:rPr dirty="0" sz="2400" spc="-10" b="1">
                <a:solidFill>
                  <a:srgbClr val="D50092"/>
                </a:solidFill>
                <a:latin typeface="Times New Roman"/>
                <a:cs typeface="Times New Roman"/>
              </a:rPr>
              <a:t>50%</a:t>
            </a:r>
            <a:r>
              <a:rPr dirty="0" sz="2400" spc="-25" b="1">
                <a:solidFill>
                  <a:srgbClr val="D50092"/>
                </a:solidFill>
                <a:latin typeface="宋体"/>
                <a:cs typeface="宋体"/>
              </a:rPr>
              <a:t>是空转周期！</a:t>
            </a:r>
            <a:endParaRPr sz="2400">
              <a:latin typeface="宋体"/>
              <a:cs typeface="宋体"/>
            </a:endParaRPr>
          </a:p>
        </p:txBody>
      </p:sp>
      <p:sp>
        <p:nvSpPr>
          <p:cNvPr id="15" name="object 15" descr=""/>
          <p:cNvSpPr/>
          <p:nvPr/>
        </p:nvSpPr>
        <p:spPr>
          <a:xfrm>
            <a:off x="10504551" y="4940300"/>
            <a:ext cx="484505" cy="69850"/>
          </a:xfrm>
          <a:custGeom>
            <a:avLst/>
            <a:gdLst/>
            <a:ahLst/>
            <a:cxnLst/>
            <a:rect l="l" t="t" r="r" b="b"/>
            <a:pathLst>
              <a:path w="484504" h="69850">
                <a:moveTo>
                  <a:pt x="0" y="0"/>
                </a:moveTo>
                <a:lnTo>
                  <a:pt x="28524" y="11134"/>
                </a:lnTo>
                <a:lnTo>
                  <a:pt x="38118" y="14741"/>
                </a:lnTo>
                <a:lnTo>
                  <a:pt x="37877" y="15843"/>
                </a:lnTo>
                <a:lnTo>
                  <a:pt x="69088" y="54356"/>
                </a:lnTo>
                <a:lnTo>
                  <a:pt x="114575" y="67821"/>
                </a:lnTo>
                <a:lnTo>
                  <a:pt x="122935" y="69850"/>
                </a:lnTo>
                <a:lnTo>
                  <a:pt x="129407" y="54574"/>
                </a:lnTo>
                <a:lnTo>
                  <a:pt x="138699" y="34702"/>
                </a:lnTo>
                <a:lnTo>
                  <a:pt x="151636" y="16879"/>
                </a:lnTo>
                <a:lnTo>
                  <a:pt x="169037" y="7747"/>
                </a:lnTo>
                <a:lnTo>
                  <a:pt x="178708" y="7903"/>
                </a:lnTo>
                <a:lnTo>
                  <a:pt x="188309" y="10048"/>
                </a:lnTo>
                <a:lnTo>
                  <a:pt x="197862" y="12979"/>
                </a:lnTo>
                <a:lnTo>
                  <a:pt x="207391" y="15493"/>
                </a:lnTo>
                <a:lnTo>
                  <a:pt x="216868" y="10876"/>
                </a:lnTo>
                <a:lnTo>
                  <a:pt x="226250" y="5794"/>
                </a:lnTo>
                <a:lnTo>
                  <a:pt x="235823" y="1688"/>
                </a:lnTo>
                <a:lnTo>
                  <a:pt x="245872" y="0"/>
                </a:lnTo>
                <a:lnTo>
                  <a:pt x="254121" y="1581"/>
                </a:lnTo>
                <a:lnTo>
                  <a:pt x="261858" y="5508"/>
                </a:lnTo>
                <a:lnTo>
                  <a:pt x="269285" y="10554"/>
                </a:lnTo>
                <a:lnTo>
                  <a:pt x="276605" y="15493"/>
                </a:lnTo>
                <a:lnTo>
                  <a:pt x="308762" y="36246"/>
                </a:lnTo>
                <a:lnTo>
                  <a:pt x="318595" y="44068"/>
                </a:lnTo>
                <a:lnTo>
                  <a:pt x="324737" y="47319"/>
                </a:lnTo>
                <a:lnTo>
                  <a:pt x="345821" y="54356"/>
                </a:lnTo>
                <a:lnTo>
                  <a:pt x="352837" y="43872"/>
                </a:lnTo>
                <a:lnTo>
                  <a:pt x="359473" y="32877"/>
                </a:lnTo>
                <a:lnTo>
                  <a:pt x="366966" y="22905"/>
                </a:lnTo>
                <a:lnTo>
                  <a:pt x="376554" y="15493"/>
                </a:lnTo>
                <a:lnTo>
                  <a:pt x="383928" y="14186"/>
                </a:lnTo>
                <a:lnTo>
                  <a:pt x="391731" y="16176"/>
                </a:lnTo>
                <a:lnTo>
                  <a:pt x="399629" y="19762"/>
                </a:lnTo>
                <a:lnTo>
                  <a:pt x="407289" y="23241"/>
                </a:lnTo>
                <a:lnTo>
                  <a:pt x="424459" y="31960"/>
                </a:lnTo>
                <a:lnTo>
                  <a:pt x="441213" y="42227"/>
                </a:lnTo>
                <a:lnTo>
                  <a:pt x="458277" y="50780"/>
                </a:lnTo>
                <a:lnTo>
                  <a:pt x="476376" y="54356"/>
                </a:lnTo>
                <a:lnTo>
                  <a:pt x="481730" y="50958"/>
                </a:lnTo>
                <a:lnTo>
                  <a:pt x="483298" y="42703"/>
                </a:lnTo>
                <a:lnTo>
                  <a:pt x="483342" y="32496"/>
                </a:lnTo>
                <a:lnTo>
                  <a:pt x="484124" y="23241"/>
                </a:lnTo>
              </a:path>
            </a:pathLst>
          </a:custGeom>
          <a:ln w="9525">
            <a:solidFill>
              <a:srgbClr val="FF0000"/>
            </a:solidFill>
          </a:ln>
        </p:spPr>
        <p:txBody>
          <a:bodyPr wrap="square" lIns="0" tIns="0" rIns="0" bIns="0" rtlCol="0"/>
          <a:lstStyle/>
          <a:p/>
        </p:txBody>
      </p:sp>
      <p:sp>
        <p:nvSpPr>
          <p:cNvPr id="16" name="object 16" descr=""/>
          <p:cNvSpPr/>
          <p:nvPr/>
        </p:nvSpPr>
        <p:spPr>
          <a:xfrm>
            <a:off x="8688451" y="5661025"/>
            <a:ext cx="2376805" cy="192405"/>
          </a:xfrm>
          <a:custGeom>
            <a:avLst/>
            <a:gdLst/>
            <a:ahLst/>
            <a:cxnLst/>
            <a:rect l="l" t="t" r="r" b="b"/>
            <a:pathLst>
              <a:path w="2376804" h="192404">
                <a:moveTo>
                  <a:pt x="0" y="192087"/>
                </a:moveTo>
                <a:lnTo>
                  <a:pt x="44495" y="182104"/>
                </a:lnTo>
                <a:lnTo>
                  <a:pt x="112175" y="167343"/>
                </a:lnTo>
                <a:lnTo>
                  <a:pt x="155554" y="158248"/>
                </a:lnTo>
                <a:lnTo>
                  <a:pt x="169675" y="155347"/>
                </a:lnTo>
                <a:lnTo>
                  <a:pt x="179573" y="153289"/>
                </a:lnTo>
                <a:lnTo>
                  <a:pt x="185865" y="151884"/>
                </a:lnTo>
                <a:lnTo>
                  <a:pt x="189169" y="150939"/>
                </a:lnTo>
                <a:lnTo>
                  <a:pt x="190103" y="150265"/>
                </a:lnTo>
                <a:lnTo>
                  <a:pt x="189284" y="149670"/>
                </a:lnTo>
                <a:lnTo>
                  <a:pt x="187329" y="148964"/>
                </a:lnTo>
                <a:lnTo>
                  <a:pt x="184855" y="147954"/>
                </a:lnTo>
                <a:lnTo>
                  <a:pt x="182480" y="146450"/>
                </a:lnTo>
                <a:lnTo>
                  <a:pt x="180822" y="144262"/>
                </a:lnTo>
                <a:lnTo>
                  <a:pt x="180498" y="141198"/>
                </a:lnTo>
                <a:lnTo>
                  <a:pt x="182124" y="137066"/>
                </a:lnTo>
                <a:lnTo>
                  <a:pt x="220492" y="106052"/>
                </a:lnTo>
                <a:lnTo>
                  <a:pt x="267435" y="79176"/>
                </a:lnTo>
                <a:lnTo>
                  <a:pt x="339471" y="42684"/>
                </a:lnTo>
                <a:lnTo>
                  <a:pt x="440036" y="23268"/>
                </a:lnTo>
                <a:lnTo>
                  <a:pt x="514002" y="12329"/>
                </a:lnTo>
                <a:lnTo>
                  <a:pt x="575544" y="3772"/>
                </a:lnTo>
                <a:lnTo>
                  <a:pt x="603503" y="0"/>
                </a:lnTo>
                <a:lnTo>
                  <a:pt x="623337" y="25716"/>
                </a:lnTo>
                <a:lnTo>
                  <a:pt x="648716" y="59765"/>
                </a:lnTo>
                <a:lnTo>
                  <a:pt x="680847" y="96718"/>
                </a:lnTo>
                <a:lnTo>
                  <a:pt x="720936" y="131149"/>
                </a:lnTo>
                <a:lnTo>
                  <a:pt x="770191" y="157631"/>
                </a:lnTo>
                <a:lnTo>
                  <a:pt x="829818" y="170738"/>
                </a:lnTo>
                <a:lnTo>
                  <a:pt x="877288" y="170307"/>
                </a:lnTo>
                <a:lnTo>
                  <a:pt x="924401" y="164428"/>
                </a:lnTo>
                <a:lnTo>
                  <a:pt x="971371" y="156370"/>
                </a:lnTo>
                <a:lnTo>
                  <a:pt x="1018413" y="149402"/>
                </a:lnTo>
                <a:lnTo>
                  <a:pt x="1064883" y="162073"/>
                </a:lnTo>
                <a:lnTo>
                  <a:pt x="1110900" y="176079"/>
                </a:lnTo>
                <a:lnTo>
                  <a:pt x="1157823" y="187418"/>
                </a:lnTo>
                <a:lnTo>
                  <a:pt x="1207007" y="192087"/>
                </a:lnTo>
                <a:lnTo>
                  <a:pt x="1247548" y="187720"/>
                </a:lnTo>
                <a:lnTo>
                  <a:pt x="1285494" y="176884"/>
                </a:lnTo>
                <a:lnTo>
                  <a:pt x="1321915" y="162978"/>
                </a:lnTo>
                <a:lnTo>
                  <a:pt x="1357883" y="149402"/>
                </a:lnTo>
                <a:lnTo>
                  <a:pt x="1412648" y="130534"/>
                </a:lnTo>
                <a:lnTo>
                  <a:pt x="1456262" y="114971"/>
                </a:lnTo>
                <a:lnTo>
                  <a:pt x="1515762" y="92323"/>
                </a:lnTo>
                <a:lnTo>
                  <a:pt x="1557161" y="74145"/>
                </a:lnTo>
                <a:lnTo>
                  <a:pt x="1563925" y="70859"/>
                </a:lnTo>
                <a:lnTo>
                  <a:pt x="1569556" y="68360"/>
                </a:lnTo>
                <a:lnTo>
                  <a:pt x="1609379" y="59039"/>
                </a:lnTo>
                <a:lnTo>
                  <a:pt x="1659706" y="49747"/>
                </a:lnTo>
                <a:lnTo>
                  <a:pt x="1697481" y="42684"/>
                </a:lnTo>
                <a:lnTo>
                  <a:pt x="1732147" y="71501"/>
                </a:lnTo>
                <a:lnTo>
                  <a:pt x="1764776" y="101744"/>
                </a:lnTo>
                <a:lnTo>
                  <a:pt x="1801477" y="129136"/>
                </a:lnTo>
                <a:lnTo>
                  <a:pt x="1848357" y="149402"/>
                </a:lnTo>
                <a:lnTo>
                  <a:pt x="1884683" y="153082"/>
                </a:lnTo>
                <a:lnTo>
                  <a:pt x="1923034" y="147596"/>
                </a:lnTo>
                <a:lnTo>
                  <a:pt x="1961765" y="137676"/>
                </a:lnTo>
                <a:lnTo>
                  <a:pt x="1999233" y="128054"/>
                </a:lnTo>
                <a:lnTo>
                  <a:pt x="2047929" y="115407"/>
                </a:lnTo>
                <a:lnTo>
                  <a:pt x="2095414" y="100132"/>
                </a:lnTo>
                <a:lnTo>
                  <a:pt x="2142375" y="83896"/>
                </a:lnTo>
                <a:lnTo>
                  <a:pt x="2189498" y="68367"/>
                </a:lnTo>
                <a:lnTo>
                  <a:pt x="2237470" y="55210"/>
                </a:lnTo>
                <a:lnTo>
                  <a:pt x="2286976" y="46094"/>
                </a:lnTo>
                <a:lnTo>
                  <a:pt x="2338704" y="42684"/>
                </a:lnTo>
                <a:lnTo>
                  <a:pt x="2364690" y="52023"/>
                </a:lnTo>
                <a:lnTo>
                  <a:pt x="2372280" y="74701"/>
                </a:lnTo>
                <a:lnTo>
                  <a:pt x="2372512" y="102713"/>
                </a:lnTo>
                <a:lnTo>
                  <a:pt x="2376424" y="128054"/>
                </a:lnTo>
              </a:path>
            </a:pathLst>
          </a:custGeom>
          <a:ln w="9525">
            <a:solidFill>
              <a:srgbClr val="FF0000"/>
            </a:solidFill>
          </a:ln>
        </p:spPr>
        <p:txBody>
          <a:bodyPr wrap="square" lIns="0" tIns="0" rIns="0" bIns="0" rtlCol="0"/>
          <a:lstStyle/>
          <a:p/>
        </p:txBody>
      </p:sp>
      <p:sp>
        <p:nvSpPr>
          <p:cNvPr id="17" name="object 17" descr=""/>
          <p:cNvSpPr txBox="1"/>
          <p:nvPr/>
        </p:nvSpPr>
        <p:spPr>
          <a:xfrm>
            <a:off x="36512" y="2113026"/>
            <a:ext cx="3489325" cy="2402205"/>
          </a:xfrm>
          <a:prstGeom prst="rect">
            <a:avLst/>
          </a:prstGeom>
          <a:ln w="9525">
            <a:solidFill>
              <a:srgbClr val="00AF50"/>
            </a:solidFill>
          </a:ln>
        </p:spPr>
        <p:txBody>
          <a:bodyPr wrap="square" lIns="0" tIns="134620" rIns="0" bIns="0" rtlCol="0" vert="horz">
            <a:spAutoFit/>
          </a:bodyPr>
          <a:lstStyle/>
          <a:p>
            <a:pPr algn="just" marL="434340" indent="-342900">
              <a:lnSpc>
                <a:spcPct val="100000"/>
              </a:lnSpc>
              <a:spcBef>
                <a:spcPts val="1060"/>
              </a:spcBef>
              <a:buClr>
                <a:srgbClr val="0000CC"/>
              </a:buClr>
              <a:buFont typeface="Wingdings"/>
              <a:buChar char=""/>
              <a:tabLst>
                <a:tab pos="434340" algn="l"/>
              </a:tabLst>
            </a:pPr>
            <a:r>
              <a:rPr dirty="0" sz="2000" spc="-10">
                <a:solidFill>
                  <a:srgbClr val="FF0000"/>
                </a:solidFill>
                <a:latin typeface="黑体"/>
                <a:cs typeface="黑体"/>
              </a:rPr>
              <a:t>分析：没有调度前</a:t>
            </a:r>
            <a:r>
              <a:rPr dirty="0" sz="2000" spc="-25">
                <a:solidFill>
                  <a:srgbClr val="40458B"/>
                </a:solidFill>
                <a:latin typeface="黑体"/>
                <a:cs typeface="黑体"/>
              </a:rPr>
              <a:t>循环次</a:t>
            </a:r>
            <a:endParaRPr sz="2000">
              <a:latin typeface="黑体"/>
              <a:cs typeface="黑体"/>
            </a:endParaRPr>
          </a:p>
          <a:p>
            <a:pPr algn="just" marL="434340" marR="196215">
              <a:lnSpc>
                <a:spcPct val="150000"/>
              </a:lnSpc>
              <a:spcBef>
                <a:spcPts val="5"/>
              </a:spcBef>
            </a:pPr>
            <a:r>
              <a:rPr dirty="0" sz="2000">
                <a:solidFill>
                  <a:srgbClr val="40458B"/>
                </a:solidFill>
                <a:latin typeface="黑体"/>
                <a:cs typeface="黑体"/>
              </a:rPr>
              <a:t>数</a:t>
            </a:r>
            <a:r>
              <a:rPr dirty="0" sz="2000" spc="-10">
                <a:solidFill>
                  <a:srgbClr val="40458B"/>
                </a:solidFill>
                <a:latin typeface="Tahoma"/>
                <a:cs typeface="Tahoma"/>
              </a:rPr>
              <a:t>=1000</a:t>
            </a:r>
            <a:r>
              <a:rPr dirty="0" sz="2000" spc="-20">
                <a:solidFill>
                  <a:srgbClr val="40458B"/>
                </a:solidFill>
                <a:latin typeface="黑体"/>
                <a:cs typeface="黑体"/>
              </a:rPr>
              <a:t>；展开后条件判</a:t>
            </a:r>
            <a:r>
              <a:rPr dirty="0" sz="2000" spc="-5">
                <a:solidFill>
                  <a:srgbClr val="40458B"/>
                </a:solidFill>
                <a:latin typeface="黑体"/>
                <a:cs typeface="黑体"/>
              </a:rPr>
              <a:t>断由原来的</a:t>
            </a:r>
            <a:r>
              <a:rPr dirty="0" sz="2000" spc="-10">
                <a:solidFill>
                  <a:srgbClr val="FF0000"/>
                </a:solidFill>
                <a:latin typeface="Tahoma"/>
                <a:cs typeface="Tahoma"/>
              </a:rPr>
              <a:t>4</a:t>
            </a:r>
            <a:r>
              <a:rPr dirty="0" sz="2000" spc="-10">
                <a:solidFill>
                  <a:srgbClr val="40458B"/>
                </a:solidFill>
                <a:latin typeface="黑体"/>
                <a:cs typeface="黑体"/>
              </a:rPr>
              <a:t>次变为</a:t>
            </a:r>
            <a:r>
              <a:rPr dirty="0" sz="2000" spc="-15">
                <a:solidFill>
                  <a:srgbClr val="FF0000"/>
                </a:solidFill>
                <a:latin typeface="Tahoma"/>
                <a:cs typeface="Tahoma"/>
              </a:rPr>
              <a:t>1</a:t>
            </a:r>
            <a:r>
              <a:rPr dirty="0" sz="2000" spc="-25">
                <a:solidFill>
                  <a:srgbClr val="40458B"/>
                </a:solidFill>
                <a:latin typeface="黑体"/>
                <a:cs typeface="黑体"/>
              </a:rPr>
              <a:t>次，</a:t>
            </a:r>
            <a:r>
              <a:rPr dirty="0" sz="2000">
                <a:solidFill>
                  <a:srgbClr val="40458B"/>
                </a:solidFill>
                <a:latin typeface="黑体"/>
                <a:cs typeface="黑体"/>
              </a:rPr>
              <a:t>共少了</a:t>
            </a:r>
            <a:r>
              <a:rPr dirty="0" sz="2000" spc="-15">
                <a:solidFill>
                  <a:srgbClr val="FF0000"/>
                </a:solidFill>
                <a:latin typeface="Tahoma"/>
                <a:cs typeface="Tahoma"/>
              </a:rPr>
              <a:t>6</a:t>
            </a:r>
            <a:r>
              <a:rPr dirty="0" sz="2000">
                <a:solidFill>
                  <a:srgbClr val="40458B"/>
                </a:solidFill>
                <a:latin typeface="黑体"/>
                <a:cs typeface="黑体"/>
              </a:rPr>
              <a:t>条指令</a:t>
            </a:r>
            <a:r>
              <a:rPr dirty="0" sz="2000" spc="-10">
                <a:solidFill>
                  <a:srgbClr val="40458B"/>
                </a:solidFill>
                <a:latin typeface="黑体"/>
                <a:cs typeface="黑体"/>
              </a:rPr>
              <a:t>（</a:t>
            </a:r>
            <a:r>
              <a:rPr dirty="0" sz="2000" spc="-10">
                <a:solidFill>
                  <a:srgbClr val="40458B"/>
                </a:solidFill>
                <a:latin typeface="Tahoma"/>
                <a:cs typeface="Tahoma"/>
              </a:rPr>
              <a:t>DADDIU</a:t>
            </a:r>
            <a:r>
              <a:rPr dirty="0" sz="2000">
                <a:solidFill>
                  <a:srgbClr val="40458B"/>
                </a:solidFill>
                <a:latin typeface="黑体"/>
                <a:cs typeface="黑体"/>
              </a:rPr>
              <a:t>和</a:t>
            </a:r>
            <a:r>
              <a:rPr dirty="0" sz="2000" spc="-20">
                <a:solidFill>
                  <a:srgbClr val="40458B"/>
                </a:solidFill>
                <a:latin typeface="Tahoma"/>
                <a:cs typeface="Tahoma"/>
              </a:rPr>
              <a:t>BNE</a:t>
            </a:r>
            <a:r>
              <a:rPr dirty="0" sz="2000" spc="-20">
                <a:solidFill>
                  <a:srgbClr val="40458B"/>
                </a:solidFill>
                <a:latin typeface="黑体"/>
                <a:cs typeface="黑体"/>
              </a:rPr>
              <a:t>）</a:t>
            </a:r>
            <a:endParaRPr sz="2000">
              <a:latin typeface="黑体"/>
              <a:cs typeface="黑体"/>
            </a:endParaRPr>
          </a:p>
        </p:txBody>
      </p:sp>
      <p:sp>
        <p:nvSpPr>
          <p:cNvPr id="18" name="object 18"/>
          <p:cNvSpPr txBox="1">
            <a:spLocks noGrp="1"/>
          </p:cNvSpPr>
          <p:nvPr>
            <p:ph type="title"/>
          </p:nvPr>
        </p:nvSpPr>
        <p:spPr>
          <a:xfrm>
            <a:off x="110439" y="232994"/>
            <a:ext cx="2601595" cy="331470"/>
          </a:xfrm>
          <a:prstGeom prst="rect"/>
        </p:spPr>
        <p:txBody>
          <a:bodyPr wrap="square" lIns="0" tIns="13335" rIns="0" bIns="0" rtlCol="0" vert="horz">
            <a:spAutoFit/>
          </a:bodyPr>
          <a:lstStyle/>
          <a:p>
            <a:pPr marL="12700">
              <a:lnSpc>
                <a:spcPct val="100000"/>
              </a:lnSpc>
              <a:spcBef>
                <a:spcPts val="105"/>
              </a:spcBef>
              <a:tabLst>
                <a:tab pos="1567815" algn="l"/>
              </a:tabLst>
            </a:pPr>
            <a:r>
              <a:rPr dirty="0" u="none" sz="2000" spc="-10" b="1">
                <a:solidFill>
                  <a:srgbClr val="40458B"/>
                </a:solidFill>
                <a:latin typeface="Times New Roman"/>
                <a:cs typeface="Times New Roman"/>
              </a:rPr>
              <a:t>Loop</a:t>
            </a:r>
            <a:r>
              <a:rPr dirty="0" u="none" sz="2000" spc="-10" b="1">
                <a:solidFill>
                  <a:srgbClr val="40458B"/>
                </a:solidFill>
                <a:latin typeface="宋体"/>
                <a:cs typeface="宋体"/>
              </a:rPr>
              <a:t>：</a:t>
            </a:r>
            <a:r>
              <a:rPr dirty="0" u="none" sz="2000" spc="-495" b="1">
                <a:solidFill>
                  <a:srgbClr val="40458B"/>
                </a:solidFill>
                <a:latin typeface="宋体"/>
                <a:cs typeface="宋体"/>
              </a:rPr>
              <a:t> </a:t>
            </a:r>
            <a:r>
              <a:rPr dirty="0" u="none" sz="2000" spc="-25" b="1">
                <a:solidFill>
                  <a:srgbClr val="40458B"/>
                </a:solidFill>
                <a:latin typeface="Times New Roman"/>
                <a:cs typeface="Times New Roman"/>
              </a:rPr>
              <a:t>L.D</a:t>
            </a:r>
            <a:r>
              <a:rPr dirty="0" u="none" sz="2000" b="1">
                <a:solidFill>
                  <a:srgbClr val="40458B"/>
                </a:solidFill>
                <a:latin typeface="Times New Roman"/>
                <a:cs typeface="Times New Roman"/>
              </a:rPr>
              <a:t>	F0,</a:t>
            </a:r>
            <a:r>
              <a:rPr dirty="0" u="none" sz="2000" spc="-5" b="1">
                <a:solidFill>
                  <a:srgbClr val="40458B"/>
                </a:solidFill>
                <a:latin typeface="Times New Roman"/>
                <a:cs typeface="Times New Roman"/>
              </a:rPr>
              <a:t> </a:t>
            </a:r>
            <a:r>
              <a:rPr dirty="0" u="none" sz="2000" spc="-20" b="1">
                <a:solidFill>
                  <a:srgbClr val="40458B"/>
                </a:solidFill>
                <a:latin typeface="Times New Roman"/>
                <a:cs typeface="Times New Roman"/>
              </a:rPr>
              <a:t>0(R1)</a:t>
            </a:r>
            <a:endParaRPr sz="2000">
              <a:latin typeface="Times New Roman"/>
              <a:cs typeface="Times New Roman"/>
            </a:endParaRPr>
          </a:p>
        </p:txBody>
      </p:sp>
      <p:sp>
        <p:nvSpPr>
          <p:cNvPr id="19" name="object 19" descr=""/>
          <p:cNvSpPr txBox="1"/>
          <p:nvPr/>
        </p:nvSpPr>
        <p:spPr>
          <a:xfrm>
            <a:off x="872744" y="535305"/>
            <a:ext cx="2388870" cy="1323340"/>
          </a:xfrm>
          <a:prstGeom prst="rect">
            <a:avLst/>
          </a:prstGeom>
        </p:spPr>
        <p:txBody>
          <a:bodyPr wrap="square" lIns="0" tIns="13335" rIns="0" bIns="0" rtlCol="0" vert="horz">
            <a:spAutoFit/>
          </a:bodyPr>
          <a:lstStyle/>
          <a:p>
            <a:pPr marL="60960">
              <a:lnSpc>
                <a:spcPct val="100000"/>
              </a:lnSpc>
              <a:spcBef>
                <a:spcPts val="105"/>
              </a:spcBef>
            </a:pPr>
            <a:r>
              <a:rPr dirty="0" sz="2000" b="1">
                <a:solidFill>
                  <a:srgbClr val="40458B"/>
                </a:solidFill>
                <a:latin typeface="Times New Roman"/>
                <a:cs typeface="Times New Roman"/>
              </a:rPr>
              <a:t>ADD.D</a:t>
            </a:r>
            <a:r>
              <a:rPr dirty="0" sz="2000" spc="-20" b="1">
                <a:solidFill>
                  <a:srgbClr val="40458B"/>
                </a:solidFill>
                <a:latin typeface="Times New Roman"/>
                <a:cs typeface="Times New Roman"/>
              </a:rPr>
              <a:t> </a:t>
            </a:r>
            <a:r>
              <a:rPr dirty="0" sz="2000" b="1">
                <a:solidFill>
                  <a:srgbClr val="40458B"/>
                </a:solidFill>
                <a:latin typeface="Times New Roman"/>
                <a:cs typeface="Times New Roman"/>
              </a:rPr>
              <a:t>F4,</a:t>
            </a:r>
            <a:r>
              <a:rPr dirty="0" sz="2000" spc="-20" b="1">
                <a:solidFill>
                  <a:srgbClr val="40458B"/>
                </a:solidFill>
                <a:latin typeface="Times New Roman"/>
                <a:cs typeface="Times New Roman"/>
              </a:rPr>
              <a:t> </a:t>
            </a:r>
            <a:r>
              <a:rPr dirty="0" sz="2000" b="1">
                <a:solidFill>
                  <a:srgbClr val="40458B"/>
                </a:solidFill>
                <a:latin typeface="Times New Roman"/>
                <a:cs typeface="Times New Roman"/>
              </a:rPr>
              <a:t>F0,</a:t>
            </a:r>
            <a:r>
              <a:rPr dirty="0" sz="2000" spc="-20" b="1">
                <a:solidFill>
                  <a:srgbClr val="40458B"/>
                </a:solidFill>
                <a:latin typeface="Times New Roman"/>
                <a:cs typeface="Times New Roman"/>
              </a:rPr>
              <a:t> </a:t>
            </a:r>
            <a:r>
              <a:rPr dirty="0" sz="2000" spc="-25" b="1">
                <a:solidFill>
                  <a:srgbClr val="40458B"/>
                </a:solidFill>
                <a:latin typeface="Times New Roman"/>
                <a:cs typeface="Times New Roman"/>
              </a:rPr>
              <a:t>F2</a:t>
            </a:r>
            <a:endParaRPr sz="2000">
              <a:latin typeface="Times New Roman"/>
              <a:cs typeface="Times New Roman"/>
            </a:endParaRPr>
          </a:p>
          <a:p>
            <a:pPr marL="76200">
              <a:lnSpc>
                <a:spcPct val="100000"/>
              </a:lnSpc>
              <a:tabLst>
                <a:tab pos="685800" algn="l"/>
              </a:tabLst>
            </a:pPr>
            <a:r>
              <a:rPr dirty="0" sz="2000" spc="-25" b="1">
                <a:solidFill>
                  <a:srgbClr val="40458B"/>
                </a:solidFill>
                <a:latin typeface="Times New Roman"/>
                <a:cs typeface="Times New Roman"/>
              </a:rPr>
              <a:t>S.D</a:t>
            </a:r>
            <a:r>
              <a:rPr dirty="0" sz="2000" b="1">
                <a:solidFill>
                  <a:srgbClr val="40458B"/>
                </a:solidFill>
                <a:latin typeface="Times New Roman"/>
                <a:cs typeface="Times New Roman"/>
              </a:rPr>
              <a:t>	F4,</a:t>
            </a:r>
            <a:r>
              <a:rPr dirty="0" sz="2000" spc="-25" b="1">
                <a:solidFill>
                  <a:srgbClr val="40458B"/>
                </a:solidFill>
                <a:latin typeface="Times New Roman"/>
                <a:cs typeface="Times New Roman"/>
              </a:rPr>
              <a:t> </a:t>
            </a:r>
            <a:r>
              <a:rPr dirty="0" sz="2000" spc="-20" b="1">
                <a:solidFill>
                  <a:srgbClr val="40458B"/>
                </a:solidFill>
                <a:latin typeface="Times New Roman"/>
                <a:cs typeface="Times New Roman"/>
              </a:rPr>
              <a:t>0(R1)</a:t>
            </a:r>
            <a:endParaRPr sz="2000">
              <a:latin typeface="Times New Roman"/>
              <a:cs typeface="Times New Roman"/>
            </a:endParaRPr>
          </a:p>
          <a:p>
            <a:pPr marL="76200">
              <a:lnSpc>
                <a:spcPct val="100000"/>
              </a:lnSpc>
              <a:spcBef>
                <a:spcPts val="320"/>
              </a:spcBef>
            </a:pPr>
            <a:r>
              <a:rPr dirty="0" sz="2000" b="1">
                <a:solidFill>
                  <a:srgbClr val="40458B"/>
                </a:solidFill>
                <a:latin typeface="Times New Roman"/>
                <a:cs typeface="Times New Roman"/>
              </a:rPr>
              <a:t>DADDIU</a:t>
            </a:r>
            <a:r>
              <a:rPr dirty="0" sz="2000" spc="-45" b="1">
                <a:solidFill>
                  <a:srgbClr val="40458B"/>
                </a:solidFill>
                <a:latin typeface="Times New Roman"/>
                <a:cs typeface="Times New Roman"/>
              </a:rPr>
              <a:t> </a:t>
            </a:r>
            <a:r>
              <a:rPr dirty="0" sz="2000" b="1">
                <a:solidFill>
                  <a:srgbClr val="40458B"/>
                </a:solidFill>
                <a:latin typeface="Times New Roman"/>
                <a:cs typeface="Times New Roman"/>
              </a:rPr>
              <a:t>R1,</a:t>
            </a:r>
            <a:r>
              <a:rPr dirty="0" sz="2000" spc="-25" b="1">
                <a:solidFill>
                  <a:srgbClr val="40458B"/>
                </a:solidFill>
                <a:latin typeface="Times New Roman"/>
                <a:cs typeface="Times New Roman"/>
              </a:rPr>
              <a:t> </a:t>
            </a:r>
            <a:r>
              <a:rPr dirty="0" sz="2000" b="1">
                <a:solidFill>
                  <a:srgbClr val="40458B"/>
                </a:solidFill>
                <a:latin typeface="Times New Roman"/>
                <a:cs typeface="Times New Roman"/>
              </a:rPr>
              <a:t>R1,</a:t>
            </a:r>
            <a:r>
              <a:rPr dirty="0" sz="2000" spc="-35" b="1">
                <a:solidFill>
                  <a:srgbClr val="40458B"/>
                </a:solidFill>
                <a:latin typeface="Times New Roman"/>
                <a:cs typeface="Times New Roman"/>
              </a:rPr>
              <a:t> </a:t>
            </a:r>
            <a:r>
              <a:rPr dirty="0" sz="2000" b="1">
                <a:solidFill>
                  <a:srgbClr val="40458B"/>
                </a:solidFill>
                <a:latin typeface="Times New Roman"/>
                <a:cs typeface="Times New Roman"/>
              </a:rPr>
              <a:t>#-</a:t>
            </a:r>
            <a:r>
              <a:rPr dirty="0" sz="2000" spc="-50" b="1">
                <a:solidFill>
                  <a:srgbClr val="40458B"/>
                </a:solidFill>
                <a:latin typeface="Times New Roman"/>
                <a:cs typeface="Times New Roman"/>
              </a:rPr>
              <a:t>8</a:t>
            </a:r>
            <a:endParaRPr sz="2000">
              <a:latin typeface="Times New Roman"/>
              <a:cs typeface="Times New Roman"/>
            </a:endParaRPr>
          </a:p>
          <a:p>
            <a:pPr marL="12700">
              <a:lnSpc>
                <a:spcPct val="100000"/>
              </a:lnSpc>
              <a:spcBef>
                <a:spcPts val="290"/>
              </a:spcBef>
            </a:pPr>
            <a:r>
              <a:rPr dirty="0" sz="2000" b="1">
                <a:solidFill>
                  <a:srgbClr val="40458B"/>
                </a:solidFill>
                <a:latin typeface="Times New Roman"/>
                <a:cs typeface="Times New Roman"/>
              </a:rPr>
              <a:t>BNE</a:t>
            </a:r>
            <a:r>
              <a:rPr dirty="0" sz="2000" spc="165" b="1">
                <a:solidFill>
                  <a:srgbClr val="40458B"/>
                </a:solidFill>
                <a:latin typeface="Times New Roman"/>
                <a:cs typeface="Times New Roman"/>
              </a:rPr>
              <a:t> </a:t>
            </a:r>
            <a:r>
              <a:rPr dirty="0" sz="2000" b="1">
                <a:solidFill>
                  <a:srgbClr val="40458B"/>
                </a:solidFill>
                <a:latin typeface="Times New Roman"/>
                <a:cs typeface="Times New Roman"/>
              </a:rPr>
              <a:t>R1,</a:t>
            </a:r>
            <a:r>
              <a:rPr dirty="0" sz="2000" spc="-25" b="1">
                <a:solidFill>
                  <a:srgbClr val="40458B"/>
                </a:solidFill>
                <a:latin typeface="Times New Roman"/>
                <a:cs typeface="Times New Roman"/>
              </a:rPr>
              <a:t> </a:t>
            </a:r>
            <a:r>
              <a:rPr dirty="0" sz="2000" b="1">
                <a:solidFill>
                  <a:srgbClr val="40458B"/>
                </a:solidFill>
                <a:latin typeface="Times New Roman"/>
                <a:cs typeface="Times New Roman"/>
              </a:rPr>
              <a:t>R2,</a:t>
            </a:r>
            <a:r>
              <a:rPr dirty="0" sz="2000" spc="-20" b="1">
                <a:solidFill>
                  <a:srgbClr val="40458B"/>
                </a:solidFill>
                <a:latin typeface="Times New Roman"/>
                <a:cs typeface="Times New Roman"/>
              </a:rPr>
              <a:t> Loop</a:t>
            </a:r>
            <a:endParaRPr sz="2000">
              <a:latin typeface="Times New Roman"/>
              <a:cs typeface="Times New Roman"/>
            </a:endParaRPr>
          </a:p>
        </p:txBody>
      </p:sp>
      <p:sp>
        <p:nvSpPr>
          <p:cNvPr id="20" name="object 20" descr=""/>
          <p:cNvSpPr/>
          <p:nvPr/>
        </p:nvSpPr>
        <p:spPr>
          <a:xfrm>
            <a:off x="98425" y="223900"/>
            <a:ext cx="3359150" cy="1784350"/>
          </a:xfrm>
          <a:custGeom>
            <a:avLst/>
            <a:gdLst/>
            <a:ahLst/>
            <a:cxnLst/>
            <a:rect l="l" t="t" r="r" b="b"/>
            <a:pathLst>
              <a:path w="3359150" h="1784350">
                <a:moveTo>
                  <a:pt x="0" y="1784350"/>
                </a:moveTo>
                <a:lnTo>
                  <a:pt x="3359150" y="1784350"/>
                </a:lnTo>
                <a:lnTo>
                  <a:pt x="3359150" y="0"/>
                </a:lnTo>
                <a:lnTo>
                  <a:pt x="0" y="0"/>
                </a:lnTo>
                <a:lnTo>
                  <a:pt x="0" y="1784350"/>
                </a:lnTo>
                <a:close/>
              </a:path>
            </a:pathLst>
          </a:custGeom>
          <a:ln w="9525">
            <a:solidFill>
              <a:srgbClr val="FF0000"/>
            </a:solidFill>
          </a:ln>
        </p:spPr>
        <p:txBody>
          <a:bodyPr wrap="square" lIns="0" tIns="0" rIns="0" bIns="0" rtlCol="0"/>
          <a:lstStyle/>
          <a:p/>
        </p:txBody>
      </p:sp>
      <p:grpSp>
        <p:nvGrpSpPr>
          <p:cNvPr id="21" name="object 21" descr=""/>
          <p:cNvGrpSpPr/>
          <p:nvPr/>
        </p:nvGrpSpPr>
        <p:grpSpPr>
          <a:xfrm>
            <a:off x="195262" y="5000561"/>
            <a:ext cx="3834129" cy="1630680"/>
            <a:chOff x="195262" y="5000561"/>
            <a:chExt cx="3834129" cy="1630680"/>
          </a:xfrm>
        </p:grpSpPr>
        <p:pic>
          <p:nvPicPr>
            <p:cNvPr id="22" name="object 22" descr=""/>
            <p:cNvPicPr/>
            <p:nvPr/>
          </p:nvPicPr>
          <p:blipFill>
            <a:blip r:embed="rId2" cstate="print"/>
            <a:stretch>
              <a:fillRect/>
            </a:stretch>
          </p:blipFill>
          <p:spPr>
            <a:xfrm>
              <a:off x="243713" y="5025781"/>
              <a:ext cx="3767988" cy="1556762"/>
            </a:xfrm>
            <a:prstGeom prst="rect">
              <a:avLst/>
            </a:prstGeom>
          </p:spPr>
        </p:pic>
        <p:sp>
          <p:nvSpPr>
            <p:cNvPr id="23" name="object 23" descr=""/>
            <p:cNvSpPr/>
            <p:nvPr/>
          </p:nvSpPr>
          <p:spPr>
            <a:xfrm>
              <a:off x="200025" y="5005323"/>
              <a:ext cx="3824604" cy="1621155"/>
            </a:xfrm>
            <a:custGeom>
              <a:avLst/>
              <a:gdLst/>
              <a:ahLst/>
              <a:cxnLst/>
              <a:rect l="l" t="t" r="r" b="b"/>
              <a:pathLst>
                <a:path w="3824604" h="1621154">
                  <a:moveTo>
                    <a:pt x="0" y="1620901"/>
                  </a:moveTo>
                  <a:lnTo>
                    <a:pt x="3824224" y="1620901"/>
                  </a:lnTo>
                  <a:lnTo>
                    <a:pt x="3824224" y="0"/>
                  </a:lnTo>
                  <a:lnTo>
                    <a:pt x="0" y="0"/>
                  </a:lnTo>
                  <a:lnTo>
                    <a:pt x="0" y="1620901"/>
                  </a:lnTo>
                  <a:close/>
                </a:path>
              </a:pathLst>
            </a:custGeom>
            <a:ln w="9525">
              <a:solidFill>
                <a:srgbClr val="FF0000"/>
              </a:solidFill>
            </a:ln>
          </p:spPr>
          <p:txBody>
            <a:bodyPr wrap="square" lIns="0" tIns="0" rIns="0" bIns="0" rtlCol="0"/>
            <a:lstStyle/>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19/89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549275">
              <a:lnSpc>
                <a:spcPct val="100000"/>
              </a:lnSpc>
              <a:spcBef>
                <a:spcPts val="100"/>
              </a:spcBef>
            </a:pPr>
            <a:r>
              <a:rPr dirty="0" u="none" sz="2400" spc="-25" b="1">
                <a:solidFill>
                  <a:srgbClr val="0000CC"/>
                </a:solidFill>
                <a:latin typeface="宋体"/>
                <a:cs typeface="宋体"/>
              </a:rPr>
              <a:t>展开后没有调度的代码如下</a:t>
            </a:r>
            <a:r>
              <a:rPr dirty="0" u="none" sz="2400" spc="-10" b="1">
                <a:solidFill>
                  <a:srgbClr val="0000CC"/>
                </a:solidFill>
                <a:latin typeface="Times New Roman"/>
                <a:cs typeface="Times New Roman"/>
              </a:rPr>
              <a:t>(</a:t>
            </a:r>
            <a:r>
              <a:rPr dirty="0" u="none" sz="2400" spc="-20" b="1">
                <a:solidFill>
                  <a:srgbClr val="0000CC"/>
                </a:solidFill>
                <a:latin typeface="宋体"/>
                <a:cs typeface="宋体"/>
              </a:rPr>
              <a:t>优化，需要分配寄存器</a:t>
            </a:r>
            <a:r>
              <a:rPr dirty="0" u="none" sz="2400" spc="-50" b="1">
                <a:solidFill>
                  <a:srgbClr val="0000CC"/>
                </a:solidFill>
                <a:latin typeface="Times New Roman"/>
                <a:cs typeface="Times New Roman"/>
              </a:rPr>
              <a:t>)</a:t>
            </a:r>
            <a:endParaRPr sz="2400">
              <a:latin typeface="Times New Roman"/>
              <a:cs typeface="Times New Roman"/>
            </a:endParaRPr>
          </a:p>
        </p:txBody>
      </p:sp>
      <p:sp>
        <p:nvSpPr>
          <p:cNvPr id="10" name="object 10" descr=""/>
          <p:cNvSpPr txBox="1"/>
          <p:nvPr/>
        </p:nvSpPr>
        <p:spPr>
          <a:xfrm>
            <a:off x="6456679" y="1120521"/>
            <a:ext cx="1406525" cy="1836420"/>
          </a:xfrm>
          <a:prstGeom prst="rect">
            <a:avLst/>
          </a:prstGeom>
        </p:spPr>
        <p:txBody>
          <a:bodyPr wrap="square" lIns="0" tIns="40005" rIns="0" bIns="0" rtlCol="0" vert="horz">
            <a:spAutoFit/>
          </a:bodyPr>
          <a:lstStyle/>
          <a:p>
            <a:pPr marL="12700">
              <a:lnSpc>
                <a:spcPct val="100000"/>
              </a:lnSpc>
              <a:spcBef>
                <a:spcPts val="315"/>
              </a:spcBef>
            </a:pPr>
            <a:r>
              <a:rPr dirty="0" sz="1800" spc="-20" b="1">
                <a:solidFill>
                  <a:srgbClr val="006600"/>
                </a:solidFill>
                <a:latin typeface="宋体"/>
                <a:cs typeface="宋体"/>
              </a:rPr>
              <a:t>指令流出时钟</a:t>
            </a:r>
            <a:endParaRPr sz="1800">
              <a:latin typeface="宋体"/>
              <a:cs typeface="宋体"/>
            </a:endParaRPr>
          </a:p>
          <a:p>
            <a:pPr algn="ctr" marL="333375">
              <a:lnSpc>
                <a:spcPct val="100000"/>
              </a:lnSpc>
              <a:spcBef>
                <a:spcPts val="215"/>
              </a:spcBef>
            </a:pPr>
            <a:r>
              <a:rPr dirty="0" sz="1800" spc="-50" b="1">
                <a:solidFill>
                  <a:srgbClr val="40458B"/>
                </a:solidFill>
                <a:latin typeface="Times New Roman"/>
                <a:cs typeface="Times New Roman"/>
              </a:rPr>
              <a:t>1</a:t>
            </a:r>
            <a:endParaRPr sz="1800">
              <a:latin typeface="Times New Roman"/>
              <a:cs typeface="Times New Roman"/>
            </a:endParaRPr>
          </a:p>
          <a:p>
            <a:pPr algn="ctr" marL="333375">
              <a:lnSpc>
                <a:spcPct val="100000"/>
              </a:lnSpc>
              <a:spcBef>
                <a:spcPts val="215"/>
              </a:spcBef>
            </a:pPr>
            <a:r>
              <a:rPr dirty="0" sz="1800" spc="-50" b="1">
                <a:solidFill>
                  <a:srgbClr val="CC0000"/>
                </a:solidFill>
                <a:latin typeface="Times New Roman"/>
                <a:cs typeface="Times New Roman"/>
              </a:rPr>
              <a:t>2</a:t>
            </a:r>
            <a:endParaRPr sz="1800">
              <a:latin typeface="Times New Roman"/>
              <a:cs typeface="Times New Roman"/>
            </a:endParaRPr>
          </a:p>
          <a:p>
            <a:pPr algn="ctr" marL="333375">
              <a:lnSpc>
                <a:spcPct val="100000"/>
              </a:lnSpc>
              <a:spcBef>
                <a:spcPts val="215"/>
              </a:spcBef>
            </a:pPr>
            <a:r>
              <a:rPr dirty="0" sz="1800" spc="-50" b="1">
                <a:solidFill>
                  <a:srgbClr val="40458B"/>
                </a:solidFill>
                <a:latin typeface="Times New Roman"/>
                <a:cs typeface="Times New Roman"/>
              </a:rPr>
              <a:t>3</a:t>
            </a:r>
            <a:endParaRPr sz="1800">
              <a:latin typeface="Times New Roman"/>
              <a:cs typeface="Times New Roman"/>
            </a:endParaRPr>
          </a:p>
          <a:p>
            <a:pPr algn="ctr" marL="333375">
              <a:lnSpc>
                <a:spcPct val="100000"/>
              </a:lnSpc>
              <a:spcBef>
                <a:spcPts val="219"/>
              </a:spcBef>
            </a:pPr>
            <a:r>
              <a:rPr dirty="0" sz="1800" spc="-50" b="1">
                <a:solidFill>
                  <a:srgbClr val="CC0000"/>
                </a:solidFill>
                <a:latin typeface="Times New Roman"/>
                <a:cs typeface="Times New Roman"/>
              </a:rPr>
              <a:t>4</a:t>
            </a:r>
            <a:endParaRPr sz="1800">
              <a:latin typeface="Times New Roman"/>
              <a:cs typeface="Times New Roman"/>
            </a:endParaRPr>
          </a:p>
          <a:p>
            <a:pPr algn="ctr" marL="333375">
              <a:lnSpc>
                <a:spcPct val="100000"/>
              </a:lnSpc>
              <a:spcBef>
                <a:spcPts val="215"/>
              </a:spcBef>
            </a:pPr>
            <a:r>
              <a:rPr dirty="0" sz="1800" spc="-50" b="1">
                <a:solidFill>
                  <a:srgbClr val="CC0000"/>
                </a:solidFill>
                <a:latin typeface="Times New Roman"/>
                <a:cs typeface="Times New Roman"/>
              </a:rPr>
              <a:t>5</a:t>
            </a:r>
            <a:endParaRPr sz="1800">
              <a:latin typeface="Times New Roman"/>
              <a:cs typeface="Times New Roman"/>
            </a:endParaRPr>
          </a:p>
        </p:txBody>
      </p:sp>
      <p:sp>
        <p:nvSpPr>
          <p:cNvPr id="11" name="object 11" descr=""/>
          <p:cNvSpPr txBox="1"/>
          <p:nvPr/>
        </p:nvSpPr>
        <p:spPr>
          <a:xfrm>
            <a:off x="3598545" y="1449704"/>
            <a:ext cx="1315720" cy="299720"/>
          </a:xfrm>
          <a:prstGeom prst="rect">
            <a:avLst/>
          </a:prstGeom>
        </p:spPr>
        <p:txBody>
          <a:bodyPr wrap="square" lIns="0" tIns="12700" rIns="0" bIns="0" rtlCol="0" vert="horz">
            <a:spAutoFit/>
          </a:bodyPr>
          <a:lstStyle/>
          <a:p>
            <a:pPr marL="12700">
              <a:lnSpc>
                <a:spcPct val="100000"/>
              </a:lnSpc>
              <a:spcBef>
                <a:spcPts val="100"/>
              </a:spcBef>
              <a:tabLst>
                <a:tab pos="927100" algn="l"/>
              </a:tabLst>
            </a:pPr>
            <a:r>
              <a:rPr dirty="0" sz="1800" spc="-10" b="1">
                <a:solidFill>
                  <a:srgbClr val="40458B"/>
                </a:solidFill>
                <a:latin typeface="Times New Roman"/>
                <a:cs typeface="Times New Roman"/>
              </a:rPr>
              <a:t>Loop:</a:t>
            </a:r>
            <a:r>
              <a:rPr dirty="0" sz="1800" b="1">
                <a:solidFill>
                  <a:srgbClr val="40458B"/>
                </a:solidFill>
                <a:latin typeface="Times New Roman"/>
                <a:cs typeface="Times New Roman"/>
              </a:rPr>
              <a:t>	</a:t>
            </a:r>
            <a:r>
              <a:rPr dirty="0" sz="1800" spc="-25" b="1">
                <a:solidFill>
                  <a:srgbClr val="40458B"/>
                </a:solidFill>
                <a:latin typeface="Times New Roman"/>
                <a:cs typeface="Times New Roman"/>
              </a:rPr>
              <a:t>L.D</a:t>
            </a:r>
            <a:endParaRPr sz="1800">
              <a:latin typeface="Times New Roman"/>
              <a:cs typeface="Times New Roman"/>
            </a:endParaRPr>
          </a:p>
        </p:txBody>
      </p:sp>
      <p:sp>
        <p:nvSpPr>
          <p:cNvPr id="12" name="object 12" descr=""/>
          <p:cNvSpPr txBox="1"/>
          <p:nvPr/>
        </p:nvSpPr>
        <p:spPr>
          <a:xfrm>
            <a:off x="5427726" y="1449704"/>
            <a:ext cx="940435" cy="299720"/>
          </a:xfrm>
          <a:prstGeom prst="rect">
            <a:avLst/>
          </a:prstGeom>
        </p:spPr>
        <p:txBody>
          <a:bodyPr wrap="square" lIns="0" tIns="12700" rIns="0" bIns="0" rtlCol="0" vert="horz">
            <a:spAutoFit/>
          </a:bodyPr>
          <a:lstStyle/>
          <a:p>
            <a:pPr marL="12700">
              <a:lnSpc>
                <a:spcPct val="100000"/>
              </a:lnSpc>
              <a:spcBef>
                <a:spcPts val="100"/>
              </a:spcBef>
            </a:pPr>
            <a:r>
              <a:rPr dirty="0" sz="1800" b="1">
                <a:solidFill>
                  <a:srgbClr val="40458B"/>
                </a:solidFill>
                <a:latin typeface="Times New Roman"/>
                <a:cs typeface="Times New Roman"/>
              </a:rPr>
              <a:t>F0,</a:t>
            </a:r>
            <a:r>
              <a:rPr dirty="0" sz="1800" spc="-25" b="1">
                <a:solidFill>
                  <a:srgbClr val="40458B"/>
                </a:solidFill>
                <a:latin typeface="Times New Roman"/>
                <a:cs typeface="Times New Roman"/>
              </a:rPr>
              <a:t> </a:t>
            </a:r>
            <a:r>
              <a:rPr dirty="0" sz="1800" spc="-10" b="1">
                <a:solidFill>
                  <a:srgbClr val="40458B"/>
                </a:solidFill>
                <a:latin typeface="Times New Roman"/>
                <a:cs typeface="Times New Roman"/>
              </a:rPr>
              <a:t>0(R1)</a:t>
            </a:r>
            <a:endParaRPr sz="1800">
              <a:latin typeface="Times New Roman"/>
              <a:cs typeface="Times New Roman"/>
            </a:endParaRPr>
          </a:p>
        </p:txBody>
      </p:sp>
      <p:sp>
        <p:nvSpPr>
          <p:cNvPr id="13" name="object 13" descr=""/>
          <p:cNvSpPr txBox="1"/>
          <p:nvPr/>
        </p:nvSpPr>
        <p:spPr>
          <a:xfrm>
            <a:off x="4513326" y="1751457"/>
            <a:ext cx="946150" cy="299720"/>
          </a:xfrm>
          <a:prstGeom prst="rect">
            <a:avLst/>
          </a:prstGeom>
        </p:spPr>
        <p:txBody>
          <a:bodyPr wrap="square" lIns="0" tIns="12700" rIns="0" bIns="0" rtlCol="0" vert="horz">
            <a:spAutoFit/>
          </a:bodyPr>
          <a:lstStyle/>
          <a:p>
            <a:pPr marL="12700">
              <a:lnSpc>
                <a:spcPct val="100000"/>
              </a:lnSpc>
              <a:spcBef>
                <a:spcPts val="100"/>
              </a:spcBef>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p:txBody>
      </p:sp>
      <p:sp>
        <p:nvSpPr>
          <p:cNvPr id="14" name="object 14" descr=""/>
          <p:cNvSpPr txBox="1"/>
          <p:nvPr/>
        </p:nvSpPr>
        <p:spPr>
          <a:xfrm>
            <a:off x="4513326" y="2053209"/>
            <a:ext cx="742315" cy="299720"/>
          </a:xfrm>
          <a:prstGeom prst="rect">
            <a:avLst/>
          </a:prstGeom>
        </p:spPr>
        <p:txBody>
          <a:bodyPr wrap="square" lIns="0" tIns="12700" rIns="0" bIns="0" rtlCol="0" vert="horz">
            <a:spAutoFit/>
          </a:bodyPr>
          <a:lstStyle/>
          <a:p>
            <a:pPr marL="12700">
              <a:lnSpc>
                <a:spcPct val="100000"/>
              </a:lnSpc>
              <a:spcBef>
                <a:spcPts val="100"/>
              </a:spcBef>
            </a:pPr>
            <a:r>
              <a:rPr dirty="0" sz="1800" spc="-10" b="1">
                <a:solidFill>
                  <a:srgbClr val="40458B"/>
                </a:solidFill>
                <a:latin typeface="Times New Roman"/>
                <a:cs typeface="Times New Roman"/>
              </a:rPr>
              <a:t>ADD.D</a:t>
            </a:r>
            <a:endParaRPr sz="1800">
              <a:latin typeface="Times New Roman"/>
              <a:cs typeface="Times New Roman"/>
            </a:endParaRPr>
          </a:p>
        </p:txBody>
      </p:sp>
      <p:sp>
        <p:nvSpPr>
          <p:cNvPr id="15" name="object 15" descr=""/>
          <p:cNvSpPr txBox="1"/>
          <p:nvPr/>
        </p:nvSpPr>
        <p:spPr>
          <a:xfrm>
            <a:off x="5427726" y="2053209"/>
            <a:ext cx="1015365" cy="299720"/>
          </a:xfrm>
          <a:prstGeom prst="rect">
            <a:avLst/>
          </a:prstGeom>
        </p:spPr>
        <p:txBody>
          <a:bodyPr wrap="square" lIns="0" tIns="12700" rIns="0" bIns="0" rtlCol="0" vert="horz">
            <a:spAutoFit/>
          </a:bodyPr>
          <a:lstStyle/>
          <a:p>
            <a:pPr marL="12700">
              <a:lnSpc>
                <a:spcPct val="100000"/>
              </a:lnSpc>
              <a:spcBef>
                <a:spcPts val="100"/>
              </a:spcBef>
            </a:pPr>
            <a:r>
              <a:rPr dirty="0" sz="1800" b="1">
                <a:solidFill>
                  <a:srgbClr val="40458B"/>
                </a:solidFill>
                <a:latin typeface="Times New Roman"/>
                <a:cs typeface="Times New Roman"/>
              </a:rPr>
              <a:t>F4,</a:t>
            </a:r>
            <a:r>
              <a:rPr dirty="0" sz="1800" spc="-25" b="1">
                <a:solidFill>
                  <a:srgbClr val="40458B"/>
                </a:solidFill>
                <a:latin typeface="Times New Roman"/>
                <a:cs typeface="Times New Roman"/>
              </a:rPr>
              <a:t> </a:t>
            </a:r>
            <a:r>
              <a:rPr dirty="0" sz="1800" b="1">
                <a:solidFill>
                  <a:srgbClr val="40458B"/>
                </a:solidFill>
                <a:latin typeface="Times New Roman"/>
                <a:cs typeface="Times New Roman"/>
              </a:rPr>
              <a:t>F0,</a:t>
            </a:r>
            <a:r>
              <a:rPr dirty="0" sz="1800" spc="-35" b="1">
                <a:solidFill>
                  <a:srgbClr val="40458B"/>
                </a:solidFill>
                <a:latin typeface="Times New Roman"/>
                <a:cs typeface="Times New Roman"/>
              </a:rPr>
              <a:t> </a:t>
            </a:r>
            <a:r>
              <a:rPr dirty="0" sz="1800" spc="-25" b="1">
                <a:solidFill>
                  <a:srgbClr val="40458B"/>
                </a:solidFill>
                <a:latin typeface="Times New Roman"/>
                <a:cs typeface="Times New Roman"/>
              </a:rPr>
              <a:t>F2</a:t>
            </a:r>
            <a:endParaRPr sz="1800">
              <a:latin typeface="Times New Roman"/>
              <a:cs typeface="Times New Roman"/>
            </a:endParaRPr>
          </a:p>
        </p:txBody>
      </p:sp>
      <p:sp>
        <p:nvSpPr>
          <p:cNvPr id="16" name="object 16" descr=""/>
          <p:cNvSpPr txBox="1"/>
          <p:nvPr/>
        </p:nvSpPr>
        <p:spPr>
          <a:xfrm>
            <a:off x="4513326" y="2326866"/>
            <a:ext cx="946150" cy="630555"/>
          </a:xfrm>
          <a:prstGeom prst="rect">
            <a:avLst/>
          </a:prstGeom>
        </p:spPr>
        <p:txBody>
          <a:bodyPr wrap="square" lIns="0" tIns="40640" rIns="0" bIns="0" rtlCol="0" vert="horz">
            <a:spAutoFit/>
          </a:bodyPr>
          <a:lstStyle/>
          <a:p>
            <a:pPr marL="12700">
              <a:lnSpc>
                <a:spcPct val="100000"/>
              </a:lnSpc>
              <a:spcBef>
                <a:spcPts val="320"/>
              </a:spcBef>
            </a:pPr>
            <a:r>
              <a:rPr dirty="0" sz="1800" spc="-20" b="1">
                <a:solidFill>
                  <a:srgbClr val="CC0000"/>
                </a:solidFill>
                <a:latin typeface="宋体"/>
                <a:cs typeface="宋体"/>
              </a:rPr>
              <a:t>（空转</a:t>
            </a:r>
            <a:r>
              <a:rPr dirty="0" sz="1800" spc="-50" b="1">
                <a:solidFill>
                  <a:srgbClr val="CC0000"/>
                </a:solidFill>
                <a:latin typeface="宋体"/>
                <a:cs typeface="宋体"/>
              </a:rPr>
              <a:t>）</a:t>
            </a:r>
            <a:endParaRPr sz="1800">
              <a:latin typeface="宋体"/>
              <a:cs typeface="宋体"/>
            </a:endParaRPr>
          </a:p>
          <a:p>
            <a:pPr marL="12700">
              <a:lnSpc>
                <a:spcPct val="100000"/>
              </a:lnSpc>
              <a:spcBef>
                <a:spcPts val="220"/>
              </a:spcBef>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p:txBody>
      </p:sp>
      <p:graphicFrame>
        <p:nvGraphicFramePr>
          <p:cNvPr id="17" name="object 17" descr=""/>
          <p:cNvGraphicFramePr>
            <a:graphicFrameLocks noGrp="1"/>
          </p:cNvGraphicFramePr>
          <p:nvPr/>
        </p:nvGraphicFramePr>
        <p:xfrm>
          <a:off x="4192651" y="2996437"/>
          <a:ext cx="3413760" cy="2664460"/>
        </p:xfrm>
        <a:graphic>
          <a:graphicData uri="http://schemas.openxmlformats.org/drawingml/2006/table">
            <a:tbl>
              <a:tblPr firstRow="1" bandRow="1">
                <a:tableStyleId>{2D5ABB26-0587-4C30-8999-92F81FD0307C}</a:tableStyleId>
              </a:tblPr>
              <a:tblGrid>
                <a:gridCol w="2850515"/>
                <a:gridCol w="487045"/>
              </a:tblGrid>
              <a:tr h="276860">
                <a:tc>
                  <a:txBody>
                    <a:bodyPr/>
                    <a:lstStyle/>
                    <a:p>
                      <a:pPr marL="31750">
                        <a:lnSpc>
                          <a:spcPts val="1964"/>
                        </a:lnSpc>
                        <a:tabLst>
                          <a:tab pos="332740" algn="l"/>
                          <a:tab pos="1247140" algn="l"/>
                          <a:tab pos="2550795" algn="l"/>
                        </a:tabLst>
                      </a:pPr>
                      <a:r>
                        <a:rPr dirty="0" u="sng" sz="1800" b="1">
                          <a:solidFill>
                            <a:srgbClr val="40458B"/>
                          </a:solidFill>
                          <a:uFill>
                            <a:solidFill>
                              <a:srgbClr val="FF09FF"/>
                            </a:solidFill>
                          </a:uFill>
                          <a:latin typeface="Times New Roman"/>
                          <a:cs typeface="Times New Roman"/>
                        </a:rPr>
                        <a:t>	</a:t>
                      </a:r>
                      <a:r>
                        <a:rPr dirty="0" u="sng" sz="1800" spc="-25" b="1">
                          <a:solidFill>
                            <a:srgbClr val="40458B"/>
                          </a:solidFill>
                          <a:uFill>
                            <a:solidFill>
                              <a:srgbClr val="FF09FF"/>
                            </a:solidFill>
                          </a:uFill>
                          <a:latin typeface="Times New Roman"/>
                          <a:cs typeface="Times New Roman"/>
                        </a:rPr>
                        <a:t>S.D</a:t>
                      </a:r>
                      <a:r>
                        <a:rPr dirty="0" u="sng" sz="1800" b="1">
                          <a:solidFill>
                            <a:srgbClr val="40458B"/>
                          </a:solidFill>
                          <a:uFill>
                            <a:solidFill>
                              <a:srgbClr val="FF09FF"/>
                            </a:solidFill>
                          </a:uFill>
                          <a:latin typeface="Times New Roman"/>
                          <a:cs typeface="Times New Roman"/>
                        </a:rPr>
                        <a:t>	F4,</a:t>
                      </a:r>
                      <a:r>
                        <a:rPr dirty="0" u="sng" sz="1800" spc="-20" b="1">
                          <a:solidFill>
                            <a:srgbClr val="40458B"/>
                          </a:solidFill>
                          <a:uFill>
                            <a:solidFill>
                              <a:srgbClr val="FF09FF"/>
                            </a:solidFill>
                          </a:uFill>
                          <a:latin typeface="Times New Roman"/>
                          <a:cs typeface="Times New Roman"/>
                        </a:rPr>
                        <a:t> </a:t>
                      </a:r>
                      <a:r>
                        <a:rPr dirty="0" u="sng" sz="1800" spc="-10" b="1">
                          <a:solidFill>
                            <a:srgbClr val="40458B"/>
                          </a:solidFill>
                          <a:uFill>
                            <a:solidFill>
                              <a:srgbClr val="FF09FF"/>
                            </a:solidFill>
                          </a:uFill>
                          <a:latin typeface="Times New Roman"/>
                          <a:cs typeface="Times New Roman"/>
                        </a:rPr>
                        <a:t>0(R1)</a:t>
                      </a:r>
                      <a:r>
                        <a:rPr dirty="0" u="sng" sz="1800" b="1">
                          <a:solidFill>
                            <a:srgbClr val="40458B"/>
                          </a:solidFill>
                          <a:uFill>
                            <a:solidFill>
                              <a:srgbClr val="FF09FF"/>
                            </a:solidFill>
                          </a:uFill>
                          <a:latin typeface="Times New Roman"/>
                          <a:cs typeface="Times New Roman"/>
                        </a:rPr>
                        <a:t>	</a:t>
                      </a:r>
                      <a:endParaRPr sz="1800">
                        <a:latin typeface="Times New Roman"/>
                        <a:cs typeface="Times New Roman"/>
                      </a:endParaRPr>
                    </a:p>
                  </a:txBody>
                  <a:tcPr marL="0" marR="0" marB="0" marT="0"/>
                </a:tc>
                <a:tc>
                  <a:txBody>
                    <a:bodyPr/>
                    <a:lstStyle/>
                    <a:p>
                      <a:pPr marL="226060">
                        <a:lnSpc>
                          <a:spcPts val="1964"/>
                        </a:lnSpc>
                      </a:pPr>
                      <a:r>
                        <a:rPr dirty="0" sz="1800" spc="-50" b="1">
                          <a:solidFill>
                            <a:srgbClr val="40458B"/>
                          </a:solidFill>
                          <a:latin typeface="Times New Roman"/>
                          <a:cs typeface="Times New Roman"/>
                        </a:rPr>
                        <a:t>6</a:t>
                      </a:r>
                      <a:endParaRPr sz="1800">
                        <a:latin typeface="Times New Roman"/>
                        <a:cs typeface="Times New Roman"/>
                      </a:endParaRPr>
                    </a:p>
                  </a:txBody>
                  <a:tcPr marL="0" marR="0" marB="0" marT="0"/>
                </a:tc>
              </a:tr>
              <a:tr h="300990">
                <a:tc>
                  <a:txBody>
                    <a:bodyPr/>
                    <a:lstStyle/>
                    <a:p>
                      <a:pPr marL="333375">
                        <a:lnSpc>
                          <a:spcPts val="2155"/>
                        </a:lnSpc>
                        <a:tabLst>
                          <a:tab pos="1247140" algn="l"/>
                        </a:tabLst>
                      </a:pPr>
                      <a:r>
                        <a:rPr dirty="0" sz="1800" spc="-25" b="1">
                          <a:solidFill>
                            <a:srgbClr val="40458B"/>
                          </a:solidFill>
                          <a:latin typeface="Times New Roman"/>
                          <a:cs typeface="Times New Roman"/>
                        </a:rPr>
                        <a:t>L.D</a:t>
                      </a:r>
                      <a:r>
                        <a:rPr dirty="0" sz="1800" b="1">
                          <a:solidFill>
                            <a:srgbClr val="40458B"/>
                          </a:solidFill>
                          <a:latin typeface="Times New Roman"/>
                          <a:cs typeface="Times New Roman"/>
                        </a:rPr>
                        <a:t>	F6,</a:t>
                      </a:r>
                      <a:r>
                        <a:rPr dirty="0" sz="1800" spc="-25" b="1">
                          <a:solidFill>
                            <a:srgbClr val="40458B"/>
                          </a:solidFill>
                          <a:latin typeface="Times New Roman"/>
                          <a:cs typeface="Times New Roman"/>
                        </a:rPr>
                        <a:t> </a:t>
                      </a:r>
                      <a:r>
                        <a:rPr dirty="0" sz="1800" spc="-10" b="1">
                          <a:solidFill>
                            <a:srgbClr val="40458B"/>
                          </a:solidFill>
                          <a:latin typeface="Times New Roman"/>
                          <a:cs typeface="Times New Roman"/>
                        </a:rPr>
                        <a:t>-8(R1)</a:t>
                      </a:r>
                      <a:endParaRPr sz="1800">
                        <a:latin typeface="Times New Roman"/>
                        <a:cs typeface="Times New Roman"/>
                      </a:endParaRPr>
                    </a:p>
                  </a:txBody>
                  <a:tcPr marL="0" marR="0" marB="0" marT="0"/>
                </a:tc>
                <a:tc>
                  <a:txBody>
                    <a:bodyPr/>
                    <a:lstStyle/>
                    <a:p>
                      <a:pPr marL="226060">
                        <a:lnSpc>
                          <a:spcPts val="2155"/>
                        </a:lnSpc>
                      </a:pPr>
                      <a:r>
                        <a:rPr dirty="0" sz="1800" spc="-50" b="1">
                          <a:solidFill>
                            <a:srgbClr val="40458B"/>
                          </a:solidFill>
                          <a:latin typeface="Times New Roman"/>
                          <a:cs typeface="Times New Roman"/>
                        </a:rPr>
                        <a:t>7</a:t>
                      </a:r>
                      <a:endParaRPr sz="1800">
                        <a:latin typeface="Times New Roman"/>
                        <a:cs typeface="Times New Roman"/>
                      </a:endParaRPr>
                    </a:p>
                  </a:txBody>
                  <a:tcPr marL="0" marR="0" marB="0" marT="0"/>
                </a:tc>
              </a:tr>
              <a:tr h="301625">
                <a:tc>
                  <a:txBody>
                    <a:bodyPr/>
                    <a:lstStyle/>
                    <a:p>
                      <a:pPr marL="333375">
                        <a:lnSpc>
                          <a:spcPts val="2155"/>
                        </a:lnSpc>
                      </a:pPr>
                      <a:r>
                        <a:rPr dirty="0" sz="1800" spc="-20" b="1">
                          <a:solidFill>
                            <a:srgbClr val="CC0000"/>
                          </a:solidFill>
                          <a:latin typeface="宋体"/>
                          <a:cs typeface="宋体"/>
                        </a:rPr>
                        <a:t>（空转</a:t>
                      </a:r>
                      <a:r>
                        <a:rPr dirty="0" sz="1800" spc="-50" b="1">
                          <a:solidFill>
                            <a:srgbClr val="CC0000"/>
                          </a:solidFill>
                          <a:latin typeface="宋体"/>
                          <a:cs typeface="宋体"/>
                        </a:rPr>
                        <a:t>）</a:t>
                      </a:r>
                      <a:endParaRPr sz="1800">
                        <a:latin typeface="宋体"/>
                        <a:cs typeface="宋体"/>
                      </a:endParaRPr>
                    </a:p>
                  </a:txBody>
                  <a:tcPr marL="0" marR="0" marB="0" marT="0"/>
                </a:tc>
                <a:tc>
                  <a:txBody>
                    <a:bodyPr/>
                    <a:lstStyle/>
                    <a:p>
                      <a:pPr marL="226060">
                        <a:lnSpc>
                          <a:spcPts val="2155"/>
                        </a:lnSpc>
                      </a:pPr>
                      <a:r>
                        <a:rPr dirty="0" sz="1800" spc="-50" b="1">
                          <a:solidFill>
                            <a:srgbClr val="CC0000"/>
                          </a:solidFill>
                          <a:latin typeface="Times New Roman"/>
                          <a:cs typeface="Times New Roman"/>
                        </a:rPr>
                        <a:t>8</a:t>
                      </a:r>
                      <a:endParaRPr sz="1800">
                        <a:latin typeface="Times New Roman"/>
                        <a:cs typeface="Times New Roman"/>
                      </a:endParaRPr>
                    </a:p>
                  </a:txBody>
                  <a:tcPr marL="0" marR="0" marB="0" marT="0"/>
                </a:tc>
              </a:tr>
              <a:tr h="301625">
                <a:tc>
                  <a:txBody>
                    <a:bodyPr/>
                    <a:lstStyle/>
                    <a:p>
                      <a:pPr marL="333375">
                        <a:lnSpc>
                          <a:spcPts val="2155"/>
                        </a:lnSpc>
                        <a:tabLst>
                          <a:tab pos="1247140" algn="l"/>
                        </a:tabLst>
                      </a:pPr>
                      <a:r>
                        <a:rPr dirty="0" sz="1800" spc="-10" b="1">
                          <a:solidFill>
                            <a:srgbClr val="40458B"/>
                          </a:solidFill>
                          <a:latin typeface="Times New Roman"/>
                          <a:cs typeface="Times New Roman"/>
                        </a:rPr>
                        <a:t>ADD.D</a:t>
                      </a:r>
                      <a:r>
                        <a:rPr dirty="0" sz="1800" b="1">
                          <a:solidFill>
                            <a:srgbClr val="40458B"/>
                          </a:solidFill>
                          <a:latin typeface="Times New Roman"/>
                          <a:cs typeface="Times New Roman"/>
                        </a:rPr>
                        <a:t>	F8,</a:t>
                      </a:r>
                      <a:r>
                        <a:rPr dirty="0" sz="1800" spc="-25" b="1">
                          <a:solidFill>
                            <a:srgbClr val="40458B"/>
                          </a:solidFill>
                          <a:latin typeface="Times New Roman"/>
                          <a:cs typeface="Times New Roman"/>
                        </a:rPr>
                        <a:t> </a:t>
                      </a:r>
                      <a:r>
                        <a:rPr dirty="0" sz="1800" b="1">
                          <a:solidFill>
                            <a:srgbClr val="40458B"/>
                          </a:solidFill>
                          <a:latin typeface="Times New Roman"/>
                          <a:cs typeface="Times New Roman"/>
                        </a:rPr>
                        <a:t>F6,</a:t>
                      </a:r>
                      <a:r>
                        <a:rPr dirty="0" sz="1800" spc="-35" b="1">
                          <a:solidFill>
                            <a:srgbClr val="40458B"/>
                          </a:solidFill>
                          <a:latin typeface="Times New Roman"/>
                          <a:cs typeface="Times New Roman"/>
                        </a:rPr>
                        <a:t> </a:t>
                      </a:r>
                      <a:r>
                        <a:rPr dirty="0" sz="1800" spc="-25" b="1">
                          <a:solidFill>
                            <a:srgbClr val="40458B"/>
                          </a:solidFill>
                          <a:latin typeface="Times New Roman"/>
                          <a:cs typeface="Times New Roman"/>
                        </a:rPr>
                        <a:t>F2</a:t>
                      </a:r>
                      <a:endParaRPr sz="1800">
                        <a:latin typeface="Times New Roman"/>
                        <a:cs typeface="Times New Roman"/>
                      </a:endParaRPr>
                    </a:p>
                  </a:txBody>
                  <a:tcPr marL="0" marR="0" marB="0" marT="0"/>
                </a:tc>
                <a:tc>
                  <a:txBody>
                    <a:bodyPr/>
                    <a:lstStyle/>
                    <a:p>
                      <a:pPr marL="226060">
                        <a:lnSpc>
                          <a:spcPts val="2155"/>
                        </a:lnSpc>
                      </a:pPr>
                      <a:r>
                        <a:rPr dirty="0" sz="1800" spc="-50" b="1">
                          <a:solidFill>
                            <a:srgbClr val="40458B"/>
                          </a:solidFill>
                          <a:latin typeface="Times New Roman"/>
                          <a:cs typeface="Times New Roman"/>
                        </a:rPr>
                        <a:t>9</a:t>
                      </a:r>
                      <a:endParaRPr sz="1800">
                        <a:latin typeface="Times New Roman"/>
                        <a:cs typeface="Times New Roman"/>
                      </a:endParaRPr>
                    </a:p>
                  </a:txBody>
                  <a:tcPr marL="0" marR="0" marB="0" marT="0"/>
                </a:tc>
              </a:tr>
              <a:tr h="301625">
                <a:tc>
                  <a:txBody>
                    <a:bodyPr/>
                    <a:lstStyle/>
                    <a:p>
                      <a:pPr marL="333375">
                        <a:lnSpc>
                          <a:spcPts val="2155"/>
                        </a:lnSpc>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a:txBody>
                  <a:tcPr marL="0" marR="0" marB="0" marT="0"/>
                </a:tc>
                <a:tc>
                  <a:txBody>
                    <a:bodyPr/>
                    <a:lstStyle/>
                    <a:p>
                      <a:pPr marL="226060">
                        <a:lnSpc>
                          <a:spcPts val="2155"/>
                        </a:lnSpc>
                      </a:pPr>
                      <a:r>
                        <a:rPr dirty="0" sz="1800" spc="-25" b="1">
                          <a:solidFill>
                            <a:srgbClr val="CC0000"/>
                          </a:solidFill>
                          <a:latin typeface="Times New Roman"/>
                          <a:cs typeface="Times New Roman"/>
                        </a:rPr>
                        <a:t>10</a:t>
                      </a:r>
                      <a:endParaRPr sz="1800">
                        <a:latin typeface="Times New Roman"/>
                        <a:cs typeface="Times New Roman"/>
                      </a:endParaRPr>
                    </a:p>
                  </a:txBody>
                  <a:tcPr marL="0" marR="0" marB="0" marT="0"/>
                </a:tc>
              </a:tr>
              <a:tr h="301625">
                <a:tc>
                  <a:txBody>
                    <a:bodyPr/>
                    <a:lstStyle/>
                    <a:p>
                      <a:pPr marL="333375">
                        <a:lnSpc>
                          <a:spcPts val="2155"/>
                        </a:lnSpc>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a:txBody>
                  <a:tcPr marL="0" marR="0" marB="0" marT="0"/>
                </a:tc>
                <a:tc>
                  <a:txBody>
                    <a:bodyPr/>
                    <a:lstStyle/>
                    <a:p>
                      <a:pPr marL="226060">
                        <a:lnSpc>
                          <a:spcPts val="2155"/>
                        </a:lnSpc>
                      </a:pPr>
                      <a:r>
                        <a:rPr dirty="0" sz="1800" spc="-25" b="1">
                          <a:solidFill>
                            <a:srgbClr val="CC0000"/>
                          </a:solidFill>
                          <a:latin typeface="Times New Roman"/>
                          <a:cs typeface="Times New Roman"/>
                        </a:rPr>
                        <a:t>11</a:t>
                      </a:r>
                      <a:endParaRPr sz="1800">
                        <a:latin typeface="Times New Roman"/>
                        <a:cs typeface="Times New Roman"/>
                      </a:endParaRPr>
                    </a:p>
                  </a:txBody>
                  <a:tcPr marL="0" marR="0" marB="0" marT="0"/>
                </a:tc>
              </a:tr>
              <a:tr h="300990">
                <a:tc>
                  <a:txBody>
                    <a:bodyPr/>
                    <a:lstStyle/>
                    <a:p>
                      <a:pPr marL="102870">
                        <a:lnSpc>
                          <a:spcPts val="2155"/>
                        </a:lnSpc>
                        <a:tabLst>
                          <a:tab pos="332740" algn="l"/>
                          <a:tab pos="1247140" algn="l"/>
                          <a:tab pos="2623820" algn="l"/>
                        </a:tabLst>
                      </a:pPr>
                      <a:r>
                        <a:rPr dirty="0" u="sng" sz="1800" b="1">
                          <a:solidFill>
                            <a:srgbClr val="40458B"/>
                          </a:solidFill>
                          <a:uFill>
                            <a:solidFill>
                              <a:srgbClr val="FF09FF"/>
                            </a:solidFill>
                          </a:uFill>
                          <a:latin typeface="Times New Roman"/>
                          <a:cs typeface="Times New Roman"/>
                        </a:rPr>
                        <a:t>	</a:t>
                      </a:r>
                      <a:r>
                        <a:rPr dirty="0" u="sng" sz="1800" spc="-25" b="1">
                          <a:solidFill>
                            <a:srgbClr val="40458B"/>
                          </a:solidFill>
                          <a:uFill>
                            <a:solidFill>
                              <a:srgbClr val="FF09FF"/>
                            </a:solidFill>
                          </a:uFill>
                          <a:latin typeface="Times New Roman"/>
                          <a:cs typeface="Times New Roman"/>
                        </a:rPr>
                        <a:t>S.D</a:t>
                      </a:r>
                      <a:r>
                        <a:rPr dirty="0" u="sng" sz="1800" b="1">
                          <a:solidFill>
                            <a:srgbClr val="40458B"/>
                          </a:solidFill>
                          <a:uFill>
                            <a:solidFill>
                              <a:srgbClr val="FF09FF"/>
                            </a:solidFill>
                          </a:uFill>
                          <a:latin typeface="Times New Roman"/>
                          <a:cs typeface="Times New Roman"/>
                        </a:rPr>
                        <a:t>	F8,</a:t>
                      </a:r>
                      <a:r>
                        <a:rPr dirty="0" u="sng" sz="1800" spc="-20" b="1">
                          <a:solidFill>
                            <a:srgbClr val="40458B"/>
                          </a:solidFill>
                          <a:uFill>
                            <a:solidFill>
                              <a:srgbClr val="FF09FF"/>
                            </a:solidFill>
                          </a:uFill>
                          <a:latin typeface="Times New Roman"/>
                          <a:cs typeface="Times New Roman"/>
                        </a:rPr>
                        <a:t> </a:t>
                      </a:r>
                      <a:r>
                        <a:rPr dirty="0" u="sng" sz="1800" spc="-10" b="1">
                          <a:solidFill>
                            <a:srgbClr val="40458B"/>
                          </a:solidFill>
                          <a:uFill>
                            <a:solidFill>
                              <a:srgbClr val="FF09FF"/>
                            </a:solidFill>
                          </a:uFill>
                          <a:latin typeface="Times New Roman"/>
                          <a:cs typeface="Times New Roman"/>
                        </a:rPr>
                        <a:t>-8(R1)</a:t>
                      </a:r>
                      <a:r>
                        <a:rPr dirty="0" u="sng" sz="1800" b="1">
                          <a:solidFill>
                            <a:srgbClr val="40458B"/>
                          </a:solidFill>
                          <a:uFill>
                            <a:solidFill>
                              <a:srgbClr val="FF09FF"/>
                            </a:solidFill>
                          </a:uFill>
                          <a:latin typeface="Times New Roman"/>
                          <a:cs typeface="Times New Roman"/>
                        </a:rPr>
                        <a:t>	</a:t>
                      </a:r>
                      <a:endParaRPr sz="1800">
                        <a:latin typeface="Times New Roman"/>
                        <a:cs typeface="Times New Roman"/>
                      </a:endParaRPr>
                    </a:p>
                  </a:txBody>
                  <a:tcPr marL="0" marR="0" marB="0" marT="0"/>
                </a:tc>
                <a:tc>
                  <a:txBody>
                    <a:bodyPr/>
                    <a:lstStyle/>
                    <a:p>
                      <a:pPr marL="226060">
                        <a:lnSpc>
                          <a:spcPts val="2155"/>
                        </a:lnSpc>
                      </a:pPr>
                      <a:r>
                        <a:rPr dirty="0" sz="1800" spc="-25" b="1">
                          <a:solidFill>
                            <a:srgbClr val="40458B"/>
                          </a:solidFill>
                          <a:latin typeface="Times New Roman"/>
                          <a:cs typeface="Times New Roman"/>
                        </a:rPr>
                        <a:t>12</a:t>
                      </a:r>
                      <a:endParaRPr sz="1800">
                        <a:latin typeface="Times New Roman"/>
                        <a:cs typeface="Times New Roman"/>
                      </a:endParaRPr>
                    </a:p>
                  </a:txBody>
                  <a:tcPr marL="0" marR="0" marB="0" marT="0"/>
                </a:tc>
              </a:tr>
              <a:tr h="301625">
                <a:tc>
                  <a:txBody>
                    <a:bodyPr/>
                    <a:lstStyle/>
                    <a:p>
                      <a:pPr marL="333375">
                        <a:lnSpc>
                          <a:spcPts val="2155"/>
                        </a:lnSpc>
                        <a:tabLst>
                          <a:tab pos="1247140" algn="l"/>
                        </a:tabLst>
                      </a:pPr>
                      <a:r>
                        <a:rPr dirty="0" sz="1800" spc="-25" b="1">
                          <a:solidFill>
                            <a:srgbClr val="40458B"/>
                          </a:solidFill>
                          <a:latin typeface="Times New Roman"/>
                          <a:cs typeface="Times New Roman"/>
                        </a:rPr>
                        <a:t>L.D</a:t>
                      </a:r>
                      <a:r>
                        <a:rPr dirty="0" sz="1800" b="1">
                          <a:solidFill>
                            <a:srgbClr val="40458B"/>
                          </a:solidFill>
                          <a:latin typeface="Times New Roman"/>
                          <a:cs typeface="Times New Roman"/>
                        </a:rPr>
                        <a:t>	F10,</a:t>
                      </a:r>
                      <a:r>
                        <a:rPr dirty="0" sz="1800" spc="5" b="1">
                          <a:solidFill>
                            <a:srgbClr val="40458B"/>
                          </a:solidFill>
                          <a:latin typeface="Times New Roman"/>
                          <a:cs typeface="Times New Roman"/>
                        </a:rPr>
                        <a:t> </a:t>
                      </a:r>
                      <a:r>
                        <a:rPr dirty="0" sz="1800" spc="-10" b="1">
                          <a:solidFill>
                            <a:srgbClr val="40458B"/>
                          </a:solidFill>
                          <a:latin typeface="Times New Roman"/>
                          <a:cs typeface="Times New Roman"/>
                        </a:rPr>
                        <a:t>-16(R1)</a:t>
                      </a:r>
                      <a:endParaRPr sz="1800">
                        <a:latin typeface="Times New Roman"/>
                        <a:cs typeface="Times New Roman"/>
                      </a:endParaRPr>
                    </a:p>
                  </a:txBody>
                  <a:tcPr marL="0" marR="0" marB="0" marT="0"/>
                </a:tc>
                <a:tc>
                  <a:txBody>
                    <a:bodyPr/>
                    <a:lstStyle/>
                    <a:p>
                      <a:pPr marL="226060">
                        <a:lnSpc>
                          <a:spcPts val="2155"/>
                        </a:lnSpc>
                      </a:pPr>
                      <a:r>
                        <a:rPr dirty="0" sz="1800" spc="-25" b="1">
                          <a:solidFill>
                            <a:srgbClr val="40458B"/>
                          </a:solidFill>
                          <a:latin typeface="Times New Roman"/>
                          <a:cs typeface="Times New Roman"/>
                        </a:rPr>
                        <a:t>13</a:t>
                      </a:r>
                      <a:endParaRPr sz="1800">
                        <a:latin typeface="Times New Roman"/>
                        <a:cs typeface="Times New Roman"/>
                      </a:endParaRPr>
                    </a:p>
                  </a:txBody>
                  <a:tcPr marL="0" marR="0" marB="0" marT="0"/>
                </a:tc>
              </a:tr>
              <a:tr h="277495">
                <a:tc>
                  <a:txBody>
                    <a:bodyPr/>
                    <a:lstStyle/>
                    <a:p>
                      <a:pPr marL="333375">
                        <a:lnSpc>
                          <a:spcPts val="2085"/>
                        </a:lnSpc>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a:txBody>
                  <a:tcPr marL="0" marR="0" marB="0" marT="0"/>
                </a:tc>
                <a:tc>
                  <a:txBody>
                    <a:bodyPr/>
                    <a:lstStyle/>
                    <a:p>
                      <a:pPr marL="226060">
                        <a:lnSpc>
                          <a:spcPts val="2085"/>
                        </a:lnSpc>
                      </a:pPr>
                      <a:r>
                        <a:rPr dirty="0" sz="1800" spc="-25" b="1">
                          <a:solidFill>
                            <a:srgbClr val="CC0000"/>
                          </a:solidFill>
                          <a:latin typeface="Times New Roman"/>
                          <a:cs typeface="Times New Roman"/>
                        </a:rPr>
                        <a:t>14</a:t>
                      </a:r>
                      <a:endParaRPr sz="1800">
                        <a:latin typeface="Times New Roman"/>
                        <a:cs typeface="Times New Roman"/>
                      </a:endParaRPr>
                    </a:p>
                  </a:txBody>
                  <a:tcPr marL="0" marR="0" marB="0" marT="0"/>
                </a:tc>
              </a:tr>
            </a:tbl>
          </a:graphicData>
        </a:graphic>
      </p:graphicFrame>
      <p:sp>
        <p:nvSpPr>
          <p:cNvPr id="18" name="object 18" descr=""/>
          <p:cNvSpPr txBox="1"/>
          <p:nvPr/>
        </p:nvSpPr>
        <p:spPr>
          <a:xfrm>
            <a:off x="10672698" y="1292478"/>
            <a:ext cx="1406525" cy="299720"/>
          </a:xfrm>
          <a:prstGeom prst="rect">
            <a:avLst/>
          </a:prstGeom>
        </p:spPr>
        <p:txBody>
          <a:bodyPr wrap="square" lIns="0" tIns="12700" rIns="0" bIns="0" rtlCol="0" vert="horz">
            <a:spAutoFit/>
          </a:bodyPr>
          <a:lstStyle/>
          <a:p>
            <a:pPr marL="12700">
              <a:lnSpc>
                <a:spcPct val="100000"/>
              </a:lnSpc>
              <a:spcBef>
                <a:spcPts val="100"/>
              </a:spcBef>
            </a:pPr>
            <a:r>
              <a:rPr dirty="0" sz="1800" spc="-20" b="1">
                <a:solidFill>
                  <a:srgbClr val="006600"/>
                </a:solidFill>
                <a:latin typeface="宋体"/>
                <a:cs typeface="宋体"/>
              </a:rPr>
              <a:t>指令流出时钟</a:t>
            </a:r>
            <a:endParaRPr sz="1800">
              <a:latin typeface="宋体"/>
              <a:cs typeface="宋体"/>
            </a:endParaRPr>
          </a:p>
        </p:txBody>
      </p:sp>
      <p:graphicFrame>
        <p:nvGraphicFramePr>
          <p:cNvPr id="19" name="object 19" descr=""/>
          <p:cNvGraphicFramePr>
            <a:graphicFrameLocks noGrp="1"/>
          </p:cNvGraphicFramePr>
          <p:nvPr/>
        </p:nvGraphicFramePr>
        <p:xfrm>
          <a:off x="8440801" y="1631822"/>
          <a:ext cx="3324860" cy="4171950"/>
        </p:xfrm>
        <a:graphic>
          <a:graphicData uri="http://schemas.openxmlformats.org/drawingml/2006/table">
            <a:tbl>
              <a:tblPr firstRow="1" bandRow="1">
                <a:tableStyleId>{2D5ABB26-0587-4C30-8999-92F81FD0307C}</a:tableStyleId>
              </a:tblPr>
              <a:tblGrid>
                <a:gridCol w="2878455"/>
                <a:gridCol w="370205"/>
              </a:tblGrid>
              <a:tr h="276860">
                <a:tc>
                  <a:txBody>
                    <a:bodyPr/>
                    <a:lstStyle/>
                    <a:p>
                      <a:pPr marL="244475">
                        <a:lnSpc>
                          <a:spcPts val="1964"/>
                        </a:lnSpc>
                        <a:tabLst>
                          <a:tab pos="1158875" algn="l"/>
                        </a:tabLst>
                      </a:pPr>
                      <a:r>
                        <a:rPr dirty="0" sz="1800" spc="-10" b="1">
                          <a:solidFill>
                            <a:srgbClr val="40458B"/>
                          </a:solidFill>
                          <a:latin typeface="Times New Roman"/>
                          <a:cs typeface="Times New Roman"/>
                        </a:rPr>
                        <a:t>ADD.D</a:t>
                      </a:r>
                      <a:r>
                        <a:rPr dirty="0" sz="1800" b="1">
                          <a:solidFill>
                            <a:srgbClr val="40458B"/>
                          </a:solidFill>
                          <a:latin typeface="Times New Roman"/>
                          <a:cs typeface="Times New Roman"/>
                        </a:rPr>
                        <a:t>	F12,</a:t>
                      </a:r>
                      <a:r>
                        <a:rPr dirty="0" sz="1800" spc="-40" b="1">
                          <a:solidFill>
                            <a:srgbClr val="40458B"/>
                          </a:solidFill>
                          <a:latin typeface="Times New Roman"/>
                          <a:cs typeface="Times New Roman"/>
                        </a:rPr>
                        <a:t> </a:t>
                      </a:r>
                      <a:r>
                        <a:rPr dirty="0" sz="1800" b="1">
                          <a:solidFill>
                            <a:srgbClr val="40458B"/>
                          </a:solidFill>
                          <a:latin typeface="Times New Roman"/>
                          <a:cs typeface="Times New Roman"/>
                        </a:rPr>
                        <a:t>F10,</a:t>
                      </a:r>
                      <a:r>
                        <a:rPr dirty="0" sz="1800" spc="-50" b="1">
                          <a:solidFill>
                            <a:srgbClr val="40458B"/>
                          </a:solidFill>
                          <a:latin typeface="Times New Roman"/>
                          <a:cs typeface="Times New Roman"/>
                        </a:rPr>
                        <a:t> </a:t>
                      </a:r>
                      <a:r>
                        <a:rPr dirty="0" sz="1800" spc="-25" b="1">
                          <a:solidFill>
                            <a:srgbClr val="40458B"/>
                          </a:solidFill>
                          <a:latin typeface="Times New Roman"/>
                          <a:cs typeface="Times New Roman"/>
                        </a:rPr>
                        <a:t>F2</a:t>
                      </a:r>
                      <a:endParaRPr sz="1800">
                        <a:latin typeface="Times New Roman"/>
                        <a:cs typeface="Times New Roman"/>
                      </a:endParaRPr>
                    </a:p>
                  </a:txBody>
                  <a:tcPr marL="0" marR="0" marB="0" marT="0"/>
                </a:tc>
                <a:tc>
                  <a:txBody>
                    <a:bodyPr/>
                    <a:lstStyle/>
                    <a:p>
                      <a:pPr algn="ctr" marL="77470">
                        <a:lnSpc>
                          <a:spcPts val="1964"/>
                        </a:lnSpc>
                      </a:pPr>
                      <a:r>
                        <a:rPr dirty="0" sz="1800" spc="-25" b="1">
                          <a:solidFill>
                            <a:srgbClr val="40458B"/>
                          </a:solidFill>
                          <a:latin typeface="Times New Roman"/>
                          <a:cs typeface="Times New Roman"/>
                        </a:rPr>
                        <a:t>15</a:t>
                      </a:r>
                      <a:endParaRPr sz="1800">
                        <a:latin typeface="Times New Roman"/>
                        <a:cs typeface="Times New Roman"/>
                      </a:endParaRPr>
                    </a:p>
                  </a:txBody>
                  <a:tcPr marL="0" marR="0" marB="0" marT="0"/>
                </a:tc>
              </a:tr>
              <a:tr h="301625">
                <a:tc>
                  <a:txBody>
                    <a:bodyPr/>
                    <a:lstStyle/>
                    <a:p>
                      <a:pPr marL="244475">
                        <a:lnSpc>
                          <a:spcPts val="2155"/>
                        </a:lnSpc>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a:txBody>
                  <a:tcPr marL="0" marR="0" marB="0" marT="0"/>
                </a:tc>
                <a:tc>
                  <a:txBody>
                    <a:bodyPr/>
                    <a:lstStyle/>
                    <a:p>
                      <a:pPr algn="ctr" marL="77470">
                        <a:lnSpc>
                          <a:spcPts val="2155"/>
                        </a:lnSpc>
                      </a:pPr>
                      <a:r>
                        <a:rPr dirty="0" sz="1800" spc="-25" b="1">
                          <a:solidFill>
                            <a:srgbClr val="CC0000"/>
                          </a:solidFill>
                          <a:latin typeface="Times New Roman"/>
                          <a:cs typeface="Times New Roman"/>
                        </a:rPr>
                        <a:t>16</a:t>
                      </a:r>
                      <a:endParaRPr sz="1800">
                        <a:latin typeface="Times New Roman"/>
                        <a:cs typeface="Times New Roman"/>
                      </a:endParaRPr>
                    </a:p>
                  </a:txBody>
                  <a:tcPr marL="0" marR="0" marB="0" marT="0"/>
                </a:tc>
              </a:tr>
              <a:tr h="300990">
                <a:tc>
                  <a:txBody>
                    <a:bodyPr/>
                    <a:lstStyle/>
                    <a:p>
                      <a:pPr marL="244475">
                        <a:lnSpc>
                          <a:spcPts val="2155"/>
                        </a:lnSpc>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a:txBody>
                  <a:tcPr marL="0" marR="0" marB="0" marT="0"/>
                </a:tc>
                <a:tc>
                  <a:txBody>
                    <a:bodyPr/>
                    <a:lstStyle/>
                    <a:p>
                      <a:pPr algn="ctr" marL="77470">
                        <a:lnSpc>
                          <a:spcPts val="2155"/>
                        </a:lnSpc>
                      </a:pPr>
                      <a:r>
                        <a:rPr dirty="0" sz="1800" spc="-25" b="1">
                          <a:solidFill>
                            <a:srgbClr val="CC0000"/>
                          </a:solidFill>
                          <a:latin typeface="Times New Roman"/>
                          <a:cs typeface="Times New Roman"/>
                        </a:rPr>
                        <a:t>17</a:t>
                      </a:r>
                      <a:endParaRPr sz="1800">
                        <a:latin typeface="Times New Roman"/>
                        <a:cs typeface="Times New Roman"/>
                      </a:endParaRPr>
                    </a:p>
                  </a:txBody>
                  <a:tcPr marL="0" marR="0" marB="0" marT="0"/>
                </a:tc>
              </a:tr>
              <a:tr h="301625">
                <a:tc>
                  <a:txBody>
                    <a:bodyPr/>
                    <a:lstStyle/>
                    <a:p>
                      <a:pPr marL="31750">
                        <a:lnSpc>
                          <a:spcPts val="2155"/>
                        </a:lnSpc>
                        <a:tabLst>
                          <a:tab pos="244475" algn="l"/>
                          <a:tab pos="1158875" algn="l"/>
                        </a:tabLst>
                      </a:pPr>
                      <a:r>
                        <a:rPr dirty="0" u="sng" sz="1800" b="1">
                          <a:solidFill>
                            <a:srgbClr val="40458B"/>
                          </a:solidFill>
                          <a:uFill>
                            <a:solidFill>
                              <a:srgbClr val="FF09FF"/>
                            </a:solidFill>
                          </a:uFill>
                          <a:latin typeface="Times New Roman"/>
                          <a:cs typeface="Times New Roman"/>
                        </a:rPr>
                        <a:t>	</a:t>
                      </a:r>
                      <a:r>
                        <a:rPr dirty="0" u="sng" sz="1800" spc="-25" b="1">
                          <a:solidFill>
                            <a:srgbClr val="40458B"/>
                          </a:solidFill>
                          <a:uFill>
                            <a:solidFill>
                              <a:srgbClr val="FF09FF"/>
                            </a:solidFill>
                          </a:uFill>
                          <a:latin typeface="Times New Roman"/>
                          <a:cs typeface="Times New Roman"/>
                        </a:rPr>
                        <a:t>S.D</a:t>
                      </a:r>
                      <a:r>
                        <a:rPr dirty="0" u="sng" sz="1800" b="1">
                          <a:solidFill>
                            <a:srgbClr val="40458B"/>
                          </a:solidFill>
                          <a:uFill>
                            <a:solidFill>
                              <a:srgbClr val="FF09FF"/>
                            </a:solidFill>
                          </a:uFill>
                          <a:latin typeface="Times New Roman"/>
                          <a:cs typeface="Times New Roman"/>
                        </a:rPr>
                        <a:t>	F12,</a:t>
                      </a:r>
                      <a:r>
                        <a:rPr dirty="0" u="sng" sz="1800" spc="5" b="1">
                          <a:solidFill>
                            <a:srgbClr val="40458B"/>
                          </a:solidFill>
                          <a:uFill>
                            <a:solidFill>
                              <a:srgbClr val="FF09FF"/>
                            </a:solidFill>
                          </a:uFill>
                          <a:latin typeface="Times New Roman"/>
                          <a:cs typeface="Times New Roman"/>
                        </a:rPr>
                        <a:t> </a:t>
                      </a:r>
                      <a:r>
                        <a:rPr dirty="0" u="sng" sz="1800" spc="-10" b="1">
                          <a:solidFill>
                            <a:srgbClr val="40458B"/>
                          </a:solidFill>
                          <a:uFill>
                            <a:solidFill>
                              <a:srgbClr val="FF09FF"/>
                            </a:solidFill>
                          </a:uFill>
                          <a:latin typeface="Times New Roman"/>
                          <a:cs typeface="Times New Roman"/>
                        </a:rPr>
                        <a:t>-16</a:t>
                      </a:r>
                      <a:r>
                        <a:rPr dirty="0" u="sng" sz="1800" spc="-10" b="1">
                          <a:solidFill>
                            <a:srgbClr val="40458B"/>
                          </a:solidFill>
                          <a:uFill>
                            <a:solidFill>
                              <a:srgbClr val="FF09FF"/>
                            </a:solidFill>
                          </a:uFill>
                          <a:latin typeface="宋体"/>
                          <a:cs typeface="宋体"/>
                        </a:rPr>
                        <a:t>（</a:t>
                      </a:r>
                      <a:r>
                        <a:rPr dirty="0" u="sng" sz="1800" spc="-10" b="1">
                          <a:solidFill>
                            <a:srgbClr val="40458B"/>
                          </a:solidFill>
                          <a:uFill>
                            <a:solidFill>
                              <a:srgbClr val="FF09FF"/>
                            </a:solidFill>
                          </a:uFill>
                          <a:latin typeface="Times New Roman"/>
                          <a:cs typeface="Times New Roman"/>
                        </a:rPr>
                        <a:t>R1</a:t>
                      </a:r>
                      <a:r>
                        <a:rPr dirty="0" u="sng" sz="1800" spc="-10" b="1">
                          <a:solidFill>
                            <a:srgbClr val="40458B"/>
                          </a:solidFill>
                          <a:uFill>
                            <a:solidFill>
                              <a:srgbClr val="FF09FF"/>
                            </a:solidFill>
                          </a:uFill>
                          <a:latin typeface="宋体"/>
                          <a:cs typeface="宋体"/>
                        </a:rPr>
                        <a:t>） </a:t>
                      </a:r>
                      <a:endParaRPr sz="1800">
                        <a:latin typeface="宋体"/>
                        <a:cs typeface="宋体"/>
                      </a:endParaRPr>
                    </a:p>
                  </a:txBody>
                  <a:tcPr marL="0" marR="0" marB="0" marT="0"/>
                </a:tc>
                <a:tc>
                  <a:txBody>
                    <a:bodyPr/>
                    <a:lstStyle/>
                    <a:p>
                      <a:pPr algn="ctr" marL="77470">
                        <a:lnSpc>
                          <a:spcPts val="2155"/>
                        </a:lnSpc>
                      </a:pPr>
                      <a:r>
                        <a:rPr dirty="0" sz="1800" spc="-25" b="1">
                          <a:solidFill>
                            <a:srgbClr val="40458B"/>
                          </a:solidFill>
                          <a:latin typeface="Times New Roman"/>
                          <a:cs typeface="Times New Roman"/>
                        </a:rPr>
                        <a:t>18</a:t>
                      </a:r>
                      <a:endParaRPr sz="1800">
                        <a:latin typeface="Times New Roman"/>
                        <a:cs typeface="Times New Roman"/>
                      </a:endParaRPr>
                    </a:p>
                  </a:txBody>
                  <a:tcPr marL="0" marR="0" marB="0" marT="0"/>
                </a:tc>
              </a:tr>
              <a:tr h="301625">
                <a:tc>
                  <a:txBody>
                    <a:bodyPr/>
                    <a:lstStyle/>
                    <a:p>
                      <a:pPr marL="244475">
                        <a:lnSpc>
                          <a:spcPts val="2155"/>
                        </a:lnSpc>
                        <a:tabLst>
                          <a:tab pos="1158875" algn="l"/>
                        </a:tabLst>
                      </a:pPr>
                      <a:r>
                        <a:rPr dirty="0" sz="1800" spc="-25" b="1">
                          <a:solidFill>
                            <a:srgbClr val="40458B"/>
                          </a:solidFill>
                          <a:latin typeface="Times New Roman"/>
                          <a:cs typeface="Times New Roman"/>
                        </a:rPr>
                        <a:t>L.D</a:t>
                      </a:r>
                      <a:r>
                        <a:rPr dirty="0" sz="1800" b="1">
                          <a:solidFill>
                            <a:srgbClr val="40458B"/>
                          </a:solidFill>
                          <a:latin typeface="Times New Roman"/>
                          <a:cs typeface="Times New Roman"/>
                        </a:rPr>
                        <a:t>	F14,</a:t>
                      </a:r>
                      <a:r>
                        <a:rPr dirty="0" sz="1800" spc="-35" b="1">
                          <a:solidFill>
                            <a:srgbClr val="40458B"/>
                          </a:solidFill>
                          <a:latin typeface="Times New Roman"/>
                          <a:cs typeface="Times New Roman"/>
                        </a:rPr>
                        <a:t> </a:t>
                      </a:r>
                      <a:r>
                        <a:rPr dirty="0" sz="1800" spc="-10" b="1">
                          <a:solidFill>
                            <a:srgbClr val="40458B"/>
                          </a:solidFill>
                          <a:latin typeface="Times New Roman"/>
                          <a:cs typeface="Times New Roman"/>
                        </a:rPr>
                        <a:t>-24</a:t>
                      </a:r>
                      <a:r>
                        <a:rPr dirty="0" sz="1800" spc="-10" b="1">
                          <a:solidFill>
                            <a:srgbClr val="40458B"/>
                          </a:solidFill>
                          <a:latin typeface="宋体"/>
                          <a:cs typeface="宋体"/>
                        </a:rPr>
                        <a:t>（</a:t>
                      </a:r>
                      <a:r>
                        <a:rPr dirty="0" sz="1800" spc="-10" b="1">
                          <a:solidFill>
                            <a:srgbClr val="40458B"/>
                          </a:solidFill>
                          <a:latin typeface="Times New Roman"/>
                          <a:cs typeface="Times New Roman"/>
                        </a:rPr>
                        <a:t>R1</a:t>
                      </a:r>
                      <a:r>
                        <a:rPr dirty="0" sz="1800" spc="-10" b="1">
                          <a:solidFill>
                            <a:srgbClr val="40458B"/>
                          </a:solidFill>
                          <a:latin typeface="宋体"/>
                          <a:cs typeface="宋体"/>
                        </a:rPr>
                        <a:t>）</a:t>
                      </a:r>
                      <a:endParaRPr sz="1800">
                        <a:latin typeface="宋体"/>
                        <a:cs typeface="宋体"/>
                      </a:endParaRPr>
                    </a:p>
                  </a:txBody>
                  <a:tcPr marL="0" marR="0" marB="0" marT="0"/>
                </a:tc>
                <a:tc>
                  <a:txBody>
                    <a:bodyPr/>
                    <a:lstStyle/>
                    <a:p>
                      <a:pPr algn="ctr" marL="77470">
                        <a:lnSpc>
                          <a:spcPts val="2155"/>
                        </a:lnSpc>
                      </a:pPr>
                      <a:r>
                        <a:rPr dirty="0" sz="1800" spc="-25" b="1">
                          <a:solidFill>
                            <a:srgbClr val="40458B"/>
                          </a:solidFill>
                          <a:latin typeface="Times New Roman"/>
                          <a:cs typeface="Times New Roman"/>
                        </a:rPr>
                        <a:t>19</a:t>
                      </a:r>
                      <a:endParaRPr sz="1800">
                        <a:latin typeface="Times New Roman"/>
                        <a:cs typeface="Times New Roman"/>
                      </a:endParaRPr>
                    </a:p>
                  </a:txBody>
                  <a:tcPr marL="0" marR="0" marB="0" marT="0"/>
                </a:tc>
              </a:tr>
              <a:tr h="301625">
                <a:tc>
                  <a:txBody>
                    <a:bodyPr/>
                    <a:lstStyle/>
                    <a:p>
                      <a:pPr marL="244475">
                        <a:lnSpc>
                          <a:spcPts val="2155"/>
                        </a:lnSpc>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a:txBody>
                  <a:tcPr marL="0" marR="0" marB="0" marT="0"/>
                </a:tc>
                <a:tc>
                  <a:txBody>
                    <a:bodyPr/>
                    <a:lstStyle/>
                    <a:p>
                      <a:pPr algn="ctr" marL="77470">
                        <a:lnSpc>
                          <a:spcPts val="2155"/>
                        </a:lnSpc>
                      </a:pPr>
                      <a:r>
                        <a:rPr dirty="0" sz="1800" spc="-25" b="1">
                          <a:solidFill>
                            <a:srgbClr val="CC0000"/>
                          </a:solidFill>
                          <a:latin typeface="Times New Roman"/>
                          <a:cs typeface="Times New Roman"/>
                        </a:rPr>
                        <a:t>20</a:t>
                      </a:r>
                      <a:endParaRPr sz="1800">
                        <a:latin typeface="Times New Roman"/>
                        <a:cs typeface="Times New Roman"/>
                      </a:endParaRPr>
                    </a:p>
                  </a:txBody>
                  <a:tcPr marL="0" marR="0" marB="0" marT="0"/>
                </a:tc>
              </a:tr>
              <a:tr h="300990">
                <a:tc>
                  <a:txBody>
                    <a:bodyPr/>
                    <a:lstStyle/>
                    <a:p>
                      <a:pPr marL="244475">
                        <a:lnSpc>
                          <a:spcPts val="2155"/>
                        </a:lnSpc>
                        <a:tabLst>
                          <a:tab pos="1158875" algn="l"/>
                        </a:tabLst>
                      </a:pPr>
                      <a:r>
                        <a:rPr dirty="0" sz="1800" spc="-10" b="1">
                          <a:solidFill>
                            <a:srgbClr val="40458B"/>
                          </a:solidFill>
                          <a:latin typeface="Times New Roman"/>
                          <a:cs typeface="Times New Roman"/>
                        </a:rPr>
                        <a:t>ADD.D</a:t>
                      </a:r>
                      <a:r>
                        <a:rPr dirty="0" sz="1800" b="1">
                          <a:solidFill>
                            <a:srgbClr val="40458B"/>
                          </a:solidFill>
                          <a:latin typeface="Times New Roman"/>
                          <a:cs typeface="Times New Roman"/>
                        </a:rPr>
                        <a:t>	F16,</a:t>
                      </a:r>
                      <a:r>
                        <a:rPr dirty="0" sz="1800" spc="-40" b="1">
                          <a:solidFill>
                            <a:srgbClr val="40458B"/>
                          </a:solidFill>
                          <a:latin typeface="Times New Roman"/>
                          <a:cs typeface="Times New Roman"/>
                        </a:rPr>
                        <a:t> </a:t>
                      </a:r>
                      <a:r>
                        <a:rPr dirty="0" sz="1800" b="1">
                          <a:solidFill>
                            <a:srgbClr val="40458B"/>
                          </a:solidFill>
                          <a:latin typeface="Times New Roman"/>
                          <a:cs typeface="Times New Roman"/>
                        </a:rPr>
                        <a:t>F14,</a:t>
                      </a:r>
                      <a:r>
                        <a:rPr dirty="0" sz="1800" spc="-50" b="1">
                          <a:solidFill>
                            <a:srgbClr val="40458B"/>
                          </a:solidFill>
                          <a:latin typeface="Times New Roman"/>
                          <a:cs typeface="Times New Roman"/>
                        </a:rPr>
                        <a:t> </a:t>
                      </a:r>
                      <a:r>
                        <a:rPr dirty="0" sz="1800" spc="-25" b="1">
                          <a:solidFill>
                            <a:srgbClr val="40458B"/>
                          </a:solidFill>
                          <a:latin typeface="Times New Roman"/>
                          <a:cs typeface="Times New Roman"/>
                        </a:rPr>
                        <a:t>F2</a:t>
                      </a:r>
                      <a:endParaRPr sz="1800">
                        <a:latin typeface="Times New Roman"/>
                        <a:cs typeface="Times New Roman"/>
                      </a:endParaRPr>
                    </a:p>
                  </a:txBody>
                  <a:tcPr marL="0" marR="0" marB="0" marT="0"/>
                </a:tc>
                <a:tc>
                  <a:txBody>
                    <a:bodyPr/>
                    <a:lstStyle/>
                    <a:p>
                      <a:pPr algn="ctr" marL="77470">
                        <a:lnSpc>
                          <a:spcPts val="2155"/>
                        </a:lnSpc>
                      </a:pPr>
                      <a:r>
                        <a:rPr dirty="0" sz="1800" spc="-25" b="1">
                          <a:solidFill>
                            <a:srgbClr val="40458B"/>
                          </a:solidFill>
                          <a:latin typeface="Times New Roman"/>
                          <a:cs typeface="Times New Roman"/>
                        </a:rPr>
                        <a:t>21</a:t>
                      </a:r>
                      <a:endParaRPr sz="1800">
                        <a:latin typeface="Times New Roman"/>
                        <a:cs typeface="Times New Roman"/>
                      </a:endParaRPr>
                    </a:p>
                  </a:txBody>
                  <a:tcPr marL="0" marR="0" marB="0" marT="0"/>
                </a:tc>
              </a:tr>
              <a:tr h="301625">
                <a:tc>
                  <a:txBody>
                    <a:bodyPr/>
                    <a:lstStyle/>
                    <a:p>
                      <a:pPr marL="244475">
                        <a:lnSpc>
                          <a:spcPts val="2155"/>
                        </a:lnSpc>
                      </a:pPr>
                      <a:r>
                        <a:rPr dirty="0" sz="1800" spc="-20" b="1">
                          <a:solidFill>
                            <a:srgbClr val="CC0000"/>
                          </a:solidFill>
                          <a:latin typeface="宋体"/>
                          <a:cs typeface="宋体"/>
                        </a:rPr>
                        <a:t>（空转</a:t>
                      </a:r>
                      <a:r>
                        <a:rPr dirty="0" sz="1800" spc="-50" b="1">
                          <a:solidFill>
                            <a:srgbClr val="CC0000"/>
                          </a:solidFill>
                          <a:latin typeface="宋体"/>
                          <a:cs typeface="宋体"/>
                        </a:rPr>
                        <a:t>）</a:t>
                      </a:r>
                      <a:endParaRPr sz="1800">
                        <a:latin typeface="宋体"/>
                        <a:cs typeface="宋体"/>
                      </a:endParaRPr>
                    </a:p>
                  </a:txBody>
                  <a:tcPr marL="0" marR="0" marB="0" marT="0"/>
                </a:tc>
                <a:tc>
                  <a:txBody>
                    <a:bodyPr/>
                    <a:lstStyle/>
                    <a:p>
                      <a:pPr algn="ctr" marL="77470">
                        <a:lnSpc>
                          <a:spcPts val="2155"/>
                        </a:lnSpc>
                      </a:pPr>
                      <a:r>
                        <a:rPr dirty="0" sz="1800" spc="-25" b="1">
                          <a:solidFill>
                            <a:srgbClr val="CC0000"/>
                          </a:solidFill>
                          <a:latin typeface="Times New Roman"/>
                          <a:cs typeface="Times New Roman"/>
                        </a:rPr>
                        <a:t>22</a:t>
                      </a:r>
                      <a:endParaRPr sz="1800">
                        <a:latin typeface="Times New Roman"/>
                        <a:cs typeface="Times New Roman"/>
                      </a:endParaRPr>
                    </a:p>
                  </a:txBody>
                  <a:tcPr marL="0" marR="0" marB="0" marT="0"/>
                </a:tc>
              </a:tr>
              <a:tr h="301625">
                <a:tc>
                  <a:txBody>
                    <a:bodyPr/>
                    <a:lstStyle/>
                    <a:p>
                      <a:pPr marL="244475">
                        <a:lnSpc>
                          <a:spcPts val="2155"/>
                        </a:lnSpc>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a:txBody>
                  <a:tcPr marL="0" marR="0" marB="0" marT="0"/>
                </a:tc>
                <a:tc>
                  <a:txBody>
                    <a:bodyPr/>
                    <a:lstStyle/>
                    <a:p>
                      <a:pPr algn="ctr" marL="77470">
                        <a:lnSpc>
                          <a:spcPts val="2155"/>
                        </a:lnSpc>
                      </a:pPr>
                      <a:r>
                        <a:rPr dirty="0" sz="1800" spc="-25" b="1">
                          <a:solidFill>
                            <a:srgbClr val="CC0000"/>
                          </a:solidFill>
                          <a:latin typeface="Times New Roman"/>
                          <a:cs typeface="Times New Roman"/>
                        </a:rPr>
                        <a:t>23</a:t>
                      </a:r>
                      <a:endParaRPr sz="1800">
                        <a:latin typeface="Times New Roman"/>
                        <a:cs typeface="Times New Roman"/>
                      </a:endParaRPr>
                    </a:p>
                  </a:txBody>
                  <a:tcPr marL="0" marR="0" marB="0" marT="0"/>
                </a:tc>
              </a:tr>
              <a:tr h="301625">
                <a:tc>
                  <a:txBody>
                    <a:bodyPr/>
                    <a:lstStyle/>
                    <a:p>
                      <a:pPr marL="102870">
                        <a:lnSpc>
                          <a:spcPts val="2155"/>
                        </a:lnSpc>
                        <a:tabLst>
                          <a:tab pos="1158875" algn="l"/>
                        </a:tabLst>
                      </a:pPr>
                      <a:r>
                        <a:rPr dirty="0" u="sng" sz="1800" spc="105" b="1">
                          <a:solidFill>
                            <a:srgbClr val="40458B"/>
                          </a:solidFill>
                          <a:uFill>
                            <a:solidFill>
                              <a:srgbClr val="FF09FF"/>
                            </a:solidFill>
                          </a:uFill>
                          <a:latin typeface="Times New Roman"/>
                          <a:cs typeface="Times New Roman"/>
                        </a:rPr>
                        <a:t>  </a:t>
                      </a:r>
                      <a:r>
                        <a:rPr dirty="0" u="sng" sz="1800" spc="-25" b="1">
                          <a:solidFill>
                            <a:srgbClr val="40458B"/>
                          </a:solidFill>
                          <a:uFill>
                            <a:solidFill>
                              <a:srgbClr val="FF09FF"/>
                            </a:solidFill>
                          </a:uFill>
                          <a:latin typeface="Times New Roman"/>
                          <a:cs typeface="Times New Roman"/>
                        </a:rPr>
                        <a:t>S.D</a:t>
                      </a:r>
                      <a:r>
                        <a:rPr dirty="0" u="sng" sz="1800" b="1">
                          <a:solidFill>
                            <a:srgbClr val="40458B"/>
                          </a:solidFill>
                          <a:uFill>
                            <a:solidFill>
                              <a:srgbClr val="FF09FF"/>
                            </a:solidFill>
                          </a:uFill>
                          <a:latin typeface="Times New Roman"/>
                          <a:cs typeface="Times New Roman"/>
                        </a:rPr>
                        <a:t>	F16,</a:t>
                      </a:r>
                      <a:r>
                        <a:rPr dirty="0" u="sng" sz="1800" spc="-25" b="1">
                          <a:solidFill>
                            <a:srgbClr val="40458B"/>
                          </a:solidFill>
                          <a:uFill>
                            <a:solidFill>
                              <a:srgbClr val="FF09FF"/>
                            </a:solidFill>
                          </a:uFill>
                          <a:latin typeface="Times New Roman"/>
                          <a:cs typeface="Times New Roman"/>
                        </a:rPr>
                        <a:t> </a:t>
                      </a:r>
                      <a:r>
                        <a:rPr dirty="0" u="sng" sz="1800" spc="-10" b="1">
                          <a:solidFill>
                            <a:srgbClr val="40458B"/>
                          </a:solidFill>
                          <a:uFill>
                            <a:solidFill>
                              <a:srgbClr val="FF09FF"/>
                            </a:solidFill>
                          </a:uFill>
                          <a:latin typeface="Times New Roman"/>
                          <a:cs typeface="Times New Roman"/>
                        </a:rPr>
                        <a:t>-24</a:t>
                      </a:r>
                      <a:r>
                        <a:rPr dirty="0" u="sng" sz="1800" spc="-10" b="1">
                          <a:solidFill>
                            <a:srgbClr val="40458B"/>
                          </a:solidFill>
                          <a:uFill>
                            <a:solidFill>
                              <a:srgbClr val="FF09FF"/>
                            </a:solidFill>
                          </a:uFill>
                          <a:latin typeface="宋体"/>
                          <a:cs typeface="宋体"/>
                        </a:rPr>
                        <a:t>（</a:t>
                      </a:r>
                      <a:r>
                        <a:rPr dirty="0" u="sng" sz="1800" spc="-10" b="1">
                          <a:solidFill>
                            <a:srgbClr val="40458B"/>
                          </a:solidFill>
                          <a:uFill>
                            <a:solidFill>
                              <a:srgbClr val="FF09FF"/>
                            </a:solidFill>
                          </a:uFill>
                          <a:latin typeface="Times New Roman"/>
                          <a:cs typeface="Times New Roman"/>
                        </a:rPr>
                        <a:t>R1</a:t>
                      </a:r>
                      <a:r>
                        <a:rPr dirty="0" u="sng" sz="1800" spc="-10" b="1">
                          <a:solidFill>
                            <a:srgbClr val="40458B"/>
                          </a:solidFill>
                          <a:uFill>
                            <a:solidFill>
                              <a:srgbClr val="FF09FF"/>
                            </a:solidFill>
                          </a:uFill>
                          <a:latin typeface="宋体"/>
                          <a:cs typeface="宋体"/>
                        </a:rPr>
                        <a:t>）</a:t>
                      </a:r>
                      <a:endParaRPr sz="1800">
                        <a:latin typeface="宋体"/>
                        <a:cs typeface="宋体"/>
                      </a:endParaRPr>
                    </a:p>
                  </a:txBody>
                  <a:tcPr marL="0" marR="0" marB="0" marT="0"/>
                </a:tc>
                <a:tc>
                  <a:txBody>
                    <a:bodyPr/>
                    <a:lstStyle/>
                    <a:p>
                      <a:pPr algn="ctr" marL="77470">
                        <a:lnSpc>
                          <a:spcPts val="2155"/>
                        </a:lnSpc>
                      </a:pPr>
                      <a:r>
                        <a:rPr dirty="0" sz="1800" spc="-25" b="1">
                          <a:solidFill>
                            <a:srgbClr val="40458B"/>
                          </a:solidFill>
                          <a:latin typeface="Times New Roman"/>
                          <a:cs typeface="Times New Roman"/>
                        </a:rPr>
                        <a:t>24</a:t>
                      </a:r>
                      <a:endParaRPr sz="1800">
                        <a:latin typeface="Times New Roman"/>
                        <a:cs typeface="Times New Roman"/>
                      </a:endParaRPr>
                    </a:p>
                  </a:txBody>
                  <a:tcPr marL="0" marR="0" marB="0" marT="0"/>
                </a:tc>
              </a:tr>
              <a:tr h="301625">
                <a:tc>
                  <a:txBody>
                    <a:bodyPr/>
                    <a:lstStyle/>
                    <a:p>
                      <a:pPr marL="244475">
                        <a:lnSpc>
                          <a:spcPts val="2155"/>
                        </a:lnSpc>
                      </a:pPr>
                      <a:r>
                        <a:rPr dirty="0" sz="1800" spc="-10" b="1">
                          <a:solidFill>
                            <a:srgbClr val="40458B"/>
                          </a:solidFill>
                          <a:latin typeface="Times New Roman"/>
                          <a:cs typeface="Times New Roman"/>
                        </a:rPr>
                        <a:t>DADDIUR1,</a:t>
                      </a:r>
                      <a:r>
                        <a:rPr dirty="0" sz="1800" spc="-20" b="1">
                          <a:solidFill>
                            <a:srgbClr val="40458B"/>
                          </a:solidFill>
                          <a:latin typeface="Times New Roman"/>
                          <a:cs typeface="Times New Roman"/>
                        </a:rPr>
                        <a:t> </a:t>
                      </a:r>
                      <a:r>
                        <a:rPr dirty="0" sz="1800" b="1">
                          <a:solidFill>
                            <a:srgbClr val="40458B"/>
                          </a:solidFill>
                          <a:latin typeface="Times New Roman"/>
                          <a:cs typeface="Times New Roman"/>
                        </a:rPr>
                        <a:t>R1,</a:t>
                      </a:r>
                      <a:r>
                        <a:rPr dirty="0" sz="1800" spc="-20" b="1">
                          <a:solidFill>
                            <a:srgbClr val="40458B"/>
                          </a:solidFill>
                          <a:latin typeface="Times New Roman"/>
                          <a:cs typeface="Times New Roman"/>
                        </a:rPr>
                        <a:t> </a:t>
                      </a:r>
                      <a:r>
                        <a:rPr dirty="0" sz="1800" b="1">
                          <a:solidFill>
                            <a:srgbClr val="40458B"/>
                          </a:solidFill>
                          <a:latin typeface="Times New Roman"/>
                          <a:cs typeface="Times New Roman"/>
                        </a:rPr>
                        <a:t>#</a:t>
                      </a:r>
                      <a:r>
                        <a:rPr dirty="0" sz="1800" spc="-35" b="1">
                          <a:solidFill>
                            <a:srgbClr val="40458B"/>
                          </a:solidFill>
                          <a:latin typeface="Times New Roman"/>
                          <a:cs typeface="Times New Roman"/>
                        </a:rPr>
                        <a:t> </a:t>
                      </a:r>
                      <a:r>
                        <a:rPr dirty="0" sz="1800" spc="-10" b="1">
                          <a:solidFill>
                            <a:srgbClr val="40458B"/>
                          </a:solidFill>
                          <a:latin typeface="Times New Roman"/>
                          <a:cs typeface="Times New Roman"/>
                        </a:rPr>
                        <a:t>-</a:t>
                      </a:r>
                      <a:r>
                        <a:rPr dirty="0" sz="1800" spc="-25" b="1">
                          <a:solidFill>
                            <a:srgbClr val="40458B"/>
                          </a:solidFill>
                          <a:latin typeface="Times New Roman"/>
                          <a:cs typeface="Times New Roman"/>
                        </a:rPr>
                        <a:t>32</a:t>
                      </a:r>
                      <a:endParaRPr sz="1800">
                        <a:latin typeface="Times New Roman"/>
                        <a:cs typeface="Times New Roman"/>
                      </a:endParaRPr>
                    </a:p>
                  </a:txBody>
                  <a:tcPr marL="0" marR="0" marB="0" marT="0"/>
                </a:tc>
                <a:tc>
                  <a:txBody>
                    <a:bodyPr/>
                    <a:lstStyle/>
                    <a:p>
                      <a:pPr algn="ctr" marL="77470">
                        <a:lnSpc>
                          <a:spcPts val="2155"/>
                        </a:lnSpc>
                      </a:pPr>
                      <a:r>
                        <a:rPr dirty="0" sz="1800" spc="-25" b="1">
                          <a:solidFill>
                            <a:srgbClr val="40458B"/>
                          </a:solidFill>
                          <a:latin typeface="Times New Roman"/>
                          <a:cs typeface="Times New Roman"/>
                        </a:rPr>
                        <a:t>25</a:t>
                      </a:r>
                      <a:endParaRPr sz="1800">
                        <a:latin typeface="Times New Roman"/>
                        <a:cs typeface="Times New Roman"/>
                      </a:endParaRPr>
                    </a:p>
                  </a:txBody>
                  <a:tcPr marL="0" marR="0" marB="0" marT="0"/>
                </a:tc>
              </a:tr>
              <a:tr h="301625">
                <a:tc>
                  <a:txBody>
                    <a:bodyPr/>
                    <a:lstStyle/>
                    <a:p>
                      <a:pPr marL="244475">
                        <a:lnSpc>
                          <a:spcPts val="2155"/>
                        </a:lnSpc>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a:txBody>
                  <a:tcPr marL="0" marR="0" marB="0" marT="0"/>
                </a:tc>
                <a:tc>
                  <a:txBody>
                    <a:bodyPr/>
                    <a:lstStyle/>
                    <a:p>
                      <a:pPr algn="ctr" marL="77470">
                        <a:lnSpc>
                          <a:spcPts val="2155"/>
                        </a:lnSpc>
                      </a:pPr>
                      <a:r>
                        <a:rPr dirty="0" sz="1800" spc="-25" b="1">
                          <a:solidFill>
                            <a:srgbClr val="CC0000"/>
                          </a:solidFill>
                          <a:latin typeface="Times New Roman"/>
                          <a:cs typeface="Times New Roman"/>
                        </a:rPr>
                        <a:t>26</a:t>
                      </a:r>
                      <a:endParaRPr sz="1800">
                        <a:latin typeface="Times New Roman"/>
                        <a:cs typeface="Times New Roman"/>
                      </a:endParaRPr>
                    </a:p>
                  </a:txBody>
                  <a:tcPr marL="0" marR="0" marB="0" marT="0"/>
                </a:tc>
              </a:tr>
              <a:tr h="301625">
                <a:tc>
                  <a:txBody>
                    <a:bodyPr/>
                    <a:lstStyle/>
                    <a:p>
                      <a:pPr marL="244475">
                        <a:lnSpc>
                          <a:spcPts val="2155"/>
                        </a:lnSpc>
                        <a:tabLst>
                          <a:tab pos="1158875" algn="l"/>
                        </a:tabLst>
                      </a:pPr>
                      <a:r>
                        <a:rPr dirty="0" sz="1800" spc="-25" b="1">
                          <a:solidFill>
                            <a:srgbClr val="40458B"/>
                          </a:solidFill>
                          <a:latin typeface="Times New Roman"/>
                          <a:cs typeface="Times New Roman"/>
                        </a:rPr>
                        <a:t>BNE</a:t>
                      </a:r>
                      <a:r>
                        <a:rPr dirty="0" sz="1800" b="1">
                          <a:solidFill>
                            <a:srgbClr val="40458B"/>
                          </a:solidFill>
                          <a:latin typeface="Times New Roman"/>
                          <a:cs typeface="Times New Roman"/>
                        </a:rPr>
                        <a:t>	R1,</a:t>
                      </a:r>
                      <a:r>
                        <a:rPr dirty="0" sz="1800" spc="-5" b="1">
                          <a:solidFill>
                            <a:srgbClr val="40458B"/>
                          </a:solidFill>
                          <a:latin typeface="Times New Roman"/>
                          <a:cs typeface="Times New Roman"/>
                        </a:rPr>
                        <a:t> </a:t>
                      </a:r>
                      <a:r>
                        <a:rPr dirty="0" sz="1800" b="1">
                          <a:solidFill>
                            <a:srgbClr val="40458B"/>
                          </a:solidFill>
                          <a:latin typeface="Times New Roman"/>
                          <a:cs typeface="Times New Roman"/>
                        </a:rPr>
                        <a:t>R2, </a:t>
                      </a:r>
                      <a:r>
                        <a:rPr dirty="0" sz="1800" spc="-20" b="1">
                          <a:solidFill>
                            <a:srgbClr val="40458B"/>
                          </a:solidFill>
                          <a:latin typeface="Times New Roman"/>
                          <a:cs typeface="Times New Roman"/>
                        </a:rPr>
                        <a:t>Loop</a:t>
                      </a:r>
                      <a:endParaRPr sz="1800">
                        <a:latin typeface="Times New Roman"/>
                        <a:cs typeface="Times New Roman"/>
                      </a:endParaRPr>
                    </a:p>
                  </a:txBody>
                  <a:tcPr marL="0" marR="0" marB="0" marT="0"/>
                </a:tc>
                <a:tc>
                  <a:txBody>
                    <a:bodyPr/>
                    <a:lstStyle/>
                    <a:p>
                      <a:pPr algn="ctr" marL="77470">
                        <a:lnSpc>
                          <a:spcPts val="2155"/>
                        </a:lnSpc>
                      </a:pPr>
                      <a:r>
                        <a:rPr dirty="0" sz="1800" spc="-25" b="1">
                          <a:solidFill>
                            <a:srgbClr val="40458B"/>
                          </a:solidFill>
                          <a:latin typeface="Times New Roman"/>
                          <a:cs typeface="Times New Roman"/>
                        </a:rPr>
                        <a:t>27</a:t>
                      </a:r>
                      <a:endParaRPr sz="1800">
                        <a:latin typeface="Times New Roman"/>
                        <a:cs typeface="Times New Roman"/>
                      </a:endParaRPr>
                    </a:p>
                  </a:txBody>
                  <a:tcPr marL="0" marR="0" marB="0" marT="0"/>
                </a:tc>
              </a:tr>
              <a:tr h="276860">
                <a:tc>
                  <a:txBody>
                    <a:bodyPr/>
                    <a:lstStyle/>
                    <a:p>
                      <a:pPr marL="244475">
                        <a:lnSpc>
                          <a:spcPts val="2085"/>
                        </a:lnSpc>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a:txBody>
                  <a:tcPr marL="0" marR="0" marB="0" marT="0"/>
                </a:tc>
                <a:tc>
                  <a:txBody>
                    <a:bodyPr/>
                    <a:lstStyle/>
                    <a:p>
                      <a:pPr algn="ctr" marL="77470">
                        <a:lnSpc>
                          <a:spcPts val="2085"/>
                        </a:lnSpc>
                      </a:pPr>
                      <a:r>
                        <a:rPr dirty="0" sz="1800" spc="-25" b="1">
                          <a:solidFill>
                            <a:srgbClr val="CC0000"/>
                          </a:solidFill>
                          <a:latin typeface="Times New Roman"/>
                          <a:cs typeface="Times New Roman"/>
                        </a:rPr>
                        <a:t>28</a:t>
                      </a:r>
                      <a:endParaRPr sz="1800">
                        <a:latin typeface="Times New Roman"/>
                        <a:cs typeface="Times New Roman"/>
                      </a:endParaRPr>
                    </a:p>
                  </a:txBody>
                  <a:tcPr marL="0" marR="0" marB="0" marT="0"/>
                </a:tc>
              </a:tr>
            </a:tbl>
          </a:graphicData>
        </a:graphic>
      </p:graphicFrame>
      <p:sp>
        <p:nvSpPr>
          <p:cNvPr id="20" name="object 20" descr=""/>
          <p:cNvSpPr/>
          <p:nvPr/>
        </p:nvSpPr>
        <p:spPr>
          <a:xfrm>
            <a:off x="8256651" y="1408175"/>
            <a:ext cx="0" cy="4319905"/>
          </a:xfrm>
          <a:custGeom>
            <a:avLst/>
            <a:gdLst/>
            <a:ahLst/>
            <a:cxnLst/>
            <a:rect l="l" t="t" r="r" b="b"/>
            <a:pathLst>
              <a:path w="0" h="4319905">
                <a:moveTo>
                  <a:pt x="0" y="0"/>
                </a:moveTo>
                <a:lnTo>
                  <a:pt x="0" y="4319524"/>
                </a:lnTo>
              </a:path>
            </a:pathLst>
          </a:custGeom>
          <a:ln w="9525">
            <a:solidFill>
              <a:srgbClr val="40458B"/>
            </a:solidFill>
          </a:ln>
        </p:spPr>
        <p:txBody>
          <a:bodyPr wrap="square" lIns="0" tIns="0" rIns="0" bIns="0" rtlCol="0"/>
          <a:lstStyle/>
          <a:p/>
        </p:txBody>
      </p:sp>
      <p:sp>
        <p:nvSpPr>
          <p:cNvPr id="21" name="object 21" descr=""/>
          <p:cNvSpPr/>
          <p:nvPr/>
        </p:nvSpPr>
        <p:spPr>
          <a:xfrm>
            <a:off x="10504551" y="4940300"/>
            <a:ext cx="484505" cy="69850"/>
          </a:xfrm>
          <a:custGeom>
            <a:avLst/>
            <a:gdLst/>
            <a:ahLst/>
            <a:cxnLst/>
            <a:rect l="l" t="t" r="r" b="b"/>
            <a:pathLst>
              <a:path w="484504" h="69850">
                <a:moveTo>
                  <a:pt x="0" y="0"/>
                </a:moveTo>
                <a:lnTo>
                  <a:pt x="28524" y="11134"/>
                </a:lnTo>
                <a:lnTo>
                  <a:pt x="38118" y="14741"/>
                </a:lnTo>
                <a:lnTo>
                  <a:pt x="37877" y="15843"/>
                </a:lnTo>
                <a:lnTo>
                  <a:pt x="69088" y="54356"/>
                </a:lnTo>
                <a:lnTo>
                  <a:pt x="114575" y="67821"/>
                </a:lnTo>
                <a:lnTo>
                  <a:pt x="122935" y="69850"/>
                </a:lnTo>
                <a:lnTo>
                  <a:pt x="129407" y="54574"/>
                </a:lnTo>
                <a:lnTo>
                  <a:pt x="138699" y="34702"/>
                </a:lnTo>
                <a:lnTo>
                  <a:pt x="151636" y="16879"/>
                </a:lnTo>
                <a:lnTo>
                  <a:pt x="169037" y="7747"/>
                </a:lnTo>
                <a:lnTo>
                  <a:pt x="178708" y="7903"/>
                </a:lnTo>
                <a:lnTo>
                  <a:pt x="188309" y="10048"/>
                </a:lnTo>
                <a:lnTo>
                  <a:pt x="197862" y="12979"/>
                </a:lnTo>
                <a:lnTo>
                  <a:pt x="207391" y="15493"/>
                </a:lnTo>
                <a:lnTo>
                  <a:pt x="216868" y="10876"/>
                </a:lnTo>
                <a:lnTo>
                  <a:pt x="226250" y="5794"/>
                </a:lnTo>
                <a:lnTo>
                  <a:pt x="235823" y="1688"/>
                </a:lnTo>
                <a:lnTo>
                  <a:pt x="245872" y="0"/>
                </a:lnTo>
                <a:lnTo>
                  <a:pt x="254121" y="1581"/>
                </a:lnTo>
                <a:lnTo>
                  <a:pt x="261858" y="5508"/>
                </a:lnTo>
                <a:lnTo>
                  <a:pt x="269285" y="10554"/>
                </a:lnTo>
                <a:lnTo>
                  <a:pt x="276605" y="15493"/>
                </a:lnTo>
                <a:lnTo>
                  <a:pt x="308762" y="36246"/>
                </a:lnTo>
                <a:lnTo>
                  <a:pt x="318595" y="44068"/>
                </a:lnTo>
                <a:lnTo>
                  <a:pt x="324737" y="47319"/>
                </a:lnTo>
                <a:lnTo>
                  <a:pt x="345821" y="54356"/>
                </a:lnTo>
                <a:lnTo>
                  <a:pt x="352837" y="43872"/>
                </a:lnTo>
                <a:lnTo>
                  <a:pt x="359473" y="32877"/>
                </a:lnTo>
                <a:lnTo>
                  <a:pt x="366966" y="22905"/>
                </a:lnTo>
                <a:lnTo>
                  <a:pt x="376554" y="15493"/>
                </a:lnTo>
                <a:lnTo>
                  <a:pt x="383928" y="14186"/>
                </a:lnTo>
                <a:lnTo>
                  <a:pt x="391731" y="16176"/>
                </a:lnTo>
                <a:lnTo>
                  <a:pt x="399629" y="19762"/>
                </a:lnTo>
                <a:lnTo>
                  <a:pt x="407289" y="23241"/>
                </a:lnTo>
                <a:lnTo>
                  <a:pt x="424459" y="31960"/>
                </a:lnTo>
                <a:lnTo>
                  <a:pt x="441213" y="42227"/>
                </a:lnTo>
                <a:lnTo>
                  <a:pt x="458277" y="50780"/>
                </a:lnTo>
                <a:lnTo>
                  <a:pt x="476376" y="54356"/>
                </a:lnTo>
                <a:lnTo>
                  <a:pt x="481730" y="50958"/>
                </a:lnTo>
                <a:lnTo>
                  <a:pt x="483298" y="42703"/>
                </a:lnTo>
                <a:lnTo>
                  <a:pt x="483342" y="32496"/>
                </a:lnTo>
                <a:lnTo>
                  <a:pt x="484124" y="23241"/>
                </a:lnTo>
              </a:path>
            </a:pathLst>
          </a:custGeom>
          <a:ln w="9525">
            <a:solidFill>
              <a:srgbClr val="FF0000"/>
            </a:solidFill>
          </a:ln>
        </p:spPr>
        <p:txBody>
          <a:bodyPr wrap="square" lIns="0" tIns="0" rIns="0" bIns="0" rtlCol="0"/>
          <a:lstStyle/>
          <a:p/>
        </p:txBody>
      </p:sp>
      <p:sp>
        <p:nvSpPr>
          <p:cNvPr id="22" name="object 22" descr=""/>
          <p:cNvSpPr/>
          <p:nvPr/>
        </p:nvSpPr>
        <p:spPr>
          <a:xfrm>
            <a:off x="8688451" y="5661025"/>
            <a:ext cx="2376805" cy="192405"/>
          </a:xfrm>
          <a:custGeom>
            <a:avLst/>
            <a:gdLst/>
            <a:ahLst/>
            <a:cxnLst/>
            <a:rect l="l" t="t" r="r" b="b"/>
            <a:pathLst>
              <a:path w="2376804" h="192404">
                <a:moveTo>
                  <a:pt x="0" y="192087"/>
                </a:moveTo>
                <a:lnTo>
                  <a:pt x="44495" y="182104"/>
                </a:lnTo>
                <a:lnTo>
                  <a:pt x="112175" y="167343"/>
                </a:lnTo>
                <a:lnTo>
                  <a:pt x="155554" y="158248"/>
                </a:lnTo>
                <a:lnTo>
                  <a:pt x="169675" y="155347"/>
                </a:lnTo>
                <a:lnTo>
                  <a:pt x="179573" y="153289"/>
                </a:lnTo>
                <a:lnTo>
                  <a:pt x="185865" y="151884"/>
                </a:lnTo>
                <a:lnTo>
                  <a:pt x="189169" y="150939"/>
                </a:lnTo>
                <a:lnTo>
                  <a:pt x="190103" y="150265"/>
                </a:lnTo>
                <a:lnTo>
                  <a:pt x="189284" y="149670"/>
                </a:lnTo>
                <a:lnTo>
                  <a:pt x="187329" y="148964"/>
                </a:lnTo>
                <a:lnTo>
                  <a:pt x="184855" y="147954"/>
                </a:lnTo>
                <a:lnTo>
                  <a:pt x="182480" y="146450"/>
                </a:lnTo>
                <a:lnTo>
                  <a:pt x="180822" y="144262"/>
                </a:lnTo>
                <a:lnTo>
                  <a:pt x="180498" y="141198"/>
                </a:lnTo>
                <a:lnTo>
                  <a:pt x="182124" y="137066"/>
                </a:lnTo>
                <a:lnTo>
                  <a:pt x="220492" y="106052"/>
                </a:lnTo>
                <a:lnTo>
                  <a:pt x="267435" y="79176"/>
                </a:lnTo>
                <a:lnTo>
                  <a:pt x="339471" y="42684"/>
                </a:lnTo>
                <a:lnTo>
                  <a:pt x="440036" y="23268"/>
                </a:lnTo>
                <a:lnTo>
                  <a:pt x="514002" y="12329"/>
                </a:lnTo>
                <a:lnTo>
                  <a:pt x="575544" y="3772"/>
                </a:lnTo>
                <a:lnTo>
                  <a:pt x="603503" y="0"/>
                </a:lnTo>
                <a:lnTo>
                  <a:pt x="623337" y="25716"/>
                </a:lnTo>
                <a:lnTo>
                  <a:pt x="648716" y="59765"/>
                </a:lnTo>
                <a:lnTo>
                  <a:pt x="680847" y="96718"/>
                </a:lnTo>
                <a:lnTo>
                  <a:pt x="720936" y="131149"/>
                </a:lnTo>
                <a:lnTo>
                  <a:pt x="770191" y="157631"/>
                </a:lnTo>
                <a:lnTo>
                  <a:pt x="829818" y="170738"/>
                </a:lnTo>
                <a:lnTo>
                  <a:pt x="877288" y="170307"/>
                </a:lnTo>
                <a:lnTo>
                  <a:pt x="924401" y="164428"/>
                </a:lnTo>
                <a:lnTo>
                  <a:pt x="971371" y="156370"/>
                </a:lnTo>
                <a:lnTo>
                  <a:pt x="1018413" y="149402"/>
                </a:lnTo>
                <a:lnTo>
                  <a:pt x="1064883" y="162073"/>
                </a:lnTo>
                <a:lnTo>
                  <a:pt x="1110900" y="176079"/>
                </a:lnTo>
                <a:lnTo>
                  <a:pt x="1157823" y="187418"/>
                </a:lnTo>
                <a:lnTo>
                  <a:pt x="1207007" y="192087"/>
                </a:lnTo>
                <a:lnTo>
                  <a:pt x="1247548" y="187720"/>
                </a:lnTo>
                <a:lnTo>
                  <a:pt x="1285494" y="176884"/>
                </a:lnTo>
                <a:lnTo>
                  <a:pt x="1321915" y="162978"/>
                </a:lnTo>
                <a:lnTo>
                  <a:pt x="1357883" y="149402"/>
                </a:lnTo>
                <a:lnTo>
                  <a:pt x="1412648" y="130534"/>
                </a:lnTo>
                <a:lnTo>
                  <a:pt x="1456262" y="114971"/>
                </a:lnTo>
                <a:lnTo>
                  <a:pt x="1515762" y="92323"/>
                </a:lnTo>
                <a:lnTo>
                  <a:pt x="1557161" y="74145"/>
                </a:lnTo>
                <a:lnTo>
                  <a:pt x="1563925" y="70859"/>
                </a:lnTo>
                <a:lnTo>
                  <a:pt x="1569556" y="68360"/>
                </a:lnTo>
                <a:lnTo>
                  <a:pt x="1609379" y="59039"/>
                </a:lnTo>
                <a:lnTo>
                  <a:pt x="1659706" y="49747"/>
                </a:lnTo>
                <a:lnTo>
                  <a:pt x="1697481" y="42684"/>
                </a:lnTo>
                <a:lnTo>
                  <a:pt x="1732147" y="71501"/>
                </a:lnTo>
                <a:lnTo>
                  <a:pt x="1764776" y="101744"/>
                </a:lnTo>
                <a:lnTo>
                  <a:pt x="1801477" y="129136"/>
                </a:lnTo>
                <a:lnTo>
                  <a:pt x="1848357" y="149402"/>
                </a:lnTo>
                <a:lnTo>
                  <a:pt x="1884683" y="153082"/>
                </a:lnTo>
                <a:lnTo>
                  <a:pt x="1923034" y="147596"/>
                </a:lnTo>
                <a:lnTo>
                  <a:pt x="1961765" y="137676"/>
                </a:lnTo>
                <a:lnTo>
                  <a:pt x="1999233" y="128054"/>
                </a:lnTo>
                <a:lnTo>
                  <a:pt x="2047929" y="115407"/>
                </a:lnTo>
                <a:lnTo>
                  <a:pt x="2095414" y="100132"/>
                </a:lnTo>
                <a:lnTo>
                  <a:pt x="2142375" y="83896"/>
                </a:lnTo>
                <a:lnTo>
                  <a:pt x="2189498" y="68367"/>
                </a:lnTo>
                <a:lnTo>
                  <a:pt x="2237470" y="55210"/>
                </a:lnTo>
                <a:lnTo>
                  <a:pt x="2286976" y="46094"/>
                </a:lnTo>
                <a:lnTo>
                  <a:pt x="2338704" y="42684"/>
                </a:lnTo>
                <a:lnTo>
                  <a:pt x="2364690" y="52023"/>
                </a:lnTo>
                <a:lnTo>
                  <a:pt x="2372280" y="74701"/>
                </a:lnTo>
                <a:lnTo>
                  <a:pt x="2372512" y="102713"/>
                </a:lnTo>
                <a:lnTo>
                  <a:pt x="2376424" y="128054"/>
                </a:lnTo>
              </a:path>
            </a:pathLst>
          </a:custGeom>
          <a:ln w="9525">
            <a:solidFill>
              <a:srgbClr val="FF0000"/>
            </a:solidFill>
          </a:ln>
        </p:spPr>
        <p:txBody>
          <a:bodyPr wrap="square" lIns="0" tIns="0" rIns="0" bIns="0" rtlCol="0"/>
          <a:lstStyle/>
          <a:p/>
        </p:txBody>
      </p:sp>
      <p:sp>
        <p:nvSpPr>
          <p:cNvPr id="23" name="object 23" descr=""/>
          <p:cNvSpPr txBox="1"/>
          <p:nvPr/>
        </p:nvSpPr>
        <p:spPr>
          <a:xfrm>
            <a:off x="108915" y="1702918"/>
            <a:ext cx="3319145" cy="3105150"/>
          </a:xfrm>
          <a:prstGeom prst="rect">
            <a:avLst/>
          </a:prstGeom>
        </p:spPr>
        <p:txBody>
          <a:bodyPr wrap="square" lIns="0" tIns="203835" rIns="0" bIns="0" rtlCol="0" vert="horz">
            <a:spAutoFit/>
          </a:bodyPr>
          <a:lstStyle/>
          <a:p>
            <a:pPr marL="12700">
              <a:lnSpc>
                <a:spcPct val="100000"/>
              </a:lnSpc>
              <a:spcBef>
                <a:spcPts val="1605"/>
              </a:spcBef>
            </a:pPr>
            <a:r>
              <a:rPr dirty="0" sz="2400">
                <a:solidFill>
                  <a:srgbClr val="FF0000"/>
                </a:solidFill>
                <a:latin typeface="黑体"/>
                <a:cs typeface="黑体"/>
              </a:rPr>
              <a:t>分析：从</a:t>
            </a:r>
            <a:r>
              <a:rPr dirty="0" sz="2400" spc="-25">
                <a:solidFill>
                  <a:srgbClr val="FF0000"/>
                </a:solidFill>
                <a:latin typeface="Tahoma"/>
                <a:cs typeface="Tahoma"/>
              </a:rPr>
              <a:t>3</a:t>
            </a:r>
            <a:r>
              <a:rPr dirty="0" sz="2400" spc="-20">
                <a:solidFill>
                  <a:srgbClr val="FF0000"/>
                </a:solidFill>
                <a:latin typeface="黑体"/>
                <a:cs typeface="黑体"/>
              </a:rPr>
              <a:t>个方面</a:t>
            </a:r>
            <a:endParaRPr sz="2400">
              <a:latin typeface="黑体"/>
              <a:cs typeface="黑体"/>
            </a:endParaRPr>
          </a:p>
          <a:p>
            <a:pPr marL="355600" marR="5080" indent="-342900">
              <a:lnSpc>
                <a:spcPct val="150000"/>
              </a:lnSpc>
              <a:spcBef>
                <a:spcPts val="60"/>
              </a:spcBef>
              <a:buClr>
                <a:srgbClr val="0000CC"/>
              </a:buClr>
              <a:buFont typeface="Wingdings"/>
              <a:buChar char=""/>
              <a:tabLst>
                <a:tab pos="355600" algn="l"/>
              </a:tabLst>
            </a:pPr>
            <a:r>
              <a:rPr dirty="0" sz="2200" spc="-15">
                <a:solidFill>
                  <a:srgbClr val="40458B"/>
                </a:solidFill>
                <a:latin typeface="Tahoma"/>
                <a:cs typeface="Tahoma"/>
              </a:rPr>
              <a:t>1</a:t>
            </a:r>
            <a:r>
              <a:rPr dirty="0" sz="2200" spc="-25">
                <a:solidFill>
                  <a:srgbClr val="40458B"/>
                </a:solidFill>
                <a:latin typeface="黑体"/>
                <a:cs typeface="黑体"/>
              </a:rPr>
              <a:t>、循环每遍共使用了</a:t>
            </a:r>
            <a:r>
              <a:rPr dirty="0" sz="2200" spc="-15">
                <a:solidFill>
                  <a:srgbClr val="40458B"/>
                </a:solidFill>
                <a:latin typeface="黑体"/>
                <a:cs typeface="黑体"/>
              </a:rPr>
              <a:t> </a:t>
            </a:r>
            <a:r>
              <a:rPr dirty="0" sz="2200" spc="-15">
                <a:solidFill>
                  <a:srgbClr val="40458B"/>
                </a:solidFill>
                <a:latin typeface="Tahoma"/>
                <a:cs typeface="Tahoma"/>
              </a:rPr>
              <a:t>28</a:t>
            </a:r>
            <a:r>
              <a:rPr dirty="0" sz="2200" spc="-20">
                <a:solidFill>
                  <a:srgbClr val="40458B"/>
                </a:solidFill>
                <a:latin typeface="黑体"/>
                <a:cs typeface="黑体"/>
              </a:rPr>
              <a:t>个时钟周期。</a:t>
            </a:r>
            <a:r>
              <a:rPr dirty="0" sz="2200" spc="-15">
                <a:solidFill>
                  <a:srgbClr val="40458B"/>
                </a:solidFill>
                <a:latin typeface="Tahoma"/>
                <a:cs typeface="Tahoma"/>
              </a:rPr>
              <a:t>4</a:t>
            </a:r>
            <a:r>
              <a:rPr dirty="0" sz="2200" spc="-25">
                <a:solidFill>
                  <a:srgbClr val="40458B"/>
                </a:solidFill>
                <a:latin typeface="黑体"/>
                <a:cs typeface="黑体"/>
              </a:rPr>
              <a:t>个循环</a:t>
            </a:r>
            <a:r>
              <a:rPr dirty="0" sz="2200" spc="-15">
                <a:solidFill>
                  <a:srgbClr val="40458B"/>
                </a:solidFill>
                <a:latin typeface="黑体"/>
                <a:cs typeface="黑体"/>
              </a:rPr>
              <a:t>体，完成</a:t>
            </a:r>
            <a:r>
              <a:rPr dirty="0" sz="2200" spc="-15">
                <a:solidFill>
                  <a:srgbClr val="40458B"/>
                </a:solidFill>
                <a:latin typeface="Tahoma"/>
                <a:cs typeface="Tahoma"/>
              </a:rPr>
              <a:t>4</a:t>
            </a:r>
            <a:r>
              <a:rPr dirty="0" sz="2200" spc="-25">
                <a:solidFill>
                  <a:srgbClr val="40458B"/>
                </a:solidFill>
                <a:latin typeface="黑体"/>
                <a:cs typeface="黑体"/>
              </a:rPr>
              <a:t>个元素的操作，平均每个元素使用</a:t>
            </a:r>
            <a:r>
              <a:rPr dirty="0" sz="2200" spc="-15">
                <a:solidFill>
                  <a:srgbClr val="40458B"/>
                </a:solidFill>
                <a:latin typeface="黑体"/>
                <a:cs typeface="黑体"/>
              </a:rPr>
              <a:t> </a:t>
            </a:r>
            <a:r>
              <a:rPr dirty="0" sz="2200" spc="-15">
                <a:solidFill>
                  <a:srgbClr val="40458B"/>
                </a:solidFill>
                <a:latin typeface="Tahoma"/>
                <a:cs typeface="Tahoma"/>
              </a:rPr>
              <a:t>28/4=7</a:t>
            </a:r>
            <a:r>
              <a:rPr dirty="0" sz="2200" spc="-15">
                <a:solidFill>
                  <a:srgbClr val="40458B"/>
                </a:solidFill>
                <a:latin typeface="黑体"/>
                <a:cs typeface="黑体"/>
              </a:rPr>
              <a:t>个时钟周期</a:t>
            </a:r>
            <a:endParaRPr sz="2200">
              <a:latin typeface="黑体"/>
              <a:cs typeface="黑体"/>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20/89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528955">
              <a:lnSpc>
                <a:spcPct val="100000"/>
              </a:lnSpc>
              <a:spcBef>
                <a:spcPts val="100"/>
              </a:spcBef>
            </a:pPr>
            <a:r>
              <a:rPr dirty="0" u="none" sz="2400" spc="-20" b="1">
                <a:solidFill>
                  <a:srgbClr val="0000CC"/>
                </a:solidFill>
                <a:latin typeface="宋体"/>
                <a:cs typeface="宋体"/>
              </a:rPr>
              <a:t>展开后没有调度的代码如下</a:t>
            </a:r>
            <a:r>
              <a:rPr dirty="0" u="none" sz="2400" spc="-10" b="1">
                <a:solidFill>
                  <a:srgbClr val="0000CC"/>
                </a:solidFill>
                <a:latin typeface="Times New Roman"/>
                <a:cs typeface="Times New Roman"/>
              </a:rPr>
              <a:t>(</a:t>
            </a:r>
            <a:r>
              <a:rPr dirty="0" u="none" sz="2400" spc="-20" b="1">
                <a:solidFill>
                  <a:srgbClr val="0000CC"/>
                </a:solidFill>
                <a:latin typeface="宋体"/>
                <a:cs typeface="宋体"/>
              </a:rPr>
              <a:t>优化，需要分配寄存器</a:t>
            </a:r>
            <a:r>
              <a:rPr dirty="0" u="none" sz="2400" spc="-50" b="1">
                <a:solidFill>
                  <a:srgbClr val="0000CC"/>
                </a:solidFill>
                <a:latin typeface="Times New Roman"/>
                <a:cs typeface="Times New Roman"/>
              </a:rPr>
              <a:t>)</a:t>
            </a:r>
            <a:endParaRPr sz="2400">
              <a:latin typeface="Times New Roman"/>
              <a:cs typeface="Times New Roman"/>
            </a:endParaRPr>
          </a:p>
        </p:txBody>
      </p:sp>
      <p:sp>
        <p:nvSpPr>
          <p:cNvPr id="10" name="object 10" descr=""/>
          <p:cNvSpPr txBox="1"/>
          <p:nvPr/>
        </p:nvSpPr>
        <p:spPr>
          <a:xfrm>
            <a:off x="6456679" y="1120521"/>
            <a:ext cx="1406525" cy="1836420"/>
          </a:xfrm>
          <a:prstGeom prst="rect">
            <a:avLst/>
          </a:prstGeom>
        </p:spPr>
        <p:txBody>
          <a:bodyPr wrap="square" lIns="0" tIns="40005" rIns="0" bIns="0" rtlCol="0" vert="horz">
            <a:spAutoFit/>
          </a:bodyPr>
          <a:lstStyle/>
          <a:p>
            <a:pPr marL="12700">
              <a:lnSpc>
                <a:spcPct val="100000"/>
              </a:lnSpc>
              <a:spcBef>
                <a:spcPts val="315"/>
              </a:spcBef>
            </a:pPr>
            <a:r>
              <a:rPr dirty="0" sz="1800" spc="-20" b="1">
                <a:solidFill>
                  <a:srgbClr val="006600"/>
                </a:solidFill>
                <a:latin typeface="宋体"/>
                <a:cs typeface="宋体"/>
              </a:rPr>
              <a:t>指令流出时钟</a:t>
            </a:r>
            <a:endParaRPr sz="1800">
              <a:latin typeface="宋体"/>
              <a:cs typeface="宋体"/>
            </a:endParaRPr>
          </a:p>
          <a:p>
            <a:pPr algn="ctr" marL="333375">
              <a:lnSpc>
                <a:spcPct val="100000"/>
              </a:lnSpc>
              <a:spcBef>
                <a:spcPts val="215"/>
              </a:spcBef>
            </a:pPr>
            <a:r>
              <a:rPr dirty="0" sz="1800" spc="-50" b="1">
                <a:solidFill>
                  <a:srgbClr val="40458B"/>
                </a:solidFill>
                <a:latin typeface="Times New Roman"/>
                <a:cs typeface="Times New Roman"/>
              </a:rPr>
              <a:t>1</a:t>
            </a:r>
            <a:endParaRPr sz="1800">
              <a:latin typeface="Times New Roman"/>
              <a:cs typeface="Times New Roman"/>
            </a:endParaRPr>
          </a:p>
          <a:p>
            <a:pPr algn="ctr" marL="333375">
              <a:lnSpc>
                <a:spcPct val="100000"/>
              </a:lnSpc>
              <a:spcBef>
                <a:spcPts val="215"/>
              </a:spcBef>
            </a:pPr>
            <a:r>
              <a:rPr dirty="0" sz="1800" spc="-50" b="1">
                <a:solidFill>
                  <a:srgbClr val="CC0000"/>
                </a:solidFill>
                <a:latin typeface="Times New Roman"/>
                <a:cs typeface="Times New Roman"/>
              </a:rPr>
              <a:t>2</a:t>
            </a:r>
            <a:endParaRPr sz="1800">
              <a:latin typeface="Times New Roman"/>
              <a:cs typeface="Times New Roman"/>
            </a:endParaRPr>
          </a:p>
          <a:p>
            <a:pPr algn="ctr" marL="333375">
              <a:lnSpc>
                <a:spcPct val="100000"/>
              </a:lnSpc>
              <a:spcBef>
                <a:spcPts val="215"/>
              </a:spcBef>
            </a:pPr>
            <a:r>
              <a:rPr dirty="0" sz="1800" spc="-50" b="1">
                <a:solidFill>
                  <a:srgbClr val="40458B"/>
                </a:solidFill>
                <a:latin typeface="Times New Roman"/>
                <a:cs typeface="Times New Roman"/>
              </a:rPr>
              <a:t>3</a:t>
            </a:r>
            <a:endParaRPr sz="1800">
              <a:latin typeface="Times New Roman"/>
              <a:cs typeface="Times New Roman"/>
            </a:endParaRPr>
          </a:p>
          <a:p>
            <a:pPr algn="ctr" marL="333375">
              <a:lnSpc>
                <a:spcPct val="100000"/>
              </a:lnSpc>
              <a:spcBef>
                <a:spcPts val="219"/>
              </a:spcBef>
            </a:pPr>
            <a:r>
              <a:rPr dirty="0" sz="1800" spc="-50" b="1">
                <a:solidFill>
                  <a:srgbClr val="CC0000"/>
                </a:solidFill>
                <a:latin typeface="Times New Roman"/>
                <a:cs typeface="Times New Roman"/>
              </a:rPr>
              <a:t>4</a:t>
            </a:r>
            <a:endParaRPr sz="1800">
              <a:latin typeface="Times New Roman"/>
              <a:cs typeface="Times New Roman"/>
            </a:endParaRPr>
          </a:p>
          <a:p>
            <a:pPr algn="ctr" marL="333375">
              <a:lnSpc>
                <a:spcPct val="100000"/>
              </a:lnSpc>
              <a:spcBef>
                <a:spcPts val="215"/>
              </a:spcBef>
            </a:pPr>
            <a:r>
              <a:rPr dirty="0" sz="1800" spc="-50" b="1">
                <a:solidFill>
                  <a:srgbClr val="CC0000"/>
                </a:solidFill>
                <a:latin typeface="Times New Roman"/>
                <a:cs typeface="Times New Roman"/>
              </a:rPr>
              <a:t>5</a:t>
            </a:r>
            <a:endParaRPr sz="1800">
              <a:latin typeface="Times New Roman"/>
              <a:cs typeface="Times New Roman"/>
            </a:endParaRPr>
          </a:p>
        </p:txBody>
      </p:sp>
      <p:sp>
        <p:nvSpPr>
          <p:cNvPr id="11" name="object 11" descr=""/>
          <p:cNvSpPr txBox="1"/>
          <p:nvPr/>
        </p:nvSpPr>
        <p:spPr>
          <a:xfrm>
            <a:off x="3598545" y="1449704"/>
            <a:ext cx="1315720" cy="299720"/>
          </a:xfrm>
          <a:prstGeom prst="rect">
            <a:avLst/>
          </a:prstGeom>
        </p:spPr>
        <p:txBody>
          <a:bodyPr wrap="square" lIns="0" tIns="12700" rIns="0" bIns="0" rtlCol="0" vert="horz">
            <a:spAutoFit/>
          </a:bodyPr>
          <a:lstStyle/>
          <a:p>
            <a:pPr marL="12700">
              <a:lnSpc>
                <a:spcPct val="100000"/>
              </a:lnSpc>
              <a:spcBef>
                <a:spcPts val="100"/>
              </a:spcBef>
              <a:tabLst>
                <a:tab pos="927100" algn="l"/>
              </a:tabLst>
            </a:pPr>
            <a:r>
              <a:rPr dirty="0" sz="1800" spc="-10" b="1">
                <a:solidFill>
                  <a:srgbClr val="40458B"/>
                </a:solidFill>
                <a:latin typeface="Times New Roman"/>
                <a:cs typeface="Times New Roman"/>
              </a:rPr>
              <a:t>Loop:</a:t>
            </a:r>
            <a:r>
              <a:rPr dirty="0" sz="1800" b="1">
                <a:solidFill>
                  <a:srgbClr val="40458B"/>
                </a:solidFill>
                <a:latin typeface="Times New Roman"/>
                <a:cs typeface="Times New Roman"/>
              </a:rPr>
              <a:t>	</a:t>
            </a:r>
            <a:r>
              <a:rPr dirty="0" sz="1800" spc="-25" b="1">
                <a:solidFill>
                  <a:srgbClr val="40458B"/>
                </a:solidFill>
                <a:latin typeface="Times New Roman"/>
                <a:cs typeface="Times New Roman"/>
              </a:rPr>
              <a:t>L.D</a:t>
            </a:r>
            <a:endParaRPr sz="1800">
              <a:latin typeface="Times New Roman"/>
              <a:cs typeface="Times New Roman"/>
            </a:endParaRPr>
          </a:p>
        </p:txBody>
      </p:sp>
      <p:sp>
        <p:nvSpPr>
          <p:cNvPr id="12" name="object 12" descr=""/>
          <p:cNvSpPr txBox="1"/>
          <p:nvPr/>
        </p:nvSpPr>
        <p:spPr>
          <a:xfrm>
            <a:off x="5427726" y="1449704"/>
            <a:ext cx="940435" cy="299720"/>
          </a:xfrm>
          <a:prstGeom prst="rect">
            <a:avLst/>
          </a:prstGeom>
        </p:spPr>
        <p:txBody>
          <a:bodyPr wrap="square" lIns="0" tIns="12700" rIns="0" bIns="0" rtlCol="0" vert="horz">
            <a:spAutoFit/>
          </a:bodyPr>
          <a:lstStyle/>
          <a:p>
            <a:pPr marL="12700">
              <a:lnSpc>
                <a:spcPct val="100000"/>
              </a:lnSpc>
              <a:spcBef>
                <a:spcPts val="100"/>
              </a:spcBef>
            </a:pPr>
            <a:r>
              <a:rPr dirty="0" sz="1800" b="1">
                <a:solidFill>
                  <a:srgbClr val="40458B"/>
                </a:solidFill>
                <a:latin typeface="Times New Roman"/>
                <a:cs typeface="Times New Roman"/>
              </a:rPr>
              <a:t>F0,</a:t>
            </a:r>
            <a:r>
              <a:rPr dirty="0" sz="1800" spc="-25" b="1">
                <a:solidFill>
                  <a:srgbClr val="40458B"/>
                </a:solidFill>
                <a:latin typeface="Times New Roman"/>
                <a:cs typeface="Times New Roman"/>
              </a:rPr>
              <a:t> </a:t>
            </a:r>
            <a:r>
              <a:rPr dirty="0" sz="1800" spc="-10" b="1">
                <a:solidFill>
                  <a:srgbClr val="40458B"/>
                </a:solidFill>
                <a:latin typeface="Times New Roman"/>
                <a:cs typeface="Times New Roman"/>
              </a:rPr>
              <a:t>0(R1)</a:t>
            </a:r>
            <a:endParaRPr sz="1800">
              <a:latin typeface="Times New Roman"/>
              <a:cs typeface="Times New Roman"/>
            </a:endParaRPr>
          </a:p>
        </p:txBody>
      </p:sp>
      <p:sp>
        <p:nvSpPr>
          <p:cNvPr id="13" name="object 13" descr=""/>
          <p:cNvSpPr txBox="1"/>
          <p:nvPr/>
        </p:nvSpPr>
        <p:spPr>
          <a:xfrm>
            <a:off x="4513326" y="1751457"/>
            <a:ext cx="946150" cy="299720"/>
          </a:xfrm>
          <a:prstGeom prst="rect">
            <a:avLst/>
          </a:prstGeom>
        </p:spPr>
        <p:txBody>
          <a:bodyPr wrap="square" lIns="0" tIns="12700" rIns="0" bIns="0" rtlCol="0" vert="horz">
            <a:spAutoFit/>
          </a:bodyPr>
          <a:lstStyle/>
          <a:p>
            <a:pPr marL="12700">
              <a:lnSpc>
                <a:spcPct val="100000"/>
              </a:lnSpc>
              <a:spcBef>
                <a:spcPts val="100"/>
              </a:spcBef>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p:txBody>
      </p:sp>
      <p:sp>
        <p:nvSpPr>
          <p:cNvPr id="14" name="object 14" descr=""/>
          <p:cNvSpPr txBox="1"/>
          <p:nvPr/>
        </p:nvSpPr>
        <p:spPr>
          <a:xfrm>
            <a:off x="4513326" y="2053209"/>
            <a:ext cx="742315" cy="299720"/>
          </a:xfrm>
          <a:prstGeom prst="rect">
            <a:avLst/>
          </a:prstGeom>
        </p:spPr>
        <p:txBody>
          <a:bodyPr wrap="square" lIns="0" tIns="12700" rIns="0" bIns="0" rtlCol="0" vert="horz">
            <a:spAutoFit/>
          </a:bodyPr>
          <a:lstStyle/>
          <a:p>
            <a:pPr marL="12700">
              <a:lnSpc>
                <a:spcPct val="100000"/>
              </a:lnSpc>
              <a:spcBef>
                <a:spcPts val="100"/>
              </a:spcBef>
            </a:pPr>
            <a:r>
              <a:rPr dirty="0" sz="1800" spc="-10" b="1">
                <a:solidFill>
                  <a:srgbClr val="40458B"/>
                </a:solidFill>
                <a:latin typeface="Times New Roman"/>
                <a:cs typeface="Times New Roman"/>
              </a:rPr>
              <a:t>ADD.D</a:t>
            </a:r>
            <a:endParaRPr sz="1800">
              <a:latin typeface="Times New Roman"/>
              <a:cs typeface="Times New Roman"/>
            </a:endParaRPr>
          </a:p>
        </p:txBody>
      </p:sp>
      <p:sp>
        <p:nvSpPr>
          <p:cNvPr id="15" name="object 15" descr=""/>
          <p:cNvSpPr txBox="1"/>
          <p:nvPr/>
        </p:nvSpPr>
        <p:spPr>
          <a:xfrm>
            <a:off x="5427726" y="2053209"/>
            <a:ext cx="1015365" cy="299720"/>
          </a:xfrm>
          <a:prstGeom prst="rect">
            <a:avLst/>
          </a:prstGeom>
        </p:spPr>
        <p:txBody>
          <a:bodyPr wrap="square" lIns="0" tIns="12700" rIns="0" bIns="0" rtlCol="0" vert="horz">
            <a:spAutoFit/>
          </a:bodyPr>
          <a:lstStyle/>
          <a:p>
            <a:pPr marL="12700">
              <a:lnSpc>
                <a:spcPct val="100000"/>
              </a:lnSpc>
              <a:spcBef>
                <a:spcPts val="100"/>
              </a:spcBef>
            </a:pPr>
            <a:r>
              <a:rPr dirty="0" sz="1800" b="1">
                <a:solidFill>
                  <a:srgbClr val="40458B"/>
                </a:solidFill>
                <a:latin typeface="Times New Roman"/>
                <a:cs typeface="Times New Roman"/>
              </a:rPr>
              <a:t>F4,</a:t>
            </a:r>
            <a:r>
              <a:rPr dirty="0" sz="1800" spc="-25" b="1">
                <a:solidFill>
                  <a:srgbClr val="40458B"/>
                </a:solidFill>
                <a:latin typeface="Times New Roman"/>
                <a:cs typeface="Times New Roman"/>
              </a:rPr>
              <a:t> </a:t>
            </a:r>
            <a:r>
              <a:rPr dirty="0" sz="1800" b="1">
                <a:solidFill>
                  <a:srgbClr val="40458B"/>
                </a:solidFill>
                <a:latin typeface="Times New Roman"/>
                <a:cs typeface="Times New Roman"/>
              </a:rPr>
              <a:t>F0,</a:t>
            </a:r>
            <a:r>
              <a:rPr dirty="0" sz="1800" spc="-35" b="1">
                <a:solidFill>
                  <a:srgbClr val="40458B"/>
                </a:solidFill>
                <a:latin typeface="Times New Roman"/>
                <a:cs typeface="Times New Roman"/>
              </a:rPr>
              <a:t> </a:t>
            </a:r>
            <a:r>
              <a:rPr dirty="0" sz="1800" spc="-25" b="1">
                <a:solidFill>
                  <a:srgbClr val="40458B"/>
                </a:solidFill>
                <a:latin typeface="Times New Roman"/>
                <a:cs typeface="Times New Roman"/>
              </a:rPr>
              <a:t>F2</a:t>
            </a:r>
            <a:endParaRPr sz="1800">
              <a:latin typeface="Times New Roman"/>
              <a:cs typeface="Times New Roman"/>
            </a:endParaRPr>
          </a:p>
        </p:txBody>
      </p:sp>
      <p:sp>
        <p:nvSpPr>
          <p:cNvPr id="16" name="object 16" descr=""/>
          <p:cNvSpPr txBox="1"/>
          <p:nvPr/>
        </p:nvSpPr>
        <p:spPr>
          <a:xfrm>
            <a:off x="4513326" y="2326866"/>
            <a:ext cx="946150" cy="630555"/>
          </a:xfrm>
          <a:prstGeom prst="rect">
            <a:avLst/>
          </a:prstGeom>
        </p:spPr>
        <p:txBody>
          <a:bodyPr wrap="square" lIns="0" tIns="40640" rIns="0" bIns="0" rtlCol="0" vert="horz">
            <a:spAutoFit/>
          </a:bodyPr>
          <a:lstStyle/>
          <a:p>
            <a:pPr marL="12700">
              <a:lnSpc>
                <a:spcPct val="100000"/>
              </a:lnSpc>
              <a:spcBef>
                <a:spcPts val="320"/>
              </a:spcBef>
            </a:pPr>
            <a:r>
              <a:rPr dirty="0" sz="1800" spc="-20" b="1">
                <a:solidFill>
                  <a:srgbClr val="CC0000"/>
                </a:solidFill>
                <a:latin typeface="宋体"/>
                <a:cs typeface="宋体"/>
              </a:rPr>
              <a:t>（空转</a:t>
            </a:r>
            <a:r>
              <a:rPr dirty="0" sz="1800" spc="-50" b="1">
                <a:solidFill>
                  <a:srgbClr val="CC0000"/>
                </a:solidFill>
                <a:latin typeface="宋体"/>
                <a:cs typeface="宋体"/>
              </a:rPr>
              <a:t>）</a:t>
            </a:r>
            <a:endParaRPr sz="1800">
              <a:latin typeface="宋体"/>
              <a:cs typeface="宋体"/>
            </a:endParaRPr>
          </a:p>
          <a:p>
            <a:pPr marL="12700">
              <a:lnSpc>
                <a:spcPct val="100000"/>
              </a:lnSpc>
              <a:spcBef>
                <a:spcPts val="220"/>
              </a:spcBef>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p:txBody>
      </p:sp>
      <p:graphicFrame>
        <p:nvGraphicFramePr>
          <p:cNvPr id="17" name="object 17" descr=""/>
          <p:cNvGraphicFramePr>
            <a:graphicFrameLocks noGrp="1"/>
          </p:cNvGraphicFramePr>
          <p:nvPr/>
        </p:nvGraphicFramePr>
        <p:xfrm>
          <a:off x="4192651" y="2996437"/>
          <a:ext cx="3413760" cy="2664460"/>
        </p:xfrm>
        <a:graphic>
          <a:graphicData uri="http://schemas.openxmlformats.org/drawingml/2006/table">
            <a:tbl>
              <a:tblPr firstRow="1" bandRow="1">
                <a:tableStyleId>{2D5ABB26-0587-4C30-8999-92F81FD0307C}</a:tableStyleId>
              </a:tblPr>
              <a:tblGrid>
                <a:gridCol w="2850515"/>
                <a:gridCol w="487045"/>
              </a:tblGrid>
              <a:tr h="276860">
                <a:tc>
                  <a:txBody>
                    <a:bodyPr/>
                    <a:lstStyle/>
                    <a:p>
                      <a:pPr marL="31750">
                        <a:lnSpc>
                          <a:spcPts val="1964"/>
                        </a:lnSpc>
                        <a:tabLst>
                          <a:tab pos="332740" algn="l"/>
                          <a:tab pos="1247140" algn="l"/>
                          <a:tab pos="2550795" algn="l"/>
                        </a:tabLst>
                      </a:pPr>
                      <a:r>
                        <a:rPr dirty="0" u="sng" sz="1800" b="1">
                          <a:solidFill>
                            <a:srgbClr val="40458B"/>
                          </a:solidFill>
                          <a:uFill>
                            <a:solidFill>
                              <a:srgbClr val="FF09FF"/>
                            </a:solidFill>
                          </a:uFill>
                          <a:latin typeface="Times New Roman"/>
                          <a:cs typeface="Times New Roman"/>
                        </a:rPr>
                        <a:t>	</a:t>
                      </a:r>
                      <a:r>
                        <a:rPr dirty="0" u="sng" sz="1800" spc="-25" b="1">
                          <a:solidFill>
                            <a:srgbClr val="40458B"/>
                          </a:solidFill>
                          <a:uFill>
                            <a:solidFill>
                              <a:srgbClr val="FF09FF"/>
                            </a:solidFill>
                          </a:uFill>
                          <a:latin typeface="Times New Roman"/>
                          <a:cs typeface="Times New Roman"/>
                        </a:rPr>
                        <a:t>S.D</a:t>
                      </a:r>
                      <a:r>
                        <a:rPr dirty="0" u="sng" sz="1800" b="1">
                          <a:solidFill>
                            <a:srgbClr val="40458B"/>
                          </a:solidFill>
                          <a:uFill>
                            <a:solidFill>
                              <a:srgbClr val="FF09FF"/>
                            </a:solidFill>
                          </a:uFill>
                          <a:latin typeface="Times New Roman"/>
                          <a:cs typeface="Times New Roman"/>
                        </a:rPr>
                        <a:t>	F4,</a:t>
                      </a:r>
                      <a:r>
                        <a:rPr dirty="0" u="sng" sz="1800" spc="-20" b="1">
                          <a:solidFill>
                            <a:srgbClr val="40458B"/>
                          </a:solidFill>
                          <a:uFill>
                            <a:solidFill>
                              <a:srgbClr val="FF09FF"/>
                            </a:solidFill>
                          </a:uFill>
                          <a:latin typeface="Times New Roman"/>
                          <a:cs typeface="Times New Roman"/>
                        </a:rPr>
                        <a:t> </a:t>
                      </a:r>
                      <a:r>
                        <a:rPr dirty="0" u="sng" sz="1800" spc="-10" b="1">
                          <a:solidFill>
                            <a:srgbClr val="40458B"/>
                          </a:solidFill>
                          <a:uFill>
                            <a:solidFill>
                              <a:srgbClr val="FF09FF"/>
                            </a:solidFill>
                          </a:uFill>
                          <a:latin typeface="Times New Roman"/>
                          <a:cs typeface="Times New Roman"/>
                        </a:rPr>
                        <a:t>0(R1)</a:t>
                      </a:r>
                      <a:r>
                        <a:rPr dirty="0" u="sng" sz="1800" b="1">
                          <a:solidFill>
                            <a:srgbClr val="40458B"/>
                          </a:solidFill>
                          <a:uFill>
                            <a:solidFill>
                              <a:srgbClr val="FF09FF"/>
                            </a:solidFill>
                          </a:uFill>
                          <a:latin typeface="Times New Roman"/>
                          <a:cs typeface="Times New Roman"/>
                        </a:rPr>
                        <a:t>	</a:t>
                      </a:r>
                      <a:endParaRPr sz="1800">
                        <a:latin typeface="Times New Roman"/>
                        <a:cs typeface="Times New Roman"/>
                      </a:endParaRPr>
                    </a:p>
                  </a:txBody>
                  <a:tcPr marL="0" marR="0" marB="0" marT="0"/>
                </a:tc>
                <a:tc>
                  <a:txBody>
                    <a:bodyPr/>
                    <a:lstStyle/>
                    <a:p>
                      <a:pPr marL="226060">
                        <a:lnSpc>
                          <a:spcPts val="1964"/>
                        </a:lnSpc>
                      </a:pPr>
                      <a:r>
                        <a:rPr dirty="0" sz="1800" spc="-50" b="1">
                          <a:solidFill>
                            <a:srgbClr val="40458B"/>
                          </a:solidFill>
                          <a:latin typeface="Times New Roman"/>
                          <a:cs typeface="Times New Roman"/>
                        </a:rPr>
                        <a:t>6</a:t>
                      </a:r>
                      <a:endParaRPr sz="1800">
                        <a:latin typeface="Times New Roman"/>
                        <a:cs typeface="Times New Roman"/>
                      </a:endParaRPr>
                    </a:p>
                  </a:txBody>
                  <a:tcPr marL="0" marR="0" marB="0" marT="0"/>
                </a:tc>
              </a:tr>
              <a:tr h="300990">
                <a:tc>
                  <a:txBody>
                    <a:bodyPr/>
                    <a:lstStyle/>
                    <a:p>
                      <a:pPr marL="333375">
                        <a:lnSpc>
                          <a:spcPts val="2155"/>
                        </a:lnSpc>
                        <a:tabLst>
                          <a:tab pos="1247140" algn="l"/>
                        </a:tabLst>
                      </a:pPr>
                      <a:r>
                        <a:rPr dirty="0" sz="1800" spc="-25" b="1">
                          <a:solidFill>
                            <a:srgbClr val="40458B"/>
                          </a:solidFill>
                          <a:latin typeface="Times New Roman"/>
                          <a:cs typeface="Times New Roman"/>
                        </a:rPr>
                        <a:t>L.D</a:t>
                      </a:r>
                      <a:r>
                        <a:rPr dirty="0" sz="1800" b="1">
                          <a:solidFill>
                            <a:srgbClr val="40458B"/>
                          </a:solidFill>
                          <a:latin typeface="Times New Roman"/>
                          <a:cs typeface="Times New Roman"/>
                        </a:rPr>
                        <a:t>	F6,</a:t>
                      </a:r>
                      <a:r>
                        <a:rPr dirty="0" sz="1800" spc="-25" b="1">
                          <a:solidFill>
                            <a:srgbClr val="40458B"/>
                          </a:solidFill>
                          <a:latin typeface="Times New Roman"/>
                          <a:cs typeface="Times New Roman"/>
                        </a:rPr>
                        <a:t> </a:t>
                      </a:r>
                      <a:r>
                        <a:rPr dirty="0" sz="1800" spc="-10" b="1">
                          <a:solidFill>
                            <a:srgbClr val="40458B"/>
                          </a:solidFill>
                          <a:latin typeface="Times New Roman"/>
                          <a:cs typeface="Times New Roman"/>
                        </a:rPr>
                        <a:t>-8(R1)</a:t>
                      </a:r>
                      <a:endParaRPr sz="1800">
                        <a:latin typeface="Times New Roman"/>
                        <a:cs typeface="Times New Roman"/>
                      </a:endParaRPr>
                    </a:p>
                  </a:txBody>
                  <a:tcPr marL="0" marR="0" marB="0" marT="0"/>
                </a:tc>
                <a:tc>
                  <a:txBody>
                    <a:bodyPr/>
                    <a:lstStyle/>
                    <a:p>
                      <a:pPr marL="226060">
                        <a:lnSpc>
                          <a:spcPts val="2155"/>
                        </a:lnSpc>
                      </a:pPr>
                      <a:r>
                        <a:rPr dirty="0" sz="1800" spc="-50" b="1">
                          <a:solidFill>
                            <a:srgbClr val="40458B"/>
                          </a:solidFill>
                          <a:latin typeface="Times New Roman"/>
                          <a:cs typeface="Times New Roman"/>
                        </a:rPr>
                        <a:t>7</a:t>
                      </a:r>
                      <a:endParaRPr sz="1800">
                        <a:latin typeface="Times New Roman"/>
                        <a:cs typeface="Times New Roman"/>
                      </a:endParaRPr>
                    </a:p>
                  </a:txBody>
                  <a:tcPr marL="0" marR="0" marB="0" marT="0"/>
                </a:tc>
              </a:tr>
              <a:tr h="301625">
                <a:tc>
                  <a:txBody>
                    <a:bodyPr/>
                    <a:lstStyle/>
                    <a:p>
                      <a:pPr marL="333375">
                        <a:lnSpc>
                          <a:spcPts val="2155"/>
                        </a:lnSpc>
                      </a:pPr>
                      <a:r>
                        <a:rPr dirty="0" sz="1800" spc="-20" b="1">
                          <a:solidFill>
                            <a:srgbClr val="CC0000"/>
                          </a:solidFill>
                          <a:latin typeface="宋体"/>
                          <a:cs typeface="宋体"/>
                        </a:rPr>
                        <a:t>（空转</a:t>
                      </a:r>
                      <a:r>
                        <a:rPr dirty="0" sz="1800" spc="-50" b="1">
                          <a:solidFill>
                            <a:srgbClr val="CC0000"/>
                          </a:solidFill>
                          <a:latin typeface="宋体"/>
                          <a:cs typeface="宋体"/>
                        </a:rPr>
                        <a:t>）</a:t>
                      </a:r>
                      <a:endParaRPr sz="1800">
                        <a:latin typeface="宋体"/>
                        <a:cs typeface="宋体"/>
                      </a:endParaRPr>
                    </a:p>
                  </a:txBody>
                  <a:tcPr marL="0" marR="0" marB="0" marT="0"/>
                </a:tc>
                <a:tc>
                  <a:txBody>
                    <a:bodyPr/>
                    <a:lstStyle/>
                    <a:p>
                      <a:pPr marL="226060">
                        <a:lnSpc>
                          <a:spcPts val="2155"/>
                        </a:lnSpc>
                      </a:pPr>
                      <a:r>
                        <a:rPr dirty="0" sz="1800" spc="-50" b="1">
                          <a:solidFill>
                            <a:srgbClr val="CC0000"/>
                          </a:solidFill>
                          <a:latin typeface="Times New Roman"/>
                          <a:cs typeface="Times New Roman"/>
                        </a:rPr>
                        <a:t>8</a:t>
                      </a:r>
                      <a:endParaRPr sz="1800">
                        <a:latin typeface="Times New Roman"/>
                        <a:cs typeface="Times New Roman"/>
                      </a:endParaRPr>
                    </a:p>
                  </a:txBody>
                  <a:tcPr marL="0" marR="0" marB="0" marT="0"/>
                </a:tc>
              </a:tr>
              <a:tr h="301625">
                <a:tc>
                  <a:txBody>
                    <a:bodyPr/>
                    <a:lstStyle/>
                    <a:p>
                      <a:pPr marL="333375">
                        <a:lnSpc>
                          <a:spcPts val="2155"/>
                        </a:lnSpc>
                        <a:tabLst>
                          <a:tab pos="1247140" algn="l"/>
                        </a:tabLst>
                      </a:pPr>
                      <a:r>
                        <a:rPr dirty="0" sz="1800" spc="-10" b="1">
                          <a:solidFill>
                            <a:srgbClr val="40458B"/>
                          </a:solidFill>
                          <a:latin typeface="Times New Roman"/>
                          <a:cs typeface="Times New Roman"/>
                        </a:rPr>
                        <a:t>ADD.D</a:t>
                      </a:r>
                      <a:r>
                        <a:rPr dirty="0" sz="1800" b="1">
                          <a:solidFill>
                            <a:srgbClr val="40458B"/>
                          </a:solidFill>
                          <a:latin typeface="Times New Roman"/>
                          <a:cs typeface="Times New Roman"/>
                        </a:rPr>
                        <a:t>	F8,</a:t>
                      </a:r>
                      <a:r>
                        <a:rPr dirty="0" sz="1800" spc="-25" b="1">
                          <a:solidFill>
                            <a:srgbClr val="40458B"/>
                          </a:solidFill>
                          <a:latin typeface="Times New Roman"/>
                          <a:cs typeface="Times New Roman"/>
                        </a:rPr>
                        <a:t> </a:t>
                      </a:r>
                      <a:r>
                        <a:rPr dirty="0" sz="1800" b="1">
                          <a:solidFill>
                            <a:srgbClr val="40458B"/>
                          </a:solidFill>
                          <a:latin typeface="Times New Roman"/>
                          <a:cs typeface="Times New Roman"/>
                        </a:rPr>
                        <a:t>F6,</a:t>
                      </a:r>
                      <a:r>
                        <a:rPr dirty="0" sz="1800" spc="-35" b="1">
                          <a:solidFill>
                            <a:srgbClr val="40458B"/>
                          </a:solidFill>
                          <a:latin typeface="Times New Roman"/>
                          <a:cs typeface="Times New Roman"/>
                        </a:rPr>
                        <a:t> </a:t>
                      </a:r>
                      <a:r>
                        <a:rPr dirty="0" sz="1800" spc="-25" b="1">
                          <a:solidFill>
                            <a:srgbClr val="40458B"/>
                          </a:solidFill>
                          <a:latin typeface="Times New Roman"/>
                          <a:cs typeface="Times New Roman"/>
                        </a:rPr>
                        <a:t>F2</a:t>
                      </a:r>
                      <a:endParaRPr sz="1800">
                        <a:latin typeface="Times New Roman"/>
                        <a:cs typeface="Times New Roman"/>
                      </a:endParaRPr>
                    </a:p>
                  </a:txBody>
                  <a:tcPr marL="0" marR="0" marB="0" marT="0"/>
                </a:tc>
                <a:tc>
                  <a:txBody>
                    <a:bodyPr/>
                    <a:lstStyle/>
                    <a:p>
                      <a:pPr marL="226060">
                        <a:lnSpc>
                          <a:spcPts val="2155"/>
                        </a:lnSpc>
                      </a:pPr>
                      <a:r>
                        <a:rPr dirty="0" sz="1800" spc="-50" b="1">
                          <a:solidFill>
                            <a:srgbClr val="40458B"/>
                          </a:solidFill>
                          <a:latin typeface="Times New Roman"/>
                          <a:cs typeface="Times New Roman"/>
                        </a:rPr>
                        <a:t>9</a:t>
                      </a:r>
                      <a:endParaRPr sz="1800">
                        <a:latin typeface="Times New Roman"/>
                        <a:cs typeface="Times New Roman"/>
                      </a:endParaRPr>
                    </a:p>
                  </a:txBody>
                  <a:tcPr marL="0" marR="0" marB="0" marT="0"/>
                </a:tc>
              </a:tr>
              <a:tr h="301625">
                <a:tc>
                  <a:txBody>
                    <a:bodyPr/>
                    <a:lstStyle/>
                    <a:p>
                      <a:pPr marL="333375">
                        <a:lnSpc>
                          <a:spcPts val="2155"/>
                        </a:lnSpc>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a:txBody>
                  <a:tcPr marL="0" marR="0" marB="0" marT="0"/>
                </a:tc>
                <a:tc>
                  <a:txBody>
                    <a:bodyPr/>
                    <a:lstStyle/>
                    <a:p>
                      <a:pPr marL="226060">
                        <a:lnSpc>
                          <a:spcPts val="2155"/>
                        </a:lnSpc>
                      </a:pPr>
                      <a:r>
                        <a:rPr dirty="0" sz="1800" spc="-25" b="1">
                          <a:solidFill>
                            <a:srgbClr val="CC0000"/>
                          </a:solidFill>
                          <a:latin typeface="Times New Roman"/>
                          <a:cs typeface="Times New Roman"/>
                        </a:rPr>
                        <a:t>10</a:t>
                      </a:r>
                      <a:endParaRPr sz="1800">
                        <a:latin typeface="Times New Roman"/>
                        <a:cs typeface="Times New Roman"/>
                      </a:endParaRPr>
                    </a:p>
                  </a:txBody>
                  <a:tcPr marL="0" marR="0" marB="0" marT="0"/>
                </a:tc>
              </a:tr>
              <a:tr h="301625">
                <a:tc>
                  <a:txBody>
                    <a:bodyPr/>
                    <a:lstStyle/>
                    <a:p>
                      <a:pPr marL="333375">
                        <a:lnSpc>
                          <a:spcPts val="2155"/>
                        </a:lnSpc>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a:txBody>
                  <a:tcPr marL="0" marR="0" marB="0" marT="0"/>
                </a:tc>
                <a:tc>
                  <a:txBody>
                    <a:bodyPr/>
                    <a:lstStyle/>
                    <a:p>
                      <a:pPr marL="226060">
                        <a:lnSpc>
                          <a:spcPts val="2155"/>
                        </a:lnSpc>
                      </a:pPr>
                      <a:r>
                        <a:rPr dirty="0" sz="1800" spc="-25" b="1">
                          <a:solidFill>
                            <a:srgbClr val="CC0000"/>
                          </a:solidFill>
                          <a:latin typeface="Times New Roman"/>
                          <a:cs typeface="Times New Roman"/>
                        </a:rPr>
                        <a:t>11</a:t>
                      </a:r>
                      <a:endParaRPr sz="1800">
                        <a:latin typeface="Times New Roman"/>
                        <a:cs typeface="Times New Roman"/>
                      </a:endParaRPr>
                    </a:p>
                  </a:txBody>
                  <a:tcPr marL="0" marR="0" marB="0" marT="0"/>
                </a:tc>
              </a:tr>
              <a:tr h="300990">
                <a:tc>
                  <a:txBody>
                    <a:bodyPr/>
                    <a:lstStyle/>
                    <a:p>
                      <a:pPr marL="102870">
                        <a:lnSpc>
                          <a:spcPts val="2155"/>
                        </a:lnSpc>
                        <a:tabLst>
                          <a:tab pos="332740" algn="l"/>
                          <a:tab pos="1247140" algn="l"/>
                          <a:tab pos="2623820" algn="l"/>
                        </a:tabLst>
                      </a:pPr>
                      <a:r>
                        <a:rPr dirty="0" u="sng" sz="1800" b="1">
                          <a:solidFill>
                            <a:srgbClr val="40458B"/>
                          </a:solidFill>
                          <a:uFill>
                            <a:solidFill>
                              <a:srgbClr val="FF09FF"/>
                            </a:solidFill>
                          </a:uFill>
                          <a:latin typeface="Times New Roman"/>
                          <a:cs typeface="Times New Roman"/>
                        </a:rPr>
                        <a:t>	</a:t>
                      </a:r>
                      <a:r>
                        <a:rPr dirty="0" u="sng" sz="1800" spc="-25" b="1">
                          <a:solidFill>
                            <a:srgbClr val="40458B"/>
                          </a:solidFill>
                          <a:uFill>
                            <a:solidFill>
                              <a:srgbClr val="FF09FF"/>
                            </a:solidFill>
                          </a:uFill>
                          <a:latin typeface="Times New Roman"/>
                          <a:cs typeface="Times New Roman"/>
                        </a:rPr>
                        <a:t>S.D</a:t>
                      </a:r>
                      <a:r>
                        <a:rPr dirty="0" u="sng" sz="1800" b="1">
                          <a:solidFill>
                            <a:srgbClr val="40458B"/>
                          </a:solidFill>
                          <a:uFill>
                            <a:solidFill>
                              <a:srgbClr val="FF09FF"/>
                            </a:solidFill>
                          </a:uFill>
                          <a:latin typeface="Times New Roman"/>
                          <a:cs typeface="Times New Roman"/>
                        </a:rPr>
                        <a:t>	F8,</a:t>
                      </a:r>
                      <a:r>
                        <a:rPr dirty="0" u="sng" sz="1800" spc="-20" b="1">
                          <a:solidFill>
                            <a:srgbClr val="40458B"/>
                          </a:solidFill>
                          <a:uFill>
                            <a:solidFill>
                              <a:srgbClr val="FF09FF"/>
                            </a:solidFill>
                          </a:uFill>
                          <a:latin typeface="Times New Roman"/>
                          <a:cs typeface="Times New Roman"/>
                        </a:rPr>
                        <a:t> </a:t>
                      </a:r>
                      <a:r>
                        <a:rPr dirty="0" u="sng" sz="1800" spc="-10" b="1">
                          <a:solidFill>
                            <a:srgbClr val="40458B"/>
                          </a:solidFill>
                          <a:uFill>
                            <a:solidFill>
                              <a:srgbClr val="FF09FF"/>
                            </a:solidFill>
                          </a:uFill>
                          <a:latin typeface="Times New Roman"/>
                          <a:cs typeface="Times New Roman"/>
                        </a:rPr>
                        <a:t>-8(R1)</a:t>
                      </a:r>
                      <a:r>
                        <a:rPr dirty="0" u="sng" sz="1800" b="1">
                          <a:solidFill>
                            <a:srgbClr val="40458B"/>
                          </a:solidFill>
                          <a:uFill>
                            <a:solidFill>
                              <a:srgbClr val="FF09FF"/>
                            </a:solidFill>
                          </a:uFill>
                          <a:latin typeface="Times New Roman"/>
                          <a:cs typeface="Times New Roman"/>
                        </a:rPr>
                        <a:t>	</a:t>
                      </a:r>
                      <a:endParaRPr sz="1800">
                        <a:latin typeface="Times New Roman"/>
                        <a:cs typeface="Times New Roman"/>
                      </a:endParaRPr>
                    </a:p>
                  </a:txBody>
                  <a:tcPr marL="0" marR="0" marB="0" marT="0"/>
                </a:tc>
                <a:tc>
                  <a:txBody>
                    <a:bodyPr/>
                    <a:lstStyle/>
                    <a:p>
                      <a:pPr marL="226060">
                        <a:lnSpc>
                          <a:spcPts val="2155"/>
                        </a:lnSpc>
                      </a:pPr>
                      <a:r>
                        <a:rPr dirty="0" sz="1800" spc="-25" b="1">
                          <a:solidFill>
                            <a:srgbClr val="40458B"/>
                          </a:solidFill>
                          <a:latin typeface="Times New Roman"/>
                          <a:cs typeface="Times New Roman"/>
                        </a:rPr>
                        <a:t>12</a:t>
                      </a:r>
                      <a:endParaRPr sz="1800">
                        <a:latin typeface="Times New Roman"/>
                        <a:cs typeface="Times New Roman"/>
                      </a:endParaRPr>
                    </a:p>
                  </a:txBody>
                  <a:tcPr marL="0" marR="0" marB="0" marT="0"/>
                </a:tc>
              </a:tr>
              <a:tr h="301625">
                <a:tc>
                  <a:txBody>
                    <a:bodyPr/>
                    <a:lstStyle/>
                    <a:p>
                      <a:pPr marL="333375">
                        <a:lnSpc>
                          <a:spcPts val="2155"/>
                        </a:lnSpc>
                        <a:tabLst>
                          <a:tab pos="1247140" algn="l"/>
                        </a:tabLst>
                      </a:pPr>
                      <a:r>
                        <a:rPr dirty="0" sz="1800" spc="-25" b="1">
                          <a:solidFill>
                            <a:srgbClr val="40458B"/>
                          </a:solidFill>
                          <a:latin typeface="Times New Roman"/>
                          <a:cs typeface="Times New Roman"/>
                        </a:rPr>
                        <a:t>L.D</a:t>
                      </a:r>
                      <a:r>
                        <a:rPr dirty="0" sz="1800" b="1">
                          <a:solidFill>
                            <a:srgbClr val="40458B"/>
                          </a:solidFill>
                          <a:latin typeface="Times New Roman"/>
                          <a:cs typeface="Times New Roman"/>
                        </a:rPr>
                        <a:t>	F10,</a:t>
                      </a:r>
                      <a:r>
                        <a:rPr dirty="0" sz="1800" spc="5" b="1">
                          <a:solidFill>
                            <a:srgbClr val="40458B"/>
                          </a:solidFill>
                          <a:latin typeface="Times New Roman"/>
                          <a:cs typeface="Times New Roman"/>
                        </a:rPr>
                        <a:t> </a:t>
                      </a:r>
                      <a:r>
                        <a:rPr dirty="0" sz="1800" spc="-10" b="1">
                          <a:solidFill>
                            <a:srgbClr val="40458B"/>
                          </a:solidFill>
                          <a:latin typeface="Times New Roman"/>
                          <a:cs typeface="Times New Roman"/>
                        </a:rPr>
                        <a:t>-16(R1)</a:t>
                      </a:r>
                      <a:endParaRPr sz="1800">
                        <a:latin typeface="Times New Roman"/>
                        <a:cs typeface="Times New Roman"/>
                      </a:endParaRPr>
                    </a:p>
                  </a:txBody>
                  <a:tcPr marL="0" marR="0" marB="0" marT="0"/>
                </a:tc>
                <a:tc>
                  <a:txBody>
                    <a:bodyPr/>
                    <a:lstStyle/>
                    <a:p>
                      <a:pPr marL="226060">
                        <a:lnSpc>
                          <a:spcPts val="2155"/>
                        </a:lnSpc>
                      </a:pPr>
                      <a:r>
                        <a:rPr dirty="0" sz="1800" spc="-25" b="1">
                          <a:solidFill>
                            <a:srgbClr val="40458B"/>
                          </a:solidFill>
                          <a:latin typeface="Times New Roman"/>
                          <a:cs typeface="Times New Roman"/>
                        </a:rPr>
                        <a:t>13</a:t>
                      </a:r>
                      <a:endParaRPr sz="1800">
                        <a:latin typeface="Times New Roman"/>
                        <a:cs typeface="Times New Roman"/>
                      </a:endParaRPr>
                    </a:p>
                  </a:txBody>
                  <a:tcPr marL="0" marR="0" marB="0" marT="0"/>
                </a:tc>
              </a:tr>
              <a:tr h="277495">
                <a:tc>
                  <a:txBody>
                    <a:bodyPr/>
                    <a:lstStyle/>
                    <a:p>
                      <a:pPr marL="333375">
                        <a:lnSpc>
                          <a:spcPts val="2085"/>
                        </a:lnSpc>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a:txBody>
                  <a:tcPr marL="0" marR="0" marB="0" marT="0"/>
                </a:tc>
                <a:tc>
                  <a:txBody>
                    <a:bodyPr/>
                    <a:lstStyle/>
                    <a:p>
                      <a:pPr marL="226060">
                        <a:lnSpc>
                          <a:spcPts val="2085"/>
                        </a:lnSpc>
                      </a:pPr>
                      <a:r>
                        <a:rPr dirty="0" sz="1800" spc="-25" b="1">
                          <a:solidFill>
                            <a:srgbClr val="CC0000"/>
                          </a:solidFill>
                          <a:latin typeface="Times New Roman"/>
                          <a:cs typeface="Times New Roman"/>
                        </a:rPr>
                        <a:t>14</a:t>
                      </a:r>
                      <a:endParaRPr sz="1800">
                        <a:latin typeface="Times New Roman"/>
                        <a:cs typeface="Times New Roman"/>
                      </a:endParaRPr>
                    </a:p>
                  </a:txBody>
                  <a:tcPr marL="0" marR="0" marB="0" marT="0"/>
                </a:tc>
              </a:tr>
            </a:tbl>
          </a:graphicData>
        </a:graphic>
      </p:graphicFrame>
      <p:sp>
        <p:nvSpPr>
          <p:cNvPr id="18" name="object 18" descr=""/>
          <p:cNvSpPr txBox="1"/>
          <p:nvPr/>
        </p:nvSpPr>
        <p:spPr>
          <a:xfrm>
            <a:off x="10672698" y="1292478"/>
            <a:ext cx="1406525" cy="299720"/>
          </a:xfrm>
          <a:prstGeom prst="rect">
            <a:avLst/>
          </a:prstGeom>
        </p:spPr>
        <p:txBody>
          <a:bodyPr wrap="square" lIns="0" tIns="12700" rIns="0" bIns="0" rtlCol="0" vert="horz">
            <a:spAutoFit/>
          </a:bodyPr>
          <a:lstStyle/>
          <a:p>
            <a:pPr marL="12700">
              <a:lnSpc>
                <a:spcPct val="100000"/>
              </a:lnSpc>
              <a:spcBef>
                <a:spcPts val="100"/>
              </a:spcBef>
            </a:pPr>
            <a:r>
              <a:rPr dirty="0" sz="1800" spc="-20" b="1">
                <a:solidFill>
                  <a:srgbClr val="006600"/>
                </a:solidFill>
                <a:latin typeface="宋体"/>
                <a:cs typeface="宋体"/>
              </a:rPr>
              <a:t>指令流出时钟</a:t>
            </a:r>
            <a:endParaRPr sz="1800">
              <a:latin typeface="宋体"/>
              <a:cs typeface="宋体"/>
            </a:endParaRPr>
          </a:p>
        </p:txBody>
      </p:sp>
      <p:graphicFrame>
        <p:nvGraphicFramePr>
          <p:cNvPr id="19" name="object 19" descr=""/>
          <p:cNvGraphicFramePr>
            <a:graphicFrameLocks noGrp="1"/>
          </p:cNvGraphicFramePr>
          <p:nvPr/>
        </p:nvGraphicFramePr>
        <p:xfrm>
          <a:off x="8440801" y="1631822"/>
          <a:ext cx="3324860" cy="4171950"/>
        </p:xfrm>
        <a:graphic>
          <a:graphicData uri="http://schemas.openxmlformats.org/drawingml/2006/table">
            <a:tbl>
              <a:tblPr firstRow="1" bandRow="1">
                <a:tableStyleId>{2D5ABB26-0587-4C30-8999-92F81FD0307C}</a:tableStyleId>
              </a:tblPr>
              <a:tblGrid>
                <a:gridCol w="2878455"/>
                <a:gridCol w="370205"/>
              </a:tblGrid>
              <a:tr h="276860">
                <a:tc>
                  <a:txBody>
                    <a:bodyPr/>
                    <a:lstStyle/>
                    <a:p>
                      <a:pPr marL="244475">
                        <a:lnSpc>
                          <a:spcPts val="1964"/>
                        </a:lnSpc>
                        <a:tabLst>
                          <a:tab pos="1158875" algn="l"/>
                        </a:tabLst>
                      </a:pPr>
                      <a:r>
                        <a:rPr dirty="0" sz="1800" spc="-10" b="1">
                          <a:solidFill>
                            <a:srgbClr val="40458B"/>
                          </a:solidFill>
                          <a:latin typeface="Times New Roman"/>
                          <a:cs typeface="Times New Roman"/>
                        </a:rPr>
                        <a:t>ADD.D</a:t>
                      </a:r>
                      <a:r>
                        <a:rPr dirty="0" sz="1800" b="1">
                          <a:solidFill>
                            <a:srgbClr val="40458B"/>
                          </a:solidFill>
                          <a:latin typeface="Times New Roman"/>
                          <a:cs typeface="Times New Roman"/>
                        </a:rPr>
                        <a:t>	F12,</a:t>
                      </a:r>
                      <a:r>
                        <a:rPr dirty="0" sz="1800" spc="-40" b="1">
                          <a:solidFill>
                            <a:srgbClr val="40458B"/>
                          </a:solidFill>
                          <a:latin typeface="Times New Roman"/>
                          <a:cs typeface="Times New Roman"/>
                        </a:rPr>
                        <a:t> </a:t>
                      </a:r>
                      <a:r>
                        <a:rPr dirty="0" sz="1800" b="1">
                          <a:solidFill>
                            <a:srgbClr val="40458B"/>
                          </a:solidFill>
                          <a:latin typeface="Times New Roman"/>
                          <a:cs typeface="Times New Roman"/>
                        </a:rPr>
                        <a:t>F10,</a:t>
                      </a:r>
                      <a:r>
                        <a:rPr dirty="0" sz="1800" spc="-50" b="1">
                          <a:solidFill>
                            <a:srgbClr val="40458B"/>
                          </a:solidFill>
                          <a:latin typeface="Times New Roman"/>
                          <a:cs typeface="Times New Roman"/>
                        </a:rPr>
                        <a:t> </a:t>
                      </a:r>
                      <a:r>
                        <a:rPr dirty="0" sz="1800" spc="-25" b="1">
                          <a:solidFill>
                            <a:srgbClr val="40458B"/>
                          </a:solidFill>
                          <a:latin typeface="Times New Roman"/>
                          <a:cs typeface="Times New Roman"/>
                        </a:rPr>
                        <a:t>F2</a:t>
                      </a:r>
                      <a:endParaRPr sz="1800">
                        <a:latin typeface="Times New Roman"/>
                        <a:cs typeface="Times New Roman"/>
                      </a:endParaRPr>
                    </a:p>
                  </a:txBody>
                  <a:tcPr marL="0" marR="0" marB="0" marT="0"/>
                </a:tc>
                <a:tc>
                  <a:txBody>
                    <a:bodyPr/>
                    <a:lstStyle/>
                    <a:p>
                      <a:pPr algn="ctr" marL="77470">
                        <a:lnSpc>
                          <a:spcPts val="1964"/>
                        </a:lnSpc>
                      </a:pPr>
                      <a:r>
                        <a:rPr dirty="0" sz="1800" spc="-25" b="1">
                          <a:solidFill>
                            <a:srgbClr val="40458B"/>
                          </a:solidFill>
                          <a:latin typeface="Times New Roman"/>
                          <a:cs typeface="Times New Roman"/>
                        </a:rPr>
                        <a:t>15</a:t>
                      </a:r>
                      <a:endParaRPr sz="1800">
                        <a:latin typeface="Times New Roman"/>
                        <a:cs typeface="Times New Roman"/>
                      </a:endParaRPr>
                    </a:p>
                  </a:txBody>
                  <a:tcPr marL="0" marR="0" marB="0" marT="0"/>
                </a:tc>
              </a:tr>
              <a:tr h="301625">
                <a:tc>
                  <a:txBody>
                    <a:bodyPr/>
                    <a:lstStyle/>
                    <a:p>
                      <a:pPr marL="244475">
                        <a:lnSpc>
                          <a:spcPts val="2155"/>
                        </a:lnSpc>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a:txBody>
                  <a:tcPr marL="0" marR="0" marB="0" marT="0"/>
                </a:tc>
                <a:tc>
                  <a:txBody>
                    <a:bodyPr/>
                    <a:lstStyle/>
                    <a:p>
                      <a:pPr algn="ctr" marL="77470">
                        <a:lnSpc>
                          <a:spcPts val="2155"/>
                        </a:lnSpc>
                      </a:pPr>
                      <a:r>
                        <a:rPr dirty="0" sz="1800" spc="-25" b="1">
                          <a:solidFill>
                            <a:srgbClr val="CC0000"/>
                          </a:solidFill>
                          <a:latin typeface="Times New Roman"/>
                          <a:cs typeface="Times New Roman"/>
                        </a:rPr>
                        <a:t>16</a:t>
                      </a:r>
                      <a:endParaRPr sz="1800">
                        <a:latin typeface="Times New Roman"/>
                        <a:cs typeface="Times New Roman"/>
                      </a:endParaRPr>
                    </a:p>
                  </a:txBody>
                  <a:tcPr marL="0" marR="0" marB="0" marT="0"/>
                </a:tc>
              </a:tr>
              <a:tr h="300990">
                <a:tc>
                  <a:txBody>
                    <a:bodyPr/>
                    <a:lstStyle/>
                    <a:p>
                      <a:pPr marL="244475">
                        <a:lnSpc>
                          <a:spcPts val="2155"/>
                        </a:lnSpc>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a:txBody>
                  <a:tcPr marL="0" marR="0" marB="0" marT="0"/>
                </a:tc>
                <a:tc>
                  <a:txBody>
                    <a:bodyPr/>
                    <a:lstStyle/>
                    <a:p>
                      <a:pPr algn="ctr" marL="77470">
                        <a:lnSpc>
                          <a:spcPts val="2155"/>
                        </a:lnSpc>
                      </a:pPr>
                      <a:r>
                        <a:rPr dirty="0" sz="1800" spc="-25" b="1">
                          <a:solidFill>
                            <a:srgbClr val="CC0000"/>
                          </a:solidFill>
                          <a:latin typeface="Times New Roman"/>
                          <a:cs typeface="Times New Roman"/>
                        </a:rPr>
                        <a:t>17</a:t>
                      </a:r>
                      <a:endParaRPr sz="1800">
                        <a:latin typeface="Times New Roman"/>
                        <a:cs typeface="Times New Roman"/>
                      </a:endParaRPr>
                    </a:p>
                  </a:txBody>
                  <a:tcPr marL="0" marR="0" marB="0" marT="0"/>
                </a:tc>
              </a:tr>
              <a:tr h="301625">
                <a:tc>
                  <a:txBody>
                    <a:bodyPr/>
                    <a:lstStyle/>
                    <a:p>
                      <a:pPr marL="31750">
                        <a:lnSpc>
                          <a:spcPts val="2155"/>
                        </a:lnSpc>
                        <a:tabLst>
                          <a:tab pos="244475" algn="l"/>
                          <a:tab pos="1158875" algn="l"/>
                        </a:tabLst>
                      </a:pPr>
                      <a:r>
                        <a:rPr dirty="0" u="sng" sz="1800" b="1">
                          <a:solidFill>
                            <a:srgbClr val="40458B"/>
                          </a:solidFill>
                          <a:uFill>
                            <a:solidFill>
                              <a:srgbClr val="FF09FF"/>
                            </a:solidFill>
                          </a:uFill>
                          <a:latin typeface="Times New Roman"/>
                          <a:cs typeface="Times New Roman"/>
                        </a:rPr>
                        <a:t>	</a:t>
                      </a:r>
                      <a:r>
                        <a:rPr dirty="0" u="sng" sz="1800" spc="-25" b="1">
                          <a:solidFill>
                            <a:srgbClr val="40458B"/>
                          </a:solidFill>
                          <a:uFill>
                            <a:solidFill>
                              <a:srgbClr val="FF09FF"/>
                            </a:solidFill>
                          </a:uFill>
                          <a:latin typeface="Times New Roman"/>
                          <a:cs typeface="Times New Roman"/>
                        </a:rPr>
                        <a:t>S.D</a:t>
                      </a:r>
                      <a:r>
                        <a:rPr dirty="0" u="sng" sz="1800" b="1">
                          <a:solidFill>
                            <a:srgbClr val="40458B"/>
                          </a:solidFill>
                          <a:uFill>
                            <a:solidFill>
                              <a:srgbClr val="FF09FF"/>
                            </a:solidFill>
                          </a:uFill>
                          <a:latin typeface="Times New Roman"/>
                          <a:cs typeface="Times New Roman"/>
                        </a:rPr>
                        <a:t>	F12,</a:t>
                      </a:r>
                      <a:r>
                        <a:rPr dirty="0" u="sng" sz="1800" spc="5" b="1">
                          <a:solidFill>
                            <a:srgbClr val="40458B"/>
                          </a:solidFill>
                          <a:uFill>
                            <a:solidFill>
                              <a:srgbClr val="FF09FF"/>
                            </a:solidFill>
                          </a:uFill>
                          <a:latin typeface="Times New Roman"/>
                          <a:cs typeface="Times New Roman"/>
                        </a:rPr>
                        <a:t> </a:t>
                      </a:r>
                      <a:r>
                        <a:rPr dirty="0" u="sng" sz="1800" spc="-10" b="1">
                          <a:solidFill>
                            <a:srgbClr val="40458B"/>
                          </a:solidFill>
                          <a:uFill>
                            <a:solidFill>
                              <a:srgbClr val="FF09FF"/>
                            </a:solidFill>
                          </a:uFill>
                          <a:latin typeface="Times New Roman"/>
                          <a:cs typeface="Times New Roman"/>
                        </a:rPr>
                        <a:t>-16</a:t>
                      </a:r>
                      <a:r>
                        <a:rPr dirty="0" u="sng" sz="1800" spc="-10" b="1">
                          <a:solidFill>
                            <a:srgbClr val="40458B"/>
                          </a:solidFill>
                          <a:uFill>
                            <a:solidFill>
                              <a:srgbClr val="FF09FF"/>
                            </a:solidFill>
                          </a:uFill>
                          <a:latin typeface="宋体"/>
                          <a:cs typeface="宋体"/>
                        </a:rPr>
                        <a:t>（</a:t>
                      </a:r>
                      <a:r>
                        <a:rPr dirty="0" u="sng" sz="1800" spc="-10" b="1">
                          <a:solidFill>
                            <a:srgbClr val="40458B"/>
                          </a:solidFill>
                          <a:uFill>
                            <a:solidFill>
                              <a:srgbClr val="FF09FF"/>
                            </a:solidFill>
                          </a:uFill>
                          <a:latin typeface="Times New Roman"/>
                          <a:cs typeface="Times New Roman"/>
                        </a:rPr>
                        <a:t>R1</a:t>
                      </a:r>
                      <a:r>
                        <a:rPr dirty="0" u="sng" sz="1800" spc="-10" b="1">
                          <a:solidFill>
                            <a:srgbClr val="40458B"/>
                          </a:solidFill>
                          <a:uFill>
                            <a:solidFill>
                              <a:srgbClr val="FF09FF"/>
                            </a:solidFill>
                          </a:uFill>
                          <a:latin typeface="宋体"/>
                          <a:cs typeface="宋体"/>
                        </a:rPr>
                        <a:t>） </a:t>
                      </a:r>
                      <a:endParaRPr sz="1800">
                        <a:latin typeface="宋体"/>
                        <a:cs typeface="宋体"/>
                      </a:endParaRPr>
                    </a:p>
                  </a:txBody>
                  <a:tcPr marL="0" marR="0" marB="0" marT="0"/>
                </a:tc>
                <a:tc>
                  <a:txBody>
                    <a:bodyPr/>
                    <a:lstStyle/>
                    <a:p>
                      <a:pPr algn="ctr" marL="77470">
                        <a:lnSpc>
                          <a:spcPts val="2155"/>
                        </a:lnSpc>
                      </a:pPr>
                      <a:r>
                        <a:rPr dirty="0" sz="1800" spc="-25" b="1">
                          <a:solidFill>
                            <a:srgbClr val="40458B"/>
                          </a:solidFill>
                          <a:latin typeface="Times New Roman"/>
                          <a:cs typeface="Times New Roman"/>
                        </a:rPr>
                        <a:t>18</a:t>
                      </a:r>
                      <a:endParaRPr sz="1800">
                        <a:latin typeface="Times New Roman"/>
                        <a:cs typeface="Times New Roman"/>
                      </a:endParaRPr>
                    </a:p>
                  </a:txBody>
                  <a:tcPr marL="0" marR="0" marB="0" marT="0"/>
                </a:tc>
              </a:tr>
              <a:tr h="301625">
                <a:tc>
                  <a:txBody>
                    <a:bodyPr/>
                    <a:lstStyle/>
                    <a:p>
                      <a:pPr marL="244475">
                        <a:lnSpc>
                          <a:spcPts val="2155"/>
                        </a:lnSpc>
                        <a:tabLst>
                          <a:tab pos="1158875" algn="l"/>
                        </a:tabLst>
                      </a:pPr>
                      <a:r>
                        <a:rPr dirty="0" sz="1800" spc="-25" b="1">
                          <a:solidFill>
                            <a:srgbClr val="40458B"/>
                          </a:solidFill>
                          <a:latin typeface="Times New Roman"/>
                          <a:cs typeface="Times New Roman"/>
                        </a:rPr>
                        <a:t>L.D</a:t>
                      </a:r>
                      <a:r>
                        <a:rPr dirty="0" sz="1800" b="1">
                          <a:solidFill>
                            <a:srgbClr val="40458B"/>
                          </a:solidFill>
                          <a:latin typeface="Times New Roman"/>
                          <a:cs typeface="Times New Roman"/>
                        </a:rPr>
                        <a:t>	F14,</a:t>
                      </a:r>
                      <a:r>
                        <a:rPr dirty="0" sz="1800" spc="-35" b="1">
                          <a:solidFill>
                            <a:srgbClr val="40458B"/>
                          </a:solidFill>
                          <a:latin typeface="Times New Roman"/>
                          <a:cs typeface="Times New Roman"/>
                        </a:rPr>
                        <a:t> </a:t>
                      </a:r>
                      <a:r>
                        <a:rPr dirty="0" sz="1800" spc="-10" b="1">
                          <a:solidFill>
                            <a:srgbClr val="40458B"/>
                          </a:solidFill>
                          <a:latin typeface="Times New Roman"/>
                          <a:cs typeface="Times New Roman"/>
                        </a:rPr>
                        <a:t>-24</a:t>
                      </a:r>
                      <a:r>
                        <a:rPr dirty="0" sz="1800" spc="-10" b="1">
                          <a:solidFill>
                            <a:srgbClr val="40458B"/>
                          </a:solidFill>
                          <a:latin typeface="宋体"/>
                          <a:cs typeface="宋体"/>
                        </a:rPr>
                        <a:t>（</a:t>
                      </a:r>
                      <a:r>
                        <a:rPr dirty="0" sz="1800" spc="-10" b="1">
                          <a:solidFill>
                            <a:srgbClr val="40458B"/>
                          </a:solidFill>
                          <a:latin typeface="Times New Roman"/>
                          <a:cs typeface="Times New Roman"/>
                        </a:rPr>
                        <a:t>R1</a:t>
                      </a:r>
                      <a:r>
                        <a:rPr dirty="0" sz="1800" spc="-10" b="1">
                          <a:solidFill>
                            <a:srgbClr val="40458B"/>
                          </a:solidFill>
                          <a:latin typeface="宋体"/>
                          <a:cs typeface="宋体"/>
                        </a:rPr>
                        <a:t>）</a:t>
                      </a:r>
                      <a:endParaRPr sz="1800">
                        <a:latin typeface="宋体"/>
                        <a:cs typeface="宋体"/>
                      </a:endParaRPr>
                    </a:p>
                  </a:txBody>
                  <a:tcPr marL="0" marR="0" marB="0" marT="0"/>
                </a:tc>
                <a:tc>
                  <a:txBody>
                    <a:bodyPr/>
                    <a:lstStyle/>
                    <a:p>
                      <a:pPr algn="ctr" marL="77470">
                        <a:lnSpc>
                          <a:spcPts val="2155"/>
                        </a:lnSpc>
                      </a:pPr>
                      <a:r>
                        <a:rPr dirty="0" sz="1800" spc="-25" b="1">
                          <a:solidFill>
                            <a:srgbClr val="40458B"/>
                          </a:solidFill>
                          <a:latin typeface="Times New Roman"/>
                          <a:cs typeface="Times New Roman"/>
                        </a:rPr>
                        <a:t>19</a:t>
                      </a:r>
                      <a:endParaRPr sz="1800">
                        <a:latin typeface="Times New Roman"/>
                        <a:cs typeface="Times New Roman"/>
                      </a:endParaRPr>
                    </a:p>
                  </a:txBody>
                  <a:tcPr marL="0" marR="0" marB="0" marT="0"/>
                </a:tc>
              </a:tr>
              <a:tr h="301625">
                <a:tc>
                  <a:txBody>
                    <a:bodyPr/>
                    <a:lstStyle/>
                    <a:p>
                      <a:pPr marL="244475">
                        <a:lnSpc>
                          <a:spcPts val="2155"/>
                        </a:lnSpc>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a:txBody>
                  <a:tcPr marL="0" marR="0" marB="0" marT="0"/>
                </a:tc>
                <a:tc>
                  <a:txBody>
                    <a:bodyPr/>
                    <a:lstStyle/>
                    <a:p>
                      <a:pPr algn="ctr" marL="77470">
                        <a:lnSpc>
                          <a:spcPts val="2155"/>
                        </a:lnSpc>
                      </a:pPr>
                      <a:r>
                        <a:rPr dirty="0" sz="1800" spc="-25" b="1">
                          <a:solidFill>
                            <a:srgbClr val="CC0000"/>
                          </a:solidFill>
                          <a:latin typeface="Times New Roman"/>
                          <a:cs typeface="Times New Roman"/>
                        </a:rPr>
                        <a:t>20</a:t>
                      </a:r>
                      <a:endParaRPr sz="1800">
                        <a:latin typeface="Times New Roman"/>
                        <a:cs typeface="Times New Roman"/>
                      </a:endParaRPr>
                    </a:p>
                  </a:txBody>
                  <a:tcPr marL="0" marR="0" marB="0" marT="0"/>
                </a:tc>
              </a:tr>
              <a:tr h="300990">
                <a:tc>
                  <a:txBody>
                    <a:bodyPr/>
                    <a:lstStyle/>
                    <a:p>
                      <a:pPr marL="244475">
                        <a:lnSpc>
                          <a:spcPts val="2155"/>
                        </a:lnSpc>
                        <a:tabLst>
                          <a:tab pos="1158875" algn="l"/>
                        </a:tabLst>
                      </a:pPr>
                      <a:r>
                        <a:rPr dirty="0" sz="1800" spc="-10" b="1">
                          <a:solidFill>
                            <a:srgbClr val="40458B"/>
                          </a:solidFill>
                          <a:latin typeface="Times New Roman"/>
                          <a:cs typeface="Times New Roman"/>
                        </a:rPr>
                        <a:t>ADD.D</a:t>
                      </a:r>
                      <a:r>
                        <a:rPr dirty="0" sz="1800" b="1">
                          <a:solidFill>
                            <a:srgbClr val="40458B"/>
                          </a:solidFill>
                          <a:latin typeface="Times New Roman"/>
                          <a:cs typeface="Times New Roman"/>
                        </a:rPr>
                        <a:t>	F16,</a:t>
                      </a:r>
                      <a:r>
                        <a:rPr dirty="0" sz="1800" spc="-40" b="1">
                          <a:solidFill>
                            <a:srgbClr val="40458B"/>
                          </a:solidFill>
                          <a:latin typeface="Times New Roman"/>
                          <a:cs typeface="Times New Roman"/>
                        </a:rPr>
                        <a:t> </a:t>
                      </a:r>
                      <a:r>
                        <a:rPr dirty="0" sz="1800" b="1">
                          <a:solidFill>
                            <a:srgbClr val="40458B"/>
                          </a:solidFill>
                          <a:latin typeface="Times New Roman"/>
                          <a:cs typeface="Times New Roman"/>
                        </a:rPr>
                        <a:t>F14,</a:t>
                      </a:r>
                      <a:r>
                        <a:rPr dirty="0" sz="1800" spc="-50" b="1">
                          <a:solidFill>
                            <a:srgbClr val="40458B"/>
                          </a:solidFill>
                          <a:latin typeface="Times New Roman"/>
                          <a:cs typeface="Times New Roman"/>
                        </a:rPr>
                        <a:t> </a:t>
                      </a:r>
                      <a:r>
                        <a:rPr dirty="0" sz="1800" spc="-25" b="1">
                          <a:solidFill>
                            <a:srgbClr val="40458B"/>
                          </a:solidFill>
                          <a:latin typeface="Times New Roman"/>
                          <a:cs typeface="Times New Roman"/>
                        </a:rPr>
                        <a:t>F2</a:t>
                      </a:r>
                      <a:endParaRPr sz="1800">
                        <a:latin typeface="Times New Roman"/>
                        <a:cs typeface="Times New Roman"/>
                      </a:endParaRPr>
                    </a:p>
                  </a:txBody>
                  <a:tcPr marL="0" marR="0" marB="0" marT="0"/>
                </a:tc>
                <a:tc>
                  <a:txBody>
                    <a:bodyPr/>
                    <a:lstStyle/>
                    <a:p>
                      <a:pPr algn="ctr" marL="77470">
                        <a:lnSpc>
                          <a:spcPts val="2155"/>
                        </a:lnSpc>
                      </a:pPr>
                      <a:r>
                        <a:rPr dirty="0" sz="1800" spc="-25" b="1">
                          <a:solidFill>
                            <a:srgbClr val="40458B"/>
                          </a:solidFill>
                          <a:latin typeface="Times New Roman"/>
                          <a:cs typeface="Times New Roman"/>
                        </a:rPr>
                        <a:t>21</a:t>
                      </a:r>
                      <a:endParaRPr sz="1800">
                        <a:latin typeface="Times New Roman"/>
                        <a:cs typeface="Times New Roman"/>
                      </a:endParaRPr>
                    </a:p>
                  </a:txBody>
                  <a:tcPr marL="0" marR="0" marB="0" marT="0"/>
                </a:tc>
              </a:tr>
              <a:tr h="301625">
                <a:tc>
                  <a:txBody>
                    <a:bodyPr/>
                    <a:lstStyle/>
                    <a:p>
                      <a:pPr marL="244475">
                        <a:lnSpc>
                          <a:spcPts val="2155"/>
                        </a:lnSpc>
                      </a:pPr>
                      <a:r>
                        <a:rPr dirty="0" sz="1800" spc="-20" b="1">
                          <a:solidFill>
                            <a:srgbClr val="CC0000"/>
                          </a:solidFill>
                          <a:latin typeface="宋体"/>
                          <a:cs typeface="宋体"/>
                        </a:rPr>
                        <a:t>（空转</a:t>
                      </a:r>
                      <a:r>
                        <a:rPr dirty="0" sz="1800" spc="-50" b="1">
                          <a:solidFill>
                            <a:srgbClr val="CC0000"/>
                          </a:solidFill>
                          <a:latin typeface="宋体"/>
                          <a:cs typeface="宋体"/>
                        </a:rPr>
                        <a:t>）</a:t>
                      </a:r>
                      <a:endParaRPr sz="1800">
                        <a:latin typeface="宋体"/>
                        <a:cs typeface="宋体"/>
                      </a:endParaRPr>
                    </a:p>
                  </a:txBody>
                  <a:tcPr marL="0" marR="0" marB="0" marT="0"/>
                </a:tc>
                <a:tc>
                  <a:txBody>
                    <a:bodyPr/>
                    <a:lstStyle/>
                    <a:p>
                      <a:pPr algn="ctr" marL="77470">
                        <a:lnSpc>
                          <a:spcPts val="2155"/>
                        </a:lnSpc>
                      </a:pPr>
                      <a:r>
                        <a:rPr dirty="0" sz="1800" spc="-25" b="1">
                          <a:solidFill>
                            <a:srgbClr val="CC0000"/>
                          </a:solidFill>
                          <a:latin typeface="Times New Roman"/>
                          <a:cs typeface="Times New Roman"/>
                        </a:rPr>
                        <a:t>22</a:t>
                      </a:r>
                      <a:endParaRPr sz="1800">
                        <a:latin typeface="Times New Roman"/>
                        <a:cs typeface="Times New Roman"/>
                      </a:endParaRPr>
                    </a:p>
                  </a:txBody>
                  <a:tcPr marL="0" marR="0" marB="0" marT="0"/>
                </a:tc>
              </a:tr>
              <a:tr h="301625">
                <a:tc>
                  <a:txBody>
                    <a:bodyPr/>
                    <a:lstStyle/>
                    <a:p>
                      <a:pPr marL="244475">
                        <a:lnSpc>
                          <a:spcPts val="2155"/>
                        </a:lnSpc>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a:txBody>
                  <a:tcPr marL="0" marR="0" marB="0" marT="0"/>
                </a:tc>
                <a:tc>
                  <a:txBody>
                    <a:bodyPr/>
                    <a:lstStyle/>
                    <a:p>
                      <a:pPr algn="ctr" marL="77470">
                        <a:lnSpc>
                          <a:spcPts val="2155"/>
                        </a:lnSpc>
                      </a:pPr>
                      <a:r>
                        <a:rPr dirty="0" sz="1800" spc="-25" b="1">
                          <a:solidFill>
                            <a:srgbClr val="CC0000"/>
                          </a:solidFill>
                          <a:latin typeface="Times New Roman"/>
                          <a:cs typeface="Times New Roman"/>
                        </a:rPr>
                        <a:t>23</a:t>
                      </a:r>
                      <a:endParaRPr sz="1800">
                        <a:latin typeface="Times New Roman"/>
                        <a:cs typeface="Times New Roman"/>
                      </a:endParaRPr>
                    </a:p>
                  </a:txBody>
                  <a:tcPr marL="0" marR="0" marB="0" marT="0"/>
                </a:tc>
              </a:tr>
              <a:tr h="301625">
                <a:tc>
                  <a:txBody>
                    <a:bodyPr/>
                    <a:lstStyle/>
                    <a:p>
                      <a:pPr marL="102870">
                        <a:lnSpc>
                          <a:spcPts val="2155"/>
                        </a:lnSpc>
                        <a:tabLst>
                          <a:tab pos="1158875" algn="l"/>
                        </a:tabLst>
                      </a:pPr>
                      <a:r>
                        <a:rPr dirty="0" u="sng" sz="1800" spc="105" b="1">
                          <a:solidFill>
                            <a:srgbClr val="40458B"/>
                          </a:solidFill>
                          <a:uFill>
                            <a:solidFill>
                              <a:srgbClr val="FF09FF"/>
                            </a:solidFill>
                          </a:uFill>
                          <a:latin typeface="Times New Roman"/>
                          <a:cs typeface="Times New Roman"/>
                        </a:rPr>
                        <a:t>  </a:t>
                      </a:r>
                      <a:r>
                        <a:rPr dirty="0" u="sng" sz="1800" spc="-25" b="1">
                          <a:solidFill>
                            <a:srgbClr val="40458B"/>
                          </a:solidFill>
                          <a:uFill>
                            <a:solidFill>
                              <a:srgbClr val="FF09FF"/>
                            </a:solidFill>
                          </a:uFill>
                          <a:latin typeface="Times New Roman"/>
                          <a:cs typeface="Times New Roman"/>
                        </a:rPr>
                        <a:t>S.D</a:t>
                      </a:r>
                      <a:r>
                        <a:rPr dirty="0" u="sng" sz="1800" b="1">
                          <a:solidFill>
                            <a:srgbClr val="40458B"/>
                          </a:solidFill>
                          <a:uFill>
                            <a:solidFill>
                              <a:srgbClr val="FF09FF"/>
                            </a:solidFill>
                          </a:uFill>
                          <a:latin typeface="Times New Roman"/>
                          <a:cs typeface="Times New Roman"/>
                        </a:rPr>
                        <a:t>	F16,</a:t>
                      </a:r>
                      <a:r>
                        <a:rPr dirty="0" u="sng" sz="1800" spc="-25" b="1">
                          <a:solidFill>
                            <a:srgbClr val="40458B"/>
                          </a:solidFill>
                          <a:uFill>
                            <a:solidFill>
                              <a:srgbClr val="FF09FF"/>
                            </a:solidFill>
                          </a:uFill>
                          <a:latin typeface="Times New Roman"/>
                          <a:cs typeface="Times New Roman"/>
                        </a:rPr>
                        <a:t> </a:t>
                      </a:r>
                      <a:r>
                        <a:rPr dirty="0" u="sng" sz="1800" spc="-10" b="1">
                          <a:solidFill>
                            <a:srgbClr val="40458B"/>
                          </a:solidFill>
                          <a:uFill>
                            <a:solidFill>
                              <a:srgbClr val="FF09FF"/>
                            </a:solidFill>
                          </a:uFill>
                          <a:latin typeface="Times New Roman"/>
                          <a:cs typeface="Times New Roman"/>
                        </a:rPr>
                        <a:t>-24</a:t>
                      </a:r>
                      <a:r>
                        <a:rPr dirty="0" u="sng" sz="1800" spc="-10" b="1">
                          <a:solidFill>
                            <a:srgbClr val="40458B"/>
                          </a:solidFill>
                          <a:uFill>
                            <a:solidFill>
                              <a:srgbClr val="FF09FF"/>
                            </a:solidFill>
                          </a:uFill>
                          <a:latin typeface="宋体"/>
                          <a:cs typeface="宋体"/>
                        </a:rPr>
                        <a:t>（</a:t>
                      </a:r>
                      <a:r>
                        <a:rPr dirty="0" u="sng" sz="1800" spc="-10" b="1">
                          <a:solidFill>
                            <a:srgbClr val="40458B"/>
                          </a:solidFill>
                          <a:uFill>
                            <a:solidFill>
                              <a:srgbClr val="FF09FF"/>
                            </a:solidFill>
                          </a:uFill>
                          <a:latin typeface="Times New Roman"/>
                          <a:cs typeface="Times New Roman"/>
                        </a:rPr>
                        <a:t>R1</a:t>
                      </a:r>
                      <a:r>
                        <a:rPr dirty="0" u="sng" sz="1800" spc="-10" b="1">
                          <a:solidFill>
                            <a:srgbClr val="40458B"/>
                          </a:solidFill>
                          <a:uFill>
                            <a:solidFill>
                              <a:srgbClr val="FF09FF"/>
                            </a:solidFill>
                          </a:uFill>
                          <a:latin typeface="宋体"/>
                          <a:cs typeface="宋体"/>
                        </a:rPr>
                        <a:t>）</a:t>
                      </a:r>
                      <a:endParaRPr sz="1800">
                        <a:latin typeface="宋体"/>
                        <a:cs typeface="宋体"/>
                      </a:endParaRPr>
                    </a:p>
                  </a:txBody>
                  <a:tcPr marL="0" marR="0" marB="0" marT="0"/>
                </a:tc>
                <a:tc>
                  <a:txBody>
                    <a:bodyPr/>
                    <a:lstStyle/>
                    <a:p>
                      <a:pPr algn="ctr" marL="77470">
                        <a:lnSpc>
                          <a:spcPts val="2155"/>
                        </a:lnSpc>
                      </a:pPr>
                      <a:r>
                        <a:rPr dirty="0" sz="1800" spc="-25" b="1">
                          <a:solidFill>
                            <a:srgbClr val="40458B"/>
                          </a:solidFill>
                          <a:latin typeface="Times New Roman"/>
                          <a:cs typeface="Times New Roman"/>
                        </a:rPr>
                        <a:t>24</a:t>
                      </a:r>
                      <a:endParaRPr sz="1800">
                        <a:latin typeface="Times New Roman"/>
                        <a:cs typeface="Times New Roman"/>
                      </a:endParaRPr>
                    </a:p>
                  </a:txBody>
                  <a:tcPr marL="0" marR="0" marB="0" marT="0"/>
                </a:tc>
              </a:tr>
              <a:tr h="301625">
                <a:tc>
                  <a:txBody>
                    <a:bodyPr/>
                    <a:lstStyle/>
                    <a:p>
                      <a:pPr marL="244475">
                        <a:lnSpc>
                          <a:spcPts val="2155"/>
                        </a:lnSpc>
                      </a:pPr>
                      <a:r>
                        <a:rPr dirty="0" sz="1800" spc="-10" b="1">
                          <a:solidFill>
                            <a:srgbClr val="40458B"/>
                          </a:solidFill>
                          <a:latin typeface="Times New Roman"/>
                          <a:cs typeface="Times New Roman"/>
                        </a:rPr>
                        <a:t>DADDIUR1,</a:t>
                      </a:r>
                      <a:r>
                        <a:rPr dirty="0" sz="1800" spc="-20" b="1">
                          <a:solidFill>
                            <a:srgbClr val="40458B"/>
                          </a:solidFill>
                          <a:latin typeface="Times New Roman"/>
                          <a:cs typeface="Times New Roman"/>
                        </a:rPr>
                        <a:t> </a:t>
                      </a:r>
                      <a:r>
                        <a:rPr dirty="0" sz="1800" b="1">
                          <a:solidFill>
                            <a:srgbClr val="40458B"/>
                          </a:solidFill>
                          <a:latin typeface="Times New Roman"/>
                          <a:cs typeface="Times New Roman"/>
                        </a:rPr>
                        <a:t>R1,</a:t>
                      </a:r>
                      <a:r>
                        <a:rPr dirty="0" sz="1800" spc="-20" b="1">
                          <a:solidFill>
                            <a:srgbClr val="40458B"/>
                          </a:solidFill>
                          <a:latin typeface="Times New Roman"/>
                          <a:cs typeface="Times New Roman"/>
                        </a:rPr>
                        <a:t> </a:t>
                      </a:r>
                      <a:r>
                        <a:rPr dirty="0" sz="1800" b="1">
                          <a:solidFill>
                            <a:srgbClr val="40458B"/>
                          </a:solidFill>
                          <a:latin typeface="Times New Roman"/>
                          <a:cs typeface="Times New Roman"/>
                        </a:rPr>
                        <a:t>#</a:t>
                      </a:r>
                      <a:r>
                        <a:rPr dirty="0" sz="1800" spc="-35" b="1">
                          <a:solidFill>
                            <a:srgbClr val="40458B"/>
                          </a:solidFill>
                          <a:latin typeface="Times New Roman"/>
                          <a:cs typeface="Times New Roman"/>
                        </a:rPr>
                        <a:t> </a:t>
                      </a:r>
                      <a:r>
                        <a:rPr dirty="0" sz="1800" spc="-10" b="1">
                          <a:solidFill>
                            <a:srgbClr val="40458B"/>
                          </a:solidFill>
                          <a:latin typeface="Times New Roman"/>
                          <a:cs typeface="Times New Roman"/>
                        </a:rPr>
                        <a:t>-</a:t>
                      </a:r>
                      <a:r>
                        <a:rPr dirty="0" sz="1800" spc="-25" b="1">
                          <a:solidFill>
                            <a:srgbClr val="40458B"/>
                          </a:solidFill>
                          <a:latin typeface="Times New Roman"/>
                          <a:cs typeface="Times New Roman"/>
                        </a:rPr>
                        <a:t>32</a:t>
                      </a:r>
                      <a:endParaRPr sz="1800">
                        <a:latin typeface="Times New Roman"/>
                        <a:cs typeface="Times New Roman"/>
                      </a:endParaRPr>
                    </a:p>
                  </a:txBody>
                  <a:tcPr marL="0" marR="0" marB="0" marT="0"/>
                </a:tc>
                <a:tc>
                  <a:txBody>
                    <a:bodyPr/>
                    <a:lstStyle/>
                    <a:p>
                      <a:pPr algn="ctr" marL="77470">
                        <a:lnSpc>
                          <a:spcPts val="2155"/>
                        </a:lnSpc>
                      </a:pPr>
                      <a:r>
                        <a:rPr dirty="0" sz="1800" spc="-25" b="1">
                          <a:solidFill>
                            <a:srgbClr val="40458B"/>
                          </a:solidFill>
                          <a:latin typeface="Times New Roman"/>
                          <a:cs typeface="Times New Roman"/>
                        </a:rPr>
                        <a:t>25</a:t>
                      </a:r>
                      <a:endParaRPr sz="1800">
                        <a:latin typeface="Times New Roman"/>
                        <a:cs typeface="Times New Roman"/>
                      </a:endParaRPr>
                    </a:p>
                  </a:txBody>
                  <a:tcPr marL="0" marR="0" marB="0" marT="0"/>
                </a:tc>
              </a:tr>
              <a:tr h="301625">
                <a:tc>
                  <a:txBody>
                    <a:bodyPr/>
                    <a:lstStyle/>
                    <a:p>
                      <a:pPr marL="244475">
                        <a:lnSpc>
                          <a:spcPts val="2155"/>
                        </a:lnSpc>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a:txBody>
                  <a:tcPr marL="0" marR="0" marB="0" marT="0"/>
                </a:tc>
                <a:tc>
                  <a:txBody>
                    <a:bodyPr/>
                    <a:lstStyle/>
                    <a:p>
                      <a:pPr algn="ctr" marL="77470">
                        <a:lnSpc>
                          <a:spcPts val="2155"/>
                        </a:lnSpc>
                      </a:pPr>
                      <a:r>
                        <a:rPr dirty="0" sz="1800" spc="-25" b="1">
                          <a:solidFill>
                            <a:srgbClr val="CC0000"/>
                          </a:solidFill>
                          <a:latin typeface="Times New Roman"/>
                          <a:cs typeface="Times New Roman"/>
                        </a:rPr>
                        <a:t>26</a:t>
                      </a:r>
                      <a:endParaRPr sz="1800">
                        <a:latin typeface="Times New Roman"/>
                        <a:cs typeface="Times New Roman"/>
                      </a:endParaRPr>
                    </a:p>
                  </a:txBody>
                  <a:tcPr marL="0" marR="0" marB="0" marT="0"/>
                </a:tc>
              </a:tr>
              <a:tr h="301625">
                <a:tc>
                  <a:txBody>
                    <a:bodyPr/>
                    <a:lstStyle/>
                    <a:p>
                      <a:pPr marL="244475">
                        <a:lnSpc>
                          <a:spcPts val="2155"/>
                        </a:lnSpc>
                        <a:tabLst>
                          <a:tab pos="1158875" algn="l"/>
                        </a:tabLst>
                      </a:pPr>
                      <a:r>
                        <a:rPr dirty="0" sz="1800" spc="-25" b="1">
                          <a:solidFill>
                            <a:srgbClr val="40458B"/>
                          </a:solidFill>
                          <a:latin typeface="Times New Roman"/>
                          <a:cs typeface="Times New Roman"/>
                        </a:rPr>
                        <a:t>BNE</a:t>
                      </a:r>
                      <a:r>
                        <a:rPr dirty="0" sz="1800" b="1">
                          <a:solidFill>
                            <a:srgbClr val="40458B"/>
                          </a:solidFill>
                          <a:latin typeface="Times New Roman"/>
                          <a:cs typeface="Times New Roman"/>
                        </a:rPr>
                        <a:t>	R1,</a:t>
                      </a:r>
                      <a:r>
                        <a:rPr dirty="0" sz="1800" spc="-5" b="1">
                          <a:solidFill>
                            <a:srgbClr val="40458B"/>
                          </a:solidFill>
                          <a:latin typeface="Times New Roman"/>
                          <a:cs typeface="Times New Roman"/>
                        </a:rPr>
                        <a:t> </a:t>
                      </a:r>
                      <a:r>
                        <a:rPr dirty="0" sz="1800" b="1">
                          <a:solidFill>
                            <a:srgbClr val="40458B"/>
                          </a:solidFill>
                          <a:latin typeface="Times New Roman"/>
                          <a:cs typeface="Times New Roman"/>
                        </a:rPr>
                        <a:t>R2, </a:t>
                      </a:r>
                      <a:r>
                        <a:rPr dirty="0" sz="1800" spc="-20" b="1">
                          <a:solidFill>
                            <a:srgbClr val="40458B"/>
                          </a:solidFill>
                          <a:latin typeface="Times New Roman"/>
                          <a:cs typeface="Times New Roman"/>
                        </a:rPr>
                        <a:t>Loop</a:t>
                      </a:r>
                      <a:endParaRPr sz="1800">
                        <a:latin typeface="Times New Roman"/>
                        <a:cs typeface="Times New Roman"/>
                      </a:endParaRPr>
                    </a:p>
                  </a:txBody>
                  <a:tcPr marL="0" marR="0" marB="0" marT="0"/>
                </a:tc>
                <a:tc>
                  <a:txBody>
                    <a:bodyPr/>
                    <a:lstStyle/>
                    <a:p>
                      <a:pPr algn="ctr" marL="77470">
                        <a:lnSpc>
                          <a:spcPts val="2155"/>
                        </a:lnSpc>
                      </a:pPr>
                      <a:r>
                        <a:rPr dirty="0" sz="1800" spc="-25" b="1">
                          <a:solidFill>
                            <a:srgbClr val="40458B"/>
                          </a:solidFill>
                          <a:latin typeface="Times New Roman"/>
                          <a:cs typeface="Times New Roman"/>
                        </a:rPr>
                        <a:t>27</a:t>
                      </a:r>
                      <a:endParaRPr sz="1800">
                        <a:latin typeface="Times New Roman"/>
                        <a:cs typeface="Times New Roman"/>
                      </a:endParaRPr>
                    </a:p>
                  </a:txBody>
                  <a:tcPr marL="0" marR="0" marB="0" marT="0"/>
                </a:tc>
              </a:tr>
              <a:tr h="276860">
                <a:tc>
                  <a:txBody>
                    <a:bodyPr/>
                    <a:lstStyle/>
                    <a:p>
                      <a:pPr marL="244475">
                        <a:lnSpc>
                          <a:spcPts val="2085"/>
                        </a:lnSpc>
                      </a:pPr>
                      <a:r>
                        <a:rPr dirty="0" sz="1800" spc="-10" b="1">
                          <a:solidFill>
                            <a:srgbClr val="CC0000"/>
                          </a:solidFill>
                          <a:latin typeface="宋体"/>
                          <a:cs typeface="宋体"/>
                        </a:rPr>
                        <a:t>（空转</a:t>
                      </a:r>
                      <a:r>
                        <a:rPr dirty="0" sz="1800" spc="-60" b="1">
                          <a:solidFill>
                            <a:srgbClr val="CC0000"/>
                          </a:solidFill>
                          <a:latin typeface="宋体"/>
                          <a:cs typeface="宋体"/>
                        </a:rPr>
                        <a:t>）</a:t>
                      </a:r>
                      <a:endParaRPr sz="1800">
                        <a:latin typeface="宋体"/>
                        <a:cs typeface="宋体"/>
                      </a:endParaRPr>
                    </a:p>
                  </a:txBody>
                  <a:tcPr marL="0" marR="0" marB="0" marT="0"/>
                </a:tc>
                <a:tc>
                  <a:txBody>
                    <a:bodyPr/>
                    <a:lstStyle/>
                    <a:p>
                      <a:pPr algn="ctr" marL="77470">
                        <a:lnSpc>
                          <a:spcPts val="2085"/>
                        </a:lnSpc>
                      </a:pPr>
                      <a:r>
                        <a:rPr dirty="0" sz="1800" spc="-25" b="1">
                          <a:solidFill>
                            <a:srgbClr val="CC0000"/>
                          </a:solidFill>
                          <a:latin typeface="Times New Roman"/>
                          <a:cs typeface="Times New Roman"/>
                        </a:rPr>
                        <a:t>28</a:t>
                      </a:r>
                      <a:endParaRPr sz="1800">
                        <a:latin typeface="Times New Roman"/>
                        <a:cs typeface="Times New Roman"/>
                      </a:endParaRPr>
                    </a:p>
                  </a:txBody>
                  <a:tcPr marL="0" marR="0" marB="0" marT="0"/>
                </a:tc>
              </a:tr>
            </a:tbl>
          </a:graphicData>
        </a:graphic>
      </p:graphicFrame>
      <p:sp>
        <p:nvSpPr>
          <p:cNvPr id="20" name="object 20" descr=""/>
          <p:cNvSpPr/>
          <p:nvPr/>
        </p:nvSpPr>
        <p:spPr>
          <a:xfrm>
            <a:off x="8256651" y="1408175"/>
            <a:ext cx="0" cy="4319905"/>
          </a:xfrm>
          <a:custGeom>
            <a:avLst/>
            <a:gdLst/>
            <a:ahLst/>
            <a:cxnLst/>
            <a:rect l="l" t="t" r="r" b="b"/>
            <a:pathLst>
              <a:path w="0" h="4319905">
                <a:moveTo>
                  <a:pt x="0" y="0"/>
                </a:moveTo>
                <a:lnTo>
                  <a:pt x="0" y="4319524"/>
                </a:lnTo>
              </a:path>
            </a:pathLst>
          </a:custGeom>
          <a:ln w="9525">
            <a:solidFill>
              <a:srgbClr val="40458B"/>
            </a:solidFill>
          </a:ln>
        </p:spPr>
        <p:txBody>
          <a:bodyPr wrap="square" lIns="0" tIns="0" rIns="0" bIns="0" rtlCol="0"/>
          <a:lstStyle/>
          <a:p/>
        </p:txBody>
      </p:sp>
      <p:sp>
        <p:nvSpPr>
          <p:cNvPr id="21" name="object 21" descr=""/>
          <p:cNvSpPr txBox="1"/>
          <p:nvPr/>
        </p:nvSpPr>
        <p:spPr>
          <a:xfrm>
            <a:off x="6535928" y="6138773"/>
            <a:ext cx="2470150" cy="391160"/>
          </a:xfrm>
          <a:prstGeom prst="rect">
            <a:avLst/>
          </a:prstGeom>
        </p:spPr>
        <p:txBody>
          <a:bodyPr wrap="square" lIns="0" tIns="12700" rIns="0" bIns="0" rtlCol="0" vert="horz">
            <a:spAutoFit/>
          </a:bodyPr>
          <a:lstStyle/>
          <a:p>
            <a:pPr marL="12700">
              <a:lnSpc>
                <a:spcPct val="100000"/>
              </a:lnSpc>
              <a:spcBef>
                <a:spcPts val="100"/>
              </a:spcBef>
            </a:pPr>
            <a:r>
              <a:rPr dirty="0" sz="2400" spc="-10" b="1">
                <a:solidFill>
                  <a:srgbClr val="D50092"/>
                </a:solidFill>
                <a:latin typeface="Times New Roman"/>
                <a:cs typeface="Times New Roman"/>
              </a:rPr>
              <a:t>50%</a:t>
            </a:r>
            <a:r>
              <a:rPr dirty="0" sz="2400" spc="-25" b="1">
                <a:solidFill>
                  <a:srgbClr val="D50092"/>
                </a:solidFill>
                <a:latin typeface="宋体"/>
                <a:cs typeface="宋体"/>
              </a:rPr>
              <a:t>是空转周期！</a:t>
            </a:r>
            <a:endParaRPr sz="2400">
              <a:latin typeface="宋体"/>
              <a:cs typeface="宋体"/>
            </a:endParaRPr>
          </a:p>
        </p:txBody>
      </p:sp>
      <p:sp>
        <p:nvSpPr>
          <p:cNvPr id="22" name="object 22" descr=""/>
          <p:cNvSpPr/>
          <p:nvPr/>
        </p:nvSpPr>
        <p:spPr>
          <a:xfrm>
            <a:off x="10504551" y="4940300"/>
            <a:ext cx="484505" cy="69850"/>
          </a:xfrm>
          <a:custGeom>
            <a:avLst/>
            <a:gdLst/>
            <a:ahLst/>
            <a:cxnLst/>
            <a:rect l="l" t="t" r="r" b="b"/>
            <a:pathLst>
              <a:path w="484504" h="69850">
                <a:moveTo>
                  <a:pt x="0" y="0"/>
                </a:moveTo>
                <a:lnTo>
                  <a:pt x="28524" y="11134"/>
                </a:lnTo>
                <a:lnTo>
                  <a:pt x="38118" y="14741"/>
                </a:lnTo>
                <a:lnTo>
                  <a:pt x="37877" y="15843"/>
                </a:lnTo>
                <a:lnTo>
                  <a:pt x="69088" y="54356"/>
                </a:lnTo>
                <a:lnTo>
                  <a:pt x="114575" y="67821"/>
                </a:lnTo>
                <a:lnTo>
                  <a:pt x="122935" y="69850"/>
                </a:lnTo>
                <a:lnTo>
                  <a:pt x="129407" y="54574"/>
                </a:lnTo>
                <a:lnTo>
                  <a:pt x="138699" y="34702"/>
                </a:lnTo>
                <a:lnTo>
                  <a:pt x="151636" y="16879"/>
                </a:lnTo>
                <a:lnTo>
                  <a:pt x="169037" y="7747"/>
                </a:lnTo>
                <a:lnTo>
                  <a:pt x="178708" y="7903"/>
                </a:lnTo>
                <a:lnTo>
                  <a:pt x="188309" y="10048"/>
                </a:lnTo>
                <a:lnTo>
                  <a:pt x="197862" y="12979"/>
                </a:lnTo>
                <a:lnTo>
                  <a:pt x="207391" y="15493"/>
                </a:lnTo>
                <a:lnTo>
                  <a:pt x="216868" y="10876"/>
                </a:lnTo>
                <a:lnTo>
                  <a:pt x="226250" y="5794"/>
                </a:lnTo>
                <a:lnTo>
                  <a:pt x="235823" y="1688"/>
                </a:lnTo>
                <a:lnTo>
                  <a:pt x="245872" y="0"/>
                </a:lnTo>
                <a:lnTo>
                  <a:pt x="254121" y="1581"/>
                </a:lnTo>
                <a:lnTo>
                  <a:pt x="261858" y="5508"/>
                </a:lnTo>
                <a:lnTo>
                  <a:pt x="269285" y="10554"/>
                </a:lnTo>
                <a:lnTo>
                  <a:pt x="276605" y="15493"/>
                </a:lnTo>
                <a:lnTo>
                  <a:pt x="308762" y="36246"/>
                </a:lnTo>
                <a:lnTo>
                  <a:pt x="318595" y="44068"/>
                </a:lnTo>
                <a:lnTo>
                  <a:pt x="324737" y="47319"/>
                </a:lnTo>
                <a:lnTo>
                  <a:pt x="345821" y="54356"/>
                </a:lnTo>
                <a:lnTo>
                  <a:pt x="352837" y="43872"/>
                </a:lnTo>
                <a:lnTo>
                  <a:pt x="359473" y="32877"/>
                </a:lnTo>
                <a:lnTo>
                  <a:pt x="366966" y="22905"/>
                </a:lnTo>
                <a:lnTo>
                  <a:pt x="376554" y="15493"/>
                </a:lnTo>
                <a:lnTo>
                  <a:pt x="383928" y="14186"/>
                </a:lnTo>
                <a:lnTo>
                  <a:pt x="391731" y="16176"/>
                </a:lnTo>
                <a:lnTo>
                  <a:pt x="399629" y="19762"/>
                </a:lnTo>
                <a:lnTo>
                  <a:pt x="407289" y="23241"/>
                </a:lnTo>
                <a:lnTo>
                  <a:pt x="424459" y="31960"/>
                </a:lnTo>
                <a:lnTo>
                  <a:pt x="441213" y="42227"/>
                </a:lnTo>
                <a:lnTo>
                  <a:pt x="458277" y="50780"/>
                </a:lnTo>
                <a:lnTo>
                  <a:pt x="476376" y="54356"/>
                </a:lnTo>
                <a:lnTo>
                  <a:pt x="481730" y="50958"/>
                </a:lnTo>
                <a:lnTo>
                  <a:pt x="483298" y="42703"/>
                </a:lnTo>
                <a:lnTo>
                  <a:pt x="483342" y="32496"/>
                </a:lnTo>
                <a:lnTo>
                  <a:pt x="484124" y="23241"/>
                </a:lnTo>
              </a:path>
            </a:pathLst>
          </a:custGeom>
          <a:ln w="9525">
            <a:solidFill>
              <a:srgbClr val="FF0000"/>
            </a:solidFill>
          </a:ln>
        </p:spPr>
        <p:txBody>
          <a:bodyPr wrap="square" lIns="0" tIns="0" rIns="0" bIns="0" rtlCol="0"/>
          <a:lstStyle/>
          <a:p/>
        </p:txBody>
      </p:sp>
      <p:sp>
        <p:nvSpPr>
          <p:cNvPr id="23" name="object 23" descr=""/>
          <p:cNvSpPr/>
          <p:nvPr/>
        </p:nvSpPr>
        <p:spPr>
          <a:xfrm>
            <a:off x="8688451" y="5661025"/>
            <a:ext cx="2376805" cy="192405"/>
          </a:xfrm>
          <a:custGeom>
            <a:avLst/>
            <a:gdLst/>
            <a:ahLst/>
            <a:cxnLst/>
            <a:rect l="l" t="t" r="r" b="b"/>
            <a:pathLst>
              <a:path w="2376804" h="192404">
                <a:moveTo>
                  <a:pt x="0" y="192087"/>
                </a:moveTo>
                <a:lnTo>
                  <a:pt x="44495" y="182104"/>
                </a:lnTo>
                <a:lnTo>
                  <a:pt x="112175" y="167343"/>
                </a:lnTo>
                <a:lnTo>
                  <a:pt x="155554" y="158248"/>
                </a:lnTo>
                <a:lnTo>
                  <a:pt x="169675" y="155347"/>
                </a:lnTo>
                <a:lnTo>
                  <a:pt x="179573" y="153289"/>
                </a:lnTo>
                <a:lnTo>
                  <a:pt x="185865" y="151884"/>
                </a:lnTo>
                <a:lnTo>
                  <a:pt x="189169" y="150939"/>
                </a:lnTo>
                <a:lnTo>
                  <a:pt x="190103" y="150265"/>
                </a:lnTo>
                <a:lnTo>
                  <a:pt x="189284" y="149670"/>
                </a:lnTo>
                <a:lnTo>
                  <a:pt x="187329" y="148964"/>
                </a:lnTo>
                <a:lnTo>
                  <a:pt x="184855" y="147954"/>
                </a:lnTo>
                <a:lnTo>
                  <a:pt x="182480" y="146450"/>
                </a:lnTo>
                <a:lnTo>
                  <a:pt x="180822" y="144262"/>
                </a:lnTo>
                <a:lnTo>
                  <a:pt x="180498" y="141198"/>
                </a:lnTo>
                <a:lnTo>
                  <a:pt x="182124" y="137066"/>
                </a:lnTo>
                <a:lnTo>
                  <a:pt x="220492" y="106052"/>
                </a:lnTo>
                <a:lnTo>
                  <a:pt x="267435" y="79176"/>
                </a:lnTo>
                <a:lnTo>
                  <a:pt x="339471" y="42684"/>
                </a:lnTo>
                <a:lnTo>
                  <a:pt x="440036" y="23268"/>
                </a:lnTo>
                <a:lnTo>
                  <a:pt x="514002" y="12329"/>
                </a:lnTo>
                <a:lnTo>
                  <a:pt x="575544" y="3772"/>
                </a:lnTo>
                <a:lnTo>
                  <a:pt x="603503" y="0"/>
                </a:lnTo>
                <a:lnTo>
                  <a:pt x="623337" y="25716"/>
                </a:lnTo>
                <a:lnTo>
                  <a:pt x="648716" y="59765"/>
                </a:lnTo>
                <a:lnTo>
                  <a:pt x="680847" y="96718"/>
                </a:lnTo>
                <a:lnTo>
                  <a:pt x="720936" y="131149"/>
                </a:lnTo>
                <a:lnTo>
                  <a:pt x="770191" y="157631"/>
                </a:lnTo>
                <a:lnTo>
                  <a:pt x="829818" y="170738"/>
                </a:lnTo>
                <a:lnTo>
                  <a:pt x="877288" y="170307"/>
                </a:lnTo>
                <a:lnTo>
                  <a:pt x="924401" y="164428"/>
                </a:lnTo>
                <a:lnTo>
                  <a:pt x="971371" y="156370"/>
                </a:lnTo>
                <a:lnTo>
                  <a:pt x="1018413" y="149402"/>
                </a:lnTo>
                <a:lnTo>
                  <a:pt x="1064883" y="162073"/>
                </a:lnTo>
                <a:lnTo>
                  <a:pt x="1110900" y="176079"/>
                </a:lnTo>
                <a:lnTo>
                  <a:pt x="1157823" y="187418"/>
                </a:lnTo>
                <a:lnTo>
                  <a:pt x="1207007" y="192087"/>
                </a:lnTo>
                <a:lnTo>
                  <a:pt x="1247548" y="187720"/>
                </a:lnTo>
                <a:lnTo>
                  <a:pt x="1285494" y="176884"/>
                </a:lnTo>
                <a:lnTo>
                  <a:pt x="1321915" y="162978"/>
                </a:lnTo>
                <a:lnTo>
                  <a:pt x="1357883" y="149402"/>
                </a:lnTo>
                <a:lnTo>
                  <a:pt x="1412648" y="130534"/>
                </a:lnTo>
                <a:lnTo>
                  <a:pt x="1456262" y="114971"/>
                </a:lnTo>
                <a:lnTo>
                  <a:pt x="1515762" y="92323"/>
                </a:lnTo>
                <a:lnTo>
                  <a:pt x="1557161" y="74145"/>
                </a:lnTo>
                <a:lnTo>
                  <a:pt x="1563925" y="70859"/>
                </a:lnTo>
                <a:lnTo>
                  <a:pt x="1569556" y="68360"/>
                </a:lnTo>
                <a:lnTo>
                  <a:pt x="1609379" y="59039"/>
                </a:lnTo>
                <a:lnTo>
                  <a:pt x="1659706" y="49747"/>
                </a:lnTo>
                <a:lnTo>
                  <a:pt x="1697481" y="42684"/>
                </a:lnTo>
                <a:lnTo>
                  <a:pt x="1732147" y="71501"/>
                </a:lnTo>
                <a:lnTo>
                  <a:pt x="1764776" y="101744"/>
                </a:lnTo>
                <a:lnTo>
                  <a:pt x="1801477" y="129136"/>
                </a:lnTo>
                <a:lnTo>
                  <a:pt x="1848357" y="149402"/>
                </a:lnTo>
                <a:lnTo>
                  <a:pt x="1884683" y="153082"/>
                </a:lnTo>
                <a:lnTo>
                  <a:pt x="1923034" y="147596"/>
                </a:lnTo>
                <a:lnTo>
                  <a:pt x="1961765" y="137676"/>
                </a:lnTo>
                <a:lnTo>
                  <a:pt x="1999233" y="128054"/>
                </a:lnTo>
                <a:lnTo>
                  <a:pt x="2047929" y="115407"/>
                </a:lnTo>
                <a:lnTo>
                  <a:pt x="2095414" y="100132"/>
                </a:lnTo>
                <a:lnTo>
                  <a:pt x="2142375" y="83896"/>
                </a:lnTo>
                <a:lnTo>
                  <a:pt x="2189498" y="68367"/>
                </a:lnTo>
                <a:lnTo>
                  <a:pt x="2237470" y="55210"/>
                </a:lnTo>
                <a:lnTo>
                  <a:pt x="2286976" y="46094"/>
                </a:lnTo>
                <a:lnTo>
                  <a:pt x="2338704" y="42684"/>
                </a:lnTo>
                <a:lnTo>
                  <a:pt x="2364690" y="52023"/>
                </a:lnTo>
                <a:lnTo>
                  <a:pt x="2372280" y="74701"/>
                </a:lnTo>
                <a:lnTo>
                  <a:pt x="2372512" y="102713"/>
                </a:lnTo>
                <a:lnTo>
                  <a:pt x="2376424" y="128054"/>
                </a:lnTo>
              </a:path>
            </a:pathLst>
          </a:custGeom>
          <a:ln w="9525">
            <a:solidFill>
              <a:srgbClr val="FF0000"/>
            </a:solidFill>
          </a:ln>
        </p:spPr>
        <p:txBody>
          <a:bodyPr wrap="square" lIns="0" tIns="0" rIns="0" bIns="0" rtlCol="0"/>
          <a:lstStyle/>
          <a:p/>
        </p:txBody>
      </p:sp>
      <p:sp>
        <p:nvSpPr>
          <p:cNvPr id="24" name="object 24" descr=""/>
          <p:cNvSpPr txBox="1"/>
          <p:nvPr/>
        </p:nvSpPr>
        <p:spPr>
          <a:xfrm>
            <a:off x="342391" y="5910173"/>
            <a:ext cx="3701415" cy="391160"/>
          </a:xfrm>
          <a:prstGeom prst="rect">
            <a:avLst/>
          </a:prstGeom>
        </p:spPr>
        <p:txBody>
          <a:bodyPr wrap="square" lIns="0" tIns="12700" rIns="0" bIns="0" rtlCol="0" vert="horz">
            <a:spAutoFit/>
          </a:bodyPr>
          <a:lstStyle/>
          <a:p>
            <a:pPr marL="12700">
              <a:lnSpc>
                <a:spcPct val="100000"/>
              </a:lnSpc>
              <a:spcBef>
                <a:spcPts val="100"/>
              </a:spcBef>
            </a:pPr>
            <a:r>
              <a:rPr dirty="0" sz="2400" spc="-25" b="1">
                <a:solidFill>
                  <a:srgbClr val="D50092"/>
                </a:solidFill>
                <a:latin typeface="宋体"/>
                <a:cs typeface="宋体"/>
              </a:rPr>
              <a:t>思考：如何利用空转周期！</a:t>
            </a:r>
            <a:endParaRPr sz="2400">
              <a:latin typeface="宋体"/>
              <a:cs typeface="宋体"/>
            </a:endParaRPr>
          </a:p>
        </p:txBody>
      </p:sp>
      <p:sp>
        <p:nvSpPr>
          <p:cNvPr id="25" name="object 25" descr=""/>
          <p:cNvSpPr txBox="1"/>
          <p:nvPr/>
        </p:nvSpPr>
        <p:spPr>
          <a:xfrm>
            <a:off x="156463" y="708888"/>
            <a:ext cx="3305175" cy="2927985"/>
          </a:xfrm>
          <a:prstGeom prst="rect">
            <a:avLst/>
          </a:prstGeom>
        </p:spPr>
        <p:txBody>
          <a:bodyPr wrap="square" lIns="0" tIns="203835" rIns="0" bIns="0" rtlCol="0" vert="horz">
            <a:spAutoFit/>
          </a:bodyPr>
          <a:lstStyle/>
          <a:p>
            <a:pPr marL="12700">
              <a:lnSpc>
                <a:spcPct val="100000"/>
              </a:lnSpc>
              <a:spcBef>
                <a:spcPts val="1605"/>
              </a:spcBef>
            </a:pPr>
            <a:r>
              <a:rPr dirty="0" sz="2400">
                <a:solidFill>
                  <a:srgbClr val="FF0000"/>
                </a:solidFill>
                <a:latin typeface="黑体"/>
                <a:cs typeface="黑体"/>
              </a:rPr>
              <a:t>分析：从</a:t>
            </a:r>
            <a:r>
              <a:rPr dirty="0" sz="2400" spc="-25">
                <a:solidFill>
                  <a:srgbClr val="FF0000"/>
                </a:solidFill>
                <a:latin typeface="Tahoma"/>
                <a:cs typeface="Tahoma"/>
              </a:rPr>
              <a:t>3</a:t>
            </a:r>
            <a:r>
              <a:rPr dirty="0" sz="2400" spc="-10">
                <a:solidFill>
                  <a:srgbClr val="FF0000"/>
                </a:solidFill>
                <a:latin typeface="黑体"/>
                <a:cs typeface="黑体"/>
              </a:rPr>
              <a:t>个方面分析</a:t>
            </a:r>
            <a:endParaRPr sz="2400">
              <a:latin typeface="黑体"/>
              <a:cs typeface="黑体"/>
            </a:endParaRPr>
          </a:p>
          <a:p>
            <a:pPr marL="354965" indent="-342265">
              <a:lnSpc>
                <a:spcPct val="100000"/>
              </a:lnSpc>
              <a:spcBef>
                <a:spcPts val="1380"/>
              </a:spcBef>
              <a:buClr>
                <a:srgbClr val="0000CC"/>
              </a:buClr>
              <a:buFont typeface="Wingdings"/>
              <a:buChar char=""/>
              <a:tabLst>
                <a:tab pos="354965" algn="l"/>
              </a:tabLst>
            </a:pPr>
            <a:r>
              <a:rPr dirty="0" sz="2200" spc="-20">
                <a:solidFill>
                  <a:srgbClr val="40458B"/>
                </a:solidFill>
                <a:latin typeface="Tahoma"/>
                <a:cs typeface="Tahoma"/>
              </a:rPr>
              <a:t>2</a:t>
            </a:r>
            <a:r>
              <a:rPr dirty="0" sz="2200" spc="-20">
                <a:solidFill>
                  <a:srgbClr val="40458B"/>
                </a:solidFill>
                <a:latin typeface="黑体"/>
                <a:cs typeface="黑体"/>
              </a:rPr>
              <a:t>、</a:t>
            </a:r>
            <a:r>
              <a:rPr dirty="0" sz="2200" spc="-25">
                <a:solidFill>
                  <a:srgbClr val="FF09FF"/>
                </a:solidFill>
                <a:latin typeface="黑体"/>
                <a:cs typeface="黑体"/>
              </a:rPr>
              <a:t>节省的时间</a:t>
            </a:r>
            <a:r>
              <a:rPr dirty="0" sz="2200" spc="-30">
                <a:solidFill>
                  <a:srgbClr val="40458B"/>
                </a:solidFill>
                <a:latin typeface="黑体"/>
                <a:cs typeface="黑体"/>
              </a:rPr>
              <a:t>：</a:t>
            </a:r>
            <a:r>
              <a:rPr dirty="0" sz="2000" spc="-20">
                <a:solidFill>
                  <a:srgbClr val="40458B"/>
                </a:solidFill>
                <a:latin typeface="黑体"/>
                <a:cs typeface="黑体"/>
              </a:rPr>
              <a:t>从减少</a:t>
            </a:r>
            <a:endParaRPr sz="2000">
              <a:latin typeface="黑体"/>
              <a:cs typeface="黑体"/>
            </a:endParaRPr>
          </a:p>
          <a:p>
            <a:pPr marL="355600">
              <a:lnSpc>
                <a:spcPct val="100000"/>
              </a:lnSpc>
              <a:spcBef>
                <a:spcPts val="1240"/>
              </a:spcBef>
            </a:pPr>
            <a:r>
              <a:rPr dirty="0" sz="2000" spc="-20">
                <a:solidFill>
                  <a:srgbClr val="40458B"/>
                </a:solidFill>
                <a:latin typeface="黑体"/>
                <a:cs typeface="黑体"/>
              </a:rPr>
              <a:t>循环控制的开销中获得。</a:t>
            </a:r>
            <a:endParaRPr sz="2000">
              <a:latin typeface="黑体"/>
              <a:cs typeface="黑体"/>
            </a:endParaRPr>
          </a:p>
          <a:p>
            <a:pPr marL="355600" marR="5080" indent="-342900">
              <a:lnSpc>
                <a:spcPct val="150000"/>
              </a:lnSpc>
              <a:spcBef>
                <a:spcPts val="5"/>
              </a:spcBef>
              <a:buClr>
                <a:srgbClr val="0000CC"/>
              </a:buClr>
              <a:buFont typeface="Wingdings"/>
              <a:buChar char=""/>
              <a:tabLst>
                <a:tab pos="355600" algn="l"/>
              </a:tabLst>
            </a:pPr>
            <a:r>
              <a:rPr dirty="0" sz="2000">
                <a:solidFill>
                  <a:srgbClr val="40458B"/>
                </a:solidFill>
                <a:latin typeface="Tahoma"/>
                <a:cs typeface="Tahoma"/>
              </a:rPr>
              <a:t>3</a:t>
            </a:r>
            <a:r>
              <a:rPr dirty="0" sz="2000" spc="-20">
                <a:solidFill>
                  <a:srgbClr val="40458B"/>
                </a:solidFill>
                <a:latin typeface="黑体"/>
                <a:cs typeface="黑体"/>
              </a:rPr>
              <a:t>、展开后的循环中，实际</a:t>
            </a:r>
            <a:r>
              <a:rPr dirty="0" sz="2000" spc="-5">
                <a:solidFill>
                  <a:srgbClr val="40458B"/>
                </a:solidFill>
                <a:latin typeface="黑体"/>
                <a:cs typeface="黑体"/>
              </a:rPr>
              <a:t>指令：</a:t>
            </a:r>
            <a:r>
              <a:rPr dirty="0" sz="2000" spc="-10">
                <a:solidFill>
                  <a:srgbClr val="40458B"/>
                </a:solidFill>
                <a:latin typeface="Tahoma"/>
                <a:cs typeface="Tahoma"/>
              </a:rPr>
              <a:t>14</a:t>
            </a:r>
            <a:r>
              <a:rPr dirty="0" sz="2000" spc="-5">
                <a:solidFill>
                  <a:srgbClr val="40458B"/>
                </a:solidFill>
                <a:latin typeface="黑体"/>
                <a:cs typeface="黑体"/>
              </a:rPr>
              <a:t>条，</a:t>
            </a:r>
            <a:r>
              <a:rPr dirty="0" sz="2000" spc="-10">
                <a:solidFill>
                  <a:srgbClr val="40458B"/>
                </a:solidFill>
                <a:latin typeface="Tahoma"/>
                <a:cs typeface="Tahoma"/>
              </a:rPr>
              <a:t>14</a:t>
            </a:r>
            <a:r>
              <a:rPr dirty="0" sz="2000" spc="-20">
                <a:solidFill>
                  <a:srgbClr val="40458B"/>
                </a:solidFill>
                <a:latin typeface="黑体"/>
                <a:cs typeface="黑体"/>
              </a:rPr>
              <a:t>个周期：</a:t>
            </a:r>
            <a:r>
              <a:rPr dirty="0" sz="2000" spc="-15">
                <a:solidFill>
                  <a:srgbClr val="40458B"/>
                </a:solidFill>
                <a:latin typeface="黑体"/>
                <a:cs typeface="黑体"/>
              </a:rPr>
              <a:t>空转。效率并不高。</a:t>
            </a:r>
            <a:endParaRPr sz="2000">
              <a:latin typeface="黑体"/>
              <a:cs typeface="黑体"/>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2556510" y="-155387"/>
            <a:ext cx="5830570" cy="1108075"/>
          </a:xfrm>
          <a:prstGeom prst="rect">
            <a:avLst/>
          </a:prstGeom>
        </p:spPr>
        <p:txBody>
          <a:bodyPr wrap="square" lIns="0" tIns="244475" rIns="0" bIns="0" rtlCol="0" vert="horz">
            <a:spAutoFit/>
          </a:bodyPr>
          <a:lstStyle/>
          <a:p>
            <a:pPr marL="469265" indent="-456565">
              <a:lnSpc>
                <a:spcPct val="100000"/>
              </a:lnSpc>
              <a:spcBef>
                <a:spcPts val="1925"/>
              </a:spcBef>
              <a:buClr>
                <a:srgbClr val="40458B"/>
              </a:buClr>
              <a:buSzPct val="89285"/>
              <a:buFont typeface="Wingdings"/>
              <a:buChar char=""/>
              <a:tabLst>
                <a:tab pos="469265" algn="l"/>
              </a:tabLst>
            </a:pPr>
            <a:r>
              <a:rPr dirty="0" sz="2800" spc="-25" b="1">
                <a:solidFill>
                  <a:srgbClr val="FF0000"/>
                </a:solidFill>
                <a:latin typeface="宋体"/>
                <a:cs typeface="宋体"/>
              </a:rPr>
              <a:t>展开并且再次调度后</a:t>
            </a:r>
            <a:r>
              <a:rPr dirty="0" sz="2800" spc="-35" b="1">
                <a:latin typeface="宋体"/>
                <a:cs typeface="宋体"/>
              </a:rPr>
              <a:t>的代码如下：</a:t>
            </a:r>
            <a:endParaRPr sz="2800">
              <a:latin typeface="宋体"/>
              <a:cs typeface="宋体"/>
            </a:endParaRPr>
          </a:p>
          <a:p>
            <a:pPr algn="r" marR="467359">
              <a:lnSpc>
                <a:spcPct val="100000"/>
              </a:lnSpc>
              <a:spcBef>
                <a:spcPts val="1175"/>
              </a:spcBef>
            </a:pPr>
            <a:r>
              <a:rPr dirty="0" sz="1800" spc="-20" b="1">
                <a:solidFill>
                  <a:srgbClr val="006600"/>
                </a:solidFill>
                <a:latin typeface="宋体"/>
                <a:cs typeface="宋体"/>
              </a:rPr>
              <a:t>指令流出时钟</a:t>
            </a:r>
            <a:endParaRPr sz="1800">
              <a:latin typeface="宋体"/>
              <a:cs typeface="宋体"/>
            </a:endParaRPr>
          </a:p>
        </p:txBody>
      </p:sp>
      <p:sp>
        <p:nvSpPr>
          <p:cNvPr id="3" name="object 3" descr=""/>
          <p:cNvSpPr txBox="1"/>
          <p:nvPr/>
        </p:nvSpPr>
        <p:spPr>
          <a:xfrm>
            <a:off x="2574798" y="949833"/>
            <a:ext cx="608965" cy="299720"/>
          </a:xfrm>
          <a:prstGeom prst="rect">
            <a:avLst/>
          </a:prstGeom>
        </p:spPr>
        <p:txBody>
          <a:bodyPr wrap="square" lIns="0" tIns="12700" rIns="0" bIns="0" rtlCol="0" vert="horz">
            <a:spAutoFit/>
          </a:bodyPr>
          <a:lstStyle/>
          <a:p>
            <a:pPr marL="12700">
              <a:lnSpc>
                <a:spcPct val="100000"/>
              </a:lnSpc>
              <a:spcBef>
                <a:spcPts val="100"/>
              </a:spcBef>
            </a:pPr>
            <a:r>
              <a:rPr dirty="0" sz="1800" spc="-10" b="1">
                <a:solidFill>
                  <a:srgbClr val="40458B"/>
                </a:solidFill>
                <a:latin typeface="Times New Roman"/>
                <a:cs typeface="Times New Roman"/>
              </a:rPr>
              <a:t>Loop:</a:t>
            </a:r>
            <a:endParaRPr sz="1800">
              <a:latin typeface="Times New Roman"/>
              <a:cs typeface="Times New Roman"/>
            </a:endParaRPr>
          </a:p>
        </p:txBody>
      </p:sp>
      <p:graphicFrame>
        <p:nvGraphicFramePr>
          <p:cNvPr id="4" name="object 4" descr=""/>
          <p:cNvGraphicFramePr>
            <a:graphicFrameLocks noGrp="1"/>
          </p:cNvGraphicFramePr>
          <p:nvPr/>
        </p:nvGraphicFramePr>
        <p:xfrm>
          <a:off x="3470147" y="987424"/>
          <a:ext cx="4026535" cy="4528819"/>
        </p:xfrm>
        <a:graphic>
          <a:graphicData uri="http://schemas.openxmlformats.org/drawingml/2006/table">
            <a:tbl>
              <a:tblPr firstRow="1" bandRow="1">
                <a:tableStyleId>{2D5ABB26-0587-4C30-8999-92F81FD0307C}</a:tableStyleId>
              </a:tblPr>
              <a:tblGrid>
                <a:gridCol w="1402080"/>
                <a:gridCol w="2136140"/>
                <a:gridCol w="412114"/>
              </a:tblGrid>
              <a:tr h="290830">
                <a:tc>
                  <a:txBody>
                    <a:bodyPr/>
                    <a:lstStyle/>
                    <a:p>
                      <a:pPr marL="31750">
                        <a:lnSpc>
                          <a:spcPts val="1964"/>
                        </a:lnSpc>
                      </a:pPr>
                      <a:r>
                        <a:rPr dirty="0" sz="1800" spc="-25" b="1">
                          <a:solidFill>
                            <a:srgbClr val="40458B"/>
                          </a:solidFill>
                          <a:latin typeface="Times New Roman"/>
                          <a:cs typeface="Times New Roman"/>
                        </a:rPr>
                        <a:t>L.D</a:t>
                      </a:r>
                      <a:endParaRPr sz="1800">
                        <a:latin typeface="Times New Roman"/>
                        <a:cs typeface="Times New Roman"/>
                      </a:endParaRPr>
                    </a:p>
                  </a:txBody>
                  <a:tcPr marL="0" marR="0" marB="0" marT="0"/>
                </a:tc>
                <a:tc>
                  <a:txBody>
                    <a:bodyPr/>
                    <a:lstStyle/>
                    <a:p>
                      <a:pPr marL="458470">
                        <a:lnSpc>
                          <a:spcPts val="1964"/>
                        </a:lnSpc>
                      </a:pPr>
                      <a:r>
                        <a:rPr dirty="0" sz="1800" b="1">
                          <a:solidFill>
                            <a:srgbClr val="00AF50"/>
                          </a:solidFill>
                          <a:latin typeface="Times New Roman"/>
                          <a:cs typeface="Times New Roman"/>
                        </a:rPr>
                        <a:t>F0</a:t>
                      </a:r>
                      <a:r>
                        <a:rPr dirty="0" sz="1800" b="1">
                          <a:solidFill>
                            <a:srgbClr val="40458B"/>
                          </a:solidFill>
                          <a:latin typeface="Times New Roman"/>
                          <a:cs typeface="Times New Roman"/>
                        </a:rPr>
                        <a:t>,</a:t>
                      </a:r>
                      <a:r>
                        <a:rPr dirty="0" sz="1800" spc="-25" b="1">
                          <a:solidFill>
                            <a:srgbClr val="40458B"/>
                          </a:solidFill>
                          <a:latin typeface="Times New Roman"/>
                          <a:cs typeface="Times New Roman"/>
                        </a:rPr>
                        <a:t> </a:t>
                      </a:r>
                      <a:r>
                        <a:rPr dirty="0" sz="1800" spc="-10" b="1">
                          <a:solidFill>
                            <a:srgbClr val="40458B"/>
                          </a:solidFill>
                          <a:latin typeface="Times New Roman"/>
                          <a:cs typeface="Times New Roman"/>
                        </a:rPr>
                        <a:t>0</a:t>
                      </a:r>
                      <a:r>
                        <a:rPr dirty="0" sz="1800" spc="-10" b="1">
                          <a:solidFill>
                            <a:srgbClr val="40458B"/>
                          </a:solidFill>
                          <a:latin typeface="宋体"/>
                          <a:cs typeface="宋体"/>
                        </a:rPr>
                        <a:t>（</a:t>
                      </a:r>
                      <a:r>
                        <a:rPr dirty="0" sz="1800" spc="-10" b="1">
                          <a:solidFill>
                            <a:srgbClr val="40458B"/>
                          </a:solidFill>
                          <a:latin typeface="Times New Roman"/>
                          <a:cs typeface="Times New Roman"/>
                        </a:rPr>
                        <a:t>R1</a:t>
                      </a:r>
                      <a:r>
                        <a:rPr dirty="0" sz="1800" spc="-10" b="1">
                          <a:solidFill>
                            <a:srgbClr val="40458B"/>
                          </a:solidFill>
                          <a:latin typeface="宋体"/>
                          <a:cs typeface="宋体"/>
                        </a:rPr>
                        <a:t>）</a:t>
                      </a:r>
                      <a:endParaRPr sz="1800">
                        <a:latin typeface="宋体"/>
                        <a:cs typeface="宋体"/>
                      </a:endParaRPr>
                    </a:p>
                  </a:txBody>
                  <a:tcPr marL="0" marR="0" marB="0" marT="0"/>
                </a:tc>
                <a:tc>
                  <a:txBody>
                    <a:bodyPr/>
                    <a:lstStyle/>
                    <a:p>
                      <a:pPr marL="151130">
                        <a:lnSpc>
                          <a:spcPts val="1964"/>
                        </a:lnSpc>
                      </a:pPr>
                      <a:r>
                        <a:rPr dirty="0" sz="1800" spc="-50" b="1">
                          <a:solidFill>
                            <a:srgbClr val="40458B"/>
                          </a:solidFill>
                          <a:latin typeface="Times New Roman"/>
                          <a:cs typeface="Times New Roman"/>
                        </a:rPr>
                        <a:t>1</a:t>
                      </a:r>
                      <a:endParaRPr sz="1800">
                        <a:latin typeface="Times New Roman"/>
                        <a:cs typeface="Times New Roman"/>
                      </a:endParaRPr>
                    </a:p>
                  </a:txBody>
                  <a:tcPr marL="0" marR="0" marB="0" marT="0"/>
                </a:tc>
              </a:tr>
              <a:tr h="328930">
                <a:tc>
                  <a:txBody>
                    <a:bodyPr/>
                    <a:lstStyle/>
                    <a:p>
                      <a:pPr marL="31750">
                        <a:lnSpc>
                          <a:spcPct val="100000"/>
                        </a:lnSpc>
                        <a:spcBef>
                          <a:spcPts val="100"/>
                        </a:spcBef>
                      </a:pPr>
                      <a:r>
                        <a:rPr dirty="0" sz="1800" spc="-25" b="1">
                          <a:solidFill>
                            <a:srgbClr val="40458B"/>
                          </a:solidFill>
                          <a:latin typeface="Times New Roman"/>
                          <a:cs typeface="Times New Roman"/>
                        </a:rPr>
                        <a:t>L.D</a:t>
                      </a:r>
                      <a:endParaRPr sz="1800">
                        <a:latin typeface="Times New Roman"/>
                        <a:cs typeface="Times New Roman"/>
                      </a:endParaRPr>
                    </a:p>
                  </a:txBody>
                  <a:tcPr marL="0" marR="0" marB="0" marT="12700"/>
                </a:tc>
                <a:tc>
                  <a:txBody>
                    <a:bodyPr/>
                    <a:lstStyle/>
                    <a:p>
                      <a:pPr marL="458470">
                        <a:lnSpc>
                          <a:spcPct val="100000"/>
                        </a:lnSpc>
                        <a:spcBef>
                          <a:spcPts val="100"/>
                        </a:spcBef>
                      </a:pPr>
                      <a:r>
                        <a:rPr dirty="0" sz="1800" b="1">
                          <a:solidFill>
                            <a:srgbClr val="FF0000"/>
                          </a:solidFill>
                          <a:latin typeface="Times New Roman"/>
                          <a:cs typeface="Times New Roman"/>
                        </a:rPr>
                        <a:t>F6</a:t>
                      </a:r>
                      <a:r>
                        <a:rPr dirty="0" sz="1800" b="1">
                          <a:solidFill>
                            <a:srgbClr val="40458B"/>
                          </a:solidFill>
                          <a:latin typeface="Times New Roman"/>
                          <a:cs typeface="Times New Roman"/>
                        </a:rPr>
                        <a:t>,</a:t>
                      </a:r>
                      <a:r>
                        <a:rPr dirty="0" sz="1800" spc="-20" b="1">
                          <a:solidFill>
                            <a:srgbClr val="40458B"/>
                          </a:solidFill>
                          <a:latin typeface="Times New Roman"/>
                          <a:cs typeface="Times New Roman"/>
                        </a:rPr>
                        <a:t> </a:t>
                      </a:r>
                      <a:r>
                        <a:rPr dirty="0" sz="1800" spc="-10" b="1">
                          <a:solidFill>
                            <a:srgbClr val="40458B"/>
                          </a:solidFill>
                          <a:latin typeface="Times New Roman"/>
                          <a:cs typeface="Times New Roman"/>
                        </a:rPr>
                        <a:t>-8</a:t>
                      </a:r>
                      <a:r>
                        <a:rPr dirty="0" sz="1800" spc="-10" b="1">
                          <a:solidFill>
                            <a:srgbClr val="40458B"/>
                          </a:solidFill>
                          <a:latin typeface="宋体"/>
                          <a:cs typeface="宋体"/>
                        </a:rPr>
                        <a:t>（</a:t>
                      </a:r>
                      <a:r>
                        <a:rPr dirty="0" sz="1800" spc="-10" b="1">
                          <a:solidFill>
                            <a:srgbClr val="40458B"/>
                          </a:solidFill>
                          <a:latin typeface="Times New Roman"/>
                          <a:cs typeface="Times New Roman"/>
                        </a:rPr>
                        <a:t>R1</a:t>
                      </a:r>
                      <a:r>
                        <a:rPr dirty="0" sz="1800" spc="-10" b="1">
                          <a:solidFill>
                            <a:srgbClr val="40458B"/>
                          </a:solidFill>
                          <a:latin typeface="宋体"/>
                          <a:cs typeface="宋体"/>
                        </a:rPr>
                        <a:t>）</a:t>
                      </a:r>
                      <a:endParaRPr sz="1800">
                        <a:latin typeface="宋体"/>
                        <a:cs typeface="宋体"/>
                      </a:endParaRPr>
                    </a:p>
                  </a:txBody>
                  <a:tcPr marL="0" marR="0" marB="0" marT="12700"/>
                </a:tc>
                <a:tc>
                  <a:txBody>
                    <a:bodyPr/>
                    <a:lstStyle/>
                    <a:p>
                      <a:pPr marL="151130">
                        <a:lnSpc>
                          <a:spcPct val="100000"/>
                        </a:lnSpc>
                        <a:spcBef>
                          <a:spcPts val="100"/>
                        </a:spcBef>
                      </a:pPr>
                      <a:r>
                        <a:rPr dirty="0" sz="1800" spc="-50" b="1">
                          <a:solidFill>
                            <a:srgbClr val="40458B"/>
                          </a:solidFill>
                          <a:latin typeface="Times New Roman"/>
                          <a:cs typeface="Times New Roman"/>
                        </a:rPr>
                        <a:t>2</a:t>
                      </a:r>
                      <a:endParaRPr sz="1800">
                        <a:latin typeface="Times New Roman"/>
                        <a:cs typeface="Times New Roman"/>
                      </a:endParaRPr>
                    </a:p>
                  </a:txBody>
                  <a:tcPr marL="0" marR="0" marB="0" marT="12700"/>
                </a:tc>
              </a:tr>
              <a:tr h="328930">
                <a:tc>
                  <a:txBody>
                    <a:bodyPr/>
                    <a:lstStyle/>
                    <a:p>
                      <a:pPr marL="31750">
                        <a:lnSpc>
                          <a:spcPct val="100000"/>
                        </a:lnSpc>
                        <a:spcBef>
                          <a:spcPts val="100"/>
                        </a:spcBef>
                      </a:pPr>
                      <a:r>
                        <a:rPr dirty="0" sz="1800" spc="-25" b="1">
                          <a:solidFill>
                            <a:srgbClr val="40458B"/>
                          </a:solidFill>
                          <a:latin typeface="Times New Roman"/>
                          <a:cs typeface="Times New Roman"/>
                        </a:rPr>
                        <a:t>L.D</a:t>
                      </a:r>
                      <a:endParaRPr sz="1800">
                        <a:latin typeface="Times New Roman"/>
                        <a:cs typeface="Times New Roman"/>
                      </a:endParaRPr>
                    </a:p>
                  </a:txBody>
                  <a:tcPr marL="0" marR="0" marB="0" marT="12700"/>
                </a:tc>
                <a:tc>
                  <a:txBody>
                    <a:bodyPr/>
                    <a:lstStyle/>
                    <a:p>
                      <a:pPr marL="458470">
                        <a:lnSpc>
                          <a:spcPct val="100000"/>
                        </a:lnSpc>
                        <a:spcBef>
                          <a:spcPts val="100"/>
                        </a:spcBef>
                      </a:pPr>
                      <a:r>
                        <a:rPr dirty="0" sz="1800" b="1">
                          <a:solidFill>
                            <a:srgbClr val="FF09FF"/>
                          </a:solidFill>
                          <a:latin typeface="Times New Roman"/>
                          <a:cs typeface="Times New Roman"/>
                        </a:rPr>
                        <a:t>F10</a:t>
                      </a:r>
                      <a:r>
                        <a:rPr dirty="0" sz="1800" b="1">
                          <a:solidFill>
                            <a:srgbClr val="40458B"/>
                          </a:solidFill>
                          <a:latin typeface="Times New Roman"/>
                          <a:cs typeface="Times New Roman"/>
                        </a:rPr>
                        <a:t>,</a:t>
                      </a:r>
                      <a:r>
                        <a:rPr dirty="0" sz="1800" spc="-35" b="1">
                          <a:solidFill>
                            <a:srgbClr val="40458B"/>
                          </a:solidFill>
                          <a:latin typeface="Times New Roman"/>
                          <a:cs typeface="Times New Roman"/>
                        </a:rPr>
                        <a:t> </a:t>
                      </a:r>
                      <a:r>
                        <a:rPr dirty="0" sz="1800" spc="-10" b="1">
                          <a:solidFill>
                            <a:srgbClr val="40458B"/>
                          </a:solidFill>
                          <a:latin typeface="Times New Roman"/>
                          <a:cs typeface="Times New Roman"/>
                        </a:rPr>
                        <a:t>-16</a:t>
                      </a:r>
                      <a:r>
                        <a:rPr dirty="0" sz="1800" spc="-10" b="1">
                          <a:solidFill>
                            <a:srgbClr val="40458B"/>
                          </a:solidFill>
                          <a:latin typeface="宋体"/>
                          <a:cs typeface="宋体"/>
                        </a:rPr>
                        <a:t>（</a:t>
                      </a:r>
                      <a:r>
                        <a:rPr dirty="0" sz="1800" spc="-10" b="1">
                          <a:solidFill>
                            <a:srgbClr val="40458B"/>
                          </a:solidFill>
                          <a:latin typeface="Times New Roman"/>
                          <a:cs typeface="Times New Roman"/>
                        </a:rPr>
                        <a:t>R1</a:t>
                      </a:r>
                      <a:r>
                        <a:rPr dirty="0" sz="1800" spc="-10" b="1">
                          <a:solidFill>
                            <a:srgbClr val="40458B"/>
                          </a:solidFill>
                          <a:latin typeface="宋体"/>
                          <a:cs typeface="宋体"/>
                        </a:rPr>
                        <a:t>）</a:t>
                      </a:r>
                      <a:endParaRPr sz="1800">
                        <a:latin typeface="宋体"/>
                        <a:cs typeface="宋体"/>
                      </a:endParaRPr>
                    </a:p>
                  </a:txBody>
                  <a:tcPr marL="0" marR="0" marB="0" marT="12700"/>
                </a:tc>
                <a:tc>
                  <a:txBody>
                    <a:bodyPr/>
                    <a:lstStyle/>
                    <a:p>
                      <a:pPr marL="151130">
                        <a:lnSpc>
                          <a:spcPct val="100000"/>
                        </a:lnSpc>
                        <a:spcBef>
                          <a:spcPts val="100"/>
                        </a:spcBef>
                      </a:pPr>
                      <a:r>
                        <a:rPr dirty="0" sz="1800" spc="-50" b="1">
                          <a:solidFill>
                            <a:srgbClr val="40458B"/>
                          </a:solidFill>
                          <a:latin typeface="Times New Roman"/>
                          <a:cs typeface="Times New Roman"/>
                        </a:rPr>
                        <a:t>3</a:t>
                      </a:r>
                      <a:endParaRPr sz="1800">
                        <a:latin typeface="Times New Roman"/>
                        <a:cs typeface="Times New Roman"/>
                      </a:endParaRPr>
                    </a:p>
                  </a:txBody>
                  <a:tcPr marL="0" marR="0" marB="0" marT="12700"/>
                </a:tc>
              </a:tr>
              <a:tr h="328930">
                <a:tc>
                  <a:txBody>
                    <a:bodyPr/>
                    <a:lstStyle/>
                    <a:p>
                      <a:pPr marL="31750">
                        <a:lnSpc>
                          <a:spcPct val="100000"/>
                        </a:lnSpc>
                        <a:spcBef>
                          <a:spcPts val="105"/>
                        </a:spcBef>
                      </a:pPr>
                      <a:r>
                        <a:rPr dirty="0" sz="1800" spc="-25" b="1">
                          <a:solidFill>
                            <a:srgbClr val="40458B"/>
                          </a:solidFill>
                          <a:latin typeface="Times New Roman"/>
                          <a:cs typeface="Times New Roman"/>
                        </a:rPr>
                        <a:t>L.D</a:t>
                      </a:r>
                      <a:endParaRPr sz="1800">
                        <a:latin typeface="Times New Roman"/>
                        <a:cs typeface="Times New Roman"/>
                      </a:endParaRPr>
                    </a:p>
                  </a:txBody>
                  <a:tcPr marL="0" marR="0" marB="0" marT="13335"/>
                </a:tc>
                <a:tc>
                  <a:txBody>
                    <a:bodyPr/>
                    <a:lstStyle/>
                    <a:p>
                      <a:pPr marL="458470">
                        <a:lnSpc>
                          <a:spcPct val="100000"/>
                        </a:lnSpc>
                        <a:spcBef>
                          <a:spcPts val="105"/>
                        </a:spcBef>
                      </a:pPr>
                      <a:r>
                        <a:rPr dirty="0" sz="1800" b="1">
                          <a:solidFill>
                            <a:srgbClr val="C28009"/>
                          </a:solidFill>
                          <a:latin typeface="Times New Roman"/>
                          <a:cs typeface="Times New Roman"/>
                        </a:rPr>
                        <a:t>F14</a:t>
                      </a:r>
                      <a:r>
                        <a:rPr dirty="0" sz="1800" b="1">
                          <a:solidFill>
                            <a:srgbClr val="40458B"/>
                          </a:solidFill>
                          <a:latin typeface="Times New Roman"/>
                          <a:cs typeface="Times New Roman"/>
                        </a:rPr>
                        <a:t>,</a:t>
                      </a:r>
                      <a:r>
                        <a:rPr dirty="0" sz="1800" spc="-35" b="1">
                          <a:solidFill>
                            <a:srgbClr val="40458B"/>
                          </a:solidFill>
                          <a:latin typeface="Times New Roman"/>
                          <a:cs typeface="Times New Roman"/>
                        </a:rPr>
                        <a:t> </a:t>
                      </a:r>
                      <a:r>
                        <a:rPr dirty="0" sz="1800" spc="-10" b="1">
                          <a:solidFill>
                            <a:srgbClr val="40458B"/>
                          </a:solidFill>
                          <a:latin typeface="Times New Roman"/>
                          <a:cs typeface="Times New Roman"/>
                        </a:rPr>
                        <a:t>-24</a:t>
                      </a:r>
                      <a:r>
                        <a:rPr dirty="0" sz="1800" spc="-10" b="1">
                          <a:solidFill>
                            <a:srgbClr val="40458B"/>
                          </a:solidFill>
                          <a:latin typeface="宋体"/>
                          <a:cs typeface="宋体"/>
                        </a:rPr>
                        <a:t>（</a:t>
                      </a:r>
                      <a:r>
                        <a:rPr dirty="0" sz="1800" spc="-10" b="1">
                          <a:solidFill>
                            <a:srgbClr val="40458B"/>
                          </a:solidFill>
                          <a:latin typeface="Times New Roman"/>
                          <a:cs typeface="Times New Roman"/>
                        </a:rPr>
                        <a:t>R1</a:t>
                      </a:r>
                      <a:r>
                        <a:rPr dirty="0" sz="1800" spc="-10" b="1">
                          <a:solidFill>
                            <a:srgbClr val="40458B"/>
                          </a:solidFill>
                          <a:latin typeface="宋体"/>
                          <a:cs typeface="宋体"/>
                        </a:rPr>
                        <a:t>）</a:t>
                      </a:r>
                      <a:endParaRPr sz="1800">
                        <a:latin typeface="宋体"/>
                        <a:cs typeface="宋体"/>
                      </a:endParaRPr>
                    </a:p>
                  </a:txBody>
                  <a:tcPr marL="0" marR="0" marB="0" marT="13335"/>
                </a:tc>
                <a:tc>
                  <a:txBody>
                    <a:bodyPr/>
                    <a:lstStyle/>
                    <a:p>
                      <a:pPr marL="151130">
                        <a:lnSpc>
                          <a:spcPct val="100000"/>
                        </a:lnSpc>
                        <a:spcBef>
                          <a:spcPts val="105"/>
                        </a:spcBef>
                      </a:pPr>
                      <a:r>
                        <a:rPr dirty="0" sz="1800" spc="-50" b="1">
                          <a:solidFill>
                            <a:srgbClr val="40458B"/>
                          </a:solidFill>
                          <a:latin typeface="Times New Roman"/>
                          <a:cs typeface="Times New Roman"/>
                        </a:rPr>
                        <a:t>4</a:t>
                      </a:r>
                      <a:endParaRPr sz="1800">
                        <a:latin typeface="Times New Roman"/>
                        <a:cs typeface="Times New Roman"/>
                      </a:endParaRPr>
                    </a:p>
                  </a:txBody>
                  <a:tcPr marL="0" marR="0" marB="0" marT="13335"/>
                </a:tc>
              </a:tr>
              <a:tr h="328930">
                <a:tc>
                  <a:txBody>
                    <a:bodyPr/>
                    <a:lstStyle/>
                    <a:p>
                      <a:pPr marL="31750">
                        <a:lnSpc>
                          <a:spcPct val="100000"/>
                        </a:lnSpc>
                        <a:spcBef>
                          <a:spcPts val="100"/>
                        </a:spcBef>
                      </a:pPr>
                      <a:r>
                        <a:rPr dirty="0" sz="1800" spc="-10" b="1">
                          <a:solidFill>
                            <a:srgbClr val="40458B"/>
                          </a:solidFill>
                          <a:latin typeface="Times New Roman"/>
                          <a:cs typeface="Times New Roman"/>
                        </a:rPr>
                        <a:t>ADD.D</a:t>
                      </a:r>
                      <a:endParaRPr sz="1800">
                        <a:latin typeface="Times New Roman"/>
                        <a:cs typeface="Times New Roman"/>
                      </a:endParaRPr>
                    </a:p>
                  </a:txBody>
                  <a:tcPr marL="0" marR="0" marB="0" marT="12700"/>
                </a:tc>
                <a:tc>
                  <a:txBody>
                    <a:bodyPr/>
                    <a:lstStyle/>
                    <a:p>
                      <a:pPr marL="458470">
                        <a:lnSpc>
                          <a:spcPct val="100000"/>
                        </a:lnSpc>
                        <a:spcBef>
                          <a:spcPts val="100"/>
                        </a:spcBef>
                      </a:pPr>
                      <a:r>
                        <a:rPr dirty="0" sz="1800" b="1">
                          <a:solidFill>
                            <a:srgbClr val="40458B"/>
                          </a:solidFill>
                          <a:latin typeface="Times New Roman"/>
                          <a:cs typeface="Times New Roman"/>
                        </a:rPr>
                        <a:t>F4,</a:t>
                      </a:r>
                      <a:r>
                        <a:rPr dirty="0" sz="1800" spc="-25" b="1">
                          <a:solidFill>
                            <a:srgbClr val="40458B"/>
                          </a:solidFill>
                          <a:latin typeface="Times New Roman"/>
                          <a:cs typeface="Times New Roman"/>
                        </a:rPr>
                        <a:t> </a:t>
                      </a:r>
                      <a:r>
                        <a:rPr dirty="0" sz="1800" b="1">
                          <a:solidFill>
                            <a:srgbClr val="00AF50"/>
                          </a:solidFill>
                          <a:latin typeface="Times New Roman"/>
                          <a:cs typeface="Times New Roman"/>
                        </a:rPr>
                        <a:t>F0,</a:t>
                      </a:r>
                      <a:r>
                        <a:rPr dirty="0" sz="1800" spc="-35" b="1">
                          <a:solidFill>
                            <a:srgbClr val="00AF50"/>
                          </a:solidFill>
                          <a:latin typeface="Times New Roman"/>
                          <a:cs typeface="Times New Roman"/>
                        </a:rPr>
                        <a:t> </a:t>
                      </a:r>
                      <a:r>
                        <a:rPr dirty="0" sz="1800" spc="-25" b="1">
                          <a:solidFill>
                            <a:srgbClr val="40458B"/>
                          </a:solidFill>
                          <a:latin typeface="Times New Roman"/>
                          <a:cs typeface="Times New Roman"/>
                        </a:rPr>
                        <a:t>F2</a:t>
                      </a:r>
                      <a:endParaRPr sz="1800">
                        <a:latin typeface="Times New Roman"/>
                        <a:cs typeface="Times New Roman"/>
                      </a:endParaRPr>
                    </a:p>
                  </a:txBody>
                  <a:tcPr marL="0" marR="0" marB="0" marT="12700"/>
                </a:tc>
                <a:tc>
                  <a:txBody>
                    <a:bodyPr/>
                    <a:lstStyle/>
                    <a:p>
                      <a:pPr marL="151130">
                        <a:lnSpc>
                          <a:spcPct val="100000"/>
                        </a:lnSpc>
                        <a:spcBef>
                          <a:spcPts val="100"/>
                        </a:spcBef>
                      </a:pPr>
                      <a:r>
                        <a:rPr dirty="0" sz="1800" spc="-50" b="1">
                          <a:solidFill>
                            <a:srgbClr val="40458B"/>
                          </a:solidFill>
                          <a:latin typeface="Times New Roman"/>
                          <a:cs typeface="Times New Roman"/>
                        </a:rPr>
                        <a:t>5</a:t>
                      </a:r>
                      <a:endParaRPr sz="1800">
                        <a:latin typeface="Times New Roman"/>
                        <a:cs typeface="Times New Roman"/>
                      </a:endParaRPr>
                    </a:p>
                  </a:txBody>
                  <a:tcPr marL="0" marR="0" marB="0" marT="12700"/>
                </a:tc>
              </a:tr>
              <a:tr h="328930">
                <a:tc>
                  <a:txBody>
                    <a:bodyPr/>
                    <a:lstStyle/>
                    <a:p>
                      <a:pPr marL="31750">
                        <a:lnSpc>
                          <a:spcPct val="100000"/>
                        </a:lnSpc>
                        <a:spcBef>
                          <a:spcPts val="100"/>
                        </a:spcBef>
                      </a:pPr>
                      <a:r>
                        <a:rPr dirty="0" sz="1800" spc="-10" b="1">
                          <a:solidFill>
                            <a:srgbClr val="40458B"/>
                          </a:solidFill>
                          <a:latin typeface="Times New Roman"/>
                          <a:cs typeface="Times New Roman"/>
                        </a:rPr>
                        <a:t>ADD.D</a:t>
                      </a:r>
                      <a:endParaRPr sz="1800">
                        <a:latin typeface="Times New Roman"/>
                        <a:cs typeface="Times New Roman"/>
                      </a:endParaRPr>
                    </a:p>
                  </a:txBody>
                  <a:tcPr marL="0" marR="0" marB="0" marT="12700"/>
                </a:tc>
                <a:tc>
                  <a:txBody>
                    <a:bodyPr/>
                    <a:lstStyle/>
                    <a:p>
                      <a:pPr marL="458470">
                        <a:lnSpc>
                          <a:spcPct val="100000"/>
                        </a:lnSpc>
                        <a:spcBef>
                          <a:spcPts val="100"/>
                        </a:spcBef>
                      </a:pPr>
                      <a:r>
                        <a:rPr dirty="0" sz="1800" b="1">
                          <a:solidFill>
                            <a:srgbClr val="40458B"/>
                          </a:solidFill>
                          <a:latin typeface="Times New Roman"/>
                          <a:cs typeface="Times New Roman"/>
                        </a:rPr>
                        <a:t>F8,</a:t>
                      </a:r>
                      <a:r>
                        <a:rPr dirty="0" sz="1800" spc="-25" b="1">
                          <a:solidFill>
                            <a:srgbClr val="40458B"/>
                          </a:solidFill>
                          <a:latin typeface="Times New Roman"/>
                          <a:cs typeface="Times New Roman"/>
                        </a:rPr>
                        <a:t> </a:t>
                      </a:r>
                      <a:r>
                        <a:rPr dirty="0" sz="1800" b="1">
                          <a:solidFill>
                            <a:srgbClr val="FF0000"/>
                          </a:solidFill>
                          <a:latin typeface="Times New Roman"/>
                          <a:cs typeface="Times New Roman"/>
                        </a:rPr>
                        <a:t>F6</a:t>
                      </a:r>
                      <a:r>
                        <a:rPr dirty="0" sz="1800" b="1">
                          <a:solidFill>
                            <a:srgbClr val="40458B"/>
                          </a:solidFill>
                          <a:latin typeface="Times New Roman"/>
                          <a:cs typeface="Times New Roman"/>
                        </a:rPr>
                        <a:t>,</a:t>
                      </a:r>
                      <a:r>
                        <a:rPr dirty="0" sz="1800" spc="-35" b="1">
                          <a:solidFill>
                            <a:srgbClr val="40458B"/>
                          </a:solidFill>
                          <a:latin typeface="Times New Roman"/>
                          <a:cs typeface="Times New Roman"/>
                        </a:rPr>
                        <a:t> </a:t>
                      </a:r>
                      <a:r>
                        <a:rPr dirty="0" sz="1800" spc="-25" b="1">
                          <a:solidFill>
                            <a:srgbClr val="40458B"/>
                          </a:solidFill>
                          <a:latin typeface="Times New Roman"/>
                          <a:cs typeface="Times New Roman"/>
                        </a:rPr>
                        <a:t>F2</a:t>
                      </a:r>
                      <a:endParaRPr sz="1800">
                        <a:latin typeface="Times New Roman"/>
                        <a:cs typeface="Times New Roman"/>
                      </a:endParaRPr>
                    </a:p>
                  </a:txBody>
                  <a:tcPr marL="0" marR="0" marB="0" marT="12700"/>
                </a:tc>
                <a:tc>
                  <a:txBody>
                    <a:bodyPr/>
                    <a:lstStyle/>
                    <a:p>
                      <a:pPr marL="151130">
                        <a:lnSpc>
                          <a:spcPct val="100000"/>
                        </a:lnSpc>
                        <a:spcBef>
                          <a:spcPts val="100"/>
                        </a:spcBef>
                      </a:pPr>
                      <a:r>
                        <a:rPr dirty="0" sz="1800" spc="-50" b="1">
                          <a:solidFill>
                            <a:srgbClr val="40458B"/>
                          </a:solidFill>
                          <a:latin typeface="Times New Roman"/>
                          <a:cs typeface="Times New Roman"/>
                        </a:rPr>
                        <a:t>6</a:t>
                      </a:r>
                      <a:endParaRPr sz="1800">
                        <a:latin typeface="Times New Roman"/>
                        <a:cs typeface="Times New Roman"/>
                      </a:endParaRPr>
                    </a:p>
                  </a:txBody>
                  <a:tcPr marL="0" marR="0" marB="0" marT="12700"/>
                </a:tc>
              </a:tr>
              <a:tr h="328930">
                <a:tc>
                  <a:txBody>
                    <a:bodyPr/>
                    <a:lstStyle/>
                    <a:p>
                      <a:pPr marL="31750">
                        <a:lnSpc>
                          <a:spcPct val="100000"/>
                        </a:lnSpc>
                        <a:spcBef>
                          <a:spcPts val="100"/>
                        </a:spcBef>
                      </a:pPr>
                      <a:r>
                        <a:rPr dirty="0" sz="1800" spc="-10" b="1">
                          <a:solidFill>
                            <a:srgbClr val="40458B"/>
                          </a:solidFill>
                          <a:latin typeface="Times New Roman"/>
                          <a:cs typeface="Times New Roman"/>
                        </a:rPr>
                        <a:t>ADD.D</a:t>
                      </a:r>
                      <a:endParaRPr sz="1800">
                        <a:latin typeface="Times New Roman"/>
                        <a:cs typeface="Times New Roman"/>
                      </a:endParaRPr>
                    </a:p>
                  </a:txBody>
                  <a:tcPr marL="0" marR="0" marB="0" marT="12700"/>
                </a:tc>
                <a:tc>
                  <a:txBody>
                    <a:bodyPr/>
                    <a:lstStyle/>
                    <a:p>
                      <a:pPr marL="458470">
                        <a:lnSpc>
                          <a:spcPct val="100000"/>
                        </a:lnSpc>
                        <a:spcBef>
                          <a:spcPts val="100"/>
                        </a:spcBef>
                      </a:pPr>
                      <a:r>
                        <a:rPr dirty="0" sz="1800" b="1">
                          <a:solidFill>
                            <a:srgbClr val="40458B"/>
                          </a:solidFill>
                          <a:latin typeface="Times New Roman"/>
                          <a:cs typeface="Times New Roman"/>
                        </a:rPr>
                        <a:t>F12,</a:t>
                      </a:r>
                      <a:r>
                        <a:rPr dirty="0" sz="1800" spc="-35" b="1">
                          <a:solidFill>
                            <a:srgbClr val="40458B"/>
                          </a:solidFill>
                          <a:latin typeface="Times New Roman"/>
                          <a:cs typeface="Times New Roman"/>
                        </a:rPr>
                        <a:t> </a:t>
                      </a:r>
                      <a:r>
                        <a:rPr dirty="0" sz="1800" b="1">
                          <a:solidFill>
                            <a:srgbClr val="FF09FF"/>
                          </a:solidFill>
                          <a:latin typeface="Times New Roman"/>
                          <a:cs typeface="Times New Roman"/>
                        </a:rPr>
                        <a:t>F10</a:t>
                      </a:r>
                      <a:r>
                        <a:rPr dirty="0" sz="1800" b="1">
                          <a:solidFill>
                            <a:srgbClr val="40458B"/>
                          </a:solidFill>
                          <a:latin typeface="Times New Roman"/>
                          <a:cs typeface="Times New Roman"/>
                        </a:rPr>
                        <a:t>,</a:t>
                      </a:r>
                      <a:r>
                        <a:rPr dirty="0" sz="1800" spc="-45" b="1">
                          <a:solidFill>
                            <a:srgbClr val="40458B"/>
                          </a:solidFill>
                          <a:latin typeface="Times New Roman"/>
                          <a:cs typeface="Times New Roman"/>
                        </a:rPr>
                        <a:t> </a:t>
                      </a:r>
                      <a:r>
                        <a:rPr dirty="0" sz="1800" spc="-25" b="1">
                          <a:solidFill>
                            <a:srgbClr val="40458B"/>
                          </a:solidFill>
                          <a:latin typeface="Times New Roman"/>
                          <a:cs typeface="Times New Roman"/>
                        </a:rPr>
                        <a:t>F2</a:t>
                      </a:r>
                      <a:endParaRPr sz="1800">
                        <a:latin typeface="Times New Roman"/>
                        <a:cs typeface="Times New Roman"/>
                      </a:endParaRPr>
                    </a:p>
                  </a:txBody>
                  <a:tcPr marL="0" marR="0" marB="0" marT="12700"/>
                </a:tc>
                <a:tc>
                  <a:txBody>
                    <a:bodyPr/>
                    <a:lstStyle/>
                    <a:p>
                      <a:pPr marL="151130">
                        <a:lnSpc>
                          <a:spcPct val="100000"/>
                        </a:lnSpc>
                        <a:spcBef>
                          <a:spcPts val="100"/>
                        </a:spcBef>
                      </a:pPr>
                      <a:r>
                        <a:rPr dirty="0" sz="1800" spc="-50" b="1">
                          <a:solidFill>
                            <a:srgbClr val="40458B"/>
                          </a:solidFill>
                          <a:latin typeface="Times New Roman"/>
                          <a:cs typeface="Times New Roman"/>
                        </a:rPr>
                        <a:t>7</a:t>
                      </a:r>
                      <a:endParaRPr sz="1800">
                        <a:latin typeface="Times New Roman"/>
                        <a:cs typeface="Times New Roman"/>
                      </a:endParaRPr>
                    </a:p>
                  </a:txBody>
                  <a:tcPr marL="0" marR="0" marB="0" marT="12700"/>
                </a:tc>
              </a:tr>
              <a:tr h="328930">
                <a:tc>
                  <a:txBody>
                    <a:bodyPr/>
                    <a:lstStyle/>
                    <a:p>
                      <a:pPr marL="31750">
                        <a:lnSpc>
                          <a:spcPct val="100000"/>
                        </a:lnSpc>
                        <a:spcBef>
                          <a:spcPts val="105"/>
                        </a:spcBef>
                      </a:pPr>
                      <a:r>
                        <a:rPr dirty="0" sz="1800" spc="-10" b="1">
                          <a:solidFill>
                            <a:srgbClr val="40458B"/>
                          </a:solidFill>
                          <a:latin typeface="Times New Roman"/>
                          <a:cs typeface="Times New Roman"/>
                        </a:rPr>
                        <a:t>ADD.D</a:t>
                      </a:r>
                      <a:endParaRPr sz="1800">
                        <a:latin typeface="Times New Roman"/>
                        <a:cs typeface="Times New Roman"/>
                      </a:endParaRPr>
                    </a:p>
                  </a:txBody>
                  <a:tcPr marL="0" marR="0" marB="0" marT="13335"/>
                </a:tc>
                <a:tc>
                  <a:txBody>
                    <a:bodyPr/>
                    <a:lstStyle/>
                    <a:p>
                      <a:pPr marL="458470">
                        <a:lnSpc>
                          <a:spcPct val="100000"/>
                        </a:lnSpc>
                        <a:spcBef>
                          <a:spcPts val="105"/>
                        </a:spcBef>
                      </a:pPr>
                      <a:r>
                        <a:rPr dirty="0" sz="1800" b="1">
                          <a:solidFill>
                            <a:srgbClr val="40458B"/>
                          </a:solidFill>
                          <a:latin typeface="Times New Roman"/>
                          <a:cs typeface="Times New Roman"/>
                        </a:rPr>
                        <a:t>F16,</a:t>
                      </a:r>
                      <a:r>
                        <a:rPr dirty="0" sz="1800" spc="-35" b="1">
                          <a:solidFill>
                            <a:srgbClr val="40458B"/>
                          </a:solidFill>
                          <a:latin typeface="Times New Roman"/>
                          <a:cs typeface="Times New Roman"/>
                        </a:rPr>
                        <a:t> </a:t>
                      </a:r>
                      <a:r>
                        <a:rPr dirty="0" sz="1800" b="1">
                          <a:solidFill>
                            <a:srgbClr val="C28009"/>
                          </a:solidFill>
                          <a:latin typeface="Times New Roman"/>
                          <a:cs typeface="Times New Roman"/>
                        </a:rPr>
                        <a:t>F14</a:t>
                      </a:r>
                      <a:r>
                        <a:rPr dirty="0" sz="1800" b="1">
                          <a:solidFill>
                            <a:srgbClr val="40458B"/>
                          </a:solidFill>
                          <a:latin typeface="Times New Roman"/>
                          <a:cs typeface="Times New Roman"/>
                        </a:rPr>
                        <a:t>,</a:t>
                      </a:r>
                      <a:r>
                        <a:rPr dirty="0" sz="1800" spc="-45" b="1">
                          <a:solidFill>
                            <a:srgbClr val="40458B"/>
                          </a:solidFill>
                          <a:latin typeface="Times New Roman"/>
                          <a:cs typeface="Times New Roman"/>
                        </a:rPr>
                        <a:t> </a:t>
                      </a:r>
                      <a:r>
                        <a:rPr dirty="0" sz="1800" spc="-25" b="1">
                          <a:solidFill>
                            <a:srgbClr val="40458B"/>
                          </a:solidFill>
                          <a:latin typeface="Times New Roman"/>
                          <a:cs typeface="Times New Roman"/>
                        </a:rPr>
                        <a:t>F2</a:t>
                      </a:r>
                      <a:endParaRPr sz="1800">
                        <a:latin typeface="Times New Roman"/>
                        <a:cs typeface="Times New Roman"/>
                      </a:endParaRPr>
                    </a:p>
                  </a:txBody>
                  <a:tcPr marL="0" marR="0" marB="0" marT="13335"/>
                </a:tc>
                <a:tc>
                  <a:txBody>
                    <a:bodyPr/>
                    <a:lstStyle/>
                    <a:p>
                      <a:pPr marL="151130">
                        <a:lnSpc>
                          <a:spcPct val="100000"/>
                        </a:lnSpc>
                        <a:spcBef>
                          <a:spcPts val="105"/>
                        </a:spcBef>
                      </a:pPr>
                      <a:r>
                        <a:rPr dirty="0" sz="1800" spc="-50" b="1">
                          <a:solidFill>
                            <a:srgbClr val="40458B"/>
                          </a:solidFill>
                          <a:latin typeface="Times New Roman"/>
                          <a:cs typeface="Times New Roman"/>
                        </a:rPr>
                        <a:t>8</a:t>
                      </a:r>
                      <a:endParaRPr sz="1800">
                        <a:latin typeface="Times New Roman"/>
                        <a:cs typeface="Times New Roman"/>
                      </a:endParaRPr>
                    </a:p>
                  </a:txBody>
                  <a:tcPr marL="0" marR="0" marB="0" marT="13335"/>
                </a:tc>
              </a:tr>
              <a:tr h="328930">
                <a:tc>
                  <a:txBody>
                    <a:bodyPr/>
                    <a:lstStyle/>
                    <a:p>
                      <a:pPr marL="31750">
                        <a:lnSpc>
                          <a:spcPct val="100000"/>
                        </a:lnSpc>
                        <a:spcBef>
                          <a:spcPts val="100"/>
                        </a:spcBef>
                      </a:pPr>
                      <a:r>
                        <a:rPr dirty="0" sz="1800" spc="-25" b="1">
                          <a:solidFill>
                            <a:srgbClr val="40458B"/>
                          </a:solidFill>
                          <a:latin typeface="Times New Roman"/>
                          <a:cs typeface="Times New Roman"/>
                        </a:rPr>
                        <a:t>S.D</a:t>
                      </a:r>
                      <a:endParaRPr sz="1800">
                        <a:latin typeface="Times New Roman"/>
                        <a:cs typeface="Times New Roman"/>
                      </a:endParaRPr>
                    </a:p>
                  </a:txBody>
                  <a:tcPr marL="0" marR="0" marB="0" marT="12700"/>
                </a:tc>
                <a:tc>
                  <a:txBody>
                    <a:bodyPr/>
                    <a:lstStyle/>
                    <a:p>
                      <a:pPr marL="458470">
                        <a:lnSpc>
                          <a:spcPct val="100000"/>
                        </a:lnSpc>
                        <a:spcBef>
                          <a:spcPts val="100"/>
                        </a:spcBef>
                      </a:pPr>
                      <a:r>
                        <a:rPr dirty="0" sz="1800" b="1">
                          <a:solidFill>
                            <a:srgbClr val="40458B"/>
                          </a:solidFill>
                          <a:latin typeface="Times New Roman"/>
                          <a:cs typeface="Times New Roman"/>
                        </a:rPr>
                        <a:t>F4,</a:t>
                      </a:r>
                      <a:r>
                        <a:rPr dirty="0" sz="1800" spc="-25" b="1">
                          <a:solidFill>
                            <a:srgbClr val="40458B"/>
                          </a:solidFill>
                          <a:latin typeface="Times New Roman"/>
                          <a:cs typeface="Times New Roman"/>
                        </a:rPr>
                        <a:t> </a:t>
                      </a:r>
                      <a:r>
                        <a:rPr dirty="0" sz="1800" spc="-10" b="1">
                          <a:solidFill>
                            <a:srgbClr val="40458B"/>
                          </a:solidFill>
                          <a:latin typeface="Times New Roman"/>
                          <a:cs typeface="Times New Roman"/>
                        </a:rPr>
                        <a:t>0</a:t>
                      </a:r>
                      <a:r>
                        <a:rPr dirty="0" sz="1800" spc="-10" b="1">
                          <a:solidFill>
                            <a:srgbClr val="40458B"/>
                          </a:solidFill>
                          <a:latin typeface="宋体"/>
                          <a:cs typeface="宋体"/>
                        </a:rPr>
                        <a:t>（</a:t>
                      </a:r>
                      <a:r>
                        <a:rPr dirty="0" sz="1800" spc="-10" b="1">
                          <a:solidFill>
                            <a:srgbClr val="40458B"/>
                          </a:solidFill>
                          <a:latin typeface="Times New Roman"/>
                          <a:cs typeface="Times New Roman"/>
                        </a:rPr>
                        <a:t>R1</a:t>
                      </a:r>
                      <a:r>
                        <a:rPr dirty="0" sz="1800" spc="-10" b="1">
                          <a:solidFill>
                            <a:srgbClr val="40458B"/>
                          </a:solidFill>
                          <a:latin typeface="宋体"/>
                          <a:cs typeface="宋体"/>
                        </a:rPr>
                        <a:t>）</a:t>
                      </a:r>
                      <a:endParaRPr sz="1800">
                        <a:latin typeface="宋体"/>
                        <a:cs typeface="宋体"/>
                      </a:endParaRPr>
                    </a:p>
                  </a:txBody>
                  <a:tcPr marL="0" marR="0" marB="0" marT="12700"/>
                </a:tc>
                <a:tc>
                  <a:txBody>
                    <a:bodyPr/>
                    <a:lstStyle/>
                    <a:p>
                      <a:pPr marL="151130">
                        <a:lnSpc>
                          <a:spcPct val="100000"/>
                        </a:lnSpc>
                        <a:spcBef>
                          <a:spcPts val="100"/>
                        </a:spcBef>
                      </a:pPr>
                      <a:r>
                        <a:rPr dirty="0" sz="1800" spc="-50" b="1">
                          <a:solidFill>
                            <a:srgbClr val="40458B"/>
                          </a:solidFill>
                          <a:latin typeface="Times New Roman"/>
                          <a:cs typeface="Times New Roman"/>
                        </a:rPr>
                        <a:t>9</a:t>
                      </a:r>
                      <a:endParaRPr sz="1800">
                        <a:latin typeface="Times New Roman"/>
                        <a:cs typeface="Times New Roman"/>
                      </a:endParaRPr>
                    </a:p>
                  </a:txBody>
                  <a:tcPr marL="0" marR="0" marB="0" marT="12700"/>
                </a:tc>
              </a:tr>
              <a:tr h="328930">
                <a:tc>
                  <a:txBody>
                    <a:bodyPr/>
                    <a:lstStyle/>
                    <a:p>
                      <a:pPr marL="31750">
                        <a:lnSpc>
                          <a:spcPct val="100000"/>
                        </a:lnSpc>
                        <a:spcBef>
                          <a:spcPts val="100"/>
                        </a:spcBef>
                      </a:pPr>
                      <a:r>
                        <a:rPr dirty="0" sz="1800" spc="-25" b="1">
                          <a:solidFill>
                            <a:srgbClr val="40458B"/>
                          </a:solidFill>
                          <a:latin typeface="Times New Roman"/>
                          <a:cs typeface="Times New Roman"/>
                        </a:rPr>
                        <a:t>S.D</a:t>
                      </a:r>
                      <a:endParaRPr sz="1800">
                        <a:latin typeface="Times New Roman"/>
                        <a:cs typeface="Times New Roman"/>
                      </a:endParaRPr>
                    </a:p>
                  </a:txBody>
                  <a:tcPr marL="0" marR="0" marB="0" marT="12700"/>
                </a:tc>
                <a:tc>
                  <a:txBody>
                    <a:bodyPr/>
                    <a:lstStyle/>
                    <a:p>
                      <a:pPr marL="458470">
                        <a:lnSpc>
                          <a:spcPct val="100000"/>
                        </a:lnSpc>
                        <a:spcBef>
                          <a:spcPts val="100"/>
                        </a:spcBef>
                      </a:pPr>
                      <a:r>
                        <a:rPr dirty="0" sz="1800" b="1">
                          <a:solidFill>
                            <a:srgbClr val="40458B"/>
                          </a:solidFill>
                          <a:latin typeface="Times New Roman"/>
                          <a:cs typeface="Times New Roman"/>
                        </a:rPr>
                        <a:t>F8,</a:t>
                      </a:r>
                      <a:r>
                        <a:rPr dirty="0" sz="1800" spc="-25" b="1">
                          <a:solidFill>
                            <a:srgbClr val="40458B"/>
                          </a:solidFill>
                          <a:latin typeface="Times New Roman"/>
                          <a:cs typeface="Times New Roman"/>
                        </a:rPr>
                        <a:t> </a:t>
                      </a:r>
                      <a:r>
                        <a:rPr dirty="0" sz="1800" spc="-10" b="1">
                          <a:solidFill>
                            <a:srgbClr val="40458B"/>
                          </a:solidFill>
                          <a:latin typeface="Times New Roman"/>
                          <a:cs typeface="Times New Roman"/>
                        </a:rPr>
                        <a:t>-8</a:t>
                      </a:r>
                      <a:r>
                        <a:rPr dirty="0" sz="1800" spc="-10" b="1">
                          <a:solidFill>
                            <a:srgbClr val="40458B"/>
                          </a:solidFill>
                          <a:latin typeface="宋体"/>
                          <a:cs typeface="宋体"/>
                        </a:rPr>
                        <a:t>（</a:t>
                      </a:r>
                      <a:r>
                        <a:rPr dirty="0" sz="1800" spc="-10" b="1">
                          <a:solidFill>
                            <a:srgbClr val="40458B"/>
                          </a:solidFill>
                          <a:latin typeface="Times New Roman"/>
                          <a:cs typeface="Times New Roman"/>
                        </a:rPr>
                        <a:t>R1</a:t>
                      </a:r>
                      <a:r>
                        <a:rPr dirty="0" sz="1800" spc="-10" b="1">
                          <a:solidFill>
                            <a:srgbClr val="40458B"/>
                          </a:solidFill>
                          <a:latin typeface="宋体"/>
                          <a:cs typeface="宋体"/>
                        </a:rPr>
                        <a:t>）</a:t>
                      </a:r>
                      <a:endParaRPr sz="1800">
                        <a:latin typeface="宋体"/>
                        <a:cs typeface="宋体"/>
                      </a:endParaRPr>
                    </a:p>
                  </a:txBody>
                  <a:tcPr marL="0" marR="0" marB="0" marT="12700"/>
                </a:tc>
                <a:tc>
                  <a:txBody>
                    <a:bodyPr/>
                    <a:lstStyle/>
                    <a:p>
                      <a:pPr marL="151130">
                        <a:lnSpc>
                          <a:spcPct val="100000"/>
                        </a:lnSpc>
                        <a:spcBef>
                          <a:spcPts val="100"/>
                        </a:spcBef>
                      </a:pPr>
                      <a:r>
                        <a:rPr dirty="0" sz="1800" spc="-25" b="1">
                          <a:solidFill>
                            <a:srgbClr val="40458B"/>
                          </a:solidFill>
                          <a:latin typeface="Times New Roman"/>
                          <a:cs typeface="Times New Roman"/>
                        </a:rPr>
                        <a:t>10</a:t>
                      </a:r>
                      <a:endParaRPr sz="1800">
                        <a:latin typeface="Times New Roman"/>
                        <a:cs typeface="Times New Roman"/>
                      </a:endParaRPr>
                    </a:p>
                  </a:txBody>
                  <a:tcPr marL="0" marR="0" marB="0" marT="12700"/>
                </a:tc>
              </a:tr>
              <a:tr h="328930">
                <a:tc>
                  <a:txBody>
                    <a:bodyPr/>
                    <a:lstStyle/>
                    <a:p>
                      <a:pPr marL="31750">
                        <a:lnSpc>
                          <a:spcPct val="100000"/>
                        </a:lnSpc>
                        <a:spcBef>
                          <a:spcPts val="100"/>
                        </a:spcBef>
                      </a:pPr>
                      <a:r>
                        <a:rPr dirty="0" sz="1800" spc="-10" b="1">
                          <a:solidFill>
                            <a:srgbClr val="40458B"/>
                          </a:solidFill>
                          <a:latin typeface="Times New Roman"/>
                          <a:cs typeface="Times New Roman"/>
                        </a:rPr>
                        <a:t>DADDIU</a:t>
                      </a:r>
                      <a:endParaRPr sz="1800">
                        <a:latin typeface="Times New Roman"/>
                        <a:cs typeface="Times New Roman"/>
                      </a:endParaRPr>
                    </a:p>
                  </a:txBody>
                  <a:tcPr marL="0" marR="0" marB="0" marT="12700"/>
                </a:tc>
                <a:tc>
                  <a:txBody>
                    <a:bodyPr/>
                    <a:lstStyle/>
                    <a:p>
                      <a:pPr marL="458470">
                        <a:lnSpc>
                          <a:spcPct val="100000"/>
                        </a:lnSpc>
                        <a:spcBef>
                          <a:spcPts val="100"/>
                        </a:spcBef>
                      </a:pPr>
                      <a:r>
                        <a:rPr dirty="0" sz="1800" b="1">
                          <a:solidFill>
                            <a:srgbClr val="40458B"/>
                          </a:solidFill>
                          <a:latin typeface="Times New Roman"/>
                          <a:cs typeface="Times New Roman"/>
                        </a:rPr>
                        <a:t>R1,</a:t>
                      </a:r>
                      <a:r>
                        <a:rPr dirty="0" sz="1800" spc="-30" b="1">
                          <a:solidFill>
                            <a:srgbClr val="40458B"/>
                          </a:solidFill>
                          <a:latin typeface="Times New Roman"/>
                          <a:cs typeface="Times New Roman"/>
                        </a:rPr>
                        <a:t> </a:t>
                      </a:r>
                      <a:r>
                        <a:rPr dirty="0" sz="1800" b="1">
                          <a:solidFill>
                            <a:srgbClr val="40458B"/>
                          </a:solidFill>
                          <a:latin typeface="Times New Roman"/>
                          <a:cs typeface="Times New Roman"/>
                        </a:rPr>
                        <a:t>R1,</a:t>
                      </a:r>
                      <a:r>
                        <a:rPr dirty="0" sz="1800" spc="-20" b="1">
                          <a:solidFill>
                            <a:srgbClr val="40458B"/>
                          </a:solidFill>
                          <a:latin typeface="Times New Roman"/>
                          <a:cs typeface="Times New Roman"/>
                        </a:rPr>
                        <a:t> </a:t>
                      </a:r>
                      <a:r>
                        <a:rPr dirty="0" sz="1800" b="1">
                          <a:solidFill>
                            <a:srgbClr val="40458B"/>
                          </a:solidFill>
                          <a:latin typeface="Times New Roman"/>
                          <a:cs typeface="Times New Roman"/>
                        </a:rPr>
                        <a:t>#</a:t>
                      </a:r>
                      <a:r>
                        <a:rPr dirty="0" sz="1800" spc="-35" b="1">
                          <a:solidFill>
                            <a:srgbClr val="40458B"/>
                          </a:solidFill>
                          <a:latin typeface="Times New Roman"/>
                          <a:cs typeface="Times New Roman"/>
                        </a:rPr>
                        <a:t> </a:t>
                      </a:r>
                      <a:r>
                        <a:rPr dirty="0" sz="1800" spc="-10" b="1">
                          <a:solidFill>
                            <a:srgbClr val="40458B"/>
                          </a:solidFill>
                          <a:latin typeface="Times New Roman"/>
                          <a:cs typeface="Times New Roman"/>
                        </a:rPr>
                        <a:t>-</a:t>
                      </a:r>
                      <a:r>
                        <a:rPr dirty="0" sz="1800" spc="-25" b="1">
                          <a:solidFill>
                            <a:srgbClr val="40458B"/>
                          </a:solidFill>
                          <a:latin typeface="Times New Roman"/>
                          <a:cs typeface="Times New Roman"/>
                        </a:rPr>
                        <a:t>32</a:t>
                      </a:r>
                      <a:endParaRPr sz="1800">
                        <a:latin typeface="Times New Roman"/>
                        <a:cs typeface="Times New Roman"/>
                      </a:endParaRPr>
                    </a:p>
                  </a:txBody>
                  <a:tcPr marL="0" marR="0" marB="0" marT="12700"/>
                </a:tc>
                <a:tc>
                  <a:txBody>
                    <a:bodyPr/>
                    <a:lstStyle/>
                    <a:p>
                      <a:pPr marL="151130">
                        <a:lnSpc>
                          <a:spcPct val="100000"/>
                        </a:lnSpc>
                        <a:spcBef>
                          <a:spcPts val="100"/>
                        </a:spcBef>
                      </a:pPr>
                      <a:r>
                        <a:rPr dirty="0" sz="1800" spc="-25" b="1">
                          <a:solidFill>
                            <a:srgbClr val="40458B"/>
                          </a:solidFill>
                          <a:latin typeface="Times New Roman"/>
                          <a:cs typeface="Times New Roman"/>
                        </a:rPr>
                        <a:t>12</a:t>
                      </a:r>
                      <a:endParaRPr sz="1800">
                        <a:latin typeface="Times New Roman"/>
                        <a:cs typeface="Times New Roman"/>
                      </a:endParaRPr>
                    </a:p>
                  </a:txBody>
                  <a:tcPr marL="0" marR="0" marB="0" marT="12700"/>
                </a:tc>
              </a:tr>
              <a:tr h="328930">
                <a:tc>
                  <a:txBody>
                    <a:bodyPr/>
                    <a:lstStyle/>
                    <a:p>
                      <a:pPr marL="31750">
                        <a:lnSpc>
                          <a:spcPct val="100000"/>
                        </a:lnSpc>
                        <a:spcBef>
                          <a:spcPts val="105"/>
                        </a:spcBef>
                      </a:pPr>
                      <a:r>
                        <a:rPr dirty="0" sz="1800" spc="-25" b="1">
                          <a:solidFill>
                            <a:srgbClr val="40458B"/>
                          </a:solidFill>
                          <a:latin typeface="Times New Roman"/>
                          <a:cs typeface="Times New Roman"/>
                        </a:rPr>
                        <a:t>S.D</a:t>
                      </a:r>
                      <a:endParaRPr sz="1800">
                        <a:latin typeface="Times New Roman"/>
                        <a:cs typeface="Times New Roman"/>
                      </a:endParaRPr>
                    </a:p>
                  </a:txBody>
                  <a:tcPr marL="0" marR="0" marB="0" marT="13335"/>
                </a:tc>
                <a:tc>
                  <a:txBody>
                    <a:bodyPr/>
                    <a:lstStyle/>
                    <a:p>
                      <a:pPr marL="458470">
                        <a:lnSpc>
                          <a:spcPct val="100000"/>
                        </a:lnSpc>
                        <a:spcBef>
                          <a:spcPts val="105"/>
                        </a:spcBef>
                      </a:pPr>
                      <a:r>
                        <a:rPr dirty="0" sz="1800" b="1">
                          <a:solidFill>
                            <a:srgbClr val="40458B"/>
                          </a:solidFill>
                          <a:latin typeface="Times New Roman"/>
                          <a:cs typeface="Times New Roman"/>
                        </a:rPr>
                        <a:t>F12,</a:t>
                      </a:r>
                      <a:r>
                        <a:rPr dirty="0" sz="1800" spc="-5" b="1">
                          <a:solidFill>
                            <a:srgbClr val="40458B"/>
                          </a:solidFill>
                          <a:latin typeface="Times New Roman"/>
                          <a:cs typeface="Times New Roman"/>
                        </a:rPr>
                        <a:t> </a:t>
                      </a:r>
                      <a:r>
                        <a:rPr dirty="0" sz="1800" spc="-10" b="1">
                          <a:solidFill>
                            <a:srgbClr val="40458B"/>
                          </a:solidFill>
                          <a:latin typeface="Times New Roman"/>
                          <a:cs typeface="Times New Roman"/>
                        </a:rPr>
                        <a:t>16</a:t>
                      </a:r>
                      <a:r>
                        <a:rPr dirty="0" sz="1800" spc="-10" b="1">
                          <a:solidFill>
                            <a:srgbClr val="40458B"/>
                          </a:solidFill>
                          <a:latin typeface="宋体"/>
                          <a:cs typeface="宋体"/>
                        </a:rPr>
                        <a:t>（</a:t>
                      </a:r>
                      <a:r>
                        <a:rPr dirty="0" sz="1800" spc="-10" b="1">
                          <a:solidFill>
                            <a:srgbClr val="40458B"/>
                          </a:solidFill>
                          <a:latin typeface="Times New Roman"/>
                          <a:cs typeface="Times New Roman"/>
                        </a:rPr>
                        <a:t>R1</a:t>
                      </a:r>
                      <a:r>
                        <a:rPr dirty="0" sz="1800" spc="-10" b="1">
                          <a:solidFill>
                            <a:srgbClr val="40458B"/>
                          </a:solidFill>
                          <a:latin typeface="宋体"/>
                          <a:cs typeface="宋体"/>
                        </a:rPr>
                        <a:t>）</a:t>
                      </a:r>
                      <a:endParaRPr sz="1800">
                        <a:latin typeface="宋体"/>
                        <a:cs typeface="宋体"/>
                      </a:endParaRPr>
                    </a:p>
                  </a:txBody>
                  <a:tcPr marL="0" marR="0" marB="0" marT="13335"/>
                </a:tc>
                <a:tc>
                  <a:txBody>
                    <a:bodyPr/>
                    <a:lstStyle/>
                    <a:p>
                      <a:pPr marL="151130">
                        <a:lnSpc>
                          <a:spcPct val="100000"/>
                        </a:lnSpc>
                        <a:spcBef>
                          <a:spcPts val="105"/>
                        </a:spcBef>
                      </a:pPr>
                      <a:r>
                        <a:rPr dirty="0" sz="1800" spc="-25" b="1">
                          <a:solidFill>
                            <a:srgbClr val="40458B"/>
                          </a:solidFill>
                          <a:latin typeface="Times New Roman"/>
                          <a:cs typeface="Times New Roman"/>
                        </a:rPr>
                        <a:t>11</a:t>
                      </a:r>
                      <a:endParaRPr sz="1800">
                        <a:latin typeface="Times New Roman"/>
                        <a:cs typeface="Times New Roman"/>
                      </a:endParaRPr>
                    </a:p>
                  </a:txBody>
                  <a:tcPr marL="0" marR="0" marB="0" marT="13335"/>
                </a:tc>
              </a:tr>
              <a:tr h="328930">
                <a:tc>
                  <a:txBody>
                    <a:bodyPr/>
                    <a:lstStyle/>
                    <a:p>
                      <a:pPr marL="31750">
                        <a:lnSpc>
                          <a:spcPct val="100000"/>
                        </a:lnSpc>
                        <a:spcBef>
                          <a:spcPts val="105"/>
                        </a:spcBef>
                      </a:pPr>
                      <a:r>
                        <a:rPr dirty="0" sz="1800" spc="-25" b="1">
                          <a:solidFill>
                            <a:srgbClr val="40458B"/>
                          </a:solidFill>
                          <a:latin typeface="Times New Roman"/>
                          <a:cs typeface="Times New Roman"/>
                        </a:rPr>
                        <a:t>BNE</a:t>
                      </a:r>
                      <a:endParaRPr sz="1800">
                        <a:latin typeface="Times New Roman"/>
                        <a:cs typeface="Times New Roman"/>
                      </a:endParaRPr>
                    </a:p>
                  </a:txBody>
                  <a:tcPr marL="0" marR="0" marB="0" marT="13335"/>
                </a:tc>
                <a:tc>
                  <a:txBody>
                    <a:bodyPr/>
                    <a:lstStyle/>
                    <a:p>
                      <a:pPr marL="458470">
                        <a:lnSpc>
                          <a:spcPct val="100000"/>
                        </a:lnSpc>
                        <a:spcBef>
                          <a:spcPts val="105"/>
                        </a:spcBef>
                      </a:pPr>
                      <a:r>
                        <a:rPr dirty="0" sz="1800" b="1">
                          <a:solidFill>
                            <a:srgbClr val="40458B"/>
                          </a:solidFill>
                          <a:latin typeface="Times New Roman"/>
                          <a:cs typeface="Times New Roman"/>
                        </a:rPr>
                        <a:t>R1,</a:t>
                      </a:r>
                      <a:r>
                        <a:rPr dirty="0" sz="1800" spc="-40" b="1">
                          <a:solidFill>
                            <a:srgbClr val="40458B"/>
                          </a:solidFill>
                          <a:latin typeface="Times New Roman"/>
                          <a:cs typeface="Times New Roman"/>
                        </a:rPr>
                        <a:t> </a:t>
                      </a:r>
                      <a:r>
                        <a:rPr dirty="0" sz="1800" b="1">
                          <a:solidFill>
                            <a:srgbClr val="40458B"/>
                          </a:solidFill>
                          <a:latin typeface="Times New Roman"/>
                          <a:cs typeface="Times New Roman"/>
                        </a:rPr>
                        <a:t>R2,</a:t>
                      </a:r>
                      <a:r>
                        <a:rPr dirty="0" sz="1800" spc="-30" b="1">
                          <a:solidFill>
                            <a:srgbClr val="40458B"/>
                          </a:solidFill>
                          <a:latin typeface="Times New Roman"/>
                          <a:cs typeface="Times New Roman"/>
                        </a:rPr>
                        <a:t> </a:t>
                      </a:r>
                      <a:r>
                        <a:rPr dirty="0" sz="1800" spc="-20" b="1">
                          <a:solidFill>
                            <a:srgbClr val="40458B"/>
                          </a:solidFill>
                          <a:latin typeface="Times New Roman"/>
                          <a:cs typeface="Times New Roman"/>
                        </a:rPr>
                        <a:t>Loop</a:t>
                      </a:r>
                      <a:endParaRPr sz="1800">
                        <a:latin typeface="Times New Roman"/>
                        <a:cs typeface="Times New Roman"/>
                      </a:endParaRPr>
                    </a:p>
                  </a:txBody>
                  <a:tcPr marL="0" marR="0" marB="0" marT="13335"/>
                </a:tc>
                <a:tc>
                  <a:txBody>
                    <a:bodyPr/>
                    <a:lstStyle/>
                    <a:p>
                      <a:pPr marL="151130">
                        <a:lnSpc>
                          <a:spcPct val="100000"/>
                        </a:lnSpc>
                        <a:spcBef>
                          <a:spcPts val="105"/>
                        </a:spcBef>
                      </a:pPr>
                      <a:r>
                        <a:rPr dirty="0" sz="1800" spc="-25" b="1">
                          <a:solidFill>
                            <a:srgbClr val="40458B"/>
                          </a:solidFill>
                          <a:latin typeface="Times New Roman"/>
                          <a:cs typeface="Times New Roman"/>
                        </a:rPr>
                        <a:t>13</a:t>
                      </a:r>
                      <a:endParaRPr sz="1800">
                        <a:latin typeface="Times New Roman"/>
                        <a:cs typeface="Times New Roman"/>
                      </a:endParaRPr>
                    </a:p>
                  </a:txBody>
                  <a:tcPr marL="0" marR="0" marB="0" marT="13335"/>
                </a:tc>
              </a:tr>
              <a:tr h="290830">
                <a:tc>
                  <a:txBody>
                    <a:bodyPr/>
                    <a:lstStyle/>
                    <a:p>
                      <a:pPr marL="31750">
                        <a:lnSpc>
                          <a:spcPts val="2090"/>
                        </a:lnSpc>
                        <a:spcBef>
                          <a:spcPts val="100"/>
                        </a:spcBef>
                      </a:pPr>
                      <a:r>
                        <a:rPr dirty="0" sz="1800" spc="-25" b="1">
                          <a:solidFill>
                            <a:srgbClr val="40458B"/>
                          </a:solidFill>
                          <a:latin typeface="Times New Roman"/>
                          <a:cs typeface="Times New Roman"/>
                        </a:rPr>
                        <a:t>S.D</a:t>
                      </a:r>
                      <a:endParaRPr sz="1800">
                        <a:latin typeface="Times New Roman"/>
                        <a:cs typeface="Times New Roman"/>
                      </a:endParaRPr>
                    </a:p>
                  </a:txBody>
                  <a:tcPr marL="0" marR="0" marB="0" marT="12700"/>
                </a:tc>
                <a:tc>
                  <a:txBody>
                    <a:bodyPr/>
                    <a:lstStyle/>
                    <a:p>
                      <a:pPr marL="458470">
                        <a:lnSpc>
                          <a:spcPts val="2090"/>
                        </a:lnSpc>
                        <a:spcBef>
                          <a:spcPts val="100"/>
                        </a:spcBef>
                      </a:pPr>
                      <a:r>
                        <a:rPr dirty="0" sz="1800" b="1">
                          <a:solidFill>
                            <a:srgbClr val="40458B"/>
                          </a:solidFill>
                          <a:latin typeface="Times New Roman"/>
                          <a:cs typeface="Times New Roman"/>
                        </a:rPr>
                        <a:t>F16,</a:t>
                      </a:r>
                      <a:r>
                        <a:rPr dirty="0" sz="1800" spc="-35" b="1">
                          <a:solidFill>
                            <a:srgbClr val="40458B"/>
                          </a:solidFill>
                          <a:latin typeface="Times New Roman"/>
                          <a:cs typeface="Times New Roman"/>
                        </a:rPr>
                        <a:t> </a:t>
                      </a:r>
                      <a:r>
                        <a:rPr dirty="0" sz="1800" spc="-10" b="1">
                          <a:solidFill>
                            <a:srgbClr val="40458B"/>
                          </a:solidFill>
                          <a:latin typeface="Times New Roman"/>
                          <a:cs typeface="Times New Roman"/>
                        </a:rPr>
                        <a:t>8</a:t>
                      </a:r>
                      <a:r>
                        <a:rPr dirty="0" sz="1800" spc="-10" b="1">
                          <a:solidFill>
                            <a:srgbClr val="40458B"/>
                          </a:solidFill>
                          <a:latin typeface="宋体"/>
                          <a:cs typeface="宋体"/>
                        </a:rPr>
                        <a:t>（</a:t>
                      </a:r>
                      <a:r>
                        <a:rPr dirty="0" sz="1800" spc="-10" b="1">
                          <a:solidFill>
                            <a:srgbClr val="40458B"/>
                          </a:solidFill>
                          <a:latin typeface="Times New Roman"/>
                          <a:cs typeface="Times New Roman"/>
                        </a:rPr>
                        <a:t>R1</a:t>
                      </a:r>
                      <a:r>
                        <a:rPr dirty="0" sz="1800" spc="-10" b="1">
                          <a:solidFill>
                            <a:srgbClr val="40458B"/>
                          </a:solidFill>
                          <a:latin typeface="宋体"/>
                          <a:cs typeface="宋体"/>
                        </a:rPr>
                        <a:t>）</a:t>
                      </a:r>
                      <a:endParaRPr sz="1800">
                        <a:latin typeface="宋体"/>
                        <a:cs typeface="宋体"/>
                      </a:endParaRPr>
                    </a:p>
                  </a:txBody>
                  <a:tcPr marL="0" marR="0" marB="0" marT="12700"/>
                </a:tc>
                <a:tc>
                  <a:txBody>
                    <a:bodyPr/>
                    <a:lstStyle/>
                    <a:p>
                      <a:pPr marL="151130">
                        <a:lnSpc>
                          <a:spcPts val="2090"/>
                        </a:lnSpc>
                        <a:spcBef>
                          <a:spcPts val="100"/>
                        </a:spcBef>
                      </a:pPr>
                      <a:r>
                        <a:rPr dirty="0" sz="1800" spc="-25" b="1">
                          <a:solidFill>
                            <a:srgbClr val="40458B"/>
                          </a:solidFill>
                          <a:latin typeface="Times New Roman"/>
                          <a:cs typeface="Times New Roman"/>
                        </a:rPr>
                        <a:t>14</a:t>
                      </a:r>
                      <a:endParaRPr sz="1800">
                        <a:latin typeface="Times New Roman"/>
                        <a:cs typeface="Times New Roman"/>
                      </a:endParaRPr>
                    </a:p>
                  </a:txBody>
                  <a:tcPr marL="0" marR="0" marB="0" marT="12700"/>
                </a:tc>
              </a:tr>
            </a:tbl>
          </a:graphicData>
        </a:graphic>
      </p:graphicFrame>
      <p:sp>
        <p:nvSpPr>
          <p:cNvPr id="5" name="object 5" descr=""/>
          <p:cNvSpPr txBox="1"/>
          <p:nvPr/>
        </p:nvSpPr>
        <p:spPr>
          <a:xfrm>
            <a:off x="8536305" y="2691129"/>
            <a:ext cx="2169795" cy="391160"/>
          </a:xfrm>
          <a:prstGeom prst="rect">
            <a:avLst/>
          </a:prstGeom>
        </p:spPr>
        <p:txBody>
          <a:bodyPr wrap="square" lIns="0" tIns="12700" rIns="0" bIns="0" rtlCol="0" vert="horz">
            <a:spAutoFit/>
          </a:bodyPr>
          <a:lstStyle/>
          <a:p>
            <a:pPr marL="12700">
              <a:lnSpc>
                <a:spcPct val="100000"/>
              </a:lnSpc>
              <a:spcBef>
                <a:spcPts val="100"/>
              </a:spcBef>
            </a:pPr>
            <a:r>
              <a:rPr dirty="0" sz="2400" spc="-25" b="1">
                <a:solidFill>
                  <a:srgbClr val="D50092"/>
                </a:solidFill>
                <a:latin typeface="宋体"/>
                <a:cs typeface="宋体"/>
              </a:rPr>
              <a:t>没有空转周期！</a:t>
            </a:r>
            <a:endParaRPr sz="2400">
              <a:latin typeface="宋体"/>
              <a:cs typeface="宋体"/>
            </a:endParaRPr>
          </a:p>
        </p:txBody>
      </p:sp>
      <p:sp>
        <p:nvSpPr>
          <p:cNvPr id="6" name="object 6" descr=""/>
          <p:cNvSpPr txBox="1"/>
          <p:nvPr/>
        </p:nvSpPr>
        <p:spPr>
          <a:xfrm>
            <a:off x="7761351" y="981075"/>
            <a:ext cx="4321175" cy="1405255"/>
          </a:xfrm>
          <a:prstGeom prst="rect">
            <a:avLst/>
          </a:prstGeom>
          <a:ln w="9525">
            <a:solidFill>
              <a:srgbClr val="FFC000"/>
            </a:solidFill>
          </a:ln>
        </p:spPr>
        <p:txBody>
          <a:bodyPr wrap="square" lIns="0" tIns="22860" rIns="0" bIns="0" rtlCol="0" vert="horz">
            <a:spAutoFit/>
          </a:bodyPr>
          <a:lstStyle/>
          <a:p>
            <a:pPr algn="just" marL="92075" marR="151765">
              <a:lnSpc>
                <a:spcPts val="3600"/>
              </a:lnSpc>
              <a:spcBef>
                <a:spcPts val="180"/>
              </a:spcBef>
            </a:pPr>
            <a:r>
              <a:rPr dirty="0" sz="2000" b="1">
                <a:solidFill>
                  <a:srgbClr val="D50092"/>
                </a:solidFill>
                <a:latin typeface="微软雅黑"/>
                <a:cs typeface="微软雅黑"/>
              </a:rPr>
              <a:t>结论：</a:t>
            </a:r>
            <a:r>
              <a:rPr dirty="0" sz="2000" spc="-15" b="1">
                <a:solidFill>
                  <a:srgbClr val="2C44A3"/>
                </a:solidFill>
                <a:latin typeface="微软雅黑"/>
                <a:cs typeface="微软雅黑"/>
              </a:rPr>
              <a:t>通过循环展开、寄存器重命名和指令调度，可以有效开发出指令级</a:t>
            </a:r>
            <a:r>
              <a:rPr dirty="0" sz="2000" spc="-10" b="1">
                <a:solidFill>
                  <a:srgbClr val="2C44A3"/>
                </a:solidFill>
                <a:latin typeface="微软雅黑"/>
                <a:cs typeface="微软雅黑"/>
              </a:rPr>
              <a:t>并行。时间减少一半（</a:t>
            </a:r>
            <a:r>
              <a:rPr dirty="0" sz="2000" spc="-10" b="1">
                <a:solidFill>
                  <a:srgbClr val="2C44A3"/>
                </a:solidFill>
                <a:latin typeface="黑体"/>
                <a:cs typeface="黑体"/>
              </a:rPr>
              <a:t>14cycle</a:t>
            </a:r>
            <a:r>
              <a:rPr dirty="0" sz="2000" spc="-10" b="1">
                <a:solidFill>
                  <a:srgbClr val="2C44A3"/>
                </a:solidFill>
                <a:latin typeface="微软雅黑"/>
                <a:cs typeface="微软雅黑"/>
              </a:rPr>
              <a:t>）</a:t>
            </a:r>
            <a:r>
              <a:rPr dirty="0" sz="2000" spc="-50" b="1">
                <a:solidFill>
                  <a:srgbClr val="2C44A3"/>
                </a:solidFill>
                <a:latin typeface="微软雅黑"/>
                <a:cs typeface="微软雅黑"/>
              </a:rPr>
              <a:t>。</a:t>
            </a:r>
            <a:endParaRPr sz="2000">
              <a:latin typeface="微软雅黑"/>
              <a:cs typeface="微软雅黑"/>
            </a:endParaRPr>
          </a:p>
        </p:txBody>
      </p:sp>
      <p:sp>
        <p:nvSpPr>
          <p:cNvPr id="7" name="object 7" descr=""/>
          <p:cNvSpPr/>
          <p:nvPr/>
        </p:nvSpPr>
        <p:spPr>
          <a:xfrm>
            <a:off x="0" y="1412875"/>
            <a:ext cx="3130550" cy="3000375"/>
          </a:xfrm>
          <a:custGeom>
            <a:avLst/>
            <a:gdLst/>
            <a:ahLst/>
            <a:cxnLst/>
            <a:rect l="l" t="t" r="r" b="b"/>
            <a:pathLst>
              <a:path w="3130550" h="3000375">
                <a:moveTo>
                  <a:pt x="0" y="3000375"/>
                </a:moveTo>
                <a:lnTo>
                  <a:pt x="3130550" y="3000375"/>
                </a:lnTo>
                <a:lnTo>
                  <a:pt x="3130550" y="0"/>
                </a:lnTo>
                <a:lnTo>
                  <a:pt x="0" y="0"/>
                </a:lnTo>
                <a:lnTo>
                  <a:pt x="0" y="3000375"/>
                </a:lnTo>
                <a:close/>
              </a:path>
            </a:pathLst>
          </a:custGeom>
          <a:ln w="9525">
            <a:solidFill>
              <a:srgbClr val="00AFEF"/>
            </a:solidFill>
          </a:ln>
        </p:spPr>
        <p:txBody>
          <a:bodyPr wrap="square" lIns="0" tIns="0" rIns="0" bIns="0" rtlCol="0"/>
          <a:lstStyle/>
          <a:p/>
        </p:txBody>
      </p:sp>
      <p:sp>
        <p:nvSpPr>
          <p:cNvPr id="8" name="object 8" descr=""/>
          <p:cNvSpPr txBox="1"/>
          <p:nvPr/>
        </p:nvSpPr>
        <p:spPr>
          <a:xfrm>
            <a:off x="78739" y="1545462"/>
            <a:ext cx="3112135" cy="360680"/>
          </a:xfrm>
          <a:prstGeom prst="rect">
            <a:avLst/>
          </a:prstGeom>
        </p:spPr>
        <p:txBody>
          <a:bodyPr wrap="square" lIns="0" tIns="12065" rIns="0" bIns="0" rtlCol="0" vert="horz">
            <a:spAutoFit/>
          </a:bodyPr>
          <a:lstStyle/>
          <a:p>
            <a:pPr marL="12700">
              <a:lnSpc>
                <a:spcPct val="100000"/>
              </a:lnSpc>
              <a:spcBef>
                <a:spcPts val="95"/>
              </a:spcBef>
            </a:pPr>
            <a:r>
              <a:rPr dirty="0" sz="2200" spc="-30" b="1">
                <a:solidFill>
                  <a:srgbClr val="D50092"/>
                </a:solidFill>
                <a:latin typeface="微软雅黑"/>
                <a:cs typeface="微软雅黑"/>
              </a:rPr>
              <a:t>分析：</a:t>
            </a:r>
            <a:r>
              <a:rPr dirty="0" sz="2000">
                <a:solidFill>
                  <a:srgbClr val="40458B"/>
                </a:solidFill>
                <a:latin typeface="黑体"/>
                <a:cs typeface="黑体"/>
              </a:rPr>
              <a:t>第一个</a:t>
            </a:r>
            <a:r>
              <a:rPr dirty="0" sz="2000" spc="-20">
                <a:solidFill>
                  <a:srgbClr val="40458B"/>
                </a:solidFill>
                <a:latin typeface="Tahoma"/>
                <a:cs typeface="Tahoma"/>
              </a:rPr>
              <a:t>load</a:t>
            </a:r>
            <a:r>
              <a:rPr dirty="0" sz="2000" spc="-20">
                <a:solidFill>
                  <a:srgbClr val="40458B"/>
                </a:solidFill>
                <a:latin typeface="黑体"/>
                <a:cs typeface="黑体"/>
              </a:rPr>
              <a:t>执行完，</a:t>
            </a:r>
            <a:endParaRPr sz="2000">
              <a:latin typeface="黑体"/>
              <a:cs typeface="黑体"/>
            </a:endParaRPr>
          </a:p>
        </p:txBody>
      </p:sp>
      <p:sp>
        <p:nvSpPr>
          <p:cNvPr id="9" name="object 9" descr=""/>
          <p:cNvSpPr txBox="1"/>
          <p:nvPr/>
        </p:nvSpPr>
        <p:spPr>
          <a:xfrm>
            <a:off x="78739" y="1885670"/>
            <a:ext cx="2828290" cy="1397635"/>
          </a:xfrm>
          <a:prstGeom prst="rect">
            <a:avLst/>
          </a:prstGeom>
        </p:spPr>
        <p:txBody>
          <a:bodyPr wrap="square" lIns="0" tIns="12700" rIns="0" bIns="0" rtlCol="0" vert="horz">
            <a:spAutoFit/>
          </a:bodyPr>
          <a:lstStyle/>
          <a:p>
            <a:pPr algn="just" marL="12700" marR="5080">
              <a:lnSpc>
                <a:spcPct val="150000"/>
              </a:lnSpc>
              <a:spcBef>
                <a:spcPts val="100"/>
              </a:spcBef>
            </a:pPr>
            <a:r>
              <a:rPr dirty="0" sz="2000" spc="-5">
                <a:solidFill>
                  <a:srgbClr val="40458B"/>
                </a:solidFill>
                <a:latin typeface="黑体"/>
                <a:cs typeface="黑体"/>
              </a:rPr>
              <a:t>刚好第一个</a:t>
            </a:r>
            <a:r>
              <a:rPr dirty="0" sz="2000" spc="-25">
                <a:solidFill>
                  <a:srgbClr val="40458B"/>
                </a:solidFill>
                <a:latin typeface="Tahoma"/>
                <a:cs typeface="Tahoma"/>
              </a:rPr>
              <a:t>ADD</a:t>
            </a:r>
            <a:r>
              <a:rPr dirty="0" sz="2000" spc="-20">
                <a:solidFill>
                  <a:srgbClr val="40458B"/>
                </a:solidFill>
                <a:latin typeface="黑体"/>
                <a:cs typeface="黑体"/>
              </a:rPr>
              <a:t>指令使用</a:t>
            </a:r>
            <a:r>
              <a:rPr dirty="0" sz="2000" spc="-50">
                <a:solidFill>
                  <a:srgbClr val="40458B"/>
                </a:solidFill>
                <a:latin typeface="黑体"/>
                <a:cs typeface="黑体"/>
              </a:rPr>
              <a:t> </a:t>
            </a:r>
            <a:r>
              <a:rPr dirty="0" sz="2000">
                <a:solidFill>
                  <a:srgbClr val="40458B"/>
                </a:solidFill>
                <a:latin typeface="Tahoma"/>
                <a:cs typeface="Tahoma"/>
              </a:rPr>
              <a:t>F0</a:t>
            </a:r>
            <a:r>
              <a:rPr dirty="0" sz="2000" spc="-10">
                <a:solidFill>
                  <a:srgbClr val="40458B"/>
                </a:solidFill>
                <a:latin typeface="黑体"/>
                <a:cs typeface="黑体"/>
              </a:rPr>
              <a:t>，同理其他。同理</a:t>
            </a:r>
            <a:r>
              <a:rPr dirty="0" sz="2000" spc="-25">
                <a:solidFill>
                  <a:srgbClr val="40458B"/>
                </a:solidFill>
                <a:latin typeface="Tahoma"/>
                <a:cs typeface="Tahoma"/>
              </a:rPr>
              <a:t>ADD</a:t>
            </a:r>
            <a:r>
              <a:rPr dirty="0" sz="2000">
                <a:solidFill>
                  <a:srgbClr val="40458B"/>
                </a:solidFill>
                <a:latin typeface="黑体"/>
                <a:cs typeface="黑体"/>
              </a:rPr>
              <a:t>和</a:t>
            </a:r>
            <a:r>
              <a:rPr dirty="0" sz="2000" spc="-10">
                <a:solidFill>
                  <a:srgbClr val="40458B"/>
                </a:solidFill>
                <a:latin typeface="Tahoma"/>
                <a:cs typeface="Tahoma"/>
              </a:rPr>
              <a:t>S.D</a:t>
            </a:r>
            <a:r>
              <a:rPr dirty="0" sz="2000" spc="-25">
                <a:solidFill>
                  <a:srgbClr val="40458B"/>
                </a:solidFill>
                <a:latin typeface="黑体"/>
                <a:cs typeface="黑体"/>
              </a:rPr>
              <a:t>指令</a:t>
            </a:r>
            <a:endParaRPr sz="2000">
              <a:latin typeface="黑体"/>
              <a:cs typeface="黑体"/>
            </a:endParaRPr>
          </a:p>
        </p:txBody>
      </p:sp>
      <p:sp>
        <p:nvSpPr>
          <p:cNvPr id="10" name="object 10" descr=""/>
          <p:cNvSpPr txBox="1"/>
          <p:nvPr/>
        </p:nvSpPr>
        <p:spPr>
          <a:xfrm>
            <a:off x="78739" y="3645484"/>
            <a:ext cx="2814320" cy="699135"/>
          </a:xfrm>
          <a:prstGeom prst="rect">
            <a:avLst/>
          </a:prstGeom>
        </p:spPr>
        <p:txBody>
          <a:bodyPr wrap="square" lIns="0" tIns="12065" rIns="0" bIns="0" rtlCol="0" vert="horz">
            <a:spAutoFit/>
          </a:bodyPr>
          <a:lstStyle/>
          <a:p>
            <a:pPr marL="12700">
              <a:lnSpc>
                <a:spcPct val="100000"/>
              </a:lnSpc>
              <a:spcBef>
                <a:spcPts val="95"/>
              </a:spcBef>
            </a:pPr>
            <a:r>
              <a:rPr dirty="0" sz="2200" spc="-40">
                <a:solidFill>
                  <a:srgbClr val="FF0000"/>
                </a:solidFill>
                <a:latin typeface="微软雅黑"/>
                <a:cs typeface="微软雅黑"/>
              </a:rPr>
              <a:t>一个循环内多个循环体</a:t>
            </a:r>
            <a:endParaRPr sz="2200">
              <a:latin typeface="微软雅黑"/>
              <a:cs typeface="微软雅黑"/>
            </a:endParaRPr>
          </a:p>
          <a:p>
            <a:pPr marL="12700">
              <a:lnSpc>
                <a:spcPct val="100000"/>
              </a:lnSpc>
              <a:spcBef>
                <a:spcPts val="30"/>
              </a:spcBef>
            </a:pPr>
            <a:r>
              <a:rPr dirty="0" sz="2200" spc="-40">
                <a:solidFill>
                  <a:srgbClr val="FF0000"/>
                </a:solidFill>
                <a:latin typeface="微软雅黑"/>
                <a:cs typeface="微软雅黑"/>
              </a:rPr>
              <a:t>并行</a:t>
            </a:r>
            <a:endParaRPr sz="2200">
              <a:latin typeface="微软雅黑"/>
              <a:cs typeface="微软雅黑"/>
            </a:endParaRPr>
          </a:p>
        </p:txBody>
      </p:sp>
      <p:grpSp>
        <p:nvGrpSpPr>
          <p:cNvPr id="11" name="object 11" descr=""/>
          <p:cNvGrpSpPr/>
          <p:nvPr/>
        </p:nvGrpSpPr>
        <p:grpSpPr>
          <a:xfrm>
            <a:off x="-4762" y="5122862"/>
            <a:ext cx="3046730" cy="974725"/>
            <a:chOff x="-4762" y="5122862"/>
            <a:chExt cx="3046730" cy="974725"/>
          </a:xfrm>
        </p:grpSpPr>
        <p:sp>
          <p:nvSpPr>
            <p:cNvPr id="12" name="object 12" descr=""/>
            <p:cNvSpPr/>
            <p:nvPr/>
          </p:nvSpPr>
          <p:spPr>
            <a:xfrm>
              <a:off x="0" y="5127625"/>
              <a:ext cx="3037205" cy="965200"/>
            </a:xfrm>
            <a:custGeom>
              <a:avLst/>
              <a:gdLst/>
              <a:ahLst/>
              <a:cxnLst/>
              <a:rect l="l" t="t" r="r" b="b"/>
              <a:pathLst>
                <a:path w="3037205" h="965200">
                  <a:moveTo>
                    <a:pt x="3036887" y="0"/>
                  </a:moveTo>
                  <a:lnTo>
                    <a:pt x="0" y="0"/>
                  </a:lnTo>
                  <a:lnTo>
                    <a:pt x="0" y="965200"/>
                  </a:lnTo>
                  <a:lnTo>
                    <a:pt x="3036887" y="965200"/>
                  </a:lnTo>
                  <a:lnTo>
                    <a:pt x="3036887" y="0"/>
                  </a:lnTo>
                  <a:close/>
                </a:path>
              </a:pathLst>
            </a:custGeom>
            <a:solidFill>
              <a:srgbClr val="EBD782"/>
            </a:solidFill>
          </p:spPr>
          <p:txBody>
            <a:bodyPr wrap="square" lIns="0" tIns="0" rIns="0" bIns="0" rtlCol="0"/>
            <a:lstStyle/>
            <a:p/>
          </p:txBody>
        </p:sp>
        <p:sp>
          <p:nvSpPr>
            <p:cNvPr id="13" name="object 13" descr=""/>
            <p:cNvSpPr/>
            <p:nvPr/>
          </p:nvSpPr>
          <p:spPr>
            <a:xfrm>
              <a:off x="0" y="5127625"/>
              <a:ext cx="3037205" cy="965200"/>
            </a:xfrm>
            <a:custGeom>
              <a:avLst/>
              <a:gdLst/>
              <a:ahLst/>
              <a:cxnLst/>
              <a:rect l="l" t="t" r="r" b="b"/>
              <a:pathLst>
                <a:path w="3037205" h="965200">
                  <a:moveTo>
                    <a:pt x="0" y="965200"/>
                  </a:moveTo>
                  <a:lnTo>
                    <a:pt x="3036887" y="965200"/>
                  </a:lnTo>
                  <a:lnTo>
                    <a:pt x="3036887" y="0"/>
                  </a:lnTo>
                  <a:lnTo>
                    <a:pt x="0" y="0"/>
                  </a:lnTo>
                </a:path>
                <a:path w="3037205" h="965200">
                  <a:moveTo>
                    <a:pt x="3033395" y="0"/>
                  </a:moveTo>
                  <a:lnTo>
                    <a:pt x="3033395" y="965200"/>
                  </a:lnTo>
                </a:path>
              </a:pathLst>
            </a:custGeom>
            <a:ln w="9525">
              <a:solidFill>
                <a:srgbClr val="40458B"/>
              </a:solidFill>
            </a:ln>
          </p:spPr>
          <p:txBody>
            <a:bodyPr wrap="square" lIns="0" tIns="0" rIns="0" bIns="0" rtlCol="0"/>
            <a:lstStyle/>
            <a:p/>
          </p:txBody>
        </p:sp>
      </p:grpSp>
      <p:sp>
        <p:nvSpPr>
          <p:cNvPr id="14" name="object 14" descr=""/>
          <p:cNvSpPr/>
          <p:nvPr/>
        </p:nvSpPr>
        <p:spPr>
          <a:xfrm>
            <a:off x="1260462" y="4570984"/>
            <a:ext cx="2365375" cy="568325"/>
          </a:xfrm>
          <a:custGeom>
            <a:avLst/>
            <a:gdLst/>
            <a:ahLst/>
            <a:cxnLst/>
            <a:rect l="l" t="t" r="r" b="b"/>
            <a:pathLst>
              <a:path w="2365375" h="568325">
                <a:moveTo>
                  <a:pt x="1772932" y="568198"/>
                </a:moveTo>
                <a:lnTo>
                  <a:pt x="0" y="503555"/>
                </a:lnTo>
                <a:lnTo>
                  <a:pt x="2364752" y="0"/>
                </a:lnTo>
              </a:path>
            </a:pathLst>
          </a:custGeom>
          <a:ln w="9525">
            <a:solidFill>
              <a:srgbClr val="40458B"/>
            </a:solidFill>
          </a:ln>
        </p:spPr>
        <p:txBody>
          <a:bodyPr wrap="square" lIns="0" tIns="0" rIns="0" bIns="0" rtlCol="0"/>
          <a:lstStyle/>
          <a:p/>
        </p:txBody>
      </p:sp>
      <p:sp>
        <p:nvSpPr>
          <p:cNvPr id="15" name="object 15" descr=""/>
          <p:cNvSpPr txBox="1"/>
          <p:nvPr/>
        </p:nvSpPr>
        <p:spPr>
          <a:xfrm>
            <a:off x="-2133" y="5155819"/>
            <a:ext cx="3048635" cy="763270"/>
          </a:xfrm>
          <a:prstGeom prst="rect">
            <a:avLst/>
          </a:prstGeom>
        </p:spPr>
        <p:txBody>
          <a:bodyPr wrap="square" lIns="0" tIns="12700" rIns="0" bIns="0" rtlCol="0" vert="horz">
            <a:spAutoFit/>
          </a:bodyPr>
          <a:lstStyle/>
          <a:p>
            <a:pPr>
              <a:lnSpc>
                <a:spcPct val="100000"/>
              </a:lnSpc>
              <a:spcBef>
                <a:spcPts val="100"/>
              </a:spcBef>
            </a:pPr>
            <a:r>
              <a:rPr dirty="0" sz="2400" spc="-30" b="1">
                <a:solidFill>
                  <a:srgbClr val="40458B"/>
                </a:solidFill>
                <a:latin typeface="Times New Roman"/>
                <a:cs typeface="Times New Roman"/>
              </a:rPr>
              <a:t>DADDIU</a:t>
            </a:r>
            <a:r>
              <a:rPr dirty="0" sz="2400">
                <a:solidFill>
                  <a:srgbClr val="40458B"/>
                </a:solidFill>
                <a:latin typeface="黑体"/>
                <a:cs typeface="黑体"/>
              </a:rPr>
              <a:t>放在两个</a:t>
            </a:r>
            <a:r>
              <a:rPr dirty="0" sz="2400" spc="-25">
                <a:solidFill>
                  <a:srgbClr val="40458B"/>
                </a:solidFill>
                <a:latin typeface="Tahoma"/>
                <a:cs typeface="Tahoma"/>
              </a:rPr>
              <a:t>S.D</a:t>
            </a:r>
            <a:endParaRPr sz="2400">
              <a:latin typeface="Tahoma"/>
              <a:cs typeface="Tahoma"/>
            </a:endParaRPr>
          </a:p>
          <a:p>
            <a:pPr>
              <a:lnSpc>
                <a:spcPct val="100000"/>
              </a:lnSpc>
              <a:spcBef>
                <a:spcPts val="45"/>
              </a:spcBef>
            </a:pPr>
            <a:r>
              <a:rPr dirty="0" sz="2400" spc="-15">
                <a:solidFill>
                  <a:srgbClr val="40458B"/>
                </a:solidFill>
                <a:latin typeface="黑体"/>
                <a:cs typeface="黑体"/>
              </a:rPr>
              <a:t>指令之间为了消除延迟</a:t>
            </a:r>
            <a:endParaRPr sz="2400">
              <a:latin typeface="黑体"/>
              <a:cs typeface="黑体"/>
            </a:endParaRPr>
          </a:p>
        </p:txBody>
      </p:sp>
      <p:sp>
        <p:nvSpPr>
          <p:cNvPr id="16" name="object 16" descr=""/>
          <p:cNvSpPr/>
          <p:nvPr/>
        </p:nvSpPr>
        <p:spPr>
          <a:xfrm>
            <a:off x="7542276" y="3289236"/>
            <a:ext cx="4540250" cy="3046730"/>
          </a:xfrm>
          <a:custGeom>
            <a:avLst/>
            <a:gdLst/>
            <a:ahLst/>
            <a:cxnLst/>
            <a:rect l="l" t="t" r="r" b="b"/>
            <a:pathLst>
              <a:path w="4540250" h="3046729">
                <a:moveTo>
                  <a:pt x="0" y="3046476"/>
                </a:moveTo>
                <a:lnTo>
                  <a:pt x="4540250" y="3046476"/>
                </a:lnTo>
                <a:lnTo>
                  <a:pt x="4540250" y="0"/>
                </a:lnTo>
                <a:lnTo>
                  <a:pt x="0" y="0"/>
                </a:lnTo>
                <a:lnTo>
                  <a:pt x="0" y="3046476"/>
                </a:lnTo>
                <a:close/>
              </a:path>
            </a:pathLst>
          </a:custGeom>
          <a:ln w="9524">
            <a:solidFill>
              <a:srgbClr val="6F2F9F"/>
            </a:solidFill>
          </a:ln>
        </p:spPr>
        <p:txBody>
          <a:bodyPr wrap="square" lIns="0" tIns="0" rIns="0" bIns="0" rtlCol="0"/>
          <a:lstStyle/>
          <a:p/>
        </p:txBody>
      </p:sp>
      <p:sp>
        <p:nvSpPr>
          <p:cNvPr id="17" name="object 17" descr=""/>
          <p:cNvSpPr txBox="1"/>
          <p:nvPr/>
        </p:nvSpPr>
        <p:spPr>
          <a:xfrm>
            <a:off x="7621905" y="3429457"/>
            <a:ext cx="2463800" cy="391795"/>
          </a:xfrm>
          <a:prstGeom prst="rect">
            <a:avLst/>
          </a:prstGeom>
        </p:spPr>
        <p:txBody>
          <a:bodyPr wrap="square" lIns="0" tIns="12700" rIns="0" bIns="0" rtlCol="0" vert="horz">
            <a:spAutoFit/>
          </a:bodyPr>
          <a:lstStyle/>
          <a:p>
            <a:pPr marL="12700">
              <a:lnSpc>
                <a:spcPct val="100000"/>
              </a:lnSpc>
              <a:spcBef>
                <a:spcPts val="100"/>
              </a:spcBef>
            </a:pPr>
            <a:r>
              <a:rPr dirty="0" sz="2400" spc="-20" b="1">
                <a:solidFill>
                  <a:srgbClr val="D50092"/>
                </a:solidFill>
                <a:latin typeface="微软雅黑"/>
                <a:cs typeface="微软雅黑"/>
              </a:rPr>
              <a:t>循环展开的好处：</a:t>
            </a:r>
            <a:endParaRPr sz="2400">
              <a:latin typeface="微软雅黑"/>
              <a:cs typeface="微软雅黑"/>
            </a:endParaRPr>
          </a:p>
        </p:txBody>
      </p:sp>
      <p:sp>
        <p:nvSpPr>
          <p:cNvPr id="18" name="object 18" descr=""/>
          <p:cNvSpPr txBox="1"/>
          <p:nvPr/>
        </p:nvSpPr>
        <p:spPr>
          <a:xfrm>
            <a:off x="7621905" y="4028947"/>
            <a:ext cx="4523105" cy="330835"/>
          </a:xfrm>
          <a:prstGeom prst="rect">
            <a:avLst/>
          </a:prstGeom>
        </p:spPr>
        <p:txBody>
          <a:bodyPr wrap="square" lIns="0" tIns="12700" rIns="0" bIns="0" rtlCol="0" vert="horz">
            <a:spAutoFit/>
          </a:bodyPr>
          <a:lstStyle/>
          <a:p>
            <a:pPr marL="445134" indent="-432434">
              <a:lnSpc>
                <a:spcPct val="100000"/>
              </a:lnSpc>
              <a:spcBef>
                <a:spcPts val="100"/>
              </a:spcBef>
              <a:buClr>
                <a:srgbClr val="0000CC"/>
              </a:buClr>
              <a:buSzPct val="120000"/>
              <a:buFont typeface="Wingdings"/>
              <a:buChar char=""/>
              <a:tabLst>
                <a:tab pos="445134" algn="l"/>
              </a:tabLst>
            </a:pPr>
            <a:r>
              <a:rPr dirty="0" sz="2000" spc="-20" b="1">
                <a:solidFill>
                  <a:srgbClr val="2C44A3"/>
                </a:solidFill>
                <a:latin typeface="微软雅黑"/>
                <a:cs typeface="微软雅黑"/>
              </a:rPr>
              <a:t>分支指令减少了，预测错误减少了；</a:t>
            </a:r>
            <a:endParaRPr sz="2000">
              <a:latin typeface="微软雅黑"/>
              <a:cs typeface="微软雅黑"/>
            </a:endParaRPr>
          </a:p>
        </p:txBody>
      </p:sp>
      <p:sp>
        <p:nvSpPr>
          <p:cNvPr id="19" name="object 19" descr=""/>
          <p:cNvSpPr txBox="1"/>
          <p:nvPr/>
        </p:nvSpPr>
        <p:spPr>
          <a:xfrm>
            <a:off x="7621905" y="4356963"/>
            <a:ext cx="4322445" cy="1854835"/>
          </a:xfrm>
          <a:prstGeom prst="rect">
            <a:avLst/>
          </a:prstGeom>
        </p:spPr>
        <p:txBody>
          <a:bodyPr wrap="square" lIns="0" tIns="165100" rIns="0" bIns="0" rtlCol="0" vert="horz">
            <a:spAutoFit/>
          </a:bodyPr>
          <a:lstStyle/>
          <a:p>
            <a:pPr marL="354965" indent="-342265">
              <a:lnSpc>
                <a:spcPct val="100000"/>
              </a:lnSpc>
              <a:spcBef>
                <a:spcPts val="1300"/>
              </a:spcBef>
              <a:buClr>
                <a:srgbClr val="0000CC"/>
              </a:buClr>
              <a:buFont typeface="Wingdings"/>
              <a:buChar char=""/>
              <a:tabLst>
                <a:tab pos="354965" algn="l"/>
              </a:tabLst>
            </a:pPr>
            <a:r>
              <a:rPr dirty="0" sz="2000" b="1">
                <a:solidFill>
                  <a:srgbClr val="2C44A3"/>
                </a:solidFill>
                <a:latin typeface="微软雅黑"/>
                <a:cs typeface="微软雅黑"/>
              </a:rPr>
              <a:t>指令条数变少了</a:t>
            </a:r>
            <a:r>
              <a:rPr dirty="0" sz="2000" spc="-10" b="1">
                <a:solidFill>
                  <a:srgbClr val="2C44A3"/>
                </a:solidFill>
                <a:latin typeface="微软雅黑"/>
                <a:cs typeface="微软雅黑"/>
              </a:rPr>
              <a:t>（</a:t>
            </a:r>
            <a:r>
              <a:rPr dirty="0" sz="2000" spc="-10" b="1">
                <a:solidFill>
                  <a:srgbClr val="2C44A3"/>
                </a:solidFill>
                <a:latin typeface="Tahoma"/>
                <a:cs typeface="Tahoma"/>
              </a:rPr>
              <a:t>20</a:t>
            </a:r>
            <a:r>
              <a:rPr dirty="0" sz="2000" b="1">
                <a:solidFill>
                  <a:srgbClr val="2C44A3"/>
                </a:solidFill>
                <a:latin typeface="微软雅黑"/>
                <a:cs typeface="微软雅黑"/>
              </a:rPr>
              <a:t>条</a:t>
            </a:r>
            <a:r>
              <a:rPr dirty="0" sz="2000" b="1">
                <a:solidFill>
                  <a:srgbClr val="2C44A3"/>
                </a:solidFill>
                <a:latin typeface="Tahoma"/>
                <a:cs typeface="Tahoma"/>
              </a:rPr>
              <a:t>-</a:t>
            </a:r>
            <a:r>
              <a:rPr dirty="0" sz="2000" spc="-10" b="1">
                <a:solidFill>
                  <a:srgbClr val="2C44A3"/>
                </a:solidFill>
                <a:latin typeface="Tahoma"/>
                <a:cs typeface="Tahoma"/>
              </a:rPr>
              <a:t>14</a:t>
            </a:r>
            <a:r>
              <a:rPr dirty="0" sz="2000" b="1">
                <a:solidFill>
                  <a:srgbClr val="2C44A3"/>
                </a:solidFill>
                <a:latin typeface="微软雅黑"/>
                <a:cs typeface="微软雅黑"/>
              </a:rPr>
              <a:t>条</a:t>
            </a:r>
            <a:r>
              <a:rPr dirty="0" sz="2000" spc="-50" b="1">
                <a:solidFill>
                  <a:srgbClr val="2C44A3"/>
                </a:solidFill>
                <a:latin typeface="微软雅黑"/>
                <a:cs typeface="微软雅黑"/>
              </a:rPr>
              <a:t>）</a:t>
            </a:r>
            <a:endParaRPr sz="2000">
              <a:latin typeface="微软雅黑"/>
              <a:cs typeface="微软雅黑"/>
            </a:endParaRPr>
          </a:p>
          <a:p>
            <a:pPr lvl="1" marL="551815" marR="5080" indent="-342900">
              <a:lnSpc>
                <a:spcPct val="150000"/>
              </a:lnSpc>
              <a:buClr>
                <a:srgbClr val="0000CC"/>
              </a:buClr>
              <a:buSzPct val="90000"/>
              <a:buFont typeface="Arial"/>
              <a:buChar char="•"/>
              <a:tabLst>
                <a:tab pos="551815" algn="l"/>
              </a:tabLst>
            </a:pPr>
            <a:r>
              <a:rPr dirty="0" sz="2000" b="1">
                <a:solidFill>
                  <a:srgbClr val="FF0000"/>
                </a:solidFill>
                <a:latin typeface="微软雅黑"/>
                <a:cs typeface="微软雅黑"/>
              </a:rPr>
              <a:t>原因</a:t>
            </a:r>
            <a:r>
              <a:rPr dirty="0" sz="2000" b="1">
                <a:solidFill>
                  <a:srgbClr val="2C44A3"/>
                </a:solidFill>
                <a:latin typeface="Tahoma"/>
                <a:cs typeface="Tahoma"/>
              </a:rPr>
              <a:t>:</a:t>
            </a:r>
            <a:r>
              <a:rPr dirty="0" sz="2000" b="1">
                <a:solidFill>
                  <a:srgbClr val="2C44A3"/>
                </a:solidFill>
                <a:latin typeface="微软雅黑"/>
                <a:cs typeface="微软雅黑"/>
              </a:rPr>
              <a:t>循环条件（</a:t>
            </a:r>
            <a:r>
              <a:rPr dirty="0" sz="2000" spc="65" b="1">
                <a:solidFill>
                  <a:srgbClr val="2C44A3"/>
                </a:solidFill>
                <a:latin typeface="微软雅黑"/>
                <a:cs typeface="微软雅黑"/>
              </a:rPr>
              <a:t> </a:t>
            </a:r>
            <a:r>
              <a:rPr dirty="0" sz="2000">
                <a:solidFill>
                  <a:srgbClr val="40458B"/>
                </a:solidFill>
                <a:latin typeface="黑体"/>
                <a:cs typeface="黑体"/>
              </a:rPr>
              <a:t>每次</a:t>
            </a:r>
            <a:r>
              <a:rPr dirty="0" sz="2000" spc="-25">
                <a:solidFill>
                  <a:srgbClr val="40458B"/>
                </a:solidFill>
                <a:latin typeface="Tahoma"/>
                <a:cs typeface="Tahoma"/>
              </a:rPr>
              <a:t>DADDIU</a:t>
            </a:r>
            <a:r>
              <a:rPr dirty="0" sz="2000" spc="-50">
                <a:solidFill>
                  <a:srgbClr val="40458B"/>
                </a:solidFill>
                <a:latin typeface="黑体"/>
                <a:cs typeface="黑体"/>
              </a:rPr>
              <a:t>和 </a:t>
            </a:r>
            <a:r>
              <a:rPr dirty="0" sz="2000">
                <a:solidFill>
                  <a:srgbClr val="40458B"/>
                </a:solidFill>
                <a:latin typeface="Tahoma"/>
                <a:cs typeface="Tahoma"/>
              </a:rPr>
              <a:t>BNE</a:t>
            </a:r>
            <a:r>
              <a:rPr dirty="0" sz="2000" spc="-30">
                <a:solidFill>
                  <a:srgbClr val="40458B"/>
                </a:solidFill>
                <a:latin typeface="Tahoma"/>
                <a:cs typeface="Tahoma"/>
              </a:rPr>
              <a:t> </a:t>
            </a:r>
            <a:r>
              <a:rPr dirty="0" sz="2000" b="1">
                <a:solidFill>
                  <a:srgbClr val="2C44A3"/>
                </a:solidFill>
                <a:latin typeface="微软雅黑"/>
                <a:cs typeface="微软雅黑"/>
              </a:rPr>
              <a:t>），现在展开</a:t>
            </a:r>
            <a:r>
              <a:rPr dirty="0" sz="2000" spc="-10" b="1">
                <a:solidFill>
                  <a:srgbClr val="2C44A3"/>
                </a:solidFill>
                <a:latin typeface="Tahoma"/>
                <a:cs typeface="Tahoma"/>
              </a:rPr>
              <a:t>4</a:t>
            </a:r>
            <a:r>
              <a:rPr dirty="0" sz="2000" spc="-10" b="1">
                <a:solidFill>
                  <a:srgbClr val="2C44A3"/>
                </a:solidFill>
                <a:latin typeface="微软雅黑"/>
                <a:cs typeface="微软雅黑"/>
              </a:rPr>
              <a:t>次，由原来的</a:t>
            </a:r>
            <a:r>
              <a:rPr dirty="0" sz="2000" spc="-50" b="1">
                <a:solidFill>
                  <a:srgbClr val="2C44A3"/>
                </a:solidFill>
                <a:latin typeface="微软雅黑"/>
                <a:cs typeface="微软雅黑"/>
              </a:rPr>
              <a:t> </a:t>
            </a:r>
            <a:r>
              <a:rPr dirty="0" sz="2000" spc="-10" b="1">
                <a:solidFill>
                  <a:srgbClr val="2C44A3"/>
                </a:solidFill>
                <a:latin typeface="Tahoma"/>
                <a:cs typeface="Tahoma"/>
              </a:rPr>
              <a:t>8</a:t>
            </a:r>
            <a:r>
              <a:rPr dirty="0" sz="2000" b="1">
                <a:solidFill>
                  <a:srgbClr val="2C44A3"/>
                </a:solidFill>
                <a:latin typeface="微软雅黑"/>
                <a:cs typeface="微软雅黑"/>
              </a:rPr>
              <a:t>条合并为现在的</a:t>
            </a:r>
            <a:r>
              <a:rPr dirty="0" sz="2000" spc="-10" b="1">
                <a:solidFill>
                  <a:srgbClr val="2C44A3"/>
                </a:solidFill>
                <a:latin typeface="Tahoma"/>
                <a:cs typeface="Tahoma"/>
              </a:rPr>
              <a:t>2</a:t>
            </a:r>
            <a:r>
              <a:rPr dirty="0" sz="2000" spc="-50" b="1">
                <a:solidFill>
                  <a:srgbClr val="2C44A3"/>
                </a:solidFill>
                <a:latin typeface="微软雅黑"/>
                <a:cs typeface="微软雅黑"/>
              </a:rPr>
              <a:t>条</a:t>
            </a:r>
            <a:endParaRPr sz="2000">
              <a:latin typeface="微软雅黑"/>
              <a:cs typeface="微软雅黑"/>
            </a:endParaRPr>
          </a:p>
        </p:txBody>
      </p:sp>
      <p:sp>
        <p:nvSpPr>
          <p:cNvPr id="20" name="object 20" descr=""/>
          <p:cNvSpPr txBox="1"/>
          <p:nvPr/>
        </p:nvSpPr>
        <p:spPr>
          <a:xfrm>
            <a:off x="3727196" y="6364020"/>
            <a:ext cx="7338695" cy="391160"/>
          </a:xfrm>
          <a:prstGeom prst="rect">
            <a:avLst/>
          </a:prstGeom>
        </p:spPr>
        <p:txBody>
          <a:bodyPr wrap="square" lIns="0" tIns="12700" rIns="0" bIns="0" rtlCol="0" vert="horz">
            <a:spAutoFit/>
          </a:bodyPr>
          <a:lstStyle/>
          <a:p>
            <a:pPr marL="12700">
              <a:lnSpc>
                <a:spcPct val="100000"/>
              </a:lnSpc>
              <a:spcBef>
                <a:spcPts val="100"/>
              </a:spcBef>
            </a:pPr>
            <a:r>
              <a:rPr dirty="0" sz="2400" spc="-20" b="1">
                <a:solidFill>
                  <a:srgbClr val="D50092"/>
                </a:solidFill>
                <a:latin typeface="宋体"/>
                <a:cs typeface="宋体"/>
              </a:rPr>
              <a:t>考虑：循环展开会带来哪些问题？其中联系</a:t>
            </a:r>
            <a:r>
              <a:rPr dirty="0" sz="2400" spc="-10" b="1">
                <a:solidFill>
                  <a:srgbClr val="D50092"/>
                </a:solidFill>
                <a:latin typeface="Tahoma"/>
                <a:cs typeface="Tahoma"/>
              </a:rPr>
              <a:t>cache</a:t>
            </a:r>
            <a:r>
              <a:rPr dirty="0" sz="2400" spc="-35" b="1">
                <a:solidFill>
                  <a:srgbClr val="D50092"/>
                </a:solidFill>
                <a:latin typeface="宋体"/>
                <a:cs typeface="宋体"/>
              </a:rPr>
              <a:t>映射</a:t>
            </a:r>
            <a:endParaRPr sz="2400">
              <a:latin typeface="宋体"/>
              <a:cs typeface="宋体"/>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22/89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875789" y="-36829"/>
            <a:ext cx="5309235" cy="513715"/>
          </a:xfrm>
          <a:prstGeom prst="rect"/>
        </p:spPr>
        <p:txBody>
          <a:bodyPr wrap="square" lIns="0" tIns="12700" rIns="0" bIns="0" rtlCol="0" vert="horz">
            <a:spAutoFit/>
          </a:bodyPr>
          <a:lstStyle/>
          <a:p>
            <a:pPr marL="12700">
              <a:lnSpc>
                <a:spcPct val="100000"/>
              </a:lnSpc>
              <a:spcBef>
                <a:spcPts val="100"/>
              </a:spcBef>
            </a:pPr>
            <a:r>
              <a:rPr dirty="0" u="none"/>
              <a:t>6.1</a:t>
            </a:r>
            <a:r>
              <a:rPr dirty="0" u="none" spc="-20"/>
              <a:t> 基本指令调度及循环展开</a:t>
            </a:r>
          </a:p>
        </p:txBody>
      </p:sp>
      <p:sp>
        <p:nvSpPr>
          <p:cNvPr id="10" name="object 10" descr=""/>
          <p:cNvSpPr txBox="1"/>
          <p:nvPr/>
        </p:nvSpPr>
        <p:spPr>
          <a:xfrm>
            <a:off x="702665" y="892555"/>
            <a:ext cx="11170920" cy="4927600"/>
          </a:xfrm>
          <a:prstGeom prst="rect">
            <a:avLst/>
          </a:prstGeom>
        </p:spPr>
        <p:txBody>
          <a:bodyPr wrap="square" lIns="0" tIns="158750" rIns="0" bIns="0" rtlCol="0" vert="horz">
            <a:spAutoFit/>
          </a:bodyPr>
          <a:lstStyle/>
          <a:p>
            <a:pPr marL="469265" indent="-456565">
              <a:lnSpc>
                <a:spcPct val="100000"/>
              </a:lnSpc>
              <a:spcBef>
                <a:spcPts val="1250"/>
              </a:spcBef>
              <a:buClr>
                <a:srgbClr val="40458B"/>
              </a:buClr>
              <a:buFont typeface="Tahoma"/>
              <a:buAutoNum type="arabicPeriod" startAt="2"/>
              <a:tabLst>
                <a:tab pos="469265" algn="l"/>
              </a:tabLst>
            </a:pPr>
            <a:r>
              <a:rPr dirty="0" sz="2400" spc="-5">
                <a:solidFill>
                  <a:srgbClr val="E14B04"/>
                </a:solidFill>
                <a:latin typeface="黑体"/>
                <a:cs typeface="黑体"/>
              </a:rPr>
              <a:t>循环展开和指令调度的注意事项</a:t>
            </a:r>
            <a:endParaRPr sz="2400">
              <a:latin typeface="黑体"/>
              <a:cs typeface="黑体"/>
            </a:endParaRPr>
          </a:p>
          <a:p>
            <a:pPr lvl="1" marL="1099185" indent="-457200">
              <a:lnSpc>
                <a:spcPct val="100000"/>
              </a:lnSpc>
              <a:spcBef>
                <a:spcPts val="1155"/>
              </a:spcBef>
              <a:buSzPct val="89583"/>
              <a:buFont typeface="Wingdings"/>
              <a:buChar char=""/>
              <a:tabLst>
                <a:tab pos="1099185" algn="l"/>
              </a:tabLst>
            </a:pPr>
            <a:r>
              <a:rPr dirty="0" sz="2400">
                <a:solidFill>
                  <a:srgbClr val="40458B"/>
                </a:solidFill>
                <a:latin typeface="黑体"/>
                <a:cs typeface="黑体"/>
              </a:rPr>
              <a:t>保证正确性（</a:t>
            </a:r>
            <a:r>
              <a:rPr dirty="0" sz="2400">
                <a:solidFill>
                  <a:srgbClr val="FF5CFF"/>
                </a:solidFill>
                <a:latin typeface="黑体"/>
                <a:cs typeface="黑体"/>
              </a:rPr>
              <a:t>尤其要注意循环控制和操作数偏移量的修改</a:t>
            </a:r>
            <a:r>
              <a:rPr dirty="0" sz="2400" spc="-50">
                <a:solidFill>
                  <a:srgbClr val="40458B"/>
                </a:solidFill>
                <a:latin typeface="黑体"/>
                <a:cs typeface="黑体"/>
              </a:rPr>
              <a:t>）</a:t>
            </a:r>
            <a:endParaRPr sz="2400">
              <a:latin typeface="黑体"/>
              <a:cs typeface="黑体"/>
            </a:endParaRPr>
          </a:p>
          <a:p>
            <a:pPr lvl="1" marL="1099185" indent="-457200">
              <a:lnSpc>
                <a:spcPct val="100000"/>
              </a:lnSpc>
              <a:spcBef>
                <a:spcPts val="1150"/>
              </a:spcBef>
              <a:buSzPct val="89583"/>
              <a:buFont typeface="Wingdings"/>
              <a:buChar char=""/>
              <a:tabLst>
                <a:tab pos="1099185" algn="l"/>
              </a:tabLst>
            </a:pPr>
            <a:r>
              <a:rPr dirty="0" sz="2400">
                <a:solidFill>
                  <a:srgbClr val="40458B"/>
                </a:solidFill>
                <a:latin typeface="黑体"/>
                <a:cs typeface="黑体"/>
              </a:rPr>
              <a:t>注意有效性（</a:t>
            </a:r>
            <a:r>
              <a:rPr dirty="0" sz="2400">
                <a:solidFill>
                  <a:srgbClr val="FF5CFF"/>
                </a:solidFill>
                <a:latin typeface="黑体"/>
                <a:cs typeface="黑体"/>
              </a:rPr>
              <a:t>循环展开的关键在于如何找到不同循环体之间的无关</a:t>
            </a:r>
            <a:r>
              <a:rPr dirty="0" sz="2400">
                <a:solidFill>
                  <a:srgbClr val="FF09FF"/>
                </a:solidFill>
                <a:latin typeface="黑体"/>
                <a:cs typeface="黑体"/>
              </a:rPr>
              <a:t>性</a:t>
            </a:r>
            <a:r>
              <a:rPr dirty="0" sz="2400" spc="-50">
                <a:solidFill>
                  <a:srgbClr val="40458B"/>
                </a:solidFill>
                <a:latin typeface="黑体"/>
                <a:cs typeface="黑体"/>
              </a:rPr>
              <a:t>）</a:t>
            </a:r>
            <a:endParaRPr sz="2400">
              <a:latin typeface="黑体"/>
              <a:cs typeface="黑体"/>
            </a:endParaRPr>
          </a:p>
          <a:p>
            <a:pPr lvl="1" marL="1099185" indent="-457200">
              <a:lnSpc>
                <a:spcPct val="100000"/>
              </a:lnSpc>
              <a:spcBef>
                <a:spcPts val="1155"/>
              </a:spcBef>
              <a:buSzPct val="89583"/>
              <a:buFont typeface="Wingdings"/>
              <a:buChar char=""/>
              <a:tabLst>
                <a:tab pos="1099185" algn="l"/>
              </a:tabLst>
            </a:pPr>
            <a:r>
              <a:rPr dirty="0" sz="2400">
                <a:solidFill>
                  <a:srgbClr val="40458B"/>
                </a:solidFill>
                <a:latin typeface="黑体"/>
                <a:cs typeface="黑体"/>
              </a:rPr>
              <a:t>使用不同的寄存器（</a:t>
            </a:r>
            <a:r>
              <a:rPr dirty="0" sz="2400">
                <a:solidFill>
                  <a:srgbClr val="FF5CFF"/>
                </a:solidFill>
                <a:latin typeface="黑体"/>
                <a:cs typeface="黑体"/>
              </a:rPr>
              <a:t>避免导致新的冲突</a:t>
            </a:r>
            <a:r>
              <a:rPr dirty="0" sz="2400" spc="-50">
                <a:solidFill>
                  <a:srgbClr val="40458B"/>
                </a:solidFill>
                <a:latin typeface="黑体"/>
                <a:cs typeface="黑体"/>
              </a:rPr>
              <a:t>）</a:t>
            </a:r>
            <a:endParaRPr sz="2400">
              <a:latin typeface="黑体"/>
              <a:cs typeface="黑体"/>
            </a:endParaRPr>
          </a:p>
          <a:p>
            <a:pPr lvl="1" marL="1099185" indent="-457200">
              <a:lnSpc>
                <a:spcPct val="100000"/>
              </a:lnSpc>
              <a:spcBef>
                <a:spcPts val="1150"/>
              </a:spcBef>
              <a:buSzPct val="89583"/>
              <a:buFont typeface="Wingdings"/>
              <a:buChar char=""/>
              <a:tabLst>
                <a:tab pos="1099185" algn="l"/>
              </a:tabLst>
            </a:pPr>
            <a:r>
              <a:rPr dirty="0" sz="2400" spc="-15">
                <a:solidFill>
                  <a:srgbClr val="40458B"/>
                </a:solidFill>
                <a:latin typeface="黑体"/>
                <a:cs typeface="黑体"/>
              </a:rPr>
              <a:t>删除多余的测试指令和分支指令，并对循环结束代码和新的循环体代码进行</a:t>
            </a:r>
            <a:endParaRPr sz="2400">
              <a:latin typeface="黑体"/>
              <a:cs typeface="黑体"/>
            </a:endParaRPr>
          </a:p>
          <a:p>
            <a:pPr marL="1099185">
              <a:lnSpc>
                <a:spcPct val="100000"/>
              </a:lnSpc>
              <a:spcBef>
                <a:spcPts val="580"/>
              </a:spcBef>
            </a:pPr>
            <a:r>
              <a:rPr dirty="0" sz="2400" spc="-10">
                <a:solidFill>
                  <a:srgbClr val="40458B"/>
                </a:solidFill>
                <a:latin typeface="黑体"/>
                <a:cs typeface="黑体"/>
              </a:rPr>
              <a:t>相应的修正。</a:t>
            </a:r>
            <a:endParaRPr sz="2400">
              <a:latin typeface="黑体"/>
              <a:cs typeface="黑体"/>
            </a:endParaRPr>
          </a:p>
          <a:p>
            <a:pPr lvl="1" marL="1099185" marR="160655" indent="-457834">
              <a:lnSpc>
                <a:spcPct val="120000"/>
              </a:lnSpc>
              <a:spcBef>
                <a:spcPts val="575"/>
              </a:spcBef>
              <a:buSzPct val="89583"/>
              <a:buFont typeface="Wingdings"/>
              <a:buChar char=""/>
              <a:tabLst>
                <a:tab pos="1099185" algn="l"/>
              </a:tabLst>
            </a:pPr>
            <a:r>
              <a:rPr dirty="0" sz="2400">
                <a:solidFill>
                  <a:srgbClr val="40458B"/>
                </a:solidFill>
                <a:latin typeface="黑体"/>
                <a:cs typeface="黑体"/>
              </a:rPr>
              <a:t>注意对存储器数据的相关性分析（访存指令</a:t>
            </a:r>
            <a:r>
              <a:rPr dirty="0" sz="2400" spc="-10">
                <a:solidFill>
                  <a:srgbClr val="40458B"/>
                </a:solidFill>
                <a:latin typeface="Tahoma"/>
                <a:cs typeface="Tahoma"/>
              </a:rPr>
              <a:t>LOAD</a:t>
            </a:r>
            <a:r>
              <a:rPr dirty="0" sz="2400">
                <a:solidFill>
                  <a:srgbClr val="40458B"/>
                </a:solidFill>
                <a:latin typeface="黑体"/>
                <a:cs typeface="黑体"/>
              </a:rPr>
              <a:t>与</a:t>
            </a:r>
            <a:r>
              <a:rPr dirty="0" sz="2400" spc="-30">
                <a:solidFill>
                  <a:srgbClr val="40458B"/>
                </a:solidFill>
                <a:latin typeface="Tahoma"/>
                <a:cs typeface="Tahoma"/>
              </a:rPr>
              <a:t>STORE</a:t>
            </a:r>
            <a:r>
              <a:rPr dirty="0" sz="2400" spc="-20">
                <a:solidFill>
                  <a:srgbClr val="40458B"/>
                </a:solidFill>
                <a:latin typeface="黑体"/>
                <a:cs typeface="黑体"/>
              </a:rPr>
              <a:t>，若在循环迭代</a:t>
            </a:r>
            <a:r>
              <a:rPr dirty="0" sz="2400" spc="-10">
                <a:solidFill>
                  <a:srgbClr val="40458B"/>
                </a:solidFill>
                <a:latin typeface="黑体"/>
                <a:cs typeface="黑体"/>
              </a:rPr>
              <a:t>中访存地址是不同的，即相互独立，可以互相对调</a:t>
            </a:r>
            <a:r>
              <a:rPr dirty="0" sz="2400" spc="-50">
                <a:solidFill>
                  <a:srgbClr val="40458B"/>
                </a:solidFill>
                <a:latin typeface="黑体"/>
                <a:cs typeface="黑体"/>
              </a:rPr>
              <a:t>）</a:t>
            </a:r>
            <a:endParaRPr sz="2400">
              <a:latin typeface="黑体"/>
              <a:cs typeface="黑体"/>
            </a:endParaRPr>
          </a:p>
          <a:p>
            <a:pPr lvl="1" marL="1099185" marR="5080" indent="-457834">
              <a:lnSpc>
                <a:spcPct val="120000"/>
              </a:lnSpc>
              <a:spcBef>
                <a:spcPts val="580"/>
              </a:spcBef>
              <a:buSzPct val="89583"/>
              <a:buFont typeface="Wingdings"/>
              <a:buChar char=""/>
              <a:tabLst>
                <a:tab pos="1099185" algn="l"/>
              </a:tabLst>
            </a:pPr>
            <a:r>
              <a:rPr dirty="0" sz="2400">
                <a:solidFill>
                  <a:srgbClr val="40458B"/>
                </a:solidFill>
                <a:latin typeface="黑体"/>
                <a:cs typeface="黑体"/>
              </a:rPr>
              <a:t>注意新的相关性（</a:t>
            </a:r>
            <a:r>
              <a:rPr dirty="0" sz="2400" spc="-5">
                <a:solidFill>
                  <a:srgbClr val="40458B"/>
                </a:solidFill>
                <a:latin typeface="黑体"/>
                <a:cs typeface="黑体"/>
              </a:rPr>
              <a:t>之前循环不同次的迭代展开后到了头一次循环体中，可能</a:t>
            </a:r>
            <a:r>
              <a:rPr dirty="0" sz="2400">
                <a:solidFill>
                  <a:srgbClr val="40458B"/>
                </a:solidFill>
                <a:latin typeface="黑体"/>
                <a:cs typeface="黑体"/>
              </a:rPr>
              <a:t>会带来新的相关性</a:t>
            </a:r>
            <a:r>
              <a:rPr dirty="0" sz="2400" spc="-50">
                <a:solidFill>
                  <a:srgbClr val="40458B"/>
                </a:solidFill>
                <a:latin typeface="黑体"/>
                <a:cs typeface="黑体"/>
              </a:rPr>
              <a:t>）</a:t>
            </a:r>
            <a:endParaRPr sz="2400">
              <a:latin typeface="黑体"/>
              <a:cs typeface="黑体"/>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23/89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grpSp>
        <p:nvGrpSpPr>
          <p:cNvPr id="8" name="object 8" descr=""/>
          <p:cNvGrpSpPr/>
          <p:nvPr/>
        </p:nvGrpSpPr>
        <p:grpSpPr>
          <a:xfrm>
            <a:off x="6350" y="3665600"/>
            <a:ext cx="12185650" cy="3194050"/>
            <a:chOff x="6350" y="3665600"/>
            <a:chExt cx="12185650" cy="3194050"/>
          </a:xfrm>
        </p:grpSpPr>
        <p:sp>
          <p:nvSpPr>
            <p:cNvPr id="9" name="object 9"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pic>
          <p:nvPicPr>
            <p:cNvPr id="10" name="object 10" descr=""/>
            <p:cNvPicPr/>
            <p:nvPr/>
          </p:nvPicPr>
          <p:blipFill>
            <a:blip r:embed="rId3" cstate="print"/>
            <a:stretch>
              <a:fillRect/>
            </a:stretch>
          </p:blipFill>
          <p:spPr>
            <a:xfrm>
              <a:off x="6340475" y="3665600"/>
              <a:ext cx="5464175" cy="3192398"/>
            </a:xfrm>
            <a:prstGeom prst="rect">
              <a:avLst/>
            </a:prstGeom>
          </p:spPr>
        </p:pic>
      </p:grpSp>
      <p:sp>
        <p:nvSpPr>
          <p:cNvPr id="11" name="object 11" descr=""/>
          <p:cNvSpPr txBox="1"/>
          <p:nvPr/>
        </p:nvSpPr>
        <p:spPr>
          <a:xfrm>
            <a:off x="481990" y="1039143"/>
            <a:ext cx="11107420" cy="5047615"/>
          </a:xfrm>
          <a:prstGeom prst="rect">
            <a:avLst/>
          </a:prstGeom>
        </p:spPr>
        <p:txBody>
          <a:bodyPr wrap="square" lIns="0" tIns="129540" rIns="0" bIns="0" rtlCol="0" vert="horz">
            <a:spAutoFit/>
          </a:bodyPr>
          <a:lstStyle/>
          <a:p>
            <a:pPr marL="13970">
              <a:lnSpc>
                <a:spcPct val="100000"/>
              </a:lnSpc>
              <a:spcBef>
                <a:spcPts val="1020"/>
              </a:spcBef>
            </a:pPr>
            <a:r>
              <a:rPr dirty="0" sz="2400" spc="-5">
                <a:solidFill>
                  <a:srgbClr val="E14B04"/>
                </a:solidFill>
                <a:latin typeface="黑体"/>
                <a:cs typeface="黑体"/>
              </a:rPr>
              <a:t>概述：</a:t>
            </a:r>
            <a:r>
              <a:rPr dirty="0" sz="2400" spc="-10">
                <a:solidFill>
                  <a:srgbClr val="6600FF"/>
                </a:solidFill>
                <a:latin typeface="Tahoma"/>
                <a:cs typeface="Tahoma"/>
              </a:rPr>
              <a:t>6.1</a:t>
            </a:r>
            <a:r>
              <a:rPr dirty="0" sz="2400" spc="-50">
                <a:solidFill>
                  <a:srgbClr val="6600FF"/>
                </a:solidFill>
                <a:latin typeface="黑体"/>
                <a:cs typeface="黑体"/>
              </a:rPr>
              <a:t>节 如果循环体为简单的顺序结构，则上述优化方法效果非常好</a:t>
            </a:r>
            <a:endParaRPr sz="2400">
              <a:latin typeface="黑体"/>
              <a:cs typeface="黑体"/>
            </a:endParaRPr>
          </a:p>
          <a:p>
            <a:pPr marL="436245" indent="-422275">
              <a:lnSpc>
                <a:spcPct val="100000"/>
              </a:lnSpc>
              <a:spcBef>
                <a:spcPts val="770"/>
              </a:spcBef>
              <a:buSzPct val="95000"/>
              <a:buFont typeface="Wingdings"/>
              <a:buChar char=""/>
              <a:tabLst>
                <a:tab pos="436245" algn="l"/>
              </a:tabLst>
            </a:pPr>
            <a:r>
              <a:rPr dirty="0" sz="2000" spc="-20">
                <a:solidFill>
                  <a:srgbClr val="40458B"/>
                </a:solidFill>
                <a:latin typeface="黑体"/>
                <a:cs typeface="黑体"/>
              </a:rPr>
              <a:t>原因在于多个循环体可以迭代合并，构成一个更大的基本块</a:t>
            </a:r>
            <a:endParaRPr sz="2000">
              <a:latin typeface="黑体"/>
              <a:cs typeface="黑体"/>
            </a:endParaRPr>
          </a:p>
          <a:p>
            <a:pPr marL="356235" indent="-342265">
              <a:lnSpc>
                <a:spcPct val="100000"/>
              </a:lnSpc>
              <a:spcBef>
                <a:spcPts val="720"/>
              </a:spcBef>
              <a:buSzPct val="95000"/>
              <a:buFont typeface="Wingdings"/>
              <a:buChar char=""/>
              <a:tabLst>
                <a:tab pos="356235" algn="l"/>
              </a:tabLst>
            </a:pPr>
            <a:r>
              <a:rPr dirty="0" sz="2000" spc="-20">
                <a:solidFill>
                  <a:srgbClr val="40458B"/>
                </a:solidFill>
                <a:latin typeface="黑体"/>
                <a:cs typeface="黑体"/>
              </a:rPr>
              <a:t>加大了调度的空间，减少了循环指令</a:t>
            </a:r>
            <a:endParaRPr sz="2000">
              <a:latin typeface="黑体"/>
              <a:cs typeface="黑体"/>
            </a:endParaRPr>
          </a:p>
          <a:p>
            <a:pPr>
              <a:lnSpc>
                <a:spcPct val="100000"/>
              </a:lnSpc>
              <a:spcBef>
                <a:spcPts val="1820"/>
              </a:spcBef>
              <a:buFont typeface="Wingdings"/>
              <a:buChar char=""/>
            </a:pPr>
            <a:endParaRPr sz="2000">
              <a:latin typeface="黑体"/>
              <a:cs typeface="黑体"/>
            </a:endParaRPr>
          </a:p>
          <a:p>
            <a:pPr marL="12700">
              <a:lnSpc>
                <a:spcPct val="100000"/>
              </a:lnSpc>
              <a:spcBef>
                <a:spcPts val="5"/>
              </a:spcBef>
            </a:pPr>
            <a:r>
              <a:rPr dirty="0" sz="3200">
                <a:solidFill>
                  <a:srgbClr val="FF0000"/>
                </a:solidFill>
                <a:latin typeface="黑体"/>
                <a:cs typeface="黑体"/>
              </a:rPr>
              <a:t>但</a:t>
            </a:r>
            <a:r>
              <a:rPr dirty="0" sz="2400">
                <a:solidFill>
                  <a:srgbClr val="E14B04"/>
                </a:solidFill>
                <a:latin typeface="黑体"/>
                <a:cs typeface="黑体"/>
              </a:rPr>
              <a:t>：</a:t>
            </a:r>
            <a:r>
              <a:rPr dirty="0" sz="2400" spc="-10">
                <a:solidFill>
                  <a:srgbClr val="6600FF"/>
                </a:solidFill>
                <a:latin typeface="黑体"/>
                <a:cs typeface="黑体"/>
              </a:rPr>
              <a:t>如果循环体为分支结构，或者是循环间调度，则上述调度优化方法则非常复杂</a:t>
            </a:r>
            <a:endParaRPr sz="2400">
              <a:latin typeface="黑体"/>
              <a:cs typeface="黑体"/>
            </a:endParaRPr>
          </a:p>
          <a:p>
            <a:pPr marL="434340" indent="-421640">
              <a:lnSpc>
                <a:spcPct val="100000"/>
              </a:lnSpc>
              <a:spcBef>
                <a:spcPts val="875"/>
              </a:spcBef>
              <a:buFont typeface="Wingdings"/>
              <a:buChar char=""/>
              <a:tabLst>
                <a:tab pos="434340" algn="l"/>
              </a:tabLst>
            </a:pPr>
            <a:r>
              <a:rPr dirty="0" sz="2000" spc="-20">
                <a:solidFill>
                  <a:srgbClr val="40458B"/>
                </a:solidFill>
                <a:latin typeface="黑体"/>
                <a:cs typeface="黑体"/>
              </a:rPr>
              <a:t>高效的优化需要在多个基本块之间移动指令</a:t>
            </a:r>
            <a:endParaRPr sz="2000">
              <a:latin typeface="黑体"/>
              <a:cs typeface="黑体"/>
            </a:endParaRPr>
          </a:p>
          <a:p>
            <a:pPr marL="354965" indent="-342265">
              <a:lnSpc>
                <a:spcPct val="100000"/>
              </a:lnSpc>
              <a:spcBef>
                <a:spcPts val="720"/>
              </a:spcBef>
              <a:buFont typeface="Wingdings"/>
              <a:buChar char=""/>
              <a:tabLst>
                <a:tab pos="354965" algn="l"/>
              </a:tabLst>
            </a:pPr>
            <a:r>
              <a:rPr dirty="0" sz="2000" spc="-25">
                <a:solidFill>
                  <a:srgbClr val="40458B"/>
                </a:solidFill>
                <a:latin typeface="黑体"/>
                <a:cs typeface="黑体"/>
              </a:rPr>
              <a:t>这种调度即“全局指令调度”</a:t>
            </a:r>
            <a:endParaRPr sz="2000">
              <a:latin typeface="黑体"/>
              <a:cs typeface="黑体"/>
            </a:endParaRPr>
          </a:p>
          <a:p>
            <a:pPr marL="12700">
              <a:lnSpc>
                <a:spcPct val="100000"/>
              </a:lnSpc>
              <a:spcBef>
                <a:spcPts val="994"/>
              </a:spcBef>
            </a:pPr>
            <a:r>
              <a:rPr dirty="0" sz="3200" spc="-25">
                <a:solidFill>
                  <a:srgbClr val="FF0000"/>
                </a:solidFill>
                <a:latin typeface="黑体"/>
                <a:cs typeface="黑体"/>
              </a:rPr>
              <a:t>且：</a:t>
            </a:r>
            <a:endParaRPr sz="3200">
              <a:latin typeface="黑体"/>
              <a:cs typeface="黑体"/>
            </a:endParaRPr>
          </a:p>
          <a:p>
            <a:pPr marL="354965" indent="-342265">
              <a:lnSpc>
                <a:spcPct val="100000"/>
              </a:lnSpc>
              <a:spcBef>
                <a:spcPts val="880"/>
              </a:spcBef>
              <a:buClr>
                <a:srgbClr val="40458B"/>
              </a:buClr>
              <a:buFont typeface="Wingdings"/>
              <a:buChar char=""/>
              <a:tabLst>
                <a:tab pos="354965" algn="l"/>
              </a:tabLst>
            </a:pPr>
            <a:r>
              <a:rPr dirty="0" sz="2000" spc="-20">
                <a:solidFill>
                  <a:srgbClr val="E14B04"/>
                </a:solidFill>
                <a:latin typeface="黑体"/>
                <a:cs typeface="黑体"/>
              </a:rPr>
              <a:t>优化范围仅限于单个基本块或循环体内。</a:t>
            </a:r>
            <a:endParaRPr sz="2000">
              <a:latin typeface="黑体"/>
              <a:cs typeface="黑体"/>
            </a:endParaRPr>
          </a:p>
          <a:p>
            <a:pPr marL="354965" indent="-342265">
              <a:lnSpc>
                <a:spcPct val="100000"/>
              </a:lnSpc>
              <a:spcBef>
                <a:spcPts val="720"/>
              </a:spcBef>
              <a:buClr>
                <a:srgbClr val="40458B"/>
              </a:buClr>
              <a:buFont typeface="Wingdings"/>
              <a:buChar char=""/>
              <a:tabLst>
                <a:tab pos="354965" algn="l"/>
              </a:tabLst>
            </a:pPr>
            <a:r>
              <a:rPr dirty="0" sz="2000" spc="-20">
                <a:solidFill>
                  <a:srgbClr val="E14B04"/>
                </a:solidFill>
                <a:latin typeface="黑体"/>
                <a:cs typeface="黑体"/>
              </a:rPr>
              <a:t>无法利用块之间的并行性</a:t>
            </a:r>
            <a:endParaRPr sz="2000">
              <a:latin typeface="黑体"/>
              <a:cs typeface="黑体"/>
            </a:endParaRPr>
          </a:p>
          <a:p>
            <a:pPr marL="4021454">
              <a:lnSpc>
                <a:spcPct val="100000"/>
              </a:lnSpc>
              <a:spcBef>
                <a:spcPts val="675"/>
              </a:spcBef>
            </a:pPr>
            <a:r>
              <a:rPr dirty="0" sz="2400" spc="-20">
                <a:solidFill>
                  <a:srgbClr val="40458B"/>
                </a:solidFill>
                <a:latin typeface="黑体"/>
                <a:cs typeface="黑体"/>
              </a:rPr>
              <a:t>循环间相关</a:t>
            </a:r>
            <a:endParaRPr sz="2400">
              <a:latin typeface="黑体"/>
              <a:cs typeface="黑体"/>
            </a:endParaRPr>
          </a:p>
        </p:txBody>
      </p:sp>
      <p:sp>
        <p:nvSpPr>
          <p:cNvPr id="12" name="object 12"/>
          <p:cNvSpPr txBox="1">
            <a:spLocks noGrp="1"/>
          </p:cNvSpPr>
          <p:nvPr>
            <p:ph type="title"/>
          </p:nvPr>
        </p:nvSpPr>
        <p:spPr>
          <a:xfrm>
            <a:off x="1564894" y="69342"/>
            <a:ext cx="5716270" cy="513715"/>
          </a:xfrm>
          <a:prstGeom prst="rect"/>
        </p:spPr>
        <p:txBody>
          <a:bodyPr wrap="square" lIns="0" tIns="12700" rIns="0" bIns="0" rtlCol="0" vert="horz">
            <a:spAutoFit/>
          </a:bodyPr>
          <a:lstStyle/>
          <a:p>
            <a:pPr marL="12700">
              <a:lnSpc>
                <a:spcPct val="100000"/>
              </a:lnSpc>
              <a:spcBef>
                <a:spcPts val="100"/>
              </a:spcBef>
            </a:pPr>
            <a:r>
              <a:rPr dirty="0" u="none">
                <a:solidFill>
                  <a:srgbClr val="2C44A3"/>
                </a:solidFill>
              </a:rPr>
              <a:t>6.2</a:t>
            </a:r>
            <a:r>
              <a:rPr dirty="0" u="none" spc="-20">
                <a:solidFill>
                  <a:srgbClr val="2C44A3"/>
                </a:solidFill>
              </a:rPr>
              <a:t> 跨越基本块的静态指令调度</a:t>
            </a:r>
          </a:p>
        </p:txBody>
      </p:sp>
      <p:sp>
        <p:nvSpPr>
          <p:cNvPr id="13" name="object 13" descr=""/>
          <p:cNvSpPr txBox="1"/>
          <p:nvPr/>
        </p:nvSpPr>
        <p:spPr>
          <a:xfrm>
            <a:off x="8552180" y="158242"/>
            <a:ext cx="2999105"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6.2.1</a:t>
            </a:r>
            <a:r>
              <a:rPr dirty="0" sz="2600" spc="-20">
                <a:solidFill>
                  <a:srgbClr val="0000CC"/>
                </a:solidFill>
                <a:latin typeface="黑体"/>
                <a:cs typeface="黑体"/>
              </a:rPr>
              <a:t> 全局指令调度</a:t>
            </a:r>
            <a:endParaRPr sz="2600">
              <a:latin typeface="黑体"/>
              <a:cs typeface="黑体"/>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24/89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342391" y="1300937"/>
            <a:ext cx="11475720" cy="4446905"/>
          </a:xfrm>
          <a:prstGeom prst="rect">
            <a:avLst/>
          </a:prstGeom>
        </p:spPr>
        <p:txBody>
          <a:bodyPr wrap="square" lIns="0" tIns="12065" rIns="0" bIns="0" rtlCol="0" vert="horz">
            <a:spAutoFit/>
          </a:bodyPr>
          <a:lstStyle/>
          <a:p>
            <a:pPr marL="12700">
              <a:lnSpc>
                <a:spcPct val="100000"/>
              </a:lnSpc>
              <a:spcBef>
                <a:spcPts val="95"/>
              </a:spcBef>
            </a:pPr>
            <a:r>
              <a:rPr dirty="0" sz="2800" spc="-30">
                <a:solidFill>
                  <a:srgbClr val="E14B04"/>
                </a:solidFill>
                <a:latin typeface="黑体"/>
                <a:cs typeface="黑体"/>
              </a:rPr>
              <a:t>概述：概念</a:t>
            </a:r>
            <a:r>
              <a:rPr dirty="0" sz="2800" spc="-10">
                <a:solidFill>
                  <a:srgbClr val="E14B04"/>
                </a:solidFill>
                <a:latin typeface="Tahoma"/>
                <a:cs typeface="Tahoma"/>
              </a:rPr>
              <a:t>,</a:t>
            </a:r>
            <a:r>
              <a:rPr dirty="0" sz="2800" spc="-40">
                <a:solidFill>
                  <a:srgbClr val="E14B04"/>
                </a:solidFill>
                <a:latin typeface="黑体"/>
                <a:cs typeface="黑体"/>
              </a:rPr>
              <a:t>目标，基本思想</a:t>
            </a:r>
            <a:endParaRPr sz="2800">
              <a:latin typeface="黑体"/>
              <a:cs typeface="黑体"/>
            </a:endParaRPr>
          </a:p>
          <a:p>
            <a:pPr marL="1099185" indent="-457200">
              <a:lnSpc>
                <a:spcPct val="100000"/>
              </a:lnSpc>
              <a:spcBef>
                <a:spcPts val="2120"/>
              </a:spcBef>
              <a:buClr>
                <a:srgbClr val="40458B"/>
              </a:buClr>
              <a:buSzPct val="89583"/>
              <a:buFont typeface="Wingdings"/>
              <a:buChar char=""/>
              <a:tabLst>
                <a:tab pos="1099185" algn="l"/>
              </a:tabLst>
            </a:pPr>
            <a:r>
              <a:rPr dirty="0" sz="2400" spc="-20">
                <a:solidFill>
                  <a:srgbClr val="0000CC"/>
                </a:solidFill>
                <a:latin typeface="黑体"/>
                <a:cs typeface="黑体"/>
              </a:rPr>
              <a:t>分支结构的循环体需要在多个基本块间移动指令，称为 “</a:t>
            </a:r>
            <a:r>
              <a:rPr dirty="0" sz="2400">
                <a:solidFill>
                  <a:srgbClr val="FF0000"/>
                </a:solidFill>
                <a:latin typeface="黑体"/>
                <a:cs typeface="黑体"/>
              </a:rPr>
              <a:t>全局指令调度</a:t>
            </a:r>
            <a:r>
              <a:rPr dirty="0" sz="2400" spc="-25">
                <a:solidFill>
                  <a:srgbClr val="0000CC"/>
                </a:solidFill>
                <a:latin typeface="黑体"/>
                <a:cs typeface="黑体"/>
              </a:rPr>
              <a:t>”。</a:t>
            </a:r>
            <a:endParaRPr sz="2400">
              <a:latin typeface="黑体"/>
              <a:cs typeface="黑体"/>
            </a:endParaRPr>
          </a:p>
          <a:p>
            <a:pPr>
              <a:lnSpc>
                <a:spcPct val="100000"/>
              </a:lnSpc>
              <a:spcBef>
                <a:spcPts val="2355"/>
              </a:spcBef>
              <a:buClr>
                <a:srgbClr val="40458B"/>
              </a:buClr>
              <a:buFont typeface="Wingdings"/>
              <a:buChar char=""/>
            </a:pPr>
            <a:endParaRPr sz="2400">
              <a:latin typeface="黑体"/>
              <a:cs typeface="黑体"/>
            </a:endParaRPr>
          </a:p>
          <a:p>
            <a:pPr marL="1099185" marR="5080" indent="-457200">
              <a:lnSpc>
                <a:spcPct val="150000"/>
              </a:lnSpc>
              <a:buClr>
                <a:srgbClr val="40458B"/>
              </a:buClr>
              <a:buSzPct val="89583"/>
              <a:buFont typeface="Wingdings"/>
              <a:buChar char=""/>
              <a:tabLst>
                <a:tab pos="1099185" algn="l"/>
              </a:tabLst>
            </a:pPr>
            <a:r>
              <a:rPr dirty="0" sz="2400">
                <a:solidFill>
                  <a:srgbClr val="D50092"/>
                </a:solidFill>
                <a:latin typeface="黑体"/>
                <a:cs typeface="黑体"/>
              </a:rPr>
              <a:t>目标：</a:t>
            </a:r>
            <a:r>
              <a:rPr dirty="0" sz="2400">
                <a:solidFill>
                  <a:srgbClr val="0000CC"/>
                </a:solidFill>
                <a:latin typeface="黑体"/>
                <a:cs typeface="黑体"/>
              </a:rPr>
              <a:t>在保持原有数据相关和控制相关不变的前提下（保证结果正确），</a:t>
            </a:r>
            <a:r>
              <a:rPr dirty="0" sz="2400" spc="-25">
                <a:solidFill>
                  <a:srgbClr val="0000CC"/>
                </a:solidFill>
                <a:latin typeface="黑体"/>
                <a:cs typeface="黑体"/>
              </a:rPr>
              <a:t>尽可</a:t>
            </a:r>
            <a:r>
              <a:rPr dirty="0" sz="2400" spc="-5">
                <a:solidFill>
                  <a:srgbClr val="0000CC"/>
                </a:solidFill>
                <a:latin typeface="黑体"/>
                <a:cs typeface="黑体"/>
              </a:rPr>
              <a:t>能地缩短包含分支结构的代码段的总执行时间。</a:t>
            </a:r>
            <a:endParaRPr sz="2400">
              <a:latin typeface="黑体"/>
              <a:cs typeface="黑体"/>
            </a:endParaRPr>
          </a:p>
          <a:p>
            <a:pPr lvl="1" marL="1505585" indent="-227965">
              <a:lnSpc>
                <a:spcPct val="100000"/>
              </a:lnSpc>
              <a:spcBef>
                <a:spcPts val="1780"/>
              </a:spcBef>
              <a:buClr>
                <a:srgbClr val="4668F5"/>
              </a:buClr>
              <a:buSzPct val="60000"/>
              <a:buFont typeface="Wingdings"/>
              <a:buChar char=""/>
              <a:tabLst>
                <a:tab pos="1505585" algn="l"/>
              </a:tabLst>
            </a:pPr>
            <a:r>
              <a:rPr dirty="0" sz="2000" spc="-25" b="1">
                <a:solidFill>
                  <a:srgbClr val="FF5CFF"/>
                </a:solidFill>
                <a:latin typeface="宋体"/>
                <a:cs typeface="宋体"/>
              </a:rPr>
              <a:t>单流出处理器——减少指令数，缩短执行时间</a:t>
            </a:r>
            <a:endParaRPr sz="2000">
              <a:latin typeface="宋体"/>
              <a:cs typeface="宋体"/>
            </a:endParaRPr>
          </a:p>
          <a:p>
            <a:pPr lvl="1" marL="1505585" indent="-227965">
              <a:lnSpc>
                <a:spcPct val="100000"/>
              </a:lnSpc>
              <a:spcBef>
                <a:spcPts val="1685"/>
              </a:spcBef>
              <a:buClr>
                <a:srgbClr val="4668F5"/>
              </a:buClr>
              <a:buSzPct val="60000"/>
              <a:buFont typeface="Wingdings"/>
              <a:buChar char=""/>
              <a:tabLst>
                <a:tab pos="1505585" algn="l"/>
              </a:tabLst>
            </a:pPr>
            <a:r>
              <a:rPr dirty="0" sz="2000" spc="-25" b="1">
                <a:solidFill>
                  <a:srgbClr val="FF5CFF"/>
                </a:solidFill>
                <a:latin typeface="宋体"/>
                <a:cs typeface="宋体"/>
              </a:rPr>
              <a:t>多流出处理器——缩短关键路径长度，才能缩短执行时间</a:t>
            </a:r>
            <a:endParaRPr sz="2000">
              <a:latin typeface="宋体"/>
              <a:cs typeface="宋体"/>
            </a:endParaRPr>
          </a:p>
          <a:p>
            <a:pPr lvl="1" marL="1505585" indent="-227965">
              <a:lnSpc>
                <a:spcPct val="100000"/>
              </a:lnSpc>
              <a:spcBef>
                <a:spcPts val="1675"/>
              </a:spcBef>
              <a:buClr>
                <a:srgbClr val="4668F5"/>
              </a:buClr>
              <a:buSzPct val="60000"/>
              <a:buFont typeface="Wingdings"/>
              <a:buChar char=""/>
              <a:tabLst>
                <a:tab pos="1505585" algn="l"/>
              </a:tabLst>
            </a:pPr>
            <a:r>
              <a:rPr dirty="0" sz="2000" spc="-10" b="1">
                <a:solidFill>
                  <a:srgbClr val="FF0000"/>
                </a:solidFill>
                <a:latin typeface="宋体"/>
                <a:cs typeface="宋体"/>
              </a:rPr>
              <a:t>关键路径</a:t>
            </a:r>
            <a:r>
              <a:rPr dirty="0" sz="2000" b="1">
                <a:solidFill>
                  <a:srgbClr val="FF0000"/>
                </a:solidFill>
                <a:latin typeface="宋体"/>
                <a:cs typeface="宋体"/>
              </a:rPr>
              <a:t>（</a:t>
            </a:r>
            <a:r>
              <a:rPr dirty="0" sz="2000" b="1">
                <a:solidFill>
                  <a:srgbClr val="FF0000"/>
                </a:solidFill>
                <a:latin typeface="黑体"/>
                <a:cs typeface="黑体"/>
              </a:rPr>
              <a:t>critical</a:t>
            </a:r>
            <a:r>
              <a:rPr dirty="0" sz="2000" spc="-75" b="1">
                <a:solidFill>
                  <a:srgbClr val="FF0000"/>
                </a:solidFill>
                <a:latin typeface="黑体"/>
                <a:cs typeface="黑体"/>
              </a:rPr>
              <a:t> </a:t>
            </a:r>
            <a:r>
              <a:rPr dirty="0" sz="2000" spc="-10" b="1">
                <a:solidFill>
                  <a:srgbClr val="FF0000"/>
                </a:solidFill>
                <a:latin typeface="黑体"/>
                <a:cs typeface="黑体"/>
              </a:rPr>
              <a:t>path</a:t>
            </a:r>
            <a:r>
              <a:rPr dirty="0" sz="2000" spc="-10" b="1">
                <a:solidFill>
                  <a:srgbClr val="FF0000"/>
                </a:solidFill>
                <a:latin typeface="宋体"/>
                <a:cs typeface="宋体"/>
              </a:rPr>
              <a:t>）</a:t>
            </a:r>
            <a:r>
              <a:rPr dirty="0" sz="2000" spc="-25" b="1">
                <a:solidFill>
                  <a:srgbClr val="FF5CFF"/>
                </a:solidFill>
                <a:latin typeface="宋体"/>
                <a:cs typeface="宋体"/>
              </a:rPr>
              <a:t>：根据指令间的相关关系构成的数据流图中延迟最长的路径</a:t>
            </a:r>
            <a:endParaRPr sz="2000">
              <a:latin typeface="宋体"/>
              <a:cs typeface="宋体"/>
            </a:endParaRPr>
          </a:p>
        </p:txBody>
      </p:sp>
      <p:sp>
        <p:nvSpPr>
          <p:cNvPr id="10" name="object 10"/>
          <p:cNvSpPr txBox="1">
            <a:spLocks noGrp="1"/>
          </p:cNvSpPr>
          <p:nvPr>
            <p:ph type="title"/>
          </p:nvPr>
        </p:nvSpPr>
        <p:spPr>
          <a:xfrm>
            <a:off x="1564894" y="69342"/>
            <a:ext cx="5716270" cy="513715"/>
          </a:xfrm>
          <a:prstGeom prst="rect"/>
        </p:spPr>
        <p:txBody>
          <a:bodyPr wrap="square" lIns="0" tIns="12700" rIns="0" bIns="0" rtlCol="0" vert="horz">
            <a:spAutoFit/>
          </a:bodyPr>
          <a:lstStyle/>
          <a:p>
            <a:pPr marL="12700">
              <a:lnSpc>
                <a:spcPct val="100000"/>
              </a:lnSpc>
              <a:spcBef>
                <a:spcPts val="100"/>
              </a:spcBef>
            </a:pPr>
            <a:r>
              <a:rPr dirty="0" u="none">
                <a:solidFill>
                  <a:srgbClr val="2C44A3"/>
                </a:solidFill>
              </a:rPr>
              <a:t>6.2</a:t>
            </a:r>
            <a:r>
              <a:rPr dirty="0" u="none" spc="-20">
                <a:solidFill>
                  <a:srgbClr val="2C44A3"/>
                </a:solidFill>
              </a:rPr>
              <a:t> 跨越基本块的静态指令调度</a:t>
            </a:r>
          </a:p>
        </p:txBody>
      </p:sp>
      <p:sp>
        <p:nvSpPr>
          <p:cNvPr id="11" name="object 11" descr=""/>
          <p:cNvSpPr txBox="1"/>
          <p:nvPr/>
        </p:nvSpPr>
        <p:spPr>
          <a:xfrm>
            <a:off x="7975854" y="113792"/>
            <a:ext cx="2999105"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6.2.1</a:t>
            </a:r>
            <a:r>
              <a:rPr dirty="0" sz="2600" spc="-20">
                <a:solidFill>
                  <a:srgbClr val="0000CC"/>
                </a:solidFill>
                <a:latin typeface="黑体"/>
                <a:cs typeface="黑体"/>
              </a:rPr>
              <a:t> 全局指令调度</a:t>
            </a:r>
            <a:endParaRPr sz="2600">
              <a:latin typeface="黑体"/>
              <a:cs typeface="黑体"/>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25/89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78739" y="662178"/>
            <a:ext cx="4713605" cy="1076960"/>
          </a:xfrm>
          <a:prstGeom prst="rect">
            <a:avLst/>
          </a:prstGeom>
        </p:spPr>
        <p:txBody>
          <a:bodyPr wrap="square" lIns="0" tIns="12700" rIns="0" bIns="0" rtlCol="0" vert="horz">
            <a:spAutoFit/>
          </a:bodyPr>
          <a:lstStyle/>
          <a:p>
            <a:pPr marL="12700">
              <a:lnSpc>
                <a:spcPct val="100000"/>
              </a:lnSpc>
              <a:spcBef>
                <a:spcPts val="100"/>
              </a:spcBef>
            </a:pPr>
            <a:r>
              <a:rPr dirty="0" sz="3000">
                <a:solidFill>
                  <a:srgbClr val="E14B04"/>
                </a:solidFill>
                <a:latin typeface="黑体"/>
                <a:cs typeface="黑体"/>
              </a:rPr>
              <a:t>概述：概念</a:t>
            </a:r>
            <a:r>
              <a:rPr dirty="0" sz="3000" spc="-10">
                <a:solidFill>
                  <a:srgbClr val="E14B04"/>
                </a:solidFill>
                <a:latin typeface="Tahoma"/>
                <a:cs typeface="Tahoma"/>
              </a:rPr>
              <a:t>,</a:t>
            </a:r>
            <a:r>
              <a:rPr dirty="0" sz="3000" spc="-10">
                <a:solidFill>
                  <a:srgbClr val="E14B04"/>
                </a:solidFill>
                <a:latin typeface="黑体"/>
                <a:cs typeface="黑体"/>
              </a:rPr>
              <a:t>目标，基本思想</a:t>
            </a:r>
            <a:endParaRPr sz="3000">
              <a:latin typeface="黑体"/>
              <a:cs typeface="黑体"/>
            </a:endParaRPr>
          </a:p>
          <a:p>
            <a:pPr marL="1099185" indent="-457200">
              <a:lnSpc>
                <a:spcPct val="100000"/>
              </a:lnSpc>
              <a:spcBef>
                <a:spcPts val="1800"/>
              </a:spcBef>
              <a:buClr>
                <a:srgbClr val="40458B"/>
              </a:buClr>
              <a:buSzPct val="89583"/>
              <a:buFont typeface="Wingdings"/>
              <a:buChar char=""/>
              <a:tabLst>
                <a:tab pos="1099185" algn="l"/>
              </a:tabLst>
            </a:pPr>
            <a:r>
              <a:rPr dirty="0" sz="2400" spc="-15">
                <a:solidFill>
                  <a:srgbClr val="FF0000"/>
                </a:solidFill>
                <a:latin typeface="黑体"/>
                <a:cs typeface="黑体"/>
              </a:rPr>
              <a:t>循环展开技术</a:t>
            </a:r>
            <a:endParaRPr sz="2400">
              <a:latin typeface="黑体"/>
              <a:cs typeface="黑体"/>
            </a:endParaRPr>
          </a:p>
        </p:txBody>
      </p:sp>
      <p:sp>
        <p:nvSpPr>
          <p:cNvPr id="10" name="object 10" descr=""/>
          <p:cNvSpPr txBox="1"/>
          <p:nvPr/>
        </p:nvSpPr>
        <p:spPr>
          <a:xfrm>
            <a:off x="1282953" y="1956307"/>
            <a:ext cx="10539095" cy="2430145"/>
          </a:xfrm>
          <a:prstGeom prst="rect">
            <a:avLst/>
          </a:prstGeom>
        </p:spPr>
        <p:txBody>
          <a:bodyPr wrap="square" lIns="0" tIns="12065" rIns="0" bIns="0" rtlCol="0" vert="horz">
            <a:spAutoFit/>
          </a:bodyPr>
          <a:lstStyle/>
          <a:p>
            <a:pPr marL="469265" indent="-456565">
              <a:lnSpc>
                <a:spcPct val="100000"/>
              </a:lnSpc>
              <a:spcBef>
                <a:spcPts val="95"/>
              </a:spcBef>
              <a:buClr>
                <a:srgbClr val="4668F5"/>
              </a:buClr>
              <a:buSzPct val="59090"/>
              <a:buFont typeface="Wingdings"/>
              <a:buChar char=""/>
              <a:tabLst>
                <a:tab pos="469265" algn="l"/>
              </a:tabLst>
            </a:pPr>
            <a:r>
              <a:rPr dirty="0" sz="2200" spc="-25" b="1">
                <a:solidFill>
                  <a:srgbClr val="FF5CFF"/>
                </a:solidFill>
                <a:latin typeface="黑体"/>
                <a:cs typeface="黑体"/>
              </a:rPr>
              <a:t>可以减少构成循环控制分支指令引起的流水线“空转”，</a:t>
            </a:r>
            <a:endParaRPr sz="2200">
              <a:latin typeface="黑体"/>
              <a:cs typeface="黑体"/>
            </a:endParaRPr>
          </a:p>
          <a:p>
            <a:pPr marL="469265" indent="-456565">
              <a:lnSpc>
                <a:spcPct val="100000"/>
              </a:lnSpc>
              <a:spcBef>
                <a:spcPts val="1850"/>
              </a:spcBef>
              <a:buClr>
                <a:srgbClr val="4668F5"/>
              </a:buClr>
              <a:buSzPct val="59090"/>
              <a:buFont typeface="Wingdings"/>
              <a:buChar char=""/>
              <a:tabLst>
                <a:tab pos="469265" algn="l"/>
              </a:tabLst>
            </a:pPr>
            <a:r>
              <a:rPr dirty="0" sz="2200" spc="-30" b="1">
                <a:solidFill>
                  <a:srgbClr val="FF5CFF"/>
                </a:solidFill>
                <a:latin typeface="黑体"/>
                <a:cs typeface="黑体"/>
              </a:rPr>
              <a:t>但可能无法消除循环体内的分支指令引起的流水线“空转”</a:t>
            </a:r>
            <a:endParaRPr sz="2200">
              <a:latin typeface="黑体"/>
              <a:cs typeface="黑体"/>
            </a:endParaRPr>
          </a:p>
          <a:p>
            <a:pPr lvl="1" marL="794385" indent="-457200">
              <a:lnSpc>
                <a:spcPct val="100000"/>
              </a:lnSpc>
              <a:spcBef>
                <a:spcPts val="1720"/>
              </a:spcBef>
              <a:buClr>
                <a:srgbClr val="FF09FF"/>
              </a:buClr>
              <a:buSzPct val="65000"/>
              <a:buFont typeface="Wingdings"/>
              <a:buChar char=""/>
              <a:tabLst>
                <a:tab pos="794385" algn="l"/>
              </a:tabLst>
            </a:pPr>
            <a:r>
              <a:rPr dirty="0" sz="2000" spc="-15" b="1">
                <a:solidFill>
                  <a:srgbClr val="006FC0"/>
                </a:solidFill>
                <a:latin typeface="宋体"/>
                <a:cs typeface="宋体"/>
              </a:rPr>
              <a:t>（</a:t>
            </a:r>
            <a:r>
              <a:rPr dirty="0" sz="2000" spc="-20" b="1">
                <a:solidFill>
                  <a:srgbClr val="006FC0"/>
                </a:solidFill>
                <a:latin typeface="宋体"/>
                <a:cs typeface="宋体"/>
              </a:rPr>
              <a:t>例如循环体内还有分支判断，则可能意味着</a:t>
            </a:r>
            <a:r>
              <a:rPr dirty="0" sz="2000" spc="-15" b="1">
                <a:solidFill>
                  <a:srgbClr val="006FC0"/>
                </a:solidFill>
                <a:latin typeface="Tahoma"/>
                <a:cs typeface="Tahoma"/>
              </a:rPr>
              <a:t>—</a:t>
            </a:r>
            <a:r>
              <a:rPr dirty="0" sz="2000" spc="-10" b="1">
                <a:solidFill>
                  <a:srgbClr val="006FC0"/>
                </a:solidFill>
                <a:latin typeface="Tahoma"/>
                <a:cs typeface="Tahoma"/>
              </a:rPr>
              <a:t>1</a:t>
            </a:r>
            <a:r>
              <a:rPr dirty="0" sz="2000" spc="-20" b="1">
                <a:solidFill>
                  <a:srgbClr val="006FC0"/>
                </a:solidFill>
                <a:latin typeface="宋体"/>
                <a:cs typeface="宋体"/>
              </a:rPr>
              <a:t>、有分支判断就会有预测错误（</a:t>
            </a:r>
            <a:r>
              <a:rPr dirty="0" sz="2000" spc="-35" b="1">
                <a:solidFill>
                  <a:srgbClr val="006FC0"/>
                </a:solidFill>
                <a:latin typeface="宋体"/>
                <a:cs typeface="宋体"/>
              </a:rPr>
              <a:t>流水</a:t>
            </a:r>
            <a:endParaRPr sz="2000">
              <a:latin typeface="宋体"/>
              <a:cs typeface="宋体"/>
            </a:endParaRPr>
          </a:p>
          <a:p>
            <a:pPr marL="794385">
              <a:lnSpc>
                <a:spcPct val="100000"/>
              </a:lnSpc>
              <a:spcBef>
                <a:spcPts val="1205"/>
              </a:spcBef>
            </a:pPr>
            <a:r>
              <a:rPr dirty="0" sz="2000" spc="-10" b="1">
                <a:solidFill>
                  <a:srgbClr val="006FC0"/>
                </a:solidFill>
                <a:latin typeface="宋体"/>
                <a:cs typeface="宋体"/>
              </a:rPr>
              <a:t>线清空）；</a:t>
            </a:r>
            <a:r>
              <a:rPr dirty="0" sz="2000" spc="-10" b="1">
                <a:solidFill>
                  <a:srgbClr val="006FC0"/>
                </a:solidFill>
                <a:latin typeface="Tahoma"/>
                <a:cs typeface="Tahoma"/>
              </a:rPr>
              <a:t>2</a:t>
            </a:r>
            <a:r>
              <a:rPr dirty="0" sz="2000" spc="-10" b="1">
                <a:solidFill>
                  <a:srgbClr val="006FC0"/>
                </a:solidFill>
                <a:latin typeface="宋体"/>
                <a:cs typeface="宋体"/>
              </a:rPr>
              <a:t>、存在控制依赖</a:t>
            </a:r>
            <a:r>
              <a:rPr dirty="0" sz="2000" spc="-20" b="1">
                <a:solidFill>
                  <a:srgbClr val="006FC0"/>
                </a:solidFill>
                <a:latin typeface="宋体"/>
                <a:cs typeface="宋体"/>
              </a:rPr>
              <a:t>（即控制条件还依赖于其他的结果</a:t>
            </a:r>
            <a:r>
              <a:rPr dirty="0" sz="2000" spc="-25" b="1">
                <a:solidFill>
                  <a:srgbClr val="006FC0"/>
                </a:solidFill>
                <a:latin typeface="宋体"/>
                <a:cs typeface="宋体"/>
              </a:rPr>
              <a:t>））</a:t>
            </a:r>
            <a:endParaRPr sz="2000">
              <a:latin typeface="宋体"/>
              <a:cs typeface="宋体"/>
            </a:endParaRPr>
          </a:p>
          <a:p>
            <a:pPr lvl="1" marL="794385" indent="-457200">
              <a:lnSpc>
                <a:spcPct val="100000"/>
              </a:lnSpc>
              <a:spcBef>
                <a:spcPts val="1680"/>
              </a:spcBef>
              <a:buClr>
                <a:srgbClr val="FF09FF"/>
              </a:buClr>
              <a:buSzPct val="65000"/>
              <a:buFont typeface="Wingdings"/>
              <a:buChar char=""/>
              <a:tabLst>
                <a:tab pos="794385" algn="l"/>
              </a:tabLst>
            </a:pPr>
            <a:r>
              <a:rPr dirty="0" sz="2000" spc="-20" b="1">
                <a:solidFill>
                  <a:srgbClr val="006FC0"/>
                </a:solidFill>
                <a:latin typeface="宋体"/>
                <a:cs typeface="宋体"/>
              </a:rPr>
              <a:t>总之循环体内的分支引起的空转基本没有消除</a:t>
            </a:r>
            <a:r>
              <a:rPr dirty="0" sz="2000" spc="-10" b="1">
                <a:solidFill>
                  <a:srgbClr val="006FC0"/>
                </a:solidFill>
                <a:latin typeface="宋体"/>
                <a:cs typeface="宋体"/>
              </a:rPr>
              <a:t>（</a:t>
            </a:r>
            <a:r>
              <a:rPr dirty="0" sz="2000" spc="-20" b="1">
                <a:solidFill>
                  <a:srgbClr val="006FC0"/>
                </a:solidFill>
                <a:latin typeface="宋体"/>
                <a:cs typeface="宋体"/>
              </a:rPr>
              <a:t>即在条件没有计算完毕，</a:t>
            </a:r>
            <a:r>
              <a:rPr dirty="0" sz="2000" spc="-10" b="1">
                <a:solidFill>
                  <a:srgbClr val="006FC0"/>
                </a:solidFill>
                <a:latin typeface="Tahoma"/>
                <a:cs typeface="Tahoma"/>
              </a:rPr>
              <a:t>CPU</a:t>
            </a:r>
            <a:r>
              <a:rPr dirty="0" sz="2000" spc="-20" b="1">
                <a:solidFill>
                  <a:srgbClr val="006FC0"/>
                </a:solidFill>
                <a:latin typeface="宋体"/>
                <a:cs typeface="宋体"/>
              </a:rPr>
              <a:t>不知道到</a:t>
            </a:r>
            <a:endParaRPr sz="2000">
              <a:latin typeface="宋体"/>
              <a:cs typeface="宋体"/>
            </a:endParaRPr>
          </a:p>
        </p:txBody>
      </p:sp>
      <p:sp>
        <p:nvSpPr>
          <p:cNvPr id="11" name="object 11" descr=""/>
          <p:cNvSpPr txBox="1"/>
          <p:nvPr/>
        </p:nvSpPr>
        <p:spPr>
          <a:xfrm>
            <a:off x="2064766" y="4512690"/>
            <a:ext cx="2075180" cy="330835"/>
          </a:xfrm>
          <a:prstGeom prst="rect">
            <a:avLst/>
          </a:prstGeom>
        </p:spPr>
        <p:txBody>
          <a:bodyPr wrap="square" lIns="0" tIns="12700" rIns="0" bIns="0" rtlCol="0" vert="horz">
            <a:spAutoFit/>
          </a:bodyPr>
          <a:lstStyle/>
          <a:p>
            <a:pPr marL="12700">
              <a:lnSpc>
                <a:spcPct val="100000"/>
              </a:lnSpc>
              <a:spcBef>
                <a:spcPts val="100"/>
              </a:spcBef>
            </a:pPr>
            <a:r>
              <a:rPr dirty="0" sz="2000" spc="-10" b="1">
                <a:solidFill>
                  <a:srgbClr val="006FC0"/>
                </a:solidFill>
                <a:latin typeface="宋体"/>
                <a:cs typeface="宋体"/>
              </a:rPr>
              <a:t>底执行哪个分支</a:t>
            </a:r>
            <a:r>
              <a:rPr dirty="0" sz="2000" spc="-50" b="1">
                <a:solidFill>
                  <a:srgbClr val="006FC0"/>
                </a:solidFill>
                <a:latin typeface="宋体"/>
                <a:cs typeface="宋体"/>
              </a:rPr>
              <a:t>）</a:t>
            </a:r>
            <a:endParaRPr sz="2000">
              <a:latin typeface="宋体"/>
              <a:cs typeface="宋体"/>
            </a:endParaRPr>
          </a:p>
        </p:txBody>
      </p:sp>
      <p:sp>
        <p:nvSpPr>
          <p:cNvPr id="12" name="object 12" descr=""/>
          <p:cNvSpPr txBox="1"/>
          <p:nvPr/>
        </p:nvSpPr>
        <p:spPr>
          <a:xfrm>
            <a:off x="4741290" y="4389856"/>
            <a:ext cx="2519045" cy="2069464"/>
          </a:xfrm>
          <a:prstGeom prst="rect">
            <a:avLst/>
          </a:prstGeom>
        </p:spPr>
        <p:txBody>
          <a:bodyPr wrap="square" lIns="0" tIns="135890" rIns="0" bIns="0" rtlCol="0" vert="horz">
            <a:spAutoFit/>
          </a:bodyPr>
          <a:lstStyle/>
          <a:p>
            <a:pPr marL="201295">
              <a:lnSpc>
                <a:spcPct val="100000"/>
              </a:lnSpc>
              <a:spcBef>
                <a:spcPts val="1070"/>
              </a:spcBef>
            </a:pPr>
            <a:r>
              <a:rPr dirty="0" sz="2000" b="1">
                <a:solidFill>
                  <a:srgbClr val="FF0000"/>
                </a:solidFill>
                <a:latin typeface="Tahoma"/>
                <a:cs typeface="Tahoma"/>
              </a:rPr>
              <a:t>for</a:t>
            </a:r>
            <a:r>
              <a:rPr dirty="0" sz="2000" b="1">
                <a:solidFill>
                  <a:srgbClr val="006FC0"/>
                </a:solidFill>
                <a:latin typeface="宋体"/>
                <a:cs typeface="宋体"/>
              </a:rPr>
              <a:t>（</a:t>
            </a:r>
            <a:r>
              <a:rPr dirty="0" sz="2000" spc="5" b="1">
                <a:solidFill>
                  <a:srgbClr val="006FC0"/>
                </a:solidFill>
                <a:latin typeface="宋体"/>
                <a:cs typeface="宋体"/>
              </a:rPr>
              <a:t> 。。。。。</a:t>
            </a:r>
            <a:r>
              <a:rPr dirty="0" sz="2000" spc="-50" b="1">
                <a:solidFill>
                  <a:srgbClr val="006FC0"/>
                </a:solidFill>
                <a:latin typeface="宋体"/>
                <a:cs typeface="宋体"/>
              </a:rPr>
              <a:t>）</a:t>
            </a:r>
            <a:endParaRPr sz="2000">
              <a:latin typeface="宋体"/>
              <a:cs typeface="宋体"/>
            </a:endParaRPr>
          </a:p>
          <a:p>
            <a:pPr marL="12700">
              <a:lnSpc>
                <a:spcPct val="100000"/>
              </a:lnSpc>
              <a:spcBef>
                <a:spcPts val="969"/>
              </a:spcBef>
              <a:tabLst>
                <a:tab pos="320040" algn="l"/>
              </a:tabLst>
            </a:pPr>
            <a:r>
              <a:rPr dirty="0" sz="2000" spc="-50" b="1">
                <a:solidFill>
                  <a:srgbClr val="006FC0"/>
                </a:solidFill>
                <a:latin typeface="Tahoma"/>
                <a:cs typeface="Tahoma"/>
              </a:rPr>
              <a:t>{</a:t>
            </a:r>
            <a:r>
              <a:rPr dirty="0" sz="2000" b="1">
                <a:solidFill>
                  <a:srgbClr val="006FC0"/>
                </a:solidFill>
                <a:latin typeface="Tahoma"/>
                <a:cs typeface="Tahoma"/>
              </a:rPr>
              <a:t>	</a:t>
            </a:r>
            <a:r>
              <a:rPr dirty="0" sz="2000" spc="-25" b="1">
                <a:solidFill>
                  <a:srgbClr val="006FC0"/>
                </a:solidFill>
                <a:latin typeface="Tahoma"/>
                <a:cs typeface="Tahoma"/>
              </a:rPr>
              <a:t>………</a:t>
            </a:r>
            <a:endParaRPr sz="2000">
              <a:latin typeface="Tahoma"/>
              <a:cs typeface="Tahoma"/>
            </a:endParaRPr>
          </a:p>
          <a:p>
            <a:pPr marL="535305">
              <a:lnSpc>
                <a:spcPct val="100000"/>
              </a:lnSpc>
              <a:spcBef>
                <a:spcPts val="480"/>
              </a:spcBef>
            </a:pPr>
            <a:r>
              <a:rPr dirty="0" sz="2000" b="1">
                <a:solidFill>
                  <a:srgbClr val="FF0000"/>
                </a:solidFill>
                <a:latin typeface="Tahoma"/>
                <a:cs typeface="Tahoma"/>
              </a:rPr>
              <a:t>if</a:t>
            </a:r>
            <a:r>
              <a:rPr dirty="0" sz="2000" spc="-25" b="1">
                <a:solidFill>
                  <a:srgbClr val="FF0000"/>
                </a:solidFill>
                <a:latin typeface="Tahoma"/>
                <a:cs typeface="Tahoma"/>
              </a:rPr>
              <a:t> </a:t>
            </a:r>
            <a:r>
              <a:rPr dirty="0" sz="2000" b="1">
                <a:solidFill>
                  <a:srgbClr val="FF0000"/>
                </a:solidFill>
                <a:latin typeface="Tahoma"/>
                <a:cs typeface="Tahoma"/>
              </a:rPr>
              <a:t>(</a:t>
            </a:r>
            <a:r>
              <a:rPr dirty="0" sz="2000" spc="-5" b="1">
                <a:solidFill>
                  <a:srgbClr val="FF0000"/>
                </a:solidFill>
                <a:latin typeface="Tahoma"/>
                <a:cs typeface="Tahoma"/>
              </a:rPr>
              <a:t> </a:t>
            </a:r>
            <a:r>
              <a:rPr dirty="0" sz="2000" spc="-20" b="1">
                <a:solidFill>
                  <a:srgbClr val="FF0000"/>
                </a:solidFill>
                <a:latin typeface="Tahoma"/>
                <a:cs typeface="Tahoma"/>
              </a:rPr>
              <a:t>a&gt;b)</a:t>
            </a:r>
            <a:endParaRPr sz="2000">
              <a:latin typeface="Tahoma"/>
              <a:cs typeface="Tahoma"/>
            </a:endParaRPr>
          </a:p>
          <a:p>
            <a:pPr marL="386080">
              <a:lnSpc>
                <a:spcPct val="100000"/>
              </a:lnSpc>
              <a:spcBef>
                <a:spcPts val="480"/>
              </a:spcBef>
            </a:pPr>
            <a:r>
              <a:rPr dirty="0" sz="2000" spc="-10" b="1">
                <a:solidFill>
                  <a:srgbClr val="006FC0"/>
                </a:solidFill>
                <a:latin typeface="Tahoma"/>
                <a:cs typeface="Tahoma"/>
              </a:rPr>
              <a:t>………..</a:t>
            </a:r>
            <a:endParaRPr sz="2000">
              <a:latin typeface="Tahoma"/>
              <a:cs typeface="Tahoma"/>
            </a:endParaRPr>
          </a:p>
          <a:p>
            <a:pPr marL="236220">
              <a:lnSpc>
                <a:spcPct val="100000"/>
              </a:lnSpc>
              <a:spcBef>
                <a:spcPts val="1190"/>
              </a:spcBef>
            </a:pPr>
            <a:r>
              <a:rPr dirty="0" sz="2000" spc="-50" b="1">
                <a:solidFill>
                  <a:srgbClr val="006FC0"/>
                </a:solidFill>
                <a:latin typeface="Tahoma"/>
                <a:cs typeface="Tahoma"/>
              </a:rPr>
              <a:t>}</a:t>
            </a:r>
            <a:endParaRPr sz="2000">
              <a:latin typeface="Tahoma"/>
              <a:cs typeface="Tahoma"/>
            </a:endParaRPr>
          </a:p>
        </p:txBody>
      </p:sp>
      <p:sp>
        <p:nvSpPr>
          <p:cNvPr id="13" name="object 13"/>
          <p:cNvSpPr txBox="1">
            <a:spLocks noGrp="1"/>
          </p:cNvSpPr>
          <p:nvPr>
            <p:ph type="title"/>
          </p:nvPr>
        </p:nvSpPr>
        <p:spPr>
          <a:xfrm>
            <a:off x="1564894" y="69342"/>
            <a:ext cx="5716270" cy="513715"/>
          </a:xfrm>
          <a:prstGeom prst="rect"/>
        </p:spPr>
        <p:txBody>
          <a:bodyPr wrap="square" lIns="0" tIns="12700" rIns="0" bIns="0" rtlCol="0" vert="horz">
            <a:spAutoFit/>
          </a:bodyPr>
          <a:lstStyle/>
          <a:p>
            <a:pPr marL="12700">
              <a:lnSpc>
                <a:spcPct val="100000"/>
              </a:lnSpc>
              <a:spcBef>
                <a:spcPts val="100"/>
              </a:spcBef>
            </a:pPr>
            <a:r>
              <a:rPr dirty="0" u="none">
                <a:solidFill>
                  <a:srgbClr val="2C44A3"/>
                </a:solidFill>
              </a:rPr>
              <a:t>6.2</a:t>
            </a:r>
            <a:r>
              <a:rPr dirty="0" u="none" spc="-20">
                <a:solidFill>
                  <a:srgbClr val="2C44A3"/>
                </a:solidFill>
              </a:rPr>
              <a:t> 跨越基本块的静态指令调度</a:t>
            </a:r>
          </a:p>
        </p:txBody>
      </p:sp>
      <p:sp>
        <p:nvSpPr>
          <p:cNvPr id="14" name="object 14" descr=""/>
          <p:cNvSpPr txBox="1"/>
          <p:nvPr/>
        </p:nvSpPr>
        <p:spPr>
          <a:xfrm>
            <a:off x="7975854" y="113792"/>
            <a:ext cx="2999105"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6.2.1</a:t>
            </a:r>
            <a:r>
              <a:rPr dirty="0" sz="2600" spc="-20">
                <a:solidFill>
                  <a:srgbClr val="0000CC"/>
                </a:solidFill>
                <a:latin typeface="黑体"/>
                <a:cs typeface="黑体"/>
              </a:rPr>
              <a:t> 全局指令调度</a:t>
            </a:r>
            <a:endParaRPr sz="2600">
              <a:latin typeface="黑体"/>
              <a:cs typeface="黑体"/>
            </a:endParaRPr>
          </a:p>
        </p:txBody>
      </p:sp>
      <p:grpSp>
        <p:nvGrpSpPr>
          <p:cNvPr id="15" name="object 15" descr=""/>
          <p:cNvGrpSpPr/>
          <p:nvPr/>
        </p:nvGrpSpPr>
        <p:grpSpPr>
          <a:xfrm>
            <a:off x="3354387" y="1472501"/>
            <a:ext cx="5050155" cy="935990"/>
            <a:chOff x="3354387" y="1472501"/>
            <a:chExt cx="5050155" cy="935990"/>
          </a:xfrm>
        </p:grpSpPr>
        <p:sp>
          <p:nvSpPr>
            <p:cNvPr id="16" name="object 16" descr=""/>
            <p:cNvSpPr/>
            <p:nvPr/>
          </p:nvSpPr>
          <p:spPr>
            <a:xfrm>
              <a:off x="3359150" y="1900237"/>
              <a:ext cx="5040630" cy="503555"/>
            </a:xfrm>
            <a:custGeom>
              <a:avLst/>
              <a:gdLst/>
              <a:ahLst/>
              <a:cxnLst/>
              <a:rect l="l" t="t" r="r" b="b"/>
              <a:pathLst>
                <a:path w="5040630" h="503555">
                  <a:moveTo>
                    <a:pt x="0" y="503237"/>
                  </a:moveTo>
                  <a:lnTo>
                    <a:pt x="5040376" y="503237"/>
                  </a:lnTo>
                  <a:lnTo>
                    <a:pt x="5040376" y="0"/>
                  </a:lnTo>
                  <a:lnTo>
                    <a:pt x="0" y="0"/>
                  </a:lnTo>
                  <a:lnTo>
                    <a:pt x="0" y="503237"/>
                  </a:lnTo>
                  <a:close/>
                </a:path>
              </a:pathLst>
            </a:custGeom>
            <a:ln w="9525">
              <a:solidFill>
                <a:srgbClr val="FF0000"/>
              </a:solidFill>
            </a:ln>
          </p:spPr>
          <p:txBody>
            <a:bodyPr wrap="square" lIns="0" tIns="0" rIns="0" bIns="0" rtlCol="0"/>
            <a:lstStyle/>
            <a:p/>
          </p:txBody>
        </p:sp>
        <p:sp>
          <p:nvSpPr>
            <p:cNvPr id="17" name="object 17" descr=""/>
            <p:cNvSpPr/>
            <p:nvPr/>
          </p:nvSpPr>
          <p:spPr>
            <a:xfrm>
              <a:off x="7201153" y="1477263"/>
              <a:ext cx="713105" cy="409575"/>
            </a:xfrm>
            <a:custGeom>
              <a:avLst/>
              <a:gdLst/>
              <a:ahLst/>
              <a:cxnLst/>
              <a:rect l="l" t="t" r="r" b="b"/>
              <a:pathLst>
                <a:path w="713104" h="409575">
                  <a:moveTo>
                    <a:pt x="712977" y="0"/>
                  </a:moveTo>
                  <a:lnTo>
                    <a:pt x="0" y="409321"/>
                  </a:lnTo>
                </a:path>
              </a:pathLst>
            </a:custGeom>
            <a:ln w="9524">
              <a:solidFill>
                <a:srgbClr val="40458B"/>
              </a:solidFill>
            </a:ln>
          </p:spPr>
          <p:txBody>
            <a:bodyPr wrap="square" lIns="0" tIns="0" rIns="0" bIns="0" rtlCol="0"/>
            <a:lstStyle/>
            <a:p/>
          </p:txBody>
        </p:sp>
      </p:grpSp>
      <p:sp>
        <p:nvSpPr>
          <p:cNvPr id="18" name="object 18" descr=""/>
          <p:cNvSpPr txBox="1"/>
          <p:nvPr/>
        </p:nvSpPr>
        <p:spPr>
          <a:xfrm>
            <a:off x="8112125" y="1395412"/>
            <a:ext cx="2376805" cy="436880"/>
          </a:xfrm>
          <a:prstGeom prst="rect">
            <a:avLst/>
          </a:prstGeom>
          <a:solidFill>
            <a:srgbClr val="EBD782"/>
          </a:solidFill>
          <a:ln w="9525">
            <a:solidFill>
              <a:srgbClr val="40458B"/>
            </a:solidFill>
          </a:ln>
        </p:spPr>
        <p:txBody>
          <a:bodyPr wrap="square" lIns="0" tIns="45720" rIns="0" bIns="0" rtlCol="0" vert="horz">
            <a:spAutoFit/>
          </a:bodyPr>
          <a:lstStyle/>
          <a:p>
            <a:pPr marL="92075">
              <a:lnSpc>
                <a:spcPct val="100000"/>
              </a:lnSpc>
              <a:spcBef>
                <a:spcPts val="360"/>
              </a:spcBef>
            </a:pPr>
            <a:r>
              <a:rPr dirty="0" sz="2400" spc="-20">
                <a:solidFill>
                  <a:srgbClr val="40458B"/>
                </a:solidFill>
                <a:latin typeface="黑体"/>
                <a:cs typeface="黑体"/>
              </a:rPr>
              <a:t>主要解决的问题</a:t>
            </a:r>
            <a:endParaRPr sz="2400">
              <a:latin typeface="黑体"/>
              <a:cs typeface="黑体"/>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26/89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78739" y="662178"/>
            <a:ext cx="11781155" cy="2773045"/>
          </a:xfrm>
          <a:prstGeom prst="rect">
            <a:avLst/>
          </a:prstGeom>
        </p:spPr>
        <p:txBody>
          <a:bodyPr wrap="square" lIns="0" tIns="12700" rIns="0" bIns="0" rtlCol="0" vert="horz">
            <a:spAutoFit/>
          </a:bodyPr>
          <a:lstStyle/>
          <a:p>
            <a:pPr marL="12700">
              <a:lnSpc>
                <a:spcPct val="100000"/>
              </a:lnSpc>
              <a:spcBef>
                <a:spcPts val="100"/>
              </a:spcBef>
            </a:pPr>
            <a:r>
              <a:rPr dirty="0" sz="3000">
                <a:solidFill>
                  <a:srgbClr val="E14B04"/>
                </a:solidFill>
                <a:latin typeface="黑体"/>
                <a:cs typeface="黑体"/>
              </a:rPr>
              <a:t>概述：概念</a:t>
            </a:r>
            <a:r>
              <a:rPr dirty="0" sz="3000" spc="-10">
                <a:solidFill>
                  <a:srgbClr val="E14B04"/>
                </a:solidFill>
                <a:latin typeface="Tahoma"/>
                <a:cs typeface="Tahoma"/>
              </a:rPr>
              <a:t>,</a:t>
            </a:r>
            <a:r>
              <a:rPr dirty="0" sz="3000" spc="-10">
                <a:solidFill>
                  <a:srgbClr val="E14B04"/>
                </a:solidFill>
                <a:latin typeface="黑体"/>
                <a:cs typeface="黑体"/>
              </a:rPr>
              <a:t>目标，基本思想</a:t>
            </a:r>
            <a:endParaRPr sz="3000">
              <a:latin typeface="黑体"/>
              <a:cs typeface="黑体"/>
            </a:endParaRPr>
          </a:p>
          <a:p>
            <a:pPr marL="1099185" marR="5080" indent="-457834">
              <a:lnSpc>
                <a:spcPct val="150100"/>
              </a:lnSpc>
              <a:spcBef>
                <a:spcPts val="355"/>
              </a:spcBef>
              <a:buClr>
                <a:srgbClr val="40458B"/>
              </a:buClr>
              <a:buSzPct val="89583"/>
              <a:buFont typeface="Wingdings"/>
              <a:buChar char=""/>
              <a:tabLst>
                <a:tab pos="1099185" algn="l"/>
              </a:tabLst>
            </a:pPr>
            <a:r>
              <a:rPr dirty="0" sz="2400" spc="-5">
                <a:solidFill>
                  <a:srgbClr val="D50092"/>
                </a:solidFill>
                <a:latin typeface="黑体"/>
                <a:cs typeface="黑体"/>
              </a:rPr>
              <a:t>全局指令调度基本思想：</a:t>
            </a:r>
            <a:r>
              <a:rPr dirty="0" sz="2400" spc="-5">
                <a:solidFill>
                  <a:srgbClr val="0000CC"/>
                </a:solidFill>
                <a:latin typeface="黑体"/>
                <a:cs typeface="黑体"/>
              </a:rPr>
              <a:t>在循环体内的多个基本块间移动指令，扩大那些执行频</a:t>
            </a:r>
            <a:r>
              <a:rPr dirty="0" sz="2400">
                <a:solidFill>
                  <a:srgbClr val="0000CC"/>
                </a:solidFill>
                <a:latin typeface="黑体"/>
                <a:cs typeface="黑体"/>
              </a:rPr>
              <a:t>率较高的基本块的体积（放到延迟槽中）</a:t>
            </a:r>
            <a:r>
              <a:rPr dirty="0" sz="2400" spc="-5">
                <a:solidFill>
                  <a:srgbClr val="0000CC"/>
                </a:solidFill>
                <a:latin typeface="黑体"/>
                <a:cs typeface="黑体"/>
              </a:rPr>
              <a:t>。优化执行效率高的基本块。</a:t>
            </a:r>
            <a:endParaRPr sz="2400">
              <a:latin typeface="黑体"/>
              <a:cs typeface="黑体"/>
            </a:endParaRPr>
          </a:p>
          <a:p>
            <a:pPr lvl="1" marL="1673860" indent="-457200">
              <a:lnSpc>
                <a:spcPct val="100000"/>
              </a:lnSpc>
              <a:spcBef>
                <a:spcPts val="1905"/>
              </a:spcBef>
              <a:buClr>
                <a:srgbClr val="4668F5"/>
              </a:buClr>
              <a:buSzPct val="59090"/>
              <a:buFont typeface="Wingdings"/>
              <a:buChar char=""/>
              <a:tabLst>
                <a:tab pos="1673860" algn="l"/>
              </a:tabLst>
            </a:pPr>
            <a:r>
              <a:rPr dirty="0" sz="2200" spc="-35">
                <a:solidFill>
                  <a:srgbClr val="FF5CFF"/>
                </a:solidFill>
                <a:latin typeface="黑体"/>
                <a:cs typeface="黑体"/>
              </a:rPr>
              <a:t>关键在于如何准确估算不同基本块的执行频率</a:t>
            </a:r>
            <a:endParaRPr sz="2200">
              <a:latin typeface="黑体"/>
              <a:cs typeface="黑体"/>
            </a:endParaRPr>
          </a:p>
          <a:p>
            <a:pPr lvl="1" marL="1673860" indent="-457200">
              <a:lnSpc>
                <a:spcPct val="100000"/>
              </a:lnSpc>
              <a:spcBef>
                <a:spcPts val="1850"/>
              </a:spcBef>
              <a:buClr>
                <a:srgbClr val="4668F5"/>
              </a:buClr>
              <a:buSzPct val="59090"/>
              <a:buFont typeface="Wingdings"/>
              <a:buChar char=""/>
              <a:tabLst>
                <a:tab pos="1673860" algn="l"/>
              </a:tabLst>
            </a:pPr>
            <a:r>
              <a:rPr dirty="0" sz="2200" spc="-35">
                <a:solidFill>
                  <a:srgbClr val="FF5CFF"/>
                </a:solidFill>
                <a:latin typeface="黑体"/>
                <a:cs typeface="黑体"/>
              </a:rPr>
              <a:t>适用于成功率或失败率基本块或基本块间的路径。</a:t>
            </a:r>
            <a:endParaRPr sz="2200">
              <a:latin typeface="黑体"/>
              <a:cs typeface="黑体"/>
            </a:endParaRPr>
          </a:p>
        </p:txBody>
      </p:sp>
      <p:sp>
        <p:nvSpPr>
          <p:cNvPr id="10" name="object 10"/>
          <p:cNvSpPr txBox="1">
            <a:spLocks noGrp="1"/>
          </p:cNvSpPr>
          <p:nvPr>
            <p:ph type="title"/>
          </p:nvPr>
        </p:nvSpPr>
        <p:spPr>
          <a:xfrm>
            <a:off x="1564894" y="69342"/>
            <a:ext cx="5716270" cy="513715"/>
          </a:xfrm>
          <a:prstGeom prst="rect"/>
        </p:spPr>
        <p:txBody>
          <a:bodyPr wrap="square" lIns="0" tIns="12700" rIns="0" bIns="0" rtlCol="0" vert="horz">
            <a:spAutoFit/>
          </a:bodyPr>
          <a:lstStyle/>
          <a:p>
            <a:pPr marL="12700">
              <a:lnSpc>
                <a:spcPct val="100000"/>
              </a:lnSpc>
              <a:spcBef>
                <a:spcPts val="100"/>
              </a:spcBef>
            </a:pPr>
            <a:r>
              <a:rPr dirty="0" u="none">
                <a:solidFill>
                  <a:srgbClr val="2C44A3"/>
                </a:solidFill>
              </a:rPr>
              <a:t>6.2</a:t>
            </a:r>
            <a:r>
              <a:rPr dirty="0" u="none" spc="-20">
                <a:solidFill>
                  <a:srgbClr val="2C44A3"/>
                </a:solidFill>
              </a:rPr>
              <a:t> 跨越基本块的静态指令调度</a:t>
            </a:r>
          </a:p>
        </p:txBody>
      </p:sp>
      <p:sp>
        <p:nvSpPr>
          <p:cNvPr id="11" name="object 11" descr=""/>
          <p:cNvSpPr txBox="1"/>
          <p:nvPr/>
        </p:nvSpPr>
        <p:spPr>
          <a:xfrm>
            <a:off x="7975854" y="113792"/>
            <a:ext cx="2999105"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6.2.1</a:t>
            </a:r>
            <a:r>
              <a:rPr dirty="0" sz="2600" spc="-20">
                <a:solidFill>
                  <a:srgbClr val="0000CC"/>
                </a:solidFill>
                <a:latin typeface="黑体"/>
                <a:cs typeface="黑体"/>
              </a:rPr>
              <a:t> 全局指令调度</a:t>
            </a:r>
            <a:endParaRPr sz="2600">
              <a:latin typeface="黑体"/>
              <a:cs typeface="黑体"/>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27/89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745995" y="-28829"/>
            <a:ext cx="5716270" cy="513715"/>
          </a:xfrm>
          <a:prstGeom prst="rect"/>
        </p:spPr>
        <p:txBody>
          <a:bodyPr wrap="square" lIns="0" tIns="12700" rIns="0" bIns="0" rtlCol="0" vert="horz">
            <a:spAutoFit/>
          </a:bodyPr>
          <a:lstStyle/>
          <a:p>
            <a:pPr marL="12700">
              <a:lnSpc>
                <a:spcPct val="100000"/>
              </a:lnSpc>
              <a:spcBef>
                <a:spcPts val="100"/>
              </a:spcBef>
            </a:pPr>
            <a:r>
              <a:rPr dirty="0" u="none"/>
              <a:t>6.2</a:t>
            </a:r>
            <a:r>
              <a:rPr dirty="0" u="none" spc="-20"/>
              <a:t> 跨越基本块的静态指令调度</a:t>
            </a:r>
          </a:p>
        </p:txBody>
      </p:sp>
      <p:sp>
        <p:nvSpPr>
          <p:cNvPr id="10" name="object 10" descr=""/>
          <p:cNvSpPr txBox="1"/>
          <p:nvPr/>
        </p:nvSpPr>
        <p:spPr>
          <a:xfrm>
            <a:off x="102514" y="557275"/>
            <a:ext cx="1447165" cy="452120"/>
          </a:xfrm>
          <a:prstGeom prst="rect">
            <a:avLst/>
          </a:prstGeom>
        </p:spPr>
        <p:txBody>
          <a:bodyPr wrap="square" lIns="0" tIns="12065" rIns="0" bIns="0" rtlCol="0" vert="horz">
            <a:spAutoFit/>
          </a:bodyPr>
          <a:lstStyle/>
          <a:p>
            <a:pPr marL="12700">
              <a:lnSpc>
                <a:spcPct val="100000"/>
              </a:lnSpc>
              <a:spcBef>
                <a:spcPts val="95"/>
              </a:spcBef>
            </a:pPr>
            <a:r>
              <a:rPr dirty="0" sz="2800" spc="-40">
                <a:solidFill>
                  <a:srgbClr val="E14B04"/>
                </a:solidFill>
                <a:latin typeface="黑体"/>
                <a:cs typeface="黑体"/>
              </a:rPr>
              <a:t>实例分析</a:t>
            </a:r>
            <a:endParaRPr sz="2800">
              <a:latin typeface="黑体"/>
              <a:cs typeface="黑体"/>
            </a:endParaRPr>
          </a:p>
        </p:txBody>
      </p:sp>
      <p:sp>
        <p:nvSpPr>
          <p:cNvPr id="11" name="object 11" descr=""/>
          <p:cNvSpPr txBox="1"/>
          <p:nvPr/>
        </p:nvSpPr>
        <p:spPr>
          <a:xfrm>
            <a:off x="731926" y="1058097"/>
            <a:ext cx="6383020" cy="1762760"/>
          </a:xfrm>
          <a:prstGeom prst="rect">
            <a:avLst/>
          </a:prstGeom>
        </p:spPr>
        <p:txBody>
          <a:bodyPr wrap="square" lIns="0" tIns="12065" rIns="0" bIns="0" rtlCol="0" vert="horz">
            <a:spAutoFit/>
          </a:bodyPr>
          <a:lstStyle/>
          <a:p>
            <a:pPr algn="just" marL="467359" marR="62865" indent="-455295">
              <a:lnSpc>
                <a:spcPct val="110000"/>
              </a:lnSpc>
              <a:spcBef>
                <a:spcPts val="95"/>
              </a:spcBef>
              <a:buClr>
                <a:srgbClr val="40458B"/>
              </a:buClr>
              <a:buSzPct val="120000"/>
              <a:buFont typeface="Wingdings"/>
              <a:buChar char=""/>
              <a:tabLst>
                <a:tab pos="468630" algn="l"/>
              </a:tabLst>
            </a:pPr>
            <a:r>
              <a:rPr dirty="0" sz="2000" spc="-20">
                <a:solidFill>
                  <a:srgbClr val="0000CC"/>
                </a:solidFill>
                <a:latin typeface="黑体"/>
                <a:cs typeface="黑体"/>
              </a:rPr>
              <a:t>三个基本块：分支指令所在的基本块、转移成功的基</a:t>
            </a:r>
            <a:r>
              <a:rPr dirty="0" sz="2000" spc="-20">
                <a:solidFill>
                  <a:srgbClr val="0000CC"/>
                </a:solidFill>
                <a:latin typeface="黑体"/>
                <a:cs typeface="黑体"/>
              </a:rPr>
              <a:t>	</a:t>
            </a:r>
            <a:r>
              <a:rPr dirty="0" sz="2000" spc="-25">
                <a:solidFill>
                  <a:srgbClr val="0000CC"/>
                </a:solidFill>
                <a:latin typeface="黑体"/>
                <a:cs typeface="黑体"/>
              </a:rPr>
              <a:t>本块、转移失败的基本块，第一个基本块的执行概率	最大</a:t>
            </a:r>
            <a:endParaRPr sz="2000">
              <a:latin typeface="黑体"/>
              <a:cs typeface="黑体"/>
            </a:endParaRPr>
          </a:p>
          <a:p>
            <a:pPr algn="just" marL="467359" marR="5080" indent="-455295">
              <a:lnSpc>
                <a:spcPct val="110000"/>
              </a:lnSpc>
              <a:spcBef>
                <a:spcPts val="480"/>
              </a:spcBef>
              <a:buClr>
                <a:srgbClr val="40458B"/>
              </a:buClr>
              <a:buSzPct val="120000"/>
              <a:buFont typeface="Wingdings"/>
              <a:buChar char=""/>
              <a:tabLst>
                <a:tab pos="468630" algn="l"/>
              </a:tabLst>
            </a:pPr>
            <a:r>
              <a:rPr dirty="0" sz="2000" spc="-5">
                <a:solidFill>
                  <a:srgbClr val="0000CC"/>
                </a:solidFill>
                <a:latin typeface="黑体"/>
                <a:cs typeface="黑体"/>
              </a:rPr>
              <a:t>由于分支条件为</a:t>
            </a:r>
            <a:r>
              <a:rPr dirty="0" sz="2000" spc="-10">
                <a:solidFill>
                  <a:srgbClr val="6600FF"/>
                </a:solidFill>
                <a:latin typeface="Times New Roman"/>
                <a:cs typeface="Times New Roman"/>
              </a:rPr>
              <a:t>true</a:t>
            </a:r>
            <a:r>
              <a:rPr dirty="0" sz="2000" spc="-10">
                <a:solidFill>
                  <a:srgbClr val="0000CC"/>
                </a:solidFill>
                <a:latin typeface="Times New Roman"/>
                <a:cs typeface="Times New Roman"/>
              </a:rPr>
              <a:t>(</a:t>
            </a:r>
            <a:r>
              <a:rPr dirty="0" sz="2000">
                <a:solidFill>
                  <a:srgbClr val="0000CC"/>
                </a:solidFill>
                <a:latin typeface="黑体"/>
                <a:cs typeface="黑体"/>
              </a:rPr>
              <a:t>转移</a:t>
            </a:r>
            <a:r>
              <a:rPr dirty="0" sz="2000" spc="-10">
                <a:solidFill>
                  <a:srgbClr val="0000CC"/>
                </a:solidFill>
                <a:latin typeface="Times New Roman"/>
                <a:cs typeface="Times New Roman"/>
              </a:rPr>
              <a:t>)</a:t>
            </a:r>
            <a:r>
              <a:rPr dirty="0" sz="2000" spc="-20">
                <a:solidFill>
                  <a:srgbClr val="0000CC"/>
                </a:solidFill>
                <a:latin typeface="黑体"/>
                <a:cs typeface="黑体"/>
              </a:rPr>
              <a:t>的概率大，全局指令调度时</a:t>
            </a:r>
            <a:r>
              <a:rPr dirty="0" sz="2000" spc="-20">
                <a:solidFill>
                  <a:srgbClr val="0000CC"/>
                </a:solidFill>
                <a:latin typeface="黑体"/>
                <a:cs typeface="黑体"/>
              </a:rPr>
              <a:t>	</a:t>
            </a:r>
            <a:r>
              <a:rPr dirty="0" sz="2000">
                <a:solidFill>
                  <a:srgbClr val="0000CC"/>
                </a:solidFill>
                <a:latin typeface="黑体"/>
                <a:cs typeface="黑体"/>
              </a:rPr>
              <a:t>会将语句</a:t>
            </a:r>
            <a:r>
              <a:rPr dirty="0" sz="2000" spc="-10">
                <a:solidFill>
                  <a:srgbClr val="6600FF"/>
                </a:solidFill>
                <a:latin typeface="Times New Roman"/>
                <a:cs typeface="Times New Roman"/>
              </a:rPr>
              <a:t>1</a:t>
            </a:r>
            <a:r>
              <a:rPr dirty="0" sz="2000">
                <a:solidFill>
                  <a:srgbClr val="6600FF"/>
                </a:solidFill>
                <a:latin typeface="黑体"/>
                <a:cs typeface="黑体"/>
              </a:rPr>
              <a:t>、</a:t>
            </a:r>
            <a:r>
              <a:rPr dirty="0" sz="2000" spc="-10">
                <a:solidFill>
                  <a:srgbClr val="6600FF"/>
                </a:solidFill>
                <a:latin typeface="Times New Roman"/>
                <a:cs typeface="Times New Roman"/>
              </a:rPr>
              <a:t>2</a:t>
            </a:r>
            <a:r>
              <a:rPr dirty="0" sz="2000">
                <a:solidFill>
                  <a:srgbClr val="6600FF"/>
                </a:solidFill>
                <a:latin typeface="黑体"/>
                <a:cs typeface="黑体"/>
              </a:rPr>
              <a:t>、</a:t>
            </a:r>
            <a:r>
              <a:rPr dirty="0" sz="2000" spc="-10">
                <a:solidFill>
                  <a:srgbClr val="6600FF"/>
                </a:solidFill>
                <a:latin typeface="Times New Roman"/>
                <a:cs typeface="Times New Roman"/>
              </a:rPr>
              <a:t>3</a:t>
            </a:r>
            <a:r>
              <a:rPr dirty="0" sz="2000">
                <a:solidFill>
                  <a:srgbClr val="6600FF"/>
                </a:solidFill>
                <a:latin typeface="黑体"/>
                <a:cs typeface="黑体"/>
              </a:rPr>
              <a:t>、</a:t>
            </a:r>
            <a:r>
              <a:rPr dirty="0" sz="2000" spc="-10">
                <a:solidFill>
                  <a:srgbClr val="6600FF"/>
                </a:solidFill>
                <a:latin typeface="Times New Roman"/>
                <a:cs typeface="Times New Roman"/>
              </a:rPr>
              <a:t>5</a:t>
            </a:r>
            <a:r>
              <a:rPr dirty="0" sz="2000" spc="-20">
                <a:solidFill>
                  <a:srgbClr val="0000CC"/>
                </a:solidFill>
                <a:latin typeface="黑体"/>
                <a:cs typeface="黑体"/>
              </a:rPr>
              <a:t>合并为一个更大的基本块。</a:t>
            </a:r>
            <a:endParaRPr sz="2000">
              <a:latin typeface="黑体"/>
              <a:cs typeface="黑体"/>
            </a:endParaRPr>
          </a:p>
        </p:txBody>
      </p:sp>
      <p:grpSp>
        <p:nvGrpSpPr>
          <p:cNvPr id="12" name="object 12" descr=""/>
          <p:cNvGrpSpPr/>
          <p:nvPr/>
        </p:nvGrpSpPr>
        <p:grpSpPr>
          <a:xfrm>
            <a:off x="6997886" y="942612"/>
            <a:ext cx="3810635" cy="4768215"/>
            <a:chOff x="6997886" y="942612"/>
            <a:chExt cx="3810635" cy="4768215"/>
          </a:xfrm>
        </p:grpSpPr>
        <p:sp>
          <p:nvSpPr>
            <p:cNvPr id="13" name="object 13" descr=""/>
            <p:cNvSpPr/>
            <p:nvPr/>
          </p:nvSpPr>
          <p:spPr>
            <a:xfrm>
              <a:off x="7007411" y="952137"/>
              <a:ext cx="3171190" cy="4749165"/>
            </a:xfrm>
            <a:custGeom>
              <a:avLst/>
              <a:gdLst/>
              <a:ahLst/>
              <a:cxnLst/>
              <a:rect l="l" t="t" r="r" b="b"/>
              <a:pathLst>
                <a:path w="3171190" h="4749165">
                  <a:moveTo>
                    <a:pt x="1415714" y="0"/>
                  </a:moveTo>
                  <a:lnTo>
                    <a:pt x="1362594" y="1447"/>
                  </a:lnTo>
                  <a:lnTo>
                    <a:pt x="1309834" y="4803"/>
                  </a:lnTo>
                  <a:lnTo>
                    <a:pt x="1257669" y="10133"/>
                  </a:lnTo>
                  <a:lnTo>
                    <a:pt x="1206328" y="17502"/>
                  </a:lnTo>
                  <a:lnTo>
                    <a:pt x="1156046" y="26973"/>
                  </a:lnTo>
                  <a:lnTo>
                    <a:pt x="1107055" y="38612"/>
                  </a:lnTo>
                  <a:lnTo>
                    <a:pt x="1059586" y="52482"/>
                  </a:lnTo>
                  <a:lnTo>
                    <a:pt x="1013871" y="68649"/>
                  </a:lnTo>
                  <a:lnTo>
                    <a:pt x="970144" y="87176"/>
                  </a:lnTo>
                  <a:lnTo>
                    <a:pt x="928637" y="108129"/>
                  </a:lnTo>
                  <a:lnTo>
                    <a:pt x="884886" y="134607"/>
                  </a:lnTo>
                  <a:lnTo>
                    <a:pt x="844325" y="164025"/>
                  </a:lnTo>
                  <a:lnTo>
                    <a:pt x="807050" y="196177"/>
                  </a:lnTo>
                  <a:lnTo>
                    <a:pt x="773153" y="230858"/>
                  </a:lnTo>
                  <a:lnTo>
                    <a:pt x="742729" y="267863"/>
                  </a:lnTo>
                  <a:lnTo>
                    <a:pt x="715873" y="306989"/>
                  </a:lnTo>
                  <a:lnTo>
                    <a:pt x="692677" y="348029"/>
                  </a:lnTo>
                  <a:lnTo>
                    <a:pt x="673238" y="390779"/>
                  </a:lnTo>
                  <a:lnTo>
                    <a:pt x="657647" y="435034"/>
                  </a:lnTo>
                  <a:lnTo>
                    <a:pt x="646001" y="480590"/>
                  </a:lnTo>
                  <a:lnTo>
                    <a:pt x="638392" y="527241"/>
                  </a:lnTo>
                  <a:lnTo>
                    <a:pt x="634914" y="574783"/>
                  </a:lnTo>
                  <a:lnTo>
                    <a:pt x="635483" y="621608"/>
                  </a:lnTo>
                  <a:lnTo>
                    <a:pt x="639556" y="669036"/>
                  </a:lnTo>
                  <a:lnTo>
                    <a:pt x="646665" y="717034"/>
                  </a:lnTo>
                  <a:lnTo>
                    <a:pt x="656342" y="765566"/>
                  </a:lnTo>
                  <a:lnTo>
                    <a:pt x="668119" y="814598"/>
                  </a:lnTo>
                  <a:lnTo>
                    <a:pt x="681527" y="864096"/>
                  </a:lnTo>
                  <a:lnTo>
                    <a:pt x="696099" y="914024"/>
                  </a:lnTo>
                  <a:lnTo>
                    <a:pt x="742111" y="1066048"/>
                  </a:lnTo>
                  <a:lnTo>
                    <a:pt x="756653" y="1117354"/>
                  </a:lnTo>
                  <a:lnTo>
                    <a:pt x="770018" y="1168918"/>
                  </a:lnTo>
                  <a:lnTo>
                    <a:pt x="781737" y="1220705"/>
                  </a:lnTo>
                  <a:lnTo>
                    <a:pt x="790736" y="1268464"/>
                  </a:lnTo>
                  <a:lnTo>
                    <a:pt x="798108" y="1316410"/>
                  </a:lnTo>
                  <a:lnTo>
                    <a:pt x="804008" y="1364580"/>
                  </a:lnTo>
                  <a:lnTo>
                    <a:pt x="808590" y="1413008"/>
                  </a:lnTo>
                  <a:lnTo>
                    <a:pt x="812009" y="1461729"/>
                  </a:lnTo>
                  <a:lnTo>
                    <a:pt x="814420" y="1510778"/>
                  </a:lnTo>
                  <a:lnTo>
                    <a:pt x="815977" y="1560192"/>
                  </a:lnTo>
                  <a:lnTo>
                    <a:pt x="816835" y="1610005"/>
                  </a:lnTo>
                  <a:lnTo>
                    <a:pt x="817070" y="1710970"/>
                  </a:lnTo>
                  <a:lnTo>
                    <a:pt x="815950" y="1919241"/>
                  </a:lnTo>
                  <a:lnTo>
                    <a:pt x="816239" y="1972835"/>
                  </a:lnTo>
                  <a:lnTo>
                    <a:pt x="817066" y="2027111"/>
                  </a:lnTo>
                  <a:lnTo>
                    <a:pt x="818585" y="2082103"/>
                  </a:lnTo>
                  <a:lnTo>
                    <a:pt x="825065" y="2246616"/>
                  </a:lnTo>
                  <a:lnTo>
                    <a:pt x="825842" y="2299893"/>
                  </a:lnTo>
                  <a:lnTo>
                    <a:pt x="824843" y="2351311"/>
                  </a:lnTo>
                  <a:lnTo>
                    <a:pt x="821415" y="2400222"/>
                  </a:lnTo>
                  <a:lnTo>
                    <a:pt x="814906" y="2445978"/>
                  </a:lnTo>
                  <a:lnTo>
                    <a:pt x="804667" y="2487933"/>
                  </a:lnTo>
                  <a:lnTo>
                    <a:pt x="790044" y="2525438"/>
                  </a:lnTo>
                  <a:lnTo>
                    <a:pt x="745044" y="2584510"/>
                  </a:lnTo>
                  <a:lnTo>
                    <a:pt x="676345" y="2620245"/>
                  </a:lnTo>
                  <a:lnTo>
                    <a:pt x="634611" y="2630786"/>
                  </a:lnTo>
                  <a:lnTo>
                    <a:pt x="589135" y="2637700"/>
                  </a:lnTo>
                  <a:lnTo>
                    <a:pt x="540800" y="2641928"/>
                  </a:lnTo>
                  <a:lnTo>
                    <a:pt x="490492" y="2644412"/>
                  </a:lnTo>
                  <a:lnTo>
                    <a:pt x="387497" y="2647918"/>
                  </a:lnTo>
                  <a:lnTo>
                    <a:pt x="336580" y="2650824"/>
                  </a:lnTo>
                  <a:lnTo>
                    <a:pt x="287229" y="2655755"/>
                  </a:lnTo>
                  <a:lnTo>
                    <a:pt x="240329" y="2663654"/>
                  </a:lnTo>
                  <a:lnTo>
                    <a:pt x="196766" y="2675462"/>
                  </a:lnTo>
                  <a:lnTo>
                    <a:pt x="157423" y="2692121"/>
                  </a:lnTo>
                  <a:lnTo>
                    <a:pt x="100607" y="2734328"/>
                  </a:lnTo>
                  <a:lnTo>
                    <a:pt x="57913" y="2791850"/>
                  </a:lnTo>
                  <a:lnTo>
                    <a:pt x="27978" y="2862422"/>
                  </a:lnTo>
                  <a:lnTo>
                    <a:pt x="17368" y="2901895"/>
                  </a:lnTo>
                  <a:lnTo>
                    <a:pt x="9436" y="2943782"/>
                  </a:lnTo>
                  <a:lnTo>
                    <a:pt x="4011" y="2987799"/>
                  </a:lnTo>
                  <a:lnTo>
                    <a:pt x="922" y="3033665"/>
                  </a:lnTo>
                  <a:lnTo>
                    <a:pt x="0" y="3081095"/>
                  </a:lnTo>
                  <a:lnTo>
                    <a:pt x="1072" y="3129808"/>
                  </a:lnTo>
                  <a:lnTo>
                    <a:pt x="3969" y="3179520"/>
                  </a:lnTo>
                  <a:lnTo>
                    <a:pt x="8521" y="3229948"/>
                  </a:lnTo>
                  <a:lnTo>
                    <a:pt x="14555" y="3280809"/>
                  </a:lnTo>
                  <a:lnTo>
                    <a:pt x="21903" y="3331820"/>
                  </a:lnTo>
                  <a:lnTo>
                    <a:pt x="30393" y="3382699"/>
                  </a:lnTo>
                  <a:lnTo>
                    <a:pt x="39854" y="3433163"/>
                  </a:lnTo>
                  <a:lnTo>
                    <a:pt x="50117" y="3482927"/>
                  </a:lnTo>
                  <a:lnTo>
                    <a:pt x="61010" y="3531711"/>
                  </a:lnTo>
                  <a:lnTo>
                    <a:pt x="72363" y="3579230"/>
                  </a:lnTo>
                  <a:lnTo>
                    <a:pt x="84005" y="3625201"/>
                  </a:lnTo>
                  <a:lnTo>
                    <a:pt x="99549" y="3682860"/>
                  </a:lnTo>
                  <a:lnTo>
                    <a:pt x="115525" y="3737391"/>
                  </a:lnTo>
                  <a:lnTo>
                    <a:pt x="132159" y="3788824"/>
                  </a:lnTo>
                  <a:lnTo>
                    <a:pt x="149680" y="3837186"/>
                  </a:lnTo>
                  <a:lnTo>
                    <a:pt x="168314" y="3882507"/>
                  </a:lnTo>
                  <a:lnTo>
                    <a:pt x="188288" y="3924814"/>
                  </a:lnTo>
                  <a:lnTo>
                    <a:pt x="209830" y="3964136"/>
                  </a:lnTo>
                  <a:lnTo>
                    <a:pt x="233166" y="4000501"/>
                  </a:lnTo>
                  <a:lnTo>
                    <a:pt x="258525" y="4033939"/>
                  </a:lnTo>
                  <a:lnTo>
                    <a:pt x="286133" y="4064477"/>
                  </a:lnTo>
                  <a:lnTo>
                    <a:pt x="316217" y="4092143"/>
                  </a:lnTo>
                  <a:lnTo>
                    <a:pt x="349005" y="4116967"/>
                  </a:lnTo>
                  <a:lnTo>
                    <a:pt x="384724" y="4138977"/>
                  </a:lnTo>
                  <a:lnTo>
                    <a:pt x="423601" y="4158201"/>
                  </a:lnTo>
                  <a:lnTo>
                    <a:pt x="465863" y="4174667"/>
                  </a:lnTo>
                  <a:lnTo>
                    <a:pt x="511738" y="4188404"/>
                  </a:lnTo>
                  <a:lnTo>
                    <a:pt x="561452" y="4199441"/>
                  </a:lnTo>
                  <a:lnTo>
                    <a:pt x="606642" y="4206763"/>
                  </a:lnTo>
                  <a:lnTo>
                    <a:pt x="654230" y="4212561"/>
                  </a:lnTo>
                  <a:lnTo>
                    <a:pt x="703696" y="4217231"/>
                  </a:lnTo>
                  <a:lnTo>
                    <a:pt x="858144" y="4228423"/>
                  </a:lnTo>
                  <a:lnTo>
                    <a:pt x="909906" y="4232532"/>
                  </a:lnTo>
                  <a:lnTo>
                    <a:pt x="960938" y="4237488"/>
                  </a:lnTo>
                  <a:lnTo>
                    <a:pt x="1010719" y="4243687"/>
                  </a:lnTo>
                  <a:lnTo>
                    <a:pt x="1058729" y="4251525"/>
                  </a:lnTo>
                  <a:lnTo>
                    <a:pt x="1104445" y="4261395"/>
                  </a:lnTo>
                  <a:lnTo>
                    <a:pt x="1147346" y="4273693"/>
                  </a:lnTo>
                  <a:lnTo>
                    <a:pt x="1186911" y="4288814"/>
                  </a:lnTo>
                  <a:lnTo>
                    <a:pt x="1222619" y="4307154"/>
                  </a:lnTo>
                  <a:lnTo>
                    <a:pt x="1263202" y="4336339"/>
                  </a:lnTo>
                  <a:lnTo>
                    <a:pt x="1297939" y="4370247"/>
                  </a:lnTo>
                  <a:lnTo>
                    <a:pt x="1328516" y="4407383"/>
                  </a:lnTo>
                  <a:lnTo>
                    <a:pt x="1356617" y="4446253"/>
                  </a:lnTo>
                  <a:lnTo>
                    <a:pt x="1383925" y="4485364"/>
                  </a:lnTo>
                  <a:lnTo>
                    <a:pt x="1412126" y="4523222"/>
                  </a:lnTo>
                  <a:lnTo>
                    <a:pt x="1442904" y="4558332"/>
                  </a:lnTo>
                  <a:lnTo>
                    <a:pt x="1472872" y="4585668"/>
                  </a:lnTo>
                  <a:lnTo>
                    <a:pt x="1505916" y="4610000"/>
                  </a:lnTo>
                  <a:lnTo>
                    <a:pt x="1541889" y="4631532"/>
                  </a:lnTo>
                  <a:lnTo>
                    <a:pt x="1580645" y="4650468"/>
                  </a:lnTo>
                  <a:lnTo>
                    <a:pt x="1622038" y="4667012"/>
                  </a:lnTo>
                  <a:lnTo>
                    <a:pt x="1665920" y="4681367"/>
                  </a:lnTo>
                  <a:lnTo>
                    <a:pt x="1712146" y="4693738"/>
                  </a:lnTo>
                  <a:lnTo>
                    <a:pt x="1760569" y="4704328"/>
                  </a:lnTo>
                  <a:lnTo>
                    <a:pt x="1811042" y="4713343"/>
                  </a:lnTo>
                  <a:lnTo>
                    <a:pt x="1863419" y="4720984"/>
                  </a:lnTo>
                  <a:lnTo>
                    <a:pt x="1917552" y="4727458"/>
                  </a:lnTo>
                  <a:lnTo>
                    <a:pt x="1973297" y="4732966"/>
                  </a:lnTo>
                  <a:lnTo>
                    <a:pt x="2030505" y="4737714"/>
                  </a:lnTo>
                  <a:lnTo>
                    <a:pt x="2086001" y="4741648"/>
                  </a:lnTo>
                  <a:lnTo>
                    <a:pt x="2142138" y="4744904"/>
                  </a:lnTo>
                  <a:lnTo>
                    <a:pt x="2198368" y="4747310"/>
                  </a:lnTo>
                  <a:lnTo>
                    <a:pt x="2254141" y="4748690"/>
                  </a:lnTo>
                  <a:lnTo>
                    <a:pt x="2308909" y="4748869"/>
                  </a:lnTo>
                  <a:lnTo>
                    <a:pt x="2362125" y="4747673"/>
                  </a:lnTo>
                  <a:lnTo>
                    <a:pt x="2413239" y="4744929"/>
                  </a:lnTo>
                  <a:lnTo>
                    <a:pt x="2461705" y="4740460"/>
                  </a:lnTo>
                  <a:lnTo>
                    <a:pt x="2506972" y="4734094"/>
                  </a:lnTo>
                  <a:lnTo>
                    <a:pt x="2548493" y="4725655"/>
                  </a:lnTo>
                  <a:lnTo>
                    <a:pt x="2585721" y="4714968"/>
                  </a:lnTo>
                  <a:lnTo>
                    <a:pt x="2644077" y="4686993"/>
                  </a:lnTo>
                  <a:lnTo>
                    <a:pt x="2682115" y="4650525"/>
                  </a:lnTo>
                  <a:lnTo>
                    <a:pt x="2702913" y="4605652"/>
                  </a:lnTo>
                  <a:lnTo>
                    <a:pt x="2708038" y="4553059"/>
                  </a:lnTo>
                  <a:lnTo>
                    <a:pt x="2705211" y="4524082"/>
                  </a:lnTo>
                  <a:lnTo>
                    <a:pt x="2689758" y="4461194"/>
                  </a:lnTo>
                  <a:lnTo>
                    <a:pt x="2662543" y="4392301"/>
                  </a:lnTo>
                  <a:lnTo>
                    <a:pt x="2645014" y="4355816"/>
                  </a:lnTo>
                  <a:lnTo>
                    <a:pt x="2625130" y="4318087"/>
                  </a:lnTo>
                  <a:lnTo>
                    <a:pt x="2603089" y="4279200"/>
                  </a:lnTo>
                  <a:lnTo>
                    <a:pt x="2579085" y="4239239"/>
                  </a:lnTo>
                  <a:lnTo>
                    <a:pt x="2553314" y="4198291"/>
                  </a:lnTo>
                  <a:lnTo>
                    <a:pt x="2525971" y="4156442"/>
                  </a:lnTo>
                  <a:lnTo>
                    <a:pt x="2497253" y="4113776"/>
                  </a:lnTo>
                  <a:lnTo>
                    <a:pt x="2436471" y="4026341"/>
                  </a:lnTo>
                  <a:lnTo>
                    <a:pt x="2241448" y="3753367"/>
                  </a:lnTo>
                  <a:lnTo>
                    <a:pt x="2177431" y="3661105"/>
                  </a:lnTo>
                  <a:lnTo>
                    <a:pt x="2142613" y="3609323"/>
                  </a:lnTo>
                  <a:lnTo>
                    <a:pt x="2108878" y="3557774"/>
                  </a:lnTo>
                  <a:lnTo>
                    <a:pt x="2076327" y="3506536"/>
                  </a:lnTo>
                  <a:lnTo>
                    <a:pt x="2045059" y="3455681"/>
                  </a:lnTo>
                  <a:lnTo>
                    <a:pt x="2015173" y="3405283"/>
                  </a:lnTo>
                  <a:lnTo>
                    <a:pt x="1986770" y="3355419"/>
                  </a:lnTo>
                  <a:lnTo>
                    <a:pt x="1959949" y="3306161"/>
                  </a:lnTo>
                  <a:lnTo>
                    <a:pt x="1934810" y="3257584"/>
                  </a:lnTo>
                  <a:lnTo>
                    <a:pt x="1911452" y="3209763"/>
                  </a:lnTo>
                  <a:lnTo>
                    <a:pt x="1889976" y="3162773"/>
                  </a:lnTo>
                  <a:lnTo>
                    <a:pt x="1870481" y="3116686"/>
                  </a:lnTo>
                  <a:lnTo>
                    <a:pt x="1853066" y="3071578"/>
                  </a:lnTo>
                  <a:lnTo>
                    <a:pt x="1837833" y="3027524"/>
                  </a:lnTo>
                  <a:lnTo>
                    <a:pt x="1824879" y="2984597"/>
                  </a:lnTo>
                  <a:lnTo>
                    <a:pt x="1814305" y="2942872"/>
                  </a:lnTo>
                  <a:lnTo>
                    <a:pt x="1806212" y="2902424"/>
                  </a:lnTo>
                  <a:lnTo>
                    <a:pt x="1800698" y="2863326"/>
                  </a:lnTo>
                  <a:lnTo>
                    <a:pt x="1797807" y="2789481"/>
                  </a:lnTo>
                  <a:lnTo>
                    <a:pt x="1800629" y="2754882"/>
                  </a:lnTo>
                  <a:lnTo>
                    <a:pt x="1815310" y="2690704"/>
                  </a:lnTo>
                  <a:lnTo>
                    <a:pt x="1842702" y="2633715"/>
                  </a:lnTo>
                  <a:lnTo>
                    <a:pt x="1883604" y="2584510"/>
                  </a:lnTo>
                  <a:lnTo>
                    <a:pt x="1938080" y="2543477"/>
                  </a:lnTo>
                  <a:lnTo>
                    <a:pt x="2004773" y="2509158"/>
                  </a:lnTo>
                  <a:lnTo>
                    <a:pt x="2042088" y="2494018"/>
                  </a:lnTo>
                  <a:lnTo>
                    <a:pt x="2081720" y="2479961"/>
                  </a:lnTo>
                  <a:lnTo>
                    <a:pt x="2123425" y="2466786"/>
                  </a:lnTo>
                  <a:lnTo>
                    <a:pt x="2166957" y="2454294"/>
                  </a:lnTo>
                  <a:lnTo>
                    <a:pt x="2212071" y="2442288"/>
                  </a:lnTo>
                  <a:lnTo>
                    <a:pt x="2403437" y="2395129"/>
                  </a:lnTo>
                  <a:lnTo>
                    <a:pt x="2452778" y="2382562"/>
                  </a:lnTo>
                  <a:lnTo>
                    <a:pt x="2502229" y="2369286"/>
                  </a:lnTo>
                  <a:lnTo>
                    <a:pt x="2551544" y="2355102"/>
                  </a:lnTo>
                  <a:lnTo>
                    <a:pt x="2600477" y="2339811"/>
                  </a:lnTo>
                  <a:lnTo>
                    <a:pt x="2648783" y="2323214"/>
                  </a:lnTo>
                  <a:lnTo>
                    <a:pt x="2696216" y="2305112"/>
                  </a:lnTo>
                  <a:lnTo>
                    <a:pt x="2742532" y="2285307"/>
                  </a:lnTo>
                  <a:lnTo>
                    <a:pt x="2787484" y="2263598"/>
                  </a:lnTo>
                  <a:lnTo>
                    <a:pt x="2830828" y="2239789"/>
                  </a:lnTo>
                  <a:lnTo>
                    <a:pt x="2872318" y="2213678"/>
                  </a:lnTo>
                  <a:lnTo>
                    <a:pt x="2911708" y="2185068"/>
                  </a:lnTo>
                  <a:lnTo>
                    <a:pt x="2948753" y="2153760"/>
                  </a:lnTo>
                  <a:lnTo>
                    <a:pt x="2985421" y="2117298"/>
                  </a:lnTo>
                  <a:lnTo>
                    <a:pt x="3019054" y="2077944"/>
                  </a:lnTo>
                  <a:lnTo>
                    <a:pt x="3049562" y="2036107"/>
                  </a:lnTo>
                  <a:lnTo>
                    <a:pt x="3076859" y="1992197"/>
                  </a:lnTo>
                  <a:lnTo>
                    <a:pt x="3100855" y="1946624"/>
                  </a:lnTo>
                  <a:lnTo>
                    <a:pt x="3121462" y="1899797"/>
                  </a:lnTo>
                  <a:lnTo>
                    <a:pt x="3138593" y="1852126"/>
                  </a:lnTo>
                  <a:lnTo>
                    <a:pt x="3152159" y="1804020"/>
                  </a:lnTo>
                  <a:lnTo>
                    <a:pt x="3162073" y="1755890"/>
                  </a:lnTo>
                  <a:lnTo>
                    <a:pt x="3168245" y="1708145"/>
                  </a:lnTo>
                  <a:lnTo>
                    <a:pt x="3170587" y="1661195"/>
                  </a:lnTo>
                  <a:lnTo>
                    <a:pt x="3169012" y="1615449"/>
                  </a:lnTo>
                  <a:lnTo>
                    <a:pt x="3163286" y="1570024"/>
                  </a:lnTo>
                  <a:lnTo>
                    <a:pt x="3153601" y="1526184"/>
                  </a:lnTo>
                  <a:lnTo>
                    <a:pt x="3140233" y="1483800"/>
                  </a:lnTo>
                  <a:lnTo>
                    <a:pt x="3123460" y="1442744"/>
                  </a:lnTo>
                  <a:lnTo>
                    <a:pt x="3103558" y="1402889"/>
                  </a:lnTo>
                  <a:lnTo>
                    <a:pt x="3080805" y="1364106"/>
                  </a:lnTo>
                  <a:lnTo>
                    <a:pt x="3055479" y="1326266"/>
                  </a:lnTo>
                  <a:lnTo>
                    <a:pt x="3027856" y="1289242"/>
                  </a:lnTo>
                  <a:lnTo>
                    <a:pt x="2998213" y="1252906"/>
                  </a:lnTo>
                  <a:lnTo>
                    <a:pt x="2966827" y="1217129"/>
                  </a:lnTo>
                  <a:lnTo>
                    <a:pt x="2933976" y="1181782"/>
                  </a:lnTo>
                  <a:lnTo>
                    <a:pt x="2899937" y="1146739"/>
                  </a:lnTo>
                  <a:lnTo>
                    <a:pt x="2829403" y="1077049"/>
                  </a:lnTo>
                  <a:lnTo>
                    <a:pt x="2757441" y="1007032"/>
                  </a:lnTo>
                  <a:lnTo>
                    <a:pt x="2721618" y="971580"/>
                  </a:lnTo>
                  <a:lnTo>
                    <a:pt x="2686269" y="935663"/>
                  </a:lnTo>
                  <a:lnTo>
                    <a:pt x="2651673" y="899150"/>
                  </a:lnTo>
                  <a:lnTo>
                    <a:pt x="2618105" y="861916"/>
                  </a:lnTo>
                  <a:lnTo>
                    <a:pt x="2576398" y="812372"/>
                  </a:lnTo>
                  <a:lnTo>
                    <a:pt x="2536777" y="761804"/>
                  </a:lnTo>
                  <a:lnTo>
                    <a:pt x="2499122" y="710624"/>
                  </a:lnTo>
                  <a:lnTo>
                    <a:pt x="2463316" y="659243"/>
                  </a:lnTo>
                  <a:lnTo>
                    <a:pt x="2429239" y="608072"/>
                  </a:lnTo>
                  <a:lnTo>
                    <a:pt x="2396773" y="557522"/>
                  </a:lnTo>
                  <a:lnTo>
                    <a:pt x="2280638" y="369766"/>
                  </a:lnTo>
                  <a:lnTo>
                    <a:pt x="2254444" y="328494"/>
                  </a:lnTo>
                  <a:lnTo>
                    <a:pt x="2229147" y="290311"/>
                  </a:lnTo>
                  <a:lnTo>
                    <a:pt x="2204630" y="255629"/>
                  </a:lnTo>
                  <a:lnTo>
                    <a:pt x="2180774" y="224859"/>
                  </a:lnTo>
                  <a:lnTo>
                    <a:pt x="2134569" y="176699"/>
                  </a:lnTo>
                  <a:lnTo>
                    <a:pt x="2089582" y="149124"/>
                  </a:lnTo>
                  <a:lnTo>
                    <a:pt x="2067249" y="144084"/>
                  </a:lnTo>
                  <a:lnTo>
                    <a:pt x="2033461" y="125575"/>
                  </a:lnTo>
                  <a:lnTo>
                    <a:pt x="1996783" y="108073"/>
                  </a:lnTo>
                  <a:lnTo>
                    <a:pt x="1957446" y="91641"/>
                  </a:lnTo>
                  <a:lnTo>
                    <a:pt x="1915683" y="76344"/>
                  </a:lnTo>
                  <a:lnTo>
                    <a:pt x="1871726" y="62247"/>
                  </a:lnTo>
                  <a:lnTo>
                    <a:pt x="1825807" y="49413"/>
                  </a:lnTo>
                  <a:lnTo>
                    <a:pt x="1778159" y="37909"/>
                  </a:lnTo>
                  <a:lnTo>
                    <a:pt x="1729014" y="27798"/>
                  </a:lnTo>
                  <a:lnTo>
                    <a:pt x="1678605" y="19144"/>
                  </a:lnTo>
                  <a:lnTo>
                    <a:pt x="1627162" y="12013"/>
                  </a:lnTo>
                  <a:lnTo>
                    <a:pt x="1574920" y="6468"/>
                  </a:lnTo>
                  <a:lnTo>
                    <a:pt x="1522110" y="2575"/>
                  </a:lnTo>
                  <a:lnTo>
                    <a:pt x="1468964" y="397"/>
                  </a:lnTo>
                  <a:lnTo>
                    <a:pt x="1415714" y="0"/>
                  </a:lnTo>
                  <a:close/>
                </a:path>
              </a:pathLst>
            </a:custGeom>
            <a:solidFill>
              <a:srgbClr val="DDDDDD"/>
            </a:solidFill>
          </p:spPr>
          <p:txBody>
            <a:bodyPr wrap="square" lIns="0" tIns="0" rIns="0" bIns="0" rtlCol="0"/>
            <a:lstStyle/>
            <a:p/>
          </p:txBody>
        </p:sp>
        <p:sp>
          <p:nvSpPr>
            <p:cNvPr id="14" name="object 14" descr=""/>
            <p:cNvSpPr/>
            <p:nvPr/>
          </p:nvSpPr>
          <p:spPr>
            <a:xfrm>
              <a:off x="7007411" y="952137"/>
              <a:ext cx="3171190" cy="4749165"/>
            </a:xfrm>
            <a:custGeom>
              <a:avLst/>
              <a:gdLst/>
              <a:ahLst/>
              <a:cxnLst/>
              <a:rect l="l" t="t" r="r" b="b"/>
              <a:pathLst>
                <a:path w="3171190" h="4749165">
                  <a:moveTo>
                    <a:pt x="2067249" y="144084"/>
                  </a:moveTo>
                  <a:lnTo>
                    <a:pt x="2033461" y="125575"/>
                  </a:lnTo>
                  <a:lnTo>
                    <a:pt x="1996783" y="108073"/>
                  </a:lnTo>
                  <a:lnTo>
                    <a:pt x="1957446" y="91641"/>
                  </a:lnTo>
                  <a:lnTo>
                    <a:pt x="1915683" y="76344"/>
                  </a:lnTo>
                  <a:lnTo>
                    <a:pt x="1871726" y="62247"/>
                  </a:lnTo>
                  <a:lnTo>
                    <a:pt x="1825807" y="49413"/>
                  </a:lnTo>
                  <a:lnTo>
                    <a:pt x="1778159" y="37909"/>
                  </a:lnTo>
                  <a:lnTo>
                    <a:pt x="1729014" y="27798"/>
                  </a:lnTo>
                  <a:lnTo>
                    <a:pt x="1678605" y="19144"/>
                  </a:lnTo>
                  <a:lnTo>
                    <a:pt x="1627162" y="12013"/>
                  </a:lnTo>
                  <a:lnTo>
                    <a:pt x="1574920" y="6468"/>
                  </a:lnTo>
                  <a:lnTo>
                    <a:pt x="1522110" y="2575"/>
                  </a:lnTo>
                  <a:lnTo>
                    <a:pt x="1468964" y="397"/>
                  </a:lnTo>
                  <a:lnTo>
                    <a:pt x="1415714" y="0"/>
                  </a:lnTo>
                  <a:lnTo>
                    <a:pt x="1362594" y="1447"/>
                  </a:lnTo>
                  <a:lnTo>
                    <a:pt x="1309834" y="4803"/>
                  </a:lnTo>
                  <a:lnTo>
                    <a:pt x="1257669" y="10133"/>
                  </a:lnTo>
                  <a:lnTo>
                    <a:pt x="1206328" y="17502"/>
                  </a:lnTo>
                  <a:lnTo>
                    <a:pt x="1156046" y="26973"/>
                  </a:lnTo>
                  <a:lnTo>
                    <a:pt x="1107055" y="38612"/>
                  </a:lnTo>
                  <a:lnTo>
                    <a:pt x="1059586" y="52482"/>
                  </a:lnTo>
                  <a:lnTo>
                    <a:pt x="1013871" y="68649"/>
                  </a:lnTo>
                  <a:lnTo>
                    <a:pt x="970144" y="87176"/>
                  </a:lnTo>
                  <a:lnTo>
                    <a:pt x="928637" y="108129"/>
                  </a:lnTo>
                  <a:lnTo>
                    <a:pt x="884886" y="134607"/>
                  </a:lnTo>
                  <a:lnTo>
                    <a:pt x="844325" y="164025"/>
                  </a:lnTo>
                  <a:lnTo>
                    <a:pt x="807050" y="196177"/>
                  </a:lnTo>
                  <a:lnTo>
                    <a:pt x="773153" y="230858"/>
                  </a:lnTo>
                  <a:lnTo>
                    <a:pt x="742729" y="267863"/>
                  </a:lnTo>
                  <a:lnTo>
                    <a:pt x="715873" y="306989"/>
                  </a:lnTo>
                  <a:lnTo>
                    <a:pt x="692677" y="348029"/>
                  </a:lnTo>
                  <a:lnTo>
                    <a:pt x="673238" y="390779"/>
                  </a:lnTo>
                  <a:lnTo>
                    <a:pt x="657647" y="435034"/>
                  </a:lnTo>
                  <a:lnTo>
                    <a:pt x="646001" y="480590"/>
                  </a:lnTo>
                  <a:lnTo>
                    <a:pt x="638392" y="527241"/>
                  </a:lnTo>
                  <a:lnTo>
                    <a:pt x="634914" y="574783"/>
                  </a:lnTo>
                  <a:lnTo>
                    <a:pt x="635483" y="621608"/>
                  </a:lnTo>
                  <a:lnTo>
                    <a:pt x="639556" y="669036"/>
                  </a:lnTo>
                  <a:lnTo>
                    <a:pt x="646665" y="717034"/>
                  </a:lnTo>
                  <a:lnTo>
                    <a:pt x="656342" y="765566"/>
                  </a:lnTo>
                  <a:lnTo>
                    <a:pt x="668119" y="814598"/>
                  </a:lnTo>
                  <a:lnTo>
                    <a:pt x="681527" y="864096"/>
                  </a:lnTo>
                  <a:lnTo>
                    <a:pt x="696099" y="914024"/>
                  </a:lnTo>
                  <a:lnTo>
                    <a:pt x="711365" y="964349"/>
                  </a:lnTo>
                  <a:lnTo>
                    <a:pt x="726858" y="1015035"/>
                  </a:lnTo>
                  <a:lnTo>
                    <a:pt x="742111" y="1066048"/>
                  </a:lnTo>
                  <a:lnTo>
                    <a:pt x="756653" y="1117354"/>
                  </a:lnTo>
                  <a:lnTo>
                    <a:pt x="770018" y="1168918"/>
                  </a:lnTo>
                  <a:lnTo>
                    <a:pt x="781737" y="1220705"/>
                  </a:lnTo>
                  <a:lnTo>
                    <a:pt x="790736" y="1268464"/>
                  </a:lnTo>
                  <a:lnTo>
                    <a:pt x="798108" y="1316410"/>
                  </a:lnTo>
                  <a:lnTo>
                    <a:pt x="804008" y="1364580"/>
                  </a:lnTo>
                  <a:lnTo>
                    <a:pt x="808590" y="1413008"/>
                  </a:lnTo>
                  <a:lnTo>
                    <a:pt x="812009" y="1461729"/>
                  </a:lnTo>
                  <a:lnTo>
                    <a:pt x="814420" y="1510778"/>
                  </a:lnTo>
                  <a:lnTo>
                    <a:pt x="815977" y="1560192"/>
                  </a:lnTo>
                  <a:lnTo>
                    <a:pt x="816835" y="1610005"/>
                  </a:lnTo>
                  <a:lnTo>
                    <a:pt x="817148" y="1660253"/>
                  </a:lnTo>
                  <a:lnTo>
                    <a:pt x="817070" y="1710970"/>
                  </a:lnTo>
                  <a:lnTo>
                    <a:pt x="816757" y="1762192"/>
                  </a:lnTo>
                  <a:lnTo>
                    <a:pt x="816363" y="1813954"/>
                  </a:lnTo>
                  <a:lnTo>
                    <a:pt x="816042" y="1866292"/>
                  </a:lnTo>
                  <a:lnTo>
                    <a:pt x="815950" y="1919241"/>
                  </a:lnTo>
                  <a:lnTo>
                    <a:pt x="816239" y="1972835"/>
                  </a:lnTo>
                  <a:lnTo>
                    <a:pt x="817066" y="2027111"/>
                  </a:lnTo>
                  <a:lnTo>
                    <a:pt x="818585" y="2082103"/>
                  </a:lnTo>
                  <a:lnTo>
                    <a:pt x="820785" y="2137073"/>
                  </a:lnTo>
                  <a:lnTo>
                    <a:pt x="823162" y="2192127"/>
                  </a:lnTo>
                  <a:lnTo>
                    <a:pt x="825065" y="2246616"/>
                  </a:lnTo>
                  <a:lnTo>
                    <a:pt x="825842" y="2299893"/>
                  </a:lnTo>
                  <a:lnTo>
                    <a:pt x="824843" y="2351311"/>
                  </a:lnTo>
                  <a:lnTo>
                    <a:pt x="821415" y="2400222"/>
                  </a:lnTo>
                  <a:lnTo>
                    <a:pt x="814906" y="2445978"/>
                  </a:lnTo>
                  <a:lnTo>
                    <a:pt x="804667" y="2487933"/>
                  </a:lnTo>
                  <a:lnTo>
                    <a:pt x="790044" y="2525438"/>
                  </a:lnTo>
                  <a:lnTo>
                    <a:pt x="745044" y="2584510"/>
                  </a:lnTo>
                  <a:lnTo>
                    <a:pt x="676345" y="2620245"/>
                  </a:lnTo>
                  <a:lnTo>
                    <a:pt x="634611" y="2630786"/>
                  </a:lnTo>
                  <a:lnTo>
                    <a:pt x="589135" y="2637700"/>
                  </a:lnTo>
                  <a:lnTo>
                    <a:pt x="540800" y="2641928"/>
                  </a:lnTo>
                  <a:lnTo>
                    <a:pt x="490492" y="2644412"/>
                  </a:lnTo>
                  <a:lnTo>
                    <a:pt x="439096" y="2646094"/>
                  </a:lnTo>
                  <a:lnTo>
                    <a:pt x="387497" y="2647918"/>
                  </a:lnTo>
                  <a:lnTo>
                    <a:pt x="336580" y="2650824"/>
                  </a:lnTo>
                  <a:lnTo>
                    <a:pt x="287229" y="2655755"/>
                  </a:lnTo>
                  <a:lnTo>
                    <a:pt x="240329" y="2663654"/>
                  </a:lnTo>
                  <a:lnTo>
                    <a:pt x="196766" y="2675462"/>
                  </a:lnTo>
                  <a:lnTo>
                    <a:pt x="157423" y="2692121"/>
                  </a:lnTo>
                  <a:lnTo>
                    <a:pt x="100607" y="2734328"/>
                  </a:lnTo>
                  <a:lnTo>
                    <a:pt x="57913" y="2791850"/>
                  </a:lnTo>
                  <a:lnTo>
                    <a:pt x="27978" y="2862422"/>
                  </a:lnTo>
                  <a:lnTo>
                    <a:pt x="17368" y="2901895"/>
                  </a:lnTo>
                  <a:lnTo>
                    <a:pt x="9436" y="2943782"/>
                  </a:lnTo>
                  <a:lnTo>
                    <a:pt x="4011" y="2987799"/>
                  </a:lnTo>
                  <a:lnTo>
                    <a:pt x="922" y="3033665"/>
                  </a:lnTo>
                  <a:lnTo>
                    <a:pt x="0" y="3081095"/>
                  </a:lnTo>
                  <a:lnTo>
                    <a:pt x="1072" y="3129808"/>
                  </a:lnTo>
                  <a:lnTo>
                    <a:pt x="3969" y="3179520"/>
                  </a:lnTo>
                  <a:lnTo>
                    <a:pt x="8521" y="3229948"/>
                  </a:lnTo>
                  <a:lnTo>
                    <a:pt x="14555" y="3280809"/>
                  </a:lnTo>
                  <a:lnTo>
                    <a:pt x="21903" y="3331820"/>
                  </a:lnTo>
                  <a:lnTo>
                    <a:pt x="30393" y="3382699"/>
                  </a:lnTo>
                  <a:lnTo>
                    <a:pt x="39854" y="3433163"/>
                  </a:lnTo>
                  <a:lnTo>
                    <a:pt x="50117" y="3482927"/>
                  </a:lnTo>
                  <a:lnTo>
                    <a:pt x="61010" y="3531711"/>
                  </a:lnTo>
                  <a:lnTo>
                    <a:pt x="72363" y="3579230"/>
                  </a:lnTo>
                  <a:lnTo>
                    <a:pt x="84005" y="3625201"/>
                  </a:lnTo>
                  <a:lnTo>
                    <a:pt x="99549" y="3682860"/>
                  </a:lnTo>
                  <a:lnTo>
                    <a:pt x="115525" y="3737391"/>
                  </a:lnTo>
                  <a:lnTo>
                    <a:pt x="132159" y="3788824"/>
                  </a:lnTo>
                  <a:lnTo>
                    <a:pt x="149680" y="3837186"/>
                  </a:lnTo>
                  <a:lnTo>
                    <a:pt x="168314" y="3882507"/>
                  </a:lnTo>
                  <a:lnTo>
                    <a:pt x="188288" y="3924814"/>
                  </a:lnTo>
                  <a:lnTo>
                    <a:pt x="209830" y="3964136"/>
                  </a:lnTo>
                  <a:lnTo>
                    <a:pt x="233166" y="4000501"/>
                  </a:lnTo>
                  <a:lnTo>
                    <a:pt x="258525" y="4033939"/>
                  </a:lnTo>
                  <a:lnTo>
                    <a:pt x="286133" y="4064477"/>
                  </a:lnTo>
                  <a:lnTo>
                    <a:pt x="316217" y="4092143"/>
                  </a:lnTo>
                  <a:lnTo>
                    <a:pt x="349005" y="4116967"/>
                  </a:lnTo>
                  <a:lnTo>
                    <a:pt x="384724" y="4138977"/>
                  </a:lnTo>
                  <a:lnTo>
                    <a:pt x="423601" y="4158201"/>
                  </a:lnTo>
                  <a:lnTo>
                    <a:pt x="465863" y="4174667"/>
                  </a:lnTo>
                  <a:lnTo>
                    <a:pt x="511738" y="4188404"/>
                  </a:lnTo>
                  <a:lnTo>
                    <a:pt x="561452" y="4199441"/>
                  </a:lnTo>
                  <a:lnTo>
                    <a:pt x="606642" y="4206763"/>
                  </a:lnTo>
                  <a:lnTo>
                    <a:pt x="654230" y="4212561"/>
                  </a:lnTo>
                  <a:lnTo>
                    <a:pt x="703696" y="4217231"/>
                  </a:lnTo>
                  <a:lnTo>
                    <a:pt x="754518" y="4221168"/>
                  </a:lnTo>
                  <a:lnTo>
                    <a:pt x="806174" y="4224767"/>
                  </a:lnTo>
                  <a:lnTo>
                    <a:pt x="858144" y="4228423"/>
                  </a:lnTo>
                  <a:lnTo>
                    <a:pt x="909906" y="4232532"/>
                  </a:lnTo>
                  <a:lnTo>
                    <a:pt x="960938" y="4237488"/>
                  </a:lnTo>
                  <a:lnTo>
                    <a:pt x="1010719" y="4243687"/>
                  </a:lnTo>
                  <a:lnTo>
                    <a:pt x="1058729" y="4251525"/>
                  </a:lnTo>
                  <a:lnTo>
                    <a:pt x="1104445" y="4261395"/>
                  </a:lnTo>
                  <a:lnTo>
                    <a:pt x="1147346" y="4273693"/>
                  </a:lnTo>
                  <a:lnTo>
                    <a:pt x="1186911" y="4288814"/>
                  </a:lnTo>
                  <a:lnTo>
                    <a:pt x="1222619" y="4307154"/>
                  </a:lnTo>
                  <a:lnTo>
                    <a:pt x="1263202" y="4336339"/>
                  </a:lnTo>
                  <a:lnTo>
                    <a:pt x="1297939" y="4370247"/>
                  </a:lnTo>
                  <a:lnTo>
                    <a:pt x="1328516" y="4407383"/>
                  </a:lnTo>
                  <a:lnTo>
                    <a:pt x="1356617" y="4446253"/>
                  </a:lnTo>
                  <a:lnTo>
                    <a:pt x="1383925" y="4485364"/>
                  </a:lnTo>
                  <a:lnTo>
                    <a:pt x="1412126" y="4523222"/>
                  </a:lnTo>
                  <a:lnTo>
                    <a:pt x="1442904" y="4558332"/>
                  </a:lnTo>
                  <a:lnTo>
                    <a:pt x="1472872" y="4585668"/>
                  </a:lnTo>
                  <a:lnTo>
                    <a:pt x="1505916" y="4610000"/>
                  </a:lnTo>
                  <a:lnTo>
                    <a:pt x="1541889" y="4631532"/>
                  </a:lnTo>
                  <a:lnTo>
                    <a:pt x="1580645" y="4650468"/>
                  </a:lnTo>
                  <a:lnTo>
                    <a:pt x="1622038" y="4667012"/>
                  </a:lnTo>
                  <a:lnTo>
                    <a:pt x="1665920" y="4681367"/>
                  </a:lnTo>
                  <a:lnTo>
                    <a:pt x="1712146" y="4693738"/>
                  </a:lnTo>
                  <a:lnTo>
                    <a:pt x="1760569" y="4704328"/>
                  </a:lnTo>
                  <a:lnTo>
                    <a:pt x="1811042" y="4713343"/>
                  </a:lnTo>
                  <a:lnTo>
                    <a:pt x="1863419" y="4720984"/>
                  </a:lnTo>
                  <a:lnTo>
                    <a:pt x="1917552" y="4727458"/>
                  </a:lnTo>
                  <a:lnTo>
                    <a:pt x="1973297" y="4732966"/>
                  </a:lnTo>
                  <a:lnTo>
                    <a:pt x="2030505" y="4737714"/>
                  </a:lnTo>
                  <a:lnTo>
                    <a:pt x="2086001" y="4741648"/>
                  </a:lnTo>
                  <a:lnTo>
                    <a:pt x="2142138" y="4744904"/>
                  </a:lnTo>
                  <a:lnTo>
                    <a:pt x="2198368" y="4747310"/>
                  </a:lnTo>
                  <a:lnTo>
                    <a:pt x="2254141" y="4748690"/>
                  </a:lnTo>
                  <a:lnTo>
                    <a:pt x="2308909" y="4748869"/>
                  </a:lnTo>
                  <a:lnTo>
                    <a:pt x="2362125" y="4747673"/>
                  </a:lnTo>
                  <a:lnTo>
                    <a:pt x="2413239" y="4744929"/>
                  </a:lnTo>
                  <a:lnTo>
                    <a:pt x="2461705" y="4740460"/>
                  </a:lnTo>
                  <a:lnTo>
                    <a:pt x="2506972" y="4734094"/>
                  </a:lnTo>
                  <a:lnTo>
                    <a:pt x="2548493" y="4725655"/>
                  </a:lnTo>
                  <a:lnTo>
                    <a:pt x="2585721" y="4714968"/>
                  </a:lnTo>
                  <a:lnTo>
                    <a:pt x="2644077" y="4686993"/>
                  </a:lnTo>
                  <a:lnTo>
                    <a:pt x="2682115" y="4650525"/>
                  </a:lnTo>
                  <a:lnTo>
                    <a:pt x="2702913" y="4605652"/>
                  </a:lnTo>
                  <a:lnTo>
                    <a:pt x="2708038" y="4553059"/>
                  </a:lnTo>
                  <a:lnTo>
                    <a:pt x="2705211" y="4524082"/>
                  </a:lnTo>
                  <a:lnTo>
                    <a:pt x="2689758" y="4461194"/>
                  </a:lnTo>
                  <a:lnTo>
                    <a:pt x="2662543" y="4392301"/>
                  </a:lnTo>
                  <a:lnTo>
                    <a:pt x="2645014" y="4355816"/>
                  </a:lnTo>
                  <a:lnTo>
                    <a:pt x="2625130" y="4318087"/>
                  </a:lnTo>
                  <a:lnTo>
                    <a:pt x="2603089" y="4279200"/>
                  </a:lnTo>
                  <a:lnTo>
                    <a:pt x="2579085" y="4239239"/>
                  </a:lnTo>
                  <a:lnTo>
                    <a:pt x="2553314" y="4198291"/>
                  </a:lnTo>
                  <a:lnTo>
                    <a:pt x="2525971" y="4156442"/>
                  </a:lnTo>
                  <a:lnTo>
                    <a:pt x="2497253" y="4113776"/>
                  </a:lnTo>
                  <a:lnTo>
                    <a:pt x="2467354" y="4070381"/>
                  </a:lnTo>
                  <a:lnTo>
                    <a:pt x="2436471" y="4026341"/>
                  </a:lnTo>
                  <a:lnTo>
                    <a:pt x="2404799" y="3981742"/>
                  </a:lnTo>
                  <a:lnTo>
                    <a:pt x="2372533" y="3936671"/>
                  </a:lnTo>
                  <a:lnTo>
                    <a:pt x="2339870" y="3891212"/>
                  </a:lnTo>
                  <a:lnTo>
                    <a:pt x="2307004" y="3845451"/>
                  </a:lnTo>
                  <a:lnTo>
                    <a:pt x="2274132" y="3799474"/>
                  </a:lnTo>
                  <a:lnTo>
                    <a:pt x="2241448" y="3753367"/>
                  </a:lnTo>
                  <a:lnTo>
                    <a:pt x="2209149" y="3707216"/>
                  </a:lnTo>
                  <a:lnTo>
                    <a:pt x="2177431" y="3661105"/>
                  </a:lnTo>
                  <a:lnTo>
                    <a:pt x="2142613" y="3609323"/>
                  </a:lnTo>
                  <a:lnTo>
                    <a:pt x="2108878" y="3557774"/>
                  </a:lnTo>
                  <a:lnTo>
                    <a:pt x="2076327" y="3506536"/>
                  </a:lnTo>
                  <a:lnTo>
                    <a:pt x="2045059" y="3455681"/>
                  </a:lnTo>
                  <a:lnTo>
                    <a:pt x="2015173" y="3405283"/>
                  </a:lnTo>
                  <a:lnTo>
                    <a:pt x="1986770" y="3355419"/>
                  </a:lnTo>
                  <a:lnTo>
                    <a:pt x="1959949" y="3306161"/>
                  </a:lnTo>
                  <a:lnTo>
                    <a:pt x="1934810" y="3257584"/>
                  </a:lnTo>
                  <a:lnTo>
                    <a:pt x="1911452" y="3209763"/>
                  </a:lnTo>
                  <a:lnTo>
                    <a:pt x="1889976" y="3162773"/>
                  </a:lnTo>
                  <a:lnTo>
                    <a:pt x="1870481" y="3116686"/>
                  </a:lnTo>
                  <a:lnTo>
                    <a:pt x="1853066" y="3071578"/>
                  </a:lnTo>
                  <a:lnTo>
                    <a:pt x="1837833" y="3027524"/>
                  </a:lnTo>
                  <a:lnTo>
                    <a:pt x="1824879" y="2984597"/>
                  </a:lnTo>
                  <a:lnTo>
                    <a:pt x="1814305" y="2942872"/>
                  </a:lnTo>
                  <a:lnTo>
                    <a:pt x="1806212" y="2902424"/>
                  </a:lnTo>
                  <a:lnTo>
                    <a:pt x="1800698" y="2863326"/>
                  </a:lnTo>
                  <a:lnTo>
                    <a:pt x="1797807" y="2789481"/>
                  </a:lnTo>
                  <a:lnTo>
                    <a:pt x="1800629" y="2754882"/>
                  </a:lnTo>
                  <a:lnTo>
                    <a:pt x="1815310" y="2690704"/>
                  </a:lnTo>
                  <a:lnTo>
                    <a:pt x="1842702" y="2633715"/>
                  </a:lnTo>
                  <a:lnTo>
                    <a:pt x="1883604" y="2584510"/>
                  </a:lnTo>
                  <a:lnTo>
                    <a:pt x="1938080" y="2543477"/>
                  </a:lnTo>
                  <a:lnTo>
                    <a:pt x="2004773" y="2509158"/>
                  </a:lnTo>
                  <a:lnTo>
                    <a:pt x="2042088" y="2494018"/>
                  </a:lnTo>
                  <a:lnTo>
                    <a:pt x="2081720" y="2479961"/>
                  </a:lnTo>
                  <a:lnTo>
                    <a:pt x="2123425" y="2466786"/>
                  </a:lnTo>
                  <a:lnTo>
                    <a:pt x="2166957" y="2454294"/>
                  </a:lnTo>
                  <a:lnTo>
                    <a:pt x="2212071" y="2442288"/>
                  </a:lnTo>
                  <a:lnTo>
                    <a:pt x="2258522" y="2430567"/>
                  </a:lnTo>
                  <a:lnTo>
                    <a:pt x="2306063" y="2418933"/>
                  </a:lnTo>
                  <a:lnTo>
                    <a:pt x="2354450" y="2407187"/>
                  </a:lnTo>
                  <a:lnTo>
                    <a:pt x="2403437" y="2395129"/>
                  </a:lnTo>
                  <a:lnTo>
                    <a:pt x="2452778" y="2382562"/>
                  </a:lnTo>
                  <a:lnTo>
                    <a:pt x="2502229" y="2369286"/>
                  </a:lnTo>
                  <a:lnTo>
                    <a:pt x="2551544" y="2355102"/>
                  </a:lnTo>
                  <a:lnTo>
                    <a:pt x="2600477" y="2339811"/>
                  </a:lnTo>
                  <a:lnTo>
                    <a:pt x="2648783" y="2323214"/>
                  </a:lnTo>
                  <a:lnTo>
                    <a:pt x="2696216" y="2305112"/>
                  </a:lnTo>
                  <a:lnTo>
                    <a:pt x="2742532" y="2285307"/>
                  </a:lnTo>
                  <a:lnTo>
                    <a:pt x="2787484" y="2263598"/>
                  </a:lnTo>
                  <a:lnTo>
                    <a:pt x="2830828" y="2239789"/>
                  </a:lnTo>
                  <a:lnTo>
                    <a:pt x="2872318" y="2213678"/>
                  </a:lnTo>
                  <a:lnTo>
                    <a:pt x="2911708" y="2185068"/>
                  </a:lnTo>
                  <a:lnTo>
                    <a:pt x="2948753" y="2153760"/>
                  </a:lnTo>
                  <a:lnTo>
                    <a:pt x="2985421" y="2117298"/>
                  </a:lnTo>
                  <a:lnTo>
                    <a:pt x="3019054" y="2077944"/>
                  </a:lnTo>
                  <a:lnTo>
                    <a:pt x="3049562" y="2036107"/>
                  </a:lnTo>
                  <a:lnTo>
                    <a:pt x="3076859" y="1992197"/>
                  </a:lnTo>
                  <a:lnTo>
                    <a:pt x="3100855" y="1946624"/>
                  </a:lnTo>
                  <a:lnTo>
                    <a:pt x="3121462" y="1899797"/>
                  </a:lnTo>
                  <a:lnTo>
                    <a:pt x="3138593" y="1852126"/>
                  </a:lnTo>
                  <a:lnTo>
                    <a:pt x="3152159" y="1804020"/>
                  </a:lnTo>
                  <a:lnTo>
                    <a:pt x="3162073" y="1755890"/>
                  </a:lnTo>
                  <a:lnTo>
                    <a:pt x="3168245" y="1708145"/>
                  </a:lnTo>
                  <a:lnTo>
                    <a:pt x="3170587" y="1661195"/>
                  </a:lnTo>
                  <a:lnTo>
                    <a:pt x="3169012" y="1615449"/>
                  </a:lnTo>
                  <a:lnTo>
                    <a:pt x="3163286" y="1570024"/>
                  </a:lnTo>
                  <a:lnTo>
                    <a:pt x="3153601" y="1526184"/>
                  </a:lnTo>
                  <a:lnTo>
                    <a:pt x="3140233" y="1483800"/>
                  </a:lnTo>
                  <a:lnTo>
                    <a:pt x="3123460" y="1442744"/>
                  </a:lnTo>
                  <a:lnTo>
                    <a:pt x="3103558" y="1402889"/>
                  </a:lnTo>
                  <a:lnTo>
                    <a:pt x="3080805" y="1364106"/>
                  </a:lnTo>
                  <a:lnTo>
                    <a:pt x="3055479" y="1326266"/>
                  </a:lnTo>
                  <a:lnTo>
                    <a:pt x="3027856" y="1289242"/>
                  </a:lnTo>
                  <a:lnTo>
                    <a:pt x="2998213" y="1252906"/>
                  </a:lnTo>
                  <a:lnTo>
                    <a:pt x="2966827" y="1217129"/>
                  </a:lnTo>
                  <a:lnTo>
                    <a:pt x="2933976" y="1181782"/>
                  </a:lnTo>
                  <a:lnTo>
                    <a:pt x="2899937" y="1146739"/>
                  </a:lnTo>
                  <a:lnTo>
                    <a:pt x="2864987" y="1111871"/>
                  </a:lnTo>
                  <a:lnTo>
                    <a:pt x="2829403" y="1077049"/>
                  </a:lnTo>
                  <a:lnTo>
                    <a:pt x="2793462" y="1042145"/>
                  </a:lnTo>
                  <a:lnTo>
                    <a:pt x="2757441" y="1007032"/>
                  </a:lnTo>
                  <a:lnTo>
                    <a:pt x="2721618" y="971580"/>
                  </a:lnTo>
                  <a:lnTo>
                    <a:pt x="2686269" y="935663"/>
                  </a:lnTo>
                  <a:lnTo>
                    <a:pt x="2651673" y="899150"/>
                  </a:lnTo>
                  <a:lnTo>
                    <a:pt x="2618105" y="861916"/>
                  </a:lnTo>
                  <a:lnTo>
                    <a:pt x="2576398" y="812372"/>
                  </a:lnTo>
                  <a:lnTo>
                    <a:pt x="2536777" y="761804"/>
                  </a:lnTo>
                  <a:lnTo>
                    <a:pt x="2499122" y="710624"/>
                  </a:lnTo>
                  <a:lnTo>
                    <a:pt x="2463316" y="659243"/>
                  </a:lnTo>
                  <a:lnTo>
                    <a:pt x="2429239" y="608072"/>
                  </a:lnTo>
                  <a:lnTo>
                    <a:pt x="2396773" y="557522"/>
                  </a:lnTo>
                  <a:lnTo>
                    <a:pt x="2365798" y="508006"/>
                  </a:lnTo>
                  <a:lnTo>
                    <a:pt x="2336197" y="459933"/>
                  </a:lnTo>
                  <a:lnTo>
                    <a:pt x="2307850" y="413716"/>
                  </a:lnTo>
                  <a:lnTo>
                    <a:pt x="2280638" y="369766"/>
                  </a:lnTo>
                  <a:lnTo>
                    <a:pt x="2254444" y="328494"/>
                  </a:lnTo>
                  <a:lnTo>
                    <a:pt x="2229147" y="290311"/>
                  </a:lnTo>
                  <a:lnTo>
                    <a:pt x="2204630" y="255629"/>
                  </a:lnTo>
                  <a:lnTo>
                    <a:pt x="2180774" y="224859"/>
                  </a:lnTo>
                  <a:lnTo>
                    <a:pt x="2134569" y="176699"/>
                  </a:lnTo>
                  <a:lnTo>
                    <a:pt x="2089582" y="149124"/>
                  </a:lnTo>
                  <a:lnTo>
                    <a:pt x="2067249" y="144084"/>
                  </a:lnTo>
                  <a:close/>
                </a:path>
              </a:pathLst>
            </a:custGeom>
            <a:ln w="18525">
              <a:solidFill>
                <a:srgbClr val="000000"/>
              </a:solidFill>
            </a:ln>
          </p:spPr>
          <p:txBody>
            <a:bodyPr wrap="square" lIns="0" tIns="0" rIns="0" bIns="0" rtlCol="0"/>
            <a:lstStyle/>
            <a:p/>
          </p:txBody>
        </p:sp>
        <p:sp>
          <p:nvSpPr>
            <p:cNvPr id="15" name="object 15" descr=""/>
            <p:cNvSpPr/>
            <p:nvPr/>
          </p:nvSpPr>
          <p:spPr>
            <a:xfrm>
              <a:off x="8340107" y="1096398"/>
              <a:ext cx="2468245" cy="502920"/>
            </a:xfrm>
            <a:custGeom>
              <a:avLst/>
              <a:gdLst/>
              <a:ahLst/>
              <a:cxnLst/>
              <a:rect l="l" t="t" r="r" b="b"/>
              <a:pathLst>
                <a:path w="2468245" h="502919">
                  <a:moveTo>
                    <a:pt x="2468227" y="0"/>
                  </a:moveTo>
                  <a:lnTo>
                    <a:pt x="0" y="0"/>
                  </a:lnTo>
                  <a:lnTo>
                    <a:pt x="0" y="502431"/>
                  </a:lnTo>
                  <a:lnTo>
                    <a:pt x="2468227" y="502431"/>
                  </a:lnTo>
                  <a:lnTo>
                    <a:pt x="2468227" y="0"/>
                  </a:lnTo>
                  <a:close/>
                </a:path>
              </a:pathLst>
            </a:custGeom>
            <a:solidFill>
              <a:srgbClr val="FFFFFF"/>
            </a:solidFill>
          </p:spPr>
          <p:txBody>
            <a:bodyPr wrap="square" lIns="0" tIns="0" rIns="0" bIns="0" rtlCol="0"/>
            <a:lstStyle/>
            <a:p/>
          </p:txBody>
        </p:sp>
      </p:grpSp>
      <p:sp>
        <p:nvSpPr>
          <p:cNvPr id="16" name="object 16" descr=""/>
          <p:cNvSpPr txBox="1"/>
          <p:nvPr/>
        </p:nvSpPr>
        <p:spPr>
          <a:xfrm>
            <a:off x="8340107" y="1096398"/>
            <a:ext cx="2468245" cy="502920"/>
          </a:xfrm>
          <a:prstGeom prst="rect">
            <a:avLst/>
          </a:prstGeom>
          <a:ln w="18248">
            <a:solidFill>
              <a:srgbClr val="000000"/>
            </a:solidFill>
          </a:ln>
        </p:spPr>
        <p:txBody>
          <a:bodyPr wrap="square" lIns="0" tIns="73025" rIns="0" bIns="0" rtlCol="0" vert="horz">
            <a:spAutoFit/>
          </a:bodyPr>
          <a:lstStyle/>
          <a:p>
            <a:pPr marL="175895">
              <a:lnSpc>
                <a:spcPct val="100000"/>
              </a:lnSpc>
              <a:spcBef>
                <a:spcPts val="575"/>
              </a:spcBef>
            </a:pPr>
            <a:r>
              <a:rPr dirty="0" sz="2000" b="1">
                <a:latin typeface="Times New Roman"/>
                <a:cs typeface="Times New Roman"/>
              </a:rPr>
              <a:t>1:</a:t>
            </a:r>
            <a:r>
              <a:rPr dirty="0" sz="2000" spc="45" b="1">
                <a:latin typeface="Times New Roman"/>
                <a:cs typeface="Times New Roman"/>
              </a:rPr>
              <a:t> </a:t>
            </a:r>
            <a:r>
              <a:rPr dirty="0" sz="2000" b="1">
                <a:latin typeface="Times New Roman"/>
                <a:cs typeface="Times New Roman"/>
              </a:rPr>
              <a:t>A[i]</a:t>
            </a:r>
            <a:r>
              <a:rPr dirty="0" sz="2000" spc="45" b="1">
                <a:latin typeface="Times New Roman"/>
                <a:cs typeface="Times New Roman"/>
              </a:rPr>
              <a:t> </a:t>
            </a:r>
            <a:r>
              <a:rPr dirty="0" sz="2000" b="1">
                <a:latin typeface="Times New Roman"/>
                <a:cs typeface="Times New Roman"/>
              </a:rPr>
              <a:t>=</a:t>
            </a:r>
            <a:r>
              <a:rPr dirty="0" sz="2000" spc="50" b="1">
                <a:latin typeface="Times New Roman"/>
                <a:cs typeface="Times New Roman"/>
              </a:rPr>
              <a:t> </a:t>
            </a:r>
            <a:r>
              <a:rPr dirty="0" sz="2000" b="1">
                <a:latin typeface="Times New Roman"/>
                <a:cs typeface="Times New Roman"/>
              </a:rPr>
              <a:t>A[i]</a:t>
            </a:r>
            <a:r>
              <a:rPr dirty="0" sz="2000" spc="45" b="1">
                <a:latin typeface="Times New Roman"/>
                <a:cs typeface="Times New Roman"/>
              </a:rPr>
              <a:t> </a:t>
            </a:r>
            <a:r>
              <a:rPr dirty="0" sz="2000" b="1">
                <a:latin typeface="Times New Roman"/>
                <a:cs typeface="Times New Roman"/>
              </a:rPr>
              <a:t>+</a:t>
            </a:r>
            <a:r>
              <a:rPr dirty="0" sz="2000" spc="45" b="1">
                <a:latin typeface="Times New Roman"/>
                <a:cs typeface="Times New Roman"/>
              </a:rPr>
              <a:t> </a:t>
            </a:r>
            <a:r>
              <a:rPr dirty="0" sz="2000" spc="-20" b="1">
                <a:latin typeface="Times New Roman"/>
                <a:cs typeface="Times New Roman"/>
              </a:rPr>
              <a:t>B[i]</a:t>
            </a:r>
            <a:endParaRPr sz="2000">
              <a:latin typeface="Times New Roman"/>
              <a:cs typeface="Times New Roman"/>
            </a:endParaRPr>
          </a:p>
        </p:txBody>
      </p:sp>
      <p:grpSp>
        <p:nvGrpSpPr>
          <p:cNvPr id="17" name="object 17" descr=""/>
          <p:cNvGrpSpPr/>
          <p:nvPr/>
        </p:nvGrpSpPr>
        <p:grpSpPr>
          <a:xfrm>
            <a:off x="8698189" y="2163635"/>
            <a:ext cx="1487805" cy="1095375"/>
            <a:chOff x="8698189" y="2163635"/>
            <a:chExt cx="1487805" cy="1095375"/>
          </a:xfrm>
        </p:grpSpPr>
        <p:sp>
          <p:nvSpPr>
            <p:cNvPr id="18" name="object 18" descr=""/>
            <p:cNvSpPr/>
            <p:nvPr/>
          </p:nvSpPr>
          <p:spPr>
            <a:xfrm>
              <a:off x="8707396" y="2172842"/>
              <a:ext cx="1469390" cy="1076960"/>
            </a:xfrm>
            <a:custGeom>
              <a:avLst/>
              <a:gdLst/>
              <a:ahLst/>
              <a:cxnLst/>
              <a:rect l="l" t="t" r="r" b="b"/>
              <a:pathLst>
                <a:path w="1469390" h="1076960">
                  <a:moveTo>
                    <a:pt x="734526" y="0"/>
                  </a:moveTo>
                  <a:lnTo>
                    <a:pt x="0" y="574265"/>
                  </a:lnTo>
                  <a:lnTo>
                    <a:pt x="734526" y="1076697"/>
                  </a:lnTo>
                  <a:lnTo>
                    <a:pt x="1469026" y="574265"/>
                  </a:lnTo>
                  <a:lnTo>
                    <a:pt x="734526" y="0"/>
                  </a:lnTo>
                  <a:close/>
                </a:path>
              </a:pathLst>
            </a:custGeom>
            <a:solidFill>
              <a:srgbClr val="FFFFFF"/>
            </a:solidFill>
          </p:spPr>
          <p:txBody>
            <a:bodyPr wrap="square" lIns="0" tIns="0" rIns="0" bIns="0" rtlCol="0"/>
            <a:lstStyle/>
            <a:p/>
          </p:txBody>
        </p:sp>
        <p:sp>
          <p:nvSpPr>
            <p:cNvPr id="19" name="object 19" descr=""/>
            <p:cNvSpPr/>
            <p:nvPr/>
          </p:nvSpPr>
          <p:spPr>
            <a:xfrm>
              <a:off x="8707396" y="2172842"/>
              <a:ext cx="1469390" cy="1076960"/>
            </a:xfrm>
            <a:custGeom>
              <a:avLst/>
              <a:gdLst/>
              <a:ahLst/>
              <a:cxnLst/>
              <a:rect l="l" t="t" r="r" b="b"/>
              <a:pathLst>
                <a:path w="1469390" h="1076960">
                  <a:moveTo>
                    <a:pt x="734526" y="0"/>
                  </a:moveTo>
                  <a:lnTo>
                    <a:pt x="0" y="574265"/>
                  </a:lnTo>
                  <a:lnTo>
                    <a:pt x="734526" y="1076697"/>
                  </a:lnTo>
                  <a:lnTo>
                    <a:pt x="1469026" y="574265"/>
                  </a:lnTo>
                  <a:lnTo>
                    <a:pt x="734526" y="0"/>
                  </a:lnTo>
                  <a:close/>
                </a:path>
              </a:pathLst>
            </a:custGeom>
            <a:ln w="18379">
              <a:solidFill>
                <a:srgbClr val="000000"/>
              </a:solidFill>
            </a:ln>
          </p:spPr>
          <p:txBody>
            <a:bodyPr wrap="square" lIns="0" tIns="0" rIns="0" bIns="0" rtlCol="0"/>
            <a:lstStyle/>
            <a:p/>
          </p:txBody>
        </p:sp>
      </p:grpSp>
      <p:sp>
        <p:nvSpPr>
          <p:cNvPr id="20" name="object 20" descr=""/>
          <p:cNvSpPr txBox="1"/>
          <p:nvPr/>
        </p:nvSpPr>
        <p:spPr>
          <a:xfrm>
            <a:off x="8804956" y="2521208"/>
            <a:ext cx="1274445" cy="329565"/>
          </a:xfrm>
          <a:prstGeom prst="rect">
            <a:avLst/>
          </a:prstGeom>
        </p:spPr>
        <p:txBody>
          <a:bodyPr wrap="square" lIns="0" tIns="11430" rIns="0" bIns="0" rtlCol="0" vert="horz">
            <a:spAutoFit/>
          </a:bodyPr>
          <a:lstStyle/>
          <a:p>
            <a:pPr marL="12700">
              <a:lnSpc>
                <a:spcPct val="100000"/>
              </a:lnSpc>
              <a:spcBef>
                <a:spcPts val="90"/>
              </a:spcBef>
            </a:pPr>
            <a:r>
              <a:rPr dirty="0" sz="2000" b="1">
                <a:latin typeface="Times New Roman"/>
                <a:cs typeface="Times New Roman"/>
              </a:rPr>
              <a:t>2:</a:t>
            </a:r>
            <a:r>
              <a:rPr dirty="0" sz="2000" spc="40" b="1">
                <a:latin typeface="Times New Roman"/>
                <a:cs typeface="Times New Roman"/>
              </a:rPr>
              <a:t> </a:t>
            </a:r>
            <a:r>
              <a:rPr dirty="0" sz="2000" b="1">
                <a:latin typeface="Times New Roman"/>
                <a:cs typeface="Times New Roman"/>
              </a:rPr>
              <a:t>A[i]</a:t>
            </a:r>
            <a:r>
              <a:rPr dirty="0" sz="2000" spc="45" b="1">
                <a:latin typeface="Times New Roman"/>
                <a:cs typeface="Times New Roman"/>
              </a:rPr>
              <a:t> </a:t>
            </a:r>
            <a:r>
              <a:rPr dirty="0" sz="2000" b="1">
                <a:latin typeface="Times New Roman"/>
                <a:cs typeface="Times New Roman"/>
              </a:rPr>
              <a:t>=</a:t>
            </a:r>
            <a:r>
              <a:rPr dirty="0" sz="2000" spc="40" b="1">
                <a:latin typeface="Times New Roman"/>
                <a:cs typeface="Times New Roman"/>
              </a:rPr>
              <a:t> </a:t>
            </a:r>
            <a:r>
              <a:rPr dirty="0" sz="2000" spc="-25" b="1">
                <a:latin typeface="Times New Roman"/>
                <a:cs typeface="Times New Roman"/>
              </a:rPr>
              <a:t>0?</a:t>
            </a:r>
            <a:endParaRPr sz="2000">
              <a:latin typeface="Times New Roman"/>
              <a:cs typeface="Times New Roman"/>
            </a:endParaRPr>
          </a:p>
        </p:txBody>
      </p:sp>
      <p:sp>
        <p:nvSpPr>
          <p:cNvPr id="21" name="object 21" descr=""/>
          <p:cNvSpPr txBox="1"/>
          <p:nvPr/>
        </p:nvSpPr>
        <p:spPr>
          <a:xfrm>
            <a:off x="7238318" y="3823729"/>
            <a:ext cx="1469390" cy="502920"/>
          </a:xfrm>
          <a:prstGeom prst="rect">
            <a:avLst/>
          </a:prstGeom>
          <a:solidFill>
            <a:srgbClr val="FFFFFF"/>
          </a:solidFill>
          <a:ln w="18277">
            <a:solidFill>
              <a:srgbClr val="000000"/>
            </a:solidFill>
          </a:ln>
        </p:spPr>
        <p:txBody>
          <a:bodyPr wrap="square" lIns="0" tIns="73025" rIns="0" bIns="0" rtlCol="0" vert="horz">
            <a:spAutoFit/>
          </a:bodyPr>
          <a:lstStyle/>
          <a:p>
            <a:pPr marL="278765">
              <a:lnSpc>
                <a:spcPct val="100000"/>
              </a:lnSpc>
              <a:spcBef>
                <a:spcPts val="575"/>
              </a:spcBef>
            </a:pPr>
            <a:r>
              <a:rPr dirty="0" sz="2000" b="1">
                <a:latin typeface="Times New Roman"/>
                <a:cs typeface="Times New Roman"/>
              </a:rPr>
              <a:t>3:</a:t>
            </a:r>
            <a:r>
              <a:rPr dirty="0" sz="2000" spc="45" b="1">
                <a:latin typeface="Times New Roman"/>
                <a:cs typeface="Times New Roman"/>
              </a:rPr>
              <a:t> </a:t>
            </a:r>
            <a:r>
              <a:rPr dirty="0" sz="2000" b="1">
                <a:latin typeface="Times New Roman"/>
                <a:cs typeface="Times New Roman"/>
              </a:rPr>
              <a:t>B[i]</a:t>
            </a:r>
            <a:r>
              <a:rPr dirty="0" sz="2000" spc="55" b="1">
                <a:latin typeface="Times New Roman"/>
                <a:cs typeface="Times New Roman"/>
              </a:rPr>
              <a:t> </a:t>
            </a:r>
            <a:r>
              <a:rPr dirty="0" sz="2000" spc="-50" b="1">
                <a:latin typeface="Times New Roman"/>
                <a:cs typeface="Times New Roman"/>
              </a:rPr>
              <a:t>=</a:t>
            </a:r>
            <a:endParaRPr sz="2000">
              <a:latin typeface="Times New Roman"/>
              <a:cs typeface="Times New Roman"/>
            </a:endParaRPr>
          </a:p>
        </p:txBody>
      </p:sp>
      <p:sp>
        <p:nvSpPr>
          <p:cNvPr id="22" name="object 22" descr=""/>
          <p:cNvSpPr txBox="1"/>
          <p:nvPr/>
        </p:nvSpPr>
        <p:spPr>
          <a:xfrm>
            <a:off x="8707397" y="5043886"/>
            <a:ext cx="1469390" cy="502920"/>
          </a:xfrm>
          <a:prstGeom prst="rect">
            <a:avLst/>
          </a:prstGeom>
          <a:solidFill>
            <a:srgbClr val="FFFFFF"/>
          </a:solidFill>
          <a:ln w="18277">
            <a:solidFill>
              <a:srgbClr val="000000"/>
            </a:solidFill>
          </a:ln>
        </p:spPr>
        <p:txBody>
          <a:bodyPr wrap="square" lIns="0" tIns="73025" rIns="0" bIns="0" rtlCol="0" vert="horz">
            <a:spAutoFit/>
          </a:bodyPr>
          <a:lstStyle/>
          <a:p>
            <a:pPr marL="271780">
              <a:lnSpc>
                <a:spcPct val="100000"/>
              </a:lnSpc>
              <a:spcBef>
                <a:spcPts val="575"/>
              </a:spcBef>
            </a:pPr>
            <a:r>
              <a:rPr dirty="0" sz="2000" b="1">
                <a:latin typeface="Times New Roman"/>
                <a:cs typeface="Times New Roman"/>
              </a:rPr>
              <a:t>5:</a:t>
            </a:r>
            <a:r>
              <a:rPr dirty="0" sz="2000" spc="50" b="1">
                <a:latin typeface="Times New Roman"/>
                <a:cs typeface="Times New Roman"/>
              </a:rPr>
              <a:t> </a:t>
            </a:r>
            <a:r>
              <a:rPr dirty="0" sz="2000" b="1">
                <a:latin typeface="Times New Roman"/>
                <a:cs typeface="Times New Roman"/>
              </a:rPr>
              <a:t>C[i]</a:t>
            </a:r>
            <a:r>
              <a:rPr dirty="0" sz="2000" spc="50" b="1">
                <a:latin typeface="Times New Roman"/>
                <a:cs typeface="Times New Roman"/>
              </a:rPr>
              <a:t> </a:t>
            </a:r>
            <a:r>
              <a:rPr dirty="0" sz="2000" spc="-50" b="1">
                <a:latin typeface="Times New Roman"/>
                <a:cs typeface="Times New Roman"/>
              </a:rPr>
              <a:t>=</a:t>
            </a:r>
            <a:endParaRPr sz="2000">
              <a:latin typeface="Times New Roman"/>
              <a:cs typeface="Times New Roman"/>
            </a:endParaRPr>
          </a:p>
        </p:txBody>
      </p:sp>
      <p:sp>
        <p:nvSpPr>
          <p:cNvPr id="23" name="object 23" descr=""/>
          <p:cNvSpPr txBox="1"/>
          <p:nvPr/>
        </p:nvSpPr>
        <p:spPr>
          <a:xfrm>
            <a:off x="10176423" y="3823729"/>
            <a:ext cx="1469390" cy="502920"/>
          </a:xfrm>
          <a:prstGeom prst="rect">
            <a:avLst/>
          </a:prstGeom>
          <a:ln w="18277">
            <a:solidFill>
              <a:srgbClr val="000000"/>
            </a:solidFill>
          </a:ln>
        </p:spPr>
        <p:txBody>
          <a:bodyPr wrap="square" lIns="0" tIns="73025" rIns="0" bIns="0" rtlCol="0" vert="horz">
            <a:spAutoFit/>
          </a:bodyPr>
          <a:lstStyle/>
          <a:p>
            <a:pPr algn="ctr">
              <a:lnSpc>
                <a:spcPct val="100000"/>
              </a:lnSpc>
              <a:spcBef>
                <a:spcPts val="575"/>
              </a:spcBef>
            </a:pPr>
            <a:r>
              <a:rPr dirty="0" sz="2000" b="1">
                <a:latin typeface="Times New Roman"/>
                <a:cs typeface="Times New Roman"/>
              </a:rPr>
              <a:t>4:</a:t>
            </a:r>
            <a:r>
              <a:rPr dirty="0" sz="2000" spc="40" b="1">
                <a:latin typeface="Times New Roman"/>
                <a:cs typeface="Times New Roman"/>
              </a:rPr>
              <a:t> </a:t>
            </a:r>
            <a:r>
              <a:rPr dirty="0" sz="2000" spc="-50" b="1">
                <a:latin typeface="Times New Roman"/>
                <a:cs typeface="Times New Roman"/>
              </a:rPr>
              <a:t>X</a:t>
            </a:r>
            <a:endParaRPr sz="2000">
              <a:latin typeface="Times New Roman"/>
              <a:cs typeface="Times New Roman"/>
            </a:endParaRPr>
          </a:p>
        </p:txBody>
      </p:sp>
      <p:grpSp>
        <p:nvGrpSpPr>
          <p:cNvPr id="24" name="object 24" descr=""/>
          <p:cNvGrpSpPr/>
          <p:nvPr/>
        </p:nvGrpSpPr>
        <p:grpSpPr>
          <a:xfrm>
            <a:off x="7963700" y="1598830"/>
            <a:ext cx="2985770" cy="3445510"/>
            <a:chOff x="7963700" y="1598830"/>
            <a:chExt cx="2985770" cy="3445510"/>
          </a:xfrm>
        </p:grpSpPr>
        <p:sp>
          <p:nvSpPr>
            <p:cNvPr id="25" name="object 25" descr=""/>
            <p:cNvSpPr/>
            <p:nvPr/>
          </p:nvSpPr>
          <p:spPr>
            <a:xfrm>
              <a:off x="9441923" y="1598830"/>
              <a:ext cx="0" cy="457200"/>
            </a:xfrm>
            <a:custGeom>
              <a:avLst/>
              <a:gdLst/>
              <a:ahLst/>
              <a:cxnLst/>
              <a:rect l="l" t="t" r="r" b="b"/>
              <a:pathLst>
                <a:path w="0" h="457200">
                  <a:moveTo>
                    <a:pt x="0" y="0"/>
                  </a:moveTo>
                  <a:lnTo>
                    <a:pt x="0" y="457032"/>
                  </a:lnTo>
                </a:path>
              </a:pathLst>
            </a:custGeom>
            <a:ln w="6219">
              <a:solidFill>
                <a:srgbClr val="000000"/>
              </a:solidFill>
            </a:ln>
          </p:spPr>
          <p:txBody>
            <a:bodyPr wrap="square" lIns="0" tIns="0" rIns="0" bIns="0" rtlCol="0"/>
            <a:lstStyle/>
            <a:p/>
          </p:txBody>
        </p:sp>
        <p:sp>
          <p:nvSpPr>
            <p:cNvPr id="26" name="object 26" descr=""/>
            <p:cNvSpPr/>
            <p:nvPr/>
          </p:nvSpPr>
          <p:spPr>
            <a:xfrm>
              <a:off x="9398389" y="2045228"/>
              <a:ext cx="87630" cy="127635"/>
            </a:xfrm>
            <a:custGeom>
              <a:avLst/>
              <a:gdLst/>
              <a:ahLst/>
              <a:cxnLst/>
              <a:rect l="l" t="t" r="r" b="b"/>
              <a:pathLst>
                <a:path w="87629" h="127635">
                  <a:moveTo>
                    <a:pt x="87067" y="0"/>
                  </a:moveTo>
                  <a:lnTo>
                    <a:pt x="0" y="0"/>
                  </a:lnTo>
                  <a:lnTo>
                    <a:pt x="43533" y="127614"/>
                  </a:lnTo>
                  <a:lnTo>
                    <a:pt x="87067" y="0"/>
                  </a:lnTo>
                  <a:close/>
                </a:path>
              </a:pathLst>
            </a:custGeom>
            <a:solidFill>
              <a:srgbClr val="000000"/>
            </a:solidFill>
          </p:spPr>
          <p:txBody>
            <a:bodyPr wrap="square" lIns="0" tIns="0" rIns="0" bIns="0" rtlCol="0"/>
            <a:lstStyle/>
            <a:p/>
          </p:txBody>
        </p:sp>
        <p:sp>
          <p:nvSpPr>
            <p:cNvPr id="27" name="object 27" descr=""/>
            <p:cNvSpPr/>
            <p:nvPr/>
          </p:nvSpPr>
          <p:spPr>
            <a:xfrm>
              <a:off x="8133530" y="2747108"/>
              <a:ext cx="574040" cy="960119"/>
            </a:xfrm>
            <a:custGeom>
              <a:avLst/>
              <a:gdLst/>
              <a:ahLst/>
              <a:cxnLst/>
              <a:rect l="l" t="t" r="r" b="b"/>
              <a:pathLst>
                <a:path w="574040" h="960120">
                  <a:moveTo>
                    <a:pt x="573866" y="0"/>
                  </a:moveTo>
                  <a:lnTo>
                    <a:pt x="0" y="0"/>
                  </a:lnTo>
                  <a:lnTo>
                    <a:pt x="0" y="959641"/>
                  </a:lnTo>
                </a:path>
              </a:pathLst>
            </a:custGeom>
            <a:ln w="6181">
              <a:solidFill>
                <a:srgbClr val="000000"/>
              </a:solidFill>
            </a:ln>
          </p:spPr>
          <p:txBody>
            <a:bodyPr wrap="square" lIns="0" tIns="0" rIns="0" bIns="0" rtlCol="0"/>
            <a:lstStyle/>
            <a:p/>
          </p:txBody>
        </p:sp>
        <p:sp>
          <p:nvSpPr>
            <p:cNvPr id="28" name="object 28" descr=""/>
            <p:cNvSpPr/>
            <p:nvPr/>
          </p:nvSpPr>
          <p:spPr>
            <a:xfrm>
              <a:off x="8089996" y="3696114"/>
              <a:ext cx="87630" cy="127635"/>
            </a:xfrm>
            <a:custGeom>
              <a:avLst/>
              <a:gdLst/>
              <a:ahLst/>
              <a:cxnLst/>
              <a:rect l="l" t="t" r="r" b="b"/>
              <a:pathLst>
                <a:path w="87629" h="127635">
                  <a:moveTo>
                    <a:pt x="87067" y="0"/>
                  </a:moveTo>
                  <a:lnTo>
                    <a:pt x="0" y="0"/>
                  </a:lnTo>
                  <a:lnTo>
                    <a:pt x="43533" y="127614"/>
                  </a:lnTo>
                  <a:lnTo>
                    <a:pt x="87067" y="0"/>
                  </a:lnTo>
                  <a:close/>
                </a:path>
              </a:pathLst>
            </a:custGeom>
            <a:solidFill>
              <a:srgbClr val="000000"/>
            </a:solidFill>
          </p:spPr>
          <p:txBody>
            <a:bodyPr wrap="square" lIns="0" tIns="0" rIns="0" bIns="0" rtlCol="0"/>
            <a:lstStyle/>
            <a:p/>
          </p:txBody>
        </p:sp>
        <p:sp>
          <p:nvSpPr>
            <p:cNvPr id="29" name="object 29" descr=""/>
            <p:cNvSpPr/>
            <p:nvPr/>
          </p:nvSpPr>
          <p:spPr>
            <a:xfrm>
              <a:off x="10176423" y="2747108"/>
              <a:ext cx="729615" cy="960119"/>
            </a:xfrm>
            <a:custGeom>
              <a:avLst/>
              <a:gdLst/>
              <a:ahLst/>
              <a:cxnLst/>
              <a:rect l="l" t="t" r="r" b="b"/>
              <a:pathLst>
                <a:path w="729615" h="960120">
                  <a:moveTo>
                    <a:pt x="0" y="0"/>
                  </a:moveTo>
                  <a:lnTo>
                    <a:pt x="729188" y="0"/>
                  </a:lnTo>
                  <a:lnTo>
                    <a:pt x="729188" y="959641"/>
                  </a:lnTo>
                </a:path>
              </a:pathLst>
            </a:custGeom>
            <a:ln w="6167">
              <a:solidFill>
                <a:srgbClr val="000000"/>
              </a:solidFill>
            </a:ln>
          </p:spPr>
          <p:txBody>
            <a:bodyPr wrap="square" lIns="0" tIns="0" rIns="0" bIns="0" rtlCol="0"/>
            <a:lstStyle/>
            <a:p/>
          </p:txBody>
        </p:sp>
        <p:sp>
          <p:nvSpPr>
            <p:cNvPr id="30" name="object 30" descr=""/>
            <p:cNvSpPr/>
            <p:nvPr/>
          </p:nvSpPr>
          <p:spPr>
            <a:xfrm>
              <a:off x="10862078" y="3696114"/>
              <a:ext cx="87630" cy="127635"/>
            </a:xfrm>
            <a:custGeom>
              <a:avLst/>
              <a:gdLst/>
              <a:ahLst/>
              <a:cxnLst/>
              <a:rect l="l" t="t" r="r" b="b"/>
              <a:pathLst>
                <a:path w="87629" h="127635">
                  <a:moveTo>
                    <a:pt x="87067" y="0"/>
                  </a:moveTo>
                  <a:lnTo>
                    <a:pt x="0" y="0"/>
                  </a:lnTo>
                  <a:lnTo>
                    <a:pt x="43533" y="127614"/>
                  </a:lnTo>
                  <a:lnTo>
                    <a:pt x="87067" y="0"/>
                  </a:lnTo>
                  <a:close/>
                </a:path>
              </a:pathLst>
            </a:custGeom>
            <a:solidFill>
              <a:srgbClr val="000000"/>
            </a:solidFill>
          </p:spPr>
          <p:txBody>
            <a:bodyPr wrap="square" lIns="0" tIns="0" rIns="0" bIns="0" rtlCol="0"/>
            <a:lstStyle/>
            <a:p/>
          </p:txBody>
        </p:sp>
        <p:sp>
          <p:nvSpPr>
            <p:cNvPr id="31" name="object 31" descr=""/>
            <p:cNvSpPr/>
            <p:nvPr/>
          </p:nvSpPr>
          <p:spPr>
            <a:xfrm>
              <a:off x="7972844" y="4326161"/>
              <a:ext cx="1469390" cy="567690"/>
            </a:xfrm>
            <a:custGeom>
              <a:avLst/>
              <a:gdLst/>
              <a:ahLst/>
              <a:cxnLst/>
              <a:rect l="l" t="t" r="r" b="b"/>
              <a:pathLst>
                <a:path w="1469390" h="567689">
                  <a:moveTo>
                    <a:pt x="0" y="0"/>
                  </a:moveTo>
                  <a:lnTo>
                    <a:pt x="0" y="358865"/>
                  </a:lnTo>
                  <a:lnTo>
                    <a:pt x="1469078" y="358865"/>
                  </a:lnTo>
                  <a:lnTo>
                    <a:pt x="1469078" y="567327"/>
                  </a:lnTo>
                </a:path>
              </a:pathLst>
            </a:custGeom>
            <a:ln w="18286">
              <a:solidFill>
                <a:srgbClr val="000000"/>
              </a:solidFill>
            </a:ln>
          </p:spPr>
          <p:txBody>
            <a:bodyPr wrap="square" lIns="0" tIns="0" rIns="0" bIns="0" rtlCol="0"/>
            <a:lstStyle/>
            <a:p/>
          </p:txBody>
        </p:sp>
        <p:sp>
          <p:nvSpPr>
            <p:cNvPr id="32" name="object 32" descr=""/>
            <p:cNvSpPr/>
            <p:nvPr/>
          </p:nvSpPr>
          <p:spPr>
            <a:xfrm>
              <a:off x="9385951" y="4879815"/>
              <a:ext cx="112395" cy="164465"/>
            </a:xfrm>
            <a:custGeom>
              <a:avLst/>
              <a:gdLst/>
              <a:ahLst/>
              <a:cxnLst/>
              <a:rect l="l" t="t" r="r" b="b"/>
              <a:pathLst>
                <a:path w="112395" h="164464">
                  <a:moveTo>
                    <a:pt x="111943" y="0"/>
                  </a:moveTo>
                  <a:lnTo>
                    <a:pt x="0" y="0"/>
                  </a:lnTo>
                  <a:lnTo>
                    <a:pt x="55971" y="164075"/>
                  </a:lnTo>
                  <a:lnTo>
                    <a:pt x="111943" y="0"/>
                  </a:lnTo>
                  <a:close/>
                </a:path>
              </a:pathLst>
            </a:custGeom>
            <a:solidFill>
              <a:srgbClr val="000000"/>
            </a:solidFill>
          </p:spPr>
          <p:txBody>
            <a:bodyPr wrap="square" lIns="0" tIns="0" rIns="0" bIns="0" rtlCol="0"/>
            <a:lstStyle/>
            <a:p/>
          </p:txBody>
        </p:sp>
        <p:sp>
          <p:nvSpPr>
            <p:cNvPr id="33" name="object 33" descr=""/>
            <p:cNvSpPr/>
            <p:nvPr/>
          </p:nvSpPr>
          <p:spPr>
            <a:xfrm>
              <a:off x="9441923" y="4326161"/>
              <a:ext cx="1469390" cy="567690"/>
            </a:xfrm>
            <a:custGeom>
              <a:avLst/>
              <a:gdLst/>
              <a:ahLst/>
              <a:cxnLst/>
              <a:rect l="l" t="t" r="r" b="b"/>
              <a:pathLst>
                <a:path w="1469390" h="567689">
                  <a:moveTo>
                    <a:pt x="1469130" y="0"/>
                  </a:moveTo>
                  <a:lnTo>
                    <a:pt x="1469130" y="358865"/>
                  </a:lnTo>
                  <a:lnTo>
                    <a:pt x="0" y="358865"/>
                  </a:lnTo>
                  <a:lnTo>
                    <a:pt x="0" y="567327"/>
                  </a:lnTo>
                </a:path>
              </a:pathLst>
            </a:custGeom>
            <a:ln w="18286">
              <a:solidFill>
                <a:srgbClr val="000000"/>
              </a:solidFill>
            </a:ln>
          </p:spPr>
          <p:txBody>
            <a:bodyPr wrap="square" lIns="0" tIns="0" rIns="0" bIns="0" rtlCol="0"/>
            <a:lstStyle/>
            <a:p/>
          </p:txBody>
        </p:sp>
        <p:sp>
          <p:nvSpPr>
            <p:cNvPr id="34" name="object 34" descr=""/>
            <p:cNvSpPr/>
            <p:nvPr/>
          </p:nvSpPr>
          <p:spPr>
            <a:xfrm>
              <a:off x="9385951" y="4879815"/>
              <a:ext cx="112395" cy="164465"/>
            </a:xfrm>
            <a:custGeom>
              <a:avLst/>
              <a:gdLst/>
              <a:ahLst/>
              <a:cxnLst/>
              <a:rect l="l" t="t" r="r" b="b"/>
              <a:pathLst>
                <a:path w="112395" h="164464">
                  <a:moveTo>
                    <a:pt x="111943" y="0"/>
                  </a:moveTo>
                  <a:lnTo>
                    <a:pt x="0" y="0"/>
                  </a:lnTo>
                  <a:lnTo>
                    <a:pt x="55971" y="164075"/>
                  </a:lnTo>
                  <a:lnTo>
                    <a:pt x="111943" y="0"/>
                  </a:lnTo>
                  <a:close/>
                </a:path>
              </a:pathLst>
            </a:custGeom>
            <a:solidFill>
              <a:srgbClr val="000000"/>
            </a:solidFill>
          </p:spPr>
          <p:txBody>
            <a:bodyPr wrap="square" lIns="0" tIns="0" rIns="0" bIns="0" rtlCol="0"/>
            <a:lstStyle/>
            <a:p/>
          </p:txBody>
        </p:sp>
      </p:grpSp>
      <p:sp>
        <p:nvSpPr>
          <p:cNvPr id="35" name="object 35" descr=""/>
          <p:cNvSpPr txBox="1"/>
          <p:nvPr/>
        </p:nvSpPr>
        <p:spPr>
          <a:xfrm>
            <a:off x="8054026" y="2341940"/>
            <a:ext cx="572770" cy="329565"/>
          </a:xfrm>
          <a:prstGeom prst="rect">
            <a:avLst/>
          </a:prstGeom>
        </p:spPr>
        <p:txBody>
          <a:bodyPr wrap="square" lIns="0" tIns="11430" rIns="0" bIns="0" rtlCol="0" vert="horz">
            <a:spAutoFit/>
          </a:bodyPr>
          <a:lstStyle/>
          <a:p>
            <a:pPr marL="12700">
              <a:lnSpc>
                <a:spcPct val="100000"/>
              </a:lnSpc>
              <a:spcBef>
                <a:spcPts val="90"/>
              </a:spcBef>
            </a:pPr>
            <a:r>
              <a:rPr dirty="0" sz="2000" spc="-20" b="1">
                <a:latin typeface="Times New Roman"/>
                <a:cs typeface="Times New Roman"/>
              </a:rPr>
              <a:t>True</a:t>
            </a:r>
            <a:endParaRPr sz="2000">
              <a:latin typeface="Times New Roman"/>
              <a:cs typeface="Times New Roman"/>
            </a:endParaRPr>
          </a:p>
        </p:txBody>
      </p:sp>
      <p:sp>
        <p:nvSpPr>
          <p:cNvPr id="36" name="object 36" descr=""/>
          <p:cNvSpPr txBox="1"/>
          <p:nvPr/>
        </p:nvSpPr>
        <p:spPr>
          <a:xfrm>
            <a:off x="10390202" y="2341940"/>
            <a:ext cx="601345" cy="329565"/>
          </a:xfrm>
          <a:prstGeom prst="rect">
            <a:avLst/>
          </a:prstGeom>
        </p:spPr>
        <p:txBody>
          <a:bodyPr wrap="square" lIns="0" tIns="11430" rIns="0" bIns="0" rtlCol="0" vert="horz">
            <a:spAutoFit/>
          </a:bodyPr>
          <a:lstStyle/>
          <a:p>
            <a:pPr marL="12700">
              <a:lnSpc>
                <a:spcPct val="100000"/>
              </a:lnSpc>
              <a:spcBef>
                <a:spcPts val="90"/>
              </a:spcBef>
            </a:pPr>
            <a:r>
              <a:rPr dirty="0" sz="2000" spc="-10" b="1">
                <a:latin typeface="Times New Roman"/>
                <a:cs typeface="Times New Roman"/>
              </a:rPr>
              <a:t>False</a:t>
            </a:r>
            <a:endParaRPr sz="2000">
              <a:latin typeface="Times New Roman"/>
              <a:cs typeface="Times New Roman"/>
            </a:endParaRPr>
          </a:p>
        </p:txBody>
      </p:sp>
      <p:sp>
        <p:nvSpPr>
          <p:cNvPr id="37" name="object 37" descr=""/>
          <p:cNvSpPr txBox="1"/>
          <p:nvPr/>
        </p:nvSpPr>
        <p:spPr>
          <a:xfrm>
            <a:off x="9932062" y="3416434"/>
            <a:ext cx="948055" cy="329565"/>
          </a:xfrm>
          <a:prstGeom prst="rect">
            <a:avLst/>
          </a:prstGeom>
        </p:spPr>
        <p:txBody>
          <a:bodyPr wrap="square" lIns="0" tIns="11430" rIns="0" bIns="0" rtlCol="0" vert="horz">
            <a:spAutoFit/>
          </a:bodyPr>
          <a:lstStyle/>
          <a:p>
            <a:pPr marL="12700">
              <a:lnSpc>
                <a:spcPct val="100000"/>
              </a:lnSpc>
              <a:spcBef>
                <a:spcPts val="90"/>
              </a:spcBef>
            </a:pPr>
            <a:r>
              <a:rPr dirty="0" sz="2000" b="1">
                <a:latin typeface="Times New Roman"/>
                <a:cs typeface="Times New Roman"/>
              </a:rPr>
              <a:t>else</a:t>
            </a:r>
            <a:r>
              <a:rPr dirty="0" sz="2000" spc="-25">
                <a:latin typeface="宋体"/>
                <a:cs typeface="宋体"/>
              </a:rPr>
              <a:t>部分</a:t>
            </a:r>
            <a:endParaRPr sz="2000">
              <a:latin typeface="宋体"/>
              <a:cs typeface="宋体"/>
            </a:endParaRPr>
          </a:p>
        </p:txBody>
      </p:sp>
      <p:sp>
        <p:nvSpPr>
          <p:cNvPr id="38" name="object 38" descr=""/>
          <p:cNvSpPr txBox="1"/>
          <p:nvPr/>
        </p:nvSpPr>
        <p:spPr>
          <a:xfrm>
            <a:off x="8226088" y="3382556"/>
            <a:ext cx="1120775" cy="329565"/>
          </a:xfrm>
          <a:prstGeom prst="rect">
            <a:avLst/>
          </a:prstGeom>
        </p:spPr>
        <p:txBody>
          <a:bodyPr wrap="square" lIns="0" tIns="11430" rIns="0" bIns="0" rtlCol="0" vert="horz">
            <a:spAutoFit/>
          </a:bodyPr>
          <a:lstStyle/>
          <a:p>
            <a:pPr marL="12700">
              <a:lnSpc>
                <a:spcPct val="100000"/>
              </a:lnSpc>
              <a:spcBef>
                <a:spcPts val="90"/>
              </a:spcBef>
            </a:pPr>
            <a:r>
              <a:rPr dirty="0" sz="2000" b="1">
                <a:latin typeface="Times New Roman"/>
                <a:cs typeface="Times New Roman"/>
              </a:rPr>
              <a:t>Then</a:t>
            </a:r>
            <a:r>
              <a:rPr dirty="0" sz="2000" spc="-25">
                <a:latin typeface="宋体"/>
                <a:cs typeface="宋体"/>
              </a:rPr>
              <a:t>部分</a:t>
            </a:r>
            <a:endParaRPr sz="2000">
              <a:latin typeface="宋体"/>
              <a:cs typeface="宋体"/>
            </a:endParaRPr>
          </a:p>
        </p:txBody>
      </p:sp>
      <p:sp>
        <p:nvSpPr>
          <p:cNvPr id="39" name="object 39" descr=""/>
          <p:cNvSpPr txBox="1"/>
          <p:nvPr/>
        </p:nvSpPr>
        <p:spPr>
          <a:xfrm>
            <a:off x="7904480" y="5919012"/>
            <a:ext cx="2585720" cy="330835"/>
          </a:xfrm>
          <a:prstGeom prst="rect">
            <a:avLst/>
          </a:prstGeom>
        </p:spPr>
        <p:txBody>
          <a:bodyPr wrap="square" lIns="0" tIns="12700" rIns="0" bIns="0" rtlCol="0" vert="horz">
            <a:spAutoFit/>
          </a:bodyPr>
          <a:lstStyle/>
          <a:p>
            <a:pPr marL="12700">
              <a:lnSpc>
                <a:spcPct val="100000"/>
              </a:lnSpc>
              <a:spcBef>
                <a:spcPts val="100"/>
              </a:spcBef>
            </a:pPr>
            <a:r>
              <a:rPr dirty="0" sz="2000" spc="-15" b="1">
                <a:solidFill>
                  <a:srgbClr val="40458B"/>
                </a:solidFill>
                <a:latin typeface="宋体"/>
                <a:cs typeface="宋体"/>
              </a:rPr>
              <a:t>一个分支结构的代码段</a:t>
            </a:r>
            <a:endParaRPr sz="2000">
              <a:latin typeface="宋体"/>
              <a:cs typeface="宋体"/>
            </a:endParaRPr>
          </a:p>
        </p:txBody>
      </p:sp>
      <p:sp>
        <p:nvSpPr>
          <p:cNvPr id="40" name="object 40" descr=""/>
          <p:cNvSpPr txBox="1"/>
          <p:nvPr/>
        </p:nvSpPr>
        <p:spPr>
          <a:xfrm>
            <a:off x="702665" y="3931536"/>
            <a:ext cx="6425565" cy="2004695"/>
          </a:xfrm>
          <a:prstGeom prst="rect">
            <a:avLst/>
          </a:prstGeom>
        </p:spPr>
        <p:txBody>
          <a:bodyPr wrap="square" lIns="0" tIns="46990" rIns="0" bIns="0" rtlCol="0" vert="horz">
            <a:spAutoFit/>
          </a:bodyPr>
          <a:lstStyle/>
          <a:p>
            <a:pPr marL="354965" indent="-342265">
              <a:lnSpc>
                <a:spcPct val="100000"/>
              </a:lnSpc>
              <a:spcBef>
                <a:spcPts val="370"/>
              </a:spcBef>
              <a:buClr>
                <a:srgbClr val="40458B"/>
              </a:buClr>
              <a:buFont typeface="Wingdings"/>
              <a:buChar char=""/>
              <a:tabLst>
                <a:tab pos="354965" algn="l"/>
              </a:tabLst>
            </a:pPr>
            <a:r>
              <a:rPr dirty="0" sz="2200" spc="-35">
                <a:solidFill>
                  <a:srgbClr val="E14B04"/>
                </a:solidFill>
                <a:latin typeface="黑体"/>
                <a:cs typeface="黑体"/>
              </a:rPr>
              <a:t>若分支成功时的概率较大，失败时的概率较小：</a:t>
            </a:r>
            <a:endParaRPr sz="2200">
              <a:latin typeface="黑体"/>
              <a:cs typeface="黑体"/>
            </a:endParaRPr>
          </a:p>
          <a:p>
            <a:pPr marL="355600">
              <a:lnSpc>
                <a:spcPct val="100000"/>
              </a:lnSpc>
              <a:spcBef>
                <a:spcPts val="265"/>
              </a:spcBef>
            </a:pPr>
            <a:r>
              <a:rPr dirty="0" sz="2200" spc="-20">
                <a:solidFill>
                  <a:srgbClr val="E14B04"/>
                </a:solidFill>
                <a:latin typeface="黑体"/>
                <a:cs typeface="黑体"/>
              </a:rPr>
              <a:t>合并语句</a:t>
            </a:r>
            <a:r>
              <a:rPr dirty="0" sz="2200" spc="-10">
                <a:solidFill>
                  <a:srgbClr val="E14B04"/>
                </a:solidFill>
                <a:latin typeface="Times New Roman"/>
                <a:cs typeface="Times New Roman"/>
              </a:rPr>
              <a:t>1</a:t>
            </a:r>
            <a:r>
              <a:rPr dirty="0" sz="2200" spc="-30">
                <a:solidFill>
                  <a:srgbClr val="E14B04"/>
                </a:solidFill>
                <a:latin typeface="黑体"/>
                <a:cs typeface="黑体"/>
              </a:rPr>
              <a:t>、</a:t>
            </a:r>
            <a:r>
              <a:rPr dirty="0" sz="2200" spc="-10">
                <a:solidFill>
                  <a:srgbClr val="E14B04"/>
                </a:solidFill>
                <a:latin typeface="Times New Roman"/>
                <a:cs typeface="Times New Roman"/>
              </a:rPr>
              <a:t>2</a:t>
            </a:r>
            <a:r>
              <a:rPr dirty="0" sz="2200" spc="-30">
                <a:solidFill>
                  <a:srgbClr val="E14B04"/>
                </a:solidFill>
                <a:latin typeface="黑体"/>
                <a:cs typeface="黑体"/>
              </a:rPr>
              <a:t>、</a:t>
            </a:r>
            <a:r>
              <a:rPr dirty="0" sz="2200" spc="-10">
                <a:solidFill>
                  <a:srgbClr val="E14B04"/>
                </a:solidFill>
                <a:latin typeface="Times New Roman"/>
                <a:cs typeface="Times New Roman"/>
              </a:rPr>
              <a:t>3</a:t>
            </a:r>
            <a:r>
              <a:rPr dirty="0" sz="2200" spc="-30">
                <a:solidFill>
                  <a:srgbClr val="E14B04"/>
                </a:solidFill>
                <a:latin typeface="黑体"/>
                <a:cs typeface="黑体"/>
              </a:rPr>
              <a:t>、</a:t>
            </a:r>
            <a:r>
              <a:rPr dirty="0" sz="2200" spc="-10">
                <a:solidFill>
                  <a:srgbClr val="E14B04"/>
                </a:solidFill>
                <a:latin typeface="Times New Roman"/>
                <a:cs typeface="Times New Roman"/>
              </a:rPr>
              <a:t>5</a:t>
            </a:r>
            <a:r>
              <a:rPr dirty="0" sz="2200" spc="-35">
                <a:solidFill>
                  <a:srgbClr val="E14B04"/>
                </a:solidFill>
                <a:latin typeface="黑体"/>
                <a:cs typeface="黑体"/>
              </a:rPr>
              <a:t>为一个基本块</a:t>
            </a:r>
            <a:endParaRPr sz="2200">
              <a:latin typeface="黑体"/>
              <a:cs typeface="黑体"/>
            </a:endParaRPr>
          </a:p>
          <a:p>
            <a:pPr lvl="1" marL="1099185" indent="-457200">
              <a:lnSpc>
                <a:spcPct val="100000"/>
              </a:lnSpc>
              <a:spcBef>
                <a:spcPts val="790"/>
              </a:spcBef>
              <a:buSzPct val="88636"/>
              <a:buFont typeface="Wingdings"/>
              <a:buChar char=""/>
              <a:tabLst>
                <a:tab pos="1099185" algn="l"/>
              </a:tabLst>
            </a:pPr>
            <a:r>
              <a:rPr dirty="0" sz="2200" spc="-25">
                <a:solidFill>
                  <a:srgbClr val="40458B"/>
                </a:solidFill>
                <a:latin typeface="黑体"/>
                <a:cs typeface="黑体"/>
              </a:rPr>
              <a:t>但需确保语句</a:t>
            </a:r>
            <a:r>
              <a:rPr dirty="0" sz="2200" spc="-10">
                <a:solidFill>
                  <a:srgbClr val="40458B"/>
                </a:solidFill>
                <a:latin typeface="Times New Roman"/>
                <a:cs typeface="Times New Roman"/>
              </a:rPr>
              <a:t>2</a:t>
            </a:r>
            <a:r>
              <a:rPr dirty="0" sz="2200" spc="-30">
                <a:solidFill>
                  <a:srgbClr val="40458B"/>
                </a:solidFill>
                <a:latin typeface="黑体"/>
                <a:cs typeface="黑体"/>
              </a:rPr>
              <a:t>失败时执行</a:t>
            </a:r>
            <a:r>
              <a:rPr dirty="0" sz="2200" spc="-10">
                <a:solidFill>
                  <a:srgbClr val="40458B"/>
                </a:solidFill>
                <a:latin typeface="Times New Roman"/>
                <a:cs typeface="Times New Roman"/>
              </a:rPr>
              <a:t>else</a:t>
            </a:r>
            <a:r>
              <a:rPr dirty="0" sz="2200" spc="-35">
                <a:solidFill>
                  <a:srgbClr val="40458B"/>
                </a:solidFill>
                <a:latin typeface="黑体"/>
                <a:cs typeface="黑体"/>
              </a:rPr>
              <a:t>部分正确</a:t>
            </a:r>
            <a:endParaRPr sz="2200">
              <a:latin typeface="黑体"/>
              <a:cs typeface="黑体"/>
            </a:endParaRPr>
          </a:p>
          <a:p>
            <a:pPr lvl="1" marL="1099185" indent="-457200">
              <a:lnSpc>
                <a:spcPct val="100000"/>
              </a:lnSpc>
              <a:spcBef>
                <a:spcPts val="795"/>
              </a:spcBef>
              <a:buSzPct val="88636"/>
              <a:buFont typeface="Wingdings"/>
              <a:buChar char=""/>
              <a:tabLst>
                <a:tab pos="1099185" algn="l"/>
              </a:tabLst>
            </a:pPr>
            <a:r>
              <a:rPr dirty="0" sz="2200" spc="-30">
                <a:solidFill>
                  <a:srgbClr val="40458B"/>
                </a:solidFill>
                <a:latin typeface="黑体"/>
                <a:cs typeface="黑体"/>
              </a:rPr>
              <a:t>同时为了完成合并，语句</a:t>
            </a:r>
            <a:r>
              <a:rPr dirty="0" sz="2200" spc="-30">
                <a:solidFill>
                  <a:srgbClr val="40458B"/>
                </a:solidFill>
                <a:latin typeface="Times New Roman"/>
                <a:cs typeface="Times New Roman"/>
              </a:rPr>
              <a:t>3</a:t>
            </a:r>
            <a:r>
              <a:rPr dirty="0" sz="2200" spc="-25">
                <a:solidFill>
                  <a:srgbClr val="40458B"/>
                </a:solidFill>
                <a:latin typeface="黑体"/>
                <a:cs typeface="黑体"/>
              </a:rPr>
              <a:t>、</a:t>
            </a:r>
            <a:r>
              <a:rPr dirty="0" sz="2200" spc="-30">
                <a:solidFill>
                  <a:srgbClr val="40458B"/>
                </a:solidFill>
                <a:latin typeface="Times New Roman"/>
                <a:cs typeface="Times New Roman"/>
              </a:rPr>
              <a:t>5</a:t>
            </a:r>
            <a:r>
              <a:rPr dirty="0" sz="2200" spc="-35">
                <a:solidFill>
                  <a:srgbClr val="40458B"/>
                </a:solidFill>
                <a:latin typeface="黑体"/>
                <a:cs typeface="黑体"/>
              </a:rPr>
              <a:t>需调度到语句</a:t>
            </a:r>
            <a:endParaRPr sz="2200">
              <a:latin typeface="黑体"/>
              <a:cs typeface="黑体"/>
            </a:endParaRPr>
          </a:p>
          <a:p>
            <a:pPr marL="1099185">
              <a:lnSpc>
                <a:spcPct val="100000"/>
              </a:lnSpc>
              <a:spcBef>
                <a:spcPts val="265"/>
              </a:spcBef>
            </a:pPr>
            <a:r>
              <a:rPr dirty="0" sz="2200" spc="-10">
                <a:solidFill>
                  <a:srgbClr val="40458B"/>
                </a:solidFill>
                <a:latin typeface="Times New Roman"/>
                <a:cs typeface="Times New Roman"/>
              </a:rPr>
              <a:t>2</a:t>
            </a:r>
            <a:r>
              <a:rPr dirty="0" sz="2200" spc="-30">
                <a:solidFill>
                  <a:srgbClr val="40458B"/>
                </a:solidFill>
                <a:latin typeface="黑体"/>
                <a:cs typeface="黑体"/>
              </a:rPr>
              <a:t>之前，但语句</a:t>
            </a:r>
            <a:r>
              <a:rPr dirty="0" sz="2200" spc="-30">
                <a:solidFill>
                  <a:srgbClr val="40458B"/>
                </a:solidFill>
                <a:latin typeface="Times New Roman"/>
                <a:cs typeface="Times New Roman"/>
              </a:rPr>
              <a:t>3</a:t>
            </a:r>
            <a:r>
              <a:rPr dirty="0" sz="2200" spc="-10">
                <a:solidFill>
                  <a:srgbClr val="40458B"/>
                </a:solidFill>
                <a:latin typeface="黑体"/>
                <a:cs typeface="黑体"/>
              </a:rPr>
              <a:t>、</a:t>
            </a:r>
            <a:r>
              <a:rPr dirty="0" sz="2200" spc="-30">
                <a:solidFill>
                  <a:srgbClr val="40458B"/>
                </a:solidFill>
                <a:latin typeface="Times New Roman"/>
                <a:cs typeface="Times New Roman"/>
              </a:rPr>
              <a:t>5</a:t>
            </a:r>
            <a:r>
              <a:rPr dirty="0" sz="2200" spc="-35">
                <a:solidFill>
                  <a:srgbClr val="40458B"/>
                </a:solidFill>
                <a:latin typeface="黑体"/>
                <a:cs typeface="黑体"/>
              </a:rPr>
              <a:t>的移动是有区别的</a:t>
            </a:r>
            <a:endParaRPr sz="2200">
              <a:latin typeface="黑体"/>
              <a:cs typeface="黑体"/>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28/89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833119" algn="l"/>
                <a:tab pos="10788015" algn="l"/>
              </a:tabLst>
            </a:pPr>
            <a:r>
              <a:rPr dirty="0"/>
              <a:t>	6.2</a:t>
            </a:r>
            <a:r>
              <a:rPr dirty="0" spc="-15"/>
              <a:t> </a:t>
            </a:r>
            <a:r>
              <a:rPr dirty="0"/>
              <a:t>跨越基</a:t>
            </a:r>
            <a:r>
              <a:rPr dirty="0" spc="-25"/>
              <a:t>本</a:t>
            </a:r>
            <a:r>
              <a:rPr dirty="0"/>
              <a:t>块的</a:t>
            </a:r>
            <a:r>
              <a:rPr dirty="0" spc="-20"/>
              <a:t>静</a:t>
            </a:r>
            <a:r>
              <a:rPr dirty="0"/>
              <a:t>态指</a:t>
            </a:r>
            <a:r>
              <a:rPr dirty="0" spc="-20"/>
              <a:t>令</a:t>
            </a:r>
            <a:r>
              <a:rPr dirty="0"/>
              <a:t>调</a:t>
            </a:r>
            <a:r>
              <a:rPr dirty="0" spc="-50"/>
              <a:t>度</a:t>
            </a:r>
            <a:r>
              <a:rPr dirty="0"/>
              <a:t>	</a:t>
            </a:r>
          </a:p>
        </p:txBody>
      </p:sp>
      <p:sp>
        <p:nvSpPr>
          <p:cNvPr id="9" name="object 9" descr=""/>
          <p:cNvSpPr txBox="1"/>
          <p:nvPr/>
        </p:nvSpPr>
        <p:spPr>
          <a:xfrm>
            <a:off x="113792" y="1045463"/>
            <a:ext cx="6902450" cy="1712595"/>
          </a:xfrm>
          <a:prstGeom prst="rect">
            <a:avLst/>
          </a:prstGeom>
        </p:spPr>
        <p:txBody>
          <a:bodyPr wrap="square" lIns="0" tIns="53340" rIns="0" bIns="0" rtlCol="0" vert="horz">
            <a:spAutoFit/>
          </a:bodyPr>
          <a:lstStyle/>
          <a:p>
            <a:pPr marL="467995" indent="-455295">
              <a:lnSpc>
                <a:spcPct val="100000"/>
              </a:lnSpc>
              <a:spcBef>
                <a:spcPts val="420"/>
              </a:spcBef>
              <a:buClr>
                <a:srgbClr val="40458B"/>
              </a:buClr>
              <a:buFont typeface="Tahoma"/>
              <a:buAutoNum type="arabicPeriod" startAt="2"/>
              <a:tabLst>
                <a:tab pos="467995" algn="l"/>
              </a:tabLst>
            </a:pPr>
            <a:r>
              <a:rPr dirty="0" sz="2400" spc="-15">
                <a:solidFill>
                  <a:srgbClr val="E14B04"/>
                </a:solidFill>
                <a:latin typeface="黑体"/>
                <a:cs typeface="黑体"/>
              </a:rPr>
              <a:t>实例分析</a:t>
            </a:r>
            <a:endParaRPr sz="2400">
              <a:latin typeface="黑体"/>
              <a:cs typeface="黑体"/>
            </a:endParaRPr>
          </a:p>
          <a:p>
            <a:pPr lvl="1" marL="1097280" marR="5080" indent="-455930">
              <a:lnSpc>
                <a:spcPct val="110000"/>
              </a:lnSpc>
              <a:spcBef>
                <a:spcPts val="575"/>
              </a:spcBef>
              <a:buClr>
                <a:srgbClr val="40458B"/>
              </a:buClr>
              <a:buSzPct val="118750"/>
              <a:buFont typeface="Wingdings"/>
              <a:buChar char=""/>
              <a:tabLst>
                <a:tab pos="1097280" algn="l"/>
              </a:tabLst>
            </a:pPr>
            <a:r>
              <a:rPr dirty="0" sz="2400">
                <a:solidFill>
                  <a:srgbClr val="0000CC"/>
                </a:solidFill>
                <a:latin typeface="黑体"/>
                <a:cs typeface="黑体"/>
              </a:rPr>
              <a:t>由于分支条件为</a:t>
            </a:r>
            <a:r>
              <a:rPr dirty="0" sz="2400">
                <a:solidFill>
                  <a:srgbClr val="6600FF"/>
                </a:solidFill>
                <a:latin typeface="Times New Roman"/>
                <a:cs typeface="Times New Roman"/>
              </a:rPr>
              <a:t>true</a:t>
            </a:r>
            <a:r>
              <a:rPr dirty="0" sz="2400">
                <a:solidFill>
                  <a:srgbClr val="0000CC"/>
                </a:solidFill>
                <a:latin typeface="Times New Roman"/>
                <a:cs typeface="Times New Roman"/>
              </a:rPr>
              <a:t>(</a:t>
            </a:r>
            <a:r>
              <a:rPr dirty="0" sz="2400">
                <a:solidFill>
                  <a:srgbClr val="0000CC"/>
                </a:solidFill>
                <a:latin typeface="黑体"/>
                <a:cs typeface="黑体"/>
              </a:rPr>
              <a:t>转移</a:t>
            </a:r>
            <a:r>
              <a:rPr dirty="0" sz="2400" spc="-10">
                <a:solidFill>
                  <a:srgbClr val="0000CC"/>
                </a:solidFill>
                <a:latin typeface="Times New Roman"/>
                <a:cs typeface="Times New Roman"/>
              </a:rPr>
              <a:t>)</a:t>
            </a:r>
            <a:r>
              <a:rPr dirty="0" sz="2400" spc="-10">
                <a:solidFill>
                  <a:srgbClr val="0000CC"/>
                </a:solidFill>
                <a:latin typeface="黑体"/>
                <a:cs typeface="黑体"/>
              </a:rPr>
              <a:t>的概率大，全局指令调度时会将语句</a:t>
            </a:r>
            <a:r>
              <a:rPr dirty="0" sz="2400" spc="-10">
                <a:solidFill>
                  <a:srgbClr val="6600FF"/>
                </a:solidFill>
                <a:latin typeface="Times New Roman"/>
                <a:cs typeface="Times New Roman"/>
              </a:rPr>
              <a:t>1</a:t>
            </a:r>
            <a:r>
              <a:rPr dirty="0" sz="2400" spc="-10">
                <a:solidFill>
                  <a:srgbClr val="6600FF"/>
                </a:solidFill>
                <a:latin typeface="黑体"/>
                <a:cs typeface="黑体"/>
              </a:rPr>
              <a:t>、</a:t>
            </a:r>
            <a:r>
              <a:rPr dirty="0" sz="2400" spc="-10">
                <a:solidFill>
                  <a:srgbClr val="6600FF"/>
                </a:solidFill>
                <a:latin typeface="Times New Roman"/>
                <a:cs typeface="Times New Roman"/>
              </a:rPr>
              <a:t>2</a:t>
            </a:r>
            <a:r>
              <a:rPr dirty="0" sz="2400">
                <a:solidFill>
                  <a:srgbClr val="6600FF"/>
                </a:solidFill>
                <a:latin typeface="黑体"/>
                <a:cs typeface="黑体"/>
              </a:rPr>
              <a:t>、</a:t>
            </a:r>
            <a:r>
              <a:rPr dirty="0" sz="2400" spc="-10">
                <a:solidFill>
                  <a:srgbClr val="6600FF"/>
                </a:solidFill>
                <a:latin typeface="Times New Roman"/>
                <a:cs typeface="Times New Roman"/>
              </a:rPr>
              <a:t>3</a:t>
            </a:r>
            <a:r>
              <a:rPr dirty="0" sz="2400" spc="-10">
                <a:solidFill>
                  <a:srgbClr val="6600FF"/>
                </a:solidFill>
                <a:latin typeface="黑体"/>
                <a:cs typeface="黑体"/>
              </a:rPr>
              <a:t>、</a:t>
            </a:r>
            <a:r>
              <a:rPr dirty="0" sz="2400" spc="-10">
                <a:solidFill>
                  <a:srgbClr val="6600FF"/>
                </a:solidFill>
                <a:latin typeface="Times New Roman"/>
                <a:cs typeface="Times New Roman"/>
              </a:rPr>
              <a:t>5</a:t>
            </a:r>
            <a:r>
              <a:rPr dirty="0" sz="2400" spc="-20">
                <a:solidFill>
                  <a:srgbClr val="0000CC"/>
                </a:solidFill>
                <a:latin typeface="黑体"/>
                <a:cs typeface="黑体"/>
              </a:rPr>
              <a:t>合并为一个</a:t>
            </a:r>
            <a:r>
              <a:rPr dirty="0" sz="2400" spc="-10">
                <a:solidFill>
                  <a:srgbClr val="0000CC"/>
                </a:solidFill>
                <a:latin typeface="黑体"/>
                <a:cs typeface="黑体"/>
              </a:rPr>
              <a:t>更大的基本块。</a:t>
            </a:r>
            <a:endParaRPr sz="2400">
              <a:latin typeface="黑体"/>
              <a:cs typeface="黑体"/>
            </a:endParaRPr>
          </a:p>
        </p:txBody>
      </p:sp>
      <p:grpSp>
        <p:nvGrpSpPr>
          <p:cNvPr id="10" name="object 10" descr=""/>
          <p:cNvGrpSpPr/>
          <p:nvPr/>
        </p:nvGrpSpPr>
        <p:grpSpPr>
          <a:xfrm>
            <a:off x="6997886" y="942612"/>
            <a:ext cx="3810635" cy="4768215"/>
            <a:chOff x="6997886" y="942612"/>
            <a:chExt cx="3810635" cy="4768215"/>
          </a:xfrm>
        </p:grpSpPr>
        <p:sp>
          <p:nvSpPr>
            <p:cNvPr id="11" name="object 11" descr=""/>
            <p:cNvSpPr/>
            <p:nvPr/>
          </p:nvSpPr>
          <p:spPr>
            <a:xfrm>
              <a:off x="7007411" y="952137"/>
              <a:ext cx="3171190" cy="4749165"/>
            </a:xfrm>
            <a:custGeom>
              <a:avLst/>
              <a:gdLst/>
              <a:ahLst/>
              <a:cxnLst/>
              <a:rect l="l" t="t" r="r" b="b"/>
              <a:pathLst>
                <a:path w="3171190" h="4749165">
                  <a:moveTo>
                    <a:pt x="1415714" y="0"/>
                  </a:moveTo>
                  <a:lnTo>
                    <a:pt x="1362594" y="1447"/>
                  </a:lnTo>
                  <a:lnTo>
                    <a:pt x="1309834" y="4803"/>
                  </a:lnTo>
                  <a:lnTo>
                    <a:pt x="1257669" y="10133"/>
                  </a:lnTo>
                  <a:lnTo>
                    <a:pt x="1206328" y="17502"/>
                  </a:lnTo>
                  <a:lnTo>
                    <a:pt x="1156046" y="26973"/>
                  </a:lnTo>
                  <a:lnTo>
                    <a:pt x="1107055" y="38612"/>
                  </a:lnTo>
                  <a:lnTo>
                    <a:pt x="1059586" y="52482"/>
                  </a:lnTo>
                  <a:lnTo>
                    <a:pt x="1013871" y="68649"/>
                  </a:lnTo>
                  <a:lnTo>
                    <a:pt x="970144" y="87176"/>
                  </a:lnTo>
                  <a:lnTo>
                    <a:pt x="928637" y="108129"/>
                  </a:lnTo>
                  <a:lnTo>
                    <a:pt x="884886" y="134607"/>
                  </a:lnTo>
                  <a:lnTo>
                    <a:pt x="844325" y="164025"/>
                  </a:lnTo>
                  <a:lnTo>
                    <a:pt x="807050" y="196177"/>
                  </a:lnTo>
                  <a:lnTo>
                    <a:pt x="773153" y="230858"/>
                  </a:lnTo>
                  <a:lnTo>
                    <a:pt x="742729" y="267863"/>
                  </a:lnTo>
                  <a:lnTo>
                    <a:pt x="715873" y="306989"/>
                  </a:lnTo>
                  <a:lnTo>
                    <a:pt x="692677" y="348029"/>
                  </a:lnTo>
                  <a:lnTo>
                    <a:pt x="673238" y="390779"/>
                  </a:lnTo>
                  <a:lnTo>
                    <a:pt x="657647" y="435034"/>
                  </a:lnTo>
                  <a:lnTo>
                    <a:pt x="646001" y="480590"/>
                  </a:lnTo>
                  <a:lnTo>
                    <a:pt x="638392" y="527241"/>
                  </a:lnTo>
                  <a:lnTo>
                    <a:pt x="634914" y="574783"/>
                  </a:lnTo>
                  <a:lnTo>
                    <a:pt x="635483" y="621608"/>
                  </a:lnTo>
                  <a:lnTo>
                    <a:pt x="639556" y="669036"/>
                  </a:lnTo>
                  <a:lnTo>
                    <a:pt x="646665" y="717034"/>
                  </a:lnTo>
                  <a:lnTo>
                    <a:pt x="656342" y="765566"/>
                  </a:lnTo>
                  <a:lnTo>
                    <a:pt x="668119" y="814598"/>
                  </a:lnTo>
                  <a:lnTo>
                    <a:pt x="681527" y="864096"/>
                  </a:lnTo>
                  <a:lnTo>
                    <a:pt x="696099" y="914024"/>
                  </a:lnTo>
                  <a:lnTo>
                    <a:pt x="742111" y="1066048"/>
                  </a:lnTo>
                  <a:lnTo>
                    <a:pt x="756653" y="1117354"/>
                  </a:lnTo>
                  <a:lnTo>
                    <a:pt x="770018" y="1168918"/>
                  </a:lnTo>
                  <a:lnTo>
                    <a:pt x="781737" y="1220705"/>
                  </a:lnTo>
                  <a:lnTo>
                    <a:pt x="790736" y="1268464"/>
                  </a:lnTo>
                  <a:lnTo>
                    <a:pt x="798108" y="1316410"/>
                  </a:lnTo>
                  <a:lnTo>
                    <a:pt x="804008" y="1364580"/>
                  </a:lnTo>
                  <a:lnTo>
                    <a:pt x="808590" y="1413008"/>
                  </a:lnTo>
                  <a:lnTo>
                    <a:pt x="812009" y="1461729"/>
                  </a:lnTo>
                  <a:lnTo>
                    <a:pt x="814420" y="1510778"/>
                  </a:lnTo>
                  <a:lnTo>
                    <a:pt x="815977" y="1560192"/>
                  </a:lnTo>
                  <a:lnTo>
                    <a:pt x="816835" y="1610005"/>
                  </a:lnTo>
                  <a:lnTo>
                    <a:pt x="817070" y="1710970"/>
                  </a:lnTo>
                  <a:lnTo>
                    <a:pt x="815950" y="1919241"/>
                  </a:lnTo>
                  <a:lnTo>
                    <a:pt x="816239" y="1972835"/>
                  </a:lnTo>
                  <a:lnTo>
                    <a:pt x="817066" y="2027111"/>
                  </a:lnTo>
                  <a:lnTo>
                    <a:pt x="818585" y="2082103"/>
                  </a:lnTo>
                  <a:lnTo>
                    <a:pt x="825065" y="2246616"/>
                  </a:lnTo>
                  <a:lnTo>
                    <a:pt x="825842" y="2299893"/>
                  </a:lnTo>
                  <a:lnTo>
                    <a:pt x="824843" y="2351311"/>
                  </a:lnTo>
                  <a:lnTo>
                    <a:pt x="821415" y="2400222"/>
                  </a:lnTo>
                  <a:lnTo>
                    <a:pt x="814906" y="2445978"/>
                  </a:lnTo>
                  <a:lnTo>
                    <a:pt x="804667" y="2487933"/>
                  </a:lnTo>
                  <a:lnTo>
                    <a:pt x="790044" y="2525438"/>
                  </a:lnTo>
                  <a:lnTo>
                    <a:pt x="745044" y="2584510"/>
                  </a:lnTo>
                  <a:lnTo>
                    <a:pt x="676345" y="2620245"/>
                  </a:lnTo>
                  <a:lnTo>
                    <a:pt x="634611" y="2630786"/>
                  </a:lnTo>
                  <a:lnTo>
                    <a:pt x="589135" y="2637700"/>
                  </a:lnTo>
                  <a:lnTo>
                    <a:pt x="540800" y="2641928"/>
                  </a:lnTo>
                  <a:lnTo>
                    <a:pt x="490492" y="2644412"/>
                  </a:lnTo>
                  <a:lnTo>
                    <a:pt x="387497" y="2647918"/>
                  </a:lnTo>
                  <a:lnTo>
                    <a:pt x="336580" y="2650824"/>
                  </a:lnTo>
                  <a:lnTo>
                    <a:pt x="287229" y="2655755"/>
                  </a:lnTo>
                  <a:lnTo>
                    <a:pt x="240329" y="2663654"/>
                  </a:lnTo>
                  <a:lnTo>
                    <a:pt x="196766" y="2675462"/>
                  </a:lnTo>
                  <a:lnTo>
                    <a:pt x="157423" y="2692121"/>
                  </a:lnTo>
                  <a:lnTo>
                    <a:pt x="100607" y="2734328"/>
                  </a:lnTo>
                  <a:lnTo>
                    <a:pt x="57913" y="2791850"/>
                  </a:lnTo>
                  <a:lnTo>
                    <a:pt x="27978" y="2862422"/>
                  </a:lnTo>
                  <a:lnTo>
                    <a:pt x="17368" y="2901895"/>
                  </a:lnTo>
                  <a:lnTo>
                    <a:pt x="9436" y="2943782"/>
                  </a:lnTo>
                  <a:lnTo>
                    <a:pt x="4011" y="2987799"/>
                  </a:lnTo>
                  <a:lnTo>
                    <a:pt x="922" y="3033665"/>
                  </a:lnTo>
                  <a:lnTo>
                    <a:pt x="0" y="3081095"/>
                  </a:lnTo>
                  <a:lnTo>
                    <a:pt x="1072" y="3129808"/>
                  </a:lnTo>
                  <a:lnTo>
                    <a:pt x="3969" y="3179520"/>
                  </a:lnTo>
                  <a:lnTo>
                    <a:pt x="8521" y="3229948"/>
                  </a:lnTo>
                  <a:lnTo>
                    <a:pt x="14555" y="3280809"/>
                  </a:lnTo>
                  <a:lnTo>
                    <a:pt x="21903" y="3331820"/>
                  </a:lnTo>
                  <a:lnTo>
                    <a:pt x="30393" y="3382699"/>
                  </a:lnTo>
                  <a:lnTo>
                    <a:pt x="39854" y="3433163"/>
                  </a:lnTo>
                  <a:lnTo>
                    <a:pt x="50117" y="3482927"/>
                  </a:lnTo>
                  <a:lnTo>
                    <a:pt x="61010" y="3531711"/>
                  </a:lnTo>
                  <a:lnTo>
                    <a:pt x="72363" y="3579230"/>
                  </a:lnTo>
                  <a:lnTo>
                    <a:pt x="84005" y="3625201"/>
                  </a:lnTo>
                  <a:lnTo>
                    <a:pt x="99549" y="3682860"/>
                  </a:lnTo>
                  <a:lnTo>
                    <a:pt x="115525" y="3737391"/>
                  </a:lnTo>
                  <a:lnTo>
                    <a:pt x="132159" y="3788824"/>
                  </a:lnTo>
                  <a:lnTo>
                    <a:pt x="149680" y="3837186"/>
                  </a:lnTo>
                  <a:lnTo>
                    <a:pt x="168314" y="3882507"/>
                  </a:lnTo>
                  <a:lnTo>
                    <a:pt x="188288" y="3924814"/>
                  </a:lnTo>
                  <a:lnTo>
                    <a:pt x="209830" y="3964136"/>
                  </a:lnTo>
                  <a:lnTo>
                    <a:pt x="233166" y="4000501"/>
                  </a:lnTo>
                  <a:lnTo>
                    <a:pt x="258525" y="4033939"/>
                  </a:lnTo>
                  <a:lnTo>
                    <a:pt x="286133" y="4064477"/>
                  </a:lnTo>
                  <a:lnTo>
                    <a:pt x="316217" y="4092143"/>
                  </a:lnTo>
                  <a:lnTo>
                    <a:pt x="349005" y="4116967"/>
                  </a:lnTo>
                  <a:lnTo>
                    <a:pt x="384724" y="4138977"/>
                  </a:lnTo>
                  <a:lnTo>
                    <a:pt x="423601" y="4158201"/>
                  </a:lnTo>
                  <a:lnTo>
                    <a:pt x="465863" y="4174667"/>
                  </a:lnTo>
                  <a:lnTo>
                    <a:pt x="511738" y="4188404"/>
                  </a:lnTo>
                  <a:lnTo>
                    <a:pt x="561452" y="4199441"/>
                  </a:lnTo>
                  <a:lnTo>
                    <a:pt x="606642" y="4206763"/>
                  </a:lnTo>
                  <a:lnTo>
                    <a:pt x="654230" y="4212561"/>
                  </a:lnTo>
                  <a:lnTo>
                    <a:pt x="703696" y="4217231"/>
                  </a:lnTo>
                  <a:lnTo>
                    <a:pt x="858144" y="4228423"/>
                  </a:lnTo>
                  <a:lnTo>
                    <a:pt x="909906" y="4232532"/>
                  </a:lnTo>
                  <a:lnTo>
                    <a:pt x="960938" y="4237488"/>
                  </a:lnTo>
                  <a:lnTo>
                    <a:pt x="1010719" y="4243687"/>
                  </a:lnTo>
                  <a:lnTo>
                    <a:pt x="1058729" y="4251525"/>
                  </a:lnTo>
                  <a:lnTo>
                    <a:pt x="1104445" y="4261395"/>
                  </a:lnTo>
                  <a:lnTo>
                    <a:pt x="1147346" y="4273693"/>
                  </a:lnTo>
                  <a:lnTo>
                    <a:pt x="1186911" y="4288814"/>
                  </a:lnTo>
                  <a:lnTo>
                    <a:pt x="1222619" y="4307154"/>
                  </a:lnTo>
                  <a:lnTo>
                    <a:pt x="1263202" y="4336339"/>
                  </a:lnTo>
                  <a:lnTo>
                    <a:pt x="1297939" y="4370247"/>
                  </a:lnTo>
                  <a:lnTo>
                    <a:pt x="1328516" y="4407383"/>
                  </a:lnTo>
                  <a:lnTo>
                    <a:pt x="1356617" y="4446253"/>
                  </a:lnTo>
                  <a:lnTo>
                    <a:pt x="1383925" y="4485364"/>
                  </a:lnTo>
                  <a:lnTo>
                    <a:pt x="1412126" y="4523222"/>
                  </a:lnTo>
                  <a:lnTo>
                    <a:pt x="1442904" y="4558332"/>
                  </a:lnTo>
                  <a:lnTo>
                    <a:pt x="1472872" y="4585668"/>
                  </a:lnTo>
                  <a:lnTo>
                    <a:pt x="1505916" y="4610000"/>
                  </a:lnTo>
                  <a:lnTo>
                    <a:pt x="1541889" y="4631532"/>
                  </a:lnTo>
                  <a:lnTo>
                    <a:pt x="1580645" y="4650468"/>
                  </a:lnTo>
                  <a:lnTo>
                    <a:pt x="1622038" y="4667012"/>
                  </a:lnTo>
                  <a:lnTo>
                    <a:pt x="1665920" y="4681367"/>
                  </a:lnTo>
                  <a:lnTo>
                    <a:pt x="1712146" y="4693738"/>
                  </a:lnTo>
                  <a:lnTo>
                    <a:pt x="1760569" y="4704328"/>
                  </a:lnTo>
                  <a:lnTo>
                    <a:pt x="1811042" y="4713343"/>
                  </a:lnTo>
                  <a:lnTo>
                    <a:pt x="1863419" y="4720984"/>
                  </a:lnTo>
                  <a:lnTo>
                    <a:pt x="1917552" y="4727458"/>
                  </a:lnTo>
                  <a:lnTo>
                    <a:pt x="1973297" y="4732966"/>
                  </a:lnTo>
                  <a:lnTo>
                    <a:pt x="2030505" y="4737714"/>
                  </a:lnTo>
                  <a:lnTo>
                    <a:pt x="2086001" y="4741648"/>
                  </a:lnTo>
                  <a:lnTo>
                    <a:pt x="2142138" y="4744904"/>
                  </a:lnTo>
                  <a:lnTo>
                    <a:pt x="2198368" y="4747310"/>
                  </a:lnTo>
                  <a:lnTo>
                    <a:pt x="2254141" y="4748690"/>
                  </a:lnTo>
                  <a:lnTo>
                    <a:pt x="2308909" y="4748869"/>
                  </a:lnTo>
                  <a:lnTo>
                    <a:pt x="2362125" y="4747673"/>
                  </a:lnTo>
                  <a:lnTo>
                    <a:pt x="2413239" y="4744929"/>
                  </a:lnTo>
                  <a:lnTo>
                    <a:pt x="2461705" y="4740460"/>
                  </a:lnTo>
                  <a:lnTo>
                    <a:pt x="2506972" y="4734094"/>
                  </a:lnTo>
                  <a:lnTo>
                    <a:pt x="2548493" y="4725655"/>
                  </a:lnTo>
                  <a:lnTo>
                    <a:pt x="2585721" y="4714968"/>
                  </a:lnTo>
                  <a:lnTo>
                    <a:pt x="2644077" y="4686993"/>
                  </a:lnTo>
                  <a:lnTo>
                    <a:pt x="2682115" y="4650525"/>
                  </a:lnTo>
                  <a:lnTo>
                    <a:pt x="2702913" y="4605652"/>
                  </a:lnTo>
                  <a:lnTo>
                    <a:pt x="2708038" y="4553059"/>
                  </a:lnTo>
                  <a:lnTo>
                    <a:pt x="2705211" y="4524082"/>
                  </a:lnTo>
                  <a:lnTo>
                    <a:pt x="2689758" y="4461194"/>
                  </a:lnTo>
                  <a:lnTo>
                    <a:pt x="2662543" y="4392301"/>
                  </a:lnTo>
                  <a:lnTo>
                    <a:pt x="2645014" y="4355816"/>
                  </a:lnTo>
                  <a:lnTo>
                    <a:pt x="2625130" y="4318087"/>
                  </a:lnTo>
                  <a:lnTo>
                    <a:pt x="2603089" y="4279200"/>
                  </a:lnTo>
                  <a:lnTo>
                    <a:pt x="2579085" y="4239239"/>
                  </a:lnTo>
                  <a:lnTo>
                    <a:pt x="2553314" y="4198291"/>
                  </a:lnTo>
                  <a:lnTo>
                    <a:pt x="2525971" y="4156442"/>
                  </a:lnTo>
                  <a:lnTo>
                    <a:pt x="2497253" y="4113776"/>
                  </a:lnTo>
                  <a:lnTo>
                    <a:pt x="2436471" y="4026341"/>
                  </a:lnTo>
                  <a:lnTo>
                    <a:pt x="2241448" y="3753367"/>
                  </a:lnTo>
                  <a:lnTo>
                    <a:pt x="2177431" y="3661105"/>
                  </a:lnTo>
                  <a:lnTo>
                    <a:pt x="2142613" y="3609323"/>
                  </a:lnTo>
                  <a:lnTo>
                    <a:pt x="2108878" y="3557774"/>
                  </a:lnTo>
                  <a:lnTo>
                    <a:pt x="2076327" y="3506536"/>
                  </a:lnTo>
                  <a:lnTo>
                    <a:pt x="2045059" y="3455681"/>
                  </a:lnTo>
                  <a:lnTo>
                    <a:pt x="2015173" y="3405283"/>
                  </a:lnTo>
                  <a:lnTo>
                    <a:pt x="1986770" y="3355419"/>
                  </a:lnTo>
                  <a:lnTo>
                    <a:pt x="1959949" y="3306161"/>
                  </a:lnTo>
                  <a:lnTo>
                    <a:pt x="1934810" y="3257584"/>
                  </a:lnTo>
                  <a:lnTo>
                    <a:pt x="1911452" y="3209763"/>
                  </a:lnTo>
                  <a:lnTo>
                    <a:pt x="1889976" y="3162773"/>
                  </a:lnTo>
                  <a:lnTo>
                    <a:pt x="1870481" y="3116686"/>
                  </a:lnTo>
                  <a:lnTo>
                    <a:pt x="1853066" y="3071578"/>
                  </a:lnTo>
                  <a:lnTo>
                    <a:pt x="1837833" y="3027524"/>
                  </a:lnTo>
                  <a:lnTo>
                    <a:pt x="1824879" y="2984597"/>
                  </a:lnTo>
                  <a:lnTo>
                    <a:pt x="1814305" y="2942872"/>
                  </a:lnTo>
                  <a:lnTo>
                    <a:pt x="1806212" y="2902424"/>
                  </a:lnTo>
                  <a:lnTo>
                    <a:pt x="1800698" y="2863326"/>
                  </a:lnTo>
                  <a:lnTo>
                    <a:pt x="1797807" y="2789481"/>
                  </a:lnTo>
                  <a:lnTo>
                    <a:pt x="1800629" y="2754882"/>
                  </a:lnTo>
                  <a:lnTo>
                    <a:pt x="1815310" y="2690704"/>
                  </a:lnTo>
                  <a:lnTo>
                    <a:pt x="1842702" y="2633715"/>
                  </a:lnTo>
                  <a:lnTo>
                    <a:pt x="1883604" y="2584510"/>
                  </a:lnTo>
                  <a:lnTo>
                    <a:pt x="1938080" y="2543477"/>
                  </a:lnTo>
                  <a:lnTo>
                    <a:pt x="2004773" y="2509158"/>
                  </a:lnTo>
                  <a:lnTo>
                    <a:pt x="2042088" y="2494018"/>
                  </a:lnTo>
                  <a:lnTo>
                    <a:pt x="2081720" y="2479961"/>
                  </a:lnTo>
                  <a:lnTo>
                    <a:pt x="2123425" y="2466786"/>
                  </a:lnTo>
                  <a:lnTo>
                    <a:pt x="2166957" y="2454294"/>
                  </a:lnTo>
                  <a:lnTo>
                    <a:pt x="2212071" y="2442288"/>
                  </a:lnTo>
                  <a:lnTo>
                    <a:pt x="2403437" y="2395129"/>
                  </a:lnTo>
                  <a:lnTo>
                    <a:pt x="2452778" y="2382562"/>
                  </a:lnTo>
                  <a:lnTo>
                    <a:pt x="2502229" y="2369286"/>
                  </a:lnTo>
                  <a:lnTo>
                    <a:pt x="2551544" y="2355102"/>
                  </a:lnTo>
                  <a:lnTo>
                    <a:pt x="2600477" y="2339811"/>
                  </a:lnTo>
                  <a:lnTo>
                    <a:pt x="2648783" y="2323214"/>
                  </a:lnTo>
                  <a:lnTo>
                    <a:pt x="2696216" y="2305112"/>
                  </a:lnTo>
                  <a:lnTo>
                    <a:pt x="2742532" y="2285307"/>
                  </a:lnTo>
                  <a:lnTo>
                    <a:pt x="2787484" y="2263598"/>
                  </a:lnTo>
                  <a:lnTo>
                    <a:pt x="2830828" y="2239789"/>
                  </a:lnTo>
                  <a:lnTo>
                    <a:pt x="2872318" y="2213678"/>
                  </a:lnTo>
                  <a:lnTo>
                    <a:pt x="2911708" y="2185068"/>
                  </a:lnTo>
                  <a:lnTo>
                    <a:pt x="2948753" y="2153760"/>
                  </a:lnTo>
                  <a:lnTo>
                    <a:pt x="2985421" y="2117298"/>
                  </a:lnTo>
                  <a:lnTo>
                    <a:pt x="3019054" y="2077944"/>
                  </a:lnTo>
                  <a:lnTo>
                    <a:pt x="3049562" y="2036107"/>
                  </a:lnTo>
                  <a:lnTo>
                    <a:pt x="3076859" y="1992197"/>
                  </a:lnTo>
                  <a:lnTo>
                    <a:pt x="3100855" y="1946624"/>
                  </a:lnTo>
                  <a:lnTo>
                    <a:pt x="3121462" y="1899797"/>
                  </a:lnTo>
                  <a:lnTo>
                    <a:pt x="3138593" y="1852126"/>
                  </a:lnTo>
                  <a:lnTo>
                    <a:pt x="3152159" y="1804020"/>
                  </a:lnTo>
                  <a:lnTo>
                    <a:pt x="3162073" y="1755890"/>
                  </a:lnTo>
                  <a:lnTo>
                    <a:pt x="3168245" y="1708145"/>
                  </a:lnTo>
                  <a:lnTo>
                    <a:pt x="3170587" y="1661195"/>
                  </a:lnTo>
                  <a:lnTo>
                    <a:pt x="3169012" y="1615449"/>
                  </a:lnTo>
                  <a:lnTo>
                    <a:pt x="3163286" y="1570024"/>
                  </a:lnTo>
                  <a:lnTo>
                    <a:pt x="3153601" y="1526184"/>
                  </a:lnTo>
                  <a:lnTo>
                    <a:pt x="3140233" y="1483800"/>
                  </a:lnTo>
                  <a:lnTo>
                    <a:pt x="3123460" y="1442744"/>
                  </a:lnTo>
                  <a:lnTo>
                    <a:pt x="3103558" y="1402889"/>
                  </a:lnTo>
                  <a:lnTo>
                    <a:pt x="3080805" y="1364106"/>
                  </a:lnTo>
                  <a:lnTo>
                    <a:pt x="3055479" y="1326266"/>
                  </a:lnTo>
                  <a:lnTo>
                    <a:pt x="3027856" y="1289242"/>
                  </a:lnTo>
                  <a:lnTo>
                    <a:pt x="2998213" y="1252906"/>
                  </a:lnTo>
                  <a:lnTo>
                    <a:pt x="2966827" y="1217129"/>
                  </a:lnTo>
                  <a:lnTo>
                    <a:pt x="2933976" y="1181782"/>
                  </a:lnTo>
                  <a:lnTo>
                    <a:pt x="2899937" y="1146739"/>
                  </a:lnTo>
                  <a:lnTo>
                    <a:pt x="2829403" y="1077049"/>
                  </a:lnTo>
                  <a:lnTo>
                    <a:pt x="2757441" y="1007032"/>
                  </a:lnTo>
                  <a:lnTo>
                    <a:pt x="2721618" y="971580"/>
                  </a:lnTo>
                  <a:lnTo>
                    <a:pt x="2686269" y="935663"/>
                  </a:lnTo>
                  <a:lnTo>
                    <a:pt x="2651673" y="899150"/>
                  </a:lnTo>
                  <a:lnTo>
                    <a:pt x="2618105" y="861916"/>
                  </a:lnTo>
                  <a:lnTo>
                    <a:pt x="2576398" y="812372"/>
                  </a:lnTo>
                  <a:lnTo>
                    <a:pt x="2536777" y="761804"/>
                  </a:lnTo>
                  <a:lnTo>
                    <a:pt x="2499122" y="710624"/>
                  </a:lnTo>
                  <a:lnTo>
                    <a:pt x="2463316" y="659243"/>
                  </a:lnTo>
                  <a:lnTo>
                    <a:pt x="2429239" y="608072"/>
                  </a:lnTo>
                  <a:lnTo>
                    <a:pt x="2396773" y="557522"/>
                  </a:lnTo>
                  <a:lnTo>
                    <a:pt x="2280638" y="369766"/>
                  </a:lnTo>
                  <a:lnTo>
                    <a:pt x="2254444" y="328494"/>
                  </a:lnTo>
                  <a:lnTo>
                    <a:pt x="2229147" y="290311"/>
                  </a:lnTo>
                  <a:lnTo>
                    <a:pt x="2204630" y="255629"/>
                  </a:lnTo>
                  <a:lnTo>
                    <a:pt x="2180774" y="224859"/>
                  </a:lnTo>
                  <a:lnTo>
                    <a:pt x="2134569" y="176699"/>
                  </a:lnTo>
                  <a:lnTo>
                    <a:pt x="2089582" y="149124"/>
                  </a:lnTo>
                  <a:lnTo>
                    <a:pt x="2067249" y="144084"/>
                  </a:lnTo>
                  <a:lnTo>
                    <a:pt x="2033461" y="125575"/>
                  </a:lnTo>
                  <a:lnTo>
                    <a:pt x="1996783" y="108073"/>
                  </a:lnTo>
                  <a:lnTo>
                    <a:pt x="1957446" y="91641"/>
                  </a:lnTo>
                  <a:lnTo>
                    <a:pt x="1915683" y="76344"/>
                  </a:lnTo>
                  <a:lnTo>
                    <a:pt x="1871726" y="62247"/>
                  </a:lnTo>
                  <a:lnTo>
                    <a:pt x="1825807" y="49413"/>
                  </a:lnTo>
                  <a:lnTo>
                    <a:pt x="1778159" y="37909"/>
                  </a:lnTo>
                  <a:lnTo>
                    <a:pt x="1729014" y="27798"/>
                  </a:lnTo>
                  <a:lnTo>
                    <a:pt x="1678605" y="19144"/>
                  </a:lnTo>
                  <a:lnTo>
                    <a:pt x="1627162" y="12013"/>
                  </a:lnTo>
                  <a:lnTo>
                    <a:pt x="1574920" y="6468"/>
                  </a:lnTo>
                  <a:lnTo>
                    <a:pt x="1522110" y="2575"/>
                  </a:lnTo>
                  <a:lnTo>
                    <a:pt x="1468964" y="397"/>
                  </a:lnTo>
                  <a:lnTo>
                    <a:pt x="1415714" y="0"/>
                  </a:lnTo>
                  <a:close/>
                </a:path>
              </a:pathLst>
            </a:custGeom>
            <a:solidFill>
              <a:srgbClr val="DDDDDD"/>
            </a:solidFill>
          </p:spPr>
          <p:txBody>
            <a:bodyPr wrap="square" lIns="0" tIns="0" rIns="0" bIns="0" rtlCol="0"/>
            <a:lstStyle/>
            <a:p/>
          </p:txBody>
        </p:sp>
        <p:sp>
          <p:nvSpPr>
            <p:cNvPr id="12" name="object 12" descr=""/>
            <p:cNvSpPr/>
            <p:nvPr/>
          </p:nvSpPr>
          <p:spPr>
            <a:xfrm>
              <a:off x="7007411" y="952137"/>
              <a:ext cx="3171190" cy="4749165"/>
            </a:xfrm>
            <a:custGeom>
              <a:avLst/>
              <a:gdLst/>
              <a:ahLst/>
              <a:cxnLst/>
              <a:rect l="l" t="t" r="r" b="b"/>
              <a:pathLst>
                <a:path w="3171190" h="4749165">
                  <a:moveTo>
                    <a:pt x="2067249" y="144084"/>
                  </a:moveTo>
                  <a:lnTo>
                    <a:pt x="2033461" y="125575"/>
                  </a:lnTo>
                  <a:lnTo>
                    <a:pt x="1996783" y="108073"/>
                  </a:lnTo>
                  <a:lnTo>
                    <a:pt x="1957446" y="91641"/>
                  </a:lnTo>
                  <a:lnTo>
                    <a:pt x="1915683" y="76344"/>
                  </a:lnTo>
                  <a:lnTo>
                    <a:pt x="1871726" y="62247"/>
                  </a:lnTo>
                  <a:lnTo>
                    <a:pt x="1825807" y="49413"/>
                  </a:lnTo>
                  <a:lnTo>
                    <a:pt x="1778159" y="37909"/>
                  </a:lnTo>
                  <a:lnTo>
                    <a:pt x="1729014" y="27798"/>
                  </a:lnTo>
                  <a:lnTo>
                    <a:pt x="1678605" y="19144"/>
                  </a:lnTo>
                  <a:lnTo>
                    <a:pt x="1627162" y="12013"/>
                  </a:lnTo>
                  <a:lnTo>
                    <a:pt x="1574920" y="6468"/>
                  </a:lnTo>
                  <a:lnTo>
                    <a:pt x="1522110" y="2575"/>
                  </a:lnTo>
                  <a:lnTo>
                    <a:pt x="1468964" y="397"/>
                  </a:lnTo>
                  <a:lnTo>
                    <a:pt x="1415714" y="0"/>
                  </a:lnTo>
                  <a:lnTo>
                    <a:pt x="1362594" y="1447"/>
                  </a:lnTo>
                  <a:lnTo>
                    <a:pt x="1309834" y="4803"/>
                  </a:lnTo>
                  <a:lnTo>
                    <a:pt x="1257669" y="10133"/>
                  </a:lnTo>
                  <a:lnTo>
                    <a:pt x="1206328" y="17502"/>
                  </a:lnTo>
                  <a:lnTo>
                    <a:pt x="1156046" y="26973"/>
                  </a:lnTo>
                  <a:lnTo>
                    <a:pt x="1107055" y="38612"/>
                  </a:lnTo>
                  <a:lnTo>
                    <a:pt x="1059586" y="52482"/>
                  </a:lnTo>
                  <a:lnTo>
                    <a:pt x="1013871" y="68649"/>
                  </a:lnTo>
                  <a:lnTo>
                    <a:pt x="970144" y="87176"/>
                  </a:lnTo>
                  <a:lnTo>
                    <a:pt x="928637" y="108129"/>
                  </a:lnTo>
                  <a:lnTo>
                    <a:pt x="884886" y="134607"/>
                  </a:lnTo>
                  <a:lnTo>
                    <a:pt x="844325" y="164025"/>
                  </a:lnTo>
                  <a:lnTo>
                    <a:pt x="807050" y="196177"/>
                  </a:lnTo>
                  <a:lnTo>
                    <a:pt x="773153" y="230858"/>
                  </a:lnTo>
                  <a:lnTo>
                    <a:pt x="742729" y="267863"/>
                  </a:lnTo>
                  <a:lnTo>
                    <a:pt x="715873" y="306989"/>
                  </a:lnTo>
                  <a:lnTo>
                    <a:pt x="692677" y="348029"/>
                  </a:lnTo>
                  <a:lnTo>
                    <a:pt x="673238" y="390779"/>
                  </a:lnTo>
                  <a:lnTo>
                    <a:pt x="657647" y="435034"/>
                  </a:lnTo>
                  <a:lnTo>
                    <a:pt x="646001" y="480590"/>
                  </a:lnTo>
                  <a:lnTo>
                    <a:pt x="638392" y="527241"/>
                  </a:lnTo>
                  <a:lnTo>
                    <a:pt x="634914" y="574783"/>
                  </a:lnTo>
                  <a:lnTo>
                    <a:pt x="635483" y="621608"/>
                  </a:lnTo>
                  <a:lnTo>
                    <a:pt x="639556" y="669036"/>
                  </a:lnTo>
                  <a:lnTo>
                    <a:pt x="646665" y="717034"/>
                  </a:lnTo>
                  <a:lnTo>
                    <a:pt x="656342" y="765566"/>
                  </a:lnTo>
                  <a:lnTo>
                    <a:pt x="668119" y="814598"/>
                  </a:lnTo>
                  <a:lnTo>
                    <a:pt x="681527" y="864096"/>
                  </a:lnTo>
                  <a:lnTo>
                    <a:pt x="696099" y="914024"/>
                  </a:lnTo>
                  <a:lnTo>
                    <a:pt x="711365" y="964349"/>
                  </a:lnTo>
                  <a:lnTo>
                    <a:pt x="726858" y="1015035"/>
                  </a:lnTo>
                  <a:lnTo>
                    <a:pt x="742111" y="1066048"/>
                  </a:lnTo>
                  <a:lnTo>
                    <a:pt x="756653" y="1117354"/>
                  </a:lnTo>
                  <a:lnTo>
                    <a:pt x="770018" y="1168918"/>
                  </a:lnTo>
                  <a:lnTo>
                    <a:pt x="781737" y="1220705"/>
                  </a:lnTo>
                  <a:lnTo>
                    <a:pt x="790736" y="1268464"/>
                  </a:lnTo>
                  <a:lnTo>
                    <a:pt x="798108" y="1316410"/>
                  </a:lnTo>
                  <a:lnTo>
                    <a:pt x="804008" y="1364580"/>
                  </a:lnTo>
                  <a:lnTo>
                    <a:pt x="808590" y="1413008"/>
                  </a:lnTo>
                  <a:lnTo>
                    <a:pt x="812009" y="1461729"/>
                  </a:lnTo>
                  <a:lnTo>
                    <a:pt x="814420" y="1510778"/>
                  </a:lnTo>
                  <a:lnTo>
                    <a:pt x="815977" y="1560192"/>
                  </a:lnTo>
                  <a:lnTo>
                    <a:pt x="816835" y="1610005"/>
                  </a:lnTo>
                  <a:lnTo>
                    <a:pt x="817148" y="1660253"/>
                  </a:lnTo>
                  <a:lnTo>
                    <a:pt x="817070" y="1710970"/>
                  </a:lnTo>
                  <a:lnTo>
                    <a:pt x="816757" y="1762192"/>
                  </a:lnTo>
                  <a:lnTo>
                    <a:pt x="816363" y="1813954"/>
                  </a:lnTo>
                  <a:lnTo>
                    <a:pt x="816042" y="1866292"/>
                  </a:lnTo>
                  <a:lnTo>
                    <a:pt x="815950" y="1919241"/>
                  </a:lnTo>
                  <a:lnTo>
                    <a:pt x="816239" y="1972835"/>
                  </a:lnTo>
                  <a:lnTo>
                    <a:pt x="817066" y="2027111"/>
                  </a:lnTo>
                  <a:lnTo>
                    <a:pt x="818585" y="2082103"/>
                  </a:lnTo>
                  <a:lnTo>
                    <a:pt x="820785" y="2137073"/>
                  </a:lnTo>
                  <a:lnTo>
                    <a:pt x="823162" y="2192127"/>
                  </a:lnTo>
                  <a:lnTo>
                    <a:pt x="825065" y="2246616"/>
                  </a:lnTo>
                  <a:lnTo>
                    <a:pt x="825842" y="2299893"/>
                  </a:lnTo>
                  <a:lnTo>
                    <a:pt x="824843" y="2351311"/>
                  </a:lnTo>
                  <a:lnTo>
                    <a:pt x="821415" y="2400222"/>
                  </a:lnTo>
                  <a:lnTo>
                    <a:pt x="814906" y="2445978"/>
                  </a:lnTo>
                  <a:lnTo>
                    <a:pt x="804667" y="2487933"/>
                  </a:lnTo>
                  <a:lnTo>
                    <a:pt x="790044" y="2525438"/>
                  </a:lnTo>
                  <a:lnTo>
                    <a:pt x="745044" y="2584510"/>
                  </a:lnTo>
                  <a:lnTo>
                    <a:pt x="676345" y="2620245"/>
                  </a:lnTo>
                  <a:lnTo>
                    <a:pt x="634611" y="2630786"/>
                  </a:lnTo>
                  <a:lnTo>
                    <a:pt x="589135" y="2637700"/>
                  </a:lnTo>
                  <a:lnTo>
                    <a:pt x="540800" y="2641928"/>
                  </a:lnTo>
                  <a:lnTo>
                    <a:pt x="490492" y="2644412"/>
                  </a:lnTo>
                  <a:lnTo>
                    <a:pt x="439096" y="2646094"/>
                  </a:lnTo>
                  <a:lnTo>
                    <a:pt x="387497" y="2647918"/>
                  </a:lnTo>
                  <a:lnTo>
                    <a:pt x="336580" y="2650824"/>
                  </a:lnTo>
                  <a:lnTo>
                    <a:pt x="287229" y="2655755"/>
                  </a:lnTo>
                  <a:lnTo>
                    <a:pt x="240329" y="2663654"/>
                  </a:lnTo>
                  <a:lnTo>
                    <a:pt x="196766" y="2675462"/>
                  </a:lnTo>
                  <a:lnTo>
                    <a:pt x="157423" y="2692121"/>
                  </a:lnTo>
                  <a:lnTo>
                    <a:pt x="100607" y="2734328"/>
                  </a:lnTo>
                  <a:lnTo>
                    <a:pt x="57913" y="2791850"/>
                  </a:lnTo>
                  <a:lnTo>
                    <a:pt x="27978" y="2862422"/>
                  </a:lnTo>
                  <a:lnTo>
                    <a:pt x="17368" y="2901895"/>
                  </a:lnTo>
                  <a:lnTo>
                    <a:pt x="9436" y="2943782"/>
                  </a:lnTo>
                  <a:lnTo>
                    <a:pt x="4011" y="2987799"/>
                  </a:lnTo>
                  <a:lnTo>
                    <a:pt x="922" y="3033665"/>
                  </a:lnTo>
                  <a:lnTo>
                    <a:pt x="0" y="3081095"/>
                  </a:lnTo>
                  <a:lnTo>
                    <a:pt x="1072" y="3129808"/>
                  </a:lnTo>
                  <a:lnTo>
                    <a:pt x="3969" y="3179520"/>
                  </a:lnTo>
                  <a:lnTo>
                    <a:pt x="8521" y="3229948"/>
                  </a:lnTo>
                  <a:lnTo>
                    <a:pt x="14555" y="3280809"/>
                  </a:lnTo>
                  <a:lnTo>
                    <a:pt x="21903" y="3331820"/>
                  </a:lnTo>
                  <a:lnTo>
                    <a:pt x="30393" y="3382699"/>
                  </a:lnTo>
                  <a:lnTo>
                    <a:pt x="39854" y="3433163"/>
                  </a:lnTo>
                  <a:lnTo>
                    <a:pt x="50117" y="3482927"/>
                  </a:lnTo>
                  <a:lnTo>
                    <a:pt x="61010" y="3531711"/>
                  </a:lnTo>
                  <a:lnTo>
                    <a:pt x="72363" y="3579230"/>
                  </a:lnTo>
                  <a:lnTo>
                    <a:pt x="84005" y="3625201"/>
                  </a:lnTo>
                  <a:lnTo>
                    <a:pt x="99549" y="3682860"/>
                  </a:lnTo>
                  <a:lnTo>
                    <a:pt x="115525" y="3737391"/>
                  </a:lnTo>
                  <a:lnTo>
                    <a:pt x="132159" y="3788824"/>
                  </a:lnTo>
                  <a:lnTo>
                    <a:pt x="149680" y="3837186"/>
                  </a:lnTo>
                  <a:lnTo>
                    <a:pt x="168314" y="3882507"/>
                  </a:lnTo>
                  <a:lnTo>
                    <a:pt x="188288" y="3924814"/>
                  </a:lnTo>
                  <a:lnTo>
                    <a:pt x="209830" y="3964136"/>
                  </a:lnTo>
                  <a:lnTo>
                    <a:pt x="233166" y="4000501"/>
                  </a:lnTo>
                  <a:lnTo>
                    <a:pt x="258525" y="4033939"/>
                  </a:lnTo>
                  <a:lnTo>
                    <a:pt x="286133" y="4064477"/>
                  </a:lnTo>
                  <a:lnTo>
                    <a:pt x="316217" y="4092143"/>
                  </a:lnTo>
                  <a:lnTo>
                    <a:pt x="349005" y="4116967"/>
                  </a:lnTo>
                  <a:lnTo>
                    <a:pt x="384724" y="4138977"/>
                  </a:lnTo>
                  <a:lnTo>
                    <a:pt x="423601" y="4158201"/>
                  </a:lnTo>
                  <a:lnTo>
                    <a:pt x="465863" y="4174667"/>
                  </a:lnTo>
                  <a:lnTo>
                    <a:pt x="511738" y="4188404"/>
                  </a:lnTo>
                  <a:lnTo>
                    <a:pt x="561452" y="4199441"/>
                  </a:lnTo>
                  <a:lnTo>
                    <a:pt x="606642" y="4206763"/>
                  </a:lnTo>
                  <a:lnTo>
                    <a:pt x="654230" y="4212561"/>
                  </a:lnTo>
                  <a:lnTo>
                    <a:pt x="703696" y="4217231"/>
                  </a:lnTo>
                  <a:lnTo>
                    <a:pt x="754518" y="4221168"/>
                  </a:lnTo>
                  <a:lnTo>
                    <a:pt x="806174" y="4224767"/>
                  </a:lnTo>
                  <a:lnTo>
                    <a:pt x="858144" y="4228423"/>
                  </a:lnTo>
                  <a:lnTo>
                    <a:pt x="909906" y="4232532"/>
                  </a:lnTo>
                  <a:lnTo>
                    <a:pt x="960938" y="4237488"/>
                  </a:lnTo>
                  <a:lnTo>
                    <a:pt x="1010719" y="4243687"/>
                  </a:lnTo>
                  <a:lnTo>
                    <a:pt x="1058729" y="4251525"/>
                  </a:lnTo>
                  <a:lnTo>
                    <a:pt x="1104445" y="4261395"/>
                  </a:lnTo>
                  <a:lnTo>
                    <a:pt x="1147346" y="4273693"/>
                  </a:lnTo>
                  <a:lnTo>
                    <a:pt x="1186911" y="4288814"/>
                  </a:lnTo>
                  <a:lnTo>
                    <a:pt x="1222619" y="4307154"/>
                  </a:lnTo>
                  <a:lnTo>
                    <a:pt x="1263202" y="4336339"/>
                  </a:lnTo>
                  <a:lnTo>
                    <a:pt x="1297939" y="4370247"/>
                  </a:lnTo>
                  <a:lnTo>
                    <a:pt x="1328516" y="4407383"/>
                  </a:lnTo>
                  <a:lnTo>
                    <a:pt x="1356617" y="4446253"/>
                  </a:lnTo>
                  <a:lnTo>
                    <a:pt x="1383925" y="4485364"/>
                  </a:lnTo>
                  <a:lnTo>
                    <a:pt x="1412126" y="4523222"/>
                  </a:lnTo>
                  <a:lnTo>
                    <a:pt x="1442904" y="4558332"/>
                  </a:lnTo>
                  <a:lnTo>
                    <a:pt x="1472872" y="4585668"/>
                  </a:lnTo>
                  <a:lnTo>
                    <a:pt x="1505916" y="4610000"/>
                  </a:lnTo>
                  <a:lnTo>
                    <a:pt x="1541889" y="4631532"/>
                  </a:lnTo>
                  <a:lnTo>
                    <a:pt x="1580645" y="4650468"/>
                  </a:lnTo>
                  <a:lnTo>
                    <a:pt x="1622038" y="4667012"/>
                  </a:lnTo>
                  <a:lnTo>
                    <a:pt x="1665920" y="4681367"/>
                  </a:lnTo>
                  <a:lnTo>
                    <a:pt x="1712146" y="4693738"/>
                  </a:lnTo>
                  <a:lnTo>
                    <a:pt x="1760569" y="4704328"/>
                  </a:lnTo>
                  <a:lnTo>
                    <a:pt x="1811042" y="4713343"/>
                  </a:lnTo>
                  <a:lnTo>
                    <a:pt x="1863419" y="4720984"/>
                  </a:lnTo>
                  <a:lnTo>
                    <a:pt x="1917552" y="4727458"/>
                  </a:lnTo>
                  <a:lnTo>
                    <a:pt x="1973297" y="4732966"/>
                  </a:lnTo>
                  <a:lnTo>
                    <a:pt x="2030505" y="4737714"/>
                  </a:lnTo>
                  <a:lnTo>
                    <a:pt x="2086001" y="4741648"/>
                  </a:lnTo>
                  <a:lnTo>
                    <a:pt x="2142138" y="4744904"/>
                  </a:lnTo>
                  <a:lnTo>
                    <a:pt x="2198368" y="4747310"/>
                  </a:lnTo>
                  <a:lnTo>
                    <a:pt x="2254141" y="4748690"/>
                  </a:lnTo>
                  <a:lnTo>
                    <a:pt x="2308909" y="4748869"/>
                  </a:lnTo>
                  <a:lnTo>
                    <a:pt x="2362125" y="4747673"/>
                  </a:lnTo>
                  <a:lnTo>
                    <a:pt x="2413239" y="4744929"/>
                  </a:lnTo>
                  <a:lnTo>
                    <a:pt x="2461705" y="4740460"/>
                  </a:lnTo>
                  <a:lnTo>
                    <a:pt x="2506972" y="4734094"/>
                  </a:lnTo>
                  <a:lnTo>
                    <a:pt x="2548493" y="4725655"/>
                  </a:lnTo>
                  <a:lnTo>
                    <a:pt x="2585721" y="4714968"/>
                  </a:lnTo>
                  <a:lnTo>
                    <a:pt x="2644077" y="4686993"/>
                  </a:lnTo>
                  <a:lnTo>
                    <a:pt x="2682115" y="4650525"/>
                  </a:lnTo>
                  <a:lnTo>
                    <a:pt x="2702913" y="4605652"/>
                  </a:lnTo>
                  <a:lnTo>
                    <a:pt x="2708038" y="4553059"/>
                  </a:lnTo>
                  <a:lnTo>
                    <a:pt x="2705211" y="4524082"/>
                  </a:lnTo>
                  <a:lnTo>
                    <a:pt x="2689758" y="4461194"/>
                  </a:lnTo>
                  <a:lnTo>
                    <a:pt x="2662543" y="4392301"/>
                  </a:lnTo>
                  <a:lnTo>
                    <a:pt x="2645014" y="4355816"/>
                  </a:lnTo>
                  <a:lnTo>
                    <a:pt x="2625130" y="4318087"/>
                  </a:lnTo>
                  <a:lnTo>
                    <a:pt x="2603089" y="4279200"/>
                  </a:lnTo>
                  <a:lnTo>
                    <a:pt x="2579085" y="4239239"/>
                  </a:lnTo>
                  <a:lnTo>
                    <a:pt x="2553314" y="4198291"/>
                  </a:lnTo>
                  <a:lnTo>
                    <a:pt x="2525971" y="4156442"/>
                  </a:lnTo>
                  <a:lnTo>
                    <a:pt x="2497253" y="4113776"/>
                  </a:lnTo>
                  <a:lnTo>
                    <a:pt x="2467354" y="4070381"/>
                  </a:lnTo>
                  <a:lnTo>
                    <a:pt x="2436471" y="4026341"/>
                  </a:lnTo>
                  <a:lnTo>
                    <a:pt x="2404799" y="3981742"/>
                  </a:lnTo>
                  <a:lnTo>
                    <a:pt x="2372533" y="3936671"/>
                  </a:lnTo>
                  <a:lnTo>
                    <a:pt x="2339870" y="3891212"/>
                  </a:lnTo>
                  <a:lnTo>
                    <a:pt x="2307004" y="3845451"/>
                  </a:lnTo>
                  <a:lnTo>
                    <a:pt x="2274132" y="3799474"/>
                  </a:lnTo>
                  <a:lnTo>
                    <a:pt x="2241448" y="3753367"/>
                  </a:lnTo>
                  <a:lnTo>
                    <a:pt x="2209149" y="3707216"/>
                  </a:lnTo>
                  <a:lnTo>
                    <a:pt x="2177431" y="3661105"/>
                  </a:lnTo>
                  <a:lnTo>
                    <a:pt x="2142613" y="3609323"/>
                  </a:lnTo>
                  <a:lnTo>
                    <a:pt x="2108878" y="3557774"/>
                  </a:lnTo>
                  <a:lnTo>
                    <a:pt x="2076327" y="3506536"/>
                  </a:lnTo>
                  <a:lnTo>
                    <a:pt x="2045059" y="3455681"/>
                  </a:lnTo>
                  <a:lnTo>
                    <a:pt x="2015173" y="3405283"/>
                  </a:lnTo>
                  <a:lnTo>
                    <a:pt x="1986770" y="3355419"/>
                  </a:lnTo>
                  <a:lnTo>
                    <a:pt x="1959949" y="3306161"/>
                  </a:lnTo>
                  <a:lnTo>
                    <a:pt x="1934810" y="3257584"/>
                  </a:lnTo>
                  <a:lnTo>
                    <a:pt x="1911452" y="3209763"/>
                  </a:lnTo>
                  <a:lnTo>
                    <a:pt x="1889976" y="3162773"/>
                  </a:lnTo>
                  <a:lnTo>
                    <a:pt x="1870481" y="3116686"/>
                  </a:lnTo>
                  <a:lnTo>
                    <a:pt x="1853066" y="3071578"/>
                  </a:lnTo>
                  <a:lnTo>
                    <a:pt x="1837833" y="3027524"/>
                  </a:lnTo>
                  <a:lnTo>
                    <a:pt x="1824879" y="2984597"/>
                  </a:lnTo>
                  <a:lnTo>
                    <a:pt x="1814305" y="2942872"/>
                  </a:lnTo>
                  <a:lnTo>
                    <a:pt x="1806212" y="2902424"/>
                  </a:lnTo>
                  <a:lnTo>
                    <a:pt x="1800698" y="2863326"/>
                  </a:lnTo>
                  <a:lnTo>
                    <a:pt x="1797807" y="2789481"/>
                  </a:lnTo>
                  <a:lnTo>
                    <a:pt x="1800629" y="2754882"/>
                  </a:lnTo>
                  <a:lnTo>
                    <a:pt x="1815310" y="2690704"/>
                  </a:lnTo>
                  <a:lnTo>
                    <a:pt x="1842702" y="2633715"/>
                  </a:lnTo>
                  <a:lnTo>
                    <a:pt x="1883604" y="2584510"/>
                  </a:lnTo>
                  <a:lnTo>
                    <a:pt x="1938080" y="2543477"/>
                  </a:lnTo>
                  <a:lnTo>
                    <a:pt x="2004773" y="2509158"/>
                  </a:lnTo>
                  <a:lnTo>
                    <a:pt x="2042088" y="2494018"/>
                  </a:lnTo>
                  <a:lnTo>
                    <a:pt x="2081720" y="2479961"/>
                  </a:lnTo>
                  <a:lnTo>
                    <a:pt x="2123425" y="2466786"/>
                  </a:lnTo>
                  <a:lnTo>
                    <a:pt x="2166957" y="2454294"/>
                  </a:lnTo>
                  <a:lnTo>
                    <a:pt x="2212071" y="2442288"/>
                  </a:lnTo>
                  <a:lnTo>
                    <a:pt x="2258522" y="2430567"/>
                  </a:lnTo>
                  <a:lnTo>
                    <a:pt x="2306063" y="2418933"/>
                  </a:lnTo>
                  <a:lnTo>
                    <a:pt x="2354450" y="2407187"/>
                  </a:lnTo>
                  <a:lnTo>
                    <a:pt x="2403437" y="2395129"/>
                  </a:lnTo>
                  <a:lnTo>
                    <a:pt x="2452778" y="2382562"/>
                  </a:lnTo>
                  <a:lnTo>
                    <a:pt x="2502229" y="2369286"/>
                  </a:lnTo>
                  <a:lnTo>
                    <a:pt x="2551544" y="2355102"/>
                  </a:lnTo>
                  <a:lnTo>
                    <a:pt x="2600477" y="2339811"/>
                  </a:lnTo>
                  <a:lnTo>
                    <a:pt x="2648783" y="2323214"/>
                  </a:lnTo>
                  <a:lnTo>
                    <a:pt x="2696216" y="2305112"/>
                  </a:lnTo>
                  <a:lnTo>
                    <a:pt x="2742532" y="2285307"/>
                  </a:lnTo>
                  <a:lnTo>
                    <a:pt x="2787484" y="2263598"/>
                  </a:lnTo>
                  <a:lnTo>
                    <a:pt x="2830828" y="2239789"/>
                  </a:lnTo>
                  <a:lnTo>
                    <a:pt x="2872318" y="2213678"/>
                  </a:lnTo>
                  <a:lnTo>
                    <a:pt x="2911708" y="2185068"/>
                  </a:lnTo>
                  <a:lnTo>
                    <a:pt x="2948753" y="2153760"/>
                  </a:lnTo>
                  <a:lnTo>
                    <a:pt x="2985421" y="2117298"/>
                  </a:lnTo>
                  <a:lnTo>
                    <a:pt x="3019054" y="2077944"/>
                  </a:lnTo>
                  <a:lnTo>
                    <a:pt x="3049562" y="2036107"/>
                  </a:lnTo>
                  <a:lnTo>
                    <a:pt x="3076859" y="1992197"/>
                  </a:lnTo>
                  <a:lnTo>
                    <a:pt x="3100855" y="1946624"/>
                  </a:lnTo>
                  <a:lnTo>
                    <a:pt x="3121462" y="1899797"/>
                  </a:lnTo>
                  <a:lnTo>
                    <a:pt x="3138593" y="1852126"/>
                  </a:lnTo>
                  <a:lnTo>
                    <a:pt x="3152159" y="1804020"/>
                  </a:lnTo>
                  <a:lnTo>
                    <a:pt x="3162073" y="1755890"/>
                  </a:lnTo>
                  <a:lnTo>
                    <a:pt x="3168245" y="1708145"/>
                  </a:lnTo>
                  <a:lnTo>
                    <a:pt x="3170587" y="1661195"/>
                  </a:lnTo>
                  <a:lnTo>
                    <a:pt x="3169012" y="1615449"/>
                  </a:lnTo>
                  <a:lnTo>
                    <a:pt x="3163286" y="1570024"/>
                  </a:lnTo>
                  <a:lnTo>
                    <a:pt x="3153601" y="1526184"/>
                  </a:lnTo>
                  <a:lnTo>
                    <a:pt x="3140233" y="1483800"/>
                  </a:lnTo>
                  <a:lnTo>
                    <a:pt x="3123460" y="1442744"/>
                  </a:lnTo>
                  <a:lnTo>
                    <a:pt x="3103558" y="1402889"/>
                  </a:lnTo>
                  <a:lnTo>
                    <a:pt x="3080805" y="1364106"/>
                  </a:lnTo>
                  <a:lnTo>
                    <a:pt x="3055479" y="1326266"/>
                  </a:lnTo>
                  <a:lnTo>
                    <a:pt x="3027856" y="1289242"/>
                  </a:lnTo>
                  <a:lnTo>
                    <a:pt x="2998213" y="1252906"/>
                  </a:lnTo>
                  <a:lnTo>
                    <a:pt x="2966827" y="1217129"/>
                  </a:lnTo>
                  <a:lnTo>
                    <a:pt x="2933976" y="1181782"/>
                  </a:lnTo>
                  <a:lnTo>
                    <a:pt x="2899937" y="1146739"/>
                  </a:lnTo>
                  <a:lnTo>
                    <a:pt x="2864987" y="1111871"/>
                  </a:lnTo>
                  <a:lnTo>
                    <a:pt x="2829403" y="1077049"/>
                  </a:lnTo>
                  <a:lnTo>
                    <a:pt x="2793462" y="1042145"/>
                  </a:lnTo>
                  <a:lnTo>
                    <a:pt x="2757441" y="1007032"/>
                  </a:lnTo>
                  <a:lnTo>
                    <a:pt x="2721618" y="971580"/>
                  </a:lnTo>
                  <a:lnTo>
                    <a:pt x="2686269" y="935663"/>
                  </a:lnTo>
                  <a:lnTo>
                    <a:pt x="2651673" y="899150"/>
                  </a:lnTo>
                  <a:lnTo>
                    <a:pt x="2618105" y="861916"/>
                  </a:lnTo>
                  <a:lnTo>
                    <a:pt x="2576398" y="812372"/>
                  </a:lnTo>
                  <a:lnTo>
                    <a:pt x="2536777" y="761804"/>
                  </a:lnTo>
                  <a:lnTo>
                    <a:pt x="2499122" y="710624"/>
                  </a:lnTo>
                  <a:lnTo>
                    <a:pt x="2463316" y="659243"/>
                  </a:lnTo>
                  <a:lnTo>
                    <a:pt x="2429239" y="608072"/>
                  </a:lnTo>
                  <a:lnTo>
                    <a:pt x="2396773" y="557522"/>
                  </a:lnTo>
                  <a:lnTo>
                    <a:pt x="2365798" y="508006"/>
                  </a:lnTo>
                  <a:lnTo>
                    <a:pt x="2336197" y="459933"/>
                  </a:lnTo>
                  <a:lnTo>
                    <a:pt x="2307850" y="413716"/>
                  </a:lnTo>
                  <a:lnTo>
                    <a:pt x="2280638" y="369766"/>
                  </a:lnTo>
                  <a:lnTo>
                    <a:pt x="2254444" y="328494"/>
                  </a:lnTo>
                  <a:lnTo>
                    <a:pt x="2229147" y="290311"/>
                  </a:lnTo>
                  <a:lnTo>
                    <a:pt x="2204630" y="255629"/>
                  </a:lnTo>
                  <a:lnTo>
                    <a:pt x="2180774" y="224859"/>
                  </a:lnTo>
                  <a:lnTo>
                    <a:pt x="2134569" y="176699"/>
                  </a:lnTo>
                  <a:lnTo>
                    <a:pt x="2089582" y="149124"/>
                  </a:lnTo>
                  <a:lnTo>
                    <a:pt x="2067249" y="144084"/>
                  </a:lnTo>
                  <a:close/>
                </a:path>
              </a:pathLst>
            </a:custGeom>
            <a:ln w="18525">
              <a:solidFill>
                <a:srgbClr val="000000"/>
              </a:solidFill>
            </a:ln>
          </p:spPr>
          <p:txBody>
            <a:bodyPr wrap="square" lIns="0" tIns="0" rIns="0" bIns="0" rtlCol="0"/>
            <a:lstStyle/>
            <a:p/>
          </p:txBody>
        </p:sp>
        <p:sp>
          <p:nvSpPr>
            <p:cNvPr id="13" name="object 13" descr=""/>
            <p:cNvSpPr/>
            <p:nvPr/>
          </p:nvSpPr>
          <p:spPr>
            <a:xfrm>
              <a:off x="8340107" y="1096398"/>
              <a:ext cx="2468245" cy="502920"/>
            </a:xfrm>
            <a:custGeom>
              <a:avLst/>
              <a:gdLst/>
              <a:ahLst/>
              <a:cxnLst/>
              <a:rect l="l" t="t" r="r" b="b"/>
              <a:pathLst>
                <a:path w="2468245" h="502919">
                  <a:moveTo>
                    <a:pt x="2468227" y="0"/>
                  </a:moveTo>
                  <a:lnTo>
                    <a:pt x="0" y="0"/>
                  </a:lnTo>
                  <a:lnTo>
                    <a:pt x="0" y="502431"/>
                  </a:lnTo>
                  <a:lnTo>
                    <a:pt x="2468227" y="502431"/>
                  </a:lnTo>
                  <a:lnTo>
                    <a:pt x="2468227" y="0"/>
                  </a:lnTo>
                  <a:close/>
                </a:path>
              </a:pathLst>
            </a:custGeom>
            <a:solidFill>
              <a:srgbClr val="FFFFFF"/>
            </a:solidFill>
          </p:spPr>
          <p:txBody>
            <a:bodyPr wrap="square" lIns="0" tIns="0" rIns="0" bIns="0" rtlCol="0"/>
            <a:lstStyle/>
            <a:p/>
          </p:txBody>
        </p:sp>
      </p:grpSp>
      <p:sp>
        <p:nvSpPr>
          <p:cNvPr id="14" name="object 14" descr=""/>
          <p:cNvSpPr txBox="1"/>
          <p:nvPr/>
        </p:nvSpPr>
        <p:spPr>
          <a:xfrm>
            <a:off x="8340107" y="1096398"/>
            <a:ext cx="2468245" cy="502920"/>
          </a:xfrm>
          <a:prstGeom prst="rect">
            <a:avLst/>
          </a:prstGeom>
          <a:ln w="18248">
            <a:solidFill>
              <a:srgbClr val="000000"/>
            </a:solidFill>
          </a:ln>
        </p:spPr>
        <p:txBody>
          <a:bodyPr wrap="square" lIns="0" tIns="73025" rIns="0" bIns="0" rtlCol="0" vert="horz">
            <a:spAutoFit/>
          </a:bodyPr>
          <a:lstStyle/>
          <a:p>
            <a:pPr marL="175895">
              <a:lnSpc>
                <a:spcPct val="100000"/>
              </a:lnSpc>
              <a:spcBef>
                <a:spcPts val="575"/>
              </a:spcBef>
            </a:pPr>
            <a:r>
              <a:rPr dirty="0" sz="2000" b="1">
                <a:latin typeface="Times New Roman"/>
                <a:cs typeface="Times New Roman"/>
              </a:rPr>
              <a:t>1:</a:t>
            </a:r>
            <a:r>
              <a:rPr dirty="0" sz="2000" spc="45" b="1">
                <a:latin typeface="Times New Roman"/>
                <a:cs typeface="Times New Roman"/>
              </a:rPr>
              <a:t> </a:t>
            </a:r>
            <a:r>
              <a:rPr dirty="0" sz="2000" b="1">
                <a:latin typeface="Times New Roman"/>
                <a:cs typeface="Times New Roman"/>
              </a:rPr>
              <a:t>A[i]</a:t>
            </a:r>
            <a:r>
              <a:rPr dirty="0" sz="2000" spc="45" b="1">
                <a:latin typeface="Times New Roman"/>
                <a:cs typeface="Times New Roman"/>
              </a:rPr>
              <a:t> </a:t>
            </a:r>
            <a:r>
              <a:rPr dirty="0" sz="2000" b="1">
                <a:latin typeface="Times New Roman"/>
                <a:cs typeface="Times New Roman"/>
              </a:rPr>
              <a:t>=</a:t>
            </a:r>
            <a:r>
              <a:rPr dirty="0" sz="2000" spc="50" b="1">
                <a:latin typeface="Times New Roman"/>
                <a:cs typeface="Times New Roman"/>
              </a:rPr>
              <a:t> </a:t>
            </a:r>
            <a:r>
              <a:rPr dirty="0" sz="2000" b="1">
                <a:latin typeface="Times New Roman"/>
                <a:cs typeface="Times New Roman"/>
              </a:rPr>
              <a:t>A[i]</a:t>
            </a:r>
            <a:r>
              <a:rPr dirty="0" sz="2000" spc="45" b="1">
                <a:latin typeface="Times New Roman"/>
                <a:cs typeface="Times New Roman"/>
              </a:rPr>
              <a:t> </a:t>
            </a:r>
            <a:r>
              <a:rPr dirty="0" sz="2000" b="1">
                <a:latin typeface="Times New Roman"/>
                <a:cs typeface="Times New Roman"/>
              </a:rPr>
              <a:t>+</a:t>
            </a:r>
            <a:r>
              <a:rPr dirty="0" sz="2000" spc="45" b="1">
                <a:latin typeface="Times New Roman"/>
                <a:cs typeface="Times New Roman"/>
              </a:rPr>
              <a:t> </a:t>
            </a:r>
            <a:r>
              <a:rPr dirty="0" sz="2000" spc="-20" b="1">
                <a:latin typeface="Times New Roman"/>
                <a:cs typeface="Times New Roman"/>
              </a:rPr>
              <a:t>B[i]</a:t>
            </a:r>
            <a:endParaRPr sz="2000">
              <a:latin typeface="Times New Roman"/>
              <a:cs typeface="Times New Roman"/>
            </a:endParaRPr>
          </a:p>
        </p:txBody>
      </p:sp>
      <p:grpSp>
        <p:nvGrpSpPr>
          <p:cNvPr id="15" name="object 15" descr=""/>
          <p:cNvGrpSpPr/>
          <p:nvPr/>
        </p:nvGrpSpPr>
        <p:grpSpPr>
          <a:xfrm>
            <a:off x="8698189" y="2163635"/>
            <a:ext cx="1487805" cy="1095375"/>
            <a:chOff x="8698189" y="2163635"/>
            <a:chExt cx="1487805" cy="1095375"/>
          </a:xfrm>
        </p:grpSpPr>
        <p:sp>
          <p:nvSpPr>
            <p:cNvPr id="16" name="object 16" descr=""/>
            <p:cNvSpPr/>
            <p:nvPr/>
          </p:nvSpPr>
          <p:spPr>
            <a:xfrm>
              <a:off x="8707396" y="2172842"/>
              <a:ext cx="1469390" cy="1076960"/>
            </a:xfrm>
            <a:custGeom>
              <a:avLst/>
              <a:gdLst/>
              <a:ahLst/>
              <a:cxnLst/>
              <a:rect l="l" t="t" r="r" b="b"/>
              <a:pathLst>
                <a:path w="1469390" h="1076960">
                  <a:moveTo>
                    <a:pt x="734526" y="0"/>
                  </a:moveTo>
                  <a:lnTo>
                    <a:pt x="0" y="574265"/>
                  </a:lnTo>
                  <a:lnTo>
                    <a:pt x="734526" y="1076697"/>
                  </a:lnTo>
                  <a:lnTo>
                    <a:pt x="1469026" y="574265"/>
                  </a:lnTo>
                  <a:lnTo>
                    <a:pt x="734526" y="0"/>
                  </a:lnTo>
                  <a:close/>
                </a:path>
              </a:pathLst>
            </a:custGeom>
            <a:solidFill>
              <a:srgbClr val="FFFFFF"/>
            </a:solidFill>
          </p:spPr>
          <p:txBody>
            <a:bodyPr wrap="square" lIns="0" tIns="0" rIns="0" bIns="0" rtlCol="0"/>
            <a:lstStyle/>
            <a:p/>
          </p:txBody>
        </p:sp>
        <p:sp>
          <p:nvSpPr>
            <p:cNvPr id="17" name="object 17" descr=""/>
            <p:cNvSpPr/>
            <p:nvPr/>
          </p:nvSpPr>
          <p:spPr>
            <a:xfrm>
              <a:off x="8707396" y="2172842"/>
              <a:ext cx="1469390" cy="1076960"/>
            </a:xfrm>
            <a:custGeom>
              <a:avLst/>
              <a:gdLst/>
              <a:ahLst/>
              <a:cxnLst/>
              <a:rect l="l" t="t" r="r" b="b"/>
              <a:pathLst>
                <a:path w="1469390" h="1076960">
                  <a:moveTo>
                    <a:pt x="734526" y="0"/>
                  </a:moveTo>
                  <a:lnTo>
                    <a:pt x="0" y="574265"/>
                  </a:lnTo>
                  <a:lnTo>
                    <a:pt x="734526" y="1076697"/>
                  </a:lnTo>
                  <a:lnTo>
                    <a:pt x="1469026" y="574265"/>
                  </a:lnTo>
                  <a:lnTo>
                    <a:pt x="734526" y="0"/>
                  </a:lnTo>
                  <a:close/>
                </a:path>
              </a:pathLst>
            </a:custGeom>
            <a:ln w="18379">
              <a:solidFill>
                <a:srgbClr val="000000"/>
              </a:solidFill>
            </a:ln>
          </p:spPr>
          <p:txBody>
            <a:bodyPr wrap="square" lIns="0" tIns="0" rIns="0" bIns="0" rtlCol="0"/>
            <a:lstStyle/>
            <a:p/>
          </p:txBody>
        </p:sp>
      </p:grpSp>
      <p:sp>
        <p:nvSpPr>
          <p:cNvPr id="18" name="object 18" descr=""/>
          <p:cNvSpPr txBox="1"/>
          <p:nvPr/>
        </p:nvSpPr>
        <p:spPr>
          <a:xfrm>
            <a:off x="8804956" y="2521208"/>
            <a:ext cx="1274445" cy="329565"/>
          </a:xfrm>
          <a:prstGeom prst="rect">
            <a:avLst/>
          </a:prstGeom>
        </p:spPr>
        <p:txBody>
          <a:bodyPr wrap="square" lIns="0" tIns="11430" rIns="0" bIns="0" rtlCol="0" vert="horz">
            <a:spAutoFit/>
          </a:bodyPr>
          <a:lstStyle/>
          <a:p>
            <a:pPr marL="12700">
              <a:lnSpc>
                <a:spcPct val="100000"/>
              </a:lnSpc>
              <a:spcBef>
                <a:spcPts val="90"/>
              </a:spcBef>
            </a:pPr>
            <a:r>
              <a:rPr dirty="0" sz="2000" b="1">
                <a:latin typeface="Times New Roman"/>
                <a:cs typeface="Times New Roman"/>
              </a:rPr>
              <a:t>2:</a:t>
            </a:r>
            <a:r>
              <a:rPr dirty="0" sz="2000" spc="40" b="1">
                <a:latin typeface="Times New Roman"/>
                <a:cs typeface="Times New Roman"/>
              </a:rPr>
              <a:t> </a:t>
            </a:r>
            <a:r>
              <a:rPr dirty="0" sz="2000" b="1">
                <a:latin typeface="Times New Roman"/>
                <a:cs typeface="Times New Roman"/>
              </a:rPr>
              <a:t>A[i]</a:t>
            </a:r>
            <a:r>
              <a:rPr dirty="0" sz="2000" spc="45" b="1">
                <a:latin typeface="Times New Roman"/>
                <a:cs typeface="Times New Roman"/>
              </a:rPr>
              <a:t> </a:t>
            </a:r>
            <a:r>
              <a:rPr dirty="0" sz="2000" b="1">
                <a:latin typeface="Times New Roman"/>
                <a:cs typeface="Times New Roman"/>
              </a:rPr>
              <a:t>=</a:t>
            </a:r>
            <a:r>
              <a:rPr dirty="0" sz="2000" spc="40" b="1">
                <a:latin typeface="Times New Roman"/>
                <a:cs typeface="Times New Roman"/>
              </a:rPr>
              <a:t> </a:t>
            </a:r>
            <a:r>
              <a:rPr dirty="0" sz="2000" spc="-25" b="1">
                <a:latin typeface="Times New Roman"/>
                <a:cs typeface="Times New Roman"/>
              </a:rPr>
              <a:t>0?</a:t>
            </a:r>
            <a:endParaRPr sz="2000">
              <a:latin typeface="Times New Roman"/>
              <a:cs typeface="Times New Roman"/>
            </a:endParaRPr>
          </a:p>
        </p:txBody>
      </p:sp>
      <p:sp>
        <p:nvSpPr>
          <p:cNvPr id="19" name="object 19" descr=""/>
          <p:cNvSpPr txBox="1"/>
          <p:nvPr/>
        </p:nvSpPr>
        <p:spPr>
          <a:xfrm>
            <a:off x="7238318" y="3823729"/>
            <a:ext cx="1469390" cy="502920"/>
          </a:xfrm>
          <a:prstGeom prst="rect">
            <a:avLst/>
          </a:prstGeom>
          <a:solidFill>
            <a:srgbClr val="FFFFFF"/>
          </a:solidFill>
          <a:ln w="18277">
            <a:solidFill>
              <a:srgbClr val="000000"/>
            </a:solidFill>
          </a:ln>
        </p:spPr>
        <p:txBody>
          <a:bodyPr wrap="square" lIns="0" tIns="73025" rIns="0" bIns="0" rtlCol="0" vert="horz">
            <a:spAutoFit/>
          </a:bodyPr>
          <a:lstStyle/>
          <a:p>
            <a:pPr marL="278765">
              <a:lnSpc>
                <a:spcPct val="100000"/>
              </a:lnSpc>
              <a:spcBef>
                <a:spcPts val="575"/>
              </a:spcBef>
            </a:pPr>
            <a:r>
              <a:rPr dirty="0" sz="2000" b="1">
                <a:latin typeface="Times New Roman"/>
                <a:cs typeface="Times New Roman"/>
              </a:rPr>
              <a:t>3:</a:t>
            </a:r>
            <a:r>
              <a:rPr dirty="0" sz="2000" spc="45" b="1">
                <a:latin typeface="Times New Roman"/>
                <a:cs typeface="Times New Roman"/>
              </a:rPr>
              <a:t> </a:t>
            </a:r>
            <a:r>
              <a:rPr dirty="0" sz="2000" b="1">
                <a:latin typeface="Times New Roman"/>
                <a:cs typeface="Times New Roman"/>
              </a:rPr>
              <a:t>B[i]</a:t>
            </a:r>
            <a:r>
              <a:rPr dirty="0" sz="2000" spc="55" b="1">
                <a:latin typeface="Times New Roman"/>
                <a:cs typeface="Times New Roman"/>
              </a:rPr>
              <a:t> </a:t>
            </a:r>
            <a:r>
              <a:rPr dirty="0" sz="2000" spc="-50" b="1">
                <a:latin typeface="Times New Roman"/>
                <a:cs typeface="Times New Roman"/>
              </a:rPr>
              <a:t>=</a:t>
            </a:r>
            <a:endParaRPr sz="2000">
              <a:latin typeface="Times New Roman"/>
              <a:cs typeface="Times New Roman"/>
            </a:endParaRPr>
          </a:p>
        </p:txBody>
      </p:sp>
      <p:sp>
        <p:nvSpPr>
          <p:cNvPr id="20" name="object 20" descr=""/>
          <p:cNvSpPr txBox="1"/>
          <p:nvPr/>
        </p:nvSpPr>
        <p:spPr>
          <a:xfrm>
            <a:off x="8707397" y="5043886"/>
            <a:ext cx="1469390" cy="502920"/>
          </a:xfrm>
          <a:prstGeom prst="rect">
            <a:avLst/>
          </a:prstGeom>
          <a:solidFill>
            <a:srgbClr val="FFFFFF"/>
          </a:solidFill>
          <a:ln w="18277">
            <a:solidFill>
              <a:srgbClr val="000000"/>
            </a:solidFill>
          </a:ln>
        </p:spPr>
        <p:txBody>
          <a:bodyPr wrap="square" lIns="0" tIns="73025" rIns="0" bIns="0" rtlCol="0" vert="horz">
            <a:spAutoFit/>
          </a:bodyPr>
          <a:lstStyle/>
          <a:p>
            <a:pPr marL="271780">
              <a:lnSpc>
                <a:spcPct val="100000"/>
              </a:lnSpc>
              <a:spcBef>
                <a:spcPts val="575"/>
              </a:spcBef>
            </a:pPr>
            <a:r>
              <a:rPr dirty="0" sz="2000" b="1">
                <a:latin typeface="Times New Roman"/>
                <a:cs typeface="Times New Roman"/>
              </a:rPr>
              <a:t>5:</a:t>
            </a:r>
            <a:r>
              <a:rPr dirty="0" sz="2000" spc="50" b="1">
                <a:latin typeface="Times New Roman"/>
                <a:cs typeface="Times New Roman"/>
              </a:rPr>
              <a:t> </a:t>
            </a:r>
            <a:r>
              <a:rPr dirty="0" sz="2000" b="1">
                <a:latin typeface="Times New Roman"/>
                <a:cs typeface="Times New Roman"/>
              </a:rPr>
              <a:t>C[i]</a:t>
            </a:r>
            <a:r>
              <a:rPr dirty="0" sz="2000" spc="50" b="1">
                <a:latin typeface="Times New Roman"/>
                <a:cs typeface="Times New Roman"/>
              </a:rPr>
              <a:t> </a:t>
            </a:r>
            <a:r>
              <a:rPr dirty="0" sz="2000" spc="-50" b="1">
                <a:latin typeface="Times New Roman"/>
                <a:cs typeface="Times New Roman"/>
              </a:rPr>
              <a:t>=</a:t>
            </a:r>
            <a:endParaRPr sz="2000">
              <a:latin typeface="Times New Roman"/>
              <a:cs typeface="Times New Roman"/>
            </a:endParaRPr>
          </a:p>
        </p:txBody>
      </p:sp>
      <p:sp>
        <p:nvSpPr>
          <p:cNvPr id="21" name="object 21" descr=""/>
          <p:cNvSpPr txBox="1"/>
          <p:nvPr/>
        </p:nvSpPr>
        <p:spPr>
          <a:xfrm>
            <a:off x="10176423" y="3823729"/>
            <a:ext cx="1469390" cy="502920"/>
          </a:xfrm>
          <a:prstGeom prst="rect">
            <a:avLst/>
          </a:prstGeom>
          <a:ln w="18277">
            <a:solidFill>
              <a:srgbClr val="000000"/>
            </a:solidFill>
          </a:ln>
        </p:spPr>
        <p:txBody>
          <a:bodyPr wrap="square" lIns="0" tIns="73025" rIns="0" bIns="0" rtlCol="0" vert="horz">
            <a:spAutoFit/>
          </a:bodyPr>
          <a:lstStyle/>
          <a:p>
            <a:pPr algn="ctr">
              <a:lnSpc>
                <a:spcPct val="100000"/>
              </a:lnSpc>
              <a:spcBef>
                <a:spcPts val="575"/>
              </a:spcBef>
            </a:pPr>
            <a:r>
              <a:rPr dirty="0" sz="2000" b="1">
                <a:latin typeface="Times New Roman"/>
                <a:cs typeface="Times New Roman"/>
              </a:rPr>
              <a:t>4:</a:t>
            </a:r>
            <a:r>
              <a:rPr dirty="0" sz="2000" spc="40" b="1">
                <a:latin typeface="Times New Roman"/>
                <a:cs typeface="Times New Roman"/>
              </a:rPr>
              <a:t> </a:t>
            </a:r>
            <a:r>
              <a:rPr dirty="0" sz="2000" spc="-50" b="1">
                <a:latin typeface="Times New Roman"/>
                <a:cs typeface="Times New Roman"/>
              </a:rPr>
              <a:t>X</a:t>
            </a:r>
            <a:endParaRPr sz="2000">
              <a:latin typeface="Times New Roman"/>
              <a:cs typeface="Times New Roman"/>
            </a:endParaRPr>
          </a:p>
        </p:txBody>
      </p:sp>
      <p:grpSp>
        <p:nvGrpSpPr>
          <p:cNvPr id="22" name="object 22" descr=""/>
          <p:cNvGrpSpPr/>
          <p:nvPr/>
        </p:nvGrpSpPr>
        <p:grpSpPr>
          <a:xfrm>
            <a:off x="7963700" y="1598830"/>
            <a:ext cx="2985770" cy="3445510"/>
            <a:chOff x="7963700" y="1598830"/>
            <a:chExt cx="2985770" cy="3445510"/>
          </a:xfrm>
        </p:grpSpPr>
        <p:sp>
          <p:nvSpPr>
            <p:cNvPr id="23" name="object 23" descr=""/>
            <p:cNvSpPr/>
            <p:nvPr/>
          </p:nvSpPr>
          <p:spPr>
            <a:xfrm>
              <a:off x="9441923" y="1598830"/>
              <a:ext cx="0" cy="457200"/>
            </a:xfrm>
            <a:custGeom>
              <a:avLst/>
              <a:gdLst/>
              <a:ahLst/>
              <a:cxnLst/>
              <a:rect l="l" t="t" r="r" b="b"/>
              <a:pathLst>
                <a:path w="0" h="457200">
                  <a:moveTo>
                    <a:pt x="0" y="0"/>
                  </a:moveTo>
                  <a:lnTo>
                    <a:pt x="0" y="457032"/>
                  </a:lnTo>
                </a:path>
              </a:pathLst>
            </a:custGeom>
            <a:ln w="6219">
              <a:solidFill>
                <a:srgbClr val="000000"/>
              </a:solidFill>
            </a:ln>
          </p:spPr>
          <p:txBody>
            <a:bodyPr wrap="square" lIns="0" tIns="0" rIns="0" bIns="0" rtlCol="0"/>
            <a:lstStyle/>
            <a:p/>
          </p:txBody>
        </p:sp>
        <p:sp>
          <p:nvSpPr>
            <p:cNvPr id="24" name="object 24" descr=""/>
            <p:cNvSpPr/>
            <p:nvPr/>
          </p:nvSpPr>
          <p:spPr>
            <a:xfrm>
              <a:off x="9398389" y="2045228"/>
              <a:ext cx="87630" cy="127635"/>
            </a:xfrm>
            <a:custGeom>
              <a:avLst/>
              <a:gdLst/>
              <a:ahLst/>
              <a:cxnLst/>
              <a:rect l="l" t="t" r="r" b="b"/>
              <a:pathLst>
                <a:path w="87629" h="127635">
                  <a:moveTo>
                    <a:pt x="87067" y="0"/>
                  </a:moveTo>
                  <a:lnTo>
                    <a:pt x="0" y="0"/>
                  </a:lnTo>
                  <a:lnTo>
                    <a:pt x="43533" y="127614"/>
                  </a:lnTo>
                  <a:lnTo>
                    <a:pt x="87067" y="0"/>
                  </a:lnTo>
                  <a:close/>
                </a:path>
              </a:pathLst>
            </a:custGeom>
            <a:solidFill>
              <a:srgbClr val="000000"/>
            </a:solidFill>
          </p:spPr>
          <p:txBody>
            <a:bodyPr wrap="square" lIns="0" tIns="0" rIns="0" bIns="0" rtlCol="0"/>
            <a:lstStyle/>
            <a:p/>
          </p:txBody>
        </p:sp>
        <p:sp>
          <p:nvSpPr>
            <p:cNvPr id="25" name="object 25" descr=""/>
            <p:cNvSpPr/>
            <p:nvPr/>
          </p:nvSpPr>
          <p:spPr>
            <a:xfrm>
              <a:off x="8133530" y="2747108"/>
              <a:ext cx="574040" cy="960119"/>
            </a:xfrm>
            <a:custGeom>
              <a:avLst/>
              <a:gdLst/>
              <a:ahLst/>
              <a:cxnLst/>
              <a:rect l="l" t="t" r="r" b="b"/>
              <a:pathLst>
                <a:path w="574040" h="960120">
                  <a:moveTo>
                    <a:pt x="573866" y="0"/>
                  </a:moveTo>
                  <a:lnTo>
                    <a:pt x="0" y="0"/>
                  </a:lnTo>
                  <a:lnTo>
                    <a:pt x="0" y="959641"/>
                  </a:lnTo>
                </a:path>
              </a:pathLst>
            </a:custGeom>
            <a:ln w="6181">
              <a:solidFill>
                <a:srgbClr val="000000"/>
              </a:solidFill>
            </a:ln>
          </p:spPr>
          <p:txBody>
            <a:bodyPr wrap="square" lIns="0" tIns="0" rIns="0" bIns="0" rtlCol="0"/>
            <a:lstStyle/>
            <a:p/>
          </p:txBody>
        </p:sp>
        <p:sp>
          <p:nvSpPr>
            <p:cNvPr id="26" name="object 26" descr=""/>
            <p:cNvSpPr/>
            <p:nvPr/>
          </p:nvSpPr>
          <p:spPr>
            <a:xfrm>
              <a:off x="8089996" y="3696114"/>
              <a:ext cx="87630" cy="127635"/>
            </a:xfrm>
            <a:custGeom>
              <a:avLst/>
              <a:gdLst/>
              <a:ahLst/>
              <a:cxnLst/>
              <a:rect l="l" t="t" r="r" b="b"/>
              <a:pathLst>
                <a:path w="87629" h="127635">
                  <a:moveTo>
                    <a:pt x="87067" y="0"/>
                  </a:moveTo>
                  <a:lnTo>
                    <a:pt x="0" y="0"/>
                  </a:lnTo>
                  <a:lnTo>
                    <a:pt x="43533" y="127614"/>
                  </a:lnTo>
                  <a:lnTo>
                    <a:pt x="87067" y="0"/>
                  </a:lnTo>
                  <a:close/>
                </a:path>
              </a:pathLst>
            </a:custGeom>
            <a:solidFill>
              <a:srgbClr val="000000"/>
            </a:solidFill>
          </p:spPr>
          <p:txBody>
            <a:bodyPr wrap="square" lIns="0" tIns="0" rIns="0" bIns="0" rtlCol="0"/>
            <a:lstStyle/>
            <a:p/>
          </p:txBody>
        </p:sp>
        <p:sp>
          <p:nvSpPr>
            <p:cNvPr id="27" name="object 27" descr=""/>
            <p:cNvSpPr/>
            <p:nvPr/>
          </p:nvSpPr>
          <p:spPr>
            <a:xfrm>
              <a:off x="10176423" y="2747108"/>
              <a:ext cx="729615" cy="960119"/>
            </a:xfrm>
            <a:custGeom>
              <a:avLst/>
              <a:gdLst/>
              <a:ahLst/>
              <a:cxnLst/>
              <a:rect l="l" t="t" r="r" b="b"/>
              <a:pathLst>
                <a:path w="729615" h="960120">
                  <a:moveTo>
                    <a:pt x="0" y="0"/>
                  </a:moveTo>
                  <a:lnTo>
                    <a:pt x="729188" y="0"/>
                  </a:lnTo>
                  <a:lnTo>
                    <a:pt x="729188" y="959641"/>
                  </a:lnTo>
                </a:path>
              </a:pathLst>
            </a:custGeom>
            <a:ln w="6167">
              <a:solidFill>
                <a:srgbClr val="000000"/>
              </a:solidFill>
            </a:ln>
          </p:spPr>
          <p:txBody>
            <a:bodyPr wrap="square" lIns="0" tIns="0" rIns="0" bIns="0" rtlCol="0"/>
            <a:lstStyle/>
            <a:p/>
          </p:txBody>
        </p:sp>
        <p:sp>
          <p:nvSpPr>
            <p:cNvPr id="28" name="object 28" descr=""/>
            <p:cNvSpPr/>
            <p:nvPr/>
          </p:nvSpPr>
          <p:spPr>
            <a:xfrm>
              <a:off x="10862078" y="3696114"/>
              <a:ext cx="87630" cy="127635"/>
            </a:xfrm>
            <a:custGeom>
              <a:avLst/>
              <a:gdLst/>
              <a:ahLst/>
              <a:cxnLst/>
              <a:rect l="l" t="t" r="r" b="b"/>
              <a:pathLst>
                <a:path w="87629" h="127635">
                  <a:moveTo>
                    <a:pt x="87067" y="0"/>
                  </a:moveTo>
                  <a:lnTo>
                    <a:pt x="0" y="0"/>
                  </a:lnTo>
                  <a:lnTo>
                    <a:pt x="43533" y="127614"/>
                  </a:lnTo>
                  <a:lnTo>
                    <a:pt x="87067" y="0"/>
                  </a:lnTo>
                  <a:close/>
                </a:path>
              </a:pathLst>
            </a:custGeom>
            <a:solidFill>
              <a:srgbClr val="000000"/>
            </a:solidFill>
          </p:spPr>
          <p:txBody>
            <a:bodyPr wrap="square" lIns="0" tIns="0" rIns="0" bIns="0" rtlCol="0"/>
            <a:lstStyle/>
            <a:p/>
          </p:txBody>
        </p:sp>
        <p:sp>
          <p:nvSpPr>
            <p:cNvPr id="29" name="object 29" descr=""/>
            <p:cNvSpPr/>
            <p:nvPr/>
          </p:nvSpPr>
          <p:spPr>
            <a:xfrm>
              <a:off x="7972844" y="4326161"/>
              <a:ext cx="1469390" cy="567690"/>
            </a:xfrm>
            <a:custGeom>
              <a:avLst/>
              <a:gdLst/>
              <a:ahLst/>
              <a:cxnLst/>
              <a:rect l="l" t="t" r="r" b="b"/>
              <a:pathLst>
                <a:path w="1469390" h="567689">
                  <a:moveTo>
                    <a:pt x="0" y="0"/>
                  </a:moveTo>
                  <a:lnTo>
                    <a:pt x="0" y="358865"/>
                  </a:lnTo>
                  <a:lnTo>
                    <a:pt x="1469078" y="358865"/>
                  </a:lnTo>
                  <a:lnTo>
                    <a:pt x="1469078" y="567327"/>
                  </a:lnTo>
                </a:path>
              </a:pathLst>
            </a:custGeom>
            <a:ln w="18286">
              <a:solidFill>
                <a:srgbClr val="000000"/>
              </a:solidFill>
            </a:ln>
          </p:spPr>
          <p:txBody>
            <a:bodyPr wrap="square" lIns="0" tIns="0" rIns="0" bIns="0" rtlCol="0"/>
            <a:lstStyle/>
            <a:p/>
          </p:txBody>
        </p:sp>
        <p:sp>
          <p:nvSpPr>
            <p:cNvPr id="30" name="object 30" descr=""/>
            <p:cNvSpPr/>
            <p:nvPr/>
          </p:nvSpPr>
          <p:spPr>
            <a:xfrm>
              <a:off x="9385951" y="4879815"/>
              <a:ext cx="112395" cy="164465"/>
            </a:xfrm>
            <a:custGeom>
              <a:avLst/>
              <a:gdLst/>
              <a:ahLst/>
              <a:cxnLst/>
              <a:rect l="l" t="t" r="r" b="b"/>
              <a:pathLst>
                <a:path w="112395" h="164464">
                  <a:moveTo>
                    <a:pt x="111943" y="0"/>
                  </a:moveTo>
                  <a:lnTo>
                    <a:pt x="0" y="0"/>
                  </a:lnTo>
                  <a:lnTo>
                    <a:pt x="55971" y="164075"/>
                  </a:lnTo>
                  <a:lnTo>
                    <a:pt x="111943" y="0"/>
                  </a:lnTo>
                  <a:close/>
                </a:path>
              </a:pathLst>
            </a:custGeom>
            <a:solidFill>
              <a:srgbClr val="000000"/>
            </a:solidFill>
          </p:spPr>
          <p:txBody>
            <a:bodyPr wrap="square" lIns="0" tIns="0" rIns="0" bIns="0" rtlCol="0"/>
            <a:lstStyle/>
            <a:p/>
          </p:txBody>
        </p:sp>
        <p:sp>
          <p:nvSpPr>
            <p:cNvPr id="31" name="object 31" descr=""/>
            <p:cNvSpPr/>
            <p:nvPr/>
          </p:nvSpPr>
          <p:spPr>
            <a:xfrm>
              <a:off x="9441923" y="4326161"/>
              <a:ext cx="1469390" cy="567690"/>
            </a:xfrm>
            <a:custGeom>
              <a:avLst/>
              <a:gdLst/>
              <a:ahLst/>
              <a:cxnLst/>
              <a:rect l="l" t="t" r="r" b="b"/>
              <a:pathLst>
                <a:path w="1469390" h="567689">
                  <a:moveTo>
                    <a:pt x="1469130" y="0"/>
                  </a:moveTo>
                  <a:lnTo>
                    <a:pt x="1469130" y="358865"/>
                  </a:lnTo>
                  <a:lnTo>
                    <a:pt x="0" y="358865"/>
                  </a:lnTo>
                  <a:lnTo>
                    <a:pt x="0" y="567327"/>
                  </a:lnTo>
                </a:path>
              </a:pathLst>
            </a:custGeom>
            <a:ln w="18286">
              <a:solidFill>
                <a:srgbClr val="000000"/>
              </a:solidFill>
            </a:ln>
          </p:spPr>
          <p:txBody>
            <a:bodyPr wrap="square" lIns="0" tIns="0" rIns="0" bIns="0" rtlCol="0"/>
            <a:lstStyle/>
            <a:p/>
          </p:txBody>
        </p:sp>
        <p:sp>
          <p:nvSpPr>
            <p:cNvPr id="32" name="object 32" descr=""/>
            <p:cNvSpPr/>
            <p:nvPr/>
          </p:nvSpPr>
          <p:spPr>
            <a:xfrm>
              <a:off x="9385951" y="4879815"/>
              <a:ext cx="112395" cy="164465"/>
            </a:xfrm>
            <a:custGeom>
              <a:avLst/>
              <a:gdLst/>
              <a:ahLst/>
              <a:cxnLst/>
              <a:rect l="l" t="t" r="r" b="b"/>
              <a:pathLst>
                <a:path w="112395" h="164464">
                  <a:moveTo>
                    <a:pt x="111943" y="0"/>
                  </a:moveTo>
                  <a:lnTo>
                    <a:pt x="0" y="0"/>
                  </a:lnTo>
                  <a:lnTo>
                    <a:pt x="55971" y="164075"/>
                  </a:lnTo>
                  <a:lnTo>
                    <a:pt x="111943" y="0"/>
                  </a:lnTo>
                  <a:close/>
                </a:path>
              </a:pathLst>
            </a:custGeom>
            <a:solidFill>
              <a:srgbClr val="000000"/>
            </a:solidFill>
          </p:spPr>
          <p:txBody>
            <a:bodyPr wrap="square" lIns="0" tIns="0" rIns="0" bIns="0" rtlCol="0"/>
            <a:lstStyle/>
            <a:p/>
          </p:txBody>
        </p:sp>
      </p:grpSp>
      <p:sp>
        <p:nvSpPr>
          <p:cNvPr id="33" name="object 33" descr=""/>
          <p:cNvSpPr txBox="1"/>
          <p:nvPr/>
        </p:nvSpPr>
        <p:spPr>
          <a:xfrm>
            <a:off x="8054026" y="2341940"/>
            <a:ext cx="572770" cy="329565"/>
          </a:xfrm>
          <a:prstGeom prst="rect">
            <a:avLst/>
          </a:prstGeom>
        </p:spPr>
        <p:txBody>
          <a:bodyPr wrap="square" lIns="0" tIns="11430" rIns="0" bIns="0" rtlCol="0" vert="horz">
            <a:spAutoFit/>
          </a:bodyPr>
          <a:lstStyle/>
          <a:p>
            <a:pPr marL="12700">
              <a:lnSpc>
                <a:spcPct val="100000"/>
              </a:lnSpc>
              <a:spcBef>
                <a:spcPts val="90"/>
              </a:spcBef>
            </a:pPr>
            <a:r>
              <a:rPr dirty="0" sz="2000" spc="-20" b="1">
                <a:latin typeface="Times New Roman"/>
                <a:cs typeface="Times New Roman"/>
              </a:rPr>
              <a:t>True</a:t>
            </a:r>
            <a:endParaRPr sz="2000">
              <a:latin typeface="Times New Roman"/>
              <a:cs typeface="Times New Roman"/>
            </a:endParaRPr>
          </a:p>
        </p:txBody>
      </p:sp>
      <p:sp>
        <p:nvSpPr>
          <p:cNvPr id="34" name="object 34" descr=""/>
          <p:cNvSpPr txBox="1"/>
          <p:nvPr/>
        </p:nvSpPr>
        <p:spPr>
          <a:xfrm>
            <a:off x="10390202" y="2341940"/>
            <a:ext cx="601345" cy="329565"/>
          </a:xfrm>
          <a:prstGeom prst="rect">
            <a:avLst/>
          </a:prstGeom>
        </p:spPr>
        <p:txBody>
          <a:bodyPr wrap="square" lIns="0" tIns="11430" rIns="0" bIns="0" rtlCol="0" vert="horz">
            <a:spAutoFit/>
          </a:bodyPr>
          <a:lstStyle/>
          <a:p>
            <a:pPr marL="12700">
              <a:lnSpc>
                <a:spcPct val="100000"/>
              </a:lnSpc>
              <a:spcBef>
                <a:spcPts val="90"/>
              </a:spcBef>
            </a:pPr>
            <a:r>
              <a:rPr dirty="0" sz="2000" spc="-10" b="1">
                <a:latin typeface="Times New Roman"/>
                <a:cs typeface="Times New Roman"/>
              </a:rPr>
              <a:t>False</a:t>
            </a:r>
            <a:endParaRPr sz="2000">
              <a:latin typeface="Times New Roman"/>
              <a:cs typeface="Times New Roman"/>
            </a:endParaRPr>
          </a:p>
        </p:txBody>
      </p:sp>
      <p:sp>
        <p:nvSpPr>
          <p:cNvPr id="35" name="object 35" descr=""/>
          <p:cNvSpPr txBox="1"/>
          <p:nvPr/>
        </p:nvSpPr>
        <p:spPr>
          <a:xfrm>
            <a:off x="9932062" y="3416434"/>
            <a:ext cx="948055" cy="329565"/>
          </a:xfrm>
          <a:prstGeom prst="rect">
            <a:avLst/>
          </a:prstGeom>
        </p:spPr>
        <p:txBody>
          <a:bodyPr wrap="square" lIns="0" tIns="11430" rIns="0" bIns="0" rtlCol="0" vert="horz">
            <a:spAutoFit/>
          </a:bodyPr>
          <a:lstStyle/>
          <a:p>
            <a:pPr marL="12700">
              <a:lnSpc>
                <a:spcPct val="100000"/>
              </a:lnSpc>
              <a:spcBef>
                <a:spcPts val="90"/>
              </a:spcBef>
            </a:pPr>
            <a:r>
              <a:rPr dirty="0" sz="2000" b="1">
                <a:latin typeface="Times New Roman"/>
                <a:cs typeface="Times New Roman"/>
              </a:rPr>
              <a:t>else</a:t>
            </a:r>
            <a:r>
              <a:rPr dirty="0" sz="2000" spc="-25">
                <a:latin typeface="宋体"/>
                <a:cs typeface="宋体"/>
              </a:rPr>
              <a:t>部分</a:t>
            </a:r>
            <a:endParaRPr sz="2000">
              <a:latin typeface="宋体"/>
              <a:cs typeface="宋体"/>
            </a:endParaRPr>
          </a:p>
        </p:txBody>
      </p:sp>
      <p:sp>
        <p:nvSpPr>
          <p:cNvPr id="36" name="object 36" descr=""/>
          <p:cNvSpPr txBox="1"/>
          <p:nvPr/>
        </p:nvSpPr>
        <p:spPr>
          <a:xfrm>
            <a:off x="8226088" y="3382556"/>
            <a:ext cx="1120775" cy="329565"/>
          </a:xfrm>
          <a:prstGeom prst="rect">
            <a:avLst/>
          </a:prstGeom>
        </p:spPr>
        <p:txBody>
          <a:bodyPr wrap="square" lIns="0" tIns="11430" rIns="0" bIns="0" rtlCol="0" vert="horz">
            <a:spAutoFit/>
          </a:bodyPr>
          <a:lstStyle/>
          <a:p>
            <a:pPr marL="12700">
              <a:lnSpc>
                <a:spcPct val="100000"/>
              </a:lnSpc>
              <a:spcBef>
                <a:spcPts val="90"/>
              </a:spcBef>
            </a:pPr>
            <a:r>
              <a:rPr dirty="0" sz="2000" b="1">
                <a:latin typeface="Times New Roman"/>
                <a:cs typeface="Times New Roman"/>
              </a:rPr>
              <a:t>Then</a:t>
            </a:r>
            <a:r>
              <a:rPr dirty="0" sz="2000" spc="-25">
                <a:latin typeface="宋体"/>
                <a:cs typeface="宋体"/>
              </a:rPr>
              <a:t>部分</a:t>
            </a:r>
            <a:endParaRPr sz="2000">
              <a:latin typeface="宋体"/>
              <a:cs typeface="宋体"/>
            </a:endParaRPr>
          </a:p>
        </p:txBody>
      </p:sp>
      <p:sp>
        <p:nvSpPr>
          <p:cNvPr id="37" name="object 37" descr=""/>
          <p:cNvSpPr txBox="1"/>
          <p:nvPr/>
        </p:nvSpPr>
        <p:spPr>
          <a:xfrm>
            <a:off x="7904480" y="5919012"/>
            <a:ext cx="2585720" cy="330835"/>
          </a:xfrm>
          <a:prstGeom prst="rect">
            <a:avLst/>
          </a:prstGeom>
        </p:spPr>
        <p:txBody>
          <a:bodyPr wrap="square" lIns="0" tIns="12700" rIns="0" bIns="0" rtlCol="0" vert="horz">
            <a:spAutoFit/>
          </a:bodyPr>
          <a:lstStyle/>
          <a:p>
            <a:pPr marL="12700">
              <a:lnSpc>
                <a:spcPct val="100000"/>
              </a:lnSpc>
              <a:spcBef>
                <a:spcPts val="100"/>
              </a:spcBef>
            </a:pPr>
            <a:r>
              <a:rPr dirty="0" sz="2000" spc="-15" b="1">
                <a:solidFill>
                  <a:srgbClr val="40458B"/>
                </a:solidFill>
                <a:latin typeface="宋体"/>
                <a:cs typeface="宋体"/>
              </a:rPr>
              <a:t>一个分支结构的代码段</a:t>
            </a:r>
            <a:endParaRPr sz="2000">
              <a:latin typeface="宋体"/>
              <a:cs typeface="宋体"/>
            </a:endParaRPr>
          </a:p>
        </p:txBody>
      </p:sp>
      <p:sp>
        <p:nvSpPr>
          <p:cNvPr id="38" name="object 38" descr=""/>
          <p:cNvSpPr txBox="1"/>
          <p:nvPr/>
        </p:nvSpPr>
        <p:spPr>
          <a:xfrm>
            <a:off x="702665" y="3435756"/>
            <a:ext cx="6240145" cy="1702435"/>
          </a:xfrm>
          <a:prstGeom prst="rect">
            <a:avLst/>
          </a:prstGeom>
        </p:spPr>
        <p:txBody>
          <a:bodyPr wrap="square" lIns="0" tIns="113030" rIns="0" bIns="0" rtlCol="0" vert="horz">
            <a:spAutoFit/>
          </a:bodyPr>
          <a:lstStyle/>
          <a:p>
            <a:pPr marL="354965" indent="-342265">
              <a:lnSpc>
                <a:spcPct val="100000"/>
              </a:lnSpc>
              <a:spcBef>
                <a:spcPts val="890"/>
              </a:spcBef>
              <a:buClr>
                <a:srgbClr val="40458B"/>
              </a:buClr>
              <a:buFont typeface="Wingdings"/>
              <a:buChar char=""/>
              <a:tabLst>
                <a:tab pos="354965" algn="l"/>
              </a:tabLst>
            </a:pPr>
            <a:r>
              <a:rPr dirty="0" sz="2200" spc="-30">
                <a:solidFill>
                  <a:srgbClr val="E14B04"/>
                </a:solidFill>
                <a:latin typeface="黑体"/>
                <a:cs typeface="黑体"/>
              </a:rPr>
              <a:t>如何保证分支条件为</a:t>
            </a:r>
            <a:r>
              <a:rPr dirty="0" sz="2200" spc="-10">
                <a:solidFill>
                  <a:srgbClr val="6600FF"/>
                </a:solidFill>
                <a:latin typeface="Times New Roman"/>
                <a:cs typeface="Times New Roman"/>
              </a:rPr>
              <a:t>false</a:t>
            </a:r>
            <a:r>
              <a:rPr dirty="0" sz="2200" spc="-35">
                <a:solidFill>
                  <a:srgbClr val="E14B04"/>
                </a:solidFill>
                <a:latin typeface="黑体"/>
                <a:cs typeface="黑体"/>
              </a:rPr>
              <a:t>时结果依然正确？</a:t>
            </a:r>
            <a:endParaRPr sz="2200">
              <a:latin typeface="黑体"/>
              <a:cs typeface="黑体"/>
            </a:endParaRPr>
          </a:p>
          <a:p>
            <a:pPr marL="425450" indent="-412750">
              <a:lnSpc>
                <a:spcPct val="100000"/>
              </a:lnSpc>
              <a:spcBef>
                <a:spcPts val="795"/>
              </a:spcBef>
              <a:buClr>
                <a:srgbClr val="40458B"/>
              </a:buClr>
              <a:buFont typeface="Wingdings"/>
              <a:buChar char=""/>
              <a:tabLst>
                <a:tab pos="425450" algn="l"/>
              </a:tabLst>
            </a:pPr>
            <a:r>
              <a:rPr dirty="0" sz="2200" spc="-25">
                <a:solidFill>
                  <a:srgbClr val="E14B04"/>
                </a:solidFill>
                <a:latin typeface="黑体"/>
                <a:cs typeface="黑体"/>
              </a:rPr>
              <a:t>如何将语句</a:t>
            </a:r>
            <a:r>
              <a:rPr dirty="0" sz="2200" spc="-10">
                <a:solidFill>
                  <a:srgbClr val="6600FF"/>
                </a:solidFill>
                <a:latin typeface="Times New Roman"/>
                <a:cs typeface="Times New Roman"/>
              </a:rPr>
              <a:t>3</a:t>
            </a:r>
            <a:r>
              <a:rPr dirty="0" sz="2200" spc="-20">
                <a:solidFill>
                  <a:srgbClr val="E14B04"/>
                </a:solidFill>
                <a:latin typeface="黑体"/>
                <a:cs typeface="黑体"/>
              </a:rPr>
              <a:t>和</a:t>
            </a:r>
            <a:r>
              <a:rPr dirty="0" sz="2200" spc="-30">
                <a:solidFill>
                  <a:srgbClr val="6600FF"/>
                </a:solidFill>
                <a:latin typeface="Times New Roman"/>
                <a:cs typeface="Times New Roman"/>
              </a:rPr>
              <a:t>5</a:t>
            </a:r>
            <a:r>
              <a:rPr dirty="0" sz="2200" spc="-30">
                <a:solidFill>
                  <a:srgbClr val="E14B04"/>
                </a:solidFill>
                <a:latin typeface="黑体"/>
                <a:cs typeface="黑体"/>
              </a:rPr>
              <a:t>调度到语句</a:t>
            </a:r>
            <a:r>
              <a:rPr dirty="0" sz="2200" spc="-10">
                <a:solidFill>
                  <a:srgbClr val="6600FF"/>
                </a:solidFill>
                <a:latin typeface="Times New Roman"/>
                <a:cs typeface="Times New Roman"/>
              </a:rPr>
              <a:t>2</a:t>
            </a:r>
            <a:r>
              <a:rPr dirty="0" sz="2200" spc="-40">
                <a:solidFill>
                  <a:srgbClr val="E14B04"/>
                </a:solidFill>
                <a:latin typeface="黑体"/>
                <a:cs typeface="黑体"/>
              </a:rPr>
              <a:t>之前？</a:t>
            </a:r>
            <a:endParaRPr sz="2200">
              <a:latin typeface="黑体"/>
              <a:cs typeface="黑体"/>
            </a:endParaRPr>
          </a:p>
          <a:p>
            <a:pPr marL="355600" marR="5080" indent="-342900">
              <a:lnSpc>
                <a:spcPct val="110100"/>
              </a:lnSpc>
              <a:spcBef>
                <a:spcPts val="525"/>
              </a:spcBef>
              <a:buClr>
                <a:srgbClr val="40458B"/>
              </a:buClr>
              <a:buFont typeface="Wingdings"/>
              <a:buChar char=""/>
              <a:tabLst>
                <a:tab pos="355600" algn="l"/>
              </a:tabLst>
            </a:pPr>
            <a:r>
              <a:rPr dirty="0" sz="2200" spc="-30">
                <a:solidFill>
                  <a:srgbClr val="E14B04"/>
                </a:solidFill>
                <a:latin typeface="黑体"/>
                <a:cs typeface="黑体"/>
              </a:rPr>
              <a:t>编译器如何确保语句语句</a:t>
            </a:r>
            <a:r>
              <a:rPr dirty="0" sz="2200" spc="-30">
                <a:solidFill>
                  <a:srgbClr val="6600FF"/>
                </a:solidFill>
                <a:latin typeface="Times New Roman"/>
                <a:cs typeface="Times New Roman"/>
              </a:rPr>
              <a:t>3</a:t>
            </a:r>
            <a:r>
              <a:rPr dirty="0" sz="2200" spc="-20">
                <a:solidFill>
                  <a:srgbClr val="E14B04"/>
                </a:solidFill>
                <a:latin typeface="黑体"/>
                <a:cs typeface="黑体"/>
              </a:rPr>
              <a:t>和</a:t>
            </a:r>
            <a:r>
              <a:rPr dirty="0" sz="2200" spc="-30">
                <a:solidFill>
                  <a:srgbClr val="6600FF"/>
                </a:solidFill>
                <a:latin typeface="Times New Roman"/>
                <a:cs typeface="Times New Roman"/>
              </a:rPr>
              <a:t>5</a:t>
            </a:r>
            <a:r>
              <a:rPr dirty="0" sz="2200" spc="-35">
                <a:solidFill>
                  <a:srgbClr val="E14B04"/>
                </a:solidFill>
                <a:latin typeface="黑体"/>
                <a:cs typeface="黑体"/>
              </a:rPr>
              <a:t>的调度不会影响结果的正确性？</a:t>
            </a:r>
            <a:endParaRPr sz="2200">
              <a:latin typeface="黑体"/>
              <a:cs typeface="黑体"/>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29/89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833119" algn="l"/>
                <a:tab pos="10788015" algn="l"/>
              </a:tabLst>
            </a:pPr>
            <a:r>
              <a:rPr dirty="0"/>
              <a:t>	6.2</a:t>
            </a:r>
            <a:r>
              <a:rPr dirty="0" spc="-15"/>
              <a:t> </a:t>
            </a:r>
            <a:r>
              <a:rPr dirty="0"/>
              <a:t>跨越基</a:t>
            </a:r>
            <a:r>
              <a:rPr dirty="0" spc="-25"/>
              <a:t>本</a:t>
            </a:r>
            <a:r>
              <a:rPr dirty="0"/>
              <a:t>块的</a:t>
            </a:r>
            <a:r>
              <a:rPr dirty="0" spc="-20"/>
              <a:t>静</a:t>
            </a:r>
            <a:r>
              <a:rPr dirty="0"/>
              <a:t>态指</a:t>
            </a:r>
            <a:r>
              <a:rPr dirty="0" spc="-20"/>
              <a:t>令</a:t>
            </a:r>
            <a:r>
              <a:rPr dirty="0"/>
              <a:t>调</a:t>
            </a:r>
            <a:r>
              <a:rPr dirty="0" spc="-50"/>
              <a:t>度</a:t>
            </a:r>
            <a:r>
              <a:rPr dirty="0"/>
              <a:t>	</a:t>
            </a:r>
          </a:p>
        </p:txBody>
      </p:sp>
      <p:sp>
        <p:nvSpPr>
          <p:cNvPr id="9" name="object 9" descr=""/>
          <p:cNvSpPr txBox="1"/>
          <p:nvPr/>
        </p:nvSpPr>
        <p:spPr>
          <a:xfrm>
            <a:off x="3708908" y="817625"/>
            <a:ext cx="7007225" cy="452120"/>
          </a:xfrm>
          <a:prstGeom prst="rect">
            <a:avLst/>
          </a:prstGeom>
        </p:spPr>
        <p:txBody>
          <a:bodyPr wrap="square" lIns="0" tIns="12065" rIns="0" bIns="0" rtlCol="0" vert="horz">
            <a:spAutoFit/>
          </a:bodyPr>
          <a:lstStyle/>
          <a:p>
            <a:pPr marL="467995" indent="-455295">
              <a:lnSpc>
                <a:spcPct val="100000"/>
              </a:lnSpc>
              <a:spcBef>
                <a:spcPts val="95"/>
              </a:spcBef>
              <a:buClr>
                <a:srgbClr val="40458B"/>
              </a:buClr>
              <a:buSzPct val="89285"/>
              <a:buFont typeface="Wingdings"/>
              <a:buChar char=""/>
              <a:tabLst>
                <a:tab pos="467995" algn="l"/>
              </a:tabLst>
            </a:pPr>
            <a:r>
              <a:rPr dirty="0" sz="2800" spc="-40">
                <a:solidFill>
                  <a:srgbClr val="0000CC"/>
                </a:solidFill>
                <a:latin typeface="黑体"/>
                <a:cs typeface="黑体"/>
              </a:rPr>
              <a:t>将图中的代码转换为下面的</a:t>
            </a:r>
            <a:r>
              <a:rPr dirty="0" sz="2800" spc="-25">
                <a:solidFill>
                  <a:srgbClr val="6600FF"/>
                </a:solidFill>
                <a:latin typeface="Times New Roman"/>
                <a:cs typeface="Times New Roman"/>
              </a:rPr>
              <a:t>MIPS</a:t>
            </a:r>
            <a:r>
              <a:rPr dirty="0" sz="2800" spc="-40">
                <a:solidFill>
                  <a:srgbClr val="0000CC"/>
                </a:solidFill>
                <a:latin typeface="黑体"/>
                <a:cs typeface="黑体"/>
              </a:rPr>
              <a:t>汇编指令</a:t>
            </a:r>
            <a:endParaRPr sz="2800">
              <a:latin typeface="黑体"/>
              <a:cs typeface="黑体"/>
            </a:endParaRPr>
          </a:p>
        </p:txBody>
      </p:sp>
      <p:sp>
        <p:nvSpPr>
          <p:cNvPr id="10" name="object 10" descr=""/>
          <p:cNvSpPr txBox="1"/>
          <p:nvPr/>
        </p:nvSpPr>
        <p:spPr>
          <a:xfrm>
            <a:off x="3708908" y="1372616"/>
            <a:ext cx="6633845" cy="452120"/>
          </a:xfrm>
          <a:prstGeom prst="rect">
            <a:avLst/>
          </a:prstGeom>
        </p:spPr>
        <p:txBody>
          <a:bodyPr wrap="square" lIns="0" tIns="12065" rIns="0" bIns="0" rtlCol="0" vert="horz">
            <a:spAutoFit/>
          </a:bodyPr>
          <a:lstStyle/>
          <a:p>
            <a:pPr marL="467995" indent="-455295">
              <a:lnSpc>
                <a:spcPct val="100000"/>
              </a:lnSpc>
              <a:spcBef>
                <a:spcPts val="95"/>
              </a:spcBef>
              <a:buClr>
                <a:srgbClr val="40458B"/>
              </a:buClr>
              <a:buSzPct val="89285"/>
              <a:buFont typeface="Wingdings"/>
              <a:buChar char=""/>
              <a:tabLst>
                <a:tab pos="467995" algn="l"/>
              </a:tabLst>
            </a:pPr>
            <a:r>
              <a:rPr dirty="0" sz="2800" spc="-25">
                <a:solidFill>
                  <a:srgbClr val="0000CC"/>
                </a:solidFill>
                <a:latin typeface="黑体"/>
                <a:cs typeface="黑体"/>
              </a:rPr>
              <a:t>变量</a:t>
            </a:r>
            <a:r>
              <a:rPr dirty="0" sz="2800">
                <a:solidFill>
                  <a:srgbClr val="0000CC"/>
                </a:solidFill>
                <a:latin typeface="Tahoma"/>
                <a:cs typeface="Tahoma"/>
              </a:rPr>
              <a:t>A</a:t>
            </a:r>
            <a:r>
              <a:rPr dirty="0" sz="2800" spc="-25">
                <a:solidFill>
                  <a:srgbClr val="0000CC"/>
                </a:solidFill>
                <a:latin typeface="黑体"/>
                <a:cs typeface="黑体"/>
              </a:rPr>
              <a:t>、</a:t>
            </a:r>
            <a:r>
              <a:rPr dirty="0" sz="2800" spc="-30">
                <a:solidFill>
                  <a:srgbClr val="0000CC"/>
                </a:solidFill>
                <a:latin typeface="Tahoma"/>
                <a:cs typeface="Tahoma"/>
              </a:rPr>
              <a:t>B</a:t>
            </a:r>
            <a:r>
              <a:rPr dirty="0" sz="2800" spc="-25">
                <a:solidFill>
                  <a:srgbClr val="0000CC"/>
                </a:solidFill>
                <a:latin typeface="黑体"/>
                <a:cs typeface="黑体"/>
              </a:rPr>
              <a:t>、</a:t>
            </a:r>
            <a:r>
              <a:rPr dirty="0" sz="2800" spc="-25">
                <a:solidFill>
                  <a:srgbClr val="0000CC"/>
                </a:solidFill>
                <a:latin typeface="Tahoma"/>
                <a:cs typeface="Tahoma"/>
              </a:rPr>
              <a:t>C</a:t>
            </a:r>
            <a:r>
              <a:rPr dirty="0" sz="2800" spc="-35">
                <a:solidFill>
                  <a:srgbClr val="0000CC"/>
                </a:solidFill>
                <a:latin typeface="黑体"/>
                <a:cs typeface="黑体"/>
              </a:rPr>
              <a:t>的地址保存在</a:t>
            </a:r>
            <a:r>
              <a:rPr dirty="0" sz="2800" spc="-25">
                <a:solidFill>
                  <a:srgbClr val="0000CC"/>
                </a:solidFill>
                <a:latin typeface="Tahoma"/>
                <a:cs typeface="Tahoma"/>
              </a:rPr>
              <a:t>R1</a:t>
            </a:r>
            <a:r>
              <a:rPr dirty="0" sz="2800" spc="-35">
                <a:solidFill>
                  <a:srgbClr val="0000CC"/>
                </a:solidFill>
                <a:latin typeface="黑体"/>
                <a:cs typeface="黑体"/>
              </a:rPr>
              <a:t>、</a:t>
            </a:r>
            <a:r>
              <a:rPr dirty="0" sz="2800" spc="-25">
                <a:solidFill>
                  <a:srgbClr val="0000CC"/>
                </a:solidFill>
                <a:latin typeface="Tahoma"/>
                <a:cs typeface="Tahoma"/>
              </a:rPr>
              <a:t>R2</a:t>
            </a:r>
            <a:r>
              <a:rPr dirty="0" sz="2800" spc="-35">
                <a:solidFill>
                  <a:srgbClr val="0000CC"/>
                </a:solidFill>
                <a:latin typeface="黑体"/>
                <a:cs typeface="黑体"/>
              </a:rPr>
              <a:t>、</a:t>
            </a:r>
            <a:r>
              <a:rPr dirty="0" sz="2800" spc="-25">
                <a:solidFill>
                  <a:srgbClr val="0000CC"/>
                </a:solidFill>
                <a:latin typeface="Tahoma"/>
                <a:cs typeface="Tahoma"/>
              </a:rPr>
              <a:t>R3</a:t>
            </a:r>
            <a:endParaRPr sz="2800">
              <a:latin typeface="Tahoma"/>
              <a:cs typeface="Tahoma"/>
            </a:endParaRPr>
          </a:p>
        </p:txBody>
      </p:sp>
      <p:sp>
        <p:nvSpPr>
          <p:cNvPr id="11" name="object 11" descr=""/>
          <p:cNvSpPr/>
          <p:nvPr/>
        </p:nvSpPr>
        <p:spPr>
          <a:xfrm>
            <a:off x="4440301" y="2285936"/>
            <a:ext cx="7699375" cy="3478529"/>
          </a:xfrm>
          <a:custGeom>
            <a:avLst/>
            <a:gdLst/>
            <a:ahLst/>
            <a:cxnLst/>
            <a:rect l="l" t="t" r="r" b="b"/>
            <a:pathLst>
              <a:path w="7699375" h="3478529">
                <a:moveTo>
                  <a:pt x="0" y="3478276"/>
                </a:moveTo>
                <a:lnTo>
                  <a:pt x="7699375" y="3478276"/>
                </a:lnTo>
                <a:lnTo>
                  <a:pt x="7699375" y="0"/>
                </a:lnTo>
                <a:lnTo>
                  <a:pt x="0" y="0"/>
                </a:lnTo>
                <a:lnTo>
                  <a:pt x="0" y="3478276"/>
                </a:lnTo>
                <a:close/>
              </a:path>
            </a:pathLst>
          </a:custGeom>
          <a:ln w="9525">
            <a:solidFill>
              <a:srgbClr val="FF0000"/>
            </a:solidFill>
          </a:ln>
        </p:spPr>
        <p:txBody>
          <a:bodyPr wrap="square" lIns="0" tIns="0" rIns="0" bIns="0" rtlCol="0"/>
          <a:lstStyle/>
          <a:p/>
        </p:txBody>
      </p:sp>
      <p:sp>
        <p:nvSpPr>
          <p:cNvPr id="12" name="object 12" descr=""/>
          <p:cNvSpPr txBox="1"/>
          <p:nvPr/>
        </p:nvSpPr>
        <p:spPr>
          <a:xfrm>
            <a:off x="6361176" y="2313558"/>
            <a:ext cx="365125" cy="635635"/>
          </a:xfrm>
          <a:prstGeom prst="rect">
            <a:avLst/>
          </a:prstGeom>
        </p:spPr>
        <p:txBody>
          <a:bodyPr wrap="square" lIns="0" tIns="13335" rIns="0" bIns="0" rtlCol="0" vert="horz">
            <a:spAutoFit/>
          </a:bodyPr>
          <a:lstStyle/>
          <a:p>
            <a:pPr marR="5080">
              <a:lnSpc>
                <a:spcPct val="100000"/>
              </a:lnSpc>
              <a:spcBef>
                <a:spcPts val="105"/>
              </a:spcBef>
            </a:pPr>
            <a:r>
              <a:rPr dirty="0" sz="2000" spc="-35" b="1">
                <a:solidFill>
                  <a:srgbClr val="40458B"/>
                </a:solidFill>
                <a:latin typeface="Times New Roman"/>
                <a:cs typeface="Times New Roman"/>
              </a:rPr>
              <a:t>LD LD</a:t>
            </a:r>
            <a:endParaRPr sz="2000">
              <a:latin typeface="Times New Roman"/>
              <a:cs typeface="Times New Roman"/>
            </a:endParaRPr>
          </a:p>
        </p:txBody>
      </p:sp>
      <p:sp>
        <p:nvSpPr>
          <p:cNvPr id="13" name="object 13" descr=""/>
          <p:cNvSpPr txBox="1"/>
          <p:nvPr/>
        </p:nvSpPr>
        <p:spPr>
          <a:xfrm>
            <a:off x="7275830" y="2313558"/>
            <a:ext cx="1191260" cy="635635"/>
          </a:xfrm>
          <a:prstGeom prst="rect">
            <a:avLst/>
          </a:prstGeom>
        </p:spPr>
        <p:txBody>
          <a:bodyPr wrap="square" lIns="0" tIns="13335" rIns="0" bIns="0" rtlCol="0" vert="horz">
            <a:spAutoFit/>
          </a:bodyPr>
          <a:lstStyle/>
          <a:p>
            <a:pPr marR="5080">
              <a:lnSpc>
                <a:spcPct val="100000"/>
              </a:lnSpc>
              <a:spcBef>
                <a:spcPts val="105"/>
              </a:spcBef>
            </a:pPr>
            <a:r>
              <a:rPr dirty="0" sz="2000" spc="-10" b="1">
                <a:solidFill>
                  <a:srgbClr val="40458B"/>
                </a:solidFill>
                <a:latin typeface="Times New Roman"/>
                <a:cs typeface="Times New Roman"/>
              </a:rPr>
              <a:t>R4</a:t>
            </a:r>
            <a:r>
              <a:rPr dirty="0" sz="2000" spc="-10" b="1">
                <a:solidFill>
                  <a:srgbClr val="40458B"/>
                </a:solidFill>
                <a:latin typeface="宋体"/>
                <a:cs typeface="宋体"/>
              </a:rPr>
              <a:t>，</a:t>
            </a:r>
            <a:r>
              <a:rPr dirty="0" sz="2000" spc="-10" b="1">
                <a:solidFill>
                  <a:srgbClr val="40458B"/>
                </a:solidFill>
                <a:latin typeface="Times New Roman"/>
                <a:cs typeface="Times New Roman"/>
              </a:rPr>
              <a:t>0(R1) R5</a:t>
            </a:r>
            <a:r>
              <a:rPr dirty="0" sz="2000" spc="-10" b="1">
                <a:solidFill>
                  <a:srgbClr val="40458B"/>
                </a:solidFill>
                <a:latin typeface="宋体"/>
                <a:cs typeface="宋体"/>
              </a:rPr>
              <a:t>，</a:t>
            </a:r>
            <a:r>
              <a:rPr dirty="0" sz="2000" spc="-10" b="1">
                <a:solidFill>
                  <a:srgbClr val="40458B"/>
                </a:solidFill>
                <a:latin typeface="Times New Roman"/>
                <a:cs typeface="Times New Roman"/>
              </a:rPr>
              <a:t>0(R2)</a:t>
            </a:r>
            <a:endParaRPr sz="2000">
              <a:latin typeface="Times New Roman"/>
              <a:cs typeface="Times New Roman"/>
            </a:endParaRPr>
          </a:p>
        </p:txBody>
      </p:sp>
      <p:sp>
        <p:nvSpPr>
          <p:cNvPr id="14" name="object 14" descr=""/>
          <p:cNvSpPr txBox="1"/>
          <p:nvPr/>
        </p:nvSpPr>
        <p:spPr>
          <a:xfrm>
            <a:off x="9104630" y="2313558"/>
            <a:ext cx="655955" cy="635635"/>
          </a:xfrm>
          <a:prstGeom prst="rect">
            <a:avLst/>
          </a:prstGeom>
        </p:spPr>
        <p:txBody>
          <a:bodyPr wrap="square" lIns="0" tIns="13335" rIns="0" bIns="0" rtlCol="0" vert="horz">
            <a:spAutoFit/>
          </a:bodyPr>
          <a:lstStyle/>
          <a:p>
            <a:pPr>
              <a:lnSpc>
                <a:spcPct val="100000"/>
              </a:lnSpc>
              <a:spcBef>
                <a:spcPts val="105"/>
              </a:spcBef>
            </a:pPr>
            <a:r>
              <a:rPr dirty="0" sz="2000" spc="-5" b="1">
                <a:solidFill>
                  <a:srgbClr val="40458B"/>
                </a:solidFill>
                <a:latin typeface="Times New Roman"/>
                <a:cs typeface="Times New Roman"/>
              </a:rPr>
              <a:t>// </a:t>
            </a:r>
            <a:r>
              <a:rPr dirty="0" sz="2000" spc="-10" b="1">
                <a:solidFill>
                  <a:srgbClr val="40458B"/>
                </a:solidFill>
                <a:latin typeface="宋体"/>
                <a:cs typeface="宋体"/>
              </a:rPr>
              <a:t>取</a:t>
            </a:r>
            <a:r>
              <a:rPr dirty="0" sz="2000" spc="-50" b="1">
                <a:solidFill>
                  <a:srgbClr val="40458B"/>
                </a:solidFill>
                <a:latin typeface="Times New Roman"/>
                <a:cs typeface="Times New Roman"/>
              </a:rPr>
              <a:t>A</a:t>
            </a:r>
            <a:endParaRPr sz="2000">
              <a:latin typeface="Times New Roman"/>
              <a:cs typeface="Times New Roman"/>
            </a:endParaRPr>
          </a:p>
          <a:p>
            <a:pPr>
              <a:lnSpc>
                <a:spcPct val="100000"/>
              </a:lnSpc>
            </a:pPr>
            <a:r>
              <a:rPr dirty="0" sz="2000" spc="-5" b="1">
                <a:solidFill>
                  <a:srgbClr val="40458B"/>
                </a:solidFill>
                <a:latin typeface="Times New Roman"/>
                <a:cs typeface="Times New Roman"/>
              </a:rPr>
              <a:t>// </a:t>
            </a:r>
            <a:r>
              <a:rPr dirty="0" sz="2000" spc="-10" b="1">
                <a:solidFill>
                  <a:srgbClr val="40458B"/>
                </a:solidFill>
                <a:latin typeface="宋体"/>
                <a:cs typeface="宋体"/>
              </a:rPr>
              <a:t>取</a:t>
            </a:r>
            <a:r>
              <a:rPr dirty="0" sz="2000" spc="-50" b="1">
                <a:solidFill>
                  <a:srgbClr val="40458B"/>
                </a:solidFill>
                <a:latin typeface="Times New Roman"/>
                <a:cs typeface="Times New Roman"/>
              </a:rPr>
              <a:t>B</a:t>
            </a:r>
            <a:endParaRPr sz="2000">
              <a:latin typeface="Times New Roman"/>
              <a:cs typeface="Times New Roman"/>
            </a:endParaRPr>
          </a:p>
        </p:txBody>
      </p:sp>
      <p:sp>
        <p:nvSpPr>
          <p:cNvPr id="15" name="object 15" descr=""/>
          <p:cNvSpPr txBox="1"/>
          <p:nvPr/>
        </p:nvSpPr>
        <p:spPr>
          <a:xfrm>
            <a:off x="6361176" y="2922854"/>
            <a:ext cx="4688205" cy="331470"/>
          </a:xfrm>
          <a:prstGeom prst="rect">
            <a:avLst/>
          </a:prstGeom>
        </p:spPr>
        <p:txBody>
          <a:bodyPr wrap="square" lIns="0" tIns="13335" rIns="0" bIns="0" rtlCol="0" vert="horz">
            <a:spAutoFit/>
          </a:bodyPr>
          <a:lstStyle/>
          <a:p>
            <a:pPr>
              <a:lnSpc>
                <a:spcPct val="100000"/>
              </a:lnSpc>
              <a:spcBef>
                <a:spcPts val="105"/>
              </a:spcBef>
              <a:tabLst>
                <a:tab pos="1828800" algn="l"/>
                <a:tab pos="3657600" algn="l"/>
              </a:tabLst>
            </a:pPr>
            <a:r>
              <a:rPr dirty="0" sz="2000" spc="-10" b="1">
                <a:solidFill>
                  <a:srgbClr val="40458B"/>
                </a:solidFill>
                <a:latin typeface="Times New Roman"/>
                <a:cs typeface="Times New Roman"/>
              </a:rPr>
              <a:t>DADDU</a:t>
            </a:r>
            <a:r>
              <a:rPr dirty="0" sz="2000" b="1">
                <a:solidFill>
                  <a:srgbClr val="40458B"/>
                </a:solidFill>
                <a:latin typeface="Times New Roman"/>
                <a:cs typeface="Times New Roman"/>
              </a:rPr>
              <a:t>	</a:t>
            </a:r>
            <a:r>
              <a:rPr dirty="0" sz="2000" spc="-10" b="1">
                <a:solidFill>
                  <a:srgbClr val="40458B"/>
                </a:solidFill>
                <a:latin typeface="Times New Roman"/>
                <a:cs typeface="Times New Roman"/>
              </a:rPr>
              <a:t>R4</a:t>
            </a:r>
            <a:r>
              <a:rPr dirty="0" sz="2000" spc="-10" b="1">
                <a:solidFill>
                  <a:srgbClr val="40458B"/>
                </a:solidFill>
                <a:latin typeface="宋体"/>
                <a:cs typeface="宋体"/>
              </a:rPr>
              <a:t>，</a:t>
            </a:r>
            <a:r>
              <a:rPr dirty="0" sz="2000" spc="-10" b="1">
                <a:solidFill>
                  <a:srgbClr val="40458B"/>
                </a:solidFill>
                <a:latin typeface="Times New Roman"/>
                <a:cs typeface="Times New Roman"/>
              </a:rPr>
              <a:t>R4</a:t>
            </a:r>
            <a:r>
              <a:rPr dirty="0" sz="2000" spc="-10" b="1">
                <a:solidFill>
                  <a:srgbClr val="40458B"/>
                </a:solidFill>
                <a:latin typeface="宋体"/>
                <a:cs typeface="宋体"/>
              </a:rPr>
              <a:t>，</a:t>
            </a:r>
            <a:r>
              <a:rPr dirty="0" sz="2000" spc="-10" b="1">
                <a:solidFill>
                  <a:srgbClr val="40458B"/>
                </a:solidFill>
                <a:latin typeface="Times New Roman"/>
                <a:cs typeface="Times New Roman"/>
              </a:rPr>
              <a:t>R5</a:t>
            </a:r>
            <a:r>
              <a:rPr dirty="0" sz="2000" b="1">
                <a:solidFill>
                  <a:srgbClr val="40458B"/>
                </a:solidFill>
                <a:latin typeface="Times New Roman"/>
                <a:cs typeface="Times New Roman"/>
              </a:rPr>
              <a:t>	//</a:t>
            </a:r>
            <a:r>
              <a:rPr dirty="0" sz="2000" spc="-120" b="1">
                <a:solidFill>
                  <a:srgbClr val="40458B"/>
                </a:solidFill>
                <a:latin typeface="Times New Roman"/>
                <a:cs typeface="Times New Roman"/>
              </a:rPr>
              <a:t> </a:t>
            </a:r>
            <a:r>
              <a:rPr dirty="0" sz="2000" spc="-10" b="1">
                <a:solidFill>
                  <a:srgbClr val="40458B"/>
                </a:solidFill>
                <a:latin typeface="Times New Roman"/>
                <a:cs typeface="Times New Roman"/>
              </a:rPr>
              <a:t>A=A+B</a:t>
            </a:r>
            <a:endParaRPr sz="2000">
              <a:latin typeface="Times New Roman"/>
              <a:cs typeface="Times New Roman"/>
            </a:endParaRPr>
          </a:p>
        </p:txBody>
      </p:sp>
      <p:sp>
        <p:nvSpPr>
          <p:cNvPr id="16" name="object 16" descr=""/>
          <p:cNvSpPr txBox="1"/>
          <p:nvPr/>
        </p:nvSpPr>
        <p:spPr>
          <a:xfrm>
            <a:off x="9104630" y="3228213"/>
            <a:ext cx="1427480" cy="635635"/>
          </a:xfrm>
          <a:prstGeom prst="rect">
            <a:avLst/>
          </a:prstGeom>
        </p:spPr>
        <p:txBody>
          <a:bodyPr wrap="square" lIns="0" tIns="13335" rIns="0" bIns="0" rtlCol="0" vert="horz">
            <a:spAutoFit/>
          </a:bodyPr>
          <a:lstStyle/>
          <a:p>
            <a:pPr>
              <a:lnSpc>
                <a:spcPct val="100000"/>
              </a:lnSpc>
              <a:spcBef>
                <a:spcPts val="105"/>
              </a:spcBef>
            </a:pPr>
            <a:r>
              <a:rPr dirty="0" sz="2000" spc="-5" b="1">
                <a:solidFill>
                  <a:srgbClr val="40458B"/>
                </a:solidFill>
                <a:latin typeface="Times New Roman"/>
                <a:cs typeface="Times New Roman"/>
              </a:rPr>
              <a:t>// </a:t>
            </a:r>
            <a:r>
              <a:rPr dirty="0" sz="2000" spc="-10" b="1">
                <a:solidFill>
                  <a:srgbClr val="40458B"/>
                </a:solidFill>
                <a:latin typeface="宋体"/>
                <a:cs typeface="宋体"/>
              </a:rPr>
              <a:t>存</a:t>
            </a:r>
            <a:r>
              <a:rPr dirty="0" sz="2000" spc="-50" b="1">
                <a:solidFill>
                  <a:srgbClr val="40458B"/>
                </a:solidFill>
                <a:latin typeface="Times New Roman"/>
                <a:cs typeface="Times New Roman"/>
              </a:rPr>
              <a:t>A</a:t>
            </a:r>
            <a:endParaRPr sz="2000">
              <a:latin typeface="Times New Roman"/>
              <a:cs typeface="Times New Roman"/>
            </a:endParaRPr>
          </a:p>
          <a:p>
            <a:pPr>
              <a:lnSpc>
                <a:spcPct val="100000"/>
              </a:lnSpc>
            </a:pPr>
            <a:r>
              <a:rPr dirty="0" sz="2000" spc="-35" b="1">
                <a:solidFill>
                  <a:srgbClr val="40458B"/>
                </a:solidFill>
                <a:latin typeface="Times New Roman"/>
                <a:cs typeface="Times New Roman"/>
              </a:rPr>
              <a:t>// </a:t>
            </a:r>
            <a:r>
              <a:rPr dirty="0" sz="2000" spc="-10" b="1">
                <a:solidFill>
                  <a:srgbClr val="40458B"/>
                </a:solidFill>
                <a:latin typeface="Times New Roman"/>
                <a:cs typeface="Times New Roman"/>
              </a:rPr>
              <a:t>A=0</a:t>
            </a:r>
            <a:r>
              <a:rPr dirty="0" sz="2000" spc="-25" b="1">
                <a:solidFill>
                  <a:srgbClr val="40458B"/>
                </a:solidFill>
                <a:latin typeface="宋体"/>
                <a:cs typeface="宋体"/>
              </a:rPr>
              <a:t>则转移</a:t>
            </a:r>
            <a:endParaRPr sz="2000">
              <a:latin typeface="宋体"/>
              <a:cs typeface="宋体"/>
            </a:endParaRPr>
          </a:p>
        </p:txBody>
      </p:sp>
      <p:sp>
        <p:nvSpPr>
          <p:cNvPr id="17" name="object 17" descr=""/>
          <p:cNvSpPr txBox="1"/>
          <p:nvPr/>
        </p:nvSpPr>
        <p:spPr>
          <a:xfrm>
            <a:off x="8190230" y="3837813"/>
            <a:ext cx="3053080" cy="330835"/>
          </a:xfrm>
          <a:prstGeom prst="rect">
            <a:avLst/>
          </a:prstGeom>
        </p:spPr>
        <p:txBody>
          <a:bodyPr wrap="square" lIns="0" tIns="12700" rIns="0" bIns="0" rtlCol="0" vert="horz">
            <a:spAutoFit/>
          </a:bodyPr>
          <a:lstStyle/>
          <a:p>
            <a:pPr>
              <a:lnSpc>
                <a:spcPct val="100000"/>
              </a:lnSpc>
              <a:spcBef>
                <a:spcPts val="100"/>
              </a:spcBef>
            </a:pPr>
            <a:r>
              <a:rPr dirty="0" sz="2000" spc="-5" b="1">
                <a:solidFill>
                  <a:srgbClr val="40458B"/>
                </a:solidFill>
                <a:latin typeface="Times New Roman"/>
                <a:cs typeface="Times New Roman"/>
              </a:rPr>
              <a:t>// </a:t>
            </a:r>
            <a:r>
              <a:rPr dirty="0" sz="2000" spc="-10" b="1">
                <a:solidFill>
                  <a:srgbClr val="40458B"/>
                </a:solidFill>
                <a:latin typeface="宋体"/>
                <a:cs typeface="宋体"/>
              </a:rPr>
              <a:t>代码段</a:t>
            </a:r>
            <a:r>
              <a:rPr dirty="0" sz="2000" b="1">
                <a:solidFill>
                  <a:srgbClr val="40458B"/>
                </a:solidFill>
                <a:latin typeface="Times New Roman"/>
                <a:cs typeface="Times New Roman"/>
              </a:rPr>
              <a:t>X</a:t>
            </a:r>
            <a:r>
              <a:rPr dirty="0" sz="2000" spc="-10" b="1">
                <a:solidFill>
                  <a:srgbClr val="40458B"/>
                </a:solidFill>
                <a:latin typeface="宋体"/>
                <a:cs typeface="宋体"/>
              </a:rPr>
              <a:t>，基本块</a:t>
            </a:r>
            <a:r>
              <a:rPr dirty="0" sz="2000" spc="-10" b="1">
                <a:solidFill>
                  <a:srgbClr val="40458B"/>
                </a:solidFill>
                <a:latin typeface="Times New Roman"/>
                <a:cs typeface="Times New Roman"/>
              </a:rPr>
              <a:t>elsepart</a:t>
            </a:r>
            <a:endParaRPr sz="2000">
              <a:latin typeface="Times New Roman"/>
              <a:cs typeface="Times New Roman"/>
            </a:endParaRPr>
          </a:p>
        </p:txBody>
      </p:sp>
      <p:sp>
        <p:nvSpPr>
          <p:cNvPr id="18" name="object 18" descr=""/>
          <p:cNvSpPr txBox="1"/>
          <p:nvPr/>
        </p:nvSpPr>
        <p:spPr>
          <a:xfrm>
            <a:off x="6361176" y="3228213"/>
            <a:ext cx="2444115" cy="1242695"/>
          </a:xfrm>
          <a:prstGeom prst="rect">
            <a:avLst/>
          </a:prstGeom>
        </p:spPr>
        <p:txBody>
          <a:bodyPr wrap="square" lIns="0" tIns="13335" rIns="0" bIns="0" rtlCol="0" vert="horz">
            <a:spAutoFit/>
          </a:bodyPr>
          <a:lstStyle/>
          <a:p>
            <a:pPr>
              <a:lnSpc>
                <a:spcPct val="100000"/>
              </a:lnSpc>
              <a:spcBef>
                <a:spcPts val="105"/>
              </a:spcBef>
              <a:tabLst>
                <a:tab pos="914400" algn="l"/>
              </a:tabLst>
            </a:pPr>
            <a:r>
              <a:rPr dirty="0" sz="2000" spc="-25" b="1">
                <a:solidFill>
                  <a:srgbClr val="40458B"/>
                </a:solidFill>
                <a:latin typeface="Times New Roman"/>
                <a:cs typeface="Times New Roman"/>
              </a:rPr>
              <a:t>SD</a:t>
            </a:r>
            <a:r>
              <a:rPr dirty="0" sz="2000" b="1">
                <a:solidFill>
                  <a:srgbClr val="40458B"/>
                </a:solidFill>
                <a:latin typeface="Times New Roman"/>
                <a:cs typeface="Times New Roman"/>
              </a:rPr>
              <a:t>	</a:t>
            </a:r>
            <a:r>
              <a:rPr dirty="0" sz="2000" spc="-10" b="1">
                <a:solidFill>
                  <a:srgbClr val="40458B"/>
                </a:solidFill>
                <a:latin typeface="Times New Roman"/>
                <a:cs typeface="Times New Roman"/>
              </a:rPr>
              <a:t>R4</a:t>
            </a:r>
            <a:r>
              <a:rPr dirty="0" sz="2000" spc="-10" b="1">
                <a:solidFill>
                  <a:srgbClr val="40458B"/>
                </a:solidFill>
                <a:latin typeface="宋体"/>
                <a:cs typeface="宋体"/>
              </a:rPr>
              <a:t>，</a:t>
            </a:r>
            <a:r>
              <a:rPr dirty="0" sz="2000" spc="-10" b="1">
                <a:solidFill>
                  <a:srgbClr val="40458B"/>
                </a:solidFill>
                <a:latin typeface="Times New Roman"/>
                <a:cs typeface="Times New Roman"/>
              </a:rPr>
              <a:t>0(R1)</a:t>
            </a:r>
            <a:endParaRPr sz="2000">
              <a:latin typeface="Times New Roman"/>
              <a:cs typeface="Times New Roman"/>
            </a:endParaRPr>
          </a:p>
          <a:p>
            <a:pPr marR="5080">
              <a:lnSpc>
                <a:spcPct val="100000"/>
              </a:lnSpc>
              <a:tabLst>
                <a:tab pos="914400" algn="l"/>
              </a:tabLst>
            </a:pPr>
            <a:r>
              <a:rPr dirty="0" sz="2000" spc="-20" b="1">
                <a:solidFill>
                  <a:srgbClr val="40458B"/>
                </a:solidFill>
                <a:latin typeface="Times New Roman"/>
                <a:cs typeface="Times New Roman"/>
              </a:rPr>
              <a:t>BEQZ</a:t>
            </a:r>
            <a:r>
              <a:rPr dirty="0" sz="2000" b="1">
                <a:solidFill>
                  <a:srgbClr val="40458B"/>
                </a:solidFill>
                <a:latin typeface="Times New Roman"/>
                <a:cs typeface="Times New Roman"/>
              </a:rPr>
              <a:t>	</a:t>
            </a:r>
            <a:r>
              <a:rPr dirty="0" sz="2000" spc="-10" b="1">
                <a:solidFill>
                  <a:srgbClr val="40458B"/>
                </a:solidFill>
                <a:latin typeface="Times New Roman"/>
                <a:cs typeface="Times New Roman"/>
              </a:rPr>
              <a:t>R4</a:t>
            </a:r>
            <a:r>
              <a:rPr dirty="0" sz="2000" spc="-10" b="1">
                <a:solidFill>
                  <a:srgbClr val="40458B"/>
                </a:solidFill>
                <a:latin typeface="宋体"/>
                <a:cs typeface="宋体"/>
              </a:rPr>
              <a:t>，</a:t>
            </a:r>
            <a:r>
              <a:rPr dirty="0" sz="2000" spc="-10" b="1">
                <a:solidFill>
                  <a:srgbClr val="40458B"/>
                </a:solidFill>
                <a:latin typeface="Times New Roman"/>
                <a:cs typeface="Times New Roman"/>
              </a:rPr>
              <a:t>thenpart </a:t>
            </a:r>
            <a:r>
              <a:rPr dirty="0" sz="2000" spc="-50" b="1">
                <a:solidFill>
                  <a:srgbClr val="40458B"/>
                </a:solidFill>
                <a:latin typeface="Times New Roman"/>
                <a:cs typeface="Times New Roman"/>
              </a:rPr>
              <a:t>X</a:t>
            </a:r>
            <a:endParaRPr sz="2000">
              <a:latin typeface="Times New Roman"/>
              <a:cs typeface="Times New Roman"/>
            </a:endParaRPr>
          </a:p>
          <a:p>
            <a:pPr>
              <a:lnSpc>
                <a:spcPts val="2375"/>
              </a:lnSpc>
            </a:pPr>
            <a:r>
              <a:rPr dirty="0" sz="2000" spc="-50" b="1">
                <a:solidFill>
                  <a:srgbClr val="40458B"/>
                </a:solidFill>
                <a:latin typeface="Times New Roman"/>
                <a:cs typeface="Times New Roman"/>
              </a:rPr>
              <a:t>J</a:t>
            </a:r>
            <a:endParaRPr sz="2000">
              <a:latin typeface="Times New Roman"/>
              <a:cs typeface="Times New Roman"/>
            </a:endParaRPr>
          </a:p>
        </p:txBody>
      </p:sp>
      <p:sp>
        <p:nvSpPr>
          <p:cNvPr id="19" name="object 19" descr=""/>
          <p:cNvSpPr txBox="1"/>
          <p:nvPr/>
        </p:nvSpPr>
        <p:spPr>
          <a:xfrm>
            <a:off x="7275830" y="4139565"/>
            <a:ext cx="438150" cy="330835"/>
          </a:xfrm>
          <a:prstGeom prst="rect">
            <a:avLst/>
          </a:prstGeom>
        </p:spPr>
        <p:txBody>
          <a:bodyPr wrap="square" lIns="0" tIns="12700" rIns="0" bIns="0" rtlCol="0" vert="horz">
            <a:spAutoFit/>
          </a:bodyPr>
          <a:lstStyle/>
          <a:p>
            <a:pPr>
              <a:lnSpc>
                <a:spcPct val="100000"/>
              </a:lnSpc>
              <a:spcBef>
                <a:spcPts val="100"/>
              </a:spcBef>
            </a:pPr>
            <a:r>
              <a:rPr dirty="0" sz="2000" spc="-20" b="1">
                <a:solidFill>
                  <a:srgbClr val="40458B"/>
                </a:solidFill>
                <a:latin typeface="Times New Roman"/>
                <a:cs typeface="Times New Roman"/>
              </a:rPr>
              <a:t>join</a:t>
            </a:r>
            <a:endParaRPr sz="2000">
              <a:latin typeface="Times New Roman"/>
              <a:cs typeface="Times New Roman"/>
            </a:endParaRPr>
          </a:p>
        </p:txBody>
      </p:sp>
      <p:sp>
        <p:nvSpPr>
          <p:cNvPr id="20" name="object 20" descr=""/>
          <p:cNvSpPr txBox="1"/>
          <p:nvPr/>
        </p:nvSpPr>
        <p:spPr>
          <a:xfrm>
            <a:off x="4532376" y="4447794"/>
            <a:ext cx="1216660" cy="330835"/>
          </a:xfrm>
          <a:prstGeom prst="rect">
            <a:avLst/>
          </a:prstGeom>
        </p:spPr>
        <p:txBody>
          <a:bodyPr wrap="square" lIns="0" tIns="12700" rIns="0" bIns="0" rtlCol="0" vert="horz">
            <a:spAutoFit/>
          </a:bodyPr>
          <a:lstStyle/>
          <a:p>
            <a:pPr>
              <a:lnSpc>
                <a:spcPct val="100000"/>
              </a:lnSpc>
              <a:spcBef>
                <a:spcPts val="100"/>
              </a:spcBef>
            </a:pPr>
            <a:r>
              <a:rPr dirty="0" sz="2000" spc="-10" b="1">
                <a:solidFill>
                  <a:srgbClr val="40458B"/>
                </a:solidFill>
                <a:latin typeface="Times New Roman"/>
                <a:cs typeface="Times New Roman"/>
              </a:rPr>
              <a:t>thenpart</a:t>
            </a:r>
            <a:r>
              <a:rPr dirty="0" sz="2000" spc="-10" b="1">
                <a:solidFill>
                  <a:srgbClr val="40458B"/>
                </a:solidFill>
                <a:latin typeface="宋体"/>
                <a:cs typeface="宋体"/>
              </a:rPr>
              <a:t>：</a:t>
            </a:r>
            <a:endParaRPr sz="2000">
              <a:latin typeface="宋体"/>
              <a:cs typeface="宋体"/>
            </a:endParaRPr>
          </a:p>
        </p:txBody>
      </p:sp>
      <p:sp>
        <p:nvSpPr>
          <p:cNvPr id="21" name="object 21" descr=""/>
          <p:cNvSpPr txBox="1"/>
          <p:nvPr/>
        </p:nvSpPr>
        <p:spPr>
          <a:xfrm>
            <a:off x="6361176" y="4752594"/>
            <a:ext cx="338455" cy="330835"/>
          </a:xfrm>
          <a:prstGeom prst="rect">
            <a:avLst/>
          </a:prstGeom>
        </p:spPr>
        <p:txBody>
          <a:bodyPr wrap="square" lIns="0" tIns="12700" rIns="0" bIns="0" rtlCol="0" vert="horz">
            <a:spAutoFit/>
          </a:bodyPr>
          <a:lstStyle/>
          <a:p>
            <a:pPr>
              <a:lnSpc>
                <a:spcPct val="100000"/>
              </a:lnSpc>
              <a:spcBef>
                <a:spcPts val="100"/>
              </a:spcBef>
            </a:pPr>
            <a:r>
              <a:rPr dirty="0" sz="2000" spc="-25" b="1">
                <a:solidFill>
                  <a:srgbClr val="40458B"/>
                </a:solidFill>
                <a:latin typeface="Times New Roman"/>
                <a:cs typeface="Times New Roman"/>
              </a:rPr>
              <a:t>SD</a:t>
            </a:r>
            <a:endParaRPr sz="2000">
              <a:latin typeface="Times New Roman"/>
              <a:cs typeface="Times New Roman"/>
            </a:endParaRPr>
          </a:p>
        </p:txBody>
      </p:sp>
      <p:sp>
        <p:nvSpPr>
          <p:cNvPr id="22" name="object 22" descr=""/>
          <p:cNvSpPr txBox="1"/>
          <p:nvPr/>
        </p:nvSpPr>
        <p:spPr>
          <a:xfrm>
            <a:off x="7275830" y="4447794"/>
            <a:ext cx="4432935" cy="635635"/>
          </a:xfrm>
          <a:prstGeom prst="rect">
            <a:avLst/>
          </a:prstGeom>
        </p:spPr>
        <p:txBody>
          <a:bodyPr wrap="square" lIns="0" tIns="12700" rIns="0" bIns="0" rtlCol="0" vert="horz">
            <a:spAutoFit/>
          </a:bodyPr>
          <a:lstStyle/>
          <a:p>
            <a:pPr algn="ctr" marR="41910">
              <a:lnSpc>
                <a:spcPct val="100000"/>
              </a:lnSpc>
              <a:spcBef>
                <a:spcPts val="100"/>
              </a:spcBef>
            </a:pPr>
            <a:r>
              <a:rPr dirty="0" sz="2000" b="1">
                <a:solidFill>
                  <a:srgbClr val="40458B"/>
                </a:solidFill>
                <a:latin typeface="Times New Roman"/>
                <a:cs typeface="Times New Roman"/>
              </a:rPr>
              <a:t>// </a:t>
            </a:r>
            <a:r>
              <a:rPr dirty="0" sz="2000" spc="-10" b="1">
                <a:solidFill>
                  <a:srgbClr val="40458B"/>
                </a:solidFill>
                <a:latin typeface="宋体"/>
                <a:cs typeface="宋体"/>
              </a:rPr>
              <a:t>基本块</a:t>
            </a:r>
            <a:r>
              <a:rPr dirty="0" sz="2000" spc="-10" b="1">
                <a:solidFill>
                  <a:srgbClr val="40458B"/>
                </a:solidFill>
                <a:latin typeface="Times New Roman"/>
                <a:cs typeface="Times New Roman"/>
              </a:rPr>
              <a:t>thenpart</a:t>
            </a:r>
            <a:endParaRPr sz="2000">
              <a:latin typeface="Times New Roman"/>
              <a:cs typeface="Times New Roman"/>
            </a:endParaRPr>
          </a:p>
          <a:p>
            <a:pPr algn="ctr" marR="5080">
              <a:lnSpc>
                <a:spcPct val="100000"/>
              </a:lnSpc>
              <a:tabLst>
                <a:tab pos="1433195" algn="l"/>
              </a:tabLst>
            </a:pPr>
            <a:r>
              <a:rPr dirty="0" sz="2000" spc="-10" b="1">
                <a:solidFill>
                  <a:srgbClr val="40458B"/>
                </a:solidFill>
                <a:latin typeface="Times New Roman"/>
                <a:cs typeface="Times New Roman"/>
              </a:rPr>
              <a:t>…</a:t>
            </a:r>
            <a:r>
              <a:rPr dirty="0" sz="2000" spc="-10" b="1">
                <a:solidFill>
                  <a:srgbClr val="40458B"/>
                </a:solidFill>
                <a:latin typeface="宋体"/>
                <a:cs typeface="宋体"/>
              </a:rPr>
              <a:t>，</a:t>
            </a:r>
            <a:r>
              <a:rPr dirty="0" sz="2000" spc="-10" b="1">
                <a:solidFill>
                  <a:srgbClr val="40458B"/>
                </a:solidFill>
                <a:latin typeface="Times New Roman"/>
                <a:cs typeface="Times New Roman"/>
              </a:rPr>
              <a:t>0(R2)</a:t>
            </a:r>
            <a:r>
              <a:rPr dirty="0" sz="2000" b="1">
                <a:solidFill>
                  <a:srgbClr val="40458B"/>
                </a:solidFill>
                <a:latin typeface="Times New Roman"/>
                <a:cs typeface="Times New Roman"/>
              </a:rPr>
              <a:t>	</a:t>
            </a:r>
            <a:r>
              <a:rPr dirty="0" sz="2000" spc="5" b="1">
                <a:solidFill>
                  <a:srgbClr val="40458B"/>
                </a:solidFill>
                <a:latin typeface="Times New Roman"/>
                <a:cs typeface="Times New Roman"/>
              </a:rPr>
              <a:t>// </a:t>
            </a:r>
            <a:r>
              <a:rPr dirty="0" sz="2000" spc="-10" b="1">
                <a:solidFill>
                  <a:srgbClr val="FF3300"/>
                </a:solidFill>
                <a:latin typeface="宋体"/>
                <a:cs typeface="宋体"/>
              </a:rPr>
              <a:t>指令</a:t>
            </a:r>
            <a:r>
              <a:rPr dirty="0" sz="2000" spc="-10" b="1">
                <a:solidFill>
                  <a:srgbClr val="FF3300"/>
                </a:solidFill>
                <a:latin typeface="Times New Roman"/>
                <a:cs typeface="Times New Roman"/>
              </a:rPr>
              <a:t>I1</a:t>
            </a:r>
            <a:r>
              <a:rPr dirty="0" sz="2000" spc="-10" b="1">
                <a:solidFill>
                  <a:srgbClr val="40458B"/>
                </a:solidFill>
                <a:latin typeface="宋体"/>
                <a:cs typeface="宋体"/>
              </a:rPr>
              <a:t>，对应语句</a:t>
            </a:r>
            <a:r>
              <a:rPr dirty="0" sz="2000" spc="-10" b="1">
                <a:solidFill>
                  <a:srgbClr val="40458B"/>
                </a:solidFill>
                <a:latin typeface="Times New Roman"/>
                <a:cs typeface="Times New Roman"/>
              </a:rPr>
              <a:t>3:B[i]=</a:t>
            </a:r>
            <a:endParaRPr sz="2000">
              <a:latin typeface="Times New Roman"/>
              <a:cs typeface="Times New Roman"/>
            </a:endParaRPr>
          </a:p>
        </p:txBody>
      </p:sp>
      <p:sp>
        <p:nvSpPr>
          <p:cNvPr id="23" name="object 23" descr=""/>
          <p:cNvSpPr txBox="1"/>
          <p:nvPr/>
        </p:nvSpPr>
        <p:spPr>
          <a:xfrm>
            <a:off x="4532376" y="5057394"/>
            <a:ext cx="692785" cy="330835"/>
          </a:xfrm>
          <a:prstGeom prst="rect">
            <a:avLst/>
          </a:prstGeom>
        </p:spPr>
        <p:txBody>
          <a:bodyPr wrap="square" lIns="0" tIns="12700" rIns="0" bIns="0" rtlCol="0" vert="horz">
            <a:spAutoFit/>
          </a:bodyPr>
          <a:lstStyle/>
          <a:p>
            <a:pPr>
              <a:lnSpc>
                <a:spcPct val="100000"/>
              </a:lnSpc>
              <a:spcBef>
                <a:spcPts val="100"/>
              </a:spcBef>
            </a:pPr>
            <a:r>
              <a:rPr dirty="0" sz="2000" spc="-10" b="1">
                <a:solidFill>
                  <a:srgbClr val="40458B"/>
                </a:solidFill>
                <a:latin typeface="Times New Roman"/>
                <a:cs typeface="Times New Roman"/>
              </a:rPr>
              <a:t>join</a:t>
            </a:r>
            <a:r>
              <a:rPr dirty="0" sz="2000" spc="-10" b="1">
                <a:solidFill>
                  <a:srgbClr val="40458B"/>
                </a:solidFill>
                <a:latin typeface="宋体"/>
                <a:cs typeface="宋体"/>
              </a:rPr>
              <a:t>：</a:t>
            </a:r>
            <a:endParaRPr sz="2000">
              <a:latin typeface="宋体"/>
              <a:cs typeface="宋体"/>
            </a:endParaRPr>
          </a:p>
        </p:txBody>
      </p:sp>
      <p:sp>
        <p:nvSpPr>
          <p:cNvPr id="24" name="object 24" descr=""/>
          <p:cNvSpPr txBox="1"/>
          <p:nvPr/>
        </p:nvSpPr>
        <p:spPr>
          <a:xfrm>
            <a:off x="6361176" y="5362143"/>
            <a:ext cx="338455" cy="330835"/>
          </a:xfrm>
          <a:prstGeom prst="rect">
            <a:avLst/>
          </a:prstGeom>
        </p:spPr>
        <p:txBody>
          <a:bodyPr wrap="square" lIns="0" tIns="12700" rIns="0" bIns="0" rtlCol="0" vert="horz">
            <a:spAutoFit/>
          </a:bodyPr>
          <a:lstStyle/>
          <a:p>
            <a:pPr>
              <a:lnSpc>
                <a:spcPct val="100000"/>
              </a:lnSpc>
              <a:spcBef>
                <a:spcPts val="100"/>
              </a:spcBef>
            </a:pPr>
            <a:r>
              <a:rPr dirty="0" sz="2000" spc="-25" b="1">
                <a:solidFill>
                  <a:srgbClr val="40458B"/>
                </a:solidFill>
                <a:latin typeface="Times New Roman"/>
                <a:cs typeface="Times New Roman"/>
              </a:rPr>
              <a:t>SD</a:t>
            </a:r>
            <a:endParaRPr sz="2000">
              <a:latin typeface="Times New Roman"/>
              <a:cs typeface="Times New Roman"/>
            </a:endParaRPr>
          </a:p>
        </p:txBody>
      </p:sp>
      <p:sp>
        <p:nvSpPr>
          <p:cNvPr id="25" name="object 25" descr=""/>
          <p:cNvSpPr txBox="1"/>
          <p:nvPr/>
        </p:nvSpPr>
        <p:spPr>
          <a:xfrm>
            <a:off x="7275830" y="5362143"/>
            <a:ext cx="4320540" cy="330835"/>
          </a:xfrm>
          <a:prstGeom prst="rect">
            <a:avLst/>
          </a:prstGeom>
        </p:spPr>
        <p:txBody>
          <a:bodyPr wrap="square" lIns="0" tIns="12700" rIns="0" bIns="0" rtlCol="0" vert="horz">
            <a:spAutoFit/>
          </a:bodyPr>
          <a:lstStyle/>
          <a:p>
            <a:pPr>
              <a:lnSpc>
                <a:spcPct val="100000"/>
              </a:lnSpc>
              <a:spcBef>
                <a:spcPts val="100"/>
              </a:spcBef>
              <a:tabLst>
                <a:tab pos="1306195" algn="l"/>
              </a:tabLst>
            </a:pPr>
            <a:r>
              <a:rPr dirty="0" sz="2000" spc="-10" b="1">
                <a:solidFill>
                  <a:srgbClr val="40458B"/>
                </a:solidFill>
                <a:latin typeface="Times New Roman"/>
                <a:cs typeface="Times New Roman"/>
              </a:rPr>
              <a:t>…</a:t>
            </a:r>
            <a:r>
              <a:rPr dirty="0" sz="2000" spc="-10" b="1">
                <a:solidFill>
                  <a:srgbClr val="40458B"/>
                </a:solidFill>
                <a:latin typeface="宋体"/>
                <a:cs typeface="宋体"/>
              </a:rPr>
              <a:t>，</a:t>
            </a:r>
            <a:r>
              <a:rPr dirty="0" sz="2000" spc="-10" b="1">
                <a:solidFill>
                  <a:srgbClr val="40458B"/>
                </a:solidFill>
                <a:latin typeface="Times New Roman"/>
                <a:cs typeface="Times New Roman"/>
              </a:rPr>
              <a:t>0(R3)</a:t>
            </a:r>
            <a:r>
              <a:rPr dirty="0" sz="2000" b="1">
                <a:solidFill>
                  <a:srgbClr val="40458B"/>
                </a:solidFill>
                <a:latin typeface="Times New Roman"/>
                <a:cs typeface="Times New Roman"/>
              </a:rPr>
              <a:t>	</a:t>
            </a:r>
            <a:r>
              <a:rPr dirty="0" sz="2000" spc="5" b="1">
                <a:solidFill>
                  <a:srgbClr val="40458B"/>
                </a:solidFill>
                <a:latin typeface="Times New Roman"/>
                <a:cs typeface="Times New Roman"/>
              </a:rPr>
              <a:t>// </a:t>
            </a:r>
            <a:r>
              <a:rPr dirty="0" sz="2000" spc="-10" b="1">
                <a:solidFill>
                  <a:srgbClr val="FF3300"/>
                </a:solidFill>
                <a:latin typeface="宋体"/>
                <a:cs typeface="宋体"/>
              </a:rPr>
              <a:t>指令</a:t>
            </a:r>
            <a:r>
              <a:rPr dirty="0" sz="2000" spc="-10" b="1">
                <a:solidFill>
                  <a:srgbClr val="FF3300"/>
                </a:solidFill>
                <a:latin typeface="Times New Roman"/>
                <a:cs typeface="Times New Roman"/>
              </a:rPr>
              <a:t>I2</a:t>
            </a:r>
            <a:r>
              <a:rPr dirty="0" sz="2000" spc="-10" b="1">
                <a:solidFill>
                  <a:srgbClr val="40458B"/>
                </a:solidFill>
                <a:latin typeface="宋体"/>
                <a:cs typeface="宋体"/>
              </a:rPr>
              <a:t>，对应语句</a:t>
            </a:r>
            <a:r>
              <a:rPr dirty="0" sz="2000" spc="-10" b="1">
                <a:solidFill>
                  <a:srgbClr val="40458B"/>
                </a:solidFill>
                <a:latin typeface="Times New Roman"/>
                <a:cs typeface="Times New Roman"/>
              </a:rPr>
              <a:t>5:C[i]=</a:t>
            </a:r>
            <a:endParaRPr sz="2000">
              <a:latin typeface="Times New Roman"/>
              <a:cs typeface="Times New Roman"/>
            </a:endParaRPr>
          </a:p>
        </p:txBody>
      </p:sp>
      <p:grpSp>
        <p:nvGrpSpPr>
          <p:cNvPr id="26" name="object 26" descr=""/>
          <p:cNvGrpSpPr/>
          <p:nvPr/>
        </p:nvGrpSpPr>
        <p:grpSpPr>
          <a:xfrm>
            <a:off x="150967" y="1443000"/>
            <a:ext cx="3175635" cy="4098925"/>
            <a:chOff x="150967" y="1443000"/>
            <a:chExt cx="3175635" cy="4098925"/>
          </a:xfrm>
        </p:grpSpPr>
        <p:sp>
          <p:nvSpPr>
            <p:cNvPr id="27" name="object 27" descr=""/>
            <p:cNvSpPr/>
            <p:nvPr/>
          </p:nvSpPr>
          <p:spPr>
            <a:xfrm>
              <a:off x="158905" y="1450937"/>
              <a:ext cx="2642235" cy="4083050"/>
            </a:xfrm>
            <a:custGeom>
              <a:avLst/>
              <a:gdLst/>
              <a:ahLst/>
              <a:cxnLst/>
              <a:rect l="l" t="t" r="r" b="b"/>
              <a:pathLst>
                <a:path w="2642235" h="4083050">
                  <a:moveTo>
                    <a:pt x="1215267" y="0"/>
                  </a:moveTo>
                  <a:lnTo>
                    <a:pt x="1162036" y="155"/>
                  </a:lnTo>
                  <a:lnTo>
                    <a:pt x="1109071" y="2626"/>
                  </a:lnTo>
                  <a:lnTo>
                    <a:pt x="1056707" y="7508"/>
                  </a:lnTo>
                  <a:lnTo>
                    <a:pt x="1005278" y="14899"/>
                  </a:lnTo>
                  <a:lnTo>
                    <a:pt x="955118" y="24893"/>
                  </a:lnTo>
                  <a:lnTo>
                    <a:pt x="906563" y="37586"/>
                  </a:lnTo>
                  <a:lnTo>
                    <a:pt x="859947" y="53075"/>
                  </a:lnTo>
                  <a:lnTo>
                    <a:pt x="815603" y="71454"/>
                  </a:lnTo>
                  <a:lnTo>
                    <a:pt x="773867" y="92820"/>
                  </a:lnTo>
                  <a:lnTo>
                    <a:pt x="730432" y="120449"/>
                  </a:lnTo>
                  <a:lnTo>
                    <a:pt x="690849" y="151665"/>
                  </a:lnTo>
                  <a:lnTo>
                    <a:pt x="655253" y="186165"/>
                  </a:lnTo>
                  <a:lnTo>
                    <a:pt x="623779" y="223645"/>
                  </a:lnTo>
                  <a:lnTo>
                    <a:pt x="596563" y="263800"/>
                  </a:lnTo>
                  <a:lnTo>
                    <a:pt x="573741" y="306326"/>
                  </a:lnTo>
                  <a:lnTo>
                    <a:pt x="555448" y="350918"/>
                  </a:lnTo>
                  <a:lnTo>
                    <a:pt x="541819" y="397273"/>
                  </a:lnTo>
                  <a:lnTo>
                    <a:pt x="532990" y="445085"/>
                  </a:lnTo>
                  <a:lnTo>
                    <a:pt x="529098" y="494050"/>
                  </a:lnTo>
                  <a:lnTo>
                    <a:pt x="529983" y="541687"/>
                  </a:lnTo>
                  <a:lnTo>
                    <a:pt x="534848" y="590041"/>
                  </a:lnTo>
                  <a:lnTo>
                    <a:pt x="543048" y="639064"/>
                  </a:lnTo>
                  <a:lnTo>
                    <a:pt x="553940" y="688706"/>
                  </a:lnTo>
                  <a:lnTo>
                    <a:pt x="566880" y="738918"/>
                  </a:lnTo>
                  <a:lnTo>
                    <a:pt x="581223" y="789651"/>
                  </a:lnTo>
                  <a:lnTo>
                    <a:pt x="611544" y="892484"/>
                  </a:lnTo>
                  <a:lnTo>
                    <a:pt x="626233" y="944486"/>
                  </a:lnTo>
                  <a:lnTo>
                    <a:pt x="639750" y="996813"/>
                  </a:lnTo>
                  <a:lnTo>
                    <a:pt x="651450" y="1049416"/>
                  </a:lnTo>
                  <a:lnTo>
                    <a:pt x="659844" y="1095966"/>
                  </a:lnTo>
                  <a:lnTo>
                    <a:pt x="666518" y="1142728"/>
                  </a:lnTo>
                  <a:lnTo>
                    <a:pt x="671661" y="1189747"/>
                  </a:lnTo>
                  <a:lnTo>
                    <a:pt x="675460" y="1237066"/>
                  </a:lnTo>
                  <a:lnTo>
                    <a:pt x="678102" y="1284731"/>
                  </a:lnTo>
                  <a:lnTo>
                    <a:pt x="679775" y="1332784"/>
                  </a:lnTo>
                  <a:lnTo>
                    <a:pt x="680666" y="1381271"/>
                  </a:lnTo>
                  <a:lnTo>
                    <a:pt x="680854" y="1479719"/>
                  </a:lnTo>
                  <a:lnTo>
                    <a:pt x="679961" y="1631743"/>
                  </a:lnTo>
                  <a:lnTo>
                    <a:pt x="680099" y="1683755"/>
                  </a:lnTo>
                  <a:lnTo>
                    <a:pt x="680769" y="1736508"/>
                  </a:lnTo>
                  <a:lnTo>
                    <a:pt x="682157" y="1790048"/>
                  </a:lnTo>
                  <a:lnTo>
                    <a:pt x="686757" y="1905562"/>
                  </a:lnTo>
                  <a:lnTo>
                    <a:pt x="688126" y="1962185"/>
                  </a:lnTo>
                  <a:lnTo>
                    <a:pt x="687554" y="2016697"/>
                  </a:lnTo>
                  <a:lnTo>
                    <a:pt x="684049" y="2068082"/>
                  </a:lnTo>
                  <a:lnTo>
                    <a:pt x="676619" y="2115323"/>
                  </a:lnTo>
                  <a:lnTo>
                    <a:pt x="664274" y="2157404"/>
                  </a:lnTo>
                  <a:lnTo>
                    <a:pt x="646022" y="2193308"/>
                  </a:lnTo>
                  <a:lnTo>
                    <a:pt x="620873" y="2222018"/>
                  </a:lnTo>
                  <a:lnTo>
                    <a:pt x="551384" y="2256451"/>
                  </a:lnTo>
                  <a:lnTo>
                    <a:pt x="508513" y="2265384"/>
                  </a:lnTo>
                  <a:lnTo>
                    <a:pt x="461848" y="2270578"/>
                  </a:lnTo>
                  <a:lnTo>
                    <a:pt x="412605" y="2273369"/>
                  </a:lnTo>
                  <a:lnTo>
                    <a:pt x="311256" y="2277092"/>
                  </a:lnTo>
                  <a:lnTo>
                    <a:pt x="261584" y="2280698"/>
                  </a:lnTo>
                  <a:lnTo>
                    <a:pt x="214204" y="2287251"/>
                  </a:lnTo>
                  <a:lnTo>
                    <a:pt x="170332" y="2298086"/>
                  </a:lnTo>
                  <a:lnTo>
                    <a:pt x="131187" y="2314543"/>
                  </a:lnTo>
                  <a:lnTo>
                    <a:pt x="74956" y="2360754"/>
                  </a:lnTo>
                  <a:lnTo>
                    <a:pt x="35929" y="2425988"/>
                  </a:lnTo>
                  <a:lnTo>
                    <a:pt x="22218" y="2464629"/>
                  </a:lnTo>
                  <a:lnTo>
                    <a:pt x="12029" y="2506693"/>
                  </a:lnTo>
                  <a:lnTo>
                    <a:pt x="5103" y="2551736"/>
                  </a:lnTo>
                  <a:lnTo>
                    <a:pt x="1179" y="2599315"/>
                  </a:lnTo>
                  <a:lnTo>
                    <a:pt x="0" y="2648984"/>
                  </a:lnTo>
                  <a:lnTo>
                    <a:pt x="1303" y="2700300"/>
                  </a:lnTo>
                  <a:lnTo>
                    <a:pt x="4832" y="2752818"/>
                  </a:lnTo>
                  <a:lnTo>
                    <a:pt x="10325" y="2806095"/>
                  </a:lnTo>
                  <a:lnTo>
                    <a:pt x="17523" y="2859686"/>
                  </a:lnTo>
                  <a:lnTo>
                    <a:pt x="26166" y="2913147"/>
                  </a:lnTo>
                  <a:lnTo>
                    <a:pt x="35996" y="2966033"/>
                  </a:lnTo>
                  <a:lnTo>
                    <a:pt x="46751" y="3017902"/>
                  </a:lnTo>
                  <a:lnTo>
                    <a:pt x="58174" y="3068308"/>
                  </a:lnTo>
                  <a:lnTo>
                    <a:pt x="70004" y="3116807"/>
                  </a:lnTo>
                  <a:lnTo>
                    <a:pt x="85774" y="3176655"/>
                  </a:lnTo>
                  <a:lnTo>
                    <a:pt x="102133" y="3232546"/>
                  </a:lnTo>
                  <a:lnTo>
                    <a:pt x="119422" y="3284523"/>
                  </a:lnTo>
                  <a:lnTo>
                    <a:pt x="137979" y="3332632"/>
                  </a:lnTo>
                  <a:lnTo>
                    <a:pt x="158144" y="3376915"/>
                  </a:lnTo>
                  <a:lnTo>
                    <a:pt x="180254" y="3417416"/>
                  </a:lnTo>
                  <a:lnTo>
                    <a:pt x="204649" y="3454179"/>
                  </a:lnTo>
                  <a:lnTo>
                    <a:pt x="231669" y="3487248"/>
                  </a:lnTo>
                  <a:lnTo>
                    <a:pt x="261652" y="3516667"/>
                  </a:lnTo>
                  <a:lnTo>
                    <a:pt x="294937" y="3542480"/>
                  </a:lnTo>
                  <a:lnTo>
                    <a:pt x="331863" y="3564729"/>
                  </a:lnTo>
                  <a:lnTo>
                    <a:pt x="372769" y="3583460"/>
                  </a:lnTo>
                  <a:lnTo>
                    <a:pt x="417995" y="3598716"/>
                  </a:lnTo>
                  <a:lnTo>
                    <a:pt x="467878" y="3610540"/>
                  </a:lnTo>
                  <a:lnTo>
                    <a:pt x="516172" y="3618310"/>
                  </a:lnTo>
                  <a:lnTo>
                    <a:pt x="567512" y="3624109"/>
                  </a:lnTo>
                  <a:lnTo>
                    <a:pt x="621002" y="3628637"/>
                  </a:lnTo>
                  <a:lnTo>
                    <a:pt x="730851" y="3636681"/>
                  </a:lnTo>
                  <a:lnTo>
                    <a:pt x="785418" y="3641598"/>
                  </a:lnTo>
                  <a:lnTo>
                    <a:pt x="838552" y="3648046"/>
                  </a:lnTo>
                  <a:lnTo>
                    <a:pt x="889359" y="3656725"/>
                  </a:lnTo>
                  <a:lnTo>
                    <a:pt x="936941" y="3668335"/>
                  </a:lnTo>
                  <a:lnTo>
                    <a:pt x="980405" y="3683577"/>
                  </a:lnTo>
                  <a:lnTo>
                    <a:pt x="1018853" y="3703152"/>
                  </a:lnTo>
                  <a:lnTo>
                    <a:pt x="1057797" y="3732857"/>
                  </a:lnTo>
                  <a:lnTo>
                    <a:pt x="1090429" y="3767797"/>
                  </a:lnTo>
                  <a:lnTo>
                    <a:pt x="1118979" y="3805933"/>
                  </a:lnTo>
                  <a:lnTo>
                    <a:pt x="1145676" y="3845225"/>
                  </a:lnTo>
                  <a:lnTo>
                    <a:pt x="1172748" y="3883632"/>
                  </a:lnTo>
                  <a:lnTo>
                    <a:pt x="1202425" y="3919115"/>
                  </a:lnTo>
                  <a:lnTo>
                    <a:pt x="1232217" y="3946610"/>
                  </a:lnTo>
                  <a:lnTo>
                    <a:pt x="1265559" y="3970541"/>
                  </a:lnTo>
                  <a:lnTo>
                    <a:pt x="1302249" y="3991199"/>
                  </a:lnTo>
                  <a:lnTo>
                    <a:pt x="1342085" y="4008873"/>
                  </a:lnTo>
                  <a:lnTo>
                    <a:pt x="1384865" y="4023852"/>
                  </a:lnTo>
                  <a:lnTo>
                    <a:pt x="1430388" y="4036426"/>
                  </a:lnTo>
                  <a:lnTo>
                    <a:pt x="1478453" y="4046884"/>
                  </a:lnTo>
                  <a:lnTo>
                    <a:pt x="1528857" y="4055516"/>
                  </a:lnTo>
                  <a:lnTo>
                    <a:pt x="1581400" y="4062611"/>
                  </a:lnTo>
                  <a:lnTo>
                    <a:pt x="1635879" y="4068459"/>
                  </a:lnTo>
                  <a:lnTo>
                    <a:pt x="1692093" y="4073348"/>
                  </a:lnTo>
                  <a:lnTo>
                    <a:pt x="1747669" y="4077342"/>
                  </a:lnTo>
                  <a:lnTo>
                    <a:pt x="1803881" y="4080454"/>
                  </a:lnTo>
                  <a:lnTo>
                    <a:pt x="1859941" y="4082426"/>
                  </a:lnTo>
                  <a:lnTo>
                    <a:pt x="1915059" y="4082998"/>
                  </a:lnTo>
                  <a:lnTo>
                    <a:pt x="1968444" y="4081912"/>
                  </a:lnTo>
                  <a:lnTo>
                    <a:pt x="2019309" y="4078907"/>
                  </a:lnTo>
                  <a:lnTo>
                    <a:pt x="2066863" y="4073724"/>
                  </a:lnTo>
                  <a:lnTo>
                    <a:pt x="2110316" y="4066106"/>
                  </a:lnTo>
                  <a:lnTo>
                    <a:pt x="2148879" y="4055791"/>
                  </a:lnTo>
                  <a:lnTo>
                    <a:pt x="2207417" y="4026827"/>
                  </a:lnTo>
                  <a:lnTo>
                    <a:pt x="2242002" y="3987075"/>
                  </a:lnTo>
                  <a:lnTo>
                    <a:pt x="2256208" y="3937040"/>
                  </a:lnTo>
                  <a:lnTo>
                    <a:pt x="2256387" y="3908492"/>
                  </a:lnTo>
                  <a:lnTo>
                    <a:pt x="2252334" y="3877762"/>
                  </a:lnTo>
                  <a:lnTo>
                    <a:pt x="2232680" y="3810281"/>
                  </a:lnTo>
                  <a:lnTo>
                    <a:pt x="2217656" y="3773790"/>
                  </a:lnTo>
                  <a:lnTo>
                    <a:pt x="2199549" y="3735638"/>
                  </a:lnTo>
                  <a:lnTo>
                    <a:pt x="2178647" y="3695954"/>
                  </a:lnTo>
                  <a:lnTo>
                    <a:pt x="2155239" y="3654871"/>
                  </a:lnTo>
                  <a:lnTo>
                    <a:pt x="2129611" y="3612516"/>
                  </a:lnTo>
                  <a:lnTo>
                    <a:pt x="2102052" y="3569021"/>
                  </a:lnTo>
                  <a:lnTo>
                    <a:pt x="2072848" y="3524514"/>
                  </a:lnTo>
                  <a:lnTo>
                    <a:pt x="2042287" y="3479127"/>
                  </a:lnTo>
                  <a:lnTo>
                    <a:pt x="1879199" y="3243532"/>
                  </a:lnTo>
                  <a:lnTo>
                    <a:pt x="1846538" y="3195590"/>
                  </a:lnTo>
                  <a:lnTo>
                    <a:pt x="1814532" y="3147678"/>
                  </a:lnTo>
                  <a:lnTo>
                    <a:pt x="1780336" y="3095079"/>
                  </a:lnTo>
                  <a:lnTo>
                    <a:pt x="1747423" y="3042779"/>
                  </a:lnTo>
                  <a:lnTo>
                    <a:pt x="1715928" y="2990883"/>
                  </a:lnTo>
                  <a:lnTo>
                    <a:pt x="1685991" y="2939496"/>
                  </a:lnTo>
                  <a:lnTo>
                    <a:pt x="1657747" y="2888725"/>
                  </a:lnTo>
                  <a:lnTo>
                    <a:pt x="1631333" y="2838674"/>
                  </a:lnTo>
                  <a:lnTo>
                    <a:pt x="1606888" y="2789449"/>
                  </a:lnTo>
                  <a:lnTo>
                    <a:pt x="1584549" y="2741156"/>
                  </a:lnTo>
                  <a:lnTo>
                    <a:pt x="1564451" y="2693900"/>
                  </a:lnTo>
                  <a:lnTo>
                    <a:pt x="1546734" y="2647787"/>
                  </a:lnTo>
                  <a:lnTo>
                    <a:pt x="1531533" y="2602923"/>
                  </a:lnTo>
                  <a:lnTo>
                    <a:pt x="1518986" y="2559413"/>
                  </a:lnTo>
                  <a:lnTo>
                    <a:pt x="1509231" y="2517362"/>
                  </a:lnTo>
                  <a:lnTo>
                    <a:pt x="1502404" y="2476877"/>
                  </a:lnTo>
                  <a:lnTo>
                    <a:pt x="1498643" y="2438063"/>
                  </a:lnTo>
                  <a:lnTo>
                    <a:pt x="1498084" y="2401026"/>
                  </a:lnTo>
                  <a:lnTo>
                    <a:pt x="1500866" y="2365870"/>
                  </a:lnTo>
                  <a:lnTo>
                    <a:pt x="1516998" y="2301627"/>
                  </a:lnTo>
                  <a:lnTo>
                    <a:pt x="1548136" y="2246180"/>
                  </a:lnTo>
                  <a:lnTo>
                    <a:pt x="1595379" y="2200246"/>
                  </a:lnTo>
                  <a:lnTo>
                    <a:pt x="1657966" y="2163136"/>
                  </a:lnTo>
                  <a:lnTo>
                    <a:pt x="1694160" y="2147222"/>
                  </a:lnTo>
                  <a:lnTo>
                    <a:pt x="1733160" y="2132684"/>
                  </a:lnTo>
                  <a:lnTo>
                    <a:pt x="1774622" y="2119233"/>
                  </a:lnTo>
                  <a:lnTo>
                    <a:pt x="1818200" y="2106580"/>
                  </a:lnTo>
                  <a:lnTo>
                    <a:pt x="1863550" y="2094437"/>
                  </a:lnTo>
                  <a:lnTo>
                    <a:pt x="2006778" y="2058181"/>
                  </a:lnTo>
                  <a:lnTo>
                    <a:pt x="2055763" y="2045192"/>
                  </a:lnTo>
                  <a:lnTo>
                    <a:pt x="2104795" y="2031269"/>
                  </a:lnTo>
                  <a:lnTo>
                    <a:pt x="2153528" y="2016124"/>
                  </a:lnTo>
                  <a:lnTo>
                    <a:pt x="2201616" y="1999469"/>
                  </a:lnTo>
                  <a:lnTo>
                    <a:pt x="2248716" y="1981015"/>
                  </a:lnTo>
                  <a:lnTo>
                    <a:pt x="2294482" y="1960474"/>
                  </a:lnTo>
                  <a:lnTo>
                    <a:pt x="2338569" y="1937556"/>
                  </a:lnTo>
                  <a:lnTo>
                    <a:pt x="2380631" y="1911973"/>
                  </a:lnTo>
                  <a:lnTo>
                    <a:pt x="2420324" y="1883437"/>
                  </a:lnTo>
                  <a:lnTo>
                    <a:pt x="2457304" y="1851659"/>
                  </a:lnTo>
                  <a:lnTo>
                    <a:pt x="2493671" y="1813729"/>
                  </a:lnTo>
                  <a:lnTo>
                    <a:pt x="2526374" y="1772320"/>
                  </a:lnTo>
                  <a:lnTo>
                    <a:pt x="2555286" y="1728040"/>
                  </a:lnTo>
                  <a:lnTo>
                    <a:pt x="2580280" y="1681497"/>
                  </a:lnTo>
                  <a:lnTo>
                    <a:pt x="2601229" y="1633300"/>
                  </a:lnTo>
                  <a:lnTo>
                    <a:pt x="2618005" y="1584059"/>
                  </a:lnTo>
                  <a:lnTo>
                    <a:pt x="2630483" y="1534381"/>
                  </a:lnTo>
                  <a:lnTo>
                    <a:pt x="2638535" y="1484876"/>
                  </a:lnTo>
                  <a:lnTo>
                    <a:pt x="2642035" y="1436152"/>
                  </a:lnTo>
                  <a:lnTo>
                    <a:pt x="2640854" y="1388818"/>
                  </a:lnTo>
                  <a:lnTo>
                    <a:pt x="2634891" y="1343013"/>
                  </a:lnTo>
                  <a:lnTo>
                    <a:pt x="2624418" y="1299068"/>
                  </a:lnTo>
                  <a:lnTo>
                    <a:pt x="2609810" y="1256802"/>
                  </a:lnTo>
                  <a:lnTo>
                    <a:pt x="2591443" y="1216036"/>
                  </a:lnTo>
                  <a:lnTo>
                    <a:pt x="2569694" y="1176591"/>
                  </a:lnTo>
                  <a:lnTo>
                    <a:pt x="2544939" y="1138287"/>
                  </a:lnTo>
                  <a:lnTo>
                    <a:pt x="2517553" y="1100944"/>
                  </a:lnTo>
                  <a:lnTo>
                    <a:pt x="2487913" y="1064384"/>
                  </a:lnTo>
                  <a:lnTo>
                    <a:pt x="2456395" y="1028426"/>
                  </a:lnTo>
                  <a:lnTo>
                    <a:pt x="2423375" y="992892"/>
                  </a:lnTo>
                  <a:lnTo>
                    <a:pt x="2389228" y="957601"/>
                  </a:lnTo>
                  <a:lnTo>
                    <a:pt x="2283794" y="851398"/>
                  </a:lnTo>
                  <a:lnTo>
                    <a:pt x="2248904" y="815288"/>
                  </a:lnTo>
                  <a:lnTo>
                    <a:pt x="2214768" y="778524"/>
                  </a:lnTo>
                  <a:lnTo>
                    <a:pt x="2181762" y="740928"/>
                  </a:lnTo>
                  <a:lnTo>
                    <a:pt x="2140686" y="690234"/>
                  </a:lnTo>
                  <a:lnTo>
                    <a:pt x="2102035" y="638393"/>
                  </a:lnTo>
                  <a:lnTo>
                    <a:pt x="2065643" y="585996"/>
                  </a:lnTo>
                  <a:lnTo>
                    <a:pt x="2031344" y="533635"/>
                  </a:lnTo>
                  <a:lnTo>
                    <a:pt x="1998972" y="481904"/>
                  </a:lnTo>
                  <a:lnTo>
                    <a:pt x="1968362" y="431394"/>
                  </a:lnTo>
                  <a:lnTo>
                    <a:pt x="1911765" y="336405"/>
                  </a:lnTo>
                  <a:lnTo>
                    <a:pt x="1885447" y="293111"/>
                  </a:lnTo>
                  <a:lnTo>
                    <a:pt x="1860228" y="253407"/>
                  </a:lnTo>
                  <a:lnTo>
                    <a:pt x="1835942" y="217885"/>
                  </a:lnTo>
                  <a:lnTo>
                    <a:pt x="1812423" y="187138"/>
                  </a:lnTo>
                  <a:lnTo>
                    <a:pt x="1767027" y="142334"/>
                  </a:lnTo>
                  <a:lnTo>
                    <a:pt x="1722714" y="123734"/>
                  </a:lnTo>
                  <a:lnTo>
                    <a:pt x="1688631" y="104740"/>
                  </a:lnTo>
                  <a:lnTo>
                    <a:pt x="1651135" y="87007"/>
                  </a:lnTo>
                  <a:lnTo>
                    <a:pt x="1610560" y="70631"/>
                  </a:lnTo>
                  <a:lnTo>
                    <a:pt x="1567241" y="55709"/>
                  </a:lnTo>
                  <a:lnTo>
                    <a:pt x="1521512" y="42337"/>
                  </a:lnTo>
                  <a:lnTo>
                    <a:pt x="1473708" y="30609"/>
                  </a:lnTo>
                  <a:lnTo>
                    <a:pt x="1424163" y="20622"/>
                  </a:lnTo>
                  <a:lnTo>
                    <a:pt x="1373213" y="12471"/>
                  </a:lnTo>
                  <a:lnTo>
                    <a:pt x="1321190" y="6254"/>
                  </a:lnTo>
                  <a:lnTo>
                    <a:pt x="1268430" y="2065"/>
                  </a:lnTo>
                  <a:lnTo>
                    <a:pt x="1215267" y="0"/>
                  </a:lnTo>
                  <a:close/>
                </a:path>
              </a:pathLst>
            </a:custGeom>
            <a:solidFill>
              <a:srgbClr val="DDDDDD"/>
            </a:solidFill>
          </p:spPr>
          <p:txBody>
            <a:bodyPr wrap="square" lIns="0" tIns="0" rIns="0" bIns="0" rtlCol="0"/>
            <a:lstStyle/>
            <a:p/>
          </p:txBody>
        </p:sp>
        <p:sp>
          <p:nvSpPr>
            <p:cNvPr id="28" name="object 28" descr=""/>
            <p:cNvSpPr/>
            <p:nvPr/>
          </p:nvSpPr>
          <p:spPr>
            <a:xfrm>
              <a:off x="158905" y="1450937"/>
              <a:ext cx="2642235" cy="4083050"/>
            </a:xfrm>
            <a:custGeom>
              <a:avLst/>
              <a:gdLst/>
              <a:ahLst/>
              <a:cxnLst/>
              <a:rect l="l" t="t" r="r" b="b"/>
              <a:pathLst>
                <a:path w="2642235" h="4083050">
                  <a:moveTo>
                    <a:pt x="1722714" y="123734"/>
                  </a:moveTo>
                  <a:lnTo>
                    <a:pt x="1688631" y="104740"/>
                  </a:lnTo>
                  <a:lnTo>
                    <a:pt x="1651135" y="87007"/>
                  </a:lnTo>
                  <a:lnTo>
                    <a:pt x="1610560" y="70631"/>
                  </a:lnTo>
                  <a:lnTo>
                    <a:pt x="1567241" y="55709"/>
                  </a:lnTo>
                  <a:lnTo>
                    <a:pt x="1521512" y="42337"/>
                  </a:lnTo>
                  <a:lnTo>
                    <a:pt x="1473708" y="30609"/>
                  </a:lnTo>
                  <a:lnTo>
                    <a:pt x="1424163" y="20622"/>
                  </a:lnTo>
                  <a:lnTo>
                    <a:pt x="1373213" y="12471"/>
                  </a:lnTo>
                  <a:lnTo>
                    <a:pt x="1321190" y="6254"/>
                  </a:lnTo>
                  <a:lnTo>
                    <a:pt x="1268430" y="2065"/>
                  </a:lnTo>
                  <a:lnTo>
                    <a:pt x="1215267" y="0"/>
                  </a:lnTo>
                  <a:lnTo>
                    <a:pt x="1162036" y="155"/>
                  </a:lnTo>
                  <a:lnTo>
                    <a:pt x="1109071" y="2626"/>
                  </a:lnTo>
                  <a:lnTo>
                    <a:pt x="1056707" y="7508"/>
                  </a:lnTo>
                  <a:lnTo>
                    <a:pt x="1005278" y="14899"/>
                  </a:lnTo>
                  <a:lnTo>
                    <a:pt x="955118" y="24893"/>
                  </a:lnTo>
                  <a:lnTo>
                    <a:pt x="906563" y="37586"/>
                  </a:lnTo>
                  <a:lnTo>
                    <a:pt x="859947" y="53075"/>
                  </a:lnTo>
                  <a:lnTo>
                    <a:pt x="815603" y="71454"/>
                  </a:lnTo>
                  <a:lnTo>
                    <a:pt x="773867" y="92820"/>
                  </a:lnTo>
                  <a:lnTo>
                    <a:pt x="730432" y="120449"/>
                  </a:lnTo>
                  <a:lnTo>
                    <a:pt x="690849" y="151665"/>
                  </a:lnTo>
                  <a:lnTo>
                    <a:pt x="655253" y="186165"/>
                  </a:lnTo>
                  <a:lnTo>
                    <a:pt x="623779" y="223645"/>
                  </a:lnTo>
                  <a:lnTo>
                    <a:pt x="596563" y="263800"/>
                  </a:lnTo>
                  <a:lnTo>
                    <a:pt x="573741" y="306326"/>
                  </a:lnTo>
                  <a:lnTo>
                    <a:pt x="555448" y="350918"/>
                  </a:lnTo>
                  <a:lnTo>
                    <a:pt x="541819" y="397273"/>
                  </a:lnTo>
                  <a:lnTo>
                    <a:pt x="532990" y="445085"/>
                  </a:lnTo>
                  <a:lnTo>
                    <a:pt x="529098" y="494050"/>
                  </a:lnTo>
                  <a:lnTo>
                    <a:pt x="529983" y="541687"/>
                  </a:lnTo>
                  <a:lnTo>
                    <a:pt x="534848" y="590041"/>
                  </a:lnTo>
                  <a:lnTo>
                    <a:pt x="543048" y="639064"/>
                  </a:lnTo>
                  <a:lnTo>
                    <a:pt x="553940" y="688706"/>
                  </a:lnTo>
                  <a:lnTo>
                    <a:pt x="566880" y="738918"/>
                  </a:lnTo>
                  <a:lnTo>
                    <a:pt x="581223" y="789651"/>
                  </a:lnTo>
                  <a:lnTo>
                    <a:pt x="596326" y="840856"/>
                  </a:lnTo>
                  <a:lnTo>
                    <a:pt x="611544" y="892484"/>
                  </a:lnTo>
                  <a:lnTo>
                    <a:pt x="626233" y="944486"/>
                  </a:lnTo>
                  <a:lnTo>
                    <a:pt x="639750" y="996813"/>
                  </a:lnTo>
                  <a:lnTo>
                    <a:pt x="651450" y="1049416"/>
                  </a:lnTo>
                  <a:lnTo>
                    <a:pt x="659844" y="1095966"/>
                  </a:lnTo>
                  <a:lnTo>
                    <a:pt x="666518" y="1142728"/>
                  </a:lnTo>
                  <a:lnTo>
                    <a:pt x="671661" y="1189747"/>
                  </a:lnTo>
                  <a:lnTo>
                    <a:pt x="675460" y="1237066"/>
                  </a:lnTo>
                  <a:lnTo>
                    <a:pt x="678102" y="1284731"/>
                  </a:lnTo>
                  <a:lnTo>
                    <a:pt x="679775" y="1332784"/>
                  </a:lnTo>
                  <a:lnTo>
                    <a:pt x="680666" y="1381271"/>
                  </a:lnTo>
                  <a:lnTo>
                    <a:pt x="680963" y="1430234"/>
                  </a:lnTo>
                  <a:lnTo>
                    <a:pt x="680854" y="1479719"/>
                  </a:lnTo>
                  <a:lnTo>
                    <a:pt x="680525" y="1529770"/>
                  </a:lnTo>
                  <a:lnTo>
                    <a:pt x="680165" y="1580430"/>
                  </a:lnTo>
                  <a:lnTo>
                    <a:pt x="679961" y="1631743"/>
                  </a:lnTo>
                  <a:lnTo>
                    <a:pt x="680099" y="1683755"/>
                  </a:lnTo>
                  <a:lnTo>
                    <a:pt x="680769" y="1736508"/>
                  </a:lnTo>
                  <a:lnTo>
                    <a:pt x="682157" y="1790048"/>
                  </a:lnTo>
                  <a:lnTo>
                    <a:pt x="684437" y="1847844"/>
                  </a:lnTo>
                  <a:lnTo>
                    <a:pt x="686757" y="1905562"/>
                  </a:lnTo>
                  <a:lnTo>
                    <a:pt x="688126" y="1962185"/>
                  </a:lnTo>
                  <a:lnTo>
                    <a:pt x="687554" y="2016697"/>
                  </a:lnTo>
                  <a:lnTo>
                    <a:pt x="684049" y="2068082"/>
                  </a:lnTo>
                  <a:lnTo>
                    <a:pt x="676619" y="2115323"/>
                  </a:lnTo>
                  <a:lnTo>
                    <a:pt x="664274" y="2157404"/>
                  </a:lnTo>
                  <a:lnTo>
                    <a:pt x="646022" y="2193308"/>
                  </a:lnTo>
                  <a:lnTo>
                    <a:pt x="620873" y="2222018"/>
                  </a:lnTo>
                  <a:lnTo>
                    <a:pt x="551384" y="2256451"/>
                  </a:lnTo>
                  <a:lnTo>
                    <a:pt x="508513" y="2265384"/>
                  </a:lnTo>
                  <a:lnTo>
                    <a:pt x="461848" y="2270578"/>
                  </a:lnTo>
                  <a:lnTo>
                    <a:pt x="412605" y="2273369"/>
                  </a:lnTo>
                  <a:lnTo>
                    <a:pt x="362002" y="2275094"/>
                  </a:lnTo>
                  <a:lnTo>
                    <a:pt x="311256" y="2277092"/>
                  </a:lnTo>
                  <a:lnTo>
                    <a:pt x="261584" y="2280698"/>
                  </a:lnTo>
                  <a:lnTo>
                    <a:pt x="214204" y="2287251"/>
                  </a:lnTo>
                  <a:lnTo>
                    <a:pt x="170332" y="2298086"/>
                  </a:lnTo>
                  <a:lnTo>
                    <a:pt x="131187" y="2314543"/>
                  </a:lnTo>
                  <a:lnTo>
                    <a:pt x="74956" y="2360754"/>
                  </a:lnTo>
                  <a:lnTo>
                    <a:pt x="35929" y="2425988"/>
                  </a:lnTo>
                  <a:lnTo>
                    <a:pt x="22218" y="2464629"/>
                  </a:lnTo>
                  <a:lnTo>
                    <a:pt x="12029" y="2506693"/>
                  </a:lnTo>
                  <a:lnTo>
                    <a:pt x="5103" y="2551736"/>
                  </a:lnTo>
                  <a:lnTo>
                    <a:pt x="1179" y="2599315"/>
                  </a:lnTo>
                  <a:lnTo>
                    <a:pt x="0" y="2648984"/>
                  </a:lnTo>
                  <a:lnTo>
                    <a:pt x="1303" y="2700300"/>
                  </a:lnTo>
                  <a:lnTo>
                    <a:pt x="4832" y="2752818"/>
                  </a:lnTo>
                  <a:lnTo>
                    <a:pt x="10325" y="2806095"/>
                  </a:lnTo>
                  <a:lnTo>
                    <a:pt x="17523" y="2859686"/>
                  </a:lnTo>
                  <a:lnTo>
                    <a:pt x="26166" y="2913147"/>
                  </a:lnTo>
                  <a:lnTo>
                    <a:pt x="35996" y="2966033"/>
                  </a:lnTo>
                  <a:lnTo>
                    <a:pt x="46751" y="3017902"/>
                  </a:lnTo>
                  <a:lnTo>
                    <a:pt x="58174" y="3068308"/>
                  </a:lnTo>
                  <a:lnTo>
                    <a:pt x="70004" y="3116807"/>
                  </a:lnTo>
                  <a:lnTo>
                    <a:pt x="85774" y="3176655"/>
                  </a:lnTo>
                  <a:lnTo>
                    <a:pt x="102133" y="3232546"/>
                  </a:lnTo>
                  <a:lnTo>
                    <a:pt x="119422" y="3284523"/>
                  </a:lnTo>
                  <a:lnTo>
                    <a:pt x="137979" y="3332632"/>
                  </a:lnTo>
                  <a:lnTo>
                    <a:pt x="158144" y="3376915"/>
                  </a:lnTo>
                  <a:lnTo>
                    <a:pt x="180254" y="3417416"/>
                  </a:lnTo>
                  <a:lnTo>
                    <a:pt x="204649" y="3454179"/>
                  </a:lnTo>
                  <a:lnTo>
                    <a:pt x="231669" y="3487248"/>
                  </a:lnTo>
                  <a:lnTo>
                    <a:pt x="261652" y="3516667"/>
                  </a:lnTo>
                  <a:lnTo>
                    <a:pt x="294937" y="3542480"/>
                  </a:lnTo>
                  <a:lnTo>
                    <a:pt x="331863" y="3564729"/>
                  </a:lnTo>
                  <a:lnTo>
                    <a:pt x="372769" y="3583460"/>
                  </a:lnTo>
                  <a:lnTo>
                    <a:pt x="417995" y="3598716"/>
                  </a:lnTo>
                  <a:lnTo>
                    <a:pt x="467878" y="3610540"/>
                  </a:lnTo>
                  <a:lnTo>
                    <a:pt x="516172" y="3618310"/>
                  </a:lnTo>
                  <a:lnTo>
                    <a:pt x="567512" y="3624109"/>
                  </a:lnTo>
                  <a:lnTo>
                    <a:pt x="621002" y="3628637"/>
                  </a:lnTo>
                  <a:lnTo>
                    <a:pt x="675747" y="3632594"/>
                  </a:lnTo>
                  <a:lnTo>
                    <a:pt x="730851" y="3636681"/>
                  </a:lnTo>
                  <a:lnTo>
                    <a:pt x="785418" y="3641598"/>
                  </a:lnTo>
                  <a:lnTo>
                    <a:pt x="838552" y="3648046"/>
                  </a:lnTo>
                  <a:lnTo>
                    <a:pt x="889359" y="3656725"/>
                  </a:lnTo>
                  <a:lnTo>
                    <a:pt x="936941" y="3668335"/>
                  </a:lnTo>
                  <a:lnTo>
                    <a:pt x="980405" y="3683577"/>
                  </a:lnTo>
                  <a:lnTo>
                    <a:pt x="1018853" y="3703152"/>
                  </a:lnTo>
                  <a:lnTo>
                    <a:pt x="1057797" y="3732857"/>
                  </a:lnTo>
                  <a:lnTo>
                    <a:pt x="1090429" y="3767797"/>
                  </a:lnTo>
                  <a:lnTo>
                    <a:pt x="1118979" y="3805933"/>
                  </a:lnTo>
                  <a:lnTo>
                    <a:pt x="1145676" y="3845225"/>
                  </a:lnTo>
                  <a:lnTo>
                    <a:pt x="1172748" y="3883632"/>
                  </a:lnTo>
                  <a:lnTo>
                    <a:pt x="1202425" y="3919115"/>
                  </a:lnTo>
                  <a:lnTo>
                    <a:pt x="1232217" y="3946610"/>
                  </a:lnTo>
                  <a:lnTo>
                    <a:pt x="1265559" y="3970541"/>
                  </a:lnTo>
                  <a:lnTo>
                    <a:pt x="1302249" y="3991199"/>
                  </a:lnTo>
                  <a:lnTo>
                    <a:pt x="1342085" y="4008873"/>
                  </a:lnTo>
                  <a:lnTo>
                    <a:pt x="1384865" y="4023852"/>
                  </a:lnTo>
                  <a:lnTo>
                    <a:pt x="1430388" y="4036426"/>
                  </a:lnTo>
                  <a:lnTo>
                    <a:pt x="1478453" y="4046884"/>
                  </a:lnTo>
                  <a:lnTo>
                    <a:pt x="1528857" y="4055516"/>
                  </a:lnTo>
                  <a:lnTo>
                    <a:pt x="1581400" y="4062611"/>
                  </a:lnTo>
                  <a:lnTo>
                    <a:pt x="1635879" y="4068459"/>
                  </a:lnTo>
                  <a:lnTo>
                    <a:pt x="1692093" y="4073348"/>
                  </a:lnTo>
                  <a:lnTo>
                    <a:pt x="1747669" y="4077342"/>
                  </a:lnTo>
                  <a:lnTo>
                    <a:pt x="1803881" y="4080454"/>
                  </a:lnTo>
                  <a:lnTo>
                    <a:pt x="1859941" y="4082426"/>
                  </a:lnTo>
                  <a:lnTo>
                    <a:pt x="1915059" y="4082998"/>
                  </a:lnTo>
                  <a:lnTo>
                    <a:pt x="1968444" y="4081912"/>
                  </a:lnTo>
                  <a:lnTo>
                    <a:pt x="2019309" y="4078907"/>
                  </a:lnTo>
                  <a:lnTo>
                    <a:pt x="2066863" y="4073724"/>
                  </a:lnTo>
                  <a:lnTo>
                    <a:pt x="2110316" y="4066106"/>
                  </a:lnTo>
                  <a:lnTo>
                    <a:pt x="2148879" y="4055791"/>
                  </a:lnTo>
                  <a:lnTo>
                    <a:pt x="2207417" y="4026827"/>
                  </a:lnTo>
                  <a:lnTo>
                    <a:pt x="2242002" y="3987075"/>
                  </a:lnTo>
                  <a:lnTo>
                    <a:pt x="2256208" y="3937040"/>
                  </a:lnTo>
                  <a:lnTo>
                    <a:pt x="2256387" y="3908492"/>
                  </a:lnTo>
                  <a:lnTo>
                    <a:pt x="2252334" y="3877762"/>
                  </a:lnTo>
                  <a:lnTo>
                    <a:pt x="2232680" y="3810281"/>
                  </a:lnTo>
                  <a:lnTo>
                    <a:pt x="2217656" y="3773790"/>
                  </a:lnTo>
                  <a:lnTo>
                    <a:pt x="2199549" y="3735638"/>
                  </a:lnTo>
                  <a:lnTo>
                    <a:pt x="2178647" y="3695954"/>
                  </a:lnTo>
                  <a:lnTo>
                    <a:pt x="2155239" y="3654871"/>
                  </a:lnTo>
                  <a:lnTo>
                    <a:pt x="2129611" y="3612516"/>
                  </a:lnTo>
                  <a:lnTo>
                    <a:pt x="2102052" y="3569021"/>
                  </a:lnTo>
                  <a:lnTo>
                    <a:pt x="2072848" y="3524514"/>
                  </a:lnTo>
                  <a:lnTo>
                    <a:pt x="2042287" y="3479127"/>
                  </a:lnTo>
                  <a:lnTo>
                    <a:pt x="2010658" y="3432990"/>
                  </a:lnTo>
                  <a:lnTo>
                    <a:pt x="1978247" y="3386231"/>
                  </a:lnTo>
                  <a:lnTo>
                    <a:pt x="1945341" y="3338982"/>
                  </a:lnTo>
                  <a:lnTo>
                    <a:pt x="1912230" y="3291372"/>
                  </a:lnTo>
                  <a:lnTo>
                    <a:pt x="1879199" y="3243532"/>
                  </a:lnTo>
                  <a:lnTo>
                    <a:pt x="1846538" y="3195590"/>
                  </a:lnTo>
                  <a:lnTo>
                    <a:pt x="1814532" y="3147678"/>
                  </a:lnTo>
                  <a:lnTo>
                    <a:pt x="1780336" y="3095079"/>
                  </a:lnTo>
                  <a:lnTo>
                    <a:pt x="1747423" y="3042779"/>
                  </a:lnTo>
                  <a:lnTo>
                    <a:pt x="1715928" y="2990883"/>
                  </a:lnTo>
                  <a:lnTo>
                    <a:pt x="1685991" y="2939496"/>
                  </a:lnTo>
                  <a:lnTo>
                    <a:pt x="1657747" y="2888725"/>
                  </a:lnTo>
                  <a:lnTo>
                    <a:pt x="1631333" y="2838674"/>
                  </a:lnTo>
                  <a:lnTo>
                    <a:pt x="1606888" y="2789449"/>
                  </a:lnTo>
                  <a:lnTo>
                    <a:pt x="1584549" y="2741156"/>
                  </a:lnTo>
                  <a:lnTo>
                    <a:pt x="1564451" y="2693900"/>
                  </a:lnTo>
                  <a:lnTo>
                    <a:pt x="1546734" y="2647787"/>
                  </a:lnTo>
                  <a:lnTo>
                    <a:pt x="1531533" y="2602923"/>
                  </a:lnTo>
                  <a:lnTo>
                    <a:pt x="1518986" y="2559413"/>
                  </a:lnTo>
                  <a:lnTo>
                    <a:pt x="1509231" y="2517362"/>
                  </a:lnTo>
                  <a:lnTo>
                    <a:pt x="1502404" y="2476877"/>
                  </a:lnTo>
                  <a:lnTo>
                    <a:pt x="1498643" y="2438063"/>
                  </a:lnTo>
                  <a:lnTo>
                    <a:pt x="1498084" y="2401026"/>
                  </a:lnTo>
                  <a:lnTo>
                    <a:pt x="1500866" y="2365870"/>
                  </a:lnTo>
                  <a:lnTo>
                    <a:pt x="1516998" y="2301627"/>
                  </a:lnTo>
                  <a:lnTo>
                    <a:pt x="1548136" y="2246180"/>
                  </a:lnTo>
                  <a:lnTo>
                    <a:pt x="1595379" y="2200246"/>
                  </a:lnTo>
                  <a:lnTo>
                    <a:pt x="1657966" y="2163136"/>
                  </a:lnTo>
                  <a:lnTo>
                    <a:pt x="1694160" y="2147222"/>
                  </a:lnTo>
                  <a:lnTo>
                    <a:pt x="1733160" y="2132684"/>
                  </a:lnTo>
                  <a:lnTo>
                    <a:pt x="1774622" y="2119233"/>
                  </a:lnTo>
                  <a:lnTo>
                    <a:pt x="1818200" y="2106580"/>
                  </a:lnTo>
                  <a:lnTo>
                    <a:pt x="1863550" y="2094437"/>
                  </a:lnTo>
                  <a:lnTo>
                    <a:pt x="1910326" y="2082515"/>
                  </a:lnTo>
                  <a:lnTo>
                    <a:pt x="1958184" y="2070526"/>
                  </a:lnTo>
                  <a:lnTo>
                    <a:pt x="2006778" y="2058181"/>
                  </a:lnTo>
                  <a:lnTo>
                    <a:pt x="2055763" y="2045192"/>
                  </a:lnTo>
                  <a:lnTo>
                    <a:pt x="2104795" y="2031269"/>
                  </a:lnTo>
                  <a:lnTo>
                    <a:pt x="2153528" y="2016124"/>
                  </a:lnTo>
                  <a:lnTo>
                    <a:pt x="2201616" y="1999469"/>
                  </a:lnTo>
                  <a:lnTo>
                    <a:pt x="2248716" y="1981015"/>
                  </a:lnTo>
                  <a:lnTo>
                    <a:pt x="2294482" y="1960474"/>
                  </a:lnTo>
                  <a:lnTo>
                    <a:pt x="2338569" y="1937556"/>
                  </a:lnTo>
                  <a:lnTo>
                    <a:pt x="2380631" y="1911973"/>
                  </a:lnTo>
                  <a:lnTo>
                    <a:pt x="2420324" y="1883437"/>
                  </a:lnTo>
                  <a:lnTo>
                    <a:pt x="2457304" y="1851659"/>
                  </a:lnTo>
                  <a:lnTo>
                    <a:pt x="2493671" y="1813729"/>
                  </a:lnTo>
                  <a:lnTo>
                    <a:pt x="2526374" y="1772320"/>
                  </a:lnTo>
                  <a:lnTo>
                    <a:pt x="2555286" y="1728040"/>
                  </a:lnTo>
                  <a:lnTo>
                    <a:pt x="2580280" y="1681497"/>
                  </a:lnTo>
                  <a:lnTo>
                    <a:pt x="2601229" y="1633300"/>
                  </a:lnTo>
                  <a:lnTo>
                    <a:pt x="2618005" y="1584059"/>
                  </a:lnTo>
                  <a:lnTo>
                    <a:pt x="2630483" y="1534381"/>
                  </a:lnTo>
                  <a:lnTo>
                    <a:pt x="2638535" y="1484876"/>
                  </a:lnTo>
                  <a:lnTo>
                    <a:pt x="2642035" y="1436152"/>
                  </a:lnTo>
                  <a:lnTo>
                    <a:pt x="2640854" y="1388818"/>
                  </a:lnTo>
                  <a:lnTo>
                    <a:pt x="2634891" y="1343013"/>
                  </a:lnTo>
                  <a:lnTo>
                    <a:pt x="2624418" y="1299068"/>
                  </a:lnTo>
                  <a:lnTo>
                    <a:pt x="2609810" y="1256802"/>
                  </a:lnTo>
                  <a:lnTo>
                    <a:pt x="2591443" y="1216036"/>
                  </a:lnTo>
                  <a:lnTo>
                    <a:pt x="2569694" y="1176591"/>
                  </a:lnTo>
                  <a:lnTo>
                    <a:pt x="2544939" y="1138287"/>
                  </a:lnTo>
                  <a:lnTo>
                    <a:pt x="2517553" y="1100944"/>
                  </a:lnTo>
                  <a:lnTo>
                    <a:pt x="2487913" y="1064384"/>
                  </a:lnTo>
                  <a:lnTo>
                    <a:pt x="2456395" y="1028426"/>
                  </a:lnTo>
                  <a:lnTo>
                    <a:pt x="2423375" y="992892"/>
                  </a:lnTo>
                  <a:lnTo>
                    <a:pt x="2389228" y="957601"/>
                  </a:lnTo>
                  <a:lnTo>
                    <a:pt x="2354332" y="922375"/>
                  </a:lnTo>
                  <a:lnTo>
                    <a:pt x="2319062" y="887034"/>
                  </a:lnTo>
                  <a:lnTo>
                    <a:pt x="2283794" y="851398"/>
                  </a:lnTo>
                  <a:lnTo>
                    <a:pt x="2248904" y="815288"/>
                  </a:lnTo>
                  <a:lnTo>
                    <a:pt x="2214768" y="778524"/>
                  </a:lnTo>
                  <a:lnTo>
                    <a:pt x="2181762" y="740928"/>
                  </a:lnTo>
                  <a:lnTo>
                    <a:pt x="2140686" y="690234"/>
                  </a:lnTo>
                  <a:lnTo>
                    <a:pt x="2102035" y="638393"/>
                  </a:lnTo>
                  <a:lnTo>
                    <a:pt x="2065643" y="585996"/>
                  </a:lnTo>
                  <a:lnTo>
                    <a:pt x="2031344" y="533635"/>
                  </a:lnTo>
                  <a:lnTo>
                    <a:pt x="1998972" y="481904"/>
                  </a:lnTo>
                  <a:lnTo>
                    <a:pt x="1968362" y="431394"/>
                  </a:lnTo>
                  <a:lnTo>
                    <a:pt x="1939348" y="382696"/>
                  </a:lnTo>
                  <a:lnTo>
                    <a:pt x="1911765" y="336405"/>
                  </a:lnTo>
                  <a:lnTo>
                    <a:pt x="1885447" y="293111"/>
                  </a:lnTo>
                  <a:lnTo>
                    <a:pt x="1860228" y="253407"/>
                  </a:lnTo>
                  <a:lnTo>
                    <a:pt x="1835942" y="217885"/>
                  </a:lnTo>
                  <a:lnTo>
                    <a:pt x="1812423" y="187138"/>
                  </a:lnTo>
                  <a:lnTo>
                    <a:pt x="1767027" y="142334"/>
                  </a:lnTo>
                  <a:lnTo>
                    <a:pt x="1744818" y="129463"/>
                  </a:lnTo>
                  <a:lnTo>
                    <a:pt x="1722714" y="123734"/>
                  </a:lnTo>
                  <a:close/>
                </a:path>
              </a:pathLst>
            </a:custGeom>
            <a:ln w="15585">
              <a:solidFill>
                <a:srgbClr val="000000"/>
              </a:solidFill>
            </a:ln>
          </p:spPr>
          <p:txBody>
            <a:bodyPr wrap="square" lIns="0" tIns="0" rIns="0" bIns="0" rtlCol="0"/>
            <a:lstStyle/>
            <a:p/>
          </p:txBody>
        </p:sp>
        <p:sp>
          <p:nvSpPr>
            <p:cNvPr id="29" name="object 29" descr=""/>
            <p:cNvSpPr/>
            <p:nvPr/>
          </p:nvSpPr>
          <p:spPr>
            <a:xfrm>
              <a:off x="1269490" y="1574825"/>
              <a:ext cx="2057400" cy="432434"/>
            </a:xfrm>
            <a:custGeom>
              <a:avLst/>
              <a:gdLst/>
              <a:ahLst/>
              <a:cxnLst/>
              <a:rect l="l" t="t" r="r" b="b"/>
              <a:pathLst>
                <a:path w="2057400" h="432435">
                  <a:moveTo>
                    <a:pt x="2056863" y="0"/>
                  </a:moveTo>
                  <a:lnTo>
                    <a:pt x="0" y="0"/>
                  </a:lnTo>
                  <a:lnTo>
                    <a:pt x="0" y="431991"/>
                  </a:lnTo>
                  <a:lnTo>
                    <a:pt x="2056863" y="431991"/>
                  </a:lnTo>
                  <a:lnTo>
                    <a:pt x="2056863" y="0"/>
                  </a:lnTo>
                  <a:close/>
                </a:path>
              </a:pathLst>
            </a:custGeom>
            <a:solidFill>
              <a:srgbClr val="FFFFFF"/>
            </a:solidFill>
          </p:spPr>
          <p:txBody>
            <a:bodyPr wrap="square" lIns="0" tIns="0" rIns="0" bIns="0" rtlCol="0"/>
            <a:lstStyle/>
            <a:p/>
          </p:txBody>
        </p:sp>
      </p:grpSp>
      <p:sp>
        <p:nvSpPr>
          <p:cNvPr id="30" name="object 30" descr=""/>
          <p:cNvSpPr txBox="1"/>
          <p:nvPr/>
        </p:nvSpPr>
        <p:spPr>
          <a:xfrm>
            <a:off x="1269490" y="1574825"/>
            <a:ext cx="2057400" cy="432434"/>
          </a:xfrm>
          <a:prstGeom prst="rect">
            <a:avLst/>
          </a:prstGeom>
          <a:ln w="15669">
            <a:solidFill>
              <a:srgbClr val="000000"/>
            </a:solidFill>
          </a:ln>
        </p:spPr>
        <p:txBody>
          <a:bodyPr wrap="square" lIns="0" tIns="65405" rIns="0" bIns="0" rtlCol="0" vert="horz">
            <a:spAutoFit/>
          </a:bodyPr>
          <a:lstStyle/>
          <a:p>
            <a:pPr marL="146685">
              <a:lnSpc>
                <a:spcPct val="100000"/>
              </a:lnSpc>
              <a:spcBef>
                <a:spcPts val="515"/>
              </a:spcBef>
            </a:pPr>
            <a:r>
              <a:rPr dirty="0" sz="1700" b="1">
                <a:latin typeface="Times New Roman"/>
                <a:cs typeface="Times New Roman"/>
              </a:rPr>
              <a:t>1:</a:t>
            </a:r>
            <a:r>
              <a:rPr dirty="0" sz="1700" spc="-5" b="1">
                <a:latin typeface="Times New Roman"/>
                <a:cs typeface="Times New Roman"/>
              </a:rPr>
              <a:t> </a:t>
            </a:r>
            <a:r>
              <a:rPr dirty="0" sz="1700" b="1">
                <a:latin typeface="Times New Roman"/>
                <a:cs typeface="Times New Roman"/>
              </a:rPr>
              <a:t>A[i]</a:t>
            </a:r>
            <a:r>
              <a:rPr dirty="0" sz="1700" spc="-5" b="1">
                <a:latin typeface="Times New Roman"/>
                <a:cs typeface="Times New Roman"/>
              </a:rPr>
              <a:t> </a:t>
            </a:r>
            <a:r>
              <a:rPr dirty="0" sz="1700" b="1">
                <a:latin typeface="Times New Roman"/>
                <a:cs typeface="Times New Roman"/>
              </a:rPr>
              <a:t>=</a:t>
            </a:r>
            <a:r>
              <a:rPr dirty="0" sz="1700" spc="-5" b="1">
                <a:latin typeface="Times New Roman"/>
                <a:cs typeface="Times New Roman"/>
              </a:rPr>
              <a:t> </a:t>
            </a:r>
            <a:r>
              <a:rPr dirty="0" sz="1700" b="1">
                <a:latin typeface="Times New Roman"/>
                <a:cs typeface="Times New Roman"/>
              </a:rPr>
              <a:t>A[i]</a:t>
            </a:r>
            <a:r>
              <a:rPr dirty="0" sz="1700" spc="-5" b="1">
                <a:latin typeface="Times New Roman"/>
                <a:cs typeface="Times New Roman"/>
              </a:rPr>
              <a:t> </a:t>
            </a:r>
            <a:r>
              <a:rPr dirty="0" sz="1700" b="1">
                <a:latin typeface="Times New Roman"/>
                <a:cs typeface="Times New Roman"/>
              </a:rPr>
              <a:t>+ </a:t>
            </a:r>
            <a:r>
              <a:rPr dirty="0" sz="1700" spc="-20" b="1">
                <a:latin typeface="Times New Roman"/>
                <a:cs typeface="Times New Roman"/>
              </a:rPr>
              <a:t>B[i]</a:t>
            </a:r>
            <a:endParaRPr sz="1700">
              <a:latin typeface="Times New Roman"/>
              <a:cs typeface="Times New Roman"/>
            </a:endParaRPr>
          </a:p>
        </p:txBody>
      </p:sp>
      <p:grpSp>
        <p:nvGrpSpPr>
          <p:cNvPr id="31" name="object 31" descr=""/>
          <p:cNvGrpSpPr/>
          <p:nvPr/>
        </p:nvGrpSpPr>
        <p:grpSpPr>
          <a:xfrm>
            <a:off x="1567628" y="2492416"/>
            <a:ext cx="1240155" cy="941705"/>
            <a:chOff x="1567628" y="2492416"/>
            <a:chExt cx="1240155" cy="941705"/>
          </a:xfrm>
        </p:grpSpPr>
        <p:sp>
          <p:nvSpPr>
            <p:cNvPr id="32" name="object 32" descr=""/>
            <p:cNvSpPr/>
            <p:nvPr/>
          </p:nvSpPr>
          <p:spPr>
            <a:xfrm>
              <a:off x="1575565" y="2500354"/>
              <a:ext cx="1224280" cy="925830"/>
            </a:xfrm>
            <a:custGeom>
              <a:avLst/>
              <a:gdLst/>
              <a:ahLst/>
              <a:cxnLst/>
              <a:rect l="l" t="t" r="r" b="b"/>
              <a:pathLst>
                <a:path w="1224280" h="925829">
                  <a:moveTo>
                    <a:pt x="612107" y="0"/>
                  </a:moveTo>
                  <a:lnTo>
                    <a:pt x="0" y="493754"/>
                  </a:lnTo>
                  <a:lnTo>
                    <a:pt x="612107" y="925746"/>
                  </a:lnTo>
                  <a:lnTo>
                    <a:pt x="1224193" y="493754"/>
                  </a:lnTo>
                  <a:lnTo>
                    <a:pt x="612107" y="0"/>
                  </a:lnTo>
                  <a:close/>
                </a:path>
              </a:pathLst>
            </a:custGeom>
            <a:solidFill>
              <a:srgbClr val="FFFFFF"/>
            </a:solidFill>
          </p:spPr>
          <p:txBody>
            <a:bodyPr wrap="square" lIns="0" tIns="0" rIns="0" bIns="0" rtlCol="0"/>
            <a:lstStyle/>
            <a:p/>
          </p:txBody>
        </p:sp>
        <p:sp>
          <p:nvSpPr>
            <p:cNvPr id="33" name="object 33" descr=""/>
            <p:cNvSpPr/>
            <p:nvPr/>
          </p:nvSpPr>
          <p:spPr>
            <a:xfrm>
              <a:off x="1575565" y="2500354"/>
              <a:ext cx="1224280" cy="925830"/>
            </a:xfrm>
            <a:custGeom>
              <a:avLst/>
              <a:gdLst/>
              <a:ahLst/>
              <a:cxnLst/>
              <a:rect l="l" t="t" r="r" b="b"/>
              <a:pathLst>
                <a:path w="1224280" h="925829">
                  <a:moveTo>
                    <a:pt x="612107" y="0"/>
                  </a:moveTo>
                  <a:lnTo>
                    <a:pt x="0" y="493754"/>
                  </a:lnTo>
                  <a:lnTo>
                    <a:pt x="612107" y="925746"/>
                  </a:lnTo>
                  <a:lnTo>
                    <a:pt x="1224193" y="493754"/>
                  </a:lnTo>
                  <a:lnTo>
                    <a:pt x="612107" y="0"/>
                  </a:lnTo>
                  <a:close/>
                </a:path>
              </a:pathLst>
            </a:custGeom>
            <a:ln w="15628">
              <a:solidFill>
                <a:srgbClr val="000000"/>
              </a:solidFill>
            </a:ln>
          </p:spPr>
          <p:txBody>
            <a:bodyPr wrap="square" lIns="0" tIns="0" rIns="0" bIns="0" rtlCol="0"/>
            <a:lstStyle/>
            <a:p/>
          </p:txBody>
        </p:sp>
      </p:grpSp>
      <p:sp>
        <p:nvSpPr>
          <p:cNvPr id="34" name="object 34" descr=""/>
          <p:cNvSpPr txBox="1"/>
          <p:nvPr/>
        </p:nvSpPr>
        <p:spPr>
          <a:xfrm>
            <a:off x="1654748" y="2798099"/>
            <a:ext cx="1066165" cy="287020"/>
          </a:xfrm>
          <a:prstGeom prst="rect">
            <a:avLst/>
          </a:prstGeom>
        </p:spPr>
        <p:txBody>
          <a:bodyPr wrap="square" lIns="0" tIns="14605" rIns="0" bIns="0" rtlCol="0" vert="horz">
            <a:spAutoFit/>
          </a:bodyPr>
          <a:lstStyle/>
          <a:p>
            <a:pPr marL="12700">
              <a:lnSpc>
                <a:spcPct val="100000"/>
              </a:lnSpc>
              <a:spcBef>
                <a:spcPts val="115"/>
              </a:spcBef>
            </a:pPr>
            <a:r>
              <a:rPr dirty="0" sz="1700" b="1">
                <a:latin typeface="Times New Roman"/>
                <a:cs typeface="Times New Roman"/>
              </a:rPr>
              <a:t>2:</a:t>
            </a:r>
            <a:r>
              <a:rPr dirty="0" sz="1700" spc="-10" b="1">
                <a:latin typeface="Times New Roman"/>
                <a:cs typeface="Times New Roman"/>
              </a:rPr>
              <a:t> </a:t>
            </a:r>
            <a:r>
              <a:rPr dirty="0" sz="1700" b="1">
                <a:latin typeface="Times New Roman"/>
                <a:cs typeface="Times New Roman"/>
              </a:rPr>
              <a:t>A[i]</a:t>
            </a:r>
            <a:r>
              <a:rPr dirty="0" sz="1700" spc="-5" b="1">
                <a:latin typeface="Times New Roman"/>
                <a:cs typeface="Times New Roman"/>
              </a:rPr>
              <a:t> </a:t>
            </a:r>
            <a:r>
              <a:rPr dirty="0" sz="1700" b="1">
                <a:latin typeface="Times New Roman"/>
                <a:cs typeface="Times New Roman"/>
              </a:rPr>
              <a:t>=</a:t>
            </a:r>
            <a:r>
              <a:rPr dirty="0" sz="1700" spc="-5" b="1">
                <a:latin typeface="Times New Roman"/>
                <a:cs typeface="Times New Roman"/>
              </a:rPr>
              <a:t> </a:t>
            </a:r>
            <a:r>
              <a:rPr dirty="0" sz="1700" spc="-25" b="1">
                <a:latin typeface="Times New Roman"/>
                <a:cs typeface="Times New Roman"/>
              </a:rPr>
              <a:t>0?</a:t>
            </a:r>
            <a:endParaRPr sz="1700">
              <a:latin typeface="Times New Roman"/>
              <a:cs typeface="Times New Roman"/>
            </a:endParaRPr>
          </a:p>
        </p:txBody>
      </p:sp>
      <p:sp>
        <p:nvSpPr>
          <p:cNvPr id="35" name="object 35" descr=""/>
          <p:cNvSpPr txBox="1"/>
          <p:nvPr/>
        </p:nvSpPr>
        <p:spPr>
          <a:xfrm>
            <a:off x="351329" y="3919790"/>
            <a:ext cx="1224280" cy="432434"/>
          </a:xfrm>
          <a:prstGeom prst="rect">
            <a:avLst/>
          </a:prstGeom>
          <a:solidFill>
            <a:srgbClr val="FFFFFF"/>
          </a:solidFill>
          <a:ln w="15660">
            <a:solidFill>
              <a:srgbClr val="000000"/>
            </a:solidFill>
          </a:ln>
        </p:spPr>
        <p:txBody>
          <a:bodyPr wrap="square" lIns="0" tIns="65405" rIns="0" bIns="0" rtlCol="0" vert="horz">
            <a:spAutoFit/>
          </a:bodyPr>
          <a:lstStyle/>
          <a:p>
            <a:pPr marL="232410">
              <a:lnSpc>
                <a:spcPct val="100000"/>
              </a:lnSpc>
              <a:spcBef>
                <a:spcPts val="515"/>
              </a:spcBef>
            </a:pPr>
            <a:r>
              <a:rPr dirty="0" sz="1700" b="1">
                <a:latin typeface="Times New Roman"/>
                <a:cs typeface="Times New Roman"/>
              </a:rPr>
              <a:t>3:</a:t>
            </a:r>
            <a:r>
              <a:rPr dirty="0" sz="1700" spc="-15" b="1">
                <a:latin typeface="Times New Roman"/>
                <a:cs typeface="Times New Roman"/>
              </a:rPr>
              <a:t> </a:t>
            </a:r>
            <a:r>
              <a:rPr dirty="0" sz="1700" b="1">
                <a:latin typeface="Times New Roman"/>
                <a:cs typeface="Times New Roman"/>
              </a:rPr>
              <a:t>B[i]</a:t>
            </a:r>
            <a:r>
              <a:rPr dirty="0" sz="1700" spc="-10" b="1">
                <a:latin typeface="Times New Roman"/>
                <a:cs typeface="Times New Roman"/>
              </a:rPr>
              <a:t> </a:t>
            </a:r>
            <a:r>
              <a:rPr dirty="0" sz="1700" spc="-50" b="1">
                <a:latin typeface="Times New Roman"/>
                <a:cs typeface="Times New Roman"/>
              </a:rPr>
              <a:t>=</a:t>
            </a:r>
            <a:endParaRPr sz="1700">
              <a:latin typeface="Times New Roman"/>
              <a:cs typeface="Times New Roman"/>
            </a:endParaRPr>
          </a:p>
        </p:txBody>
      </p:sp>
      <p:sp>
        <p:nvSpPr>
          <p:cNvPr id="36" name="object 36" descr=""/>
          <p:cNvSpPr txBox="1"/>
          <p:nvPr/>
        </p:nvSpPr>
        <p:spPr>
          <a:xfrm>
            <a:off x="1575565" y="4968884"/>
            <a:ext cx="1224280" cy="432434"/>
          </a:xfrm>
          <a:prstGeom prst="rect">
            <a:avLst/>
          </a:prstGeom>
          <a:solidFill>
            <a:srgbClr val="FFFFFF"/>
          </a:solidFill>
          <a:ln w="15660">
            <a:solidFill>
              <a:srgbClr val="000000"/>
            </a:solidFill>
          </a:ln>
        </p:spPr>
        <p:txBody>
          <a:bodyPr wrap="square" lIns="0" tIns="65405" rIns="0" bIns="0" rtlCol="0" vert="horz">
            <a:spAutoFit/>
          </a:bodyPr>
          <a:lstStyle/>
          <a:p>
            <a:pPr marL="226695">
              <a:lnSpc>
                <a:spcPct val="100000"/>
              </a:lnSpc>
              <a:spcBef>
                <a:spcPts val="515"/>
              </a:spcBef>
            </a:pPr>
            <a:r>
              <a:rPr dirty="0" sz="1700" b="1">
                <a:latin typeface="Times New Roman"/>
                <a:cs typeface="Times New Roman"/>
              </a:rPr>
              <a:t>5:</a:t>
            </a:r>
            <a:r>
              <a:rPr dirty="0" sz="1700" spc="-10" b="1">
                <a:latin typeface="Times New Roman"/>
                <a:cs typeface="Times New Roman"/>
              </a:rPr>
              <a:t> </a:t>
            </a:r>
            <a:r>
              <a:rPr dirty="0" sz="1700" b="1">
                <a:latin typeface="Times New Roman"/>
                <a:cs typeface="Times New Roman"/>
              </a:rPr>
              <a:t>C[i]</a:t>
            </a:r>
            <a:r>
              <a:rPr dirty="0" sz="1700" spc="-5" b="1">
                <a:latin typeface="Times New Roman"/>
                <a:cs typeface="Times New Roman"/>
              </a:rPr>
              <a:t> </a:t>
            </a:r>
            <a:r>
              <a:rPr dirty="0" sz="1700" spc="-50" b="1">
                <a:latin typeface="Times New Roman"/>
                <a:cs typeface="Times New Roman"/>
              </a:rPr>
              <a:t>=</a:t>
            </a:r>
            <a:endParaRPr sz="1700">
              <a:latin typeface="Times New Roman"/>
              <a:cs typeface="Times New Roman"/>
            </a:endParaRPr>
          </a:p>
        </p:txBody>
      </p:sp>
      <p:sp>
        <p:nvSpPr>
          <p:cNvPr id="37" name="object 37" descr=""/>
          <p:cNvSpPr txBox="1"/>
          <p:nvPr/>
        </p:nvSpPr>
        <p:spPr>
          <a:xfrm>
            <a:off x="2799759" y="3919790"/>
            <a:ext cx="1224280" cy="432434"/>
          </a:xfrm>
          <a:prstGeom prst="rect">
            <a:avLst/>
          </a:prstGeom>
          <a:ln w="15660">
            <a:solidFill>
              <a:srgbClr val="000000"/>
            </a:solidFill>
          </a:ln>
        </p:spPr>
        <p:txBody>
          <a:bodyPr wrap="square" lIns="0" tIns="65405" rIns="0" bIns="0" rtlCol="0" vert="horz">
            <a:spAutoFit/>
          </a:bodyPr>
          <a:lstStyle/>
          <a:p>
            <a:pPr algn="ctr">
              <a:lnSpc>
                <a:spcPct val="100000"/>
              </a:lnSpc>
              <a:spcBef>
                <a:spcPts val="515"/>
              </a:spcBef>
            </a:pPr>
            <a:r>
              <a:rPr dirty="0" sz="1700" b="1">
                <a:latin typeface="Times New Roman"/>
                <a:cs typeface="Times New Roman"/>
              </a:rPr>
              <a:t>4: </a:t>
            </a:r>
            <a:r>
              <a:rPr dirty="0" sz="1700" spc="-50" b="1">
                <a:latin typeface="Times New Roman"/>
                <a:cs typeface="Times New Roman"/>
              </a:rPr>
              <a:t>X</a:t>
            </a:r>
            <a:endParaRPr sz="1700">
              <a:latin typeface="Times New Roman"/>
              <a:cs typeface="Times New Roman"/>
            </a:endParaRPr>
          </a:p>
        </p:txBody>
      </p:sp>
      <p:grpSp>
        <p:nvGrpSpPr>
          <p:cNvPr id="38" name="object 38" descr=""/>
          <p:cNvGrpSpPr/>
          <p:nvPr/>
        </p:nvGrpSpPr>
        <p:grpSpPr>
          <a:xfrm>
            <a:off x="955607" y="2006817"/>
            <a:ext cx="2488565" cy="2962275"/>
            <a:chOff x="955607" y="2006817"/>
            <a:chExt cx="2488565" cy="2962275"/>
          </a:xfrm>
        </p:grpSpPr>
        <p:sp>
          <p:nvSpPr>
            <p:cNvPr id="39" name="object 39" descr=""/>
            <p:cNvSpPr/>
            <p:nvPr/>
          </p:nvSpPr>
          <p:spPr>
            <a:xfrm>
              <a:off x="2187673" y="2006817"/>
              <a:ext cx="0" cy="393065"/>
            </a:xfrm>
            <a:custGeom>
              <a:avLst/>
              <a:gdLst/>
              <a:ahLst/>
              <a:cxnLst/>
              <a:rect l="l" t="t" r="r" b="b"/>
              <a:pathLst>
                <a:path w="0" h="393064">
                  <a:moveTo>
                    <a:pt x="0" y="0"/>
                  </a:moveTo>
                  <a:lnTo>
                    <a:pt x="0" y="392957"/>
                  </a:lnTo>
                </a:path>
              </a:pathLst>
            </a:custGeom>
            <a:ln w="5182">
              <a:solidFill>
                <a:srgbClr val="000000"/>
              </a:solidFill>
            </a:ln>
          </p:spPr>
          <p:txBody>
            <a:bodyPr wrap="square" lIns="0" tIns="0" rIns="0" bIns="0" rtlCol="0"/>
            <a:lstStyle/>
            <a:p/>
          </p:txBody>
        </p:sp>
        <p:sp>
          <p:nvSpPr>
            <p:cNvPr id="40" name="object 40" descr=""/>
            <p:cNvSpPr/>
            <p:nvPr/>
          </p:nvSpPr>
          <p:spPr>
            <a:xfrm>
              <a:off x="2151395" y="2390631"/>
              <a:ext cx="73025" cy="109855"/>
            </a:xfrm>
            <a:custGeom>
              <a:avLst/>
              <a:gdLst/>
              <a:ahLst/>
              <a:cxnLst/>
              <a:rect l="l" t="t" r="r" b="b"/>
              <a:pathLst>
                <a:path w="73025" h="109855">
                  <a:moveTo>
                    <a:pt x="72556" y="0"/>
                  </a:moveTo>
                  <a:lnTo>
                    <a:pt x="0" y="0"/>
                  </a:lnTo>
                  <a:lnTo>
                    <a:pt x="36278" y="109723"/>
                  </a:lnTo>
                  <a:lnTo>
                    <a:pt x="72556" y="0"/>
                  </a:lnTo>
                  <a:close/>
                </a:path>
              </a:pathLst>
            </a:custGeom>
            <a:solidFill>
              <a:srgbClr val="000000"/>
            </a:solidFill>
          </p:spPr>
          <p:txBody>
            <a:bodyPr wrap="square" lIns="0" tIns="0" rIns="0" bIns="0" rtlCol="0"/>
            <a:lstStyle/>
            <a:p/>
          </p:txBody>
        </p:sp>
        <p:sp>
          <p:nvSpPr>
            <p:cNvPr id="41" name="object 41" descr=""/>
            <p:cNvSpPr/>
            <p:nvPr/>
          </p:nvSpPr>
          <p:spPr>
            <a:xfrm>
              <a:off x="1097342" y="2994109"/>
              <a:ext cx="478790" cy="825500"/>
            </a:xfrm>
            <a:custGeom>
              <a:avLst/>
              <a:gdLst/>
              <a:ahLst/>
              <a:cxnLst/>
              <a:rect l="l" t="t" r="r" b="b"/>
              <a:pathLst>
                <a:path w="478790" h="825500">
                  <a:moveTo>
                    <a:pt x="478223" y="0"/>
                  </a:moveTo>
                  <a:lnTo>
                    <a:pt x="0" y="0"/>
                  </a:lnTo>
                  <a:lnTo>
                    <a:pt x="0" y="825101"/>
                  </a:lnTo>
                </a:path>
              </a:pathLst>
            </a:custGeom>
            <a:ln w="5193">
              <a:solidFill>
                <a:srgbClr val="000000"/>
              </a:solidFill>
            </a:ln>
          </p:spPr>
          <p:txBody>
            <a:bodyPr wrap="square" lIns="0" tIns="0" rIns="0" bIns="0" rtlCol="0"/>
            <a:lstStyle/>
            <a:p/>
          </p:txBody>
        </p:sp>
        <p:sp>
          <p:nvSpPr>
            <p:cNvPr id="42" name="object 42" descr=""/>
            <p:cNvSpPr/>
            <p:nvPr/>
          </p:nvSpPr>
          <p:spPr>
            <a:xfrm>
              <a:off x="1061063" y="3810067"/>
              <a:ext cx="73025" cy="109855"/>
            </a:xfrm>
            <a:custGeom>
              <a:avLst/>
              <a:gdLst/>
              <a:ahLst/>
              <a:cxnLst/>
              <a:rect l="l" t="t" r="r" b="b"/>
              <a:pathLst>
                <a:path w="73025" h="109854">
                  <a:moveTo>
                    <a:pt x="72556" y="0"/>
                  </a:moveTo>
                  <a:lnTo>
                    <a:pt x="0" y="0"/>
                  </a:lnTo>
                  <a:lnTo>
                    <a:pt x="36278" y="109723"/>
                  </a:lnTo>
                  <a:lnTo>
                    <a:pt x="72556" y="0"/>
                  </a:lnTo>
                  <a:close/>
                </a:path>
              </a:pathLst>
            </a:custGeom>
            <a:solidFill>
              <a:srgbClr val="000000"/>
            </a:solidFill>
          </p:spPr>
          <p:txBody>
            <a:bodyPr wrap="square" lIns="0" tIns="0" rIns="0" bIns="0" rtlCol="0"/>
            <a:lstStyle/>
            <a:p/>
          </p:txBody>
        </p:sp>
        <p:sp>
          <p:nvSpPr>
            <p:cNvPr id="43" name="object 43" descr=""/>
            <p:cNvSpPr/>
            <p:nvPr/>
          </p:nvSpPr>
          <p:spPr>
            <a:xfrm>
              <a:off x="2799759" y="2994109"/>
              <a:ext cx="607695" cy="825500"/>
            </a:xfrm>
            <a:custGeom>
              <a:avLst/>
              <a:gdLst/>
              <a:ahLst/>
              <a:cxnLst/>
              <a:rect l="l" t="t" r="r" b="b"/>
              <a:pathLst>
                <a:path w="607695" h="825500">
                  <a:moveTo>
                    <a:pt x="0" y="0"/>
                  </a:moveTo>
                  <a:lnTo>
                    <a:pt x="607659" y="0"/>
                  </a:lnTo>
                  <a:lnTo>
                    <a:pt x="607659" y="825101"/>
                  </a:lnTo>
                </a:path>
              </a:pathLst>
            </a:custGeom>
            <a:ln w="5197">
              <a:solidFill>
                <a:srgbClr val="000000"/>
              </a:solidFill>
            </a:ln>
          </p:spPr>
          <p:txBody>
            <a:bodyPr wrap="square" lIns="0" tIns="0" rIns="0" bIns="0" rtlCol="0"/>
            <a:lstStyle/>
            <a:p/>
          </p:txBody>
        </p:sp>
        <p:sp>
          <p:nvSpPr>
            <p:cNvPr id="44" name="object 44" descr=""/>
            <p:cNvSpPr/>
            <p:nvPr/>
          </p:nvSpPr>
          <p:spPr>
            <a:xfrm>
              <a:off x="3371140" y="3810067"/>
              <a:ext cx="73025" cy="109855"/>
            </a:xfrm>
            <a:custGeom>
              <a:avLst/>
              <a:gdLst/>
              <a:ahLst/>
              <a:cxnLst/>
              <a:rect l="l" t="t" r="r" b="b"/>
              <a:pathLst>
                <a:path w="73025" h="109854">
                  <a:moveTo>
                    <a:pt x="72556" y="0"/>
                  </a:moveTo>
                  <a:lnTo>
                    <a:pt x="0" y="0"/>
                  </a:lnTo>
                  <a:lnTo>
                    <a:pt x="36278" y="109723"/>
                  </a:lnTo>
                  <a:lnTo>
                    <a:pt x="72556" y="0"/>
                  </a:lnTo>
                  <a:close/>
                </a:path>
              </a:pathLst>
            </a:custGeom>
            <a:solidFill>
              <a:srgbClr val="000000"/>
            </a:solidFill>
          </p:spPr>
          <p:txBody>
            <a:bodyPr wrap="square" lIns="0" tIns="0" rIns="0" bIns="0" rtlCol="0"/>
            <a:lstStyle/>
            <a:p/>
          </p:txBody>
        </p:sp>
        <p:sp>
          <p:nvSpPr>
            <p:cNvPr id="45" name="object 45" descr=""/>
            <p:cNvSpPr/>
            <p:nvPr/>
          </p:nvSpPr>
          <p:spPr>
            <a:xfrm>
              <a:off x="963436" y="4351782"/>
              <a:ext cx="1224280" cy="488315"/>
            </a:xfrm>
            <a:custGeom>
              <a:avLst/>
              <a:gdLst/>
              <a:ahLst/>
              <a:cxnLst/>
              <a:rect l="l" t="t" r="r" b="b"/>
              <a:pathLst>
                <a:path w="1224280" h="488314">
                  <a:moveTo>
                    <a:pt x="0" y="0"/>
                  </a:moveTo>
                  <a:lnTo>
                    <a:pt x="0" y="308553"/>
                  </a:lnTo>
                  <a:lnTo>
                    <a:pt x="1224236" y="308553"/>
                  </a:lnTo>
                  <a:lnTo>
                    <a:pt x="1224236" y="487789"/>
                  </a:lnTo>
                </a:path>
              </a:pathLst>
            </a:custGeom>
            <a:ln w="15657">
              <a:solidFill>
                <a:srgbClr val="000000"/>
              </a:solidFill>
            </a:ln>
          </p:spPr>
          <p:txBody>
            <a:bodyPr wrap="square" lIns="0" tIns="0" rIns="0" bIns="0" rtlCol="0"/>
            <a:lstStyle/>
            <a:p/>
          </p:txBody>
        </p:sp>
        <p:sp>
          <p:nvSpPr>
            <p:cNvPr id="46" name="object 46" descr=""/>
            <p:cNvSpPr/>
            <p:nvPr/>
          </p:nvSpPr>
          <p:spPr>
            <a:xfrm>
              <a:off x="2141030" y="4827816"/>
              <a:ext cx="93345" cy="141605"/>
            </a:xfrm>
            <a:custGeom>
              <a:avLst/>
              <a:gdLst/>
              <a:ahLst/>
              <a:cxnLst/>
              <a:rect l="l" t="t" r="r" b="b"/>
              <a:pathLst>
                <a:path w="93344" h="141604">
                  <a:moveTo>
                    <a:pt x="93286" y="0"/>
                  </a:moveTo>
                  <a:lnTo>
                    <a:pt x="0" y="0"/>
                  </a:lnTo>
                  <a:lnTo>
                    <a:pt x="46643" y="141072"/>
                  </a:lnTo>
                  <a:lnTo>
                    <a:pt x="93286" y="0"/>
                  </a:lnTo>
                  <a:close/>
                </a:path>
              </a:pathLst>
            </a:custGeom>
            <a:solidFill>
              <a:srgbClr val="000000"/>
            </a:solidFill>
          </p:spPr>
          <p:txBody>
            <a:bodyPr wrap="square" lIns="0" tIns="0" rIns="0" bIns="0" rtlCol="0"/>
            <a:lstStyle/>
            <a:p/>
          </p:txBody>
        </p:sp>
        <p:sp>
          <p:nvSpPr>
            <p:cNvPr id="47" name="object 47" descr=""/>
            <p:cNvSpPr/>
            <p:nvPr/>
          </p:nvSpPr>
          <p:spPr>
            <a:xfrm>
              <a:off x="2187673" y="4351782"/>
              <a:ext cx="1224280" cy="488315"/>
            </a:xfrm>
            <a:custGeom>
              <a:avLst/>
              <a:gdLst/>
              <a:ahLst/>
              <a:cxnLst/>
              <a:rect l="l" t="t" r="r" b="b"/>
              <a:pathLst>
                <a:path w="1224279" h="488314">
                  <a:moveTo>
                    <a:pt x="1224280" y="0"/>
                  </a:moveTo>
                  <a:lnTo>
                    <a:pt x="1224280" y="308553"/>
                  </a:lnTo>
                  <a:lnTo>
                    <a:pt x="0" y="308553"/>
                  </a:lnTo>
                  <a:lnTo>
                    <a:pt x="0" y="487789"/>
                  </a:lnTo>
                </a:path>
              </a:pathLst>
            </a:custGeom>
            <a:ln w="15657">
              <a:solidFill>
                <a:srgbClr val="000000"/>
              </a:solidFill>
            </a:ln>
          </p:spPr>
          <p:txBody>
            <a:bodyPr wrap="square" lIns="0" tIns="0" rIns="0" bIns="0" rtlCol="0"/>
            <a:lstStyle/>
            <a:p/>
          </p:txBody>
        </p:sp>
        <p:sp>
          <p:nvSpPr>
            <p:cNvPr id="48" name="object 48" descr=""/>
            <p:cNvSpPr/>
            <p:nvPr/>
          </p:nvSpPr>
          <p:spPr>
            <a:xfrm>
              <a:off x="2141030" y="4827816"/>
              <a:ext cx="93345" cy="141605"/>
            </a:xfrm>
            <a:custGeom>
              <a:avLst/>
              <a:gdLst/>
              <a:ahLst/>
              <a:cxnLst/>
              <a:rect l="l" t="t" r="r" b="b"/>
              <a:pathLst>
                <a:path w="93344" h="141604">
                  <a:moveTo>
                    <a:pt x="93286" y="0"/>
                  </a:moveTo>
                  <a:lnTo>
                    <a:pt x="0" y="0"/>
                  </a:lnTo>
                  <a:lnTo>
                    <a:pt x="46643" y="141072"/>
                  </a:lnTo>
                  <a:lnTo>
                    <a:pt x="93286" y="0"/>
                  </a:lnTo>
                  <a:close/>
                </a:path>
              </a:pathLst>
            </a:custGeom>
            <a:solidFill>
              <a:srgbClr val="000000"/>
            </a:solidFill>
          </p:spPr>
          <p:txBody>
            <a:bodyPr wrap="square" lIns="0" tIns="0" rIns="0" bIns="0" rtlCol="0"/>
            <a:lstStyle/>
            <a:p/>
          </p:txBody>
        </p:sp>
      </p:grpSp>
      <p:sp>
        <p:nvSpPr>
          <p:cNvPr id="49" name="object 49" descr=""/>
          <p:cNvSpPr txBox="1"/>
          <p:nvPr/>
        </p:nvSpPr>
        <p:spPr>
          <a:xfrm>
            <a:off x="1028972" y="2643964"/>
            <a:ext cx="481330" cy="287020"/>
          </a:xfrm>
          <a:prstGeom prst="rect">
            <a:avLst/>
          </a:prstGeom>
        </p:spPr>
        <p:txBody>
          <a:bodyPr wrap="square" lIns="0" tIns="14605" rIns="0" bIns="0" rtlCol="0" vert="horz">
            <a:spAutoFit/>
          </a:bodyPr>
          <a:lstStyle/>
          <a:p>
            <a:pPr marL="12700">
              <a:lnSpc>
                <a:spcPct val="100000"/>
              </a:lnSpc>
              <a:spcBef>
                <a:spcPts val="115"/>
              </a:spcBef>
            </a:pPr>
            <a:r>
              <a:rPr dirty="0" sz="1700" spc="-20" b="1">
                <a:latin typeface="Times New Roman"/>
                <a:cs typeface="Times New Roman"/>
              </a:rPr>
              <a:t>True</a:t>
            </a:r>
            <a:endParaRPr sz="1700">
              <a:latin typeface="Times New Roman"/>
              <a:cs typeface="Times New Roman"/>
            </a:endParaRPr>
          </a:p>
        </p:txBody>
      </p:sp>
      <p:sp>
        <p:nvSpPr>
          <p:cNvPr id="50" name="object 50" descr=""/>
          <p:cNvSpPr txBox="1"/>
          <p:nvPr/>
        </p:nvSpPr>
        <p:spPr>
          <a:xfrm>
            <a:off x="2975792" y="2643964"/>
            <a:ext cx="505459" cy="287020"/>
          </a:xfrm>
          <a:prstGeom prst="rect">
            <a:avLst/>
          </a:prstGeom>
        </p:spPr>
        <p:txBody>
          <a:bodyPr wrap="square" lIns="0" tIns="14605" rIns="0" bIns="0" rtlCol="0" vert="horz">
            <a:spAutoFit/>
          </a:bodyPr>
          <a:lstStyle/>
          <a:p>
            <a:pPr marL="12700">
              <a:lnSpc>
                <a:spcPct val="100000"/>
              </a:lnSpc>
              <a:spcBef>
                <a:spcPts val="115"/>
              </a:spcBef>
            </a:pPr>
            <a:r>
              <a:rPr dirty="0" sz="1700" spc="-10" b="1">
                <a:latin typeface="Times New Roman"/>
                <a:cs typeface="Times New Roman"/>
              </a:rPr>
              <a:t>False</a:t>
            </a:r>
            <a:endParaRPr sz="1700">
              <a:latin typeface="Times New Roman"/>
              <a:cs typeface="Times New Roman"/>
            </a:endParaRPr>
          </a:p>
        </p:txBody>
      </p:sp>
      <p:sp>
        <p:nvSpPr>
          <p:cNvPr id="51" name="object 51" descr=""/>
          <p:cNvSpPr txBox="1"/>
          <p:nvPr/>
        </p:nvSpPr>
        <p:spPr>
          <a:xfrm>
            <a:off x="2594007" y="3567817"/>
            <a:ext cx="794385" cy="287020"/>
          </a:xfrm>
          <a:prstGeom prst="rect">
            <a:avLst/>
          </a:prstGeom>
        </p:spPr>
        <p:txBody>
          <a:bodyPr wrap="square" lIns="0" tIns="14605" rIns="0" bIns="0" rtlCol="0" vert="horz">
            <a:spAutoFit/>
          </a:bodyPr>
          <a:lstStyle/>
          <a:p>
            <a:pPr marL="12700">
              <a:lnSpc>
                <a:spcPct val="100000"/>
              </a:lnSpc>
              <a:spcBef>
                <a:spcPts val="115"/>
              </a:spcBef>
            </a:pPr>
            <a:r>
              <a:rPr dirty="0" sz="1700" spc="-10" b="1">
                <a:latin typeface="Times New Roman"/>
                <a:cs typeface="Times New Roman"/>
              </a:rPr>
              <a:t>else</a:t>
            </a:r>
            <a:r>
              <a:rPr dirty="0" sz="1700" spc="-25">
                <a:latin typeface="宋体"/>
                <a:cs typeface="宋体"/>
              </a:rPr>
              <a:t>部分</a:t>
            </a:r>
            <a:endParaRPr sz="1700">
              <a:latin typeface="宋体"/>
              <a:cs typeface="宋体"/>
            </a:endParaRPr>
          </a:p>
        </p:txBody>
      </p:sp>
      <p:sp>
        <p:nvSpPr>
          <p:cNvPr id="52" name="object 52" descr=""/>
          <p:cNvSpPr txBox="1"/>
          <p:nvPr/>
        </p:nvSpPr>
        <p:spPr>
          <a:xfrm>
            <a:off x="1172357" y="3538688"/>
            <a:ext cx="938530" cy="287020"/>
          </a:xfrm>
          <a:prstGeom prst="rect">
            <a:avLst/>
          </a:prstGeom>
        </p:spPr>
        <p:txBody>
          <a:bodyPr wrap="square" lIns="0" tIns="14605" rIns="0" bIns="0" rtlCol="0" vert="horz">
            <a:spAutoFit/>
          </a:bodyPr>
          <a:lstStyle/>
          <a:p>
            <a:pPr marL="12700">
              <a:lnSpc>
                <a:spcPct val="100000"/>
              </a:lnSpc>
              <a:spcBef>
                <a:spcPts val="115"/>
              </a:spcBef>
            </a:pPr>
            <a:r>
              <a:rPr dirty="0" sz="1700" spc="-10" b="1">
                <a:latin typeface="Times New Roman"/>
                <a:cs typeface="Times New Roman"/>
              </a:rPr>
              <a:t>Then</a:t>
            </a:r>
            <a:r>
              <a:rPr dirty="0" sz="1700" spc="-25">
                <a:latin typeface="宋体"/>
                <a:cs typeface="宋体"/>
              </a:rPr>
              <a:t>部分</a:t>
            </a:r>
            <a:endParaRPr sz="1700">
              <a:latin typeface="宋体"/>
              <a:cs typeface="宋体"/>
            </a:endParaRPr>
          </a:p>
        </p:txBody>
      </p:sp>
      <p:grpSp>
        <p:nvGrpSpPr>
          <p:cNvPr id="53" name="object 53" descr=""/>
          <p:cNvGrpSpPr/>
          <p:nvPr/>
        </p:nvGrpSpPr>
        <p:grpSpPr>
          <a:xfrm>
            <a:off x="3859212" y="3495611"/>
            <a:ext cx="586105" cy="298450"/>
            <a:chOff x="3859212" y="3495611"/>
            <a:chExt cx="586105" cy="298450"/>
          </a:xfrm>
        </p:grpSpPr>
        <p:sp>
          <p:nvSpPr>
            <p:cNvPr id="54" name="object 54" descr=""/>
            <p:cNvSpPr/>
            <p:nvPr/>
          </p:nvSpPr>
          <p:spPr>
            <a:xfrm>
              <a:off x="3863975" y="3500373"/>
              <a:ext cx="576580" cy="288925"/>
            </a:xfrm>
            <a:custGeom>
              <a:avLst/>
              <a:gdLst/>
              <a:ahLst/>
              <a:cxnLst/>
              <a:rect l="l" t="t" r="r" b="b"/>
              <a:pathLst>
                <a:path w="576579" h="288925">
                  <a:moveTo>
                    <a:pt x="432180" y="0"/>
                  </a:moveTo>
                  <a:lnTo>
                    <a:pt x="432180" y="72262"/>
                  </a:lnTo>
                  <a:lnTo>
                    <a:pt x="0" y="72262"/>
                  </a:lnTo>
                  <a:lnTo>
                    <a:pt x="0" y="216788"/>
                  </a:lnTo>
                  <a:lnTo>
                    <a:pt x="432180" y="216788"/>
                  </a:lnTo>
                  <a:lnTo>
                    <a:pt x="432180" y="288925"/>
                  </a:lnTo>
                  <a:lnTo>
                    <a:pt x="576326" y="144525"/>
                  </a:lnTo>
                  <a:lnTo>
                    <a:pt x="432180" y="0"/>
                  </a:lnTo>
                  <a:close/>
                </a:path>
              </a:pathLst>
            </a:custGeom>
            <a:solidFill>
              <a:srgbClr val="EBD782"/>
            </a:solidFill>
          </p:spPr>
          <p:txBody>
            <a:bodyPr wrap="square" lIns="0" tIns="0" rIns="0" bIns="0" rtlCol="0"/>
            <a:lstStyle/>
            <a:p/>
          </p:txBody>
        </p:sp>
        <p:sp>
          <p:nvSpPr>
            <p:cNvPr id="55" name="object 55" descr=""/>
            <p:cNvSpPr/>
            <p:nvPr/>
          </p:nvSpPr>
          <p:spPr>
            <a:xfrm>
              <a:off x="3863975" y="3500373"/>
              <a:ext cx="576580" cy="288925"/>
            </a:xfrm>
            <a:custGeom>
              <a:avLst/>
              <a:gdLst/>
              <a:ahLst/>
              <a:cxnLst/>
              <a:rect l="l" t="t" r="r" b="b"/>
              <a:pathLst>
                <a:path w="576579" h="288925">
                  <a:moveTo>
                    <a:pt x="0" y="72262"/>
                  </a:moveTo>
                  <a:lnTo>
                    <a:pt x="432180" y="72262"/>
                  </a:lnTo>
                  <a:lnTo>
                    <a:pt x="432180" y="0"/>
                  </a:lnTo>
                  <a:lnTo>
                    <a:pt x="576326" y="144525"/>
                  </a:lnTo>
                  <a:lnTo>
                    <a:pt x="432180" y="288925"/>
                  </a:lnTo>
                  <a:lnTo>
                    <a:pt x="432180" y="216788"/>
                  </a:lnTo>
                  <a:lnTo>
                    <a:pt x="0" y="216788"/>
                  </a:lnTo>
                  <a:lnTo>
                    <a:pt x="0" y="72262"/>
                  </a:lnTo>
                  <a:close/>
                </a:path>
              </a:pathLst>
            </a:custGeom>
            <a:ln w="9525">
              <a:solidFill>
                <a:srgbClr val="40458B"/>
              </a:solidFill>
            </a:ln>
          </p:spPr>
          <p:txBody>
            <a:bodyPr wrap="square" lIns="0" tIns="0" rIns="0" bIns="0" rtlCol="0"/>
            <a:lstStyle/>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30/89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18796" y="3029458"/>
            <a:ext cx="1604010" cy="299720"/>
          </a:xfrm>
          <a:prstGeom prst="rect">
            <a:avLst/>
          </a:prstGeom>
        </p:spPr>
        <p:txBody>
          <a:bodyPr wrap="square" lIns="0" tIns="12700" rIns="0" bIns="0" rtlCol="0" vert="horz">
            <a:spAutoFit/>
          </a:bodyPr>
          <a:lstStyle/>
          <a:p>
            <a:pPr marL="467995" indent="-455295">
              <a:lnSpc>
                <a:spcPct val="100000"/>
              </a:lnSpc>
              <a:spcBef>
                <a:spcPts val="100"/>
              </a:spcBef>
              <a:buClr>
                <a:srgbClr val="40458B"/>
              </a:buClr>
              <a:buSzPct val="88888"/>
              <a:buFont typeface="Wingdings"/>
              <a:buChar char=""/>
              <a:tabLst>
                <a:tab pos="467995" algn="l"/>
              </a:tabLst>
            </a:pPr>
            <a:r>
              <a:rPr dirty="0" sz="1800" spc="-10" b="1">
                <a:solidFill>
                  <a:srgbClr val="0000CC"/>
                </a:solidFill>
                <a:latin typeface="黑体"/>
                <a:cs typeface="黑体"/>
              </a:rPr>
              <a:t>调度指令</a:t>
            </a:r>
            <a:r>
              <a:rPr dirty="0" sz="1800" spc="-25" b="1">
                <a:solidFill>
                  <a:srgbClr val="0000CC"/>
                </a:solidFill>
                <a:latin typeface="Times New Roman"/>
                <a:cs typeface="Times New Roman"/>
              </a:rPr>
              <a:t>I1</a:t>
            </a:r>
            <a:endParaRPr sz="1800">
              <a:latin typeface="Times New Roman"/>
              <a:cs typeface="Times New Roman"/>
            </a:endParaRPr>
          </a:p>
        </p:txBody>
      </p:sp>
      <p:sp>
        <p:nvSpPr>
          <p:cNvPr id="10" name="object 10" descr=""/>
          <p:cNvSpPr txBox="1"/>
          <p:nvPr/>
        </p:nvSpPr>
        <p:spPr>
          <a:xfrm>
            <a:off x="189992" y="3358641"/>
            <a:ext cx="4469765" cy="1343025"/>
          </a:xfrm>
          <a:prstGeom prst="rect">
            <a:avLst/>
          </a:prstGeom>
        </p:spPr>
        <p:txBody>
          <a:bodyPr wrap="square" lIns="0" tIns="12700" rIns="0" bIns="0" rtlCol="0" vert="horz">
            <a:spAutoFit/>
          </a:bodyPr>
          <a:lstStyle/>
          <a:p>
            <a:pPr marL="467995" marR="5080" indent="-455930">
              <a:lnSpc>
                <a:spcPct val="110000"/>
              </a:lnSpc>
              <a:spcBef>
                <a:spcPts val="100"/>
              </a:spcBef>
              <a:buClr>
                <a:srgbClr val="4668F5"/>
              </a:buClr>
              <a:buSzPct val="58333"/>
              <a:buFont typeface="Wingdings"/>
              <a:buChar char=""/>
              <a:tabLst>
                <a:tab pos="467995" algn="l"/>
              </a:tabLst>
            </a:pPr>
            <a:r>
              <a:rPr dirty="0" sz="1800">
                <a:solidFill>
                  <a:srgbClr val="FF09FF"/>
                </a:solidFill>
                <a:latin typeface="微软雅黑"/>
                <a:cs typeface="微软雅黑"/>
              </a:rPr>
              <a:t>直接将</a:t>
            </a:r>
            <a:r>
              <a:rPr dirty="0" sz="1800" spc="-10">
                <a:solidFill>
                  <a:srgbClr val="6600FF"/>
                </a:solidFill>
                <a:latin typeface="Times New Roman"/>
                <a:cs typeface="Times New Roman"/>
              </a:rPr>
              <a:t>I1</a:t>
            </a:r>
            <a:r>
              <a:rPr dirty="0" sz="1800">
                <a:solidFill>
                  <a:srgbClr val="FF5CFF"/>
                </a:solidFill>
                <a:latin typeface="微软雅黑"/>
                <a:cs typeface="微软雅黑"/>
              </a:rPr>
              <a:t>移到</a:t>
            </a:r>
            <a:r>
              <a:rPr dirty="0" sz="1800" spc="-20">
                <a:solidFill>
                  <a:srgbClr val="6600FF"/>
                </a:solidFill>
                <a:latin typeface="Times New Roman"/>
                <a:cs typeface="Times New Roman"/>
              </a:rPr>
              <a:t>BEQZ</a:t>
            </a:r>
            <a:r>
              <a:rPr dirty="0" sz="1800" spc="-10">
                <a:solidFill>
                  <a:srgbClr val="FF5CFF"/>
                </a:solidFill>
                <a:latin typeface="微软雅黑"/>
                <a:cs typeface="微软雅黑"/>
              </a:rPr>
              <a:t>前是否会产生错误结</a:t>
            </a:r>
            <a:r>
              <a:rPr dirty="0" sz="1800" spc="-25">
                <a:solidFill>
                  <a:srgbClr val="FF5CFF"/>
                </a:solidFill>
                <a:latin typeface="微软雅黑"/>
                <a:cs typeface="微软雅黑"/>
              </a:rPr>
              <a:t>果？</a:t>
            </a:r>
            <a:endParaRPr sz="1800">
              <a:latin typeface="微软雅黑"/>
              <a:cs typeface="微软雅黑"/>
            </a:endParaRPr>
          </a:p>
          <a:p>
            <a:pPr marL="467995" indent="-455295">
              <a:lnSpc>
                <a:spcPct val="100000"/>
              </a:lnSpc>
              <a:spcBef>
                <a:spcPts val="650"/>
              </a:spcBef>
              <a:buClr>
                <a:srgbClr val="4668F5"/>
              </a:buClr>
              <a:buSzPct val="58333"/>
              <a:buFont typeface="Wingdings"/>
              <a:buChar char=""/>
              <a:tabLst>
                <a:tab pos="467995" algn="l"/>
              </a:tabLst>
            </a:pPr>
            <a:r>
              <a:rPr dirty="0" sz="1800">
                <a:solidFill>
                  <a:srgbClr val="FF5CFF"/>
                </a:solidFill>
                <a:latin typeface="微软雅黑"/>
                <a:cs typeface="微软雅黑"/>
              </a:rPr>
              <a:t>向基本块</a:t>
            </a:r>
            <a:r>
              <a:rPr dirty="0" sz="1800" spc="-10">
                <a:solidFill>
                  <a:srgbClr val="6600FF"/>
                </a:solidFill>
                <a:latin typeface="Times New Roman"/>
                <a:cs typeface="Times New Roman"/>
              </a:rPr>
              <a:t>elsepart</a:t>
            </a:r>
            <a:r>
              <a:rPr dirty="0" sz="1800">
                <a:solidFill>
                  <a:srgbClr val="FF5CFF"/>
                </a:solidFill>
                <a:latin typeface="微软雅黑"/>
                <a:cs typeface="微软雅黑"/>
              </a:rPr>
              <a:t>中增加</a:t>
            </a:r>
            <a:r>
              <a:rPr dirty="0" sz="1800" spc="-15">
                <a:solidFill>
                  <a:srgbClr val="D50092"/>
                </a:solidFill>
                <a:latin typeface="微软雅黑"/>
                <a:cs typeface="微软雅黑"/>
              </a:rPr>
              <a:t>补偿代码</a:t>
            </a:r>
            <a:endParaRPr sz="1800">
              <a:latin typeface="微软雅黑"/>
              <a:cs typeface="微软雅黑"/>
            </a:endParaRPr>
          </a:p>
          <a:p>
            <a:pPr marL="467995" indent="-455295">
              <a:lnSpc>
                <a:spcPct val="100000"/>
              </a:lnSpc>
              <a:spcBef>
                <a:spcPts val="650"/>
              </a:spcBef>
              <a:buClr>
                <a:srgbClr val="4668F5"/>
              </a:buClr>
              <a:buSzPct val="58333"/>
              <a:buFont typeface="Wingdings"/>
              <a:buChar char=""/>
              <a:tabLst>
                <a:tab pos="467995" algn="l"/>
              </a:tabLst>
            </a:pPr>
            <a:r>
              <a:rPr dirty="0" sz="1800" spc="-5">
                <a:solidFill>
                  <a:srgbClr val="080808"/>
                </a:solidFill>
                <a:latin typeface="微软雅黑"/>
                <a:cs typeface="微软雅黑"/>
              </a:rPr>
              <a:t>补偿代码有可能带来额外时间开销</a:t>
            </a:r>
            <a:endParaRPr sz="1800">
              <a:latin typeface="微软雅黑"/>
              <a:cs typeface="微软雅黑"/>
            </a:endParaRPr>
          </a:p>
        </p:txBody>
      </p:sp>
      <p:sp>
        <p:nvSpPr>
          <p:cNvPr id="11" name="object 11" descr=""/>
          <p:cNvSpPr txBox="1"/>
          <p:nvPr/>
        </p:nvSpPr>
        <p:spPr>
          <a:xfrm>
            <a:off x="-18796" y="4758054"/>
            <a:ext cx="1586230" cy="299720"/>
          </a:xfrm>
          <a:prstGeom prst="rect">
            <a:avLst/>
          </a:prstGeom>
        </p:spPr>
        <p:txBody>
          <a:bodyPr wrap="square" lIns="0" tIns="12700" rIns="0" bIns="0" rtlCol="0" vert="horz">
            <a:spAutoFit/>
          </a:bodyPr>
          <a:lstStyle/>
          <a:p>
            <a:pPr marL="467995" indent="-455295">
              <a:lnSpc>
                <a:spcPct val="100000"/>
              </a:lnSpc>
              <a:spcBef>
                <a:spcPts val="100"/>
              </a:spcBef>
              <a:buClr>
                <a:srgbClr val="40458B"/>
              </a:buClr>
              <a:buSzPct val="88888"/>
              <a:buFont typeface="Wingdings"/>
              <a:buChar char=""/>
              <a:tabLst>
                <a:tab pos="467995" algn="l"/>
              </a:tabLst>
            </a:pPr>
            <a:r>
              <a:rPr dirty="0" sz="1800">
                <a:solidFill>
                  <a:srgbClr val="0000CC"/>
                </a:solidFill>
                <a:latin typeface="黑体"/>
                <a:cs typeface="黑体"/>
              </a:rPr>
              <a:t>调度指令</a:t>
            </a:r>
            <a:r>
              <a:rPr dirty="0" sz="1800" spc="-25">
                <a:solidFill>
                  <a:srgbClr val="0000CC"/>
                </a:solidFill>
                <a:latin typeface="Times New Roman"/>
                <a:cs typeface="Times New Roman"/>
              </a:rPr>
              <a:t>I2</a:t>
            </a:r>
            <a:endParaRPr sz="1800">
              <a:latin typeface="Times New Roman"/>
              <a:cs typeface="Times New Roman"/>
            </a:endParaRPr>
          </a:p>
        </p:txBody>
      </p:sp>
      <p:sp>
        <p:nvSpPr>
          <p:cNvPr id="12" name="object 12" descr=""/>
          <p:cNvSpPr txBox="1"/>
          <p:nvPr/>
        </p:nvSpPr>
        <p:spPr>
          <a:xfrm>
            <a:off x="189992" y="5086679"/>
            <a:ext cx="4624070" cy="1288415"/>
          </a:xfrm>
          <a:prstGeom prst="rect">
            <a:avLst/>
          </a:prstGeom>
        </p:spPr>
        <p:txBody>
          <a:bodyPr wrap="square" lIns="0" tIns="40640" rIns="0" bIns="0" rtlCol="0" vert="horz">
            <a:spAutoFit/>
          </a:bodyPr>
          <a:lstStyle/>
          <a:p>
            <a:pPr marL="467995" indent="-455295">
              <a:lnSpc>
                <a:spcPct val="100000"/>
              </a:lnSpc>
              <a:spcBef>
                <a:spcPts val="320"/>
              </a:spcBef>
              <a:buClr>
                <a:srgbClr val="4668F5"/>
              </a:buClr>
              <a:buSzPct val="58333"/>
              <a:buFont typeface="Wingdings"/>
              <a:buChar char=""/>
              <a:tabLst>
                <a:tab pos="467995" algn="l"/>
              </a:tabLst>
            </a:pPr>
            <a:r>
              <a:rPr dirty="0" sz="1800" spc="-10">
                <a:solidFill>
                  <a:srgbClr val="FF5CFF"/>
                </a:solidFill>
                <a:latin typeface="微软雅黑"/>
                <a:cs typeface="微软雅黑"/>
              </a:rPr>
              <a:t>将</a:t>
            </a:r>
            <a:r>
              <a:rPr dirty="0" sz="1800" spc="-10">
                <a:solidFill>
                  <a:srgbClr val="6600FF"/>
                </a:solidFill>
                <a:latin typeface="Times New Roman"/>
                <a:cs typeface="Times New Roman"/>
              </a:rPr>
              <a:t>I2</a:t>
            </a:r>
            <a:r>
              <a:rPr dirty="0" sz="1800" spc="-10">
                <a:solidFill>
                  <a:srgbClr val="FF5CFF"/>
                </a:solidFill>
                <a:latin typeface="微软雅黑"/>
                <a:cs typeface="微软雅黑"/>
              </a:rPr>
              <a:t>移动到基本块</a:t>
            </a:r>
            <a:r>
              <a:rPr dirty="0" sz="1800">
                <a:solidFill>
                  <a:srgbClr val="6600FF"/>
                </a:solidFill>
                <a:latin typeface="Times New Roman"/>
                <a:cs typeface="Times New Roman"/>
              </a:rPr>
              <a:t>thenpart</a:t>
            </a:r>
            <a:r>
              <a:rPr dirty="0" sz="1800" spc="-20">
                <a:solidFill>
                  <a:srgbClr val="FF5CFF"/>
                </a:solidFill>
                <a:latin typeface="微软雅黑"/>
                <a:cs typeface="微软雅黑"/>
              </a:rPr>
              <a:t>中，同时复制到</a:t>
            </a:r>
            <a:endParaRPr sz="1800">
              <a:latin typeface="微软雅黑"/>
              <a:cs typeface="微软雅黑"/>
            </a:endParaRPr>
          </a:p>
          <a:p>
            <a:pPr marL="467995">
              <a:lnSpc>
                <a:spcPct val="100000"/>
              </a:lnSpc>
              <a:spcBef>
                <a:spcPts val="215"/>
              </a:spcBef>
            </a:pPr>
            <a:r>
              <a:rPr dirty="0" sz="1800" spc="-10">
                <a:solidFill>
                  <a:srgbClr val="6600FF"/>
                </a:solidFill>
                <a:latin typeface="Times New Roman"/>
                <a:cs typeface="Times New Roman"/>
              </a:rPr>
              <a:t>elsepart</a:t>
            </a:r>
            <a:r>
              <a:rPr dirty="0" sz="1800" spc="-25">
                <a:solidFill>
                  <a:srgbClr val="FF5CFF"/>
                </a:solidFill>
                <a:latin typeface="微软雅黑"/>
                <a:cs typeface="微软雅黑"/>
              </a:rPr>
              <a:t>中。</a:t>
            </a:r>
            <a:endParaRPr sz="1800">
              <a:latin typeface="微软雅黑"/>
              <a:cs typeface="微软雅黑"/>
            </a:endParaRPr>
          </a:p>
          <a:p>
            <a:pPr marL="467995" indent="-455295">
              <a:lnSpc>
                <a:spcPct val="100000"/>
              </a:lnSpc>
              <a:spcBef>
                <a:spcPts val="650"/>
              </a:spcBef>
              <a:buClr>
                <a:srgbClr val="4668F5"/>
              </a:buClr>
              <a:buSzPct val="58333"/>
              <a:buFont typeface="Wingdings"/>
              <a:buChar char=""/>
              <a:tabLst>
                <a:tab pos="467995" algn="l"/>
              </a:tabLst>
            </a:pPr>
            <a:r>
              <a:rPr dirty="0" sz="1800">
                <a:solidFill>
                  <a:srgbClr val="FF5CFF"/>
                </a:solidFill>
                <a:latin typeface="微软雅黑"/>
                <a:cs typeface="微软雅黑"/>
              </a:rPr>
              <a:t>若不影响执行结果，将</a:t>
            </a:r>
            <a:r>
              <a:rPr dirty="0" sz="1800" spc="-10">
                <a:solidFill>
                  <a:srgbClr val="6600FF"/>
                </a:solidFill>
                <a:latin typeface="Times New Roman"/>
                <a:cs typeface="Times New Roman"/>
              </a:rPr>
              <a:t>I2</a:t>
            </a:r>
            <a:r>
              <a:rPr dirty="0" sz="1800">
                <a:solidFill>
                  <a:srgbClr val="FF5CFF"/>
                </a:solidFill>
                <a:latin typeface="微软雅黑"/>
                <a:cs typeface="微软雅黑"/>
              </a:rPr>
              <a:t>调度到</a:t>
            </a:r>
            <a:r>
              <a:rPr dirty="0" sz="1800" spc="-20">
                <a:solidFill>
                  <a:srgbClr val="6600FF"/>
                </a:solidFill>
                <a:latin typeface="Times New Roman"/>
                <a:cs typeface="Times New Roman"/>
              </a:rPr>
              <a:t>BEQZ</a:t>
            </a:r>
            <a:r>
              <a:rPr dirty="0" sz="1800" spc="-50">
                <a:solidFill>
                  <a:srgbClr val="FF5CFF"/>
                </a:solidFill>
                <a:latin typeface="微软雅黑"/>
                <a:cs typeface="微软雅黑"/>
              </a:rPr>
              <a:t>前</a:t>
            </a:r>
            <a:endParaRPr sz="1800">
              <a:latin typeface="微软雅黑"/>
              <a:cs typeface="微软雅黑"/>
            </a:endParaRPr>
          </a:p>
          <a:p>
            <a:pPr marL="467995">
              <a:lnSpc>
                <a:spcPct val="100000"/>
              </a:lnSpc>
              <a:spcBef>
                <a:spcPts val="215"/>
              </a:spcBef>
            </a:pPr>
            <a:r>
              <a:rPr dirty="0" sz="1800">
                <a:solidFill>
                  <a:srgbClr val="FF5CFF"/>
                </a:solidFill>
                <a:latin typeface="微软雅黑"/>
                <a:cs typeface="微软雅黑"/>
              </a:rPr>
              <a:t>，同时删除</a:t>
            </a:r>
            <a:r>
              <a:rPr dirty="0" sz="1800" spc="-10">
                <a:solidFill>
                  <a:srgbClr val="6600FF"/>
                </a:solidFill>
                <a:latin typeface="Times New Roman"/>
                <a:cs typeface="Times New Roman"/>
              </a:rPr>
              <a:t>elsepart</a:t>
            </a:r>
            <a:r>
              <a:rPr dirty="0" sz="1800" spc="-10">
                <a:solidFill>
                  <a:srgbClr val="FF5CFF"/>
                </a:solidFill>
                <a:latin typeface="微软雅黑"/>
                <a:cs typeface="微软雅黑"/>
              </a:rPr>
              <a:t>中的副本。</a:t>
            </a:r>
            <a:endParaRPr sz="1800">
              <a:latin typeface="微软雅黑"/>
              <a:cs typeface="微软雅黑"/>
            </a:endParaRPr>
          </a:p>
        </p:txBody>
      </p:sp>
      <p:sp>
        <p:nvSpPr>
          <p:cNvPr id="13" name="object 13" descr=""/>
          <p:cNvSpPr/>
          <p:nvPr/>
        </p:nvSpPr>
        <p:spPr>
          <a:xfrm>
            <a:off x="4900676" y="987425"/>
            <a:ext cx="7291705" cy="3786504"/>
          </a:xfrm>
          <a:custGeom>
            <a:avLst/>
            <a:gdLst/>
            <a:ahLst/>
            <a:cxnLst/>
            <a:rect l="l" t="t" r="r" b="b"/>
            <a:pathLst>
              <a:path w="7291705" h="3786504">
                <a:moveTo>
                  <a:pt x="7291324" y="0"/>
                </a:moveTo>
                <a:lnTo>
                  <a:pt x="0" y="0"/>
                </a:lnTo>
                <a:lnTo>
                  <a:pt x="0" y="3786251"/>
                </a:lnTo>
                <a:lnTo>
                  <a:pt x="7291324" y="3786251"/>
                </a:lnTo>
              </a:path>
            </a:pathLst>
          </a:custGeom>
          <a:ln w="9524">
            <a:solidFill>
              <a:srgbClr val="FF0000"/>
            </a:solidFill>
          </a:ln>
        </p:spPr>
        <p:txBody>
          <a:bodyPr wrap="square" lIns="0" tIns="0" rIns="0" bIns="0" rtlCol="0"/>
          <a:lstStyle/>
          <a:p/>
        </p:txBody>
      </p:sp>
      <p:sp>
        <p:nvSpPr>
          <p:cNvPr id="14" name="object 14" descr=""/>
          <p:cNvSpPr txBox="1"/>
          <p:nvPr/>
        </p:nvSpPr>
        <p:spPr>
          <a:xfrm>
            <a:off x="6808978" y="1014730"/>
            <a:ext cx="377825" cy="635635"/>
          </a:xfrm>
          <a:prstGeom prst="rect">
            <a:avLst/>
          </a:prstGeom>
        </p:spPr>
        <p:txBody>
          <a:bodyPr wrap="square" lIns="0" tIns="13335" rIns="0" bIns="0" rtlCol="0" vert="horz">
            <a:spAutoFit/>
          </a:bodyPr>
          <a:lstStyle/>
          <a:p>
            <a:pPr marL="12700" marR="5080">
              <a:lnSpc>
                <a:spcPct val="100000"/>
              </a:lnSpc>
              <a:spcBef>
                <a:spcPts val="105"/>
              </a:spcBef>
            </a:pPr>
            <a:r>
              <a:rPr dirty="0" sz="2000" spc="-35" b="1">
                <a:solidFill>
                  <a:srgbClr val="40458B"/>
                </a:solidFill>
                <a:latin typeface="Times New Roman"/>
                <a:cs typeface="Times New Roman"/>
              </a:rPr>
              <a:t>LD LD</a:t>
            </a:r>
            <a:endParaRPr sz="2000">
              <a:latin typeface="Times New Roman"/>
              <a:cs typeface="Times New Roman"/>
            </a:endParaRPr>
          </a:p>
        </p:txBody>
      </p:sp>
      <p:sp>
        <p:nvSpPr>
          <p:cNvPr id="15" name="object 15" descr=""/>
          <p:cNvSpPr txBox="1"/>
          <p:nvPr/>
        </p:nvSpPr>
        <p:spPr>
          <a:xfrm>
            <a:off x="7723378" y="1014730"/>
            <a:ext cx="1205230" cy="635635"/>
          </a:xfrm>
          <a:prstGeom prst="rect">
            <a:avLst/>
          </a:prstGeom>
        </p:spPr>
        <p:txBody>
          <a:bodyPr wrap="square" lIns="0" tIns="13335" rIns="0" bIns="0" rtlCol="0" vert="horz">
            <a:spAutoFit/>
          </a:bodyPr>
          <a:lstStyle/>
          <a:p>
            <a:pPr marL="12700" marR="5080">
              <a:lnSpc>
                <a:spcPct val="100000"/>
              </a:lnSpc>
              <a:spcBef>
                <a:spcPts val="105"/>
              </a:spcBef>
            </a:pPr>
            <a:r>
              <a:rPr dirty="0" sz="2000" spc="-10" b="1">
                <a:solidFill>
                  <a:srgbClr val="40458B"/>
                </a:solidFill>
                <a:latin typeface="Times New Roman"/>
                <a:cs typeface="Times New Roman"/>
              </a:rPr>
              <a:t>R4</a:t>
            </a:r>
            <a:r>
              <a:rPr dirty="0" sz="2000" spc="-10" b="1">
                <a:solidFill>
                  <a:srgbClr val="40458B"/>
                </a:solidFill>
                <a:latin typeface="宋体"/>
                <a:cs typeface="宋体"/>
              </a:rPr>
              <a:t>，</a:t>
            </a:r>
            <a:r>
              <a:rPr dirty="0" sz="2000" spc="-10" b="1">
                <a:solidFill>
                  <a:srgbClr val="40458B"/>
                </a:solidFill>
                <a:latin typeface="Times New Roman"/>
                <a:cs typeface="Times New Roman"/>
              </a:rPr>
              <a:t>0(R1) R5</a:t>
            </a:r>
            <a:r>
              <a:rPr dirty="0" sz="2000" spc="-10" b="1">
                <a:solidFill>
                  <a:srgbClr val="40458B"/>
                </a:solidFill>
                <a:latin typeface="宋体"/>
                <a:cs typeface="宋体"/>
              </a:rPr>
              <a:t>，</a:t>
            </a:r>
            <a:r>
              <a:rPr dirty="0" sz="2000" spc="-10" b="1">
                <a:solidFill>
                  <a:srgbClr val="40458B"/>
                </a:solidFill>
                <a:latin typeface="Times New Roman"/>
                <a:cs typeface="Times New Roman"/>
              </a:rPr>
              <a:t>0(R2)</a:t>
            </a:r>
            <a:endParaRPr sz="2000">
              <a:latin typeface="Times New Roman"/>
              <a:cs typeface="Times New Roman"/>
            </a:endParaRPr>
          </a:p>
        </p:txBody>
      </p:sp>
      <p:sp>
        <p:nvSpPr>
          <p:cNvPr id="16" name="object 16" descr=""/>
          <p:cNvSpPr txBox="1"/>
          <p:nvPr/>
        </p:nvSpPr>
        <p:spPr>
          <a:xfrm>
            <a:off x="9552558" y="1014730"/>
            <a:ext cx="668020" cy="635635"/>
          </a:xfrm>
          <a:prstGeom prst="rect">
            <a:avLst/>
          </a:prstGeom>
        </p:spPr>
        <p:txBody>
          <a:bodyPr wrap="square" lIns="0" tIns="13335" rIns="0" bIns="0" rtlCol="0" vert="horz">
            <a:spAutoFit/>
          </a:bodyPr>
          <a:lstStyle/>
          <a:p>
            <a:pPr marL="12700">
              <a:lnSpc>
                <a:spcPct val="100000"/>
              </a:lnSpc>
              <a:spcBef>
                <a:spcPts val="105"/>
              </a:spcBef>
            </a:pPr>
            <a:r>
              <a:rPr dirty="0" sz="2000" spc="-5" b="1">
                <a:solidFill>
                  <a:srgbClr val="40458B"/>
                </a:solidFill>
                <a:latin typeface="Times New Roman"/>
                <a:cs typeface="Times New Roman"/>
              </a:rPr>
              <a:t>// </a:t>
            </a:r>
            <a:r>
              <a:rPr dirty="0" sz="2000" spc="-10" b="1">
                <a:solidFill>
                  <a:srgbClr val="40458B"/>
                </a:solidFill>
                <a:latin typeface="宋体"/>
                <a:cs typeface="宋体"/>
              </a:rPr>
              <a:t>取</a:t>
            </a:r>
            <a:r>
              <a:rPr dirty="0" sz="2000" spc="-50" b="1">
                <a:solidFill>
                  <a:srgbClr val="40458B"/>
                </a:solidFill>
                <a:latin typeface="Times New Roman"/>
                <a:cs typeface="Times New Roman"/>
              </a:rPr>
              <a:t>A</a:t>
            </a:r>
            <a:endParaRPr sz="2000">
              <a:latin typeface="Times New Roman"/>
              <a:cs typeface="Times New Roman"/>
            </a:endParaRPr>
          </a:p>
          <a:p>
            <a:pPr marL="12700">
              <a:lnSpc>
                <a:spcPct val="100000"/>
              </a:lnSpc>
            </a:pPr>
            <a:r>
              <a:rPr dirty="0" sz="2000" spc="-5" b="1">
                <a:solidFill>
                  <a:srgbClr val="40458B"/>
                </a:solidFill>
                <a:latin typeface="Times New Roman"/>
                <a:cs typeface="Times New Roman"/>
              </a:rPr>
              <a:t>// </a:t>
            </a:r>
            <a:r>
              <a:rPr dirty="0" sz="2000" spc="-10" b="1">
                <a:solidFill>
                  <a:srgbClr val="40458B"/>
                </a:solidFill>
                <a:latin typeface="宋体"/>
                <a:cs typeface="宋体"/>
              </a:rPr>
              <a:t>取</a:t>
            </a:r>
            <a:r>
              <a:rPr dirty="0" sz="2000" spc="-50" b="1">
                <a:solidFill>
                  <a:srgbClr val="40458B"/>
                </a:solidFill>
                <a:latin typeface="Times New Roman"/>
                <a:cs typeface="Times New Roman"/>
              </a:rPr>
              <a:t>B</a:t>
            </a:r>
            <a:endParaRPr sz="2000">
              <a:latin typeface="Times New Roman"/>
              <a:cs typeface="Times New Roman"/>
            </a:endParaRPr>
          </a:p>
        </p:txBody>
      </p:sp>
      <p:sp>
        <p:nvSpPr>
          <p:cNvPr id="17" name="object 17" descr=""/>
          <p:cNvSpPr txBox="1"/>
          <p:nvPr/>
        </p:nvSpPr>
        <p:spPr>
          <a:xfrm>
            <a:off x="6808978" y="1624330"/>
            <a:ext cx="947419" cy="330835"/>
          </a:xfrm>
          <a:prstGeom prst="rect">
            <a:avLst/>
          </a:prstGeom>
        </p:spPr>
        <p:txBody>
          <a:bodyPr wrap="square" lIns="0" tIns="13335" rIns="0" bIns="0" rtlCol="0" vert="horz">
            <a:spAutoFit/>
          </a:bodyPr>
          <a:lstStyle/>
          <a:p>
            <a:pPr marL="12700">
              <a:lnSpc>
                <a:spcPct val="100000"/>
              </a:lnSpc>
              <a:spcBef>
                <a:spcPts val="105"/>
              </a:spcBef>
            </a:pPr>
            <a:r>
              <a:rPr dirty="0" sz="2000" spc="-10" b="1">
                <a:solidFill>
                  <a:srgbClr val="40458B"/>
                </a:solidFill>
                <a:latin typeface="Times New Roman"/>
                <a:cs typeface="Times New Roman"/>
              </a:rPr>
              <a:t>DADDU</a:t>
            </a:r>
            <a:endParaRPr sz="2000">
              <a:latin typeface="Times New Roman"/>
              <a:cs typeface="Times New Roman"/>
            </a:endParaRPr>
          </a:p>
        </p:txBody>
      </p:sp>
      <p:sp>
        <p:nvSpPr>
          <p:cNvPr id="18" name="object 18" descr=""/>
          <p:cNvSpPr txBox="1"/>
          <p:nvPr/>
        </p:nvSpPr>
        <p:spPr>
          <a:xfrm>
            <a:off x="8638158" y="1624330"/>
            <a:ext cx="2871470" cy="330835"/>
          </a:xfrm>
          <a:prstGeom prst="rect">
            <a:avLst/>
          </a:prstGeom>
        </p:spPr>
        <p:txBody>
          <a:bodyPr wrap="square" lIns="0" tIns="13335" rIns="0" bIns="0" rtlCol="0" vert="horz">
            <a:spAutoFit/>
          </a:bodyPr>
          <a:lstStyle/>
          <a:p>
            <a:pPr marL="12700">
              <a:lnSpc>
                <a:spcPct val="100000"/>
              </a:lnSpc>
              <a:spcBef>
                <a:spcPts val="105"/>
              </a:spcBef>
              <a:tabLst>
                <a:tab pos="1840864" algn="l"/>
              </a:tabLst>
            </a:pPr>
            <a:r>
              <a:rPr dirty="0" sz="2000" spc="-10" b="1">
                <a:solidFill>
                  <a:srgbClr val="40458B"/>
                </a:solidFill>
                <a:latin typeface="Times New Roman"/>
                <a:cs typeface="Times New Roman"/>
              </a:rPr>
              <a:t>R4</a:t>
            </a:r>
            <a:r>
              <a:rPr dirty="0" sz="2000" spc="-10" b="1">
                <a:solidFill>
                  <a:srgbClr val="40458B"/>
                </a:solidFill>
                <a:latin typeface="宋体"/>
                <a:cs typeface="宋体"/>
              </a:rPr>
              <a:t>，</a:t>
            </a:r>
            <a:r>
              <a:rPr dirty="0" sz="2000" spc="-10" b="1">
                <a:solidFill>
                  <a:srgbClr val="40458B"/>
                </a:solidFill>
                <a:latin typeface="Times New Roman"/>
                <a:cs typeface="Times New Roman"/>
              </a:rPr>
              <a:t>R4</a:t>
            </a:r>
            <a:r>
              <a:rPr dirty="0" sz="2000" spc="-10" b="1">
                <a:solidFill>
                  <a:srgbClr val="40458B"/>
                </a:solidFill>
                <a:latin typeface="宋体"/>
                <a:cs typeface="宋体"/>
              </a:rPr>
              <a:t>，</a:t>
            </a:r>
            <a:r>
              <a:rPr dirty="0" sz="2000" spc="-10" b="1">
                <a:solidFill>
                  <a:srgbClr val="40458B"/>
                </a:solidFill>
                <a:latin typeface="Times New Roman"/>
                <a:cs typeface="Times New Roman"/>
              </a:rPr>
              <a:t>R5</a:t>
            </a:r>
            <a:r>
              <a:rPr dirty="0" sz="2000" b="1">
                <a:solidFill>
                  <a:srgbClr val="40458B"/>
                </a:solidFill>
                <a:latin typeface="Times New Roman"/>
                <a:cs typeface="Times New Roman"/>
              </a:rPr>
              <a:t>	//</a:t>
            </a:r>
            <a:r>
              <a:rPr dirty="0" sz="2000" spc="-114" b="1">
                <a:solidFill>
                  <a:srgbClr val="40458B"/>
                </a:solidFill>
                <a:latin typeface="Times New Roman"/>
                <a:cs typeface="Times New Roman"/>
              </a:rPr>
              <a:t> </a:t>
            </a:r>
            <a:r>
              <a:rPr dirty="0" sz="2000" spc="-20" b="1">
                <a:solidFill>
                  <a:srgbClr val="40458B"/>
                </a:solidFill>
                <a:latin typeface="Times New Roman"/>
                <a:cs typeface="Times New Roman"/>
              </a:rPr>
              <a:t>A=A+B</a:t>
            </a:r>
            <a:endParaRPr sz="2000">
              <a:latin typeface="Times New Roman"/>
              <a:cs typeface="Times New Roman"/>
            </a:endParaRPr>
          </a:p>
        </p:txBody>
      </p:sp>
      <p:sp>
        <p:nvSpPr>
          <p:cNvPr id="19" name="object 19" descr=""/>
          <p:cNvSpPr txBox="1"/>
          <p:nvPr/>
        </p:nvSpPr>
        <p:spPr>
          <a:xfrm>
            <a:off x="9552558" y="1929130"/>
            <a:ext cx="1636395" cy="636270"/>
          </a:xfrm>
          <a:prstGeom prst="rect">
            <a:avLst/>
          </a:prstGeom>
        </p:spPr>
        <p:txBody>
          <a:bodyPr wrap="square" lIns="0" tIns="13335" rIns="0" bIns="0" rtlCol="0" vert="horz">
            <a:spAutoFit/>
          </a:bodyPr>
          <a:lstStyle/>
          <a:p>
            <a:pPr marL="12700">
              <a:lnSpc>
                <a:spcPct val="100000"/>
              </a:lnSpc>
              <a:spcBef>
                <a:spcPts val="105"/>
              </a:spcBef>
            </a:pPr>
            <a:r>
              <a:rPr dirty="0" sz="2000" spc="-5" b="1">
                <a:solidFill>
                  <a:srgbClr val="40458B"/>
                </a:solidFill>
                <a:latin typeface="Times New Roman"/>
                <a:cs typeface="Times New Roman"/>
              </a:rPr>
              <a:t>// </a:t>
            </a:r>
            <a:r>
              <a:rPr dirty="0" sz="2000" spc="-10" b="1">
                <a:solidFill>
                  <a:srgbClr val="40458B"/>
                </a:solidFill>
                <a:latin typeface="宋体"/>
                <a:cs typeface="宋体"/>
              </a:rPr>
              <a:t>存</a:t>
            </a:r>
            <a:r>
              <a:rPr dirty="0" sz="2000" spc="-50" b="1">
                <a:solidFill>
                  <a:srgbClr val="40458B"/>
                </a:solidFill>
                <a:latin typeface="Times New Roman"/>
                <a:cs typeface="Times New Roman"/>
              </a:rPr>
              <a:t>A</a:t>
            </a:r>
            <a:endParaRPr sz="2000">
              <a:latin typeface="Times New Roman"/>
              <a:cs typeface="Times New Roman"/>
            </a:endParaRPr>
          </a:p>
          <a:p>
            <a:pPr marL="12700">
              <a:lnSpc>
                <a:spcPct val="100000"/>
              </a:lnSpc>
            </a:pPr>
            <a:r>
              <a:rPr dirty="0" sz="2000" spc="-5" b="1">
                <a:solidFill>
                  <a:srgbClr val="40458B"/>
                </a:solidFill>
                <a:latin typeface="Times New Roman"/>
                <a:cs typeface="Times New Roman"/>
              </a:rPr>
              <a:t>// </a:t>
            </a:r>
            <a:r>
              <a:rPr dirty="0" sz="2000" spc="-15" b="1">
                <a:solidFill>
                  <a:srgbClr val="40458B"/>
                </a:solidFill>
                <a:latin typeface="宋体"/>
                <a:cs typeface="宋体"/>
              </a:rPr>
              <a:t>等于</a:t>
            </a:r>
            <a:r>
              <a:rPr dirty="0" sz="2000" b="1">
                <a:solidFill>
                  <a:srgbClr val="40458B"/>
                </a:solidFill>
                <a:latin typeface="Times New Roman"/>
                <a:cs typeface="Times New Roman"/>
              </a:rPr>
              <a:t>0</a:t>
            </a:r>
            <a:r>
              <a:rPr dirty="0" sz="2000" spc="-30" b="1">
                <a:solidFill>
                  <a:srgbClr val="40458B"/>
                </a:solidFill>
                <a:latin typeface="宋体"/>
                <a:cs typeface="宋体"/>
              </a:rPr>
              <a:t>则转移</a:t>
            </a:r>
            <a:endParaRPr sz="2000">
              <a:latin typeface="宋体"/>
              <a:cs typeface="宋体"/>
            </a:endParaRPr>
          </a:p>
        </p:txBody>
      </p:sp>
      <p:sp>
        <p:nvSpPr>
          <p:cNvPr id="20" name="object 20" descr=""/>
          <p:cNvSpPr txBox="1"/>
          <p:nvPr/>
        </p:nvSpPr>
        <p:spPr>
          <a:xfrm>
            <a:off x="8638158" y="2539111"/>
            <a:ext cx="3065780" cy="330835"/>
          </a:xfrm>
          <a:prstGeom prst="rect">
            <a:avLst/>
          </a:prstGeom>
        </p:spPr>
        <p:txBody>
          <a:bodyPr wrap="square" lIns="0" tIns="13335" rIns="0" bIns="0" rtlCol="0" vert="horz">
            <a:spAutoFit/>
          </a:bodyPr>
          <a:lstStyle/>
          <a:p>
            <a:pPr marL="12700">
              <a:lnSpc>
                <a:spcPct val="100000"/>
              </a:lnSpc>
              <a:spcBef>
                <a:spcPts val="105"/>
              </a:spcBef>
            </a:pPr>
            <a:r>
              <a:rPr dirty="0" sz="2000" spc="-5" b="1">
                <a:solidFill>
                  <a:srgbClr val="40458B"/>
                </a:solidFill>
                <a:latin typeface="Times New Roman"/>
                <a:cs typeface="Times New Roman"/>
              </a:rPr>
              <a:t>// </a:t>
            </a:r>
            <a:r>
              <a:rPr dirty="0" sz="2000" spc="-10" b="1">
                <a:solidFill>
                  <a:srgbClr val="40458B"/>
                </a:solidFill>
                <a:latin typeface="宋体"/>
                <a:cs typeface="宋体"/>
              </a:rPr>
              <a:t>代码段</a:t>
            </a:r>
            <a:r>
              <a:rPr dirty="0" sz="2000" b="1">
                <a:solidFill>
                  <a:srgbClr val="40458B"/>
                </a:solidFill>
                <a:latin typeface="Times New Roman"/>
                <a:cs typeface="Times New Roman"/>
              </a:rPr>
              <a:t>X</a:t>
            </a:r>
            <a:r>
              <a:rPr dirty="0" sz="2000" spc="-10" b="1">
                <a:solidFill>
                  <a:srgbClr val="40458B"/>
                </a:solidFill>
                <a:latin typeface="宋体"/>
                <a:cs typeface="宋体"/>
              </a:rPr>
              <a:t>，基本块</a:t>
            </a:r>
            <a:r>
              <a:rPr dirty="0" sz="2000" spc="-10" b="1">
                <a:solidFill>
                  <a:srgbClr val="40458B"/>
                </a:solidFill>
                <a:latin typeface="Times New Roman"/>
                <a:cs typeface="Times New Roman"/>
              </a:rPr>
              <a:t>elsepart</a:t>
            </a:r>
            <a:endParaRPr sz="2000">
              <a:latin typeface="Times New Roman"/>
              <a:cs typeface="Times New Roman"/>
            </a:endParaRPr>
          </a:p>
        </p:txBody>
      </p:sp>
      <p:sp>
        <p:nvSpPr>
          <p:cNvPr id="21" name="object 21" descr=""/>
          <p:cNvSpPr txBox="1"/>
          <p:nvPr/>
        </p:nvSpPr>
        <p:spPr>
          <a:xfrm>
            <a:off x="6808978" y="1929130"/>
            <a:ext cx="2456815" cy="1242695"/>
          </a:xfrm>
          <a:prstGeom prst="rect">
            <a:avLst/>
          </a:prstGeom>
        </p:spPr>
        <p:txBody>
          <a:bodyPr wrap="square" lIns="0" tIns="13335" rIns="0" bIns="0" rtlCol="0" vert="horz">
            <a:spAutoFit/>
          </a:bodyPr>
          <a:lstStyle/>
          <a:p>
            <a:pPr marL="12700">
              <a:lnSpc>
                <a:spcPct val="100000"/>
              </a:lnSpc>
              <a:spcBef>
                <a:spcPts val="105"/>
              </a:spcBef>
              <a:tabLst>
                <a:tab pos="926465" algn="l"/>
              </a:tabLst>
            </a:pPr>
            <a:r>
              <a:rPr dirty="0" sz="2000" spc="-25" b="1">
                <a:solidFill>
                  <a:srgbClr val="40458B"/>
                </a:solidFill>
                <a:latin typeface="Times New Roman"/>
                <a:cs typeface="Times New Roman"/>
              </a:rPr>
              <a:t>SD</a:t>
            </a:r>
            <a:r>
              <a:rPr dirty="0" sz="2000" b="1">
                <a:solidFill>
                  <a:srgbClr val="40458B"/>
                </a:solidFill>
                <a:latin typeface="Times New Roman"/>
                <a:cs typeface="Times New Roman"/>
              </a:rPr>
              <a:t>	</a:t>
            </a:r>
            <a:r>
              <a:rPr dirty="0" sz="2000" spc="-10" b="1">
                <a:solidFill>
                  <a:srgbClr val="40458B"/>
                </a:solidFill>
                <a:latin typeface="Times New Roman"/>
                <a:cs typeface="Times New Roman"/>
              </a:rPr>
              <a:t>R4</a:t>
            </a:r>
            <a:r>
              <a:rPr dirty="0" sz="2000" spc="-10" b="1">
                <a:solidFill>
                  <a:srgbClr val="40458B"/>
                </a:solidFill>
                <a:latin typeface="宋体"/>
                <a:cs typeface="宋体"/>
              </a:rPr>
              <a:t>，</a:t>
            </a:r>
            <a:r>
              <a:rPr dirty="0" sz="2000" spc="-10" b="1">
                <a:solidFill>
                  <a:srgbClr val="40458B"/>
                </a:solidFill>
                <a:latin typeface="Times New Roman"/>
                <a:cs typeface="Times New Roman"/>
              </a:rPr>
              <a:t>0(R1)</a:t>
            </a:r>
            <a:endParaRPr sz="2000">
              <a:latin typeface="Times New Roman"/>
              <a:cs typeface="Times New Roman"/>
            </a:endParaRPr>
          </a:p>
          <a:p>
            <a:pPr marL="12700">
              <a:lnSpc>
                <a:spcPct val="100000"/>
              </a:lnSpc>
              <a:tabLst>
                <a:tab pos="926465" algn="l"/>
              </a:tabLst>
            </a:pPr>
            <a:r>
              <a:rPr dirty="0" sz="2000" spc="-20" b="1">
                <a:solidFill>
                  <a:srgbClr val="40458B"/>
                </a:solidFill>
                <a:latin typeface="Times New Roman"/>
                <a:cs typeface="Times New Roman"/>
              </a:rPr>
              <a:t>BEQZ</a:t>
            </a:r>
            <a:r>
              <a:rPr dirty="0" sz="2000" b="1">
                <a:solidFill>
                  <a:srgbClr val="40458B"/>
                </a:solidFill>
                <a:latin typeface="Times New Roman"/>
                <a:cs typeface="Times New Roman"/>
              </a:rPr>
              <a:t>	</a:t>
            </a:r>
            <a:r>
              <a:rPr dirty="0" sz="2000" spc="-10" b="1">
                <a:solidFill>
                  <a:srgbClr val="40458B"/>
                </a:solidFill>
                <a:latin typeface="Times New Roman"/>
                <a:cs typeface="Times New Roman"/>
              </a:rPr>
              <a:t>R4</a:t>
            </a:r>
            <a:r>
              <a:rPr dirty="0" sz="2000" spc="-10" b="1">
                <a:solidFill>
                  <a:srgbClr val="40458B"/>
                </a:solidFill>
                <a:latin typeface="宋体"/>
                <a:cs typeface="宋体"/>
              </a:rPr>
              <a:t>，</a:t>
            </a:r>
            <a:r>
              <a:rPr dirty="0" sz="2000" spc="-10" b="1">
                <a:solidFill>
                  <a:srgbClr val="40458B"/>
                </a:solidFill>
                <a:latin typeface="Times New Roman"/>
                <a:cs typeface="Times New Roman"/>
              </a:rPr>
              <a:t>thenpart</a:t>
            </a:r>
            <a:endParaRPr sz="2000">
              <a:latin typeface="Times New Roman"/>
              <a:cs typeface="Times New Roman"/>
            </a:endParaRPr>
          </a:p>
          <a:p>
            <a:pPr marL="12700" marR="2252345">
              <a:lnSpc>
                <a:spcPts val="2380"/>
              </a:lnSpc>
              <a:spcBef>
                <a:spcPts val="95"/>
              </a:spcBef>
            </a:pPr>
            <a:r>
              <a:rPr dirty="0" sz="2000" spc="-50" b="1">
                <a:solidFill>
                  <a:srgbClr val="40458B"/>
                </a:solidFill>
                <a:latin typeface="Times New Roman"/>
                <a:cs typeface="Times New Roman"/>
              </a:rPr>
              <a:t>X J</a:t>
            </a:r>
            <a:endParaRPr sz="2000">
              <a:latin typeface="Times New Roman"/>
              <a:cs typeface="Times New Roman"/>
            </a:endParaRPr>
          </a:p>
        </p:txBody>
      </p:sp>
      <p:sp>
        <p:nvSpPr>
          <p:cNvPr id="22" name="object 22" descr=""/>
          <p:cNvSpPr txBox="1"/>
          <p:nvPr/>
        </p:nvSpPr>
        <p:spPr>
          <a:xfrm>
            <a:off x="7723378" y="2840863"/>
            <a:ext cx="450850" cy="330835"/>
          </a:xfrm>
          <a:prstGeom prst="rect">
            <a:avLst/>
          </a:prstGeom>
        </p:spPr>
        <p:txBody>
          <a:bodyPr wrap="square" lIns="0" tIns="13335" rIns="0" bIns="0" rtlCol="0" vert="horz">
            <a:spAutoFit/>
          </a:bodyPr>
          <a:lstStyle/>
          <a:p>
            <a:pPr marL="12700">
              <a:lnSpc>
                <a:spcPct val="100000"/>
              </a:lnSpc>
              <a:spcBef>
                <a:spcPts val="105"/>
              </a:spcBef>
            </a:pPr>
            <a:r>
              <a:rPr dirty="0" sz="2000" spc="-20" b="1">
                <a:solidFill>
                  <a:srgbClr val="40458B"/>
                </a:solidFill>
                <a:latin typeface="Times New Roman"/>
                <a:cs typeface="Times New Roman"/>
              </a:rPr>
              <a:t>join</a:t>
            </a:r>
            <a:endParaRPr sz="2000">
              <a:latin typeface="Times New Roman"/>
              <a:cs typeface="Times New Roman"/>
            </a:endParaRPr>
          </a:p>
        </p:txBody>
      </p:sp>
      <p:sp>
        <p:nvSpPr>
          <p:cNvPr id="23" name="object 23" descr=""/>
          <p:cNvSpPr txBox="1"/>
          <p:nvPr/>
        </p:nvSpPr>
        <p:spPr>
          <a:xfrm>
            <a:off x="4979923" y="3148711"/>
            <a:ext cx="1229995" cy="330835"/>
          </a:xfrm>
          <a:prstGeom prst="rect">
            <a:avLst/>
          </a:prstGeom>
        </p:spPr>
        <p:txBody>
          <a:bodyPr wrap="square" lIns="0" tIns="13335" rIns="0" bIns="0" rtlCol="0" vert="horz">
            <a:spAutoFit/>
          </a:bodyPr>
          <a:lstStyle/>
          <a:p>
            <a:pPr marL="12700">
              <a:lnSpc>
                <a:spcPct val="100000"/>
              </a:lnSpc>
              <a:spcBef>
                <a:spcPts val="105"/>
              </a:spcBef>
            </a:pPr>
            <a:r>
              <a:rPr dirty="0" sz="2000" spc="-10" b="1">
                <a:solidFill>
                  <a:srgbClr val="40458B"/>
                </a:solidFill>
                <a:latin typeface="Times New Roman"/>
                <a:cs typeface="Times New Roman"/>
              </a:rPr>
              <a:t>thenpart</a:t>
            </a:r>
            <a:r>
              <a:rPr dirty="0" sz="2000" spc="-10" b="1">
                <a:solidFill>
                  <a:srgbClr val="40458B"/>
                </a:solidFill>
                <a:latin typeface="宋体"/>
                <a:cs typeface="宋体"/>
              </a:rPr>
              <a:t>：</a:t>
            </a:r>
            <a:endParaRPr sz="2000">
              <a:latin typeface="宋体"/>
              <a:cs typeface="宋体"/>
            </a:endParaRPr>
          </a:p>
        </p:txBody>
      </p:sp>
      <p:sp>
        <p:nvSpPr>
          <p:cNvPr id="24" name="object 24" descr=""/>
          <p:cNvSpPr txBox="1"/>
          <p:nvPr/>
        </p:nvSpPr>
        <p:spPr>
          <a:xfrm>
            <a:off x="6808978" y="3453206"/>
            <a:ext cx="351155" cy="331470"/>
          </a:xfrm>
          <a:prstGeom prst="rect">
            <a:avLst/>
          </a:prstGeom>
        </p:spPr>
        <p:txBody>
          <a:bodyPr wrap="square" lIns="0" tIns="13335" rIns="0" bIns="0" rtlCol="0" vert="horz">
            <a:spAutoFit/>
          </a:bodyPr>
          <a:lstStyle/>
          <a:p>
            <a:pPr marL="12700">
              <a:lnSpc>
                <a:spcPct val="100000"/>
              </a:lnSpc>
              <a:spcBef>
                <a:spcPts val="105"/>
              </a:spcBef>
            </a:pPr>
            <a:r>
              <a:rPr dirty="0" sz="2000" spc="-25" b="1">
                <a:solidFill>
                  <a:srgbClr val="40458B"/>
                </a:solidFill>
                <a:latin typeface="Times New Roman"/>
                <a:cs typeface="Times New Roman"/>
              </a:rPr>
              <a:t>SD</a:t>
            </a:r>
            <a:endParaRPr sz="2000">
              <a:latin typeface="Times New Roman"/>
              <a:cs typeface="Times New Roman"/>
            </a:endParaRPr>
          </a:p>
        </p:txBody>
      </p:sp>
      <p:sp>
        <p:nvSpPr>
          <p:cNvPr id="25" name="object 25" descr=""/>
          <p:cNvSpPr txBox="1"/>
          <p:nvPr/>
        </p:nvSpPr>
        <p:spPr>
          <a:xfrm>
            <a:off x="7723378" y="3148711"/>
            <a:ext cx="4255770" cy="636270"/>
          </a:xfrm>
          <a:prstGeom prst="rect">
            <a:avLst/>
          </a:prstGeom>
        </p:spPr>
        <p:txBody>
          <a:bodyPr wrap="square" lIns="0" tIns="13335" rIns="0" bIns="0" rtlCol="0" vert="horz">
            <a:spAutoFit/>
          </a:bodyPr>
          <a:lstStyle/>
          <a:p>
            <a:pPr marL="1841500">
              <a:lnSpc>
                <a:spcPct val="100000"/>
              </a:lnSpc>
              <a:spcBef>
                <a:spcPts val="105"/>
              </a:spcBef>
            </a:pPr>
            <a:r>
              <a:rPr dirty="0" sz="2000" spc="-5" b="1">
                <a:solidFill>
                  <a:srgbClr val="40458B"/>
                </a:solidFill>
                <a:latin typeface="Times New Roman"/>
                <a:cs typeface="Times New Roman"/>
              </a:rPr>
              <a:t>// </a:t>
            </a:r>
            <a:r>
              <a:rPr dirty="0" sz="2000" spc="-10" b="1">
                <a:solidFill>
                  <a:srgbClr val="40458B"/>
                </a:solidFill>
                <a:latin typeface="宋体"/>
                <a:cs typeface="宋体"/>
              </a:rPr>
              <a:t>基本块</a:t>
            </a:r>
            <a:r>
              <a:rPr dirty="0" sz="2000" spc="-10" b="1">
                <a:solidFill>
                  <a:srgbClr val="40458B"/>
                </a:solidFill>
                <a:latin typeface="Times New Roman"/>
                <a:cs typeface="Times New Roman"/>
              </a:rPr>
              <a:t>thenpart</a:t>
            </a:r>
            <a:endParaRPr sz="2000">
              <a:latin typeface="Times New Roman"/>
              <a:cs typeface="Times New Roman"/>
            </a:endParaRPr>
          </a:p>
          <a:p>
            <a:pPr marL="12700">
              <a:lnSpc>
                <a:spcPct val="100000"/>
              </a:lnSpc>
            </a:pPr>
            <a:r>
              <a:rPr dirty="0" sz="2000" b="1">
                <a:solidFill>
                  <a:srgbClr val="40458B"/>
                </a:solidFill>
                <a:latin typeface="Times New Roman"/>
                <a:cs typeface="Times New Roman"/>
              </a:rPr>
              <a:t>…</a:t>
            </a:r>
            <a:r>
              <a:rPr dirty="0" sz="2000" b="1">
                <a:solidFill>
                  <a:srgbClr val="40458B"/>
                </a:solidFill>
                <a:latin typeface="宋体"/>
                <a:cs typeface="宋体"/>
              </a:rPr>
              <a:t>，</a:t>
            </a:r>
            <a:r>
              <a:rPr dirty="0" sz="2000" b="1">
                <a:solidFill>
                  <a:srgbClr val="40458B"/>
                </a:solidFill>
                <a:latin typeface="Times New Roman"/>
                <a:cs typeface="Times New Roman"/>
              </a:rPr>
              <a:t>0(R2</a:t>
            </a:r>
            <a:r>
              <a:rPr dirty="0" sz="2000" spc="85" b="1">
                <a:solidFill>
                  <a:srgbClr val="40458B"/>
                </a:solidFill>
                <a:latin typeface="Times New Roman"/>
                <a:cs typeface="Times New Roman"/>
              </a:rPr>
              <a:t>) // </a:t>
            </a:r>
            <a:r>
              <a:rPr dirty="0" sz="2000" spc="-15" b="1">
                <a:solidFill>
                  <a:srgbClr val="FF3300"/>
                </a:solidFill>
                <a:latin typeface="宋体"/>
                <a:cs typeface="宋体"/>
              </a:rPr>
              <a:t>指令</a:t>
            </a:r>
            <a:r>
              <a:rPr dirty="0" sz="2000" spc="-10" b="1">
                <a:solidFill>
                  <a:srgbClr val="FF3300"/>
                </a:solidFill>
                <a:latin typeface="Times New Roman"/>
                <a:cs typeface="Times New Roman"/>
              </a:rPr>
              <a:t>I1</a:t>
            </a:r>
            <a:r>
              <a:rPr dirty="0" sz="2000" spc="-15" b="1">
                <a:solidFill>
                  <a:srgbClr val="40458B"/>
                </a:solidFill>
                <a:latin typeface="宋体"/>
                <a:cs typeface="宋体"/>
              </a:rPr>
              <a:t>，对应语句</a:t>
            </a:r>
            <a:r>
              <a:rPr dirty="0" sz="2000" spc="-10" b="1">
                <a:solidFill>
                  <a:srgbClr val="40458B"/>
                </a:solidFill>
                <a:latin typeface="Times New Roman"/>
                <a:cs typeface="Times New Roman"/>
              </a:rPr>
              <a:t>3:B[i]=</a:t>
            </a:r>
            <a:endParaRPr sz="2000">
              <a:latin typeface="Times New Roman"/>
              <a:cs typeface="Times New Roman"/>
            </a:endParaRPr>
          </a:p>
        </p:txBody>
      </p:sp>
      <p:sp>
        <p:nvSpPr>
          <p:cNvPr id="26" name="object 26" descr=""/>
          <p:cNvSpPr txBox="1"/>
          <p:nvPr/>
        </p:nvSpPr>
        <p:spPr>
          <a:xfrm>
            <a:off x="4979923" y="4063365"/>
            <a:ext cx="705485" cy="330835"/>
          </a:xfrm>
          <a:prstGeom prst="rect">
            <a:avLst/>
          </a:prstGeom>
        </p:spPr>
        <p:txBody>
          <a:bodyPr wrap="square" lIns="0" tIns="12700" rIns="0" bIns="0" rtlCol="0" vert="horz">
            <a:spAutoFit/>
          </a:bodyPr>
          <a:lstStyle/>
          <a:p>
            <a:pPr marL="12700">
              <a:lnSpc>
                <a:spcPct val="100000"/>
              </a:lnSpc>
              <a:spcBef>
                <a:spcPts val="100"/>
              </a:spcBef>
            </a:pPr>
            <a:r>
              <a:rPr dirty="0" sz="2000" spc="-10" b="1">
                <a:solidFill>
                  <a:srgbClr val="40458B"/>
                </a:solidFill>
                <a:latin typeface="Times New Roman"/>
                <a:cs typeface="Times New Roman"/>
              </a:rPr>
              <a:t>join</a:t>
            </a:r>
            <a:r>
              <a:rPr dirty="0" sz="2000" spc="-10" b="1">
                <a:solidFill>
                  <a:srgbClr val="40458B"/>
                </a:solidFill>
                <a:latin typeface="宋体"/>
                <a:cs typeface="宋体"/>
              </a:rPr>
              <a:t>：</a:t>
            </a:r>
            <a:endParaRPr sz="2000">
              <a:latin typeface="宋体"/>
              <a:cs typeface="宋体"/>
            </a:endParaRPr>
          </a:p>
        </p:txBody>
      </p:sp>
      <p:sp>
        <p:nvSpPr>
          <p:cNvPr id="27" name="object 27" descr=""/>
          <p:cNvSpPr txBox="1"/>
          <p:nvPr/>
        </p:nvSpPr>
        <p:spPr>
          <a:xfrm>
            <a:off x="4644009" y="628345"/>
            <a:ext cx="4398010" cy="391795"/>
          </a:xfrm>
          <a:prstGeom prst="rect">
            <a:avLst/>
          </a:prstGeom>
        </p:spPr>
        <p:txBody>
          <a:bodyPr wrap="square" lIns="0" tIns="12700" rIns="0" bIns="0" rtlCol="0" vert="horz">
            <a:spAutoFit/>
          </a:bodyPr>
          <a:lstStyle/>
          <a:p>
            <a:pPr marL="469900" indent="-457200">
              <a:lnSpc>
                <a:spcPct val="100000"/>
              </a:lnSpc>
              <a:spcBef>
                <a:spcPts val="100"/>
              </a:spcBef>
              <a:buSzPct val="89583"/>
              <a:buFont typeface="Wingdings"/>
              <a:buChar char=""/>
              <a:tabLst>
                <a:tab pos="469900" algn="l"/>
              </a:tabLst>
            </a:pPr>
            <a:r>
              <a:rPr dirty="0" sz="2400" spc="-10">
                <a:solidFill>
                  <a:srgbClr val="40458B"/>
                </a:solidFill>
                <a:latin typeface="黑体"/>
                <a:cs typeface="黑体"/>
              </a:rPr>
              <a:t>分支成功：</a:t>
            </a:r>
            <a:r>
              <a:rPr dirty="0" sz="2400" spc="-10">
                <a:solidFill>
                  <a:srgbClr val="40458B"/>
                </a:solidFill>
                <a:latin typeface="Tahoma"/>
                <a:cs typeface="Tahoma"/>
              </a:rPr>
              <a:t>I1</a:t>
            </a:r>
            <a:r>
              <a:rPr dirty="0" sz="2400" spc="-15">
                <a:solidFill>
                  <a:srgbClr val="40458B"/>
                </a:solidFill>
                <a:latin typeface="黑体"/>
                <a:cs typeface="黑体"/>
              </a:rPr>
              <a:t>，分支失败：</a:t>
            </a:r>
            <a:r>
              <a:rPr dirty="0" sz="2400" spc="-25">
                <a:solidFill>
                  <a:srgbClr val="40458B"/>
                </a:solidFill>
                <a:latin typeface="Tahoma"/>
                <a:cs typeface="Tahoma"/>
              </a:rPr>
              <a:t>I2</a:t>
            </a:r>
            <a:endParaRPr sz="2400">
              <a:latin typeface="Tahoma"/>
              <a:cs typeface="Tahoma"/>
            </a:endParaRPr>
          </a:p>
        </p:txBody>
      </p:sp>
      <p:sp>
        <p:nvSpPr>
          <p:cNvPr id="28" name="object 28" descr=""/>
          <p:cNvSpPr txBox="1"/>
          <p:nvPr/>
        </p:nvSpPr>
        <p:spPr>
          <a:xfrm>
            <a:off x="5614161" y="4368165"/>
            <a:ext cx="6487160" cy="1565275"/>
          </a:xfrm>
          <a:prstGeom prst="rect">
            <a:avLst/>
          </a:prstGeom>
        </p:spPr>
        <p:txBody>
          <a:bodyPr wrap="square" lIns="0" tIns="12700" rIns="0" bIns="0" rtlCol="0" vert="horz">
            <a:spAutoFit/>
          </a:bodyPr>
          <a:lstStyle/>
          <a:p>
            <a:pPr marL="1207135">
              <a:lnSpc>
                <a:spcPct val="100000"/>
              </a:lnSpc>
              <a:spcBef>
                <a:spcPts val="100"/>
              </a:spcBef>
              <a:tabLst>
                <a:tab pos="2121535" algn="l"/>
              </a:tabLst>
            </a:pPr>
            <a:r>
              <a:rPr dirty="0" sz="2000" spc="-25" b="1">
                <a:solidFill>
                  <a:srgbClr val="40458B"/>
                </a:solidFill>
                <a:latin typeface="Times New Roman"/>
                <a:cs typeface="Times New Roman"/>
              </a:rPr>
              <a:t>SD</a:t>
            </a:r>
            <a:r>
              <a:rPr dirty="0" sz="2000" b="1">
                <a:solidFill>
                  <a:srgbClr val="40458B"/>
                </a:solidFill>
                <a:latin typeface="Times New Roman"/>
                <a:cs typeface="Times New Roman"/>
              </a:rPr>
              <a:t>	…</a:t>
            </a:r>
            <a:r>
              <a:rPr dirty="0" sz="2000" b="1">
                <a:solidFill>
                  <a:srgbClr val="40458B"/>
                </a:solidFill>
                <a:latin typeface="宋体"/>
                <a:cs typeface="宋体"/>
              </a:rPr>
              <a:t>，</a:t>
            </a:r>
            <a:r>
              <a:rPr dirty="0" sz="2000" b="1">
                <a:solidFill>
                  <a:srgbClr val="40458B"/>
                </a:solidFill>
                <a:latin typeface="Times New Roman"/>
                <a:cs typeface="Times New Roman"/>
              </a:rPr>
              <a:t>0(R3</a:t>
            </a:r>
            <a:r>
              <a:rPr dirty="0" sz="2000" spc="90" b="1">
                <a:solidFill>
                  <a:srgbClr val="40458B"/>
                </a:solidFill>
                <a:latin typeface="Times New Roman"/>
                <a:cs typeface="Times New Roman"/>
              </a:rPr>
              <a:t>) // </a:t>
            </a:r>
            <a:r>
              <a:rPr dirty="0" sz="2000" spc="-10" b="1">
                <a:solidFill>
                  <a:srgbClr val="FF3300"/>
                </a:solidFill>
                <a:latin typeface="宋体"/>
                <a:cs typeface="宋体"/>
              </a:rPr>
              <a:t>指令</a:t>
            </a:r>
            <a:r>
              <a:rPr dirty="0" sz="2000" spc="-10" b="1">
                <a:solidFill>
                  <a:srgbClr val="FF3300"/>
                </a:solidFill>
                <a:latin typeface="Times New Roman"/>
                <a:cs typeface="Times New Roman"/>
              </a:rPr>
              <a:t>I2</a:t>
            </a:r>
            <a:r>
              <a:rPr dirty="0" sz="2000" spc="-10" b="1">
                <a:solidFill>
                  <a:srgbClr val="40458B"/>
                </a:solidFill>
                <a:latin typeface="宋体"/>
                <a:cs typeface="宋体"/>
              </a:rPr>
              <a:t>，对应语句</a:t>
            </a:r>
            <a:r>
              <a:rPr dirty="0" sz="2000" spc="-10" b="1">
                <a:solidFill>
                  <a:srgbClr val="40458B"/>
                </a:solidFill>
                <a:latin typeface="Times New Roman"/>
                <a:cs typeface="Times New Roman"/>
              </a:rPr>
              <a:t>5:C[i]=</a:t>
            </a:r>
            <a:endParaRPr sz="2000">
              <a:latin typeface="Times New Roman"/>
              <a:cs typeface="Times New Roman"/>
            </a:endParaRPr>
          </a:p>
          <a:p>
            <a:pPr>
              <a:lnSpc>
                <a:spcPct val="100000"/>
              </a:lnSpc>
              <a:spcBef>
                <a:spcPts val="70"/>
              </a:spcBef>
            </a:pPr>
            <a:endParaRPr sz="2000">
              <a:latin typeface="Times New Roman"/>
              <a:cs typeface="Times New Roman"/>
            </a:endParaRPr>
          </a:p>
          <a:p>
            <a:pPr marL="469265" indent="-456565">
              <a:lnSpc>
                <a:spcPct val="100000"/>
              </a:lnSpc>
              <a:spcBef>
                <a:spcPts val="5"/>
              </a:spcBef>
              <a:buSzPct val="88888"/>
              <a:buFont typeface="Wingdings"/>
              <a:buChar char=""/>
              <a:tabLst>
                <a:tab pos="469265" algn="l"/>
              </a:tabLst>
            </a:pPr>
            <a:r>
              <a:rPr dirty="0" sz="1800" spc="-10">
                <a:solidFill>
                  <a:srgbClr val="40458B"/>
                </a:solidFill>
                <a:latin typeface="黑体"/>
                <a:cs typeface="黑体"/>
              </a:rPr>
              <a:t>调度指令</a:t>
            </a:r>
            <a:r>
              <a:rPr dirty="0" sz="1800" spc="-10">
                <a:solidFill>
                  <a:srgbClr val="40458B"/>
                </a:solidFill>
                <a:latin typeface="Times New Roman"/>
                <a:cs typeface="Times New Roman"/>
              </a:rPr>
              <a:t>I2</a:t>
            </a:r>
            <a:r>
              <a:rPr dirty="0" sz="1800" spc="-10">
                <a:solidFill>
                  <a:srgbClr val="40458B"/>
                </a:solidFill>
                <a:latin typeface="黑体"/>
                <a:cs typeface="黑体"/>
              </a:rPr>
              <a:t>到</a:t>
            </a:r>
            <a:r>
              <a:rPr dirty="0" sz="1800" spc="-10">
                <a:solidFill>
                  <a:srgbClr val="40458B"/>
                </a:solidFill>
                <a:latin typeface="Times New Roman"/>
                <a:cs typeface="Times New Roman"/>
              </a:rPr>
              <a:t>BEQZ</a:t>
            </a:r>
            <a:r>
              <a:rPr dirty="0" sz="1800" spc="-20">
                <a:solidFill>
                  <a:srgbClr val="40458B"/>
                </a:solidFill>
                <a:latin typeface="黑体"/>
                <a:cs typeface="黑体"/>
              </a:rPr>
              <a:t>之前，两步</a:t>
            </a:r>
            <a:endParaRPr sz="1800">
              <a:latin typeface="黑体"/>
              <a:cs typeface="黑体"/>
            </a:endParaRPr>
          </a:p>
          <a:p>
            <a:pPr lvl="1" marL="678180" marR="5080" indent="-457200">
              <a:lnSpc>
                <a:spcPct val="110000"/>
              </a:lnSpc>
              <a:spcBef>
                <a:spcPts val="430"/>
              </a:spcBef>
              <a:buClr>
                <a:srgbClr val="4668F5"/>
              </a:buClr>
              <a:buSzPct val="58333"/>
              <a:buFont typeface="Wingdings"/>
              <a:buChar char=""/>
              <a:tabLst>
                <a:tab pos="678180" algn="l"/>
              </a:tabLst>
            </a:pPr>
            <a:r>
              <a:rPr dirty="0" sz="1800">
                <a:latin typeface="微软雅黑"/>
                <a:cs typeface="微软雅黑"/>
              </a:rPr>
              <a:t>需复制：否则执行</a:t>
            </a:r>
            <a:r>
              <a:rPr dirty="0" sz="1800" spc="-10">
                <a:latin typeface="Times New Roman"/>
                <a:cs typeface="Times New Roman"/>
              </a:rPr>
              <a:t>elsepart</a:t>
            </a:r>
            <a:r>
              <a:rPr dirty="0" sz="1800">
                <a:latin typeface="微软雅黑"/>
                <a:cs typeface="微软雅黑"/>
              </a:rPr>
              <a:t>漏掉执行</a:t>
            </a:r>
            <a:r>
              <a:rPr dirty="0" sz="1800" spc="-10">
                <a:latin typeface="Times New Roman"/>
                <a:cs typeface="Times New Roman"/>
              </a:rPr>
              <a:t>I2</a:t>
            </a:r>
            <a:r>
              <a:rPr dirty="0" sz="1800" spc="-5">
                <a:latin typeface="微软雅黑"/>
                <a:cs typeface="微软雅黑"/>
              </a:rPr>
              <a:t>，可能影响</a:t>
            </a:r>
            <a:r>
              <a:rPr dirty="0" sz="1800">
                <a:latin typeface="Times New Roman"/>
                <a:cs typeface="Times New Roman"/>
              </a:rPr>
              <a:t>jion</a:t>
            </a:r>
            <a:r>
              <a:rPr dirty="0" sz="1800">
                <a:latin typeface="微软雅黑"/>
                <a:cs typeface="微软雅黑"/>
              </a:rPr>
              <a:t>后与</a:t>
            </a:r>
            <a:r>
              <a:rPr dirty="0" sz="1800" spc="-25">
                <a:latin typeface="Times New Roman"/>
                <a:cs typeface="Times New Roman"/>
              </a:rPr>
              <a:t>I2</a:t>
            </a:r>
            <a:r>
              <a:rPr dirty="0" sz="1800" spc="-10">
                <a:latin typeface="微软雅黑"/>
                <a:cs typeface="微软雅黑"/>
              </a:rPr>
              <a:t>数据相关的语句；</a:t>
            </a:r>
            <a:endParaRPr sz="1800">
              <a:latin typeface="微软雅黑"/>
              <a:cs typeface="微软雅黑"/>
            </a:endParaRPr>
          </a:p>
        </p:txBody>
      </p:sp>
      <p:sp>
        <p:nvSpPr>
          <p:cNvPr id="29" name="object 29"/>
          <p:cNvSpPr txBox="1">
            <a:spLocks noGrp="1"/>
          </p:cNvSpPr>
          <p:nvPr>
            <p:ph type="title"/>
          </p:nvPr>
        </p:nvSpPr>
        <p:spPr>
          <a:xfrm>
            <a:off x="4831460" y="101041"/>
            <a:ext cx="5294630" cy="391795"/>
          </a:xfrm>
          <a:prstGeom prst="rect"/>
        </p:spPr>
        <p:txBody>
          <a:bodyPr wrap="square" lIns="0" tIns="12700" rIns="0" bIns="0" rtlCol="0" vert="horz">
            <a:spAutoFit/>
          </a:bodyPr>
          <a:lstStyle/>
          <a:p>
            <a:pPr marL="12700">
              <a:lnSpc>
                <a:spcPct val="100000"/>
              </a:lnSpc>
              <a:spcBef>
                <a:spcPts val="100"/>
              </a:spcBef>
            </a:pPr>
            <a:r>
              <a:rPr dirty="0" u="none" sz="2400" spc="-10">
                <a:solidFill>
                  <a:srgbClr val="40458B"/>
                </a:solidFill>
              </a:rPr>
              <a:t>变量</a:t>
            </a:r>
            <a:r>
              <a:rPr dirty="0" u="none" sz="2400" spc="-10">
                <a:solidFill>
                  <a:srgbClr val="40458B"/>
                </a:solidFill>
                <a:latin typeface="Tahoma"/>
                <a:cs typeface="Tahoma"/>
              </a:rPr>
              <a:t>A</a:t>
            </a:r>
            <a:r>
              <a:rPr dirty="0" u="none" sz="2400" spc="-10">
                <a:solidFill>
                  <a:srgbClr val="40458B"/>
                </a:solidFill>
              </a:rPr>
              <a:t>、</a:t>
            </a:r>
            <a:r>
              <a:rPr dirty="0" u="none" sz="2400">
                <a:solidFill>
                  <a:srgbClr val="40458B"/>
                </a:solidFill>
                <a:latin typeface="Tahoma"/>
                <a:cs typeface="Tahoma"/>
              </a:rPr>
              <a:t>B</a:t>
            </a:r>
            <a:r>
              <a:rPr dirty="0" u="none" sz="2400" spc="-10">
                <a:solidFill>
                  <a:srgbClr val="40458B"/>
                </a:solidFill>
              </a:rPr>
              <a:t>、</a:t>
            </a:r>
            <a:r>
              <a:rPr dirty="0" u="none" sz="2400" spc="-10">
                <a:solidFill>
                  <a:srgbClr val="40458B"/>
                </a:solidFill>
                <a:latin typeface="Tahoma"/>
                <a:cs typeface="Tahoma"/>
              </a:rPr>
              <a:t>C</a:t>
            </a:r>
            <a:r>
              <a:rPr dirty="0" u="none" sz="2400" spc="-10">
                <a:solidFill>
                  <a:srgbClr val="40458B"/>
                </a:solidFill>
              </a:rPr>
              <a:t>的地址保存在</a:t>
            </a:r>
            <a:r>
              <a:rPr dirty="0" u="none" sz="2400" spc="-10">
                <a:solidFill>
                  <a:srgbClr val="40458B"/>
                </a:solidFill>
                <a:latin typeface="Tahoma"/>
                <a:cs typeface="Tahoma"/>
              </a:rPr>
              <a:t>R1</a:t>
            </a:r>
            <a:r>
              <a:rPr dirty="0" u="none" sz="2400" spc="-10">
                <a:solidFill>
                  <a:srgbClr val="40458B"/>
                </a:solidFill>
              </a:rPr>
              <a:t>、</a:t>
            </a:r>
            <a:r>
              <a:rPr dirty="0" u="none" sz="2400" spc="-10">
                <a:solidFill>
                  <a:srgbClr val="40458B"/>
                </a:solidFill>
                <a:latin typeface="Tahoma"/>
                <a:cs typeface="Tahoma"/>
              </a:rPr>
              <a:t>R2</a:t>
            </a:r>
            <a:r>
              <a:rPr dirty="0" u="none" sz="2400" spc="-10">
                <a:solidFill>
                  <a:srgbClr val="40458B"/>
                </a:solidFill>
              </a:rPr>
              <a:t>、</a:t>
            </a:r>
            <a:r>
              <a:rPr dirty="0" u="none" sz="2400" spc="-25">
                <a:solidFill>
                  <a:srgbClr val="40458B"/>
                </a:solidFill>
                <a:latin typeface="Tahoma"/>
                <a:cs typeface="Tahoma"/>
              </a:rPr>
              <a:t>R3</a:t>
            </a:r>
            <a:endParaRPr sz="2400">
              <a:latin typeface="Tahoma"/>
              <a:cs typeface="Tahoma"/>
            </a:endParaRPr>
          </a:p>
        </p:txBody>
      </p:sp>
      <p:grpSp>
        <p:nvGrpSpPr>
          <p:cNvPr id="30" name="object 30" descr=""/>
          <p:cNvGrpSpPr/>
          <p:nvPr/>
        </p:nvGrpSpPr>
        <p:grpSpPr>
          <a:xfrm>
            <a:off x="1080794" y="22695"/>
            <a:ext cx="2481580" cy="3102610"/>
            <a:chOff x="1080794" y="22695"/>
            <a:chExt cx="2481580" cy="3102610"/>
          </a:xfrm>
        </p:grpSpPr>
        <p:sp>
          <p:nvSpPr>
            <p:cNvPr id="31" name="object 31" descr=""/>
            <p:cNvSpPr/>
            <p:nvPr/>
          </p:nvSpPr>
          <p:spPr>
            <a:xfrm>
              <a:off x="1086826" y="28728"/>
              <a:ext cx="2065020" cy="3090545"/>
            </a:xfrm>
            <a:custGeom>
              <a:avLst/>
              <a:gdLst/>
              <a:ahLst/>
              <a:cxnLst/>
              <a:rect l="l" t="t" r="r" b="b"/>
              <a:pathLst>
                <a:path w="2065020" h="3090545">
                  <a:moveTo>
                    <a:pt x="939396" y="0"/>
                  </a:moveTo>
                  <a:lnTo>
                    <a:pt x="887459" y="959"/>
                  </a:lnTo>
                  <a:lnTo>
                    <a:pt x="836052" y="4714"/>
                  </a:lnTo>
                  <a:lnTo>
                    <a:pt x="785684" y="11406"/>
                  </a:lnTo>
                  <a:lnTo>
                    <a:pt x="736866" y="21176"/>
                  </a:lnTo>
                  <a:lnTo>
                    <a:pt x="690110" y="34166"/>
                  </a:lnTo>
                  <a:lnTo>
                    <a:pt x="645925" y="50517"/>
                  </a:lnTo>
                  <a:lnTo>
                    <a:pt x="604823" y="70372"/>
                  </a:lnTo>
                  <a:lnTo>
                    <a:pt x="562855" y="96940"/>
                  </a:lnTo>
                  <a:lnTo>
                    <a:pt x="525633" y="127661"/>
                  </a:lnTo>
                  <a:lnTo>
                    <a:pt x="493362" y="162085"/>
                  </a:lnTo>
                  <a:lnTo>
                    <a:pt x="466249" y="199761"/>
                  </a:lnTo>
                  <a:lnTo>
                    <a:pt x="444502" y="240241"/>
                  </a:lnTo>
                  <a:lnTo>
                    <a:pt x="428327" y="283075"/>
                  </a:lnTo>
                  <a:lnTo>
                    <a:pt x="417931" y="327812"/>
                  </a:lnTo>
                  <a:lnTo>
                    <a:pt x="413521" y="374003"/>
                  </a:lnTo>
                  <a:lnTo>
                    <a:pt x="414806" y="418138"/>
                  </a:lnTo>
                  <a:lnTo>
                    <a:pt x="420571" y="463072"/>
                  </a:lnTo>
                  <a:lnTo>
                    <a:pt x="429897" y="508736"/>
                  </a:lnTo>
                  <a:lnTo>
                    <a:pt x="441863" y="555064"/>
                  </a:lnTo>
                  <a:lnTo>
                    <a:pt x="455551" y="601987"/>
                  </a:lnTo>
                  <a:lnTo>
                    <a:pt x="484418" y="697347"/>
                  </a:lnTo>
                  <a:lnTo>
                    <a:pt x="497759" y="745649"/>
                  </a:lnTo>
                  <a:lnTo>
                    <a:pt x="509146" y="794275"/>
                  </a:lnTo>
                  <a:lnTo>
                    <a:pt x="517751" y="842349"/>
                  </a:lnTo>
                  <a:lnTo>
                    <a:pt x="523957" y="890745"/>
                  </a:lnTo>
                  <a:lnTo>
                    <a:pt x="528134" y="939547"/>
                  </a:lnTo>
                  <a:lnTo>
                    <a:pt x="530656" y="988840"/>
                  </a:lnTo>
                  <a:lnTo>
                    <a:pt x="531893" y="1038708"/>
                  </a:lnTo>
                  <a:lnTo>
                    <a:pt x="532217" y="1089237"/>
                  </a:lnTo>
                  <a:lnTo>
                    <a:pt x="531426" y="1245631"/>
                  </a:lnTo>
                  <a:lnTo>
                    <a:pt x="531813" y="1299647"/>
                  </a:lnTo>
                  <a:lnTo>
                    <a:pt x="533146" y="1354747"/>
                  </a:lnTo>
                  <a:lnTo>
                    <a:pt x="537493" y="1466798"/>
                  </a:lnTo>
                  <a:lnTo>
                    <a:pt x="537550" y="1520497"/>
                  </a:lnTo>
                  <a:lnTo>
                    <a:pt x="534001" y="1570466"/>
                  </a:lnTo>
                  <a:lnTo>
                    <a:pt x="525198" y="1615069"/>
                  </a:lnTo>
                  <a:lnTo>
                    <a:pt x="509496" y="1652672"/>
                  </a:lnTo>
                  <a:lnTo>
                    <a:pt x="449951" y="1701585"/>
                  </a:lnTo>
                  <a:lnTo>
                    <a:pt x="406124" y="1713072"/>
                  </a:lnTo>
                  <a:lnTo>
                    <a:pt x="356241" y="1718730"/>
                  </a:lnTo>
                  <a:lnTo>
                    <a:pt x="302774" y="1721189"/>
                  </a:lnTo>
                  <a:lnTo>
                    <a:pt x="248196" y="1723082"/>
                  </a:lnTo>
                  <a:lnTo>
                    <a:pt x="194981" y="1727037"/>
                  </a:lnTo>
                  <a:lnTo>
                    <a:pt x="145601" y="1735685"/>
                  </a:lnTo>
                  <a:lnTo>
                    <a:pt x="102530" y="1751658"/>
                  </a:lnTo>
                  <a:lnTo>
                    <a:pt x="48567" y="1799381"/>
                  </a:lnTo>
                  <a:lnTo>
                    <a:pt x="16063" y="1869632"/>
                  </a:lnTo>
                  <a:lnTo>
                    <a:pt x="6781" y="1911419"/>
                  </a:lnTo>
                  <a:lnTo>
                    <a:pt x="1570" y="1956695"/>
                  </a:lnTo>
                  <a:lnTo>
                    <a:pt x="0" y="2004745"/>
                  </a:lnTo>
                  <a:lnTo>
                    <a:pt x="1638" y="2054855"/>
                  </a:lnTo>
                  <a:lnTo>
                    <a:pt x="6054" y="2106311"/>
                  </a:lnTo>
                  <a:lnTo>
                    <a:pt x="12817" y="2158398"/>
                  </a:lnTo>
                  <a:lnTo>
                    <a:pt x="21496" y="2210402"/>
                  </a:lnTo>
                  <a:lnTo>
                    <a:pt x="31658" y="2261608"/>
                  </a:lnTo>
                  <a:lnTo>
                    <a:pt x="42874" y="2311302"/>
                  </a:lnTo>
                  <a:lnTo>
                    <a:pt x="54712" y="2358770"/>
                  </a:lnTo>
                  <a:lnTo>
                    <a:pt x="70467" y="2415890"/>
                  </a:lnTo>
                  <a:lnTo>
                    <a:pt x="87087" y="2468175"/>
                  </a:lnTo>
                  <a:lnTo>
                    <a:pt x="105116" y="2515692"/>
                  </a:lnTo>
                  <a:lnTo>
                    <a:pt x="125102" y="2558510"/>
                  </a:lnTo>
                  <a:lnTo>
                    <a:pt x="147592" y="2596697"/>
                  </a:lnTo>
                  <a:lnTo>
                    <a:pt x="173130" y="2630322"/>
                  </a:lnTo>
                  <a:lnTo>
                    <a:pt x="202263" y="2659453"/>
                  </a:lnTo>
                  <a:lnTo>
                    <a:pt x="235538" y="2684158"/>
                  </a:lnTo>
                  <a:lnTo>
                    <a:pt x="273501" y="2704505"/>
                  </a:lnTo>
                  <a:lnTo>
                    <a:pt x="316697" y="2720564"/>
                  </a:lnTo>
                  <a:lnTo>
                    <a:pt x="365674" y="2732402"/>
                  </a:lnTo>
                  <a:lnTo>
                    <a:pt x="412155" y="2739367"/>
                  </a:lnTo>
                  <a:lnTo>
                    <a:pt x="461959" y="2744280"/>
                  </a:lnTo>
                  <a:lnTo>
                    <a:pt x="566426" y="2751818"/>
                  </a:lnTo>
                  <a:lnTo>
                    <a:pt x="618532" y="2756380"/>
                  </a:lnTo>
                  <a:lnTo>
                    <a:pt x="668851" y="2762759"/>
                  </a:lnTo>
                  <a:lnTo>
                    <a:pt x="716102" y="2771925"/>
                  </a:lnTo>
                  <a:lnTo>
                    <a:pt x="759009" y="2784844"/>
                  </a:lnTo>
                  <a:lnTo>
                    <a:pt x="796293" y="2802485"/>
                  </a:lnTo>
                  <a:lnTo>
                    <a:pt x="839990" y="2837786"/>
                  </a:lnTo>
                  <a:lnTo>
                    <a:pt x="874548" y="2880265"/>
                  </a:lnTo>
                  <a:lnTo>
                    <a:pt x="905847" y="2924711"/>
                  </a:lnTo>
                  <a:lnTo>
                    <a:pt x="939765" y="2965915"/>
                  </a:lnTo>
                  <a:lnTo>
                    <a:pt x="972505" y="2993817"/>
                  </a:lnTo>
                  <a:lnTo>
                    <a:pt x="1010378" y="3016777"/>
                  </a:lnTo>
                  <a:lnTo>
                    <a:pt x="1052975" y="3035363"/>
                  </a:lnTo>
                  <a:lnTo>
                    <a:pt x="1099885" y="3050146"/>
                  </a:lnTo>
                  <a:lnTo>
                    <a:pt x="1150699" y="3061695"/>
                  </a:lnTo>
                  <a:lnTo>
                    <a:pt x="1205008" y="3070579"/>
                  </a:lnTo>
                  <a:lnTo>
                    <a:pt x="1262401" y="3077368"/>
                  </a:lnTo>
                  <a:lnTo>
                    <a:pt x="1322470" y="3082631"/>
                  </a:lnTo>
                  <a:lnTo>
                    <a:pt x="1376867" y="3086312"/>
                  </a:lnTo>
                  <a:lnTo>
                    <a:pt x="1431800" y="3088875"/>
                  </a:lnTo>
                  <a:lnTo>
                    <a:pt x="1486064" y="3089935"/>
                  </a:lnTo>
                  <a:lnTo>
                    <a:pt x="1538455" y="3089111"/>
                  </a:lnTo>
                  <a:lnTo>
                    <a:pt x="1587767" y="3086019"/>
                  </a:lnTo>
                  <a:lnTo>
                    <a:pt x="1632794" y="3080275"/>
                  </a:lnTo>
                  <a:lnTo>
                    <a:pt x="1672332" y="3071498"/>
                  </a:lnTo>
                  <a:lnTo>
                    <a:pt x="1729756" y="3043940"/>
                  </a:lnTo>
                  <a:lnTo>
                    <a:pt x="1758442" y="3003283"/>
                  </a:lnTo>
                  <a:lnTo>
                    <a:pt x="1763452" y="2978386"/>
                  </a:lnTo>
                  <a:lnTo>
                    <a:pt x="1762845" y="2950706"/>
                  </a:lnTo>
                  <a:lnTo>
                    <a:pt x="1746590" y="2887794"/>
                  </a:lnTo>
                  <a:lnTo>
                    <a:pt x="1713300" y="2816135"/>
                  </a:lnTo>
                  <a:lnTo>
                    <a:pt x="1691400" y="2777520"/>
                  </a:lnTo>
                  <a:lnTo>
                    <a:pt x="1666600" y="2737313"/>
                  </a:lnTo>
                  <a:lnTo>
                    <a:pt x="1639353" y="2695712"/>
                  </a:lnTo>
                  <a:lnTo>
                    <a:pt x="1610112" y="2652916"/>
                  </a:lnTo>
                  <a:lnTo>
                    <a:pt x="1579330" y="2609122"/>
                  </a:lnTo>
                  <a:lnTo>
                    <a:pt x="1482270" y="2473738"/>
                  </a:lnTo>
                  <a:lnTo>
                    <a:pt x="1449855" y="2427938"/>
                  </a:lnTo>
                  <a:lnTo>
                    <a:pt x="1418164" y="2382131"/>
                  </a:lnTo>
                  <a:lnTo>
                    <a:pt x="1383763" y="2330660"/>
                  </a:lnTo>
                  <a:lnTo>
                    <a:pt x="1351093" y="2279606"/>
                  </a:lnTo>
                  <a:lnTo>
                    <a:pt x="1320387" y="2229143"/>
                  </a:lnTo>
                  <a:lnTo>
                    <a:pt x="1291876" y="2179443"/>
                  </a:lnTo>
                  <a:lnTo>
                    <a:pt x="1265794" y="2130680"/>
                  </a:lnTo>
                  <a:lnTo>
                    <a:pt x="1242372" y="2083027"/>
                  </a:lnTo>
                  <a:lnTo>
                    <a:pt x="1221843" y="2036658"/>
                  </a:lnTo>
                  <a:lnTo>
                    <a:pt x="1204440" y="1991745"/>
                  </a:lnTo>
                  <a:lnTo>
                    <a:pt x="1190394" y="1948462"/>
                  </a:lnTo>
                  <a:lnTo>
                    <a:pt x="1179939" y="1906981"/>
                  </a:lnTo>
                  <a:lnTo>
                    <a:pt x="1173306" y="1867476"/>
                  </a:lnTo>
                  <a:lnTo>
                    <a:pt x="1170727" y="1830120"/>
                  </a:lnTo>
                  <a:lnTo>
                    <a:pt x="1172437" y="1795087"/>
                  </a:lnTo>
                  <a:lnTo>
                    <a:pt x="1189646" y="1732680"/>
                  </a:lnTo>
                  <a:lnTo>
                    <a:pt x="1226794" y="1681640"/>
                  </a:lnTo>
                  <a:lnTo>
                    <a:pt x="1285811" y="1641910"/>
                  </a:lnTo>
                  <a:lnTo>
                    <a:pt x="1322250" y="1625758"/>
                  </a:lnTo>
                  <a:lnTo>
                    <a:pt x="1362498" y="1611423"/>
                  </a:lnTo>
                  <a:lnTo>
                    <a:pt x="1405943" y="1598410"/>
                  </a:lnTo>
                  <a:lnTo>
                    <a:pt x="1451977" y="1586228"/>
                  </a:lnTo>
                  <a:lnTo>
                    <a:pt x="1549370" y="1562375"/>
                  </a:lnTo>
                  <a:lnTo>
                    <a:pt x="1599510" y="1549717"/>
                  </a:lnTo>
                  <a:lnTo>
                    <a:pt x="1649800" y="1535913"/>
                  </a:lnTo>
                  <a:lnTo>
                    <a:pt x="1699629" y="1520469"/>
                  </a:lnTo>
                  <a:lnTo>
                    <a:pt x="1748388" y="1502892"/>
                  </a:lnTo>
                  <a:lnTo>
                    <a:pt x="1795467" y="1482687"/>
                  </a:lnTo>
                  <a:lnTo>
                    <a:pt x="1840256" y="1459361"/>
                  </a:lnTo>
                  <a:lnTo>
                    <a:pt x="1882146" y="1432420"/>
                  </a:lnTo>
                  <a:lnTo>
                    <a:pt x="1920527" y="1401371"/>
                  </a:lnTo>
                  <a:lnTo>
                    <a:pt x="1955612" y="1365062"/>
                  </a:lnTo>
                  <a:lnTo>
                    <a:pt x="1986184" y="1324819"/>
                  </a:lnTo>
                  <a:lnTo>
                    <a:pt x="2012049" y="1281542"/>
                  </a:lnTo>
                  <a:lnTo>
                    <a:pt x="2033013" y="1236128"/>
                  </a:lnTo>
                  <a:lnTo>
                    <a:pt x="2048882" y="1189480"/>
                  </a:lnTo>
                  <a:lnTo>
                    <a:pt x="2059462" y="1142495"/>
                  </a:lnTo>
                  <a:lnTo>
                    <a:pt x="2064561" y="1096074"/>
                  </a:lnTo>
                  <a:lnTo>
                    <a:pt x="2063982" y="1051117"/>
                  </a:lnTo>
                  <a:lnTo>
                    <a:pt x="2057165" y="1006078"/>
                  </a:lnTo>
                  <a:lnTo>
                    <a:pt x="2044474" y="963374"/>
                  </a:lnTo>
                  <a:lnTo>
                    <a:pt x="2026567" y="922700"/>
                  </a:lnTo>
                  <a:lnTo>
                    <a:pt x="2004100" y="883753"/>
                  </a:lnTo>
                  <a:lnTo>
                    <a:pt x="1977731" y="846229"/>
                  </a:lnTo>
                  <a:lnTo>
                    <a:pt x="1948117" y="809825"/>
                  </a:lnTo>
                  <a:lnTo>
                    <a:pt x="1915916" y="774236"/>
                  </a:lnTo>
                  <a:lnTo>
                    <a:pt x="1881784" y="739160"/>
                  </a:lnTo>
                  <a:lnTo>
                    <a:pt x="1846379" y="704291"/>
                  </a:lnTo>
                  <a:lnTo>
                    <a:pt x="1774380" y="633965"/>
                  </a:lnTo>
                  <a:lnTo>
                    <a:pt x="1739100" y="597899"/>
                  </a:lnTo>
                  <a:lnTo>
                    <a:pt x="1705175" y="560827"/>
                  </a:lnTo>
                  <a:lnTo>
                    <a:pt x="1662799" y="509462"/>
                  </a:lnTo>
                  <a:lnTo>
                    <a:pt x="1623714" y="456818"/>
                  </a:lnTo>
                  <a:lnTo>
                    <a:pt x="1587614" y="403959"/>
                  </a:lnTo>
                  <a:lnTo>
                    <a:pt x="1554193" y="351945"/>
                  </a:lnTo>
                  <a:lnTo>
                    <a:pt x="1494157" y="254705"/>
                  </a:lnTo>
                  <a:lnTo>
                    <a:pt x="1466928" y="211603"/>
                  </a:lnTo>
                  <a:lnTo>
                    <a:pt x="1441150" y="173596"/>
                  </a:lnTo>
                  <a:lnTo>
                    <a:pt x="1416515" y="141747"/>
                  </a:lnTo>
                  <a:lnTo>
                    <a:pt x="1369448" y="100770"/>
                  </a:lnTo>
                  <a:lnTo>
                    <a:pt x="1346402" y="93767"/>
                  </a:lnTo>
                  <a:lnTo>
                    <a:pt x="1312678" y="75945"/>
                  </a:lnTo>
                  <a:lnTo>
                    <a:pt x="1274887" y="59644"/>
                  </a:lnTo>
                  <a:lnTo>
                    <a:pt x="1233542" y="45005"/>
                  </a:lnTo>
                  <a:lnTo>
                    <a:pt x="1189151" y="32169"/>
                  </a:lnTo>
                  <a:lnTo>
                    <a:pt x="1142226" y="21278"/>
                  </a:lnTo>
                  <a:lnTo>
                    <a:pt x="1093278" y="12474"/>
                  </a:lnTo>
                  <a:lnTo>
                    <a:pt x="1042816" y="5899"/>
                  </a:lnTo>
                  <a:lnTo>
                    <a:pt x="991352" y="1693"/>
                  </a:lnTo>
                  <a:lnTo>
                    <a:pt x="939396" y="0"/>
                  </a:lnTo>
                  <a:close/>
                </a:path>
              </a:pathLst>
            </a:custGeom>
            <a:solidFill>
              <a:srgbClr val="DDDDDD"/>
            </a:solidFill>
          </p:spPr>
          <p:txBody>
            <a:bodyPr wrap="square" lIns="0" tIns="0" rIns="0" bIns="0" rtlCol="0"/>
            <a:lstStyle/>
            <a:p/>
          </p:txBody>
        </p:sp>
        <p:sp>
          <p:nvSpPr>
            <p:cNvPr id="32" name="object 32" descr=""/>
            <p:cNvSpPr/>
            <p:nvPr/>
          </p:nvSpPr>
          <p:spPr>
            <a:xfrm>
              <a:off x="1086826" y="28728"/>
              <a:ext cx="2065020" cy="3090545"/>
            </a:xfrm>
            <a:custGeom>
              <a:avLst/>
              <a:gdLst/>
              <a:ahLst/>
              <a:cxnLst/>
              <a:rect l="l" t="t" r="r" b="b"/>
              <a:pathLst>
                <a:path w="2065020" h="3090545">
                  <a:moveTo>
                    <a:pt x="1346402" y="93767"/>
                  </a:moveTo>
                  <a:lnTo>
                    <a:pt x="1312678" y="75945"/>
                  </a:lnTo>
                  <a:lnTo>
                    <a:pt x="1274887" y="59644"/>
                  </a:lnTo>
                  <a:lnTo>
                    <a:pt x="1233542" y="45005"/>
                  </a:lnTo>
                  <a:lnTo>
                    <a:pt x="1189151" y="32169"/>
                  </a:lnTo>
                  <a:lnTo>
                    <a:pt x="1142226" y="21278"/>
                  </a:lnTo>
                  <a:lnTo>
                    <a:pt x="1093278" y="12474"/>
                  </a:lnTo>
                  <a:lnTo>
                    <a:pt x="1042816" y="5899"/>
                  </a:lnTo>
                  <a:lnTo>
                    <a:pt x="991352" y="1693"/>
                  </a:lnTo>
                  <a:lnTo>
                    <a:pt x="939396" y="0"/>
                  </a:lnTo>
                  <a:lnTo>
                    <a:pt x="887459" y="959"/>
                  </a:lnTo>
                  <a:lnTo>
                    <a:pt x="836052" y="4714"/>
                  </a:lnTo>
                  <a:lnTo>
                    <a:pt x="785684" y="11406"/>
                  </a:lnTo>
                  <a:lnTo>
                    <a:pt x="736866" y="21176"/>
                  </a:lnTo>
                  <a:lnTo>
                    <a:pt x="690110" y="34166"/>
                  </a:lnTo>
                  <a:lnTo>
                    <a:pt x="645925" y="50517"/>
                  </a:lnTo>
                  <a:lnTo>
                    <a:pt x="604823" y="70372"/>
                  </a:lnTo>
                  <a:lnTo>
                    <a:pt x="562855" y="96940"/>
                  </a:lnTo>
                  <a:lnTo>
                    <a:pt x="525633" y="127661"/>
                  </a:lnTo>
                  <a:lnTo>
                    <a:pt x="493362" y="162085"/>
                  </a:lnTo>
                  <a:lnTo>
                    <a:pt x="466249" y="199761"/>
                  </a:lnTo>
                  <a:lnTo>
                    <a:pt x="444502" y="240241"/>
                  </a:lnTo>
                  <a:lnTo>
                    <a:pt x="428327" y="283075"/>
                  </a:lnTo>
                  <a:lnTo>
                    <a:pt x="417931" y="327812"/>
                  </a:lnTo>
                  <a:lnTo>
                    <a:pt x="413521" y="374003"/>
                  </a:lnTo>
                  <a:lnTo>
                    <a:pt x="414806" y="418138"/>
                  </a:lnTo>
                  <a:lnTo>
                    <a:pt x="420571" y="463072"/>
                  </a:lnTo>
                  <a:lnTo>
                    <a:pt x="429897" y="508736"/>
                  </a:lnTo>
                  <a:lnTo>
                    <a:pt x="441863" y="555064"/>
                  </a:lnTo>
                  <a:lnTo>
                    <a:pt x="455551" y="601987"/>
                  </a:lnTo>
                  <a:lnTo>
                    <a:pt x="470043" y="649437"/>
                  </a:lnTo>
                  <a:lnTo>
                    <a:pt x="484418" y="697347"/>
                  </a:lnTo>
                  <a:lnTo>
                    <a:pt x="497759" y="745649"/>
                  </a:lnTo>
                  <a:lnTo>
                    <a:pt x="509146" y="794275"/>
                  </a:lnTo>
                  <a:lnTo>
                    <a:pt x="517751" y="842349"/>
                  </a:lnTo>
                  <a:lnTo>
                    <a:pt x="523957" y="890745"/>
                  </a:lnTo>
                  <a:lnTo>
                    <a:pt x="528134" y="939547"/>
                  </a:lnTo>
                  <a:lnTo>
                    <a:pt x="530656" y="988840"/>
                  </a:lnTo>
                  <a:lnTo>
                    <a:pt x="531893" y="1038708"/>
                  </a:lnTo>
                  <a:lnTo>
                    <a:pt x="532217" y="1089237"/>
                  </a:lnTo>
                  <a:lnTo>
                    <a:pt x="531999" y="1140510"/>
                  </a:lnTo>
                  <a:lnTo>
                    <a:pt x="531612" y="1192613"/>
                  </a:lnTo>
                  <a:lnTo>
                    <a:pt x="531426" y="1245631"/>
                  </a:lnTo>
                  <a:lnTo>
                    <a:pt x="531813" y="1299647"/>
                  </a:lnTo>
                  <a:lnTo>
                    <a:pt x="533146" y="1354747"/>
                  </a:lnTo>
                  <a:lnTo>
                    <a:pt x="535476" y="1411003"/>
                  </a:lnTo>
                  <a:lnTo>
                    <a:pt x="537493" y="1466798"/>
                  </a:lnTo>
                  <a:lnTo>
                    <a:pt x="537550" y="1520497"/>
                  </a:lnTo>
                  <a:lnTo>
                    <a:pt x="534001" y="1570466"/>
                  </a:lnTo>
                  <a:lnTo>
                    <a:pt x="525198" y="1615069"/>
                  </a:lnTo>
                  <a:lnTo>
                    <a:pt x="509496" y="1652672"/>
                  </a:lnTo>
                  <a:lnTo>
                    <a:pt x="449951" y="1701585"/>
                  </a:lnTo>
                  <a:lnTo>
                    <a:pt x="406124" y="1713072"/>
                  </a:lnTo>
                  <a:lnTo>
                    <a:pt x="356241" y="1718730"/>
                  </a:lnTo>
                  <a:lnTo>
                    <a:pt x="302774" y="1721189"/>
                  </a:lnTo>
                  <a:lnTo>
                    <a:pt x="248196" y="1723082"/>
                  </a:lnTo>
                  <a:lnTo>
                    <a:pt x="194981" y="1727037"/>
                  </a:lnTo>
                  <a:lnTo>
                    <a:pt x="145601" y="1735685"/>
                  </a:lnTo>
                  <a:lnTo>
                    <a:pt x="102530" y="1751658"/>
                  </a:lnTo>
                  <a:lnTo>
                    <a:pt x="48567" y="1799381"/>
                  </a:lnTo>
                  <a:lnTo>
                    <a:pt x="16063" y="1869632"/>
                  </a:lnTo>
                  <a:lnTo>
                    <a:pt x="6781" y="1911419"/>
                  </a:lnTo>
                  <a:lnTo>
                    <a:pt x="1570" y="1956695"/>
                  </a:lnTo>
                  <a:lnTo>
                    <a:pt x="0" y="2004745"/>
                  </a:lnTo>
                  <a:lnTo>
                    <a:pt x="1638" y="2054855"/>
                  </a:lnTo>
                  <a:lnTo>
                    <a:pt x="6054" y="2106311"/>
                  </a:lnTo>
                  <a:lnTo>
                    <a:pt x="12817" y="2158398"/>
                  </a:lnTo>
                  <a:lnTo>
                    <a:pt x="21496" y="2210402"/>
                  </a:lnTo>
                  <a:lnTo>
                    <a:pt x="31658" y="2261608"/>
                  </a:lnTo>
                  <a:lnTo>
                    <a:pt x="42874" y="2311302"/>
                  </a:lnTo>
                  <a:lnTo>
                    <a:pt x="54712" y="2358770"/>
                  </a:lnTo>
                  <a:lnTo>
                    <a:pt x="70467" y="2415890"/>
                  </a:lnTo>
                  <a:lnTo>
                    <a:pt x="87087" y="2468175"/>
                  </a:lnTo>
                  <a:lnTo>
                    <a:pt x="105116" y="2515692"/>
                  </a:lnTo>
                  <a:lnTo>
                    <a:pt x="125102" y="2558510"/>
                  </a:lnTo>
                  <a:lnTo>
                    <a:pt x="147592" y="2596697"/>
                  </a:lnTo>
                  <a:lnTo>
                    <a:pt x="173130" y="2630322"/>
                  </a:lnTo>
                  <a:lnTo>
                    <a:pt x="202263" y="2659453"/>
                  </a:lnTo>
                  <a:lnTo>
                    <a:pt x="235538" y="2684158"/>
                  </a:lnTo>
                  <a:lnTo>
                    <a:pt x="273501" y="2704505"/>
                  </a:lnTo>
                  <a:lnTo>
                    <a:pt x="316697" y="2720564"/>
                  </a:lnTo>
                  <a:lnTo>
                    <a:pt x="365674" y="2732402"/>
                  </a:lnTo>
                  <a:lnTo>
                    <a:pt x="412155" y="2739367"/>
                  </a:lnTo>
                  <a:lnTo>
                    <a:pt x="461959" y="2744280"/>
                  </a:lnTo>
                  <a:lnTo>
                    <a:pt x="513808" y="2748108"/>
                  </a:lnTo>
                  <a:lnTo>
                    <a:pt x="566426" y="2751818"/>
                  </a:lnTo>
                  <a:lnTo>
                    <a:pt x="618532" y="2756380"/>
                  </a:lnTo>
                  <a:lnTo>
                    <a:pt x="668851" y="2762759"/>
                  </a:lnTo>
                  <a:lnTo>
                    <a:pt x="716102" y="2771925"/>
                  </a:lnTo>
                  <a:lnTo>
                    <a:pt x="759009" y="2784844"/>
                  </a:lnTo>
                  <a:lnTo>
                    <a:pt x="796293" y="2802485"/>
                  </a:lnTo>
                  <a:lnTo>
                    <a:pt x="839990" y="2837786"/>
                  </a:lnTo>
                  <a:lnTo>
                    <a:pt x="874548" y="2880265"/>
                  </a:lnTo>
                  <a:lnTo>
                    <a:pt x="905847" y="2924711"/>
                  </a:lnTo>
                  <a:lnTo>
                    <a:pt x="939765" y="2965915"/>
                  </a:lnTo>
                  <a:lnTo>
                    <a:pt x="972505" y="2993817"/>
                  </a:lnTo>
                  <a:lnTo>
                    <a:pt x="1010378" y="3016777"/>
                  </a:lnTo>
                  <a:lnTo>
                    <a:pt x="1052975" y="3035363"/>
                  </a:lnTo>
                  <a:lnTo>
                    <a:pt x="1099885" y="3050146"/>
                  </a:lnTo>
                  <a:lnTo>
                    <a:pt x="1150699" y="3061695"/>
                  </a:lnTo>
                  <a:lnTo>
                    <a:pt x="1205008" y="3070579"/>
                  </a:lnTo>
                  <a:lnTo>
                    <a:pt x="1262401" y="3077368"/>
                  </a:lnTo>
                  <a:lnTo>
                    <a:pt x="1322470" y="3082631"/>
                  </a:lnTo>
                  <a:lnTo>
                    <a:pt x="1376867" y="3086312"/>
                  </a:lnTo>
                  <a:lnTo>
                    <a:pt x="1431800" y="3088875"/>
                  </a:lnTo>
                  <a:lnTo>
                    <a:pt x="1486064" y="3089935"/>
                  </a:lnTo>
                  <a:lnTo>
                    <a:pt x="1538455" y="3089111"/>
                  </a:lnTo>
                  <a:lnTo>
                    <a:pt x="1587767" y="3086019"/>
                  </a:lnTo>
                  <a:lnTo>
                    <a:pt x="1632794" y="3080275"/>
                  </a:lnTo>
                  <a:lnTo>
                    <a:pt x="1672332" y="3071498"/>
                  </a:lnTo>
                  <a:lnTo>
                    <a:pt x="1729756" y="3043940"/>
                  </a:lnTo>
                  <a:lnTo>
                    <a:pt x="1758442" y="3003283"/>
                  </a:lnTo>
                  <a:lnTo>
                    <a:pt x="1763452" y="2978386"/>
                  </a:lnTo>
                  <a:lnTo>
                    <a:pt x="1762845" y="2950706"/>
                  </a:lnTo>
                  <a:lnTo>
                    <a:pt x="1746590" y="2887794"/>
                  </a:lnTo>
                  <a:lnTo>
                    <a:pt x="1713300" y="2816135"/>
                  </a:lnTo>
                  <a:lnTo>
                    <a:pt x="1691400" y="2777520"/>
                  </a:lnTo>
                  <a:lnTo>
                    <a:pt x="1666600" y="2737313"/>
                  </a:lnTo>
                  <a:lnTo>
                    <a:pt x="1639353" y="2695712"/>
                  </a:lnTo>
                  <a:lnTo>
                    <a:pt x="1610112" y="2652916"/>
                  </a:lnTo>
                  <a:lnTo>
                    <a:pt x="1579330" y="2609122"/>
                  </a:lnTo>
                  <a:lnTo>
                    <a:pt x="1547461" y="2564529"/>
                  </a:lnTo>
                  <a:lnTo>
                    <a:pt x="1514956" y="2519335"/>
                  </a:lnTo>
                  <a:lnTo>
                    <a:pt x="1482270" y="2473738"/>
                  </a:lnTo>
                  <a:lnTo>
                    <a:pt x="1449855" y="2427938"/>
                  </a:lnTo>
                  <a:lnTo>
                    <a:pt x="1418164" y="2382131"/>
                  </a:lnTo>
                  <a:lnTo>
                    <a:pt x="1383763" y="2330660"/>
                  </a:lnTo>
                  <a:lnTo>
                    <a:pt x="1351093" y="2279606"/>
                  </a:lnTo>
                  <a:lnTo>
                    <a:pt x="1320387" y="2229143"/>
                  </a:lnTo>
                  <a:lnTo>
                    <a:pt x="1291876" y="2179443"/>
                  </a:lnTo>
                  <a:lnTo>
                    <a:pt x="1265794" y="2130680"/>
                  </a:lnTo>
                  <a:lnTo>
                    <a:pt x="1242372" y="2083027"/>
                  </a:lnTo>
                  <a:lnTo>
                    <a:pt x="1221843" y="2036658"/>
                  </a:lnTo>
                  <a:lnTo>
                    <a:pt x="1204440" y="1991745"/>
                  </a:lnTo>
                  <a:lnTo>
                    <a:pt x="1190394" y="1948462"/>
                  </a:lnTo>
                  <a:lnTo>
                    <a:pt x="1179939" y="1906981"/>
                  </a:lnTo>
                  <a:lnTo>
                    <a:pt x="1173306" y="1867476"/>
                  </a:lnTo>
                  <a:lnTo>
                    <a:pt x="1170727" y="1830120"/>
                  </a:lnTo>
                  <a:lnTo>
                    <a:pt x="1172437" y="1795087"/>
                  </a:lnTo>
                  <a:lnTo>
                    <a:pt x="1189646" y="1732680"/>
                  </a:lnTo>
                  <a:lnTo>
                    <a:pt x="1226794" y="1681640"/>
                  </a:lnTo>
                  <a:lnTo>
                    <a:pt x="1285811" y="1641910"/>
                  </a:lnTo>
                  <a:lnTo>
                    <a:pt x="1322250" y="1625758"/>
                  </a:lnTo>
                  <a:lnTo>
                    <a:pt x="1362498" y="1611423"/>
                  </a:lnTo>
                  <a:lnTo>
                    <a:pt x="1405943" y="1598410"/>
                  </a:lnTo>
                  <a:lnTo>
                    <a:pt x="1451977" y="1586228"/>
                  </a:lnTo>
                  <a:lnTo>
                    <a:pt x="1499989" y="1574380"/>
                  </a:lnTo>
                  <a:lnTo>
                    <a:pt x="1549370" y="1562375"/>
                  </a:lnTo>
                  <a:lnTo>
                    <a:pt x="1599510" y="1549717"/>
                  </a:lnTo>
                  <a:lnTo>
                    <a:pt x="1649800" y="1535913"/>
                  </a:lnTo>
                  <a:lnTo>
                    <a:pt x="1699629" y="1520469"/>
                  </a:lnTo>
                  <a:lnTo>
                    <a:pt x="1748388" y="1502892"/>
                  </a:lnTo>
                  <a:lnTo>
                    <a:pt x="1795467" y="1482687"/>
                  </a:lnTo>
                  <a:lnTo>
                    <a:pt x="1840256" y="1459361"/>
                  </a:lnTo>
                  <a:lnTo>
                    <a:pt x="1882146" y="1432420"/>
                  </a:lnTo>
                  <a:lnTo>
                    <a:pt x="1920527" y="1401371"/>
                  </a:lnTo>
                  <a:lnTo>
                    <a:pt x="1955612" y="1365062"/>
                  </a:lnTo>
                  <a:lnTo>
                    <a:pt x="1986184" y="1324819"/>
                  </a:lnTo>
                  <a:lnTo>
                    <a:pt x="2012049" y="1281542"/>
                  </a:lnTo>
                  <a:lnTo>
                    <a:pt x="2033013" y="1236128"/>
                  </a:lnTo>
                  <a:lnTo>
                    <a:pt x="2048882" y="1189480"/>
                  </a:lnTo>
                  <a:lnTo>
                    <a:pt x="2059462" y="1142495"/>
                  </a:lnTo>
                  <a:lnTo>
                    <a:pt x="2064561" y="1096074"/>
                  </a:lnTo>
                  <a:lnTo>
                    <a:pt x="2063982" y="1051117"/>
                  </a:lnTo>
                  <a:lnTo>
                    <a:pt x="2057165" y="1006078"/>
                  </a:lnTo>
                  <a:lnTo>
                    <a:pt x="2044474" y="963374"/>
                  </a:lnTo>
                  <a:lnTo>
                    <a:pt x="2026567" y="922700"/>
                  </a:lnTo>
                  <a:lnTo>
                    <a:pt x="2004100" y="883753"/>
                  </a:lnTo>
                  <a:lnTo>
                    <a:pt x="1977731" y="846229"/>
                  </a:lnTo>
                  <a:lnTo>
                    <a:pt x="1948117" y="809825"/>
                  </a:lnTo>
                  <a:lnTo>
                    <a:pt x="1915916" y="774236"/>
                  </a:lnTo>
                  <a:lnTo>
                    <a:pt x="1881784" y="739160"/>
                  </a:lnTo>
                  <a:lnTo>
                    <a:pt x="1846379" y="704291"/>
                  </a:lnTo>
                  <a:lnTo>
                    <a:pt x="1810359" y="669327"/>
                  </a:lnTo>
                  <a:lnTo>
                    <a:pt x="1774380" y="633965"/>
                  </a:lnTo>
                  <a:lnTo>
                    <a:pt x="1739100" y="597899"/>
                  </a:lnTo>
                  <a:lnTo>
                    <a:pt x="1705175" y="560827"/>
                  </a:lnTo>
                  <a:lnTo>
                    <a:pt x="1662799" y="509462"/>
                  </a:lnTo>
                  <a:lnTo>
                    <a:pt x="1623714" y="456818"/>
                  </a:lnTo>
                  <a:lnTo>
                    <a:pt x="1587614" y="403959"/>
                  </a:lnTo>
                  <a:lnTo>
                    <a:pt x="1554193" y="351945"/>
                  </a:lnTo>
                  <a:lnTo>
                    <a:pt x="1523143" y="301840"/>
                  </a:lnTo>
                  <a:lnTo>
                    <a:pt x="1494157" y="254705"/>
                  </a:lnTo>
                  <a:lnTo>
                    <a:pt x="1466928" y="211603"/>
                  </a:lnTo>
                  <a:lnTo>
                    <a:pt x="1441150" y="173596"/>
                  </a:lnTo>
                  <a:lnTo>
                    <a:pt x="1416515" y="141747"/>
                  </a:lnTo>
                  <a:lnTo>
                    <a:pt x="1392717" y="117117"/>
                  </a:lnTo>
                  <a:lnTo>
                    <a:pt x="1369448" y="100770"/>
                  </a:lnTo>
                  <a:lnTo>
                    <a:pt x="1346402" y="93767"/>
                  </a:lnTo>
                  <a:close/>
                </a:path>
              </a:pathLst>
            </a:custGeom>
            <a:ln w="12062">
              <a:solidFill>
                <a:srgbClr val="000000"/>
              </a:solidFill>
            </a:ln>
          </p:spPr>
          <p:txBody>
            <a:bodyPr wrap="square" lIns="0" tIns="0" rIns="0" bIns="0" rtlCol="0"/>
            <a:lstStyle/>
            <a:p/>
          </p:txBody>
        </p:sp>
        <p:sp>
          <p:nvSpPr>
            <p:cNvPr id="33" name="object 33" descr=""/>
            <p:cNvSpPr/>
            <p:nvPr/>
          </p:nvSpPr>
          <p:spPr>
            <a:xfrm>
              <a:off x="1954814" y="122610"/>
              <a:ext cx="1607820" cy="327025"/>
            </a:xfrm>
            <a:custGeom>
              <a:avLst/>
              <a:gdLst/>
              <a:ahLst/>
              <a:cxnLst/>
              <a:rect l="l" t="t" r="r" b="b"/>
              <a:pathLst>
                <a:path w="1607820" h="327025">
                  <a:moveTo>
                    <a:pt x="1607560" y="0"/>
                  </a:moveTo>
                  <a:lnTo>
                    <a:pt x="0" y="0"/>
                  </a:lnTo>
                  <a:lnTo>
                    <a:pt x="0" y="326909"/>
                  </a:lnTo>
                  <a:lnTo>
                    <a:pt x="1607560" y="326909"/>
                  </a:lnTo>
                  <a:lnTo>
                    <a:pt x="1607560" y="0"/>
                  </a:lnTo>
                  <a:close/>
                </a:path>
              </a:pathLst>
            </a:custGeom>
            <a:solidFill>
              <a:srgbClr val="FFFFFF"/>
            </a:solidFill>
          </p:spPr>
          <p:txBody>
            <a:bodyPr wrap="square" lIns="0" tIns="0" rIns="0" bIns="0" rtlCol="0"/>
            <a:lstStyle/>
            <a:p/>
          </p:txBody>
        </p:sp>
      </p:grpSp>
      <p:sp>
        <p:nvSpPr>
          <p:cNvPr id="34" name="object 34" descr=""/>
          <p:cNvSpPr txBox="1"/>
          <p:nvPr/>
        </p:nvSpPr>
        <p:spPr>
          <a:xfrm>
            <a:off x="1954814" y="122610"/>
            <a:ext cx="1607820" cy="327025"/>
          </a:xfrm>
          <a:prstGeom prst="rect">
            <a:avLst/>
          </a:prstGeom>
          <a:ln w="11873">
            <a:solidFill>
              <a:srgbClr val="000000"/>
            </a:solidFill>
          </a:ln>
        </p:spPr>
        <p:txBody>
          <a:bodyPr wrap="square" lIns="0" tIns="47625" rIns="0" bIns="0" rtlCol="0" vert="horz">
            <a:spAutoFit/>
          </a:bodyPr>
          <a:lstStyle/>
          <a:p>
            <a:pPr marL="114300">
              <a:lnSpc>
                <a:spcPct val="100000"/>
              </a:lnSpc>
              <a:spcBef>
                <a:spcPts val="375"/>
              </a:spcBef>
            </a:pPr>
            <a:r>
              <a:rPr dirty="0" sz="1300" b="1">
                <a:latin typeface="Times New Roman"/>
                <a:cs typeface="Times New Roman"/>
              </a:rPr>
              <a:t>1:</a:t>
            </a:r>
            <a:r>
              <a:rPr dirty="0" sz="1300" spc="25" b="1">
                <a:latin typeface="Times New Roman"/>
                <a:cs typeface="Times New Roman"/>
              </a:rPr>
              <a:t> </a:t>
            </a:r>
            <a:r>
              <a:rPr dirty="0" sz="1300" b="1">
                <a:latin typeface="Times New Roman"/>
                <a:cs typeface="Times New Roman"/>
              </a:rPr>
              <a:t>A[i]</a:t>
            </a:r>
            <a:r>
              <a:rPr dirty="0" sz="1300" spc="25" b="1">
                <a:latin typeface="Times New Roman"/>
                <a:cs typeface="Times New Roman"/>
              </a:rPr>
              <a:t> </a:t>
            </a:r>
            <a:r>
              <a:rPr dirty="0" sz="1300" b="1">
                <a:latin typeface="Times New Roman"/>
                <a:cs typeface="Times New Roman"/>
              </a:rPr>
              <a:t>=</a:t>
            </a:r>
            <a:r>
              <a:rPr dirty="0" sz="1300" spc="25" b="1">
                <a:latin typeface="Times New Roman"/>
                <a:cs typeface="Times New Roman"/>
              </a:rPr>
              <a:t> </a:t>
            </a:r>
            <a:r>
              <a:rPr dirty="0" sz="1300" b="1">
                <a:latin typeface="Times New Roman"/>
                <a:cs typeface="Times New Roman"/>
              </a:rPr>
              <a:t>A[i]</a:t>
            </a:r>
            <a:r>
              <a:rPr dirty="0" sz="1300" spc="25" b="1">
                <a:latin typeface="Times New Roman"/>
                <a:cs typeface="Times New Roman"/>
              </a:rPr>
              <a:t> </a:t>
            </a:r>
            <a:r>
              <a:rPr dirty="0" sz="1300" b="1">
                <a:latin typeface="Times New Roman"/>
                <a:cs typeface="Times New Roman"/>
              </a:rPr>
              <a:t>+</a:t>
            </a:r>
            <a:r>
              <a:rPr dirty="0" sz="1300" spc="25" b="1">
                <a:latin typeface="Times New Roman"/>
                <a:cs typeface="Times New Roman"/>
              </a:rPr>
              <a:t> </a:t>
            </a:r>
            <a:r>
              <a:rPr dirty="0" sz="1300" spc="-20" b="1">
                <a:latin typeface="Times New Roman"/>
                <a:cs typeface="Times New Roman"/>
              </a:rPr>
              <a:t>B[i]</a:t>
            </a:r>
            <a:endParaRPr sz="1300">
              <a:latin typeface="Times New Roman"/>
              <a:cs typeface="Times New Roman"/>
            </a:endParaRPr>
          </a:p>
        </p:txBody>
      </p:sp>
      <p:grpSp>
        <p:nvGrpSpPr>
          <p:cNvPr id="35" name="object 35" descr=""/>
          <p:cNvGrpSpPr/>
          <p:nvPr/>
        </p:nvGrpSpPr>
        <p:grpSpPr>
          <a:xfrm>
            <a:off x="2187998" y="816971"/>
            <a:ext cx="969010" cy="713105"/>
            <a:chOff x="2187998" y="816971"/>
            <a:chExt cx="969010" cy="713105"/>
          </a:xfrm>
        </p:grpSpPr>
        <p:sp>
          <p:nvSpPr>
            <p:cNvPr id="36" name="object 36" descr=""/>
            <p:cNvSpPr/>
            <p:nvPr/>
          </p:nvSpPr>
          <p:spPr>
            <a:xfrm>
              <a:off x="2194030" y="823003"/>
              <a:ext cx="956944" cy="701040"/>
            </a:xfrm>
            <a:custGeom>
              <a:avLst/>
              <a:gdLst/>
              <a:ahLst/>
              <a:cxnLst/>
              <a:rect l="l" t="t" r="r" b="b"/>
              <a:pathLst>
                <a:path w="956944" h="701040">
                  <a:moveTo>
                    <a:pt x="478398" y="0"/>
                  </a:moveTo>
                  <a:lnTo>
                    <a:pt x="0" y="373648"/>
                  </a:lnTo>
                  <a:lnTo>
                    <a:pt x="478398" y="700557"/>
                  </a:lnTo>
                  <a:lnTo>
                    <a:pt x="956779" y="373648"/>
                  </a:lnTo>
                  <a:lnTo>
                    <a:pt x="478398" y="0"/>
                  </a:lnTo>
                  <a:close/>
                </a:path>
              </a:pathLst>
            </a:custGeom>
            <a:solidFill>
              <a:srgbClr val="FFFFFF"/>
            </a:solidFill>
          </p:spPr>
          <p:txBody>
            <a:bodyPr wrap="square" lIns="0" tIns="0" rIns="0" bIns="0" rtlCol="0"/>
            <a:lstStyle/>
            <a:p/>
          </p:txBody>
        </p:sp>
        <p:sp>
          <p:nvSpPr>
            <p:cNvPr id="37" name="object 37" descr=""/>
            <p:cNvSpPr/>
            <p:nvPr/>
          </p:nvSpPr>
          <p:spPr>
            <a:xfrm>
              <a:off x="2194030" y="823003"/>
              <a:ext cx="956944" cy="701040"/>
            </a:xfrm>
            <a:custGeom>
              <a:avLst/>
              <a:gdLst/>
              <a:ahLst/>
              <a:cxnLst/>
              <a:rect l="l" t="t" r="r" b="b"/>
              <a:pathLst>
                <a:path w="956944" h="701040">
                  <a:moveTo>
                    <a:pt x="478398" y="0"/>
                  </a:moveTo>
                  <a:lnTo>
                    <a:pt x="0" y="373648"/>
                  </a:lnTo>
                  <a:lnTo>
                    <a:pt x="478398" y="700557"/>
                  </a:lnTo>
                  <a:lnTo>
                    <a:pt x="956779" y="373648"/>
                  </a:lnTo>
                  <a:lnTo>
                    <a:pt x="478398" y="0"/>
                  </a:lnTo>
                  <a:close/>
                </a:path>
              </a:pathLst>
            </a:custGeom>
            <a:ln w="11962">
              <a:solidFill>
                <a:srgbClr val="000000"/>
              </a:solidFill>
            </a:ln>
          </p:spPr>
          <p:txBody>
            <a:bodyPr wrap="square" lIns="0" tIns="0" rIns="0" bIns="0" rtlCol="0"/>
            <a:lstStyle/>
            <a:p/>
          </p:txBody>
        </p:sp>
      </p:grpSp>
      <p:sp>
        <p:nvSpPr>
          <p:cNvPr id="38" name="object 38" descr=""/>
          <p:cNvSpPr txBox="1"/>
          <p:nvPr/>
        </p:nvSpPr>
        <p:spPr>
          <a:xfrm>
            <a:off x="2253142" y="1045232"/>
            <a:ext cx="838835" cy="223520"/>
          </a:xfrm>
          <a:prstGeom prst="rect">
            <a:avLst/>
          </a:prstGeom>
        </p:spPr>
        <p:txBody>
          <a:bodyPr wrap="square" lIns="0" tIns="12065" rIns="0" bIns="0" rtlCol="0" vert="horz">
            <a:spAutoFit/>
          </a:bodyPr>
          <a:lstStyle/>
          <a:p>
            <a:pPr marL="12700">
              <a:lnSpc>
                <a:spcPct val="100000"/>
              </a:lnSpc>
              <a:spcBef>
                <a:spcPts val="95"/>
              </a:spcBef>
            </a:pPr>
            <a:r>
              <a:rPr dirty="0" sz="1300" b="1">
                <a:latin typeface="Times New Roman"/>
                <a:cs typeface="Times New Roman"/>
              </a:rPr>
              <a:t>2:</a:t>
            </a:r>
            <a:r>
              <a:rPr dirty="0" sz="1300" spc="25" b="1">
                <a:latin typeface="Times New Roman"/>
                <a:cs typeface="Times New Roman"/>
              </a:rPr>
              <a:t> </a:t>
            </a:r>
            <a:r>
              <a:rPr dirty="0" sz="1300" b="1">
                <a:latin typeface="Times New Roman"/>
                <a:cs typeface="Times New Roman"/>
              </a:rPr>
              <a:t>A[i]</a:t>
            </a:r>
            <a:r>
              <a:rPr dirty="0" sz="1300" spc="25" b="1">
                <a:latin typeface="Times New Roman"/>
                <a:cs typeface="Times New Roman"/>
              </a:rPr>
              <a:t> </a:t>
            </a:r>
            <a:r>
              <a:rPr dirty="0" sz="1300" b="1">
                <a:latin typeface="Times New Roman"/>
                <a:cs typeface="Times New Roman"/>
              </a:rPr>
              <a:t>=</a:t>
            </a:r>
            <a:r>
              <a:rPr dirty="0" sz="1300" spc="25" b="1">
                <a:latin typeface="Times New Roman"/>
                <a:cs typeface="Times New Roman"/>
              </a:rPr>
              <a:t> </a:t>
            </a:r>
            <a:r>
              <a:rPr dirty="0" sz="1300" spc="-25" b="1">
                <a:latin typeface="Times New Roman"/>
                <a:cs typeface="Times New Roman"/>
              </a:rPr>
              <a:t>0?</a:t>
            </a:r>
            <a:endParaRPr sz="1300">
              <a:latin typeface="Times New Roman"/>
              <a:cs typeface="Times New Roman"/>
            </a:endParaRPr>
          </a:p>
        </p:txBody>
      </p:sp>
      <p:sp>
        <p:nvSpPr>
          <p:cNvPr id="39" name="object 39" descr=""/>
          <p:cNvSpPr txBox="1"/>
          <p:nvPr/>
        </p:nvSpPr>
        <p:spPr>
          <a:xfrm>
            <a:off x="1237217" y="1897159"/>
            <a:ext cx="956944" cy="327025"/>
          </a:xfrm>
          <a:prstGeom prst="rect">
            <a:avLst/>
          </a:prstGeom>
          <a:solidFill>
            <a:srgbClr val="FFFFFF"/>
          </a:solidFill>
          <a:ln w="11893">
            <a:solidFill>
              <a:srgbClr val="000000"/>
            </a:solidFill>
          </a:ln>
        </p:spPr>
        <p:txBody>
          <a:bodyPr wrap="square" lIns="0" tIns="47625" rIns="0" bIns="0" rtlCol="0" vert="horz">
            <a:spAutoFit/>
          </a:bodyPr>
          <a:lstStyle/>
          <a:p>
            <a:pPr marL="181610">
              <a:lnSpc>
                <a:spcPct val="100000"/>
              </a:lnSpc>
              <a:spcBef>
                <a:spcPts val="375"/>
              </a:spcBef>
            </a:pPr>
            <a:r>
              <a:rPr dirty="0" sz="1300" b="1">
                <a:latin typeface="Times New Roman"/>
                <a:cs typeface="Times New Roman"/>
              </a:rPr>
              <a:t>3:</a:t>
            </a:r>
            <a:r>
              <a:rPr dirty="0" sz="1300" spc="25" b="1">
                <a:latin typeface="Times New Roman"/>
                <a:cs typeface="Times New Roman"/>
              </a:rPr>
              <a:t> </a:t>
            </a:r>
            <a:r>
              <a:rPr dirty="0" sz="1300" b="1">
                <a:latin typeface="Times New Roman"/>
                <a:cs typeface="Times New Roman"/>
              </a:rPr>
              <a:t>B[i]</a:t>
            </a:r>
            <a:r>
              <a:rPr dirty="0" sz="1300" spc="30" b="1">
                <a:latin typeface="Times New Roman"/>
                <a:cs typeface="Times New Roman"/>
              </a:rPr>
              <a:t> </a:t>
            </a:r>
            <a:r>
              <a:rPr dirty="0" sz="1300" spc="-50" b="1">
                <a:latin typeface="Times New Roman"/>
                <a:cs typeface="Times New Roman"/>
              </a:rPr>
              <a:t>=</a:t>
            </a:r>
            <a:endParaRPr sz="1300">
              <a:latin typeface="Times New Roman"/>
              <a:cs typeface="Times New Roman"/>
            </a:endParaRPr>
          </a:p>
        </p:txBody>
      </p:sp>
      <p:sp>
        <p:nvSpPr>
          <p:cNvPr id="40" name="object 40" descr=""/>
          <p:cNvSpPr txBox="1"/>
          <p:nvPr/>
        </p:nvSpPr>
        <p:spPr>
          <a:xfrm>
            <a:off x="2194030" y="2691059"/>
            <a:ext cx="956944" cy="327025"/>
          </a:xfrm>
          <a:prstGeom prst="rect">
            <a:avLst/>
          </a:prstGeom>
          <a:solidFill>
            <a:srgbClr val="FFFFFF"/>
          </a:solidFill>
          <a:ln w="11893">
            <a:solidFill>
              <a:srgbClr val="000000"/>
            </a:solidFill>
          </a:ln>
        </p:spPr>
        <p:txBody>
          <a:bodyPr wrap="square" lIns="0" tIns="47625" rIns="0" bIns="0" rtlCol="0" vert="horz">
            <a:spAutoFit/>
          </a:bodyPr>
          <a:lstStyle/>
          <a:p>
            <a:pPr marL="177165">
              <a:lnSpc>
                <a:spcPct val="100000"/>
              </a:lnSpc>
              <a:spcBef>
                <a:spcPts val="375"/>
              </a:spcBef>
            </a:pPr>
            <a:r>
              <a:rPr dirty="0" sz="1300" b="1">
                <a:latin typeface="Times New Roman"/>
                <a:cs typeface="Times New Roman"/>
              </a:rPr>
              <a:t>5:</a:t>
            </a:r>
            <a:r>
              <a:rPr dirty="0" sz="1300" spc="20" b="1">
                <a:latin typeface="Times New Roman"/>
                <a:cs typeface="Times New Roman"/>
              </a:rPr>
              <a:t> </a:t>
            </a:r>
            <a:r>
              <a:rPr dirty="0" sz="1300" b="1">
                <a:latin typeface="Times New Roman"/>
                <a:cs typeface="Times New Roman"/>
              </a:rPr>
              <a:t>C[i]</a:t>
            </a:r>
            <a:r>
              <a:rPr dirty="0" sz="1300" spc="25" b="1">
                <a:latin typeface="Times New Roman"/>
                <a:cs typeface="Times New Roman"/>
              </a:rPr>
              <a:t> </a:t>
            </a:r>
            <a:r>
              <a:rPr dirty="0" sz="1300" spc="-50" b="1">
                <a:latin typeface="Times New Roman"/>
                <a:cs typeface="Times New Roman"/>
              </a:rPr>
              <a:t>=</a:t>
            </a:r>
            <a:endParaRPr sz="1300">
              <a:latin typeface="Times New Roman"/>
              <a:cs typeface="Times New Roman"/>
            </a:endParaRPr>
          </a:p>
        </p:txBody>
      </p:sp>
      <p:sp>
        <p:nvSpPr>
          <p:cNvPr id="41" name="object 41" descr=""/>
          <p:cNvSpPr txBox="1"/>
          <p:nvPr/>
        </p:nvSpPr>
        <p:spPr>
          <a:xfrm>
            <a:off x="3150809" y="1897159"/>
            <a:ext cx="956944" cy="327025"/>
          </a:xfrm>
          <a:prstGeom prst="rect">
            <a:avLst/>
          </a:prstGeom>
          <a:ln w="11893">
            <a:solidFill>
              <a:srgbClr val="000000"/>
            </a:solidFill>
          </a:ln>
        </p:spPr>
        <p:txBody>
          <a:bodyPr wrap="square" lIns="0" tIns="47625" rIns="0" bIns="0" rtlCol="0" vert="horz">
            <a:spAutoFit/>
          </a:bodyPr>
          <a:lstStyle/>
          <a:p>
            <a:pPr algn="ctr">
              <a:lnSpc>
                <a:spcPct val="100000"/>
              </a:lnSpc>
              <a:spcBef>
                <a:spcPts val="375"/>
              </a:spcBef>
            </a:pPr>
            <a:r>
              <a:rPr dirty="0" sz="1300" b="1">
                <a:latin typeface="Times New Roman"/>
                <a:cs typeface="Times New Roman"/>
              </a:rPr>
              <a:t>4:</a:t>
            </a:r>
            <a:r>
              <a:rPr dirty="0" sz="1300" spc="20" b="1">
                <a:latin typeface="Times New Roman"/>
                <a:cs typeface="Times New Roman"/>
              </a:rPr>
              <a:t> </a:t>
            </a:r>
            <a:r>
              <a:rPr dirty="0" sz="1300" spc="-50" b="1">
                <a:latin typeface="Times New Roman"/>
                <a:cs typeface="Times New Roman"/>
              </a:rPr>
              <a:t>X</a:t>
            </a:r>
            <a:endParaRPr sz="1300">
              <a:latin typeface="Times New Roman"/>
              <a:cs typeface="Times New Roman"/>
            </a:endParaRPr>
          </a:p>
        </p:txBody>
      </p:sp>
      <p:grpSp>
        <p:nvGrpSpPr>
          <p:cNvPr id="42" name="object 42" descr=""/>
          <p:cNvGrpSpPr/>
          <p:nvPr/>
        </p:nvGrpSpPr>
        <p:grpSpPr>
          <a:xfrm>
            <a:off x="1709665" y="449520"/>
            <a:ext cx="1945005" cy="2241550"/>
            <a:chOff x="1709665" y="449520"/>
            <a:chExt cx="1945005" cy="2241550"/>
          </a:xfrm>
        </p:grpSpPr>
        <p:sp>
          <p:nvSpPr>
            <p:cNvPr id="43" name="object 43" descr=""/>
            <p:cNvSpPr/>
            <p:nvPr/>
          </p:nvSpPr>
          <p:spPr>
            <a:xfrm>
              <a:off x="2672428" y="449520"/>
              <a:ext cx="0" cy="297815"/>
            </a:xfrm>
            <a:custGeom>
              <a:avLst/>
              <a:gdLst/>
              <a:ahLst/>
              <a:cxnLst/>
              <a:rect l="l" t="t" r="r" b="b"/>
              <a:pathLst>
                <a:path w="0" h="297815">
                  <a:moveTo>
                    <a:pt x="0" y="0"/>
                  </a:moveTo>
                  <a:lnTo>
                    <a:pt x="0" y="297369"/>
                  </a:lnTo>
                </a:path>
              </a:pathLst>
            </a:custGeom>
            <a:ln w="4050">
              <a:solidFill>
                <a:srgbClr val="000000"/>
              </a:solidFill>
            </a:ln>
          </p:spPr>
          <p:txBody>
            <a:bodyPr wrap="square" lIns="0" tIns="0" rIns="0" bIns="0" rtlCol="0"/>
            <a:lstStyle/>
            <a:p/>
          </p:txBody>
        </p:sp>
        <p:sp>
          <p:nvSpPr>
            <p:cNvPr id="44" name="object 44" descr=""/>
            <p:cNvSpPr/>
            <p:nvPr/>
          </p:nvSpPr>
          <p:spPr>
            <a:xfrm>
              <a:off x="2644075" y="739970"/>
              <a:ext cx="57150" cy="83185"/>
            </a:xfrm>
            <a:custGeom>
              <a:avLst/>
              <a:gdLst/>
              <a:ahLst/>
              <a:cxnLst/>
              <a:rect l="l" t="t" r="r" b="b"/>
              <a:pathLst>
                <a:path w="57150" h="83184">
                  <a:moveTo>
                    <a:pt x="56707" y="0"/>
                  </a:moveTo>
                  <a:lnTo>
                    <a:pt x="0" y="0"/>
                  </a:lnTo>
                  <a:lnTo>
                    <a:pt x="28353" y="83032"/>
                  </a:lnTo>
                  <a:lnTo>
                    <a:pt x="56707" y="0"/>
                  </a:lnTo>
                  <a:close/>
                </a:path>
              </a:pathLst>
            </a:custGeom>
            <a:solidFill>
              <a:srgbClr val="000000"/>
            </a:solidFill>
          </p:spPr>
          <p:txBody>
            <a:bodyPr wrap="square" lIns="0" tIns="0" rIns="0" bIns="0" rtlCol="0"/>
            <a:lstStyle/>
            <a:p/>
          </p:txBody>
        </p:sp>
        <p:sp>
          <p:nvSpPr>
            <p:cNvPr id="45" name="object 45" descr=""/>
            <p:cNvSpPr/>
            <p:nvPr/>
          </p:nvSpPr>
          <p:spPr>
            <a:xfrm>
              <a:off x="1820270" y="1196651"/>
              <a:ext cx="374015" cy="624840"/>
            </a:xfrm>
            <a:custGeom>
              <a:avLst/>
              <a:gdLst/>
              <a:ahLst/>
              <a:cxnLst/>
              <a:rect l="l" t="t" r="r" b="b"/>
              <a:pathLst>
                <a:path w="374014" h="624839">
                  <a:moveTo>
                    <a:pt x="373760" y="0"/>
                  </a:moveTo>
                  <a:lnTo>
                    <a:pt x="0" y="0"/>
                  </a:lnTo>
                  <a:lnTo>
                    <a:pt x="0" y="624394"/>
                  </a:lnTo>
                </a:path>
              </a:pathLst>
            </a:custGeom>
            <a:ln w="4025">
              <a:solidFill>
                <a:srgbClr val="000000"/>
              </a:solidFill>
            </a:ln>
          </p:spPr>
          <p:txBody>
            <a:bodyPr wrap="square" lIns="0" tIns="0" rIns="0" bIns="0" rtlCol="0"/>
            <a:lstStyle/>
            <a:p/>
          </p:txBody>
        </p:sp>
        <p:sp>
          <p:nvSpPr>
            <p:cNvPr id="46" name="object 46" descr=""/>
            <p:cNvSpPr/>
            <p:nvPr/>
          </p:nvSpPr>
          <p:spPr>
            <a:xfrm>
              <a:off x="1791916" y="1814126"/>
              <a:ext cx="57150" cy="83185"/>
            </a:xfrm>
            <a:custGeom>
              <a:avLst/>
              <a:gdLst/>
              <a:ahLst/>
              <a:cxnLst/>
              <a:rect l="l" t="t" r="r" b="b"/>
              <a:pathLst>
                <a:path w="57150" h="83185">
                  <a:moveTo>
                    <a:pt x="56707" y="0"/>
                  </a:moveTo>
                  <a:lnTo>
                    <a:pt x="0" y="0"/>
                  </a:lnTo>
                  <a:lnTo>
                    <a:pt x="28353" y="83032"/>
                  </a:lnTo>
                  <a:lnTo>
                    <a:pt x="56707" y="0"/>
                  </a:lnTo>
                  <a:close/>
                </a:path>
              </a:pathLst>
            </a:custGeom>
            <a:solidFill>
              <a:srgbClr val="000000"/>
            </a:solidFill>
          </p:spPr>
          <p:txBody>
            <a:bodyPr wrap="square" lIns="0" tIns="0" rIns="0" bIns="0" rtlCol="0"/>
            <a:lstStyle/>
            <a:p/>
          </p:txBody>
        </p:sp>
        <p:sp>
          <p:nvSpPr>
            <p:cNvPr id="47" name="object 47" descr=""/>
            <p:cNvSpPr/>
            <p:nvPr/>
          </p:nvSpPr>
          <p:spPr>
            <a:xfrm>
              <a:off x="3150809" y="1196651"/>
              <a:ext cx="474980" cy="624840"/>
            </a:xfrm>
            <a:custGeom>
              <a:avLst/>
              <a:gdLst/>
              <a:ahLst/>
              <a:cxnLst/>
              <a:rect l="l" t="t" r="r" b="b"/>
              <a:pathLst>
                <a:path w="474979" h="624839">
                  <a:moveTo>
                    <a:pt x="0" y="0"/>
                  </a:moveTo>
                  <a:lnTo>
                    <a:pt x="474921" y="0"/>
                  </a:lnTo>
                  <a:lnTo>
                    <a:pt x="474921" y="624394"/>
                  </a:lnTo>
                </a:path>
              </a:pathLst>
            </a:custGeom>
            <a:ln w="4015">
              <a:solidFill>
                <a:srgbClr val="000000"/>
              </a:solidFill>
            </a:ln>
          </p:spPr>
          <p:txBody>
            <a:bodyPr wrap="square" lIns="0" tIns="0" rIns="0" bIns="0" rtlCol="0"/>
            <a:lstStyle/>
            <a:p/>
          </p:txBody>
        </p:sp>
        <p:sp>
          <p:nvSpPr>
            <p:cNvPr id="48" name="object 48" descr=""/>
            <p:cNvSpPr/>
            <p:nvPr/>
          </p:nvSpPr>
          <p:spPr>
            <a:xfrm>
              <a:off x="3597377" y="1814126"/>
              <a:ext cx="57150" cy="83185"/>
            </a:xfrm>
            <a:custGeom>
              <a:avLst/>
              <a:gdLst/>
              <a:ahLst/>
              <a:cxnLst/>
              <a:rect l="l" t="t" r="r" b="b"/>
              <a:pathLst>
                <a:path w="57150" h="83185">
                  <a:moveTo>
                    <a:pt x="56707" y="0"/>
                  </a:moveTo>
                  <a:lnTo>
                    <a:pt x="0" y="0"/>
                  </a:lnTo>
                  <a:lnTo>
                    <a:pt x="28353" y="83032"/>
                  </a:lnTo>
                  <a:lnTo>
                    <a:pt x="56707" y="0"/>
                  </a:lnTo>
                  <a:close/>
                </a:path>
              </a:pathLst>
            </a:custGeom>
            <a:solidFill>
              <a:srgbClr val="000000"/>
            </a:solidFill>
          </p:spPr>
          <p:txBody>
            <a:bodyPr wrap="square" lIns="0" tIns="0" rIns="0" bIns="0" rtlCol="0"/>
            <a:lstStyle/>
            <a:p/>
          </p:txBody>
        </p:sp>
        <p:sp>
          <p:nvSpPr>
            <p:cNvPr id="49" name="object 49" descr=""/>
            <p:cNvSpPr/>
            <p:nvPr/>
          </p:nvSpPr>
          <p:spPr>
            <a:xfrm>
              <a:off x="1715615" y="2224069"/>
              <a:ext cx="956944" cy="369570"/>
            </a:xfrm>
            <a:custGeom>
              <a:avLst/>
              <a:gdLst/>
              <a:ahLst/>
              <a:cxnLst/>
              <a:rect l="l" t="t" r="r" b="b"/>
              <a:pathLst>
                <a:path w="956944" h="369569">
                  <a:moveTo>
                    <a:pt x="0" y="0"/>
                  </a:moveTo>
                  <a:lnTo>
                    <a:pt x="0" y="233497"/>
                  </a:lnTo>
                  <a:lnTo>
                    <a:pt x="956813" y="233497"/>
                  </a:lnTo>
                  <a:lnTo>
                    <a:pt x="956813" y="369134"/>
                  </a:lnTo>
                </a:path>
              </a:pathLst>
            </a:custGeom>
            <a:ln w="11899">
              <a:solidFill>
                <a:srgbClr val="000000"/>
              </a:solidFill>
            </a:ln>
          </p:spPr>
          <p:txBody>
            <a:bodyPr wrap="square" lIns="0" tIns="0" rIns="0" bIns="0" rtlCol="0"/>
            <a:lstStyle/>
            <a:p/>
          </p:txBody>
        </p:sp>
        <p:sp>
          <p:nvSpPr>
            <p:cNvPr id="50" name="object 50" descr=""/>
            <p:cNvSpPr/>
            <p:nvPr/>
          </p:nvSpPr>
          <p:spPr>
            <a:xfrm>
              <a:off x="2635974" y="2584306"/>
              <a:ext cx="73025" cy="107314"/>
            </a:xfrm>
            <a:custGeom>
              <a:avLst/>
              <a:gdLst/>
              <a:ahLst/>
              <a:cxnLst/>
              <a:rect l="l" t="t" r="r" b="b"/>
              <a:pathLst>
                <a:path w="73025" h="107314">
                  <a:moveTo>
                    <a:pt x="72909" y="0"/>
                  </a:moveTo>
                  <a:lnTo>
                    <a:pt x="0" y="0"/>
                  </a:lnTo>
                  <a:lnTo>
                    <a:pt x="36454" y="106756"/>
                  </a:lnTo>
                  <a:lnTo>
                    <a:pt x="72909" y="0"/>
                  </a:lnTo>
                  <a:close/>
                </a:path>
              </a:pathLst>
            </a:custGeom>
            <a:solidFill>
              <a:srgbClr val="000000"/>
            </a:solidFill>
          </p:spPr>
          <p:txBody>
            <a:bodyPr wrap="square" lIns="0" tIns="0" rIns="0" bIns="0" rtlCol="0"/>
            <a:lstStyle/>
            <a:p/>
          </p:txBody>
        </p:sp>
        <p:sp>
          <p:nvSpPr>
            <p:cNvPr id="51" name="object 51" descr=""/>
            <p:cNvSpPr/>
            <p:nvPr/>
          </p:nvSpPr>
          <p:spPr>
            <a:xfrm>
              <a:off x="2672428" y="2224069"/>
              <a:ext cx="956944" cy="369570"/>
            </a:xfrm>
            <a:custGeom>
              <a:avLst/>
              <a:gdLst/>
              <a:ahLst/>
              <a:cxnLst/>
              <a:rect l="l" t="t" r="r" b="b"/>
              <a:pathLst>
                <a:path w="956945" h="369569">
                  <a:moveTo>
                    <a:pt x="956846" y="0"/>
                  </a:moveTo>
                  <a:lnTo>
                    <a:pt x="956846" y="233497"/>
                  </a:lnTo>
                  <a:lnTo>
                    <a:pt x="0" y="233497"/>
                  </a:lnTo>
                  <a:lnTo>
                    <a:pt x="0" y="369134"/>
                  </a:lnTo>
                </a:path>
              </a:pathLst>
            </a:custGeom>
            <a:ln w="11899">
              <a:solidFill>
                <a:srgbClr val="000000"/>
              </a:solidFill>
            </a:ln>
          </p:spPr>
          <p:txBody>
            <a:bodyPr wrap="square" lIns="0" tIns="0" rIns="0" bIns="0" rtlCol="0"/>
            <a:lstStyle/>
            <a:p/>
          </p:txBody>
        </p:sp>
        <p:sp>
          <p:nvSpPr>
            <p:cNvPr id="52" name="object 52" descr=""/>
            <p:cNvSpPr/>
            <p:nvPr/>
          </p:nvSpPr>
          <p:spPr>
            <a:xfrm>
              <a:off x="2635974" y="2584306"/>
              <a:ext cx="73025" cy="107314"/>
            </a:xfrm>
            <a:custGeom>
              <a:avLst/>
              <a:gdLst/>
              <a:ahLst/>
              <a:cxnLst/>
              <a:rect l="l" t="t" r="r" b="b"/>
              <a:pathLst>
                <a:path w="73025" h="107314">
                  <a:moveTo>
                    <a:pt x="72909" y="0"/>
                  </a:moveTo>
                  <a:lnTo>
                    <a:pt x="0" y="0"/>
                  </a:lnTo>
                  <a:lnTo>
                    <a:pt x="36454" y="106756"/>
                  </a:lnTo>
                  <a:lnTo>
                    <a:pt x="72909" y="0"/>
                  </a:lnTo>
                  <a:close/>
                </a:path>
              </a:pathLst>
            </a:custGeom>
            <a:solidFill>
              <a:srgbClr val="000000"/>
            </a:solidFill>
          </p:spPr>
          <p:txBody>
            <a:bodyPr wrap="square" lIns="0" tIns="0" rIns="0" bIns="0" rtlCol="0"/>
            <a:lstStyle/>
            <a:p/>
          </p:txBody>
        </p:sp>
      </p:grpSp>
      <p:sp>
        <p:nvSpPr>
          <p:cNvPr id="53" name="object 53" descr=""/>
          <p:cNvSpPr txBox="1"/>
          <p:nvPr/>
        </p:nvSpPr>
        <p:spPr>
          <a:xfrm>
            <a:off x="1764061" y="928590"/>
            <a:ext cx="382270" cy="223520"/>
          </a:xfrm>
          <a:prstGeom prst="rect">
            <a:avLst/>
          </a:prstGeom>
        </p:spPr>
        <p:txBody>
          <a:bodyPr wrap="square" lIns="0" tIns="12065" rIns="0" bIns="0" rtlCol="0" vert="horz">
            <a:spAutoFit/>
          </a:bodyPr>
          <a:lstStyle/>
          <a:p>
            <a:pPr marL="12700">
              <a:lnSpc>
                <a:spcPct val="100000"/>
              </a:lnSpc>
              <a:spcBef>
                <a:spcPts val="95"/>
              </a:spcBef>
            </a:pPr>
            <a:r>
              <a:rPr dirty="0" sz="1300" spc="-20" b="1">
                <a:latin typeface="Times New Roman"/>
                <a:cs typeface="Times New Roman"/>
              </a:rPr>
              <a:t>True</a:t>
            </a:r>
            <a:endParaRPr sz="1300">
              <a:latin typeface="Times New Roman"/>
              <a:cs typeface="Times New Roman"/>
            </a:endParaRPr>
          </a:p>
        </p:txBody>
      </p:sp>
      <p:sp>
        <p:nvSpPr>
          <p:cNvPr id="54" name="object 54" descr=""/>
          <p:cNvSpPr txBox="1"/>
          <p:nvPr/>
        </p:nvSpPr>
        <p:spPr>
          <a:xfrm>
            <a:off x="3285615" y="928590"/>
            <a:ext cx="400685" cy="223520"/>
          </a:xfrm>
          <a:prstGeom prst="rect">
            <a:avLst/>
          </a:prstGeom>
        </p:spPr>
        <p:txBody>
          <a:bodyPr wrap="square" lIns="0" tIns="12065" rIns="0" bIns="0" rtlCol="0" vert="horz">
            <a:spAutoFit/>
          </a:bodyPr>
          <a:lstStyle/>
          <a:p>
            <a:pPr marL="12700">
              <a:lnSpc>
                <a:spcPct val="100000"/>
              </a:lnSpc>
              <a:spcBef>
                <a:spcPts val="95"/>
              </a:spcBef>
            </a:pPr>
            <a:r>
              <a:rPr dirty="0" sz="1300" spc="-10" b="1">
                <a:latin typeface="Times New Roman"/>
                <a:cs typeface="Times New Roman"/>
              </a:rPr>
              <a:t>False</a:t>
            </a:r>
            <a:endParaRPr sz="1300">
              <a:latin typeface="Times New Roman"/>
              <a:cs typeface="Times New Roman"/>
            </a:endParaRPr>
          </a:p>
        </p:txBody>
      </p:sp>
      <p:sp>
        <p:nvSpPr>
          <p:cNvPr id="55" name="object 55" descr=""/>
          <p:cNvSpPr txBox="1"/>
          <p:nvPr/>
        </p:nvSpPr>
        <p:spPr>
          <a:xfrm>
            <a:off x="2987228" y="1627715"/>
            <a:ext cx="626110" cy="223520"/>
          </a:xfrm>
          <a:prstGeom prst="rect">
            <a:avLst/>
          </a:prstGeom>
        </p:spPr>
        <p:txBody>
          <a:bodyPr wrap="square" lIns="0" tIns="12065" rIns="0" bIns="0" rtlCol="0" vert="horz">
            <a:spAutoFit/>
          </a:bodyPr>
          <a:lstStyle/>
          <a:p>
            <a:pPr marL="12700">
              <a:lnSpc>
                <a:spcPct val="100000"/>
              </a:lnSpc>
              <a:spcBef>
                <a:spcPts val="95"/>
              </a:spcBef>
            </a:pPr>
            <a:r>
              <a:rPr dirty="0" sz="1300" b="1">
                <a:latin typeface="Times New Roman"/>
                <a:cs typeface="Times New Roman"/>
              </a:rPr>
              <a:t>else</a:t>
            </a:r>
            <a:r>
              <a:rPr dirty="0" sz="1300" spc="-25">
                <a:latin typeface="宋体"/>
                <a:cs typeface="宋体"/>
              </a:rPr>
              <a:t>部分</a:t>
            </a:r>
            <a:endParaRPr sz="1300">
              <a:latin typeface="宋体"/>
              <a:cs typeface="宋体"/>
            </a:endParaRPr>
          </a:p>
        </p:txBody>
      </p:sp>
      <p:sp>
        <p:nvSpPr>
          <p:cNvPr id="56" name="object 56" descr=""/>
          <p:cNvSpPr txBox="1"/>
          <p:nvPr/>
        </p:nvSpPr>
        <p:spPr>
          <a:xfrm>
            <a:off x="1876125" y="1605672"/>
            <a:ext cx="739140" cy="223520"/>
          </a:xfrm>
          <a:prstGeom prst="rect">
            <a:avLst/>
          </a:prstGeom>
        </p:spPr>
        <p:txBody>
          <a:bodyPr wrap="square" lIns="0" tIns="12065" rIns="0" bIns="0" rtlCol="0" vert="horz">
            <a:spAutoFit/>
          </a:bodyPr>
          <a:lstStyle/>
          <a:p>
            <a:pPr marL="12700">
              <a:lnSpc>
                <a:spcPct val="100000"/>
              </a:lnSpc>
              <a:spcBef>
                <a:spcPts val="95"/>
              </a:spcBef>
            </a:pPr>
            <a:r>
              <a:rPr dirty="0" sz="1300" b="1">
                <a:latin typeface="Times New Roman"/>
                <a:cs typeface="Times New Roman"/>
              </a:rPr>
              <a:t>Then</a:t>
            </a:r>
            <a:r>
              <a:rPr dirty="0" sz="1300" spc="-25">
                <a:latin typeface="宋体"/>
                <a:cs typeface="宋体"/>
              </a:rPr>
              <a:t>部分</a:t>
            </a:r>
            <a:endParaRPr sz="1300">
              <a:latin typeface="宋体"/>
              <a:cs typeface="宋体"/>
            </a:endParaRPr>
          </a:p>
        </p:txBody>
      </p:sp>
      <p:sp>
        <p:nvSpPr>
          <p:cNvPr id="57" name="object 57" descr=""/>
          <p:cNvSpPr/>
          <p:nvPr/>
        </p:nvSpPr>
        <p:spPr>
          <a:xfrm>
            <a:off x="4800600" y="5288660"/>
            <a:ext cx="1151890" cy="161290"/>
          </a:xfrm>
          <a:custGeom>
            <a:avLst/>
            <a:gdLst/>
            <a:ahLst/>
            <a:cxnLst/>
            <a:rect l="l" t="t" r="r" b="b"/>
            <a:pathLst>
              <a:path w="1151889" h="161289">
                <a:moveTo>
                  <a:pt x="76213" y="33138"/>
                </a:moveTo>
                <a:lnTo>
                  <a:pt x="75172" y="42533"/>
                </a:lnTo>
                <a:lnTo>
                  <a:pt x="1150365" y="161162"/>
                </a:lnTo>
                <a:lnTo>
                  <a:pt x="1151509" y="151764"/>
                </a:lnTo>
                <a:lnTo>
                  <a:pt x="76213" y="33138"/>
                </a:lnTo>
                <a:close/>
              </a:path>
              <a:path w="1151889" h="161289">
                <a:moveTo>
                  <a:pt x="79883" y="0"/>
                </a:moveTo>
                <a:lnTo>
                  <a:pt x="0" y="29463"/>
                </a:lnTo>
                <a:lnTo>
                  <a:pt x="71500" y="75691"/>
                </a:lnTo>
                <a:lnTo>
                  <a:pt x="75172" y="42533"/>
                </a:lnTo>
                <a:lnTo>
                  <a:pt x="62611" y="41147"/>
                </a:lnTo>
                <a:lnTo>
                  <a:pt x="63626" y="31750"/>
                </a:lnTo>
                <a:lnTo>
                  <a:pt x="76367" y="31750"/>
                </a:lnTo>
                <a:lnTo>
                  <a:pt x="79883" y="0"/>
                </a:lnTo>
                <a:close/>
              </a:path>
              <a:path w="1151889" h="161289">
                <a:moveTo>
                  <a:pt x="63626" y="31750"/>
                </a:moveTo>
                <a:lnTo>
                  <a:pt x="62611" y="41147"/>
                </a:lnTo>
                <a:lnTo>
                  <a:pt x="75172" y="42533"/>
                </a:lnTo>
                <a:lnTo>
                  <a:pt x="76213" y="33138"/>
                </a:lnTo>
                <a:lnTo>
                  <a:pt x="63626" y="31750"/>
                </a:lnTo>
                <a:close/>
              </a:path>
              <a:path w="1151889" h="161289">
                <a:moveTo>
                  <a:pt x="76367" y="31750"/>
                </a:moveTo>
                <a:lnTo>
                  <a:pt x="63626" y="31750"/>
                </a:lnTo>
                <a:lnTo>
                  <a:pt x="76213" y="33138"/>
                </a:lnTo>
                <a:lnTo>
                  <a:pt x="76367" y="31750"/>
                </a:lnTo>
                <a:close/>
              </a:path>
            </a:pathLst>
          </a:custGeom>
          <a:solidFill>
            <a:srgbClr val="40458B"/>
          </a:solidFill>
        </p:spPr>
        <p:txBody>
          <a:bodyPr wrap="square" lIns="0" tIns="0" rIns="0" bIns="0" rtlCol="0"/>
          <a:lstStyle/>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31/89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817623" y="-20954"/>
            <a:ext cx="5716270" cy="513715"/>
          </a:xfrm>
          <a:prstGeom prst="rect"/>
        </p:spPr>
        <p:txBody>
          <a:bodyPr wrap="square" lIns="0" tIns="12700" rIns="0" bIns="0" rtlCol="0" vert="horz">
            <a:spAutoFit/>
          </a:bodyPr>
          <a:lstStyle/>
          <a:p>
            <a:pPr marL="12700">
              <a:lnSpc>
                <a:spcPct val="100000"/>
              </a:lnSpc>
              <a:spcBef>
                <a:spcPts val="100"/>
              </a:spcBef>
            </a:pPr>
            <a:r>
              <a:rPr dirty="0" u="none"/>
              <a:t>6.2</a:t>
            </a:r>
            <a:r>
              <a:rPr dirty="0" u="none" spc="-20"/>
              <a:t> 跨越基本块的静态指令调度</a:t>
            </a:r>
          </a:p>
        </p:txBody>
      </p:sp>
      <p:sp>
        <p:nvSpPr>
          <p:cNvPr id="10" name="object 10" descr=""/>
          <p:cNvSpPr txBox="1"/>
          <p:nvPr/>
        </p:nvSpPr>
        <p:spPr>
          <a:xfrm>
            <a:off x="3582670" y="675630"/>
            <a:ext cx="4597400" cy="1050925"/>
          </a:xfrm>
          <a:prstGeom prst="rect">
            <a:avLst/>
          </a:prstGeom>
        </p:spPr>
        <p:txBody>
          <a:bodyPr wrap="square" lIns="0" tIns="159385" rIns="0" bIns="0" rtlCol="0" vert="horz">
            <a:spAutoFit/>
          </a:bodyPr>
          <a:lstStyle/>
          <a:p>
            <a:pPr marL="12700">
              <a:lnSpc>
                <a:spcPct val="100000"/>
              </a:lnSpc>
              <a:spcBef>
                <a:spcPts val="1255"/>
              </a:spcBef>
            </a:pPr>
            <a:r>
              <a:rPr dirty="0" sz="2400" spc="-15">
                <a:solidFill>
                  <a:srgbClr val="E14B04"/>
                </a:solidFill>
                <a:latin typeface="黑体"/>
                <a:cs typeface="黑体"/>
              </a:rPr>
              <a:t>全局指令调度是一个很复杂的问题</a:t>
            </a:r>
            <a:endParaRPr sz="2400">
              <a:latin typeface="黑体"/>
              <a:cs typeface="黑体"/>
            </a:endParaRPr>
          </a:p>
          <a:p>
            <a:pPr marL="393700">
              <a:lnSpc>
                <a:spcPct val="100000"/>
              </a:lnSpc>
              <a:spcBef>
                <a:spcPts val="1155"/>
              </a:spcBef>
            </a:pPr>
            <a:r>
              <a:rPr dirty="0" sz="2400">
                <a:latin typeface="黑体"/>
                <a:cs typeface="黑体"/>
              </a:rPr>
              <a:t>以</a:t>
            </a:r>
            <a:r>
              <a:rPr dirty="0" sz="2400" spc="-10">
                <a:solidFill>
                  <a:srgbClr val="6600FF"/>
                </a:solidFill>
                <a:latin typeface="Times New Roman"/>
                <a:cs typeface="Times New Roman"/>
              </a:rPr>
              <a:t>I1(</a:t>
            </a:r>
            <a:r>
              <a:rPr dirty="0" sz="2400">
                <a:solidFill>
                  <a:srgbClr val="E14B04"/>
                </a:solidFill>
                <a:latin typeface="黑体"/>
                <a:cs typeface="黑体"/>
              </a:rPr>
              <a:t>对应语句</a:t>
            </a:r>
            <a:r>
              <a:rPr dirty="0" sz="2400" spc="-10">
                <a:solidFill>
                  <a:srgbClr val="E14B04"/>
                </a:solidFill>
                <a:latin typeface="Times New Roman"/>
                <a:cs typeface="Times New Roman"/>
              </a:rPr>
              <a:t>3</a:t>
            </a:r>
            <a:r>
              <a:rPr dirty="0" sz="2400" spc="-10">
                <a:solidFill>
                  <a:srgbClr val="6600FF"/>
                </a:solidFill>
                <a:latin typeface="Times New Roman"/>
                <a:cs typeface="Times New Roman"/>
              </a:rPr>
              <a:t>)</a:t>
            </a:r>
            <a:r>
              <a:rPr dirty="0" sz="2400" spc="-10">
                <a:latin typeface="黑体"/>
                <a:cs typeface="黑体"/>
              </a:rPr>
              <a:t>的调度为例：</a:t>
            </a:r>
            <a:endParaRPr sz="2400">
              <a:latin typeface="黑体"/>
              <a:cs typeface="黑体"/>
            </a:endParaRPr>
          </a:p>
        </p:txBody>
      </p:sp>
      <p:sp>
        <p:nvSpPr>
          <p:cNvPr id="11" name="object 11" descr=""/>
          <p:cNvSpPr txBox="1"/>
          <p:nvPr/>
        </p:nvSpPr>
        <p:spPr>
          <a:xfrm>
            <a:off x="4212463" y="1774440"/>
            <a:ext cx="7611109" cy="3390900"/>
          </a:xfrm>
          <a:prstGeom prst="rect">
            <a:avLst/>
          </a:prstGeom>
        </p:spPr>
        <p:txBody>
          <a:bodyPr wrap="square" lIns="0" tIns="12065" rIns="0" bIns="0" rtlCol="0" vert="horz">
            <a:spAutoFit/>
          </a:bodyPr>
          <a:lstStyle/>
          <a:p>
            <a:pPr marL="467995" marR="5080" indent="-455930">
              <a:lnSpc>
                <a:spcPct val="120000"/>
              </a:lnSpc>
              <a:spcBef>
                <a:spcPts val="95"/>
              </a:spcBef>
              <a:buClr>
                <a:srgbClr val="40458B"/>
              </a:buClr>
              <a:buSzPct val="89583"/>
              <a:buFont typeface="Wingdings"/>
              <a:buChar char=""/>
              <a:tabLst>
                <a:tab pos="467995" algn="l"/>
              </a:tabLst>
            </a:pPr>
            <a:r>
              <a:rPr dirty="0" sz="2400">
                <a:solidFill>
                  <a:srgbClr val="0000CC"/>
                </a:solidFill>
                <a:latin typeface="黑体"/>
                <a:cs typeface="黑体"/>
              </a:rPr>
              <a:t>需要确定分支中基本块</a:t>
            </a:r>
            <a:r>
              <a:rPr dirty="0" sz="2400">
                <a:solidFill>
                  <a:srgbClr val="6600FF"/>
                </a:solidFill>
                <a:latin typeface="Times New Roman"/>
                <a:cs typeface="Times New Roman"/>
              </a:rPr>
              <a:t>thenpart</a:t>
            </a:r>
            <a:r>
              <a:rPr dirty="0" sz="2400">
                <a:solidFill>
                  <a:srgbClr val="0000CC"/>
                </a:solidFill>
                <a:latin typeface="黑体"/>
                <a:cs typeface="黑体"/>
              </a:rPr>
              <a:t>和</a:t>
            </a:r>
            <a:r>
              <a:rPr dirty="0" sz="2400" spc="-10">
                <a:solidFill>
                  <a:srgbClr val="6600FF"/>
                </a:solidFill>
                <a:latin typeface="Times New Roman"/>
                <a:cs typeface="Times New Roman"/>
              </a:rPr>
              <a:t>elsepart</a:t>
            </a:r>
            <a:r>
              <a:rPr dirty="0" sz="2400" spc="-10">
                <a:solidFill>
                  <a:srgbClr val="0000CC"/>
                </a:solidFill>
                <a:latin typeface="黑体"/>
                <a:cs typeface="黑体"/>
              </a:rPr>
              <a:t>的执行频率各</a:t>
            </a:r>
            <a:r>
              <a:rPr dirty="0" sz="2400" spc="-20">
                <a:solidFill>
                  <a:srgbClr val="0000CC"/>
                </a:solidFill>
                <a:latin typeface="黑体"/>
                <a:cs typeface="黑体"/>
              </a:rPr>
              <a:t>是多少？</a:t>
            </a:r>
            <a:endParaRPr sz="2400">
              <a:latin typeface="黑体"/>
              <a:cs typeface="黑体"/>
            </a:endParaRPr>
          </a:p>
          <a:p>
            <a:pPr marL="467995" indent="-455295">
              <a:lnSpc>
                <a:spcPct val="100000"/>
              </a:lnSpc>
              <a:spcBef>
                <a:spcPts val="1155"/>
              </a:spcBef>
              <a:buClr>
                <a:srgbClr val="40458B"/>
              </a:buClr>
              <a:buSzPct val="89583"/>
              <a:buFont typeface="Wingdings"/>
              <a:buChar char=""/>
              <a:tabLst>
                <a:tab pos="467995" algn="l"/>
              </a:tabLst>
            </a:pPr>
            <a:r>
              <a:rPr dirty="0" sz="2400">
                <a:solidFill>
                  <a:srgbClr val="0000CC"/>
                </a:solidFill>
                <a:latin typeface="黑体"/>
                <a:cs typeface="黑体"/>
              </a:rPr>
              <a:t>在分支语句前完成</a:t>
            </a:r>
            <a:r>
              <a:rPr dirty="0" sz="2400" spc="-10">
                <a:solidFill>
                  <a:srgbClr val="6600FF"/>
                </a:solidFill>
                <a:latin typeface="Times New Roman"/>
                <a:cs typeface="Times New Roman"/>
              </a:rPr>
              <a:t>I1</a:t>
            </a:r>
            <a:r>
              <a:rPr dirty="0" sz="2400" spc="-10">
                <a:solidFill>
                  <a:srgbClr val="0000CC"/>
                </a:solidFill>
                <a:latin typeface="黑体"/>
                <a:cs typeface="黑体"/>
              </a:rPr>
              <a:t>所需的开销是多大？</a:t>
            </a:r>
            <a:endParaRPr sz="2400">
              <a:latin typeface="黑体"/>
              <a:cs typeface="黑体"/>
            </a:endParaRPr>
          </a:p>
          <a:p>
            <a:pPr marL="467995" indent="-455295">
              <a:lnSpc>
                <a:spcPct val="100000"/>
              </a:lnSpc>
              <a:spcBef>
                <a:spcPts val="1150"/>
              </a:spcBef>
              <a:buClr>
                <a:srgbClr val="40458B"/>
              </a:buClr>
              <a:buSzPct val="89583"/>
              <a:buFont typeface="Wingdings"/>
              <a:buChar char=""/>
              <a:tabLst>
                <a:tab pos="467995" algn="l"/>
              </a:tabLst>
            </a:pPr>
            <a:r>
              <a:rPr dirty="0" sz="2400">
                <a:solidFill>
                  <a:srgbClr val="0000CC"/>
                </a:solidFill>
                <a:latin typeface="黑体"/>
                <a:cs typeface="黑体"/>
              </a:rPr>
              <a:t>调度</a:t>
            </a:r>
            <a:r>
              <a:rPr dirty="0" sz="2400" spc="-10">
                <a:solidFill>
                  <a:srgbClr val="6600FF"/>
                </a:solidFill>
                <a:latin typeface="Times New Roman"/>
                <a:cs typeface="Times New Roman"/>
              </a:rPr>
              <a:t>I1</a:t>
            </a:r>
            <a:r>
              <a:rPr dirty="0" sz="2400">
                <a:solidFill>
                  <a:srgbClr val="0000CC"/>
                </a:solidFill>
                <a:latin typeface="黑体"/>
                <a:cs typeface="黑体"/>
              </a:rPr>
              <a:t>是否能够缩短</a:t>
            </a:r>
            <a:r>
              <a:rPr dirty="0" sz="2400">
                <a:solidFill>
                  <a:srgbClr val="6600FF"/>
                </a:solidFill>
                <a:latin typeface="Times New Roman"/>
                <a:cs typeface="Times New Roman"/>
              </a:rPr>
              <a:t>thenpart</a:t>
            </a:r>
            <a:r>
              <a:rPr dirty="0" sz="2400" spc="-10">
                <a:solidFill>
                  <a:srgbClr val="0000CC"/>
                </a:solidFill>
                <a:latin typeface="黑体"/>
                <a:cs typeface="黑体"/>
              </a:rPr>
              <a:t>块的执行时间？</a:t>
            </a:r>
            <a:endParaRPr sz="2400">
              <a:latin typeface="黑体"/>
              <a:cs typeface="黑体"/>
            </a:endParaRPr>
          </a:p>
          <a:p>
            <a:pPr marL="467995" indent="-455295">
              <a:lnSpc>
                <a:spcPct val="100000"/>
              </a:lnSpc>
              <a:spcBef>
                <a:spcPts val="1155"/>
              </a:spcBef>
              <a:buClr>
                <a:srgbClr val="40458B"/>
              </a:buClr>
              <a:buSzPct val="89583"/>
              <a:buFont typeface="Wingdings"/>
              <a:buChar char=""/>
              <a:tabLst>
                <a:tab pos="467995" algn="l"/>
              </a:tabLst>
            </a:pPr>
            <a:r>
              <a:rPr dirty="0" sz="2400" spc="-10">
                <a:solidFill>
                  <a:srgbClr val="6600FF"/>
                </a:solidFill>
                <a:latin typeface="Times New Roman"/>
                <a:cs typeface="Times New Roman"/>
              </a:rPr>
              <a:t>I1</a:t>
            </a:r>
            <a:r>
              <a:rPr dirty="0" sz="2400" spc="-5">
                <a:solidFill>
                  <a:srgbClr val="0000CC"/>
                </a:solidFill>
                <a:latin typeface="黑体"/>
                <a:cs typeface="黑体"/>
              </a:rPr>
              <a:t>是否是最佳的被调度对象？</a:t>
            </a:r>
            <a:endParaRPr sz="2400">
              <a:latin typeface="黑体"/>
              <a:cs typeface="黑体"/>
            </a:endParaRPr>
          </a:p>
          <a:p>
            <a:pPr marL="467995" marR="87630" indent="-455930">
              <a:lnSpc>
                <a:spcPct val="120000"/>
              </a:lnSpc>
              <a:spcBef>
                <a:spcPts val="580"/>
              </a:spcBef>
              <a:buClr>
                <a:srgbClr val="40458B"/>
              </a:buClr>
              <a:buSzPct val="89583"/>
              <a:buFont typeface="Wingdings"/>
              <a:buChar char=""/>
              <a:tabLst>
                <a:tab pos="467995" algn="l"/>
              </a:tabLst>
            </a:pPr>
            <a:r>
              <a:rPr dirty="0" sz="2400">
                <a:solidFill>
                  <a:srgbClr val="0000CC"/>
                </a:solidFill>
                <a:latin typeface="黑体"/>
                <a:cs typeface="黑体"/>
              </a:rPr>
              <a:t>是否需要向</a:t>
            </a:r>
            <a:r>
              <a:rPr dirty="0" sz="2400">
                <a:solidFill>
                  <a:srgbClr val="6600FF"/>
                </a:solidFill>
                <a:latin typeface="Times New Roman"/>
                <a:cs typeface="Times New Roman"/>
              </a:rPr>
              <a:t>elsepart</a:t>
            </a:r>
            <a:r>
              <a:rPr dirty="0" sz="2400" spc="-5">
                <a:solidFill>
                  <a:srgbClr val="0000CC"/>
                </a:solidFill>
                <a:latin typeface="黑体"/>
                <a:cs typeface="黑体"/>
              </a:rPr>
              <a:t>块中增加补偿代码，补偿代码开销如何？怎样生成补偿代码？</a:t>
            </a:r>
            <a:endParaRPr sz="2400">
              <a:latin typeface="黑体"/>
              <a:cs typeface="黑体"/>
            </a:endParaRPr>
          </a:p>
        </p:txBody>
      </p:sp>
      <p:grpSp>
        <p:nvGrpSpPr>
          <p:cNvPr id="12" name="object 12" descr=""/>
          <p:cNvGrpSpPr/>
          <p:nvPr/>
        </p:nvGrpSpPr>
        <p:grpSpPr>
          <a:xfrm>
            <a:off x="893" y="1371298"/>
            <a:ext cx="2482215" cy="3955415"/>
            <a:chOff x="893" y="1371298"/>
            <a:chExt cx="2482215" cy="3955415"/>
          </a:xfrm>
        </p:grpSpPr>
        <p:sp>
          <p:nvSpPr>
            <p:cNvPr id="13" name="object 13" descr=""/>
            <p:cNvSpPr/>
            <p:nvPr/>
          </p:nvSpPr>
          <p:spPr>
            <a:xfrm>
              <a:off x="7560" y="1377966"/>
              <a:ext cx="2065020" cy="3942079"/>
            </a:xfrm>
            <a:custGeom>
              <a:avLst/>
              <a:gdLst/>
              <a:ahLst/>
              <a:cxnLst/>
              <a:rect l="l" t="t" r="r" b="b"/>
              <a:pathLst>
                <a:path w="2065020" h="3942079">
                  <a:moveTo>
                    <a:pt x="939163" y="0"/>
                  </a:moveTo>
                  <a:lnTo>
                    <a:pt x="887226" y="1224"/>
                  </a:lnTo>
                  <a:lnTo>
                    <a:pt x="835818" y="6014"/>
                  </a:lnTo>
                  <a:lnTo>
                    <a:pt x="785450" y="14551"/>
                  </a:lnTo>
                  <a:lnTo>
                    <a:pt x="736633" y="27014"/>
                  </a:lnTo>
                  <a:lnTo>
                    <a:pt x="689876" y="43586"/>
                  </a:lnTo>
                  <a:lnTo>
                    <a:pt x="645692" y="64447"/>
                  </a:lnTo>
                  <a:lnTo>
                    <a:pt x="604589" y="89777"/>
                  </a:lnTo>
                  <a:lnTo>
                    <a:pt x="567054" y="119632"/>
                  </a:lnTo>
                  <a:lnTo>
                    <a:pt x="533250" y="153724"/>
                  </a:lnTo>
                  <a:lnTo>
                    <a:pt x="503322" y="191649"/>
                  </a:lnTo>
                  <a:lnTo>
                    <a:pt x="477415" y="233004"/>
                  </a:lnTo>
                  <a:lnTo>
                    <a:pt x="455675" y="277387"/>
                  </a:lnTo>
                  <a:lnTo>
                    <a:pt x="438247" y="324393"/>
                  </a:lnTo>
                  <a:lnTo>
                    <a:pt x="425276" y="373621"/>
                  </a:lnTo>
                  <a:lnTo>
                    <a:pt x="416908" y="424667"/>
                  </a:lnTo>
                  <a:lnTo>
                    <a:pt x="413287" y="477128"/>
                  </a:lnTo>
                  <a:lnTo>
                    <a:pt x="413979" y="523117"/>
                  </a:lnTo>
                  <a:lnTo>
                    <a:pt x="417781" y="569799"/>
                  </a:lnTo>
                  <a:lnTo>
                    <a:pt x="424191" y="617125"/>
                  </a:lnTo>
                  <a:lnTo>
                    <a:pt x="432703" y="665050"/>
                  </a:lnTo>
                  <a:lnTo>
                    <a:pt x="442816" y="713525"/>
                  </a:lnTo>
                  <a:lnTo>
                    <a:pt x="454026" y="762503"/>
                  </a:lnTo>
                  <a:lnTo>
                    <a:pt x="477724" y="861780"/>
                  </a:lnTo>
                  <a:lnTo>
                    <a:pt x="489204" y="911983"/>
                  </a:lnTo>
                  <a:lnTo>
                    <a:pt x="499768" y="962500"/>
                  </a:lnTo>
                  <a:lnTo>
                    <a:pt x="508913" y="1013283"/>
                  </a:lnTo>
                  <a:lnTo>
                    <a:pt x="515888" y="1061440"/>
                  </a:lnTo>
                  <a:lnTo>
                    <a:pt x="521334" y="1109836"/>
                  </a:lnTo>
                  <a:lnTo>
                    <a:pt x="525429" y="1158523"/>
                  </a:lnTo>
                  <a:lnTo>
                    <a:pt x="528354" y="1207554"/>
                  </a:lnTo>
                  <a:lnTo>
                    <a:pt x="530289" y="1256981"/>
                  </a:lnTo>
                  <a:lnTo>
                    <a:pt x="531415" y="1306857"/>
                  </a:lnTo>
                  <a:lnTo>
                    <a:pt x="531912" y="1357233"/>
                  </a:lnTo>
                  <a:lnTo>
                    <a:pt x="531212" y="1564797"/>
                  </a:lnTo>
                  <a:lnTo>
                    <a:pt x="531267" y="1618464"/>
                  </a:lnTo>
                  <a:lnTo>
                    <a:pt x="531773" y="1672946"/>
                  </a:lnTo>
                  <a:lnTo>
                    <a:pt x="532912" y="1728296"/>
                  </a:lnTo>
                  <a:lnTo>
                    <a:pt x="536507" y="1839814"/>
                  </a:lnTo>
                  <a:lnTo>
                    <a:pt x="537578" y="1894479"/>
                  </a:lnTo>
                  <a:lnTo>
                    <a:pt x="537130" y="1947105"/>
                  </a:lnTo>
                  <a:lnTo>
                    <a:pt x="534391" y="1996713"/>
                  </a:lnTo>
                  <a:lnTo>
                    <a:pt x="528584" y="2042320"/>
                  </a:lnTo>
                  <a:lnTo>
                    <a:pt x="518936" y="2082945"/>
                  </a:lnTo>
                  <a:lnTo>
                    <a:pt x="485015" y="2145324"/>
                  </a:lnTo>
                  <a:lnTo>
                    <a:pt x="454106" y="2168536"/>
                  </a:lnTo>
                  <a:lnTo>
                    <a:pt x="416241" y="2182927"/>
                  </a:lnTo>
                  <a:lnTo>
                    <a:pt x="373156" y="2190854"/>
                  </a:lnTo>
                  <a:lnTo>
                    <a:pt x="326588" y="2194673"/>
                  </a:lnTo>
                  <a:lnTo>
                    <a:pt x="278274" y="2196742"/>
                  </a:lnTo>
                  <a:lnTo>
                    <a:pt x="229951" y="2199417"/>
                  </a:lnTo>
                  <a:lnTo>
                    <a:pt x="183355" y="2205055"/>
                  </a:lnTo>
                  <a:lnTo>
                    <a:pt x="140225" y="2216013"/>
                  </a:lnTo>
                  <a:lnTo>
                    <a:pt x="102296" y="2234648"/>
                  </a:lnTo>
                  <a:lnTo>
                    <a:pt x="56198" y="2282490"/>
                  </a:lnTo>
                  <a:lnTo>
                    <a:pt x="25067" y="2350696"/>
                  </a:lnTo>
                  <a:lnTo>
                    <a:pt x="14512" y="2391163"/>
                  </a:lnTo>
                  <a:lnTo>
                    <a:pt x="6977" y="2435193"/>
                  </a:lnTo>
                  <a:lnTo>
                    <a:pt x="2219" y="2482278"/>
                  </a:lnTo>
                  <a:lnTo>
                    <a:pt x="0" y="2531909"/>
                  </a:lnTo>
                  <a:lnTo>
                    <a:pt x="77" y="2583577"/>
                  </a:lnTo>
                  <a:lnTo>
                    <a:pt x="2210" y="2636773"/>
                  </a:lnTo>
                  <a:lnTo>
                    <a:pt x="6158" y="2690987"/>
                  </a:lnTo>
                  <a:lnTo>
                    <a:pt x="11680" y="2745711"/>
                  </a:lnTo>
                  <a:lnTo>
                    <a:pt x="18536" y="2800436"/>
                  </a:lnTo>
                  <a:lnTo>
                    <a:pt x="26485" y="2854652"/>
                  </a:lnTo>
                  <a:lnTo>
                    <a:pt x="35285" y="2907851"/>
                  </a:lnTo>
                  <a:lnTo>
                    <a:pt x="44697" y="2959524"/>
                  </a:lnTo>
                  <a:lnTo>
                    <a:pt x="54479" y="3009162"/>
                  </a:lnTo>
                  <a:lnTo>
                    <a:pt x="67767" y="3071225"/>
                  </a:lnTo>
                  <a:lnTo>
                    <a:pt x="81615" y="3128861"/>
                  </a:lnTo>
                  <a:lnTo>
                    <a:pt x="96351" y="3182124"/>
                  </a:lnTo>
                  <a:lnTo>
                    <a:pt x="112308" y="3231066"/>
                  </a:lnTo>
                  <a:lnTo>
                    <a:pt x="129817" y="3275740"/>
                  </a:lnTo>
                  <a:lnTo>
                    <a:pt x="149207" y="3316199"/>
                  </a:lnTo>
                  <a:lnTo>
                    <a:pt x="170811" y="3352495"/>
                  </a:lnTo>
                  <a:lnTo>
                    <a:pt x="194959" y="3384681"/>
                  </a:lnTo>
                  <a:lnTo>
                    <a:pt x="221982" y="3412811"/>
                  </a:lnTo>
                  <a:lnTo>
                    <a:pt x="252210" y="3436936"/>
                  </a:lnTo>
                  <a:lnTo>
                    <a:pt x="285976" y="3457110"/>
                  </a:lnTo>
                  <a:lnTo>
                    <a:pt x="323609" y="3473386"/>
                  </a:lnTo>
                  <a:lnTo>
                    <a:pt x="365441" y="3485816"/>
                  </a:lnTo>
                  <a:lnTo>
                    <a:pt x="411921" y="3494702"/>
                  </a:lnTo>
                  <a:lnTo>
                    <a:pt x="461725" y="3500969"/>
                  </a:lnTo>
                  <a:lnTo>
                    <a:pt x="566192" y="3510587"/>
                  </a:lnTo>
                  <a:lnTo>
                    <a:pt x="618299" y="3516406"/>
                  </a:lnTo>
                  <a:lnTo>
                    <a:pt x="668617" y="3524544"/>
                  </a:lnTo>
                  <a:lnTo>
                    <a:pt x="715869" y="3536237"/>
                  </a:lnTo>
                  <a:lnTo>
                    <a:pt x="758776" y="3552719"/>
                  </a:lnTo>
                  <a:lnTo>
                    <a:pt x="796060" y="3575224"/>
                  </a:lnTo>
                  <a:lnTo>
                    <a:pt x="831937" y="3610307"/>
                  </a:lnTo>
                  <a:lnTo>
                    <a:pt x="861212" y="3652100"/>
                  </a:lnTo>
                  <a:lnTo>
                    <a:pt x="886896" y="3697202"/>
                  </a:lnTo>
                  <a:lnTo>
                    <a:pt x="911999" y="3742208"/>
                  </a:lnTo>
                  <a:lnTo>
                    <a:pt x="939532" y="3783717"/>
                  </a:lnTo>
                  <a:lnTo>
                    <a:pt x="968373" y="3815682"/>
                  </a:lnTo>
                  <a:lnTo>
                    <a:pt x="1001306" y="3842601"/>
                  </a:lnTo>
                  <a:lnTo>
                    <a:pt x="1038043" y="3864985"/>
                  </a:lnTo>
                  <a:lnTo>
                    <a:pt x="1078296" y="3883344"/>
                  </a:lnTo>
                  <a:lnTo>
                    <a:pt x="1121778" y="3898188"/>
                  </a:lnTo>
                  <a:lnTo>
                    <a:pt x="1168200" y="3910026"/>
                  </a:lnTo>
                  <a:lnTo>
                    <a:pt x="1217276" y="3919371"/>
                  </a:lnTo>
                  <a:lnTo>
                    <a:pt x="1268718" y="3926730"/>
                  </a:lnTo>
                  <a:lnTo>
                    <a:pt x="1322237" y="3932615"/>
                  </a:lnTo>
                  <a:lnTo>
                    <a:pt x="1376633" y="3937311"/>
                  </a:lnTo>
                  <a:lnTo>
                    <a:pt x="1431566" y="3940581"/>
                  </a:lnTo>
                  <a:lnTo>
                    <a:pt x="1485831" y="3941934"/>
                  </a:lnTo>
                  <a:lnTo>
                    <a:pt x="1538221" y="3940882"/>
                  </a:lnTo>
                  <a:lnTo>
                    <a:pt x="1587533" y="3936937"/>
                  </a:lnTo>
                  <a:lnTo>
                    <a:pt x="1632561" y="3929610"/>
                  </a:lnTo>
                  <a:lnTo>
                    <a:pt x="1672099" y="3918412"/>
                  </a:lnTo>
                  <a:lnTo>
                    <a:pt x="1726592" y="3886188"/>
                  </a:lnTo>
                  <a:lnTo>
                    <a:pt x="1754435" y="3843301"/>
                  </a:lnTo>
                  <a:lnTo>
                    <a:pt x="1763613" y="3788763"/>
                  </a:lnTo>
                  <a:lnTo>
                    <a:pt x="1761933" y="3757532"/>
                  </a:lnTo>
                  <a:lnTo>
                    <a:pt x="1747492" y="3687961"/>
                  </a:lnTo>
                  <a:lnTo>
                    <a:pt x="1735315" y="3649947"/>
                  </a:lnTo>
                  <a:lnTo>
                    <a:pt x="1720223" y="3609998"/>
                  </a:lnTo>
                  <a:lnTo>
                    <a:pt x="1702507" y="3568276"/>
                  </a:lnTo>
                  <a:lnTo>
                    <a:pt x="1682460" y="3524945"/>
                  </a:lnTo>
                  <a:lnTo>
                    <a:pt x="1660372" y="3480167"/>
                  </a:lnTo>
                  <a:lnTo>
                    <a:pt x="1636536" y="3434106"/>
                  </a:lnTo>
                  <a:lnTo>
                    <a:pt x="1611244" y="3386924"/>
                  </a:lnTo>
                  <a:lnTo>
                    <a:pt x="1584787" y="3338785"/>
                  </a:lnTo>
                  <a:lnTo>
                    <a:pt x="1473150" y="3139911"/>
                  </a:lnTo>
                  <a:lnTo>
                    <a:pt x="1445247" y="3089428"/>
                  </a:lnTo>
                  <a:lnTo>
                    <a:pt x="1417930" y="3038964"/>
                  </a:lnTo>
                  <a:lnTo>
                    <a:pt x="1388585" y="2983122"/>
                  </a:lnTo>
                  <a:lnTo>
                    <a:pt x="1360465" y="2927640"/>
                  </a:lnTo>
                  <a:lnTo>
                    <a:pt x="1333713" y="2872654"/>
                  </a:lnTo>
                  <a:lnTo>
                    <a:pt x="1308473" y="2818301"/>
                  </a:lnTo>
                  <a:lnTo>
                    <a:pt x="1284886" y="2764715"/>
                  </a:lnTo>
                  <a:lnTo>
                    <a:pt x="1263095" y="2712033"/>
                  </a:lnTo>
                  <a:lnTo>
                    <a:pt x="1243243" y="2660390"/>
                  </a:lnTo>
                  <a:lnTo>
                    <a:pt x="1225473" y="2609922"/>
                  </a:lnTo>
                  <a:lnTo>
                    <a:pt x="1209928" y="2560765"/>
                  </a:lnTo>
                  <a:lnTo>
                    <a:pt x="1196749" y="2513053"/>
                  </a:lnTo>
                  <a:lnTo>
                    <a:pt x="1186081" y="2466923"/>
                  </a:lnTo>
                  <a:lnTo>
                    <a:pt x="1178065" y="2422511"/>
                  </a:lnTo>
                  <a:lnTo>
                    <a:pt x="1172845" y="2379952"/>
                  </a:lnTo>
                  <a:lnTo>
                    <a:pt x="1170563" y="2339382"/>
                  </a:lnTo>
                  <a:lnTo>
                    <a:pt x="1171361" y="2300936"/>
                  </a:lnTo>
                  <a:lnTo>
                    <a:pt x="1182771" y="2230961"/>
                  </a:lnTo>
                  <a:lnTo>
                    <a:pt x="1208217" y="2171112"/>
                  </a:lnTo>
                  <a:lnTo>
                    <a:pt x="1251822" y="2119683"/>
                  </a:lnTo>
                  <a:lnTo>
                    <a:pt x="1315292" y="2077483"/>
                  </a:lnTo>
                  <a:lnTo>
                    <a:pt x="1352484" y="2059874"/>
                  </a:lnTo>
                  <a:lnTo>
                    <a:pt x="1392635" y="2043890"/>
                  </a:lnTo>
                  <a:lnTo>
                    <a:pt x="1435239" y="2029008"/>
                  </a:lnTo>
                  <a:lnTo>
                    <a:pt x="1479785" y="2014702"/>
                  </a:lnTo>
                  <a:lnTo>
                    <a:pt x="1572675" y="1985717"/>
                  </a:lnTo>
                  <a:lnTo>
                    <a:pt x="1620001" y="1969987"/>
                  </a:lnTo>
                  <a:lnTo>
                    <a:pt x="1667237" y="1952733"/>
                  </a:lnTo>
                  <a:lnTo>
                    <a:pt x="1713875" y="1933429"/>
                  </a:lnTo>
                  <a:lnTo>
                    <a:pt x="1759406" y="1911549"/>
                  </a:lnTo>
                  <a:lnTo>
                    <a:pt x="1803321" y="1886570"/>
                  </a:lnTo>
                  <a:lnTo>
                    <a:pt x="1845113" y="1857964"/>
                  </a:lnTo>
                  <a:lnTo>
                    <a:pt x="1884274" y="1825208"/>
                  </a:lnTo>
                  <a:lnTo>
                    <a:pt x="1920294" y="1787775"/>
                  </a:lnTo>
                  <a:lnTo>
                    <a:pt x="1948717" y="1751158"/>
                  </a:lnTo>
                  <a:lnTo>
                    <a:pt x="1974276" y="1711181"/>
                  </a:lnTo>
                  <a:lnTo>
                    <a:pt x="1996872" y="1668433"/>
                  </a:lnTo>
                  <a:lnTo>
                    <a:pt x="2016407" y="1623500"/>
                  </a:lnTo>
                  <a:lnTo>
                    <a:pt x="2032779" y="1576971"/>
                  </a:lnTo>
                  <a:lnTo>
                    <a:pt x="2045892" y="1529432"/>
                  </a:lnTo>
                  <a:lnTo>
                    <a:pt x="2055644" y="1481473"/>
                  </a:lnTo>
                  <a:lnTo>
                    <a:pt x="2061937" y="1433680"/>
                  </a:lnTo>
                  <a:lnTo>
                    <a:pt x="2064672" y="1386642"/>
                  </a:lnTo>
                  <a:lnTo>
                    <a:pt x="2063749" y="1340945"/>
                  </a:lnTo>
                  <a:lnTo>
                    <a:pt x="2058194" y="1290968"/>
                  </a:lnTo>
                  <a:lnTo>
                    <a:pt x="2048162" y="1243267"/>
                  </a:lnTo>
                  <a:lnTo>
                    <a:pt x="2034080" y="1197589"/>
                  </a:lnTo>
                  <a:lnTo>
                    <a:pt x="2016376" y="1153682"/>
                  </a:lnTo>
                  <a:lnTo>
                    <a:pt x="1995478" y="1111294"/>
                  </a:lnTo>
                  <a:lnTo>
                    <a:pt x="1971813" y="1070173"/>
                  </a:lnTo>
                  <a:lnTo>
                    <a:pt x="1945810" y="1030066"/>
                  </a:lnTo>
                  <a:lnTo>
                    <a:pt x="1917896" y="990721"/>
                  </a:lnTo>
                  <a:lnTo>
                    <a:pt x="1888500" y="951887"/>
                  </a:lnTo>
                  <a:lnTo>
                    <a:pt x="1858048" y="913310"/>
                  </a:lnTo>
                  <a:lnTo>
                    <a:pt x="1795692" y="835921"/>
                  </a:lnTo>
                  <a:lnTo>
                    <a:pt x="1764643" y="796604"/>
                  </a:lnTo>
                  <a:lnTo>
                    <a:pt x="1734250" y="756537"/>
                  </a:lnTo>
                  <a:lnTo>
                    <a:pt x="1704942" y="715466"/>
                  </a:lnTo>
                  <a:lnTo>
                    <a:pt x="1670767" y="663217"/>
                  </a:lnTo>
                  <a:lnTo>
                    <a:pt x="1638739" y="609751"/>
                  </a:lnTo>
                  <a:lnTo>
                    <a:pt x="1608699" y="555762"/>
                  </a:lnTo>
                  <a:lnTo>
                    <a:pt x="1580492" y="501943"/>
                  </a:lnTo>
                  <a:lnTo>
                    <a:pt x="1553959" y="448988"/>
                  </a:lnTo>
                  <a:lnTo>
                    <a:pt x="1482838" y="302248"/>
                  </a:lnTo>
                  <a:lnTo>
                    <a:pt x="1461433" y="259688"/>
                  </a:lnTo>
                  <a:lnTo>
                    <a:pt x="1440917" y="221463"/>
                  </a:lnTo>
                  <a:lnTo>
                    <a:pt x="1421132" y="188264"/>
                  </a:lnTo>
                  <a:lnTo>
                    <a:pt x="1383130" y="139725"/>
                  </a:lnTo>
                  <a:lnTo>
                    <a:pt x="1346169" y="119621"/>
                  </a:lnTo>
                  <a:lnTo>
                    <a:pt x="1312444" y="96886"/>
                  </a:lnTo>
                  <a:lnTo>
                    <a:pt x="1274654" y="76090"/>
                  </a:lnTo>
                  <a:lnTo>
                    <a:pt x="1233308" y="57414"/>
                  </a:lnTo>
                  <a:lnTo>
                    <a:pt x="1188918" y="41039"/>
                  </a:lnTo>
                  <a:lnTo>
                    <a:pt x="1141993" y="27145"/>
                  </a:lnTo>
                  <a:lnTo>
                    <a:pt x="1093044" y="15914"/>
                  </a:lnTo>
                  <a:lnTo>
                    <a:pt x="1042583" y="7525"/>
                  </a:lnTo>
                  <a:lnTo>
                    <a:pt x="991119" y="2160"/>
                  </a:lnTo>
                  <a:lnTo>
                    <a:pt x="939163" y="0"/>
                  </a:lnTo>
                  <a:close/>
                </a:path>
              </a:pathLst>
            </a:custGeom>
            <a:solidFill>
              <a:srgbClr val="DDDDDD"/>
            </a:solidFill>
          </p:spPr>
          <p:txBody>
            <a:bodyPr wrap="square" lIns="0" tIns="0" rIns="0" bIns="0" rtlCol="0"/>
            <a:lstStyle/>
            <a:p/>
          </p:txBody>
        </p:sp>
        <p:sp>
          <p:nvSpPr>
            <p:cNvPr id="14" name="object 14" descr=""/>
            <p:cNvSpPr/>
            <p:nvPr/>
          </p:nvSpPr>
          <p:spPr>
            <a:xfrm>
              <a:off x="7560" y="1377966"/>
              <a:ext cx="2065020" cy="3942079"/>
            </a:xfrm>
            <a:custGeom>
              <a:avLst/>
              <a:gdLst/>
              <a:ahLst/>
              <a:cxnLst/>
              <a:rect l="l" t="t" r="r" b="b"/>
              <a:pathLst>
                <a:path w="2065020" h="3942079">
                  <a:moveTo>
                    <a:pt x="1346169" y="119621"/>
                  </a:moveTo>
                  <a:lnTo>
                    <a:pt x="1312444" y="96886"/>
                  </a:lnTo>
                  <a:lnTo>
                    <a:pt x="1274654" y="76090"/>
                  </a:lnTo>
                  <a:lnTo>
                    <a:pt x="1233308" y="57414"/>
                  </a:lnTo>
                  <a:lnTo>
                    <a:pt x="1188918" y="41039"/>
                  </a:lnTo>
                  <a:lnTo>
                    <a:pt x="1141993" y="27145"/>
                  </a:lnTo>
                  <a:lnTo>
                    <a:pt x="1093044" y="15914"/>
                  </a:lnTo>
                  <a:lnTo>
                    <a:pt x="1042583" y="7525"/>
                  </a:lnTo>
                  <a:lnTo>
                    <a:pt x="991119" y="2160"/>
                  </a:lnTo>
                  <a:lnTo>
                    <a:pt x="939163" y="0"/>
                  </a:lnTo>
                  <a:lnTo>
                    <a:pt x="887226" y="1224"/>
                  </a:lnTo>
                  <a:lnTo>
                    <a:pt x="835818" y="6014"/>
                  </a:lnTo>
                  <a:lnTo>
                    <a:pt x="785450" y="14551"/>
                  </a:lnTo>
                  <a:lnTo>
                    <a:pt x="736633" y="27014"/>
                  </a:lnTo>
                  <a:lnTo>
                    <a:pt x="689876" y="43586"/>
                  </a:lnTo>
                  <a:lnTo>
                    <a:pt x="645692" y="64447"/>
                  </a:lnTo>
                  <a:lnTo>
                    <a:pt x="604589" y="89777"/>
                  </a:lnTo>
                  <a:lnTo>
                    <a:pt x="567054" y="119632"/>
                  </a:lnTo>
                  <a:lnTo>
                    <a:pt x="533250" y="153724"/>
                  </a:lnTo>
                  <a:lnTo>
                    <a:pt x="503322" y="191649"/>
                  </a:lnTo>
                  <a:lnTo>
                    <a:pt x="477415" y="233004"/>
                  </a:lnTo>
                  <a:lnTo>
                    <a:pt x="455675" y="277387"/>
                  </a:lnTo>
                  <a:lnTo>
                    <a:pt x="438247" y="324393"/>
                  </a:lnTo>
                  <a:lnTo>
                    <a:pt x="425276" y="373621"/>
                  </a:lnTo>
                  <a:lnTo>
                    <a:pt x="416908" y="424667"/>
                  </a:lnTo>
                  <a:lnTo>
                    <a:pt x="413287" y="477128"/>
                  </a:lnTo>
                  <a:lnTo>
                    <a:pt x="413979" y="523117"/>
                  </a:lnTo>
                  <a:lnTo>
                    <a:pt x="417781" y="569799"/>
                  </a:lnTo>
                  <a:lnTo>
                    <a:pt x="424191" y="617125"/>
                  </a:lnTo>
                  <a:lnTo>
                    <a:pt x="432703" y="665050"/>
                  </a:lnTo>
                  <a:lnTo>
                    <a:pt x="442816" y="713525"/>
                  </a:lnTo>
                  <a:lnTo>
                    <a:pt x="454026" y="762503"/>
                  </a:lnTo>
                  <a:lnTo>
                    <a:pt x="465830" y="811937"/>
                  </a:lnTo>
                  <a:lnTo>
                    <a:pt x="477724" y="861780"/>
                  </a:lnTo>
                  <a:lnTo>
                    <a:pt x="489204" y="911983"/>
                  </a:lnTo>
                  <a:lnTo>
                    <a:pt x="499768" y="962500"/>
                  </a:lnTo>
                  <a:lnTo>
                    <a:pt x="508913" y="1013283"/>
                  </a:lnTo>
                  <a:lnTo>
                    <a:pt x="515888" y="1061440"/>
                  </a:lnTo>
                  <a:lnTo>
                    <a:pt x="521334" y="1109836"/>
                  </a:lnTo>
                  <a:lnTo>
                    <a:pt x="525429" y="1158523"/>
                  </a:lnTo>
                  <a:lnTo>
                    <a:pt x="528354" y="1207554"/>
                  </a:lnTo>
                  <a:lnTo>
                    <a:pt x="530289" y="1256981"/>
                  </a:lnTo>
                  <a:lnTo>
                    <a:pt x="531415" y="1306857"/>
                  </a:lnTo>
                  <a:lnTo>
                    <a:pt x="531912" y="1357233"/>
                  </a:lnTo>
                  <a:lnTo>
                    <a:pt x="531960" y="1408163"/>
                  </a:lnTo>
                  <a:lnTo>
                    <a:pt x="531739" y="1459699"/>
                  </a:lnTo>
                  <a:lnTo>
                    <a:pt x="531430" y="1511892"/>
                  </a:lnTo>
                  <a:lnTo>
                    <a:pt x="531212" y="1564797"/>
                  </a:lnTo>
                  <a:lnTo>
                    <a:pt x="531267" y="1618464"/>
                  </a:lnTo>
                  <a:lnTo>
                    <a:pt x="531773" y="1672946"/>
                  </a:lnTo>
                  <a:lnTo>
                    <a:pt x="532912" y="1728296"/>
                  </a:lnTo>
                  <a:lnTo>
                    <a:pt x="534694" y="1784093"/>
                  </a:lnTo>
                  <a:lnTo>
                    <a:pt x="536507" y="1839814"/>
                  </a:lnTo>
                  <a:lnTo>
                    <a:pt x="537578" y="1894479"/>
                  </a:lnTo>
                  <a:lnTo>
                    <a:pt x="537130" y="1947105"/>
                  </a:lnTo>
                  <a:lnTo>
                    <a:pt x="534391" y="1996713"/>
                  </a:lnTo>
                  <a:lnTo>
                    <a:pt x="528584" y="2042320"/>
                  </a:lnTo>
                  <a:lnTo>
                    <a:pt x="518936" y="2082945"/>
                  </a:lnTo>
                  <a:lnTo>
                    <a:pt x="485015" y="2145324"/>
                  </a:lnTo>
                  <a:lnTo>
                    <a:pt x="454106" y="2168536"/>
                  </a:lnTo>
                  <a:lnTo>
                    <a:pt x="416241" y="2182927"/>
                  </a:lnTo>
                  <a:lnTo>
                    <a:pt x="373156" y="2190854"/>
                  </a:lnTo>
                  <a:lnTo>
                    <a:pt x="326588" y="2194673"/>
                  </a:lnTo>
                  <a:lnTo>
                    <a:pt x="278274" y="2196742"/>
                  </a:lnTo>
                  <a:lnTo>
                    <a:pt x="229951" y="2199417"/>
                  </a:lnTo>
                  <a:lnTo>
                    <a:pt x="183355" y="2205055"/>
                  </a:lnTo>
                  <a:lnTo>
                    <a:pt x="140225" y="2216013"/>
                  </a:lnTo>
                  <a:lnTo>
                    <a:pt x="102296" y="2234648"/>
                  </a:lnTo>
                  <a:lnTo>
                    <a:pt x="56198" y="2282490"/>
                  </a:lnTo>
                  <a:lnTo>
                    <a:pt x="25067" y="2350696"/>
                  </a:lnTo>
                  <a:lnTo>
                    <a:pt x="14512" y="2391163"/>
                  </a:lnTo>
                  <a:lnTo>
                    <a:pt x="6977" y="2435193"/>
                  </a:lnTo>
                  <a:lnTo>
                    <a:pt x="2219" y="2482278"/>
                  </a:lnTo>
                  <a:lnTo>
                    <a:pt x="0" y="2531909"/>
                  </a:lnTo>
                  <a:lnTo>
                    <a:pt x="77" y="2583577"/>
                  </a:lnTo>
                  <a:lnTo>
                    <a:pt x="2210" y="2636773"/>
                  </a:lnTo>
                  <a:lnTo>
                    <a:pt x="6158" y="2690987"/>
                  </a:lnTo>
                  <a:lnTo>
                    <a:pt x="11680" y="2745711"/>
                  </a:lnTo>
                  <a:lnTo>
                    <a:pt x="18536" y="2800436"/>
                  </a:lnTo>
                  <a:lnTo>
                    <a:pt x="26485" y="2854652"/>
                  </a:lnTo>
                  <a:lnTo>
                    <a:pt x="35285" y="2907851"/>
                  </a:lnTo>
                  <a:lnTo>
                    <a:pt x="44697" y="2959524"/>
                  </a:lnTo>
                  <a:lnTo>
                    <a:pt x="54479" y="3009162"/>
                  </a:lnTo>
                  <a:lnTo>
                    <a:pt x="67767" y="3071225"/>
                  </a:lnTo>
                  <a:lnTo>
                    <a:pt x="81615" y="3128861"/>
                  </a:lnTo>
                  <a:lnTo>
                    <a:pt x="96351" y="3182124"/>
                  </a:lnTo>
                  <a:lnTo>
                    <a:pt x="112308" y="3231066"/>
                  </a:lnTo>
                  <a:lnTo>
                    <a:pt x="129817" y="3275740"/>
                  </a:lnTo>
                  <a:lnTo>
                    <a:pt x="149207" y="3316199"/>
                  </a:lnTo>
                  <a:lnTo>
                    <a:pt x="170811" y="3352495"/>
                  </a:lnTo>
                  <a:lnTo>
                    <a:pt x="194959" y="3384681"/>
                  </a:lnTo>
                  <a:lnTo>
                    <a:pt x="221982" y="3412811"/>
                  </a:lnTo>
                  <a:lnTo>
                    <a:pt x="252210" y="3436936"/>
                  </a:lnTo>
                  <a:lnTo>
                    <a:pt x="285976" y="3457110"/>
                  </a:lnTo>
                  <a:lnTo>
                    <a:pt x="323609" y="3473386"/>
                  </a:lnTo>
                  <a:lnTo>
                    <a:pt x="365441" y="3485816"/>
                  </a:lnTo>
                  <a:lnTo>
                    <a:pt x="411921" y="3494702"/>
                  </a:lnTo>
                  <a:lnTo>
                    <a:pt x="461725" y="3500969"/>
                  </a:lnTo>
                  <a:lnTo>
                    <a:pt x="513575" y="3505853"/>
                  </a:lnTo>
                  <a:lnTo>
                    <a:pt x="566192" y="3510587"/>
                  </a:lnTo>
                  <a:lnTo>
                    <a:pt x="618299" y="3516406"/>
                  </a:lnTo>
                  <a:lnTo>
                    <a:pt x="668617" y="3524544"/>
                  </a:lnTo>
                  <a:lnTo>
                    <a:pt x="715869" y="3536237"/>
                  </a:lnTo>
                  <a:lnTo>
                    <a:pt x="758776" y="3552719"/>
                  </a:lnTo>
                  <a:lnTo>
                    <a:pt x="796060" y="3575224"/>
                  </a:lnTo>
                  <a:lnTo>
                    <a:pt x="831937" y="3610307"/>
                  </a:lnTo>
                  <a:lnTo>
                    <a:pt x="861212" y="3652100"/>
                  </a:lnTo>
                  <a:lnTo>
                    <a:pt x="886896" y="3697202"/>
                  </a:lnTo>
                  <a:lnTo>
                    <a:pt x="911999" y="3742208"/>
                  </a:lnTo>
                  <a:lnTo>
                    <a:pt x="939532" y="3783717"/>
                  </a:lnTo>
                  <a:lnTo>
                    <a:pt x="968373" y="3815682"/>
                  </a:lnTo>
                  <a:lnTo>
                    <a:pt x="1001306" y="3842601"/>
                  </a:lnTo>
                  <a:lnTo>
                    <a:pt x="1038043" y="3864985"/>
                  </a:lnTo>
                  <a:lnTo>
                    <a:pt x="1078296" y="3883344"/>
                  </a:lnTo>
                  <a:lnTo>
                    <a:pt x="1121778" y="3898188"/>
                  </a:lnTo>
                  <a:lnTo>
                    <a:pt x="1168200" y="3910026"/>
                  </a:lnTo>
                  <a:lnTo>
                    <a:pt x="1217276" y="3919371"/>
                  </a:lnTo>
                  <a:lnTo>
                    <a:pt x="1268718" y="3926730"/>
                  </a:lnTo>
                  <a:lnTo>
                    <a:pt x="1322237" y="3932615"/>
                  </a:lnTo>
                  <a:lnTo>
                    <a:pt x="1376633" y="3937311"/>
                  </a:lnTo>
                  <a:lnTo>
                    <a:pt x="1431566" y="3940581"/>
                  </a:lnTo>
                  <a:lnTo>
                    <a:pt x="1485831" y="3941934"/>
                  </a:lnTo>
                  <a:lnTo>
                    <a:pt x="1538221" y="3940882"/>
                  </a:lnTo>
                  <a:lnTo>
                    <a:pt x="1587533" y="3936937"/>
                  </a:lnTo>
                  <a:lnTo>
                    <a:pt x="1632561" y="3929610"/>
                  </a:lnTo>
                  <a:lnTo>
                    <a:pt x="1672099" y="3918412"/>
                  </a:lnTo>
                  <a:lnTo>
                    <a:pt x="1726592" y="3886188"/>
                  </a:lnTo>
                  <a:lnTo>
                    <a:pt x="1754435" y="3843301"/>
                  </a:lnTo>
                  <a:lnTo>
                    <a:pt x="1763613" y="3788763"/>
                  </a:lnTo>
                  <a:lnTo>
                    <a:pt x="1761933" y="3757532"/>
                  </a:lnTo>
                  <a:lnTo>
                    <a:pt x="1747492" y="3687961"/>
                  </a:lnTo>
                  <a:lnTo>
                    <a:pt x="1735315" y="3649947"/>
                  </a:lnTo>
                  <a:lnTo>
                    <a:pt x="1720223" y="3609998"/>
                  </a:lnTo>
                  <a:lnTo>
                    <a:pt x="1702507" y="3568276"/>
                  </a:lnTo>
                  <a:lnTo>
                    <a:pt x="1682460" y="3524945"/>
                  </a:lnTo>
                  <a:lnTo>
                    <a:pt x="1660372" y="3480167"/>
                  </a:lnTo>
                  <a:lnTo>
                    <a:pt x="1636536" y="3434106"/>
                  </a:lnTo>
                  <a:lnTo>
                    <a:pt x="1611244" y="3386924"/>
                  </a:lnTo>
                  <a:lnTo>
                    <a:pt x="1584787" y="3338785"/>
                  </a:lnTo>
                  <a:lnTo>
                    <a:pt x="1557458" y="3289851"/>
                  </a:lnTo>
                  <a:lnTo>
                    <a:pt x="1529547" y="3240286"/>
                  </a:lnTo>
                  <a:lnTo>
                    <a:pt x="1501347" y="3190251"/>
                  </a:lnTo>
                  <a:lnTo>
                    <a:pt x="1473150" y="3139911"/>
                  </a:lnTo>
                  <a:lnTo>
                    <a:pt x="1445247" y="3089428"/>
                  </a:lnTo>
                  <a:lnTo>
                    <a:pt x="1417930" y="3038964"/>
                  </a:lnTo>
                  <a:lnTo>
                    <a:pt x="1388585" y="2983122"/>
                  </a:lnTo>
                  <a:lnTo>
                    <a:pt x="1360465" y="2927640"/>
                  </a:lnTo>
                  <a:lnTo>
                    <a:pt x="1333713" y="2872654"/>
                  </a:lnTo>
                  <a:lnTo>
                    <a:pt x="1308473" y="2818301"/>
                  </a:lnTo>
                  <a:lnTo>
                    <a:pt x="1284886" y="2764715"/>
                  </a:lnTo>
                  <a:lnTo>
                    <a:pt x="1263095" y="2712033"/>
                  </a:lnTo>
                  <a:lnTo>
                    <a:pt x="1243243" y="2660390"/>
                  </a:lnTo>
                  <a:lnTo>
                    <a:pt x="1225473" y="2609922"/>
                  </a:lnTo>
                  <a:lnTo>
                    <a:pt x="1209928" y="2560765"/>
                  </a:lnTo>
                  <a:lnTo>
                    <a:pt x="1196749" y="2513053"/>
                  </a:lnTo>
                  <a:lnTo>
                    <a:pt x="1186081" y="2466923"/>
                  </a:lnTo>
                  <a:lnTo>
                    <a:pt x="1178065" y="2422511"/>
                  </a:lnTo>
                  <a:lnTo>
                    <a:pt x="1172845" y="2379952"/>
                  </a:lnTo>
                  <a:lnTo>
                    <a:pt x="1170563" y="2339382"/>
                  </a:lnTo>
                  <a:lnTo>
                    <a:pt x="1171361" y="2300936"/>
                  </a:lnTo>
                  <a:lnTo>
                    <a:pt x="1182771" y="2230961"/>
                  </a:lnTo>
                  <a:lnTo>
                    <a:pt x="1208217" y="2171112"/>
                  </a:lnTo>
                  <a:lnTo>
                    <a:pt x="1251822" y="2119683"/>
                  </a:lnTo>
                  <a:lnTo>
                    <a:pt x="1315292" y="2077483"/>
                  </a:lnTo>
                  <a:lnTo>
                    <a:pt x="1352484" y="2059874"/>
                  </a:lnTo>
                  <a:lnTo>
                    <a:pt x="1392635" y="2043890"/>
                  </a:lnTo>
                  <a:lnTo>
                    <a:pt x="1435239" y="2029008"/>
                  </a:lnTo>
                  <a:lnTo>
                    <a:pt x="1479785" y="2014702"/>
                  </a:lnTo>
                  <a:lnTo>
                    <a:pt x="1525767" y="2000446"/>
                  </a:lnTo>
                  <a:lnTo>
                    <a:pt x="1572675" y="1985717"/>
                  </a:lnTo>
                  <a:lnTo>
                    <a:pt x="1620001" y="1969987"/>
                  </a:lnTo>
                  <a:lnTo>
                    <a:pt x="1667237" y="1952733"/>
                  </a:lnTo>
                  <a:lnTo>
                    <a:pt x="1713875" y="1933429"/>
                  </a:lnTo>
                  <a:lnTo>
                    <a:pt x="1759406" y="1911549"/>
                  </a:lnTo>
                  <a:lnTo>
                    <a:pt x="1803321" y="1886570"/>
                  </a:lnTo>
                  <a:lnTo>
                    <a:pt x="1845113" y="1857964"/>
                  </a:lnTo>
                  <a:lnTo>
                    <a:pt x="1884274" y="1825208"/>
                  </a:lnTo>
                  <a:lnTo>
                    <a:pt x="1920294" y="1787775"/>
                  </a:lnTo>
                  <a:lnTo>
                    <a:pt x="1948717" y="1751158"/>
                  </a:lnTo>
                  <a:lnTo>
                    <a:pt x="1974276" y="1711181"/>
                  </a:lnTo>
                  <a:lnTo>
                    <a:pt x="1996872" y="1668433"/>
                  </a:lnTo>
                  <a:lnTo>
                    <a:pt x="2016407" y="1623500"/>
                  </a:lnTo>
                  <a:lnTo>
                    <a:pt x="2032779" y="1576971"/>
                  </a:lnTo>
                  <a:lnTo>
                    <a:pt x="2045892" y="1529432"/>
                  </a:lnTo>
                  <a:lnTo>
                    <a:pt x="2055644" y="1481473"/>
                  </a:lnTo>
                  <a:lnTo>
                    <a:pt x="2061937" y="1433680"/>
                  </a:lnTo>
                  <a:lnTo>
                    <a:pt x="2064672" y="1386642"/>
                  </a:lnTo>
                  <a:lnTo>
                    <a:pt x="2063749" y="1340945"/>
                  </a:lnTo>
                  <a:lnTo>
                    <a:pt x="2058194" y="1290968"/>
                  </a:lnTo>
                  <a:lnTo>
                    <a:pt x="2048162" y="1243267"/>
                  </a:lnTo>
                  <a:lnTo>
                    <a:pt x="2034080" y="1197589"/>
                  </a:lnTo>
                  <a:lnTo>
                    <a:pt x="2016376" y="1153682"/>
                  </a:lnTo>
                  <a:lnTo>
                    <a:pt x="1995478" y="1111294"/>
                  </a:lnTo>
                  <a:lnTo>
                    <a:pt x="1971813" y="1070173"/>
                  </a:lnTo>
                  <a:lnTo>
                    <a:pt x="1945810" y="1030066"/>
                  </a:lnTo>
                  <a:lnTo>
                    <a:pt x="1917896" y="990721"/>
                  </a:lnTo>
                  <a:lnTo>
                    <a:pt x="1888500" y="951887"/>
                  </a:lnTo>
                  <a:lnTo>
                    <a:pt x="1858048" y="913310"/>
                  </a:lnTo>
                  <a:lnTo>
                    <a:pt x="1826970" y="874739"/>
                  </a:lnTo>
                  <a:lnTo>
                    <a:pt x="1795692" y="835921"/>
                  </a:lnTo>
                  <a:lnTo>
                    <a:pt x="1764643" y="796604"/>
                  </a:lnTo>
                  <a:lnTo>
                    <a:pt x="1734250" y="756537"/>
                  </a:lnTo>
                  <a:lnTo>
                    <a:pt x="1704942" y="715466"/>
                  </a:lnTo>
                  <a:lnTo>
                    <a:pt x="1670767" y="663217"/>
                  </a:lnTo>
                  <a:lnTo>
                    <a:pt x="1638739" y="609751"/>
                  </a:lnTo>
                  <a:lnTo>
                    <a:pt x="1608699" y="555762"/>
                  </a:lnTo>
                  <a:lnTo>
                    <a:pt x="1580492" y="501943"/>
                  </a:lnTo>
                  <a:lnTo>
                    <a:pt x="1553959" y="448988"/>
                  </a:lnTo>
                  <a:lnTo>
                    <a:pt x="1528944" y="397591"/>
                  </a:lnTo>
                  <a:lnTo>
                    <a:pt x="1505290" y="348447"/>
                  </a:lnTo>
                  <a:lnTo>
                    <a:pt x="1482838" y="302248"/>
                  </a:lnTo>
                  <a:lnTo>
                    <a:pt x="1461433" y="259688"/>
                  </a:lnTo>
                  <a:lnTo>
                    <a:pt x="1440917" y="221463"/>
                  </a:lnTo>
                  <a:lnTo>
                    <a:pt x="1421132" y="188264"/>
                  </a:lnTo>
                  <a:lnTo>
                    <a:pt x="1383130" y="139725"/>
                  </a:lnTo>
                  <a:lnTo>
                    <a:pt x="1364598" y="125772"/>
                  </a:lnTo>
                  <a:lnTo>
                    <a:pt x="1346169" y="119621"/>
                  </a:lnTo>
                  <a:close/>
                </a:path>
              </a:pathLst>
            </a:custGeom>
            <a:ln w="12793">
              <a:solidFill>
                <a:srgbClr val="000000"/>
              </a:solidFill>
            </a:ln>
          </p:spPr>
          <p:txBody>
            <a:bodyPr wrap="square" lIns="0" tIns="0" rIns="0" bIns="0" rtlCol="0"/>
            <a:lstStyle/>
            <a:p/>
          </p:txBody>
        </p:sp>
        <p:sp>
          <p:nvSpPr>
            <p:cNvPr id="15" name="object 15" descr=""/>
            <p:cNvSpPr/>
            <p:nvPr/>
          </p:nvSpPr>
          <p:spPr>
            <a:xfrm>
              <a:off x="875314" y="1497735"/>
              <a:ext cx="1607820" cy="417195"/>
            </a:xfrm>
            <a:custGeom>
              <a:avLst/>
              <a:gdLst/>
              <a:ahLst/>
              <a:cxnLst/>
              <a:rect l="l" t="t" r="r" b="b"/>
              <a:pathLst>
                <a:path w="1607820" h="417194">
                  <a:moveTo>
                    <a:pt x="1607560" y="0"/>
                  </a:moveTo>
                  <a:lnTo>
                    <a:pt x="0" y="0"/>
                  </a:lnTo>
                  <a:lnTo>
                    <a:pt x="0" y="417048"/>
                  </a:lnTo>
                  <a:lnTo>
                    <a:pt x="1607560" y="417049"/>
                  </a:lnTo>
                  <a:lnTo>
                    <a:pt x="1607560" y="0"/>
                  </a:lnTo>
                  <a:close/>
                </a:path>
              </a:pathLst>
            </a:custGeom>
            <a:solidFill>
              <a:srgbClr val="FFFFFF"/>
            </a:solidFill>
          </p:spPr>
          <p:txBody>
            <a:bodyPr wrap="square" lIns="0" tIns="0" rIns="0" bIns="0" rtlCol="0"/>
            <a:lstStyle/>
            <a:p/>
          </p:txBody>
        </p:sp>
      </p:grpSp>
      <p:sp>
        <p:nvSpPr>
          <p:cNvPr id="16" name="object 16" descr=""/>
          <p:cNvSpPr txBox="1"/>
          <p:nvPr/>
        </p:nvSpPr>
        <p:spPr>
          <a:xfrm>
            <a:off x="875314" y="1497735"/>
            <a:ext cx="1607820" cy="417195"/>
          </a:xfrm>
          <a:prstGeom prst="rect">
            <a:avLst/>
          </a:prstGeom>
          <a:ln w="15008">
            <a:solidFill>
              <a:srgbClr val="000000"/>
            </a:solidFill>
          </a:ln>
        </p:spPr>
        <p:txBody>
          <a:bodyPr wrap="square" lIns="0" tIns="61594" rIns="0" bIns="0" rtlCol="0" vert="horz">
            <a:spAutoFit/>
          </a:bodyPr>
          <a:lstStyle/>
          <a:p>
            <a:pPr marL="114300">
              <a:lnSpc>
                <a:spcPct val="100000"/>
              </a:lnSpc>
              <a:spcBef>
                <a:spcPts val="484"/>
              </a:spcBef>
            </a:pPr>
            <a:r>
              <a:rPr dirty="0" sz="1650" spc="-145" b="1">
                <a:latin typeface="Times New Roman"/>
                <a:cs typeface="Times New Roman"/>
              </a:rPr>
              <a:t>1:</a:t>
            </a:r>
            <a:r>
              <a:rPr dirty="0" sz="1650" spc="-75" b="1">
                <a:latin typeface="Times New Roman"/>
                <a:cs typeface="Times New Roman"/>
              </a:rPr>
              <a:t> </a:t>
            </a:r>
            <a:r>
              <a:rPr dirty="0" sz="1650" spc="-140" b="1">
                <a:latin typeface="Times New Roman"/>
                <a:cs typeface="Times New Roman"/>
              </a:rPr>
              <a:t>A[i]</a:t>
            </a:r>
            <a:r>
              <a:rPr dirty="0" sz="1650" spc="-75" b="1">
                <a:latin typeface="Times New Roman"/>
                <a:cs typeface="Times New Roman"/>
              </a:rPr>
              <a:t> </a:t>
            </a:r>
            <a:r>
              <a:rPr dirty="0" sz="1650" spc="-195" b="1">
                <a:latin typeface="Times New Roman"/>
                <a:cs typeface="Times New Roman"/>
              </a:rPr>
              <a:t>=</a:t>
            </a:r>
            <a:r>
              <a:rPr dirty="0" sz="1650" spc="-75" b="1">
                <a:latin typeface="Times New Roman"/>
                <a:cs typeface="Times New Roman"/>
              </a:rPr>
              <a:t> </a:t>
            </a:r>
            <a:r>
              <a:rPr dirty="0" sz="1650" spc="-145" b="1">
                <a:latin typeface="Times New Roman"/>
                <a:cs typeface="Times New Roman"/>
              </a:rPr>
              <a:t>A[i]</a:t>
            </a:r>
            <a:r>
              <a:rPr dirty="0" sz="1650" spc="-75" b="1">
                <a:latin typeface="Times New Roman"/>
                <a:cs typeface="Times New Roman"/>
              </a:rPr>
              <a:t> </a:t>
            </a:r>
            <a:r>
              <a:rPr dirty="0" sz="1650" spc="-195" b="1">
                <a:latin typeface="Times New Roman"/>
                <a:cs typeface="Times New Roman"/>
              </a:rPr>
              <a:t>+</a:t>
            </a:r>
            <a:r>
              <a:rPr dirty="0" sz="1650" spc="-65" b="1">
                <a:latin typeface="Times New Roman"/>
                <a:cs typeface="Times New Roman"/>
              </a:rPr>
              <a:t> </a:t>
            </a:r>
            <a:r>
              <a:rPr dirty="0" sz="1650" spc="-20" b="1">
                <a:latin typeface="Times New Roman"/>
                <a:cs typeface="Times New Roman"/>
              </a:rPr>
              <a:t>B[i]</a:t>
            </a:r>
            <a:endParaRPr sz="1650">
              <a:latin typeface="Times New Roman"/>
              <a:cs typeface="Times New Roman"/>
            </a:endParaRPr>
          </a:p>
        </p:txBody>
      </p:sp>
      <p:grpSp>
        <p:nvGrpSpPr>
          <p:cNvPr id="17" name="object 17" descr=""/>
          <p:cNvGrpSpPr/>
          <p:nvPr/>
        </p:nvGrpSpPr>
        <p:grpSpPr>
          <a:xfrm>
            <a:off x="1107228" y="2383947"/>
            <a:ext cx="971550" cy="908685"/>
            <a:chOff x="1107228" y="2383947"/>
            <a:chExt cx="971550" cy="908685"/>
          </a:xfrm>
        </p:grpSpPr>
        <p:sp>
          <p:nvSpPr>
            <p:cNvPr id="18" name="object 18" descr=""/>
            <p:cNvSpPr/>
            <p:nvPr/>
          </p:nvSpPr>
          <p:spPr>
            <a:xfrm>
              <a:off x="1114530" y="2391249"/>
              <a:ext cx="956944" cy="894080"/>
            </a:xfrm>
            <a:custGeom>
              <a:avLst/>
              <a:gdLst/>
              <a:ahLst/>
              <a:cxnLst/>
              <a:rect l="l" t="t" r="r" b="b"/>
              <a:pathLst>
                <a:path w="956944" h="894079">
                  <a:moveTo>
                    <a:pt x="478398" y="0"/>
                  </a:moveTo>
                  <a:lnTo>
                    <a:pt x="0" y="476675"/>
                  </a:lnTo>
                  <a:lnTo>
                    <a:pt x="478398" y="893724"/>
                  </a:lnTo>
                  <a:lnTo>
                    <a:pt x="956779" y="476675"/>
                  </a:lnTo>
                  <a:lnTo>
                    <a:pt x="478398" y="0"/>
                  </a:lnTo>
                  <a:close/>
                </a:path>
              </a:pathLst>
            </a:custGeom>
            <a:solidFill>
              <a:srgbClr val="FFFFFF"/>
            </a:solidFill>
          </p:spPr>
          <p:txBody>
            <a:bodyPr wrap="square" lIns="0" tIns="0" rIns="0" bIns="0" rtlCol="0"/>
            <a:lstStyle/>
            <a:p/>
          </p:txBody>
        </p:sp>
        <p:sp>
          <p:nvSpPr>
            <p:cNvPr id="19" name="object 19" descr=""/>
            <p:cNvSpPr/>
            <p:nvPr/>
          </p:nvSpPr>
          <p:spPr>
            <a:xfrm>
              <a:off x="1114530" y="2391249"/>
              <a:ext cx="956944" cy="894080"/>
            </a:xfrm>
            <a:custGeom>
              <a:avLst/>
              <a:gdLst/>
              <a:ahLst/>
              <a:cxnLst/>
              <a:rect l="l" t="t" r="r" b="b"/>
              <a:pathLst>
                <a:path w="956944" h="894079">
                  <a:moveTo>
                    <a:pt x="478398" y="0"/>
                  </a:moveTo>
                  <a:lnTo>
                    <a:pt x="0" y="476675"/>
                  </a:lnTo>
                  <a:lnTo>
                    <a:pt x="478398" y="893724"/>
                  </a:lnTo>
                  <a:lnTo>
                    <a:pt x="956779" y="476675"/>
                  </a:lnTo>
                  <a:lnTo>
                    <a:pt x="478398" y="0"/>
                  </a:lnTo>
                  <a:close/>
                </a:path>
              </a:pathLst>
            </a:custGeom>
            <a:ln w="13743">
              <a:solidFill>
                <a:srgbClr val="000000"/>
              </a:solidFill>
            </a:ln>
          </p:spPr>
          <p:txBody>
            <a:bodyPr wrap="square" lIns="0" tIns="0" rIns="0" bIns="0" rtlCol="0"/>
            <a:lstStyle/>
            <a:p/>
          </p:txBody>
        </p:sp>
      </p:grpSp>
      <p:sp>
        <p:nvSpPr>
          <p:cNvPr id="20" name="object 20" descr=""/>
          <p:cNvSpPr txBox="1"/>
          <p:nvPr/>
        </p:nvSpPr>
        <p:spPr>
          <a:xfrm>
            <a:off x="157717" y="3761586"/>
            <a:ext cx="956944" cy="417195"/>
          </a:xfrm>
          <a:prstGeom prst="rect">
            <a:avLst/>
          </a:prstGeom>
          <a:solidFill>
            <a:srgbClr val="FFFFFF"/>
          </a:solidFill>
          <a:ln w="14807">
            <a:solidFill>
              <a:srgbClr val="000000"/>
            </a:solidFill>
          </a:ln>
        </p:spPr>
        <p:txBody>
          <a:bodyPr wrap="square" lIns="0" tIns="61594" rIns="0" bIns="0" rtlCol="0" vert="horz">
            <a:spAutoFit/>
          </a:bodyPr>
          <a:lstStyle/>
          <a:p>
            <a:pPr marL="181610">
              <a:lnSpc>
                <a:spcPct val="100000"/>
              </a:lnSpc>
              <a:spcBef>
                <a:spcPts val="484"/>
              </a:spcBef>
            </a:pPr>
            <a:r>
              <a:rPr dirty="0" sz="1650" spc="-145" b="1">
                <a:latin typeface="Times New Roman"/>
                <a:cs typeface="Times New Roman"/>
              </a:rPr>
              <a:t>3:</a:t>
            </a:r>
            <a:r>
              <a:rPr dirty="0" sz="1650" spc="-80" b="1">
                <a:latin typeface="Times New Roman"/>
                <a:cs typeface="Times New Roman"/>
              </a:rPr>
              <a:t> </a:t>
            </a:r>
            <a:r>
              <a:rPr dirty="0" sz="1650" spc="-135" b="1">
                <a:latin typeface="Times New Roman"/>
                <a:cs typeface="Times New Roman"/>
              </a:rPr>
              <a:t>B[i]</a:t>
            </a:r>
            <a:r>
              <a:rPr dirty="0" sz="1650" spc="-75" b="1">
                <a:latin typeface="Times New Roman"/>
                <a:cs typeface="Times New Roman"/>
              </a:rPr>
              <a:t> </a:t>
            </a:r>
            <a:r>
              <a:rPr dirty="0" sz="1650" spc="-50" b="1">
                <a:latin typeface="Times New Roman"/>
                <a:cs typeface="Times New Roman"/>
              </a:rPr>
              <a:t>=</a:t>
            </a:r>
            <a:endParaRPr sz="1650">
              <a:latin typeface="Times New Roman"/>
              <a:cs typeface="Times New Roman"/>
            </a:endParaRPr>
          </a:p>
        </p:txBody>
      </p:sp>
      <p:sp>
        <p:nvSpPr>
          <p:cNvPr id="21" name="object 21" descr=""/>
          <p:cNvSpPr txBox="1"/>
          <p:nvPr/>
        </p:nvSpPr>
        <p:spPr>
          <a:xfrm>
            <a:off x="1114530" y="4774391"/>
            <a:ext cx="956944" cy="417195"/>
          </a:xfrm>
          <a:prstGeom prst="rect">
            <a:avLst/>
          </a:prstGeom>
          <a:solidFill>
            <a:srgbClr val="FFFFFF"/>
          </a:solidFill>
          <a:ln w="14807">
            <a:solidFill>
              <a:srgbClr val="000000"/>
            </a:solidFill>
          </a:ln>
        </p:spPr>
        <p:txBody>
          <a:bodyPr wrap="square" lIns="0" tIns="61594" rIns="0" bIns="0" rtlCol="0" vert="horz">
            <a:spAutoFit/>
          </a:bodyPr>
          <a:lstStyle/>
          <a:p>
            <a:pPr marL="177165">
              <a:lnSpc>
                <a:spcPct val="100000"/>
              </a:lnSpc>
              <a:spcBef>
                <a:spcPts val="484"/>
              </a:spcBef>
            </a:pPr>
            <a:r>
              <a:rPr dirty="0" sz="1650" spc="-145" b="1">
                <a:latin typeface="Times New Roman"/>
                <a:cs typeface="Times New Roman"/>
              </a:rPr>
              <a:t>5:</a:t>
            </a:r>
            <a:r>
              <a:rPr dirty="0" sz="1650" spc="-70" b="1">
                <a:latin typeface="Times New Roman"/>
                <a:cs typeface="Times New Roman"/>
              </a:rPr>
              <a:t> </a:t>
            </a:r>
            <a:r>
              <a:rPr dirty="0" sz="1650" spc="-145" b="1">
                <a:latin typeface="Times New Roman"/>
                <a:cs typeface="Times New Roman"/>
              </a:rPr>
              <a:t>C[i]</a:t>
            </a:r>
            <a:r>
              <a:rPr dirty="0" sz="1650" spc="-70" b="1">
                <a:latin typeface="Times New Roman"/>
                <a:cs typeface="Times New Roman"/>
              </a:rPr>
              <a:t> </a:t>
            </a:r>
            <a:r>
              <a:rPr dirty="0" sz="1650" spc="-50" b="1">
                <a:latin typeface="Times New Roman"/>
                <a:cs typeface="Times New Roman"/>
              </a:rPr>
              <a:t>=</a:t>
            </a:r>
            <a:endParaRPr sz="1650">
              <a:latin typeface="Times New Roman"/>
              <a:cs typeface="Times New Roman"/>
            </a:endParaRPr>
          </a:p>
        </p:txBody>
      </p:sp>
      <p:sp>
        <p:nvSpPr>
          <p:cNvPr id="22" name="object 22" descr=""/>
          <p:cNvSpPr txBox="1"/>
          <p:nvPr/>
        </p:nvSpPr>
        <p:spPr>
          <a:xfrm>
            <a:off x="2071309" y="3761586"/>
            <a:ext cx="956944" cy="417195"/>
          </a:xfrm>
          <a:prstGeom prst="rect">
            <a:avLst/>
          </a:prstGeom>
          <a:ln w="14807">
            <a:solidFill>
              <a:srgbClr val="000000"/>
            </a:solidFill>
          </a:ln>
        </p:spPr>
        <p:txBody>
          <a:bodyPr wrap="square" lIns="0" tIns="61594" rIns="0" bIns="0" rtlCol="0" vert="horz">
            <a:spAutoFit/>
          </a:bodyPr>
          <a:lstStyle/>
          <a:p>
            <a:pPr algn="ctr">
              <a:lnSpc>
                <a:spcPct val="100000"/>
              </a:lnSpc>
              <a:spcBef>
                <a:spcPts val="484"/>
              </a:spcBef>
            </a:pPr>
            <a:r>
              <a:rPr dirty="0" sz="1650" spc="-145" b="1">
                <a:latin typeface="Times New Roman"/>
                <a:cs typeface="Times New Roman"/>
              </a:rPr>
              <a:t>4:</a:t>
            </a:r>
            <a:r>
              <a:rPr dirty="0" sz="1650" spc="-70" b="1">
                <a:latin typeface="Times New Roman"/>
                <a:cs typeface="Times New Roman"/>
              </a:rPr>
              <a:t> </a:t>
            </a:r>
            <a:r>
              <a:rPr dirty="0" sz="1650" spc="-50" b="1">
                <a:latin typeface="Times New Roman"/>
                <a:cs typeface="Times New Roman"/>
              </a:rPr>
              <a:t>X</a:t>
            </a:r>
            <a:endParaRPr sz="1650">
              <a:latin typeface="Times New Roman"/>
              <a:cs typeface="Times New Roman"/>
            </a:endParaRPr>
          </a:p>
        </p:txBody>
      </p:sp>
      <p:grpSp>
        <p:nvGrpSpPr>
          <p:cNvPr id="23" name="object 23" descr=""/>
          <p:cNvGrpSpPr/>
          <p:nvPr/>
        </p:nvGrpSpPr>
        <p:grpSpPr>
          <a:xfrm>
            <a:off x="628750" y="1914784"/>
            <a:ext cx="1946275" cy="2860040"/>
            <a:chOff x="628750" y="1914784"/>
            <a:chExt cx="1946275" cy="2860040"/>
          </a:xfrm>
        </p:grpSpPr>
        <p:sp>
          <p:nvSpPr>
            <p:cNvPr id="24" name="object 24" descr=""/>
            <p:cNvSpPr/>
            <p:nvPr/>
          </p:nvSpPr>
          <p:spPr>
            <a:xfrm>
              <a:off x="1592928" y="1914784"/>
              <a:ext cx="0" cy="379730"/>
            </a:xfrm>
            <a:custGeom>
              <a:avLst/>
              <a:gdLst/>
              <a:ahLst/>
              <a:cxnLst/>
              <a:rect l="l" t="t" r="r" b="b"/>
              <a:pathLst>
                <a:path w="0" h="379730">
                  <a:moveTo>
                    <a:pt x="0" y="0"/>
                  </a:moveTo>
                  <a:lnTo>
                    <a:pt x="0" y="379364"/>
                  </a:lnTo>
                </a:path>
              </a:pathLst>
            </a:custGeom>
            <a:ln w="4050">
              <a:solidFill>
                <a:srgbClr val="000000"/>
              </a:solidFill>
            </a:ln>
          </p:spPr>
          <p:txBody>
            <a:bodyPr wrap="square" lIns="0" tIns="0" rIns="0" bIns="0" rtlCol="0"/>
            <a:lstStyle/>
            <a:p/>
          </p:txBody>
        </p:sp>
        <p:sp>
          <p:nvSpPr>
            <p:cNvPr id="25" name="object 25" descr=""/>
            <p:cNvSpPr/>
            <p:nvPr/>
          </p:nvSpPr>
          <p:spPr>
            <a:xfrm>
              <a:off x="1564575" y="2285321"/>
              <a:ext cx="57150" cy="106045"/>
            </a:xfrm>
            <a:custGeom>
              <a:avLst/>
              <a:gdLst/>
              <a:ahLst/>
              <a:cxnLst/>
              <a:rect l="l" t="t" r="r" b="b"/>
              <a:pathLst>
                <a:path w="57150" h="106044">
                  <a:moveTo>
                    <a:pt x="56707" y="0"/>
                  </a:moveTo>
                  <a:lnTo>
                    <a:pt x="0" y="0"/>
                  </a:lnTo>
                  <a:lnTo>
                    <a:pt x="28353" y="105927"/>
                  </a:lnTo>
                  <a:lnTo>
                    <a:pt x="56707" y="0"/>
                  </a:lnTo>
                  <a:close/>
                </a:path>
              </a:pathLst>
            </a:custGeom>
            <a:solidFill>
              <a:srgbClr val="000000"/>
            </a:solidFill>
          </p:spPr>
          <p:txBody>
            <a:bodyPr wrap="square" lIns="0" tIns="0" rIns="0" bIns="0" rtlCol="0"/>
            <a:lstStyle/>
            <a:p/>
          </p:txBody>
        </p:sp>
        <p:sp>
          <p:nvSpPr>
            <p:cNvPr id="26" name="object 26" descr=""/>
            <p:cNvSpPr/>
            <p:nvPr/>
          </p:nvSpPr>
          <p:spPr>
            <a:xfrm>
              <a:off x="740770" y="2867925"/>
              <a:ext cx="374015" cy="796925"/>
            </a:xfrm>
            <a:custGeom>
              <a:avLst/>
              <a:gdLst/>
              <a:ahLst/>
              <a:cxnLst/>
              <a:rect l="l" t="t" r="r" b="b"/>
              <a:pathLst>
                <a:path w="374015" h="796925">
                  <a:moveTo>
                    <a:pt x="373760" y="0"/>
                  </a:moveTo>
                  <a:lnTo>
                    <a:pt x="0" y="0"/>
                  </a:lnTo>
                  <a:lnTo>
                    <a:pt x="0" y="796560"/>
                  </a:lnTo>
                </a:path>
              </a:pathLst>
            </a:custGeom>
            <a:ln w="4229">
              <a:solidFill>
                <a:srgbClr val="000000"/>
              </a:solidFill>
            </a:ln>
          </p:spPr>
          <p:txBody>
            <a:bodyPr wrap="square" lIns="0" tIns="0" rIns="0" bIns="0" rtlCol="0"/>
            <a:lstStyle/>
            <a:p/>
          </p:txBody>
        </p:sp>
        <p:sp>
          <p:nvSpPr>
            <p:cNvPr id="27" name="object 27" descr=""/>
            <p:cNvSpPr/>
            <p:nvPr/>
          </p:nvSpPr>
          <p:spPr>
            <a:xfrm>
              <a:off x="712416" y="3655658"/>
              <a:ext cx="57150" cy="106045"/>
            </a:xfrm>
            <a:custGeom>
              <a:avLst/>
              <a:gdLst/>
              <a:ahLst/>
              <a:cxnLst/>
              <a:rect l="l" t="t" r="r" b="b"/>
              <a:pathLst>
                <a:path w="57150" h="106045">
                  <a:moveTo>
                    <a:pt x="56707" y="0"/>
                  </a:moveTo>
                  <a:lnTo>
                    <a:pt x="0" y="0"/>
                  </a:lnTo>
                  <a:lnTo>
                    <a:pt x="28353" y="105927"/>
                  </a:lnTo>
                  <a:lnTo>
                    <a:pt x="56707" y="0"/>
                  </a:lnTo>
                  <a:close/>
                </a:path>
              </a:pathLst>
            </a:custGeom>
            <a:solidFill>
              <a:srgbClr val="000000"/>
            </a:solidFill>
          </p:spPr>
          <p:txBody>
            <a:bodyPr wrap="square" lIns="0" tIns="0" rIns="0" bIns="0" rtlCol="0"/>
            <a:lstStyle/>
            <a:p/>
          </p:txBody>
        </p:sp>
        <p:sp>
          <p:nvSpPr>
            <p:cNvPr id="28" name="object 28" descr=""/>
            <p:cNvSpPr/>
            <p:nvPr/>
          </p:nvSpPr>
          <p:spPr>
            <a:xfrm>
              <a:off x="2071309" y="2867925"/>
              <a:ext cx="474980" cy="796925"/>
            </a:xfrm>
            <a:custGeom>
              <a:avLst/>
              <a:gdLst/>
              <a:ahLst/>
              <a:cxnLst/>
              <a:rect l="l" t="t" r="r" b="b"/>
              <a:pathLst>
                <a:path w="474980" h="796925">
                  <a:moveTo>
                    <a:pt x="0" y="0"/>
                  </a:moveTo>
                  <a:lnTo>
                    <a:pt x="474921" y="0"/>
                  </a:lnTo>
                  <a:lnTo>
                    <a:pt x="474921" y="796560"/>
                  </a:lnTo>
                </a:path>
              </a:pathLst>
            </a:custGeom>
            <a:ln w="4311">
              <a:solidFill>
                <a:srgbClr val="000000"/>
              </a:solidFill>
            </a:ln>
          </p:spPr>
          <p:txBody>
            <a:bodyPr wrap="square" lIns="0" tIns="0" rIns="0" bIns="0" rtlCol="0"/>
            <a:lstStyle/>
            <a:p/>
          </p:txBody>
        </p:sp>
        <p:sp>
          <p:nvSpPr>
            <p:cNvPr id="29" name="object 29" descr=""/>
            <p:cNvSpPr/>
            <p:nvPr/>
          </p:nvSpPr>
          <p:spPr>
            <a:xfrm>
              <a:off x="2517877" y="3655658"/>
              <a:ext cx="57150" cy="106045"/>
            </a:xfrm>
            <a:custGeom>
              <a:avLst/>
              <a:gdLst/>
              <a:ahLst/>
              <a:cxnLst/>
              <a:rect l="l" t="t" r="r" b="b"/>
              <a:pathLst>
                <a:path w="57150" h="106045">
                  <a:moveTo>
                    <a:pt x="56707" y="0"/>
                  </a:moveTo>
                  <a:lnTo>
                    <a:pt x="0" y="0"/>
                  </a:lnTo>
                  <a:lnTo>
                    <a:pt x="28353" y="105927"/>
                  </a:lnTo>
                  <a:lnTo>
                    <a:pt x="56707" y="0"/>
                  </a:lnTo>
                  <a:close/>
                </a:path>
              </a:pathLst>
            </a:custGeom>
            <a:solidFill>
              <a:srgbClr val="000000"/>
            </a:solidFill>
          </p:spPr>
          <p:txBody>
            <a:bodyPr wrap="square" lIns="0" tIns="0" rIns="0" bIns="0" rtlCol="0"/>
            <a:lstStyle/>
            <a:p/>
          </p:txBody>
        </p:sp>
        <p:sp>
          <p:nvSpPr>
            <p:cNvPr id="30" name="object 30" descr=""/>
            <p:cNvSpPr/>
            <p:nvPr/>
          </p:nvSpPr>
          <p:spPr>
            <a:xfrm>
              <a:off x="636115" y="4178635"/>
              <a:ext cx="956944" cy="471170"/>
            </a:xfrm>
            <a:custGeom>
              <a:avLst/>
              <a:gdLst/>
              <a:ahLst/>
              <a:cxnLst/>
              <a:rect l="l" t="t" r="r" b="b"/>
              <a:pathLst>
                <a:path w="956944" h="471170">
                  <a:moveTo>
                    <a:pt x="0" y="0"/>
                  </a:moveTo>
                  <a:lnTo>
                    <a:pt x="0" y="297880"/>
                  </a:lnTo>
                  <a:lnTo>
                    <a:pt x="956813" y="297880"/>
                  </a:lnTo>
                  <a:lnTo>
                    <a:pt x="956813" y="470916"/>
                  </a:lnTo>
                </a:path>
              </a:pathLst>
            </a:custGeom>
            <a:ln w="14551">
              <a:solidFill>
                <a:srgbClr val="000000"/>
              </a:solidFill>
            </a:ln>
          </p:spPr>
          <p:txBody>
            <a:bodyPr wrap="square" lIns="0" tIns="0" rIns="0" bIns="0" rtlCol="0"/>
            <a:lstStyle/>
            <a:p/>
          </p:txBody>
        </p:sp>
        <p:sp>
          <p:nvSpPr>
            <p:cNvPr id="31" name="object 31" descr=""/>
            <p:cNvSpPr/>
            <p:nvPr/>
          </p:nvSpPr>
          <p:spPr>
            <a:xfrm>
              <a:off x="1556474" y="4638202"/>
              <a:ext cx="73025" cy="136525"/>
            </a:xfrm>
            <a:custGeom>
              <a:avLst/>
              <a:gdLst/>
              <a:ahLst/>
              <a:cxnLst/>
              <a:rect l="l" t="t" r="r" b="b"/>
              <a:pathLst>
                <a:path w="73025" h="136525">
                  <a:moveTo>
                    <a:pt x="72909" y="0"/>
                  </a:moveTo>
                  <a:lnTo>
                    <a:pt x="0" y="0"/>
                  </a:lnTo>
                  <a:lnTo>
                    <a:pt x="36454" y="136192"/>
                  </a:lnTo>
                  <a:lnTo>
                    <a:pt x="72909" y="0"/>
                  </a:lnTo>
                  <a:close/>
                </a:path>
              </a:pathLst>
            </a:custGeom>
            <a:solidFill>
              <a:srgbClr val="000000"/>
            </a:solidFill>
          </p:spPr>
          <p:txBody>
            <a:bodyPr wrap="square" lIns="0" tIns="0" rIns="0" bIns="0" rtlCol="0"/>
            <a:lstStyle/>
            <a:p/>
          </p:txBody>
        </p:sp>
        <p:sp>
          <p:nvSpPr>
            <p:cNvPr id="32" name="object 32" descr=""/>
            <p:cNvSpPr/>
            <p:nvPr/>
          </p:nvSpPr>
          <p:spPr>
            <a:xfrm>
              <a:off x="1592928" y="4178635"/>
              <a:ext cx="956944" cy="471170"/>
            </a:xfrm>
            <a:custGeom>
              <a:avLst/>
              <a:gdLst/>
              <a:ahLst/>
              <a:cxnLst/>
              <a:rect l="l" t="t" r="r" b="b"/>
              <a:pathLst>
                <a:path w="956944" h="471170">
                  <a:moveTo>
                    <a:pt x="956846" y="0"/>
                  </a:moveTo>
                  <a:lnTo>
                    <a:pt x="956846" y="297880"/>
                  </a:lnTo>
                  <a:lnTo>
                    <a:pt x="0" y="297880"/>
                  </a:lnTo>
                  <a:lnTo>
                    <a:pt x="0" y="470916"/>
                  </a:lnTo>
                </a:path>
              </a:pathLst>
            </a:custGeom>
            <a:ln w="14551">
              <a:solidFill>
                <a:srgbClr val="000000"/>
              </a:solidFill>
            </a:ln>
          </p:spPr>
          <p:txBody>
            <a:bodyPr wrap="square" lIns="0" tIns="0" rIns="0" bIns="0" rtlCol="0"/>
            <a:lstStyle/>
            <a:p/>
          </p:txBody>
        </p:sp>
        <p:sp>
          <p:nvSpPr>
            <p:cNvPr id="33" name="object 33" descr=""/>
            <p:cNvSpPr/>
            <p:nvPr/>
          </p:nvSpPr>
          <p:spPr>
            <a:xfrm>
              <a:off x="1556474" y="4638202"/>
              <a:ext cx="73025" cy="136525"/>
            </a:xfrm>
            <a:custGeom>
              <a:avLst/>
              <a:gdLst/>
              <a:ahLst/>
              <a:cxnLst/>
              <a:rect l="l" t="t" r="r" b="b"/>
              <a:pathLst>
                <a:path w="73025" h="136525">
                  <a:moveTo>
                    <a:pt x="72909" y="0"/>
                  </a:moveTo>
                  <a:lnTo>
                    <a:pt x="0" y="0"/>
                  </a:lnTo>
                  <a:lnTo>
                    <a:pt x="36454" y="136192"/>
                  </a:lnTo>
                  <a:lnTo>
                    <a:pt x="72909" y="0"/>
                  </a:lnTo>
                  <a:close/>
                </a:path>
              </a:pathLst>
            </a:custGeom>
            <a:solidFill>
              <a:srgbClr val="000000"/>
            </a:solidFill>
          </p:spPr>
          <p:txBody>
            <a:bodyPr wrap="square" lIns="0" tIns="0" rIns="0" bIns="0" rtlCol="0"/>
            <a:lstStyle/>
            <a:p/>
          </p:txBody>
        </p:sp>
      </p:grpSp>
      <p:sp>
        <p:nvSpPr>
          <p:cNvPr id="34" name="object 34" descr=""/>
          <p:cNvSpPr txBox="1"/>
          <p:nvPr/>
        </p:nvSpPr>
        <p:spPr>
          <a:xfrm>
            <a:off x="659161" y="2678256"/>
            <a:ext cx="1378585" cy="278130"/>
          </a:xfrm>
          <a:prstGeom prst="rect">
            <a:avLst/>
          </a:prstGeom>
        </p:spPr>
        <p:txBody>
          <a:bodyPr wrap="square" lIns="0" tIns="13335" rIns="0" bIns="0" rtlCol="0" vert="horz">
            <a:spAutoFit/>
          </a:bodyPr>
          <a:lstStyle/>
          <a:p>
            <a:pPr marL="38100">
              <a:lnSpc>
                <a:spcPct val="100000"/>
              </a:lnSpc>
              <a:spcBef>
                <a:spcPts val="105"/>
              </a:spcBef>
              <a:tabLst>
                <a:tab pos="527050" algn="l"/>
              </a:tabLst>
            </a:pPr>
            <a:r>
              <a:rPr dirty="0" baseline="38720" sz="2475" spc="-30" b="1">
                <a:latin typeface="Times New Roman"/>
                <a:cs typeface="Times New Roman"/>
              </a:rPr>
              <a:t>True</a:t>
            </a:r>
            <a:r>
              <a:rPr dirty="0" baseline="38720" sz="2475" b="1">
                <a:latin typeface="Times New Roman"/>
                <a:cs typeface="Times New Roman"/>
              </a:rPr>
              <a:t>	</a:t>
            </a:r>
            <a:r>
              <a:rPr dirty="0" sz="1650" spc="-145" b="1">
                <a:latin typeface="Times New Roman"/>
                <a:cs typeface="Times New Roman"/>
              </a:rPr>
              <a:t>2:</a:t>
            </a:r>
            <a:r>
              <a:rPr dirty="0" sz="1650" spc="-80" b="1">
                <a:latin typeface="Times New Roman"/>
                <a:cs typeface="Times New Roman"/>
              </a:rPr>
              <a:t> </a:t>
            </a:r>
            <a:r>
              <a:rPr dirty="0" sz="1650" spc="-140" b="1">
                <a:latin typeface="Times New Roman"/>
                <a:cs typeface="Times New Roman"/>
              </a:rPr>
              <a:t>A[i]</a:t>
            </a:r>
            <a:r>
              <a:rPr dirty="0" sz="1650" spc="-75" b="1">
                <a:latin typeface="Times New Roman"/>
                <a:cs typeface="Times New Roman"/>
              </a:rPr>
              <a:t> </a:t>
            </a:r>
            <a:r>
              <a:rPr dirty="0" sz="1650" spc="-195" b="1">
                <a:latin typeface="Times New Roman"/>
                <a:cs typeface="Times New Roman"/>
              </a:rPr>
              <a:t>=</a:t>
            </a:r>
            <a:r>
              <a:rPr dirty="0" sz="1650" spc="-75" b="1">
                <a:latin typeface="Times New Roman"/>
                <a:cs typeface="Times New Roman"/>
              </a:rPr>
              <a:t> </a:t>
            </a:r>
            <a:r>
              <a:rPr dirty="0" sz="1650" spc="-25" b="1">
                <a:latin typeface="Times New Roman"/>
                <a:cs typeface="Times New Roman"/>
              </a:rPr>
              <a:t>0?</a:t>
            </a:r>
            <a:endParaRPr sz="1650">
              <a:latin typeface="Times New Roman"/>
              <a:cs typeface="Times New Roman"/>
            </a:endParaRPr>
          </a:p>
        </p:txBody>
      </p:sp>
      <p:sp>
        <p:nvSpPr>
          <p:cNvPr id="35" name="object 35" descr=""/>
          <p:cNvSpPr txBox="1"/>
          <p:nvPr/>
        </p:nvSpPr>
        <p:spPr>
          <a:xfrm>
            <a:off x="2206115" y="2529453"/>
            <a:ext cx="400685" cy="278130"/>
          </a:xfrm>
          <a:prstGeom prst="rect">
            <a:avLst/>
          </a:prstGeom>
        </p:spPr>
        <p:txBody>
          <a:bodyPr wrap="square" lIns="0" tIns="13335" rIns="0" bIns="0" rtlCol="0" vert="horz">
            <a:spAutoFit/>
          </a:bodyPr>
          <a:lstStyle/>
          <a:p>
            <a:pPr marL="12700">
              <a:lnSpc>
                <a:spcPct val="100000"/>
              </a:lnSpc>
              <a:spcBef>
                <a:spcPts val="105"/>
              </a:spcBef>
            </a:pPr>
            <a:r>
              <a:rPr dirty="0" sz="1650" spc="-140" b="1">
                <a:latin typeface="Times New Roman"/>
                <a:cs typeface="Times New Roman"/>
              </a:rPr>
              <a:t>False</a:t>
            </a:r>
            <a:endParaRPr sz="1650">
              <a:latin typeface="Times New Roman"/>
              <a:cs typeface="Times New Roman"/>
            </a:endParaRPr>
          </a:p>
        </p:txBody>
      </p:sp>
      <p:sp>
        <p:nvSpPr>
          <p:cNvPr id="36" name="object 36" descr=""/>
          <p:cNvSpPr txBox="1"/>
          <p:nvPr/>
        </p:nvSpPr>
        <p:spPr>
          <a:xfrm>
            <a:off x="1907728" y="3421349"/>
            <a:ext cx="626110" cy="278130"/>
          </a:xfrm>
          <a:prstGeom prst="rect">
            <a:avLst/>
          </a:prstGeom>
        </p:spPr>
        <p:txBody>
          <a:bodyPr wrap="square" lIns="0" tIns="13335" rIns="0" bIns="0" rtlCol="0" vert="horz">
            <a:spAutoFit/>
          </a:bodyPr>
          <a:lstStyle/>
          <a:p>
            <a:pPr marL="12700">
              <a:lnSpc>
                <a:spcPct val="100000"/>
              </a:lnSpc>
              <a:spcBef>
                <a:spcPts val="105"/>
              </a:spcBef>
            </a:pPr>
            <a:r>
              <a:rPr dirty="0" sz="1650" spc="-140" b="1">
                <a:latin typeface="Times New Roman"/>
                <a:cs typeface="Times New Roman"/>
              </a:rPr>
              <a:t>else</a:t>
            </a:r>
            <a:r>
              <a:rPr dirty="0" sz="1650" spc="-355">
                <a:latin typeface="宋体"/>
                <a:cs typeface="宋体"/>
              </a:rPr>
              <a:t>部分</a:t>
            </a:r>
            <a:endParaRPr sz="1650">
              <a:latin typeface="宋体"/>
              <a:cs typeface="宋体"/>
            </a:endParaRPr>
          </a:p>
        </p:txBody>
      </p:sp>
      <p:sp>
        <p:nvSpPr>
          <p:cNvPr id="37" name="object 37" descr=""/>
          <p:cNvSpPr txBox="1"/>
          <p:nvPr/>
        </p:nvSpPr>
        <p:spPr>
          <a:xfrm>
            <a:off x="796625" y="3393227"/>
            <a:ext cx="739140" cy="278130"/>
          </a:xfrm>
          <a:prstGeom prst="rect">
            <a:avLst/>
          </a:prstGeom>
        </p:spPr>
        <p:txBody>
          <a:bodyPr wrap="square" lIns="0" tIns="13335" rIns="0" bIns="0" rtlCol="0" vert="horz">
            <a:spAutoFit/>
          </a:bodyPr>
          <a:lstStyle/>
          <a:p>
            <a:pPr marL="12700">
              <a:lnSpc>
                <a:spcPct val="100000"/>
              </a:lnSpc>
              <a:spcBef>
                <a:spcPts val="105"/>
              </a:spcBef>
            </a:pPr>
            <a:r>
              <a:rPr dirty="0" sz="1650" spc="-185" b="1">
                <a:latin typeface="Times New Roman"/>
                <a:cs typeface="Times New Roman"/>
              </a:rPr>
              <a:t>Then</a:t>
            </a:r>
            <a:r>
              <a:rPr dirty="0" sz="1650" spc="-355">
                <a:latin typeface="宋体"/>
                <a:cs typeface="宋体"/>
              </a:rPr>
              <a:t>部分</a:t>
            </a:r>
            <a:endParaRPr sz="1650">
              <a:latin typeface="宋体"/>
              <a:cs typeface="宋体"/>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32/89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888998" y="-36829"/>
            <a:ext cx="5719445" cy="513715"/>
          </a:xfrm>
          <a:prstGeom prst="rect"/>
        </p:spPr>
        <p:txBody>
          <a:bodyPr wrap="square" lIns="0" tIns="12700" rIns="0" bIns="0" rtlCol="0" vert="horz">
            <a:spAutoFit/>
          </a:bodyPr>
          <a:lstStyle/>
          <a:p>
            <a:pPr marL="12700">
              <a:lnSpc>
                <a:spcPct val="100000"/>
              </a:lnSpc>
              <a:spcBef>
                <a:spcPts val="100"/>
              </a:spcBef>
            </a:pPr>
            <a:r>
              <a:rPr dirty="0" u="none"/>
              <a:t>6.2</a:t>
            </a:r>
            <a:r>
              <a:rPr dirty="0" u="none" spc="-15"/>
              <a:t> 跨越基本块的静态指令调度</a:t>
            </a:r>
          </a:p>
        </p:txBody>
      </p:sp>
      <p:sp>
        <p:nvSpPr>
          <p:cNvPr id="10" name="object 10" descr=""/>
          <p:cNvSpPr txBox="1"/>
          <p:nvPr/>
        </p:nvSpPr>
        <p:spPr>
          <a:xfrm>
            <a:off x="708151" y="658834"/>
            <a:ext cx="11151870" cy="5765800"/>
          </a:xfrm>
          <a:prstGeom prst="rect">
            <a:avLst/>
          </a:prstGeom>
        </p:spPr>
        <p:txBody>
          <a:bodyPr wrap="square" lIns="0" tIns="148590" rIns="0" bIns="0" rtlCol="0" vert="horz">
            <a:spAutoFit/>
          </a:bodyPr>
          <a:lstStyle/>
          <a:p>
            <a:pPr marL="131445">
              <a:lnSpc>
                <a:spcPct val="100000"/>
              </a:lnSpc>
              <a:spcBef>
                <a:spcPts val="1170"/>
              </a:spcBef>
            </a:pPr>
            <a:r>
              <a:rPr dirty="0" sz="2800" spc="-40">
                <a:solidFill>
                  <a:srgbClr val="FF0000"/>
                </a:solidFill>
                <a:latin typeface="黑体"/>
                <a:cs typeface="黑体"/>
              </a:rPr>
              <a:t>总结：全局指令调度问题需要综合考虑问题十分复杂</a:t>
            </a:r>
            <a:endParaRPr sz="2800">
              <a:latin typeface="黑体"/>
              <a:cs typeface="黑体"/>
            </a:endParaRPr>
          </a:p>
          <a:p>
            <a:pPr marL="588645" indent="-457200">
              <a:lnSpc>
                <a:spcPct val="100000"/>
              </a:lnSpc>
              <a:spcBef>
                <a:spcPts val="920"/>
              </a:spcBef>
              <a:buSzPct val="89583"/>
              <a:buFont typeface="Wingdings"/>
              <a:buChar char=""/>
              <a:tabLst>
                <a:tab pos="588645" algn="l"/>
              </a:tabLst>
            </a:pPr>
            <a:r>
              <a:rPr dirty="0" sz="2400" spc="-5">
                <a:solidFill>
                  <a:srgbClr val="40458B"/>
                </a:solidFill>
                <a:latin typeface="微软雅黑"/>
                <a:cs typeface="微软雅黑"/>
              </a:rPr>
              <a:t>如何选择合适的调度对象</a:t>
            </a:r>
            <a:endParaRPr sz="2400">
              <a:latin typeface="微软雅黑"/>
              <a:cs typeface="微软雅黑"/>
            </a:endParaRPr>
          </a:p>
          <a:p>
            <a:pPr marL="588645" indent="-457200">
              <a:lnSpc>
                <a:spcPct val="100000"/>
              </a:lnSpc>
              <a:spcBef>
                <a:spcPts val="860"/>
              </a:spcBef>
              <a:buSzPct val="89583"/>
              <a:buFont typeface="Wingdings"/>
              <a:buChar char=""/>
              <a:tabLst>
                <a:tab pos="588645" algn="l"/>
              </a:tabLst>
            </a:pPr>
            <a:r>
              <a:rPr dirty="0" sz="2400" spc="-10">
                <a:solidFill>
                  <a:srgbClr val="40458B"/>
                </a:solidFill>
                <a:latin typeface="微软雅黑"/>
                <a:cs typeface="微软雅黑"/>
              </a:rPr>
              <a:t>能否带来性能提升</a:t>
            </a:r>
            <a:endParaRPr sz="2400">
              <a:latin typeface="微软雅黑"/>
              <a:cs typeface="微软雅黑"/>
            </a:endParaRPr>
          </a:p>
          <a:p>
            <a:pPr marL="588645" indent="-457200">
              <a:lnSpc>
                <a:spcPct val="100000"/>
              </a:lnSpc>
              <a:spcBef>
                <a:spcPts val="865"/>
              </a:spcBef>
              <a:buSzPct val="89583"/>
              <a:buFont typeface="Wingdings"/>
              <a:buChar char=""/>
              <a:tabLst>
                <a:tab pos="588645" algn="l"/>
              </a:tabLst>
            </a:pPr>
            <a:r>
              <a:rPr dirty="0" sz="2400" spc="-20">
                <a:solidFill>
                  <a:srgbClr val="40458B"/>
                </a:solidFill>
                <a:latin typeface="微软雅黑"/>
                <a:cs typeface="微软雅黑"/>
              </a:rPr>
              <a:t>开销的考虑</a:t>
            </a:r>
            <a:endParaRPr sz="2400">
              <a:latin typeface="微软雅黑"/>
              <a:cs typeface="微软雅黑"/>
            </a:endParaRPr>
          </a:p>
          <a:p>
            <a:pPr marL="60325">
              <a:lnSpc>
                <a:spcPct val="100000"/>
              </a:lnSpc>
              <a:spcBef>
                <a:spcPts val="2935"/>
              </a:spcBef>
            </a:pPr>
            <a:r>
              <a:rPr dirty="0" sz="2800" spc="-40">
                <a:solidFill>
                  <a:srgbClr val="FF0000"/>
                </a:solidFill>
                <a:latin typeface="黑体"/>
                <a:cs typeface="黑体"/>
              </a:rPr>
              <a:t>为了简化这一过程，提出新的全局指令调度</a:t>
            </a:r>
            <a:endParaRPr sz="2800">
              <a:latin typeface="黑体"/>
              <a:cs typeface="黑体"/>
            </a:endParaRPr>
          </a:p>
          <a:p>
            <a:pPr marL="517525" indent="-457200">
              <a:lnSpc>
                <a:spcPct val="100000"/>
              </a:lnSpc>
              <a:spcBef>
                <a:spcPts val="915"/>
              </a:spcBef>
              <a:buSzPct val="89583"/>
              <a:buFont typeface="Wingdings"/>
              <a:buChar char=""/>
              <a:tabLst>
                <a:tab pos="517525" algn="l"/>
              </a:tabLst>
            </a:pPr>
            <a:r>
              <a:rPr dirty="0" sz="2400" spc="-20">
                <a:solidFill>
                  <a:srgbClr val="40458B"/>
                </a:solidFill>
                <a:latin typeface="微软雅黑"/>
                <a:cs typeface="微软雅黑"/>
              </a:rPr>
              <a:t>踪迹调度</a:t>
            </a:r>
            <a:endParaRPr sz="2400">
              <a:latin typeface="微软雅黑"/>
              <a:cs typeface="微软雅黑"/>
            </a:endParaRPr>
          </a:p>
          <a:p>
            <a:pPr marL="517525" indent="-457200">
              <a:lnSpc>
                <a:spcPct val="100000"/>
              </a:lnSpc>
              <a:spcBef>
                <a:spcPts val="865"/>
              </a:spcBef>
              <a:buSzPct val="89583"/>
              <a:buFont typeface="Wingdings"/>
              <a:buChar char=""/>
              <a:tabLst>
                <a:tab pos="517525" algn="l"/>
              </a:tabLst>
            </a:pPr>
            <a:r>
              <a:rPr dirty="0" sz="2400" spc="-15">
                <a:solidFill>
                  <a:srgbClr val="40458B"/>
                </a:solidFill>
                <a:latin typeface="微软雅黑"/>
                <a:cs typeface="微软雅黑"/>
              </a:rPr>
              <a:t>超块调度</a:t>
            </a:r>
            <a:endParaRPr sz="2400">
              <a:latin typeface="微软雅黑"/>
              <a:cs typeface="微软雅黑"/>
            </a:endParaRPr>
          </a:p>
          <a:p>
            <a:pPr marL="12700">
              <a:lnSpc>
                <a:spcPct val="100000"/>
              </a:lnSpc>
              <a:spcBef>
                <a:spcPts val="1575"/>
              </a:spcBef>
            </a:pPr>
            <a:r>
              <a:rPr dirty="0" sz="2800" spc="-40">
                <a:solidFill>
                  <a:srgbClr val="FF0000"/>
                </a:solidFill>
                <a:latin typeface="黑体"/>
                <a:cs typeface="黑体"/>
              </a:rPr>
              <a:t>二者共同点</a:t>
            </a:r>
            <a:endParaRPr sz="2800">
              <a:latin typeface="黑体"/>
              <a:cs typeface="黑体"/>
            </a:endParaRPr>
          </a:p>
          <a:p>
            <a:pPr marL="469900" indent="-457200">
              <a:lnSpc>
                <a:spcPct val="100000"/>
              </a:lnSpc>
              <a:spcBef>
                <a:spcPts val="920"/>
              </a:spcBef>
              <a:buClr>
                <a:srgbClr val="40458B"/>
              </a:buClr>
              <a:buSzPct val="89583"/>
              <a:buFont typeface="Wingdings"/>
              <a:buChar char=""/>
              <a:tabLst>
                <a:tab pos="469900" algn="l"/>
              </a:tabLst>
            </a:pPr>
            <a:r>
              <a:rPr dirty="0" sz="2400" spc="-10">
                <a:solidFill>
                  <a:srgbClr val="6600FF"/>
                </a:solidFill>
                <a:latin typeface="微软雅黑"/>
                <a:cs typeface="微软雅黑"/>
              </a:rPr>
              <a:t>优化重点</a:t>
            </a:r>
            <a:r>
              <a:rPr dirty="0" sz="2400" spc="-10">
                <a:solidFill>
                  <a:srgbClr val="40458B"/>
                </a:solidFill>
                <a:latin typeface="微软雅黑"/>
                <a:cs typeface="微软雅黑"/>
              </a:rPr>
              <a:t>放在那些</a:t>
            </a:r>
            <a:r>
              <a:rPr dirty="0" sz="2400" spc="-5">
                <a:solidFill>
                  <a:srgbClr val="6600FF"/>
                </a:solidFill>
                <a:latin typeface="微软雅黑"/>
                <a:cs typeface="微软雅黑"/>
              </a:rPr>
              <a:t>执行概率较高的路径</a:t>
            </a:r>
            <a:r>
              <a:rPr dirty="0" sz="2400" spc="-15">
                <a:solidFill>
                  <a:srgbClr val="40458B"/>
                </a:solidFill>
                <a:latin typeface="微软雅黑"/>
                <a:cs typeface="微软雅黑"/>
              </a:rPr>
              <a:t>，将这些路径上的基本块拼接一起成为一</a:t>
            </a:r>
            <a:endParaRPr sz="2400">
              <a:latin typeface="微软雅黑"/>
              <a:cs typeface="微软雅黑"/>
            </a:endParaRPr>
          </a:p>
          <a:p>
            <a:pPr marL="469900">
              <a:lnSpc>
                <a:spcPct val="100000"/>
              </a:lnSpc>
              <a:spcBef>
                <a:spcPts val="290"/>
              </a:spcBef>
            </a:pPr>
            <a:r>
              <a:rPr dirty="0" sz="2400" spc="-5">
                <a:solidFill>
                  <a:srgbClr val="40458B"/>
                </a:solidFill>
                <a:latin typeface="微软雅黑"/>
                <a:cs typeface="微软雅黑"/>
              </a:rPr>
              <a:t>个更大的基本块，然后进行优化</a:t>
            </a:r>
            <a:endParaRPr sz="2400">
              <a:latin typeface="微软雅黑"/>
              <a:cs typeface="微软雅黑"/>
            </a:endParaRPr>
          </a:p>
          <a:p>
            <a:pPr marL="469900" indent="-457200">
              <a:lnSpc>
                <a:spcPct val="100000"/>
              </a:lnSpc>
              <a:spcBef>
                <a:spcPts val="860"/>
              </a:spcBef>
              <a:buSzPct val="89583"/>
              <a:buFont typeface="Wingdings"/>
              <a:buChar char=""/>
              <a:tabLst>
                <a:tab pos="469900" algn="l"/>
              </a:tabLst>
            </a:pPr>
            <a:r>
              <a:rPr dirty="0" sz="2400">
                <a:solidFill>
                  <a:srgbClr val="40458B"/>
                </a:solidFill>
                <a:latin typeface="微软雅黑"/>
                <a:cs typeface="微软雅黑"/>
              </a:rPr>
              <a:t>显然，如何处理分支指令是一个关键技术问题</a:t>
            </a:r>
            <a:r>
              <a:rPr dirty="0" sz="2400">
                <a:solidFill>
                  <a:srgbClr val="40458B"/>
                </a:solidFill>
                <a:latin typeface="Times New Roman"/>
                <a:cs typeface="Times New Roman"/>
              </a:rPr>
              <a:t>—</a:t>
            </a:r>
            <a:r>
              <a:rPr dirty="0" sz="2400" spc="-5">
                <a:solidFill>
                  <a:srgbClr val="FF0000"/>
                </a:solidFill>
                <a:latin typeface="微软雅黑"/>
                <a:cs typeface="微软雅黑"/>
              </a:rPr>
              <a:t>提出两种全局指令调度技术</a:t>
            </a:r>
            <a:endParaRPr sz="2400">
              <a:latin typeface="微软雅黑"/>
              <a:cs typeface="微软雅黑"/>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33/89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197916" y="630969"/>
            <a:ext cx="11617960" cy="4092575"/>
          </a:xfrm>
          <a:prstGeom prst="rect">
            <a:avLst/>
          </a:prstGeom>
        </p:spPr>
        <p:txBody>
          <a:bodyPr wrap="square" lIns="0" tIns="153035" rIns="0" bIns="0" rtlCol="0" vert="horz">
            <a:spAutoFit/>
          </a:bodyPr>
          <a:lstStyle/>
          <a:p>
            <a:pPr marL="1885950">
              <a:lnSpc>
                <a:spcPct val="100000"/>
              </a:lnSpc>
              <a:spcBef>
                <a:spcPts val="1205"/>
              </a:spcBef>
            </a:pPr>
            <a:r>
              <a:rPr dirty="0" sz="2600">
                <a:solidFill>
                  <a:srgbClr val="0000CC"/>
                </a:solidFill>
                <a:latin typeface="黑体"/>
                <a:cs typeface="黑体"/>
              </a:rPr>
              <a:t>6.2.2</a:t>
            </a:r>
            <a:r>
              <a:rPr dirty="0" sz="2600" spc="-25">
                <a:solidFill>
                  <a:srgbClr val="0000CC"/>
                </a:solidFill>
                <a:latin typeface="黑体"/>
                <a:cs typeface="黑体"/>
              </a:rPr>
              <a:t> 踪迹调度</a:t>
            </a:r>
            <a:endParaRPr sz="2600">
              <a:latin typeface="黑体"/>
              <a:cs typeface="黑体"/>
            </a:endParaRPr>
          </a:p>
          <a:p>
            <a:pPr marL="12700">
              <a:lnSpc>
                <a:spcPct val="100000"/>
              </a:lnSpc>
              <a:spcBef>
                <a:spcPts val="1180"/>
              </a:spcBef>
            </a:pPr>
            <a:r>
              <a:rPr dirty="0" sz="2800" spc="-45">
                <a:solidFill>
                  <a:srgbClr val="E14B04"/>
                </a:solidFill>
                <a:latin typeface="黑体"/>
                <a:cs typeface="黑体"/>
              </a:rPr>
              <a:t>概述</a:t>
            </a:r>
            <a:endParaRPr sz="2800">
              <a:latin typeface="黑体"/>
              <a:cs typeface="黑体"/>
            </a:endParaRPr>
          </a:p>
          <a:p>
            <a:pPr marL="1097280" marR="181610" indent="-455930">
              <a:lnSpc>
                <a:spcPct val="125000"/>
              </a:lnSpc>
              <a:spcBef>
                <a:spcPts val="500"/>
              </a:spcBef>
              <a:buClr>
                <a:srgbClr val="40458B"/>
              </a:buClr>
              <a:buSzPct val="89583"/>
              <a:buFont typeface="Wingdings"/>
              <a:buChar char=""/>
              <a:tabLst>
                <a:tab pos="1097280" algn="l"/>
              </a:tabLst>
            </a:pPr>
            <a:r>
              <a:rPr dirty="0" sz="2400">
                <a:solidFill>
                  <a:srgbClr val="FF0000"/>
                </a:solidFill>
                <a:latin typeface="黑体"/>
                <a:cs typeface="黑体"/>
              </a:rPr>
              <a:t>踪迹</a:t>
            </a:r>
            <a:r>
              <a:rPr dirty="0" sz="2400">
                <a:solidFill>
                  <a:srgbClr val="0000CC"/>
                </a:solidFill>
                <a:latin typeface="黑体"/>
                <a:cs typeface="黑体"/>
              </a:rPr>
              <a:t>（</a:t>
            </a:r>
            <a:r>
              <a:rPr dirty="0" sz="2400">
                <a:solidFill>
                  <a:srgbClr val="0000CC"/>
                </a:solidFill>
                <a:latin typeface="Times New Roman"/>
                <a:cs typeface="Times New Roman"/>
              </a:rPr>
              <a:t>trace</a:t>
            </a:r>
            <a:r>
              <a:rPr dirty="0" sz="2400">
                <a:solidFill>
                  <a:srgbClr val="0000CC"/>
                </a:solidFill>
                <a:latin typeface="黑体"/>
                <a:cs typeface="黑体"/>
              </a:rPr>
              <a:t>）：</a:t>
            </a:r>
            <a:r>
              <a:rPr dirty="0" sz="2400" spc="-5">
                <a:solidFill>
                  <a:srgbClr val="0000CC"/>
                </a:solidFill>
                <a:latin typeface="黑体"/>
                <a:cs typeface="黑体"/>
              </a:rPr>
              <a:t>程序执行的指令序列，通常由一个或多个基本块组成，</a:t>
            </a:r>
            <a:r>
              <a:rPr dirty="0" sz="2400" spc="-10">
                <a:solidFill>
                  <a:srgbClr val="0000CC"/>
                </a:solidFill>
                <a:latin typeface="Times New Roman"/>
                <a:cs typeface="Times New Roman"/>
              </a:rPr>
              <a:t>trace</a:t>
            </a:r>
            <a:r>
              <a:rPr dirty="0" sz="2400" spc="-50">
                <a:solidFill>
                  <a:srgbClr val="0000CC"/>
                </a:solidFill>
                <a:latin typeface="黑体"/>
                <a:cs typeface="黑体"/>
              </a:rPr>
              <a:t>内</a:t>
            </a:r>
            <a:r>
              <a:rPr dirty="0" sz="2400" spc="-5">
                <a:solidFill>
                  <a:srgbClr val="0000CC"/>
                </a:solidFill>
                <a:latin typeface="黑体"/>
                <a:cs typeface="黑体"/>
              </a:rPr>
              <a:t>可以有分支，但一定不能包含循环。</a:t>
            </a:r>
            <a:endParaRPr sz="2400">
              <a:latin typeface="黑体"/>
              <a:cs typeface="黑体"/>
            </a:endParaRPr>
          </a:p>
          <a:p>
            <a:pPr marL="1097280" marR="5080" indent="-455930">
              <a:lnSpc>
                <a:spcPct val="125000"/>
              </a:lnSpc>
              <a:spcBef>
                <a:spcPts val="575"/>
              </a:spcBef>
              <a:buClr>
                <a:srgbClr val="40458B"/>
              </a:buClr>
              <a:buSzPct val="89583"/>
              <a:buFont typeface="Wingdings"/>
              <a:buChar char=""/>
              <a:tabLst>
                <a:tab pos="1097280" algn="l"/>
              </a:tabLst>
            </a:pPr>
            <a:r>
              <a:rPr dirty="0" sz="2400">
                <a:solidFill>
                  <a:srgbClr val="FF0000"/>
                </a:solidFill>
                <a:latin typeface="黑体"/>
                <a:cs typeface="黑体"/>
              </a:rPr>
              <a:t>踪迹调度</a:t>
            </a:r>
            <a:r>
              <a:rPr dirty="0" sz="2400">
                <a:solidFill>
                  <a:srgbClr val="0000CC"/>
                </a:solidFill>
                <a:latin typeface="黑体"/>
                <a:cs typeface="黑体"/>
              </a:rPr>
              <a:t>（</a:t>
            </a:r>
            <a:r>
              <a:rPr dirty="0" sz="2400">
                <a:solidFill>
                  <a:srgbClr val="0000CC"/>
                </a:solidFill>
                <a:latin typeface="Times New Roman"/>
                <a:cs typeface="Times New Roman"/>
              </a:rPr>
              <a:t>trace</a:t>
            </a:r>
            <a:r>
              <a:rPr dirty="0" sz="2400" spc="-30">
                <a:solidFill>
                  <a:srgbClr val="0000CC"/>
                </a:solidFill>
                <a:latin typeface="Times New Roman"/>
                <a:cs typeface="Times New Roman"/>
              </a:rPr>
              <a:t> </a:t>
            </a:r>
            <a:r>
              <a:rPr dirty="0" sz="2400">
                <a:solidFill>
                  <a:srgbClr val="0000CC"/>
                </a:solidFill>
                <a:latin typeface="Times New Roman"/>
                <a:cs typeface="Times New Roman"/>
              </a:rPr>
              <a:t>scheduling</a:t>
            </a:r>
            <a:r>
              <a:rPr dirty="0" sz="2400">
                <a:solidFill>
                  <a:srgbClr val="0000CC"/>
                </a:solidFill>
                <a:latin typeface="黑体"/>
                <a:cs typeface="黑体"/>
              </a:rPr>
              <a:t>）会优化执行频率高的</a:t>
            </a:r>
            <a:r>
              <a:rPr dirty="0" sz="2400" spc="-10">
                <a:solidFill>
                  <a:srgbClr val="0000CC"/>
                </a:solidFill>
                <a:latin typeface="Times New Roman"/>
                <a:cs typeface="Times New Roman"/>
              </a:rPr>
              <a:t>trace</a:t>
            </a:r>
            <a:r>
              <a:rPr dirty="0" sz="2400" spc="-10">
                <a:solidFill>
                  <a:srgbClr val="0000CC"/>
                </a:solidFill>
                <a:latin typeface="黑体"/>
                <a:cs typeface="黑体"/>
              </a:rPr>
              <a:t>，减少其执行开销。由于</a:t>
            </a:r>
            <a:r>
              <a:rPr dirty="0" sz="2400">
                <a:solidFill>
                  <a:srgbClr val="0000CC"/>
                </a:solidFill>
                <a:latin typeface="黑体"/>
                <a:cs typeface="黑体"/>
              </a:rPr>
              <a:t>需要添加补偿代码以确保正确性，那些执行频率较低的</a:t>
            </a:r>
            <a:r>
              <a:rPr dirty="0" sz="2400">
                <a:solidFill>
                  <a:srgbClr val="0000CC"/>
                </a:solidFill>
                <a:latin typeface="Times New Roman"/>
                <a:cs typeface="Times New Roman"/>
              </a:rPr>
              <a:t>trace</a:t>
            </a:r>
            <a:r>
              <a:rPr dirty="0" sz="2400" spc="-10">
                <a:solidFill>
                  <a:srgbClr val="0000CC"/>
                </a:solidFill>
                <a:latin typeface="黑体"/>
                <a:cs typeface="黑体"/>
              </a:rPr>
              <a:t>的开销反而会有所</a:t>
            </a:r>
            <a:r>
              <a:rPr dirty="0" sz="2400" spc="-25">
                <a:solidFill>
                  <a:srgbClr val="0000CC"/>
                </a:solidFill>
                <a:latin typeface="黑体"/>
                <a:cs typeface="黑体"/>
              </a:rPr>
              <a:t>增加。</a:t>
            </a:r>
            <a:endParaRPr sz="2400">
              <a:latin typeface="黑体"/>
              <a:cs typeface="黑体"/>
            </a:endParaRPr>
          </a:p>
          <a:p>
            <a:pPr marL="1097280" indent="-455295">
              <a:lnSpc>
                <a:spcPct val="100000"/>
              </a:lnSpc>
              <a:spcBef>
                <a:spcPts val="1300"/>
              </a:spcBef>
              <a:buClr>
                <a:srgbClr val="40458B"/>
              </a:buClr>
              <a:buSzPct val="89583"/>
              <a:buFont typeface="Wingdings"/>
              <a:buChar char=""/>
              <a:tabLst>
                <a:tab pos="1097280" algn="l"/>
              </a:tabLst>
            </a:pPr>
            <a:r>
              <a:rPr dirty="0" sz="2400">
                <a:solidFill>
                  <a:srgbClr val="0000CC"/>
                </a:solidFill>
                <a:latin typeface="黑体"/>
                <a:cs typeface="黑体"/>
              </a:rPr>
              <a:t>踪迹调度非常</a:t>
            </a:r>
            <a:r>
              <a:rPr dirty="0" sz="2400">
                <a:solidFill>
                  <a:srgbClr val="FF0000"/>
                </a:solidFill>
                <a:latin typeface="黑体"/>
                <a:cs typeface="黑体"/>
              </a:rPr>
              <a:t>适合</a:t>
            </a:r>
            <a:r>
              <a:rPr dirty="0" sz="2400" spc="-10">
                <a:solidFill>
                  <a:srgbClr val="0000CC"/>
                </a:solidFill>
                <a:latin typeface="黑体"/>
                <a:cs typeface="黑体"/>
              </a:rPr>
              <a:t>多流出处理器。</a:t>
            </a:r>
            <a:endParaRPr sz="2400">
              <a:latin typeface="黑体"/>
              <a:cs typeface="黑体"/>
            </a:endParaRPr>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833119" algn="l"/>
                <a:tab pos="10788015" algn="l"/>
              </a:tabLst>
            </a:pPr>
            <a:r>
              <a:rPr dirty="0"/>
              <a:t>	6.2</a:t>
            </a:r>
            <a:r>
              <a:rPr dirty="0" spc="-15"/>
              <a:t> </a:t>
            </a:r>
            <a:r>
              <a:rPr dirty="0"/>
              <a:t>跨越基</a:t>
            </a:r>
            <a:r>
              <a:rPr dirty="0" spc="-25"/>
              <a:t>本</a:t>
            </a:r>
            <a:r>
              <a:rPr dirty="0"/>
              <a:t>块的</a:t>
            </a:r>
            <a:r>
              <a:rPr dirty="0" spc="-20"/>
              <a:t>静</a:t>
            </a:r>
            <a:r>
              <a:rPr dirty="0"/>
              <a:t>态指</a:t>
            </a:r>
            <a:r>
              <a:rPr dirty="0" spc="-20"/>
              <a:t>令</a:t>
            </a:r>
            <a:r>
              <a:rPr dirty="0"/>
              <a:t>调</a:t>
            </a:r>
            <a:r>
              <a:rPr dirty="0" spc="-50"/>
              <a:t>度</a:t>
            </a:r>
            <a:r>
              <a:rPr dirty="0"/>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34/89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270763" y="976629"/>
            <a:ext cx="11727180" cy="5215255"/>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E14B04"/>
                </a:solidFill>
                <a:latin typeface="黑体"/>
                <a:cs typeface="黑体"/>
              </a:rPr>
              <a:t>踪迹调度的步骤</a:t>
            </a:r>
            <a:endParaRPr sz="2400">
              <a:latin typeface="黑体"/>
              <a:cs typeface="黑体"/>
            </a:endParaRPr>
          </a:p>
          <a:p>
            <a:pPr marL="641985">
              <a:lnSpc>
                <a:spcPct val="100000"/>
              </a:lnSpc>
              <a:spcBef>
                <a:spcPts val="2250"/>
              </a:spcBef>
            </a:pPr>
            <a:r>
              <a:rPr dirty="0" sz="2800" spc="-40">
                <a:solidFill>
                  <a:srgbClr val="0000CC"/>
                </a:solidFill>
                <a:latin typeface="黑体"/>
                <a:cs typeface="黑体"/>
              </a:rPr>
              <a:t>分为两步：踪迹选择和踪迹压缩</a:t>
            </a:r>
            <a:endParaRPr sz="2800">
              <a:latin typeface="黑体"/>
              <a:cs typeface="黑体"/>
            </a:endParaRPr>
          </a:p>
          <a:p>
            <a:pPr marL="1097915" indent="-455930">
              <a:lnSpc>
                <a:spcPct val="100000"/>
              </a:lnSpc>
              <a:spcBef>
                <a:spcPts val="2355"/>
              </a:spcBef>
              <a:buClr>
                <a:srgbClr val="40458B"/>
              </a:buClr>
              <a:buSzPct val="89285"/>
              <a:buFont typeface="Wingdings"/>
              <a:buChar char=""/>
              <a:tabLst>
                <a:tab pos="1097915" algn="l"/>
              </a:tabLst>
            </a:pPr>
            <a:r>
              <a:rPr dirty="0" sz="2800" spc="-40">
                <a:solidFill>
                  <a:srgbClr val="D50092"/>
                </a:solidFill>
                <a:latin typeface="黑体"/>
                <a:cs typeface="黑体"/>
              </a:rPr>
              <a:t>踪迹选择</a:t>
            </a:r>
            <a:endParaRPr sz="2800">
              <a:latin typeface="黑体"/>
              <a:cs typeface="黑体"/>
            </a:endParaRPr>
          </a:p>
          <a:p>
            <a:pPr lvl="1" marL="1382395" indent="-455295">
              <a:lnSpc>
                <a:spcPct val="100000"/>
              </a:lnSpc>
              <a:spcBef>
                <a:spcPts val="2115"/>
              </a:spcBef>
              <a:buClr>
                <a:srgbClr val="4668F5"/>
              </a:buClr>
              <a:buSzPct val="60416"/>
              <a:buFont typeface="Wingdings"/>
              <a:buChar char=""/>
              <a:tabLst>
                <a:tab pos="1382395" algn="l"/>
              </a:tabLst>
            </a:pPr>
            <a:r>
              <a:rPr dirty="0" sz="2400" spc="-25" b="1">
                <a:solidFill>
                  <a:srgbClr val="0000CC"/>
                </a:solidFill>
                <a:latin typeface="宋体"/>
                <a:cs typeface="宋体"/>
              </a:rPr>
              <a:t>从程序的控制流图中选择执行频率较高的路径，每条路径就是一条</a:t>
            </a:r>
            <a:r>
              <a:rPr dirty="0" sz="2400" b="1">
                <a:solidFill>
                  <a:srgbClr val="0000CC"/>
                </a:solidFill>
                <a:latin typeface="Times New Roman"/>
                <a:cs typeface="Times New Roman"/>
              </a:rPr>
              <a:t>trace</a:t>
            </a:r>
            <a:r>
              <a:rPr dirty="0" sz="2400" spc="-50" b="1">
                <a:solidFill>
                  <a:srgbClr val="0000CC"/>
                </a:solidFill>
                <a:latin typeface="宋体"/>
                <a:cs typeface="宋体"/>
              </a:rPr>
              <a:t>。</a:t>
            </a:r>
            <a:endParaRPr sz="2400">
              <a:latin typeface="宋体"/>
              <a:cs typeface="宋体"/>
            </a:endParaRPr>
          </a:p>
          <a:p>
            <a:pPr lvl="1" marL="1382395" indent="-455295">
              <a:lnSpc>
                <a:spcPct val="100000"/>
              </a:lnSpc>
              <a:spcBef>
                <a:spcPts val="2020"/>
              </a:spcBef>
              <a:buClr>
                <a:srgbClr val="4668F5"/>
              </a:buClr>
              <a:buSzPct val="60416"/>
              <a:buFont typeface="Wingdings"/>
              <a:buChar char=""/>
              <a:tabLst>
                <a:tab pos="1382395" algn="l"/>
              </a:tabLst>
            </a:pPr>
            <a:r>
              <a:rPr dirty="0" sz="2400" spc="-25" b="1">
                <a:solidFill>
                  <a:srgbClr val="0000CC"/>
                </a:solidFill>
                <a:latin typeface="宋体"/>
                <a:cs typeface="宋体"/>
              </a:rPr>
              <a:t>处理转移成功与失败概率相差较大的情况</a:t>
            </a:r>
            <a:endParaRPr sz="2400">
              <a:latin typeface="宋体"/>
              <a:cs typeface="宋体"/>
            </a:endParaRPr>
          </a:p>
          <a:p>
            <a:pPr lvl="1" marL="1458595" indent="-531495">
              <a:lnSpc>
                <a:spcPct val="100000"/>
              </a:lnSpc>
              <a:spcBef>
                <a:spcPts val="2014"/>
              </a:spcBef>
              <a:buClr>
                <a:srgbClr val="4668F5"/>
              </a:buClr>
              <a:buSzPct val="60416"/>
              <a:buFont typeface="Wingdings"/>
              <a:buChar char=""/>
              <a:tabLst>
                <a:tab pos="1458595" algn="l"/>
              </a:tabLst>
            </a:pPr>
            <a:r>
              <a:rPr dirty="0" sz="2400" spc="-25" b="1">
                <a:solidFill>
                  <a:srgbClr val="0000CC"/>
                </a:solidFill>
                <a:latin typeface="宋体"/>
                <a:cs typeface="宋体"/>
              </a:rPr>
              <a:t>生成</a:t>
            </a:r>
            <a:r>
              <a:rPr dirty="0" sz="2400" b="1">
                <a:solidFill>
                  <a:srgbClr val="0000CC"/>
                </a:solidFill>
                <a:latin typeface="Times New Roman"/>
                <a:cs typeface="Times New Roman"/>
              </a:rPr>
              <a:t>trace</a:t>
            </a:r>
            <a:r>
              <a:rPr dirty="0" sz="2400" spc="-30" b="1">
                <a:solidFill>
                  <a:srgbClr val="0000CC"/>
                </a:solidFill>
                <a:latin typeface="宋体"/>
                <a:cs typeface="宋体"/>
              </a:rPr>
              <a:t>的方法情况</a:t>
            </a:r>
            <a:endParaRPr sz="2400">
              <a:latin typeface="宋体"/>
              <a:cs typeface="宋体"/>
            </a:endParaRPr>
          </a:p>
          <a:p>
            <a:pPr lvl="2" marL="1707514" marR="5080" indent="-379730">
              <a:lnSpc>
                <a:spcPct val="150000"/>
              </a:lnSpc>
              <a:spcBef>
                <a:spcPts val="585"/>
              </a:spcBef>
              <a:buClr>
                <a:srgbClr val="FF09FF"/>
              </a:buClr>
              <a:buSzPct val="65000"/>
              <a:buFont typeface="Wingdings"/>
              <a:buChar char=""/>
              <a:tabLst>
                <a:tab pos="1707514" algn="l"/>
              </a:tabLst>
            </a:pPr>
            <a:r>
              <a:rPr dirty="0" sz="2000" spc="-15" b="1">
                <a:solidFill>
                  <a:srgbClr val="6600FF"/>
                </a:solidFill>
                <a:latin typeface="宋体"/>
                <a:cs typeface="宋体"/>
              </a:rPr>
              <a:t>如果是循环结构：循环展开是生成</a:t>
            </a:r>
            <a:r>
              <a:rPr dirty="0" sz="2000" spc="-10" b="1">
                <a:solidFill>
                  <a:srgbClr val="6600FF"/>
                </a:solidFill>
                <a:latin typeface="Times New Roman"/>
                <a:cs typeface="Times New Roman"/>
              </a:rPr>
              <a:t>trace</a:t>
            </a:r>
            <a:r>
              <a:rPr dirty="0" sz="2000" spc="-25" b="1">
                <a:solidFill>
                  <a:srgbClr val="6600FF"/>
                </a:solidFill>
                <a:latin typeface="宋体"/>
                <a:cs typeface="宋体"/>
              </a:rPr>
              <a:t>的常用方法之一，主要用于处理控制循环的分支指</a:t>
            </a:r>
            <a:r>
              <a:rPr dirty="0" sz="2000" spc="-20" b="1">
                <a:solidFill>
                  <a:srgbClr val="6600FF"/>
                </a:solidFill>
                <a:latin typeface="宋体"/>
                <a:cs typeface="宋体"/>
              </a:rPr>
              <a:t>令概率高的分支。</a:t>
            </a:r>
            <a:endParaRPr sz="2000">
              <a:latin typeface="宋体"/>
              <a:cs typeface="宋体"/>
            </a:endParaRPr>
          </a:p>
          <a:p>
            <a:pPr lvl="2" marL="1707514" indent="-379730">
              <a:lnSpc>
                <a:spcPct val="100000"/>
              </a:lnSpc>
              <a:spcBef>
                <a:spcPts val="1680"/>
              </a:spcBef>
              <a:buClr>
                <a:srgbClr val="FF09FF"/>
              </a:buClr>
              <a:buSzPct val="65000"/>
              <a:buFont typeface="Wingdings"/>
              <a:buChar char=""/>
              <a:tabLst>
                <a:tab pos="1707514" algn="l"/>
              </a:tabLst>
            </a:pPr>
            <a:r>
              <a:rPr dirty="0" sz="2000" spc="-25" b="1">
                <a:solidFill>
                  <a:srgbClr val="6600FF"/>
                </a:solidFill>
                <a:latin typeface="宋体"/>
                <a:cs typeface="宋体"/>
              </a:rPr>
              <a:t>如果是分支结构：根据典型输入集下的运行统计信息处理决定选择</a:t>
            </a:r>
            <a:r>
              <a:rPr dirty="0" sz="2000" spc="-10" b="1">
                <a:solidFill>
                  <a:srgbClr val="6600FF"/>
                </a:solidFill>
                <a:latin typeface="Times New Roman"/>
                <a:cs typeface="Times New Roman"/>
              </a:rPr>
              <a:t>trace</a:t>
            </a:r>
            <a:endParaRPr sz="2000">
              <a:latin typeface="Times New Roman"/>
              <a:cs typeface="Times New Roman"/>
            </a:endParaRPr>
          </a:p>
        </p:txBody>
      </p:sp>
      <p:sp>
        <p:nvSpPr>
          <p:cNvPr id="10" name="object 10"/>
          <p:cNvSpPr txBox="1">
            <a:spLocks noGrp="1"/>
          </p:cNvSpPr>
          <p:nvPr>
            <p:ph type="title"/>
          </p:nvPr>
        </p:nvSpPr>
        <p:spPr>
          <a:xfrm>
            <a:off x="1817623" y="36068"/>
            <a:ext cx="5716270" cy="513715"/>
          </a:xfrm>
          <a:prstGeom prst="rect"/>
        </p:spPr>
        <p:txBody>
          <a:bodyPr wrap="square" lIns="0" tIns="12700" rIns="0" bIns="0" rtlCol="0" vert="horz">
            <a:spAutoFit/>
          </a:bodyPr>
          <a:lstStyle/>
          <a:p>
            <a:pPr marL="12700">
              <a:lnSpc>
                <a:spcPct val="100000"/>
              </a:lnSpc>
              <a:spcBef>
                <a:spcPts val="100"/>
              </a:spcBef>
            </a:pPr>
            <a:r>
              <a:rPr dirty="0" u="none"/>
              <a:t>6.2</a:t>
            </a:r>
            <a:r>
              <a:rPr dirty="0" u="none" spc="-20"/>
              <a:t> 跨越基本块的静态指令调度</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35/89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1043127" y="706628"/>
            <a:ext cx="3977640" cy="452120"/>
          </a:xfrm>
          <a:prstGeom prst="rect">
            <a:avLst/>
          </a:prstGeom>
        </p:spPr>
        <p:txBody>
          <a:bodyPr wrap="square" lIns="0" tIns="12065" rIns="0" bIns="0" rtlCol="0" vert="horz">
            <a:spAutoFit/>
          </a:bodyPr>
          <a:lstStyle/>
          <a:p>
            <a:pPr marL="467995" indent="-455295">
              <a:lnSpc>
                <a:spcPct val="100000"/>
              </a:lnSpc>
              <a:spcBef>
                <a:spcPts val="95"/>
              </a:spcBef>
              <a:buClr>
                <a:srgbClr val="40458B"/>
              </a:buClr>
              <a:buSzPct val="89285"/>
              <a:buFont typeface="Wingdings"/>
              <a:buChar char=""/>
              <a:tabLst>
                <a:tab pos="467995" algn="l"/>
              </a:tabLst>
            </a:pPr>
            <a:r>
              <a:rPr dirty="0" sz="2800" spc="-25">
                <a:solidFill>
                  <a:srgbClr val="FF09FF"/>
                </a:solidFill>
                <a:latin typeface="黑体"/>
                <a:cs typeface="黑体"/>
              </a:rPr>
              <a:t>踪迹选择</a:t>
            </a:r>
            <a:r>
              <a:rPr dirty="0" sz="2800" spc="-35">
                <a:solidFill>
                  <a:srgbClr val="0000CC"/>
                </a:solidFill>
                <a:latin typeface="Tahoma"/>
                <a:cs typeface="Tahoma"/>
              </a:rPr>
              <a:t>——</a:t>
            </a:r>
            <a:r>
              <a:rPr dirty="0" sz="2800" spc="-35">
                <a:solidFill>
                  <a:srgbClr val="0000CC"/>
                </a:solidFill>
                <a:latin typeface="黑体"/>
                <a:cs typeface="黑体"/>
              </a:rPr>
              <a:t>实例分析</a:t>
            </a:r>
            <a:endParaRPr sz="2800">
              <a:latin typeface="黑体"/>
              <a:cs typeface="黑体"/>
            </a:endParaRPr>
          </a:p>
        </p:txBody>
      </p:sp>
      <p:sp>
        <p:nvSpPr>
          <p:cNvPr id="10" name="object 10"/>
          <p:cNvSpPr txBox="1">
            <a:spLocks noGrp="1"/>
          </p:cNvSpPr>
          <p:nvPr>
            <p:ph type="title"/>
          </p:nvPr>
        </p:nvSpPr>
        <p:spPr>
          <a:xfrm>
            <a:off x="1747773" y="102870"/>
            <a:ext cx="5716270" cy="513715"/>
          </a:xfrm>
          <a:prstGeom prst="rect"/>
        </p:spPr>
        <p:txBody>
          <a:bodyPr wrap="square" lIns="0" tIns="12700" rIns="0" bIns="0" rtlCol="0" vert="horz">
            <a:spAutoFit/>
          </a:bodyPr>
          <a:lstStyle/>
          <a:p>
            <a:pPr marL="12700">
              <a:lnSpc>
                <a:spcPct val="100000"/>
              </a:lnSpc>
              <a:spcBef>
                <a:spcPts val="100"/>
              </a:spcBef>
            </a:pPr>
            <a:r>
              <a:rPr dirty="0" u="none"/>
              <a:t>6.2</a:t>
            </a:r>
            <a:r>
              <a:rPr dirty="0" u="none" spc="-20"/>
              <a:t> 跨越基本块的静态指令调度</a:t>
            </a:r>
          </a:p>
        </p:txBody>
      </p:sp>
      <p:grpSp>
        <p:nvGrpSpPr>
          <p:cNvPr id="11" name="object 11" descr=""/>
          <p:cNvGrpSpPr/>
          <p:nvPr/>
        </p:nvGrpSpPr>
        <p:grpSpPr>
          <a:xfrm>
            <a:off x="4504063" y="1518503"/>
            <a:ext cx="2916555" cy="4520565"/>
            <a:chOff x="4504063" y="1518503"/>
            <a:chExt cx="2916555" cy="4520565"/>
          </a:xfrm>
        </p:grpSpPr>
        <p:sp>
          <p:nvSpPr>
            <p:cNvPr id="12" name="object 12" descr=""/>
            <p:cNvSpPr/>
            <p:nvPr/>
          </p:nvSpPr>
          <p:spPr>
            <a:xfrm>
              <a:off x="4511683" y="1526123"/>
              <a:ext cx="2426335" cy="4505325"/>
            </a:xfrm>
            <a:custGeom>
              <a:avLst/>
              <a:gdLst/>
              <a:ahLst/>
              <a:cxnLst/>
              <a:rect l="l" t="t" r="r" b="b"/>
              <a:pathLst>
                <a:path w="2426334" h="4505325">
                  <a:moveTo>
                    <a:pt x="1087583" y="0"/>
                  </a:moveTo>
                  <a:lnTo>
                    <a:pt x="1036251" y="1795"/>
                  </a:lnTo>
                  <a:lnTo>
                    <a:pt x="985404" y="6496"/>
                  </a:lnTo>
                  <a:lnTo>
                    <a:pt x="935402" y="14225"/>
                  </a:lnTo>
                  <a:lnTo>
                    <a:pt x="886602" y="25107"/>
                  </a:lnTo>
                  <a:lnTo>
                    <a:pt x="839362" y="39264"/>
                  </a:lnTo>
                  <a:lnTo>
                    <a:pt x="794040" y="56820"/>
                  </a:lnTo>
                  <a:lnTo>
                    <a:pt x="750996" y="77898"/>
                  </a:lnTo>
                  <a:lnTo>
                    <a:pt x="710587" y="102622"/>
                  </a:lnTo>
                  <a:lnTo>
                    <a:pt x="674186" y="130167"/>
                  </a:lnTo>
                  <a:lnTo>
                    <a:pt x="640697" y="161008"/>
                  </a:lnTo>
                  <a:lnTo>
                    <a:pt x="610216" y="194895"/>
                  </a:lnTo>
                  <a:lnTo>
                    <a:pt x="582835" y="231574"/>
                  </a:lnTo>
                  <a:lnTo>
                    <a:pt x="558648" y="270794"/>
                  </a:lnTo>
                  <a:lnTo>
                    <a:pt x="537748" y="312302"/>
                  </a:lnTo>
                  <a:lnTo>
                    <a:pt x="520229" y="355845"/>
                  </a:lnTo>
                  <a:lnTo>
                    <a:pt x="506185" y="401172"/>
                  </a:lnTo>
                  <a:lnTo>
                    <a:pt x="495708" y="448030"/>
                  </a:lnTo>
                  <a:lnTo>
                    <a:pt x="488893" y="496167"/>
                  </a:lnTo>
                  <a:lnTo>
                    <a:pt x="485833" y="545331"/>
                  </a:lnTo>
                  <a:lnTo>
                    <a:pt x="486430" y="593481"/>
                  </a:lnTo>
                  <a:lnTo>
                    <a:pt x="490139" y="642300"/>
                  </a:lnTo>
                  <a:lnTo>
                    <a:pt x="496505" y="691747"/>
                  </a:lnTo>
                  <a:lnTo>
                    <a:pt x="505072" y="741779"/>
                  </a:lnTo>
                  <a:lnTo>
                    <a:pt x="515384" y="792355"/>
                  </a:lnTo>
                  <a:lnTo>
                    <a:pt x="526986" y="843432"/>
                  </a:lnTo>
                  <a:lnTo>
                    <a:pt x="564978" y="999262"/>
                  </a:lnTo>
                  <a:lnTo>
                    <a:pt x="577184" y="1051931"/>
                  </a:lnTo>
                  <a:lnTo>
                    <a:pt x="588404" y="1104894"/>
                  </a:lnTo>
                  <a:lnTo>
                    <a:pt x="598180" y="1158109"/>
                  </a:lnTo>
                  <a:lnTo>
                    <a:pt x="605454" y="1206254"/>
                  </a:lnTo>
                  <a:lnTo>
                    <a:pt x="611331" y="1254603"/>
                  </a:lnTo>
                  <a:lnTo>
                    <a:pt x="615952" y="1303195"/>
                  </a:lnTo>
                  <a:lnTo>
                    <a:pt x="619461" y="1352071"/>
                  </a:lnTo>
                  <a:lnTo>
                    <a:pt x="621998" y="1401271"/>
                  </a:lnTo>
                  <a:lnTo>
                    <a:pt x="623706" y="1450835"/>
                  </a:lnTo>
                  <a:lnTo>
                    <a:pt x="624727" y="1500802"/>
                  </a:lnTo>
                  <a:lnTo>
                    <a:pt x="625201" y="1551214"/>
                  </a:lnTo>
                  <a:lnTo>
                    <a:pt x="624354" y="1811336"/>
                  </a:lnTo>
                  <a:lnTo>
                    <a:pt x="624533" y="1865255"/>
                  </a:lnTo>
                  <a:lnTo>
                    <a:pt x="625160" y="1919898"/>
                  </a:lnTo>
                  <a:lnTo>
                    <a:pt x="626376" y="1975306"/>
                  </a:lnTo>
                  <a:lnTo>
                    <a:pt x="630215" y="2090085"/>
                  </a:lnTo>
                  <a:lnTo>
                    <a:pt x="631626" y="2146688"/>
                  </a:lnTo>
                  <a:lnTo>
                    <a:pt x="631814" y="2201678"/>
                  </a:lnTo>
                  <a:lnTo>
                    <a:pt x="630116" y="2254236"/>
                  </a:lnTo>
                  <a:lnTo>
                    <a:pt x="625868" y="2303544"/>
                  </a:lnTo>
                  <a:lnTo>
                    <a:pt x="618406" y="2348786"/>
                  </a:lnTo>
                  <a:lnTo>
                    <a:pt x="607067" y="2389143"/>
                  </a:lnTo>
                  <a:lnTo>
                    <a:pt x="591187" y="2423798"/>
                  </a:lnTo>
                  <a:lnTo>
                    <a:pt x="537822" y="2476307"/>
                  </a:lnTo>
                  <a:lnTo>
                    <a:pt x="498756" y="2492297"/>
                  </a:lnTo>
                  <a:lnTo>
                    <a:pt x="454391" y="2501867"/>
                  </a:lnTo>
                  <a:lnTo>
                    <a:pt x="406217" y="2506979"/>
                  </a:lnTo>
                  <a:lnTo>
                    <a:pt x="355719" y="2509598"/>
                  </a:lnTo>
                  <a:lnTo>
                    <a:pt x="304387" y="2511687"/>
                  </a:lnTo>
                  <a:lnTo>
                    <a:pt x="253707" y="2515211"/>
                  </a:lnTo>
                  <a:lnTo>
                    <a:pt x="205167" y="2522132"/>
                  </a:lnTo>
                  <a:lnTo>
                    <a:pt x="160256" y="2534414"/>
                  </a:lnTo>
                  <a:lnTo>
                    <a:pt x="120459" y="2554022"/>
                  </a:lnTo>
                  <a:lnTo>
                    <a:pt x="73248" y="2598902"/>
                  </a:lnTo>
                  <a:lnTo>
                    <a:pt x="38986" y="2661102"/>
                  </a:lnTo>
                  <a:lnTo>
                    <a:pt x="26277" y="2697804"/>
                  </a:lnTo>
                  <a:lnTo>
                    <a:pt x="16284" y="2737763"/>
                  </a:lnTo>
                  <a:lnTo>
                    <a:pt x="8834" y="2780624"/>
                  </a:lnTo>
                  <a:lnTo>
                    <a:pt x="3752" y="2826028"/>
                  </a:lnTo>
                  <a:lnTo>
                    <a:pt x="865" y="2873618"/>
                  </a:lnTo>
                  <a:lnTo>
                    <a:pt x="0" y="2923037"/>
                  </a:lnTo>
                  <a:lnTo>
                    <a:pt x="981" y="2973928"/>
                  </a:lnTo>
                  <a:lnTo>
                    <a:pt x="3637" y="3025933"/>
                  </a:lnTo>
                  <a:lnTo>
                    <a:pt x="7792" y="3078696"/>
                  </a:lnTo>
                  <a:lnTo>
                    <a:pt x="13273" y="3131858"/>
                  </a:lnTo>
                  <a:lnTo>
                    <a:pt x="19907" y="3185063"/>
                  </a:lnTo>
                  <a:lnTo>
                    <a:pt x="27519" y="3237953"/>
                  </a:lnTo>
                  <a:lnTo>
                    <a:pt x="35937" y="3290172"/>
                  </a:lnTo>
                  <a:lnTo>
                    <a:pt x="44985" y="3341361"/>
                  </a:lnTo>
                  <a:lnTo>
                    <a:pt x="54490" y="3391164"/>
                  </a:lnTo>
                  <a:lnTo>
                    <a:pt x="64280" y="3439223"/>
                  </a:lnTo>
                  <a:lnTo>
                    <a:pt x="77781" y="3500992"/>
                  </a:lnTo>
                  <a:lnTo>
                    <a:pt x="91736" y="3558954"/>
                  </a:lnTo>
                  <a:lnTo>
                    <a:pt x="106399" y="3613150"/>
                  </a:lnTo>
                  <a:lnTo>
                    <a:pt x="122021" y="3663619"/>
                  </a:lnTo>
                  <a:lnTo>
                    <a:pt x="138857" y="3710399"/>
                  </a:lnTo>
                  <a:lnTo>
                    <a:pt x="157159" y="3753530"/>
                  </a:lnTo>
                  <a:lnTo>
                    <a:pt x="177180" y="3793052"/>
                  </a:lnTo>
                  <a:lnTo>
                    <a:pt x="199174" y="3829004"/>
                  </a:lnTo>
                  <a:lnTo>
                    <a:pt x="223394" y="3861424"/>
                  </a:lnTo>
                  <a:lnTo>
                    <a:pt x="250092" y="3890353"/>
                  </a:lnTo>
                  <a:lnTo>
                    <a:pt x="279521" y="3915830"/>
                  </a:lnTo>
                  <a:lnTo>
                    <a:pt x="311936" y="3937893"/>
                  </a:lnTo>
                  <a:lnTo>
                    <a:pt x="347588" y="3956583"/>
                  </a:lnTo>
                  <a:lnTo>
                    <a:pt x="386732" y="3971938"/>
                  </a:lnTo>
                  <a:lnTo>
                    <a:pt x="429619" y="3983997"/>
                  </a:lnTo>
                  <a:lnTo>
                    <a:pt x="473964" y="3992571"/>
                  </a:lnTo>
                  <a:lnTo>
                    <a:pt x="521106" y="3998969"/>
                  </a:lnTo>
                  <a:lnTo>
                    <a:pt x="570222" y="4003964"/>
                  </a:lnTo>
                  <a:lnTo>
                    <a:pt x="671088" y="4012840"/>
                  </a:lnTo>
                  <a:lnTo>
                    <a:pt x="721193" y="4018265"/>
                  </a:lnTo>
                  <a:lnTo>
                    <a:pt x="769983" y="4025380"/>
                  </a:lnTo>
                  <a:lnTo>
                    <a:pt x="816635" y="4034956"/>
                  </a:lnTo>
                  <a:lnTo>
                    <a:pt x="860326" y="4047767"/>
                  </a:lnTo>
                  <a:lnTo>
                    <a:pt x="900236" y="4064585"/>
                  </a:lnTo>
                  <a:lnTo>
                    <a:pt x="935540" y="4086183"/>
                  </a:lnTo>
                  <a:lnTo>
                    <a:pt x="971299" y="4118959"/>
                  </a:lnTo>
                  <a:lnTo>
                    <a:pt x="1001264" y="4157511"/>
                  </a:lnTo>
                  <a:lnTo>
                    <a:pt x="1027479" y="4199589"/>
                  </a:lnTo>
                  <a:lnTo>
                    <a:pt x="1051993" y="4242943"/>
                  </a:lnTo>
                  <a:lnTo>
                    <a:pt x="1076851" y="4285320"/>
                  </a:lnTo>
                  <a:lnTo>
                    <a:pt x="1104101" y="4324472"/>
                  </a:lnTo>
                  <a:lnTo>
                    <a:pt x="1134375" y="4357621"/>
                  </a:lnTo>
                  <a:lnTo>
                    <a:pt x="1168571" y="4386052"/>
                  </a:lnTo>
                  <a:lnTo>
                    <a:pt x="1206441" y="4410189"/>
                  </a:lnTo>
                  <a:lnTo>
                    <a:pt x="1247739" y="4430459"/>
                  </a:lnTo>
                  <a:lnTo>
                    <a:pt x="1292220" y="4447285"/>
                  </a:lnTo>
                  <a:lnTo>
                    <a:pt x="1339636" y="4461093"/>
                  </a:lnTo>
                  <a:lnTo>
                    <a:pt x="1389741" y="4472309"/>
                  </a:lnTo>
                  <a:lnTo>
                    <a:pt x="1442290" y="4481357"/>
                  </a:lnTo>
                  <a:lnTo>
                    <a:pt x="1497034" y="4488662"/>
                  </a:lnTo>
                  <a:lnTo>
                    <a:pt x="1553729" y="4494649"/>
                  </a:lnTo>
                  <a:lnTo>
                    <a:pt x="1610479" y="4499491"/>
                  </a:lnTo>
                  <a:lnTo>
                    <a:pt x="1667852" y="4503092"/>
                  </a:lnTo>
                  <a:lnTo>
                    <a:pt x="1724854" y="4505062"/>
                  </a:lnTo>
                  <a:lnTo>
                    <a:pt x="1780488" y="4505007"/>
                  </a:lnTo>
                  <a:lnTo>
                    <a:pt x="1833762" y="4502536"/>
                  </a:lnTo>
                  <a:lnTo>
                    <a:pt x="1883680" y="4497255"/>
                  </a:lnTo>
                  <a:lnTo>
                    <a:pt x="1929248" y="4488773"/>
                  </a:lnTo>
                  <a:lnTo>
                    <a:pt x="1969472" y="4476697"/>
                  </a:lnTo>
                  <a:lnTo>
                    <a:pt x="2026073" y="4444072"/>
                  </a:lnTo>
                  <a:lnTo>
                    <a:pt x="2057314" y="4402420"/>
                  </a:lnTo>
                  <a:lnTo>
                    <a:pt x="2071192" y="4350249"/>
                  </a:lnTo>
                  <a:lnTo>
                    <a:pt x="2072204" y="4320535"/>
                  </a:lnTo>
                  <a:lnTo>
                    <a:pt x="2069576" y="4288572"/>
                  </a:lnTo>
                  <a:lnTo>
                    <a:pt x="2054334" y="4218406"/>
                  </a:lnTo>
                  <a:lnTo>
                    <a:pt x="2042188" y="4180457"/>
                  </a:lnTo>
                  <a:lnTo>
                    <a:pt x="2027336" y="4140766"/>
                  </a:lnTo>
                  <a:lnTo>
                    <a:pt x="2010012" y="4099460"/>
                  </a:lnTo>
                  <a:lnTo>
                    <a:pt x="1990450" y="4056666"/>
                  </a:lnTo>
                  <a:lnTo>
                    <a:pt x="1968884" y="4012512"/>
                  </a:lnTo>
                  <a:lnTo>
                    <a:pt x="1945546" y="3967123"/>
                  </a:lnTo>
                  <a:lnTo>
                    <a:pt x="1920671" y="3920628"/>
                  </a:lnTo>
                  <a:lnTo>
                    <a:pt x="1894492" y="3873152"/>
                  </a:lnTo>
                  <a:lnTo>
                    <a:pt x="1839157" y="3775767"/>
                  </a:lnTo>
                  <a:lnTo>
                    <a:pt x="1723120" y="3574818"/>
                  </a:lnTo>
                  <a:lnTo>
                    <a:pt x="1694355" y="3524034"/>
                  </a:lnTo>
                  <a:lnTo>
                    <a:pt x="1666156" y="3473285"/>
                  </a:lnTo>
                  <a:lnTo>
                    <a:pt x="1636098" y="3417766"/>
                  </a:lnTo>
                  <a:lnTo>
                    <a:pt x="1607112" y="3362544"/>
                  </a:lnTo>
                  <a:lnTo>
                    <a:pt x="1579309" y="3307721"/>
                  </a:lnTo>
                  <a:lnTo>
                    <a:pt x="1552798" y="3253397"/>
                  </a:lnTo>
                  <a:lnTo>
                    <a:pt x="1527690" y="3199676"/>
                  </a:lnTo>
                  <a:lnTo>
                    <a:pt x="1504095" y="3146660"/>
                  </a:lnTo>
                  <a:lnTo>
                    <a:pt x="1482124" y="3094450"/>
                  </a:lnTo>
                  <a:lnTo>
                    <a:pt x="1461886" y="3043147"/>
                  </a:lnTo>
                  <a:lnTo>
                    <a:pt x="1443492" y="2992856"/>
                  </a:lnTo>
                  <a:lnTo>
                    <a:pt x="1427052" y="2943676"/>
                  </a:lnTo>
                  <a:lnTo>
                    <a:pt x="1412677" y="2895710"/>
                  </a:lnTo>
                  <a:lnTo>
                    <a:pt x="1400476" y="2849060"/>
                  </a:lnTo>
                  <a:lnTo>
                    <a:pt x="1390560" y="2803829"/>
                  </a:lnTo>
                  <a:lnTo>
                    <a:pt x="1383039" y="2760117"/>
                  </a:lnTo>
                  <a:lnTo>
                    <a:pt x="1378023" y="2718027"/>
                  </a:lnTo>
                  <a:lnTo>
                    <a:pt x="1375624" y="2677661"/>
                  </a:lnTo>
                  <a:lnTo>
                    <a:pt x="1375949" y="2639121"/>
                  </a:lnTo>
                  <a:lnTo>
                    <a:pt x="1385220" y="2567926"/>
                  </a:lnTo>
                  <a:lnTo>
                    <a:pt x="1406717" y="2505258"/>
                  </a:lnTo>
                  <a:lnTo>
                    <a:pt x="1441322" y="2451932"/>
                  </a:lnTo>
                  <a:lnTo>
                    <a:pt x="1494947" y="2404327"/>
                  </a:lnTo>
                  <a:lnTo>
                    <a:pt x="1562592" y="2366084"/>
                  </a:lnTo>
                  <a:lnTo>
                    <a:pt x="1600756" y="2349552"/>
                  </a:lnTo>
                  <a:lnTo>
                    <a:pt x="1641323" y="2334255"/>
                  </a:lnTo>
                  <a:lnTo>
                    <a:pt x="1683929" y="2319823"/>
                  </a:lnTo>
                  <a:lnTo>
                    <a:pt x="1728206" y="2305889"/>
                  </a:lnTo>
                  <a:lnTo>
                    <a:pt x="1820306" y="2278038"/>
                  </a:lnTo>
                  <a:lnTo>
                    <a:pt x="1867396" y="2263384"/>
                  </a:lnTo>
                  <a:lnTo>
                    <a:pt x="1914690" y="2247752"/>
                  </a:lnTo>
                  <a:lnTo>
                    <a:pt x="1961820" y="2230775"/>
                  </a:lnTo>
                  <a:lnTo>
                    <a:pt x="2008421" y="2212084"/>
                  </a:lnTo>
                  <a:lnTo>
                    <a:pt x="2054126" y="2191309"/>
                  </a:lnTo>
                  <a:lnTo>
                    <a:pt x="2098568" y="2168082"/>
                  </a:lnTo>
                  <a:lnTo>
                    <a:pt x="2141379" y="2142035"/>
                  </a:lnTo>
                  <a:lnTo>
                    <a:pt x="2182194" y="2112799"/>
                  </a:lnTo>
                  <a:lnTo>
                    <a:pt x="2220646" y="2080006"/>
                  </a:lnTo>
                  <a:lnTo>
                    <a:pt x="2256367" y="2043286"/>
                  </a:lnTo>
                  <a:lnTo>
                    <a:pt x="2286862" y="2005409"/>
                  </a:lnTo>
                  <a:lnTo>
                    <a:pt x="2314585" y="1964308"/>
                  </a:lnTo>
                  <a:lnTo>
                    <a:pt x="2339448" y="1920488"/>
                  </a:lnTo>
                  <a:lnTo>
                    <a:pt x="2361365" y="1874454"/>
                  </a:lnTo>
                  <a:lnTo>
                    <a:pt x="2380247" y="1826710"/>
                  </a:lnTo>
                  <a:lnTo>
                    <a:pt x="2396007" y="1777760"/>
                  </a:lnTo>
                  <a:lnTo>
                    <a:pt x="2408557" y="1728111"/>
                  </a:lnTo>
                  <a:lnTo>
                    <a:pt x="2417810" y="1678265"/>
                  </a:lnTo>
                  <a:lnTo>
                    <a:pt x="2423678" y="1628728"/>
                  </a:lnTo>
                  <a:lnTo>
                    <a:pt x="2426073" y="1580004"/>
                  </a:lnTo>
                  <a:lnTo>
                    <a:pt x="2424908" y="1532597"/>
                  </a:lnTo>
                  <a:lnTo>
                    <a:pt x="2419433" y="1482058"/>
                  </a:lnTo>
                  <a:lnTo>
                    <a:pt x="2409816" y="1433569"/>
                  </a:lnTo>
                  <a:lnTo>
                    <a:pt x="2396402" y="1386934"/>
                  </a:lnTo>
                  <a:lnTo>
                    <a:pt x="2379538" y="1341954"/>
                  </a:lnTo>
                  <a:lnTo>
                    <a:pt x="2359567" y="1298431"/>
                  </a:lnTo>
                  <a:lnTo>
                    <a:pt x="2336836" y="1256167"/>
                  </a:lnTo>
                  <a:lnTo>
                    <a:pt x="2311690" y="1214964"/>
                  </a:lnTo>
                  <a:lnTo>
                    <a:pt x="2284474" y="1174624"/>
                  </a:lnTo>
                  <a:lnTo>
                    <a:pt x="2255533" y="1134949"/>
                  </a:lnTo>
                  <a:lnTo>
                    <a:pt x="2225213" y="1095741"/>
                  </a:lnTo>
                  <a:lnTo>
                    <a:pt x="2193858" y="1056802"/>
                  </a:lnTo>
                  <a:lnTo>
                    <a:pt x="2097045" y="939620"/>
                  </a:lnTo>
                  <a:lnTo>
                    <a:pt x="2065008" y="899777"/>
                  </a:lnTo>
                  <a:lnTo>
                    <a:pt x="2033663" y="859213"/>
                  </a:lnTo>
                  <a:lnTo>
                    <a:pt x="2003357" y="817730"/>
                  </a:lnTo>
                  <a:lnTo>
                    <a:pt x="1967795" y="765127"/>
                  </a:lnTo>
                  <a:lnTo>
                    <a:pt x="1934214" y="711369"/>
                  </a:lnTo>
                  <a:lnTo>
                    <a:pt x="1902486" y="656999"/>
                  </a:lnTo>
                  <a:lnTo>
                    <a:pt x="1872484" y="602563"/>
                  </a:lnTo>
                  <a:lnTo>
                    <a:pt x="1844081" y="548606"/>
                  </a:lnTo>
                  <a:lnTo>
                    <a:pt x="1817152" y="495672"/>
                  </a:lnTo>
                  <a:lnTo>
                    <a:pt x="1743930" y="348456"/>
                  </a:lnTo>
                  <a:lnTo>
                    <a:pt x="1721623" y="305063"/>
                  </a:lnTo>
                  <a:lnTo>
                    <a:pt x="1700154" y="265416"/>
                  </a:lnTo>
                  <a:lnTo>
                    <a:pt x="1679397" y="230062"/>
                  </a:lnTo>
                  <a:lnTo>
                    <a:pt x="1639510" y="174407"/>
                  </a:lnTo>
                  <a:lnTo>
                    <a:pt x="1600947" y="142456"/>
                  </a:lnTo>
                  <a:lnTo>
                    <a:pt x="1581846" y="136732"/>
                  </a:lnTo>
                  <a:lnTo>
                    <a:pt x="1548813" y="114709"/>
                  </a:lnTo>
                  <a:lnTo>
                    <a:pt x="1512325" y="94234"/>
                  </a:lnTo>
                  <a:lnTo>
                    <a:pt x="1472742" y="75431"/>
                  </a:lnTo>
                  <a:lnTo>
                    <a:pt x="1430419" y="58423"/>
                  </a:lnTo>
                  <a:lnTo>
                    <a:pt x="1385717" y="43334"/>
                  </a:lnTo>
                  <a:lnTo>
                    <a:pt x="1338993" y="30287"/>
                  </a:lnTo>
                  <a:lnTo>
                    <a:pt x="1290605" y="19405"/>
                  </a:lnTo>
                  <a:lnTo>
                    <a:pt x="1240912" y="10812"/>
                  </a:lnTo>
                  <a:lnTo>
                    <a:pt x="1190272" y="4632"/>
                  </a:lnTo>
                  <a:lnTo>
                    <a:pt x="1139043" y="986"/>
                  </a:lnTo>
                  <a:lnTo>
                    <a:pt x="1087583" y="0"/>
                  </a:lnTo>
                  <a:close/>
                </a:path>
              </a:pathLst>
            </a:custGeom>
            <a:solidFill>
              <a:srgbClr val="DDDDDD"/>
            </a:solidFill>
          </p:spPr>
          <p:txBody>
            <a:bodyPr wrap="square" lIns="0" tIns="0" rIns="0" bIns="0" rtlCol="0"/>
            <a:lstStyle/>
            <a:p/>
          </p:txBody>
        </p:sp>
        <p:sp>
          <p:nvSpPr>
            <p:cNvPr id="13" name="object 13" descr=""/>
            <p:cNvSpPr/>
            <p:nvPr/>
          </p:nvSpPr>
          <p:spPr>
            <a:xfrm>
              <a:off x="4511683" y="1526123"/>
              <a:ext cx="2426335" cy="4505325"/>
            </a:xfrm>
            <a:custGeom>
              <a:avLst/>
              <a:gdLst/>
              <a:ahLst/>
              <a:cxnLst/>
              <a:rect l="l" t="t" r="r" b="b"/>
              <a:pathLst>
                <a:path w="2426334" h="4505325">
                  <a:moveTo>
                    <a:pt x="1581846" y="136732"/>
                  </a:moveTo>
                  <a:lnTo>
                    <a:pt x="1548813" y="114709"/>
                  </a:lnTo>
                  <a:lnTo>
                    <a:pt x="1512325" y="94234"/>
                  </a:lnTo>
                  <a:lnTo>
                    <a:pt x="1472742" y="75431"/>
                  </a:lnTo>
                  <a:lnTo>
                    <a:pt x="1430419" y="58423"/>
                  </a:lnTo>
                  <a:lnTo>
                    <a:pt x="1385717" y="43334"/>
                  </a:lnTo>
                  <a:lnTo>
                    <a:pt x="1338993" y="30287"/>
                  </a:lnTo>
                  <a:lnTo>
                    <a:pt x="1290605" y="19405"/>
                  </a:lnTo>
                  <a:lnTo>
                    <a:pt x="1240912" y="10812"/>
                  </a:lnTo>
                  <a:lnTo>
                    <a:pt x="1190272" y="4632"/>
                  </a:lnTo>
                  <a:lnTo>
                    <a:pt x="1139043" y="986"/>
                  </a:lnTo>
                  <a:lnTo>
                    <a:pt x="1087583" y="0"/>
                  </a:lnTo>
                  <a:lnTo>
                    <a:pt x="1036251" y="1795"/>
                  </a:lnTo>
                  <a:lnTo>
                    <a:pt x="985404" y="6496"/>
                  </a:lnTo>
                  <a:lnTo>
                    <a:pt x="935402" y="14225"/>
                  </a:lnTo>
                  <a:lnTo>
                    <a:pt x="886602" y="25107"/>
                  </a:lnTo>
                  <a:lnTo>
                    <a:pt x="839362" y="39264"/>
                  </a:lnTo>
                  <a:lnTo>
                    <a:pt x="794040" y="56820"/>
                  </a:lnTo>
                  <a:lnTo>
                    <a:pt x="750996" y="77898"/>
                  </a:lnTo>
                  <a:lnTo>
                    <a:pt x="710587" y="102622"/>
                  </a:lnTo>
                  <a:lnTo>
                    <a:pt x="674186" y="130167"/>
                  </a:lnTo>
                  <a:lnTo>
                    <a:pt x="640697" y="161008"/>
                  </a:lnTo>
                  <a:lnTo>
                    <a:pt x="610216" y="194895"/>
                  </a:lnTo>
                  <a:lnTo>
                    <a:pt x="582835" y="231574"/>
                  </a:lnTo>
                  <a:lnTo>
                    <a:pt x="558648" y="270794"/>
                  </a:lnTo>
                  <a:lnTo>
                    <a:pt x="537748" y="312302"/>
                  </a:lnTo>
                  <a:lnTo>
                    <a:pt x="520229" y="355845"/>
                  </a:lnTo>
                  <a:lnTo>
                    <a:pt x="506185" y="401172"/>
                  </a:lnTo>
                  <a:lnTo>
                    <a:pt x="495708" y="448030"/>
                  </a:lnTo>
                  <a:lnTo>
                    <a:pt x="488893" y="496167"/>
                  </a:lnTo>
                  <a:lnTo>
                    <a:pt x="485833" y="545331"/>
                  </a:lnTo>
                  <a:lnTo>
                    <a:pt x="486430" y="593481"/>
                  </a:lnTo>
                  <a:lnTo>
                    <a:pt x="490139" y="642300"/>
                  </a:lnTo>
                  <a:lnTo>
                    <a:pt x="496505" y="691747"/>
                  </a:lnTo>
                  <a:lnTo>
                    <a:pt x="505072" y="741779"/>
                  </a:lnTo>
                  <a:lnTo>
                    <a:pt x="515384" y="792355"/>
                  </a:lnTo>
                  <a:lnTo>
                    <a:pt x="526986" y="843432"/>
                  </a:lnTo>
                  <a:lnTo>
                    <a:pt x="539423" y="894971"/>
                  </a:lnTo>
                  <a:lnTo>
                    <a:pt x="552239" y="946928"/>
                  </a:lnTo>
                  <a:lnTo>
                    <a:pt x="564978" y="999262"/>
                  </a:lnTo>
                  <a:lnTo>
                    <a:pt x="577184" y="1051931"/>
                  </a:lnTo>
                  <a:lnTo>
                    <a:pt x="588404" y="1104894"/>
                  </a:lnTo>
                  <a:lnTo>
                    <a:pt x="598180" y="1158109"/>
                  </a:lnTo>
                  <a:lnTo>
                    <a:pt x="605454" y="1206254"/>
                  </a:lnTo>
                  <a:lnTo>
                    <a:pt x="611331" y="1254603"/>
                  </a:lnTo>
                  <a:lnTo>
                    <a:pt x="615952" y="1303195"/>
                  </a:lnTo>
                  <a:lnTo>
                    <a:pt x="619461" y="1352071"/>
                  </a:lnTo>
                  <a:lnTo>
                    <a:pt x="621998" y="1401271"/>
                  </a:lnTo>
                  <a:lnTo>
                    <a:pt x="623706" y="1450835"/>
                  </a:lnTo>
                  <a:lnTo>
                    <a:pt x="624727" y="1500802"/>
                  </a:lnTo>
                  <a:lnTo>
                    <a:pt x="625201" y="1551214"/>
                  </a:lnTo>
                  <a:lnTo>
                    <a:pt x="625272" y="1602109"/>
                  </a:lnTo>
                  <a:lnTo>
                    <a:pt x="625081" y="1653529"/>
                  </a:lnTo>
                  <a:lnTo>
                    <a:pt x="624770" y="1705514"/>
                  </a:lnTo>
                  <a:lnTo>
                    <a:pt x="624480" y="1758103"/>
                  </a:lnTo>
                  <a:lnTo>
                    <a:pt x="624354" y="1811336"/>
                  </a:lnTo>
                  <a:lnTo>
                    <a:pt x="624533" y="1865255"/>
                  </a:lnTo>
                  <a:lnTo>
                    <a:pt x="625160" y="1919898"/>
                  </a:lnTo>
                  <a:lnTo>
                    <a:pt x="626376" y="1975306"/>
                  </a:lnTo>
                  <a:lnTo>
                    <a:pt x="628243" y="2032685"/>
                  </a:lnTo>
                  <a:lnTo>
                    <a:pt x="630215" y="2090085"/>
                  </a:lnTo>
                  <a:lnTo>
                    <a:pt x="631626" y="2146688"/>
                  </a:lnTo>
                  <a:lnTo>
                    <a:pt x="631814" y="2201678"/>
                  </a:lnTo>
                  <a:lnTo>
                    <a:pt x="630116" y="2254236"/>
                  </a:lnTo>
                  <a:lnTo>
                    <a:pt x="625868" y="2303544"/>
                  </a:lnTo>
                  <a:lnTo>
                    <a:pt x="618406" y="2348786"/>
                  </a:lnTo>
                  <a:lnTo>
                    <a:pt x="607067" y="2389143"/>
                  </a:lnTo>
                  <a:lnTo>
                    <a:pt x="591187" y="2423798"/>
                  </a:lnTo>
                  <a:lnTo>
                    <a:pt x="537822" y="2476307"/>
                  </a:lnTo>
                  <a:lnTo>
                    <a:pt x="498756" y="2492297"/>
                  </a:lnTo>
                  <a:lnTo>
                    <a:pt x="454391" y="2501867"/>
                  </a:lnTo>
                  <a:lnTo>
                    <a:pt x="406217" y="2506979"/>
                  </a:lnTo>
                  <a:lnTo>
                    <a:pt x="355719" y="2509598"/>
                  </a:lnTo>
                  <a:lnTo>
                    <a:pt x="304387" y="2511687"/>
                  </a:lnTo>
                  <a:lnTo>
                    <a:pt x="253707" y="2515211"/>
                  </a:lnTo>
                  <a:lnTo>
                    <a:pt x="205167" y="2522132"/>
                  </a:lnTo>
                  <a:lnTo>
                    <a:pt x="160256" y="2534414"/>
                  </a:lnTo>
                  <a:lnTo>
                    <a:pt x="120459" y="2554022"/>
                  </a:lnTo>
                  <a:lnTo>
                    <a:pt x="73248" y="2598902"/>
                  </a:lnTo>
                  <a:lnTo>
                    <a:pt x="38986" y="2661102"/>
                  </a:lnTo>
                  <a:lnTo>
                    <a:pt x="26277" y="2697804"/>
                  </a:lnTo>
                  <a:lnTo>
                    <a:pt x="16284" y="2737763"/>
                  </a:lnTo>
                  <a:lnTo>
                    <a:pt x="8834" y="2780624"/>
                  </a:lnTo>
                  <a:lnTo>
                    <a:pt x="3752" y="2826028"/>
                  </a:lnTo>
                  <a:lnTo>
                    <a:pt x="865" y="2873618"/>
                  </a:lnTo>
                  <a:lnTo>
                    <a:pt x="0" y="2923037"/>
                  </a:lnTo>
                  <a:lnTo>
                    <a:pt x="981" y="2973928"/>
                  </a:lnTo>
                  <a:lnTo>
                    <a:pt x="3637" y="3025933"/>
                  </a:lnTo>
                  <a:lnTo>
                    <a:pt x="7792" y="3078696"/>
                  </a:lnTo>
                  <a:lnTo>
                    <a:pt x="13273" y="3131858"/>
                  </a:lnTo>
                  <a:lnTo>
                    <a:pt x="19907" y="3185063"/>
                  </a:lnTo>
                  <a:lnTo>
                    <a:pt x="27519" y="3237953"/>
                  </a:lnTo>
                  <a:lnTo>
                    <a:pt x="35937" y="3290172"/>
                  </a:lnTo>
                  <a:lnTo>
                    <a:pt x="44985" y="3341361"/>
                  </a:lnTo>
                  <a:lnTo>
                    <a:pt x="54490" y="3391164"/>
                  </a:lnTo>
                  <a:lnTo>
                    <a:pt x="64280" y="3439223"/>
                  </a:lnTo>
                  <a:lnTo>
                    <a:pt x="77781" y="3500992"/>
                  </a:lnTo>
                  <a:lnTo>
                    <a:pt x="91736" y="3558954"/>
                  </a:lnTo>
                  <a:lnTo>
                    <a:pt x="106399" y="3613150"/>
                  </a:lnTo>
                  <a:lnTo>
                    <a:pt x="122021" y="3663619"/>
                  </a:lnTo>
                  <a:lnTo>
                    <a:pt x="138857" y="3710399"/>
                  </a:lnTo>
                  <a:lnTo>
                    <a:pt x="157159" y="3753530"/>
                  </a:lnTo>
                  <a:lnTo>
                    <a:pt x="177180" y="3793052"/>
                  </a:lnTo>
                  <a:lnTo>
                    <a:pt x="199174" y="3829004"/>
                  </a:lnTo>
                  <a:lnTo>
                    <a:pt x="223394" y="3861424"/>
                  </a:lnTo>
                  <a:lnTo>
                    <a:pt x="250092" y="3890353"/>
                  </a:lnTo>
                  <a:lnTo>
                    <a:pt x="279521" y="3915830"/>
                  </a:lnTo>
                  <a:lnTo>
                    <a:pt x="311936" y="3937893"/>
                  </a:lnTo>
                  <a:lnTo>
                    <a:pt x="347588" y="3956583"/>
                  </a:lnTo>
                  <a:lnTo>
                    <a:pt x="386732" y="3971938"/>
                  </a:lnTo>
                  <a:lnTo>
                    <a:pt x="429619" y="3983997"/>
                  </a:lnTo>
                  <a:lnTo>
                    <a:pt x="473964" y="3992571"/>
                  </a:lnTo>
                  <a:lnTo>
                    <a:pt x="521106" y="3998969"/>
                  </a:lnTo>
                  <a:lnTo>
                    <a:pt x="570222" y="4003964"/>
                  </a:lnTo>
                  <a:lnTo>
                    <a:pt x="620490" y="4008330"/>
                  </a:lnTo>
                  <a:lnTo>
                    <a:pt x="671088" y="4012840"/>
                  </a:lnTo>
                  <a:lnTo>
                    <a:pt x="721193" y="4018265"/>
                  </a:lnTo>
                  <a:lnTo>
                    <a:pt x="769983" y="4025380"/>
                  </a:lnTo>
                  <a:lnTo>
                    <a:pt x="816635" y="4034956"/>
                  </a:lnTo>
                  <a:lnTo>
                    <a:pt x="860326" y="4047767"/>
                  </a:lnTo>
                  <a:lnTo>
                    <a:pt x="900236" y="4064585"/>
                  </a:lnTo>
                  <a:lnTo>
                    <a:pt x="935540" y="4086183"/>
                  </a:lnTo>
                  <a:lnTo>
                    <a:pt x="971299" y="4118959"/>
                  </a:lnTo>
                  <a:lnTo>
                    <a:pt x="1001264" y="4157511"/>
                  </a:lnTo>
                  <a:lnTo>
                    <a:pt x="1027479" y="4199589"/>
                  </a:lnTo>
                  <a:lnTo>
                    <a:pt x="1051993" y="4242943"/>
                  </a:lnTo>
                  <a:lnTo>
                    <a:pt x="1076851" y="4285320"/>
                  </a:lnTo>
                  <a:lnTo>
                    <a:pt x="1104101" y="4324472"/>
                  </a:lnTo>
                  <a:lnTo>
                    <a:pt x="1134375" y="4357621"/>
                  </a:lnTo>
                  <a:lnTo>
                    <a:pt x="1168571" y="4386052"/>
                  </a:lnTo>
                  <a:lnTo>
                    <a:pt x="1206441" y="4410189"/>
                  </a:lnTo>
                  <a:lnTo>
                    <a:pt x="1247739" y="4430459"/>
                  </a:lnTo>
                  <a:lnTo>
                    <a:pt x="1292220" y="4447285"/>
                  </a:lnTo>
                  <a:lnTo>
                    <a:pt x="1339636" y="4461093"/>
                  </a:lnTo>
                  <a:lnTo>
                    <a:pt x="1389741" y="4472309"/>
                  </a:lnTo>
                  <a:lnTo>
                    <a:pt x="1442290" y="4481357"/>
                  </a:lnTo>
                  <a:lnTo>
                    <a:pt x="1497034" y="4488662"/>
                  </a:lnTo>
                  <a:lnTo>
                    <a:pt x="1553729" y="4494649"/>
                  </a:lnTo>
                  <a:lnTo>
                    <a:pt x="1610479" y="4499491"/>
                  </a:lnTo>
                  <a:lnTo>
                    <a:pt x="1667852" y="4503092"/>
                  </a:lnTo>
                  <a:lnTo>
                    <a:pt x="1724854" y="4505062"/>
                  </a:lnTo>
                  <a:lnTo>
                    <a:pt x="1780488" y="4505007"/>
                  </a:lnTo>
                  <a:lnTo>
                    <a:pt x="1833762" y="4502536"/>
                  </a:lnTo>
                  <a:lnTo>
                    <a:pt x="1883680" y="4497255"/>
                  </a:lnTo>
                  <a:lnTo>
                    <a:pt x="1929248" y="4488773"/>
                  </a:lnTo>
                  <a:lnTo>
                    <a:pt x="1969472" y="4476697"/>
                  </a:lnTo>
                  <a:lnTo>
                    <a:pt x="2026073" y="4444072"/>
                  </a:lnTo>
                  <a:lnTo>
                    <a:pt x="2057314" y="4402420"/>
                  </a:lnTo>
                  <a:lnTo>
                    <a:pt x="2071192" y="4350249"/>
                  </a:lnTo>
                  <a:lnTo>
                    <a:pt x="2072204" y="4320535"/>
                  </a:lnTo>
                  <a:lnTo>
                    <a:pt x="2069576" y="4288572"/>
                  </a:lnTo>
                  <a:lnTo>
                    <a:pt x="2054334" y="4218406"/>
                  </a:lnTo>
                  <a:lnTo>
                    <a:pt x="2042188" y="4180457"/>
                  </a:lnTo>
                  <a:lnTo>
                    <a:pt x="2027336" y="4140766"/>
                  </a:lnTo>
                  <a:lnTo>
                    <a:pt x="2010012" y="4099460"/>
                  </a:lnTo>
                  <a:lnTo>
                    <a:pt x="1990450" y="4056666"/>
                  </a:lnTo>
                  <a:lnTo>
                    <a:pt x="1968884" y="4012512"/>
                  </a:lnTo>
                  <a:lnTo>
                    <a:pt x="1945546" y="3967123"/>
                  </a:lnTo>
                  <a:lnTo>
                    <a:pt x="1920671" y="3920628"/>
                  </a:lnTo>
                  <a:lnTo>
                    <a:pt x="1894492" y="3873152"/>
                  </a:lnTo>
                  <a:lnTo>
                    <a:pt x="1867242" y="3824822"/>
                  </a:lnTo>
                  <a:lnTo>
                    <a:pt x="1839157" y="3775767"/>
                  </a:lnTo>
                  <a:lnTo>
                    <a:pt x="1810468" y="3726112"/>
                  </a:lnTo>
                  <a:lnTo>
                    <a:pt x="1781410" y="3675984"/>
                  </a:lnTo>
                  <a:lnTo>
                    <a:pt x="1752216" y="3625510"/>
                  </a:lnTo>
                  <a:lnTo>
                    <a:pt x="1723120" y="3574818"/>
                  </a:lnTo>
                  <a:lnTo>
                    <a:pt x="1694355" y="3524034"/>
                  </a:lnTo>
                  <a:lnTo>
                    <a:pt x="1666156" y="3473285"/>
                  </a:lnTo>
                  <a:lnTo>
                    <a:pt x="1636098" y="3417766"/>
                  </a:lnTo>
                  <a:lnTo>
                    <a:pt x="1607112" y="3362544"/>
                  </a:lnTo>
                  <a:lnTo>
                    <a:pt x="1579309" y="3307721"/>
                  </a:lnTo>
                  <a:lnTo>
                    <a:pt x="1552798" y="3253397"/>
                  </a:lnTo>
                  <a:lnTo>
                    <a:pt x="1527690" y="3199676"/>
                  </a:lnTo>
                  <a:lnTo>
                    <a:pt x="1504095" y="3146660"/>
                  </a:lnTo>
                  <a:lnTo>
                    <a:pt x="1482124" y="3094450"/>
                  </a:lnTo>
                  <a:lnTo>
                    <a:pt x="1461886" y="3043147"/>
                  </a:lnTo>
                  <a:lnTo>
                    <a:pt x="1443492" y="2992856"/>
                  </a:lnTo>
                  <a:lnTo>
                    <a:pt x="1427052" y="2943676"/>
                  </a:lnTo>
                  <a:lnTo>
                    <a:pt x="1412677" y="2895710"/>
                  </a:lnTo>
                  <a:lnTo>
                    <a:pt x="1400476" y="2849060"/>
                  </a:lnTo>
                  <a:lnTo>
                    <a:pt x="1390560" y="2803829"/>
                  </a:lnTo>
                  <a:lnTo>
                    <a:pt x="1383039" y="2760117"/>
                  </a:lnTo>
                  <a:lnTo>
                    <a:pt x="1378023" y="2718027"/>
                  </a:lnTo>
                  <a:lnTo>
                    <a:pt x="1375624" y="2677661"/>
                  </a:lnTo>
                  <a:lnTo>
                    <a:pt x="1375949" y="2639121"/>
                  </a:lnTo>
                  <a:lnTo>
                    <a:pt x="1385220" y="2567926"/>
                  </a:lnTo>
                  <a:lnTo>
                    <a:pt x="1406717" y="2505258"/>
                  </a:lnTo>
                  <a:lnTo>
                    <a:pt x="1441322" y="2451932"/>
                  </a:lnTo>
                  <a:lnTo>
                    <a:pt x="1494947" y="2404327"/>
                  </a:lnTo>
                  <a:lnTo>
                    <a:pt x="1562592" y="2366084"/>
                  </a:lnTo>
                  <a:lnTo>
                    <a:pt x="1600756" y="2349552"/>
                  </a:lnTo>
                  <a:lnTo>
                    <a:pt x="1641323" y="2334255"/>
                  </a:lnTo>
                  <a:lnTo>
                    <a:pt x="1683929" y="2319823"/>
                  </a:lnTo>
                  <a:lnTo>
                    <a:pt x="1728206" y="2305889"/>
                  </a:lnTo>
                  <a:lnTo>
                    <a:pt x="1773788" y="2292083"/>
                  </a:lnTo>
                  <a:lnTo>
                    <a:pt x="1820306" y="2278038"/>
                  </a:lnTo>
                  <a:lnTo>
                    <a:pt x="1867396" y="2263384"/>
                  </a:lnTo>
                  <a:lnTo>
                    <a:pt x="1914690" y="2247752"/>
                  </a:lnTo>
                  <a:lnTo>
                    <a:pt x="1961820" y="2230775"/>
                  </a:lnTo>
                  <a:lnTo>
                    <a:pt x="2008421" y="2212084"/>
                  </a:lnTo>
                  <a:lnTo>
                    <a:pt x="2054126" y="2191309"/>
                  </a:lnTo>
                  <a:lnTo>
                    <a:pt x="2098568" y="2168082"/>
                  </a:lnTo>
                  <a:lnTo>
                    <a:pt x="2141379" y="2142035"/>
                  </a:lnTo>
                  <a:lnTo>
                    <a:pt x="2182194" y="2112799"/>
                  </a:lnTo>
                  <a:lnTo>
                    <a:pt x="2220646" y="2080006"/>
                  </a:lnTo>
                  <a:lnTo>
                    <a:pt x="2256367" y="2043286"/>
                  </a:lnTo>
                  <a:lnTo>
                    <a:pt x="2286862" y="2005409"/>
                  </a:lnTo>
                  <a:lnTo>
                    <a:pt x="2314585" y="1964308"/>
                  </a:lnTo>
                  <a:lnTo>
                    <a:pt x="2339448" y="1920488"/>
                  </a:lnTo>
                  <a:lnTo>
                    <a:pt x="2361365" y="1874454"/>
                  </a:lnTo>
                  <a:lnTo>
                    <a:pt x="2380247" y="1826710"/>
                  </a:lnTo>
                  <a:lnTo>
                    <a:pt x="2396007" y="1777760"/>
                  </a:lnTo>
                  <a:lnTo>
                    <a:pt x="2408557" y="1728111"/>
                  </a:lnTo>
                  <a:lnTo>
                    <a:pt x="2417810" y="1678265"/>
                  </a:lnTo>
                  <a:lnTo>
                    <a:pt x="2423678" y="1628728"/>
                  </a:lnTo>
                  <a:lnTo>
                    <a:pt x="2426073" y="1580004"/>
                  </a:lnTo>
                  <a:lnTo>
                    <a:pt x="2424908" y="1532597"/>
                  </a:lnTo>
                  <a:lnTo>
                    <a:pt x="2419433" y="1482058"/>
                  </a:lnTo>
                  <a:lnTo>
                    <a:pt x="2409816" y="1433569"/>
                  </a:lnTo>
                  <a:lnTo>
                    <a:pt x="2396402" y="1386934"/>
                  </a:lnTo>
                  <a:lnTo>
                    <a:pt x="2379538" y="1341954"/>
                  </a:lnTo>
                  <a:lnTo>
                    <a:pt x="2359567" y="1298431"/>
                  </a:lnTo>
                  <a:lnTo>
                    <a:pt x="2336836" y="1256167"/>
                  </a:lnTo>
                  <a:lnTo>
                    <a:pt x="2311690" y="1214964"/>
                  </a:lnTo>
                  <a:lnTo>
                    <a:pt x="2284474" y="1174624"/>
                  </a:lnTo>
                  <a:lnTo>
                    <a:pt x="2255533" y="1134949"/>
                  </a:lnTo>
                  <a:lnTo>
                    <a:pt x="2225213" y="1095741"/>
                  </a:lnTo>
                  <a:lnTo>
                    <a:pt x="2193858" y="1056802"/>
                  </a:lnTo>
                  <a:lnTo>
                    <a:pt x="2161816" y="1017935"/>
                  </a:lnTo>
                  <a:lnTo>
                    <a:pt x="2129429" y="978940"/>
                  </a:lnTo>
                  <a:lnTo>
                    <a:pt x="2097045" y="939620"/>
                  </a:lnTo>
                  <a:lnTo>
                    <a:pt x="2065008" y="899777"/>
                  </a:lnTo>
                  <a:lnTo>
                    <a:pt x="2033663" y="859213"/>
                  </a:lnTo>
                  <a:lnTo>
                    <a:pt x="2003357" y="817730"/>
                  </a:lnTo>
                  <a:lnTo>
                    <a:pt x="1967795" y="765127"/>
                  </a:lnTo>
                  <a:lnTo>
                    <a:pt x="1934214" y="711369"/>
                  </a:lnTo>
                  <a:lnTo>
                    <a:pt x="1902486" y="656999"/>
                  </a:lnTo>
                  <a:lnTo>
                    <a:pt x="1872484" y="602563"/>
                  </a:lnTo>
                  <a:lnTo>
                    <a:pt x="1844081" y="548606"/>
                  </a:lnTo>
                  <a:lnTo>
                    <a:pt x="1817152" y="495672"/>
                  </a:lnTo>
                  <a:lnTo>
                    <a:pt x="1791568" y="444306"/>
                  </a:lnTo>
                  <a:lnTo>
                    <a:pt x="1767203" y="395052"/>
                  </a:lnTo>
                  <a:lnTo>
                    <a:pt x="1743930" y="348456"/>
                  </a:lnTo>
                  <a:lnTo>
                    <a:pt x="1721623" y="305063"/>
                  </a:lnTo>
                  <a:lnTo>
                    <a:pt x="1700154" y="265416"/>
                  </a:lnTo>
                  <a:lnTo>
                    <a:pt x="1679397" y="230062"/>
                  </a:lnTo>
                  <a:lnTo>
                    <a:pt x="1639510" y="174407"/>
                  </a:lnTo>
                  <a:lnTo>
                    <a:pt x="1600947" y="142456"/>
                  </a:lnTo>
                  <a:lnTo>
                    <a:pt x="1581846" y="136732"/>
                  </a:lnTo>
                  <a:close/>
                </a:path>
              </a:pathLst>
            </a:custGeom>
            <a:ln w="14955">
              <a:solidFill>
                <a:srgbClr val="000000"/>
              </a:solidFill>
            </a:ln>
          </p:spPr>
          <p:txBody>
            <a:bodyPr wrap="square" lIns="0" tIns="0" rIns="0" bIns="0" rtlCol="0"/>
            <a:lstStyle/>
            <a:p/>
          </p:txBody>
        </p:sp>
        <p:sp>
          <p:nvSpPr>
            <p:cNvPr id="14" name="object 14" descr=""/>
            <p:cNvSpPr/>
            <p:nvPr/>
          </p:nvSpPr>
          <p:spPr>
            <a:xfrm>
              <a:off x="5531455" y="1663024"/>
              <a:ext cx="1889125" cy="476884"/>
            </a:xfrm>
            <a:custGeom>
              <a:avLst/>
              <a:gdLst/>
              <a:ahLst/>
              <a:cxnLst/>
              <a:rect l="l" t="t" r="r" b="b"/>
              <a:pathLst>
                <a:path w="1889125" h="476885">
                  <a:moveTo>
                    <a:pt x="1888671" y="0"/>
                  </a:moveTo>
                  <a:lnTo>
                    <a:pt x="0" y="0"/>
                  </a:lnTo>
                  <a:lnTo>
                    <a:pt x="0" y="476650"/>
                  </a:lnTo>
                  <a:lnTo>
                    <a:pt x="1888671" y="476650"/>
                  </a:lnTo>
                  <a:lnTo>
                    <a:pt x="1888671" y="0"/>
                  </a:lnTo>
                  <a:close/>
                </a:path>
              </a:pathLst>
            </a:custGeom>
            <a:solidFill>
              <a:srgbClr val="FFFFFF"/>
            </a:solidFill>
          </p:spPr>
          <p:txBody>
            <a:bodyPr wrap="square" lIns="0" tIns="0" rIns="0" bIns="0" rtlCol="0"/>
            <a:lstStyle/>
            <a:p/>
          </p:txBody>
        </p:sp>
      </p:grpSp>
      <p:sp>
        <p:nvSpPr>
          <p:cNvPr id="15" name="object 15" descr=""/>
          <p:cNvSpPr txBox="1"/>
          <p:nvPr/>
        </p:nvSpPr>
        <p:spPr>
          <a:xfrm>
            <a:off x="5531455" y="1663024"/>
            <a:ext cx="1889125" cy="476884"/>
          </a:xfrm>
          <a:prstGeom prst="rect">
            <a:avLst/>
          </a:prstGeom>
          <a:ln w="17169">
            <a:solidFill>
              <a:srgbClr val="000000"/>
            </a:solidFill>
          </a:ln>
        </p:spPr>
        <p:txBody>
          <a:bodyPr wrap="square" lIns="0" tIns="69215" rIns="0" bIns="0" rtlCol="0" vert="horz">
            <a:spAutoFit/>
          </a:bodyPr>
          <a:lstStyle/>
          <a:p>
            <a:pPr marL="140970">
              <a:lnSpc>
                <a:spcPct val="100000"/>
              </a:lnSpc>
              <a:spcBef>
                <a:spcPts val="545"/>
              </a:spcBef>
            </a:pPr>
            <a:r>
              <a:rPr dirty="0" sz="1900" spc="-140">
                <a:latin typeface="Times New Roman"/>
                <a:cs typeface="Times New Roman"/>
              </a:rPr>
              <a:t>1:</a:t>
            </a:r>
            <a:r>
              <a:rPr dirty="0" sz="1900" spc="-70">
                <a:latin typeface="Times New Roman"/>
                <a:cs typeface="Times New Roman"/>
              </a:rPr>
              <a:t> </a:t>
            </a:r>
            <a:r>
              <a:rPr dirty="0" sz="1900" spc="-155">
                <a:latin typeface="Times New Roman"/>
                <a:cs typeface="Times New Roman"/>
              </a:rPr>
              <a:t>A[i]</a:t>
            </a:r>
            <a:r>
              <a:rPr dirty="0" sz="1900" spc="-65">
                <a:latin typeface="Times New Roman"/>
                <a:cs typeface="Times New Roman"/>
              </a:rPr>
              <a:t> </a:t>
            </a:r>
            <a:r>
              <a:rPr dirty="0" sz="1900" spc="-210">
                <a:latin typeface="Times New Roman"/>
                <a:cs typeface="Times New Roman"/>
              </a:rPr>
              <a:t>=</a:t>
            </a:r>
            <a:r>
              <a:rPr dirty="0" sz="1900" spc="-65">
                <a:latin typeface="Times New Roman"/>
                <a:cs typeface="Times New Roman"/>
              </a:rPr>
              <a:t> </a:t>
            </a:r>
            <a:r>
              <a:rPr dirty="0" sz="1900" spc="-155">
                <a:latin typeface="Times New Roman"/>
                <a:cs typeface="Times New Roman"/>
              </a:rPr>
              <a:t>A[i]</a:t>
            </a:r>
            <a:r>
              <a:rPr dirty="0" sz="1900" spc="-70">
                <a:latin typeface="Times New Roman"/>
                <a:cs typeface="Times New Roman"/>
              </a:rPr>
              <a:t> </a:t>
            </a:r>
            <a:r>
              <a:rPr dirty="0" sz="1900" spc="-210">
                <a:latin typeface="Times New Roman"/>
                <a:cs typeface="Times New Roman"/>
              </a:rPr>
              <a:t>+</a:t>
            </a:r>
            <a:r>
              <a:rPr dirty="0" sz="1900" spc="-70">
                <a:latin typeface="Times New Roman"/>
                <a:cs typeface="Times New Roman"/>
              </a:rPr>
              <a:t> </a:t>
            </a:r>
            <a:r>
              <a:rPr dirty="0" sz="1900" spc="-20">
                <a:latin typeface="Times New Roman"/>
                <a:cs typeface="Times New Roman"/>
              </a:rPr>
              <a:t>B[i]</a:t>
            </a:r>
            <a:endParaRPr sz="1900">
              <a:latin typeface="Times New Roman"/>
              <a:cs typeface="Times New Roman"/>
            </a:endParaRPr>
          </a:p>
        </p:txBody>
      </p:sp>
      <p:grpSp>
        <p:nvGrpSpPr>
          <p:cNvPr id="16" name="object 16" descr=""/>
          <p:cNvGrpSpPr/>
          <p:nvPr/>
        </p:nvGrpSpPr>
        <p:grpSpPr>
          <a:xfrm>
            <a:off x="5804247" y="2675977"/>
            <a:ext cx="1141095" cy="1038225"/>
            <a:chOff x="5804247" y="2675977"/>
            <a:chExt cx="1141095" cy="1038225"/>
          </a:xfrm>
        </p:grpSpPr>
        <p:sp>
          <p:nvSpPr>
            <p:cNvPr id="17" name="object 17" descr=""/>
            <p:cNvSpPr/>
            <p:nvPr/>
          </p:nvSpPr>
          <p:spPr>
            <a:xfrm>
              <a:off x="5812502" y="2684232"/>
              <a:ext cx="1124585" cy="1021715"/>
            </a:xfrm>
            <a:custGeom>
              <a:avLst/>
              <a:gdLst/>
              <a:ahLst/>
              <a:cxnLst/>
              <a:rect l="l" t="t" r="r" b="b"/>
              <a:pathLst>
                <a:path w="1124584" h="1021714">
                  <a:moveTo>
                    <a:pt x="562054" y="0"/>
                  </a:moveTo>
                  <a:lnTo>
                    <a:pt x="0" y="544798"/>
                  </a:lnTo>
                  <a:lnTo>
                    <a:pt x="562054" y="1021448"/>
                  </a:lnTo>
                  <a:lnTo>
                    <a:pt x="1124089" y="544798"/>
                  </a:lnTo>
                  <a:lnTo>
                    <a:pt x="562054" y="0"/>
                  </a:lnTo>
                  <a:close/>
                </a:path>
              </a:pathLst>
            </a:custGeom>
            <a:solidFill>
              <a:srgbClr val="FFFFFF"/>
            </a:solidFill>
          </p:spPr>
          <p:txBody>
            <a:bodyPr wrap="square" lIns="0" tIns="0" rIns="0" bIns="0" rtlCol="0"/>
            <a:lstStyle/>
            <a:p/>
          </p:txBody>
        </p:sp>
        <p:sp>
          <p:nvSpPr>
            <p:cNvPr id="18" name="object 18" descr=""/>
            <p:cNvSpPr/>
            <p:nvPr/>
          </p:nvSpPr>
          <p:spPr>
            <a:xfrm>
              <a:off x="5812502" y="2684232"/>
              <a:ext cx="1124585" cy="1021715"/>
            </a:xfrm>
            <a:custGeom>
              <a:avLst/>
              <a:gdLst/>
              <a:ahLst/>
              <a:cxnLst/>
              <a:rect l="l" t="t" r="r" b="b"/>
              <a:pathLst>
                <a:path w="1124584" h="1021714">
                  <a:moveTo>
                    <a:pt x="562054" y="0"/>
                  </a:moveTo>
                  <a:lnTo>
                    <a:pt x="0" y="544798"/>
                  </a:lnTo>
                  <a:lnTo>
                    <a:pt x="562054" y="1021448"/>
                  </a:lnTo>
                  <a:lnTo>
                    <a:pt x="1124089" y="544798"/>
                  </a:lnTo>
                  <a:lnTo>
                    <a:pt x="562054" y="0"/>
                  </a:lnTo>
                  <a:close/>
                </a:path>
              </a:pathLst>
            </a:custGeom>
            <a:ln w="15929">
              <a:solidFill>
                <a:srgbClr val="000000"/>
              </a:solidFill>
            </a:ln>
          </p:spPr>
          <p:txBody>
            <a:bodyPr wrap="square" lIns="0" tIns="0" rIns="0" bIns="0" rtlCol="0"/>
            <a:lstStyle/>
            <a:p/>
          </p:txBody>
        </p:sp>
      </p:grpSp>
      <p:sp>
        <p:nvSpPr>
          <p:cNvPr id="19" name="object 19" descr=""/>
          <p:cNvSpPr txBox="1"/>
          <p:nvPr/>
        </p:nvSpPr>
        <p:spPr>
          <a:xfrm>
            <a:off x="5895791" y="3014071"/>
            <a:ext cx="958215" cy="313690"/>
          </a:xfrm>
          <a:prstGeom prst="rect">
            <a:avLst/>
          </a:prstGeom>
        </p:spPr>
        <p:txBody>
          <a:bodyPr wrap="square" lIns="0" tIns="11430" rIns="0" bIns="0" rtlCol="0" vert="horz">
            <a:spAutoFit/>
          </a:bodyPr>
          <a:lstStyle/>
          <a:p>
            <a:pPr marL="12700">
              <a:lnSpc>
                <a:spcPct val="100000"/>
              </a:lnSpc>
              <a:spcBef>
                <a:spcPts val="90"/>
              </a:spcBef>
            </a:pPr>
            <a:r>
              <a:rPr dirty="0" sz="1900" spc="-140">
                <a:latin typeface="Times New Roman"/>
                <a:cs typeface="Times New Roman"/>
              </a:rPr>
              <a:t>2:</a:t>
            </a:r>
            <a:r>
              <a:rPr dirty="0" sz="1900" spc="-70">
                <a:latin typeface="Times New Roman"/>
                <a:cs typeface="Times New Roman"/>
              </a:rPr>
              <a:t> </a:t>
            </a:r>
            <a:r>
              <a:rPr dirty="0" sz="1900" spc="-155">
                <a:latin typeface="Times New Roman"/>
                <a:cs typeface="Times New Roman"/>
              </a:rPr>
              <a:t>A[i]</a:t>
            </a:r>
            <a:r>
              <a:rPr dirty="0" sz="1900" spc="-70">
                <a:latin typeface="Times New Roman"/>
                <a:cs typeface="Times New Roman"/>
              </a:rPr>
              <a:t> </a:t>
            </a:r>
            <a:r>
              <a:rPr dirty="0" sz="1900" spc="-210">
                <a:latin typeface="Times New Roman"/>
                <a:cs typeface="Times New Roman"/>
              </a:rPr>
              <a:t>=</a:t>
            </a:r>
            <a:r>
              <a:rPr dirty="0" sz="1900" spc="-65">
                <a:latin typeface="Times New Roman"/>
                <a:cs typeface="Times New Roman"/>
              </a:rPr>
              <a:t> </a:t>
            </a:r>
            <a:r>
              <a:rPr dirty="0" sz="1900" spc="-120">
                <a:latin typeface="Times New Roman"/>
                <a:cs typeface="Times New Roman"/>
              </a:rPr>
              <a:t>0?</a:t>
            </a:r>
            <a:endParaRPr sz="1900">
              <a:latin typeface="Times New Roman"/>
              <a:cs typeface="Times New Roman"/>
            </a:endParaRPr>
          </a:p>
        </p:txBody>
      </p:sp>
      <p:sp>
        <p:nvSpPr>
          <p:cNvPr id="20" name="object 20" descr=""/>
          <p:cNvSpPr txBox="1"/>
          <p:nvPr/>
        </p:nvSpPr>
        <p:spPr>
          <a:xfrm>
            <a:off x="4688372" y="4250407"/>
            <a:ext cx="1124585" cy="476884"/>
          </a:xfrm>
          <a:prstGeom prst="rect">
            <a:avLst/>
          </a:prstGeom>
          <a:solidFill>
            <a:srgbClr val="FFFFFF"/>
          </a:solidFill>
          <a:ln w="16965">
            <a:solidFill>
              <a:srgbClr val="000000"/>
            </a:solidFill>
          </a:ln>
        </p:spPr>
        <p:txBody>
          <a:bodyPr wrap="square" lIns="0" tIns="69215" rIns="0" bIns="0" rtlCol="0" vert="horz">
            <a:spAutoFit/>
          </a:bodyPr>
          <a:lstStyle/>
          <a:p>
            <a:pPr marL="219710">
              <a:lnSpc>
                <a:spcPct val="100000"/>
              </a:lnSpc>
              <a:spcBef>
                <a:spcPts val="545"/>
              </a:spcBef>
            </a:pPr>
            <a:r>
              <a:rPr dirty="0" sz="1900" spc="-140">
                <a:latin typeface="Times New Roman"/>
                <a:cs typeface="Times New Roman"/>
              </a:rPr>
              <a:t>3:</a:t>
            </a:r>
            <a:r>
              <a:rPr dirty="0" sz="1900" spc="-65">
                <a:latin typeface="Times New Roman"/>
                <a:cs typeface="Times New Roman"/>
              </a:rPr>
              <a:t> </a:t>
            </a:r>
            <a:r>
              <a:rPr dirty="0" sz="1900" spc="-150">
                <a:latin typeface="Times New Roman"/>
                <a:cs typeface="Times New Roman"/>
              </a:rPr>
              <a:t>B[i]</a:t>
            </a:r>
            <a:r>
              <a:rPr dirty="0" sz="1900" spc="-60">
                <a:latin typeface="Times New Roman"/>
                <a:cs typeface="Times New Roman"/>
              </a:rPr>
              <a:t> =</a:t>
            </a:r>
            <a:endParaRPr sz="1900">
              <a:latin typeface="Times New Roman"/>
              <a:cs typeface="Times New Roman"/>
            </a:endParaRPr>
          </a:p>
        </p:txBody>
      </p:sp>
      <p:sp>
        <p:nvSpPr>
          <p:cNvPr id="21" name="object 21" descr=""/>
          <p:cNvSpPr txBox="1"/>
          <p:nvPr/>
        </p:nvSpPr>
        <p:spPr>
          <a:xfrm>
            <a:off x="5812502" y="5407955"/>
            <a:ext cx="1124585" cy="476884"/>
          </a:xfrm>
          <a:prstGeom prst="rect">
            <a:avLst/>
          </a:prstGeom>
          <a:solidFill>
            <a:srgbClr val="FFFFFF"/>
          </a:solidFill>
          <a:ln w="16965">
            <a:solidFill>
              <a:srgbClr val="000000"/>
            </a:solidFill>
          </a:ln>
        </p:spPr>
        <p:txBody>
          <a:bodyPr wrap="square" lIns="0" tIns="69215" rIns="0" bIns="0" rtlCol="0" vert="horz">
            <a:spAutoFit/>
          </a:bodyPr>
          <a:lstStyle/>
          <a:p>
            <a:pPr marL="219710">
              <a:lnSpc>
                <a:spcPct val="100000"/>
              </a:lnSpc>
              <a:spcBef>
                <a:spcPts val="545"/>
              </a:spcBef>
            </a:pPr>
            <a:r>
              <a:rPr dirty="0" sz="1900" spc="-140">
                <a:latin typeface="Times New Roman"/>
                <a:cs typeface="Times New Roman"/>
              </a:rPr>
              <a:t>5:</a:t>
            </a:r>
            <a:r>
              <a:rPr dirty="0" sz="1900" spc="-65">
                <a:latin typeface="Times New Roman"/>
                <a:cs typeface="Times New Roman"/>
              </a:rPr>
              <a:t> </a:t>
            </a:r>
            <a:r>
              <a:rPr dirty="0" sz="1900" spc="-150">
                <a:latin typeface="Times New Roman"/>
                <a:cs typeface="Times New Roman"/>
              </a:rPr>
              <a:t>C[i]</a:t>
            </a:r>
            <a:r>
              <a:rPr dirty="0" sz="1900" spc="-60">
                <a:latin typeface="Times New Roman"/>
                <a:cs typeface="Times New Roman"/>
              </a:rPr>
              <a:t> =</a:t>
            </a:r>
            <a:endParaRPr sz="1900">
              <a:latin typeface="Times New Roman"/>
              <a:cs typeface="Times New Roman"/>
            </a:endParaRPr>
          </a:p>
        </p:txBody>
      </p:sp>
      <p:sp>
        <p:nvSpPr>
          <p:cNvPr id="22" name="object 22" descr=""/>
          <p:cNvSpPr txBox="1"/>
          <p:nvPr/>
        </p:nvSpPr>
        <p:spPr>
          <a:xfrm>
            <a:off x="6936592" y="4250407"/>
            <a:ext cx="1124585" cy="476884"/>
          </a:xfrm>
          <a:prstGeom prst="rect">
            <a:avLst/>
          </a:prstGeom>
          <a:ln w="16965">
            <a:solidFill>
              <a:srgbClr val="000000"/>
            </a:solidFill>
          </a:ln>
        </p:spPr>
        <p:txBody>
          <a:bodyPr wrap="square" lIns="0" tIns="69215" rIns="0" bIns="0" rtlCol="0" vert="horz">
            <a:spAutoFit/>
          </a:bodyPr>
          <a:lstStyle/>
          <a:p>
            <a:pPr algn="ctr">
              <a:lnSpc>
                <a:spcPct val="100000"/>
              </a:lnSpc>
              <a:spcBef>
                <a:spcPts val="545"/>
              </a:spcBef>
            </a:pPr>
            <a:r>
              <a:rPr dirty="0" sz="1900" spc="-140">
                <a:latin typeface="Times New Roman"/>
                <a:cs typeface="Times New Roman"/>
              </a:rPr>
              <a:t>4:</a:t>
            </a:r>
            <a:r>
              <a:rPr dirty="0" sz="1900" spc="-75">
                <a:latin typeface="Times New Roman"/>
                <a:cs typeface="Times New Roman"/>
              </a:rPr>
              <a:t> </a:t>
            </a:r>
            <a:r>
              <a:rPr dirty="0" sz="1900" spc="-60">
                <a:latin typeface="Times New Roman"/>
                <a:cs typeface="Times New Roman"/>
              </a:rPr>
              <a:t>X</a:t>
            </a:r>
            <a:endParaRPr sz="1900">
              <a:latin typeface="Times New Roman"/>
              <a:cs typeface="Times New Roman"/>
            </a:endParaRPr>
          </a:p>
        </p:txBody>
      </p:sp>
      <p:grpSp>
        <p:nvGrpSpPr>
          <p:cNvPr id="23" name="object 23" descr=""/>
          <p:cNvGrpSpPr/>
          <p:nvPr/>
        </p:nvGrpSpPr>
        <p:grpSpPr>
          <a:xfrm>
            <a:off x="5241983" y="2139675"/>
            <a:ext cx="2265680" cy="3268345"/>
            <a:chOff x="5241983" y="2139675"/>
            <a:chExt cx="2265680" cy="3268345"/>
          </a:xfrm>
        </p:grpSpPr>
        <p:sp>
          <p:nvSpPr>
            <p:cNvPr id="24" name="object 24" descr=""/>
            <p:cNvSpPr/>
            <p:nvPr/>
          </p:nvSpPr>
          <p:spPr>
            <a:xfrm>
              <a:off x="6374557" y="2139675"/>
              <a:ext cx="0" cy="433705"/>
            </a:xfrm>
            <a:custGeom>
              <a:avLst/>
              <a:gdLst/>
              <a:ahLst/>
              <a:cxnLst/>
              <a:rect l="l" t="t" r="r" b="b"/>
              <a:pathLst>
                <a:path w="0" h="433705">
                  <a:moveTo>
                    <a:pt x="0" y="0"/>
                  </a:moveTo>
                  <a:lnTo>
                    <a:pt x="0" y="433580"/>
                  </a:lnTo>
                </a:path>
              </a:pathLst>
            </a:custGeom>
            <a:ln w="4758">
              <a:solidFill>
                <a:srgbClr val="000000"/>
              </a:solidFill>
            </a:ln>
          </p:spPr>
          <p:txBody>
            <a:bodyPr wrap="square" lIns="0" tIns="0" rIns="0" bIns="0" rtlCol="0"/>
            <a:lstStyle/>
            <a:p/>
          </p:txBody>
        </p:sp>
        <p:sp>
          <p:nvSpPr>
            <p:cNvPr id="25" name="object 25" descr=""/>
            <p:cNvSpPr/>
            <p:nvPr/>
          </p:nvSpPr>
          <p:spPr>
            <a:xfrm>
              <a:off x="6341245" y="2563166"/>
              <a:ext cx="66675" cy="121285"/>
            </a:xfrm>
            <a:custGeom>
              <a:avLst/>
              <a:gdLst/>
              <a:ahLst/>
              <a:cxnLst/>
              <a:rect l="l" t="t" r="r" b="b"/>
              <a:pathLst>
                <a:path w="66675" h="121285">
                  <a:moveTo>
                    <a:pt x="66623" y="0"/>
                  </a:moveTo>
                  <a:lnTo>
                    <a:pt x="0" y="0"/>
                  </a:lnTo>
                  <a:lnTo>
                    <a:pt x="33311" y="121066"/>
                  </a:lnTo>
                  <a:lnTo>
                    <a:pt x="66623" y="0"/>
                  </a:lnTo>
                  <a:close/>
                </a:path>
              </a:pathLst>
            </a:custGeom>
            <a:solidFill>
              <a:srgbClr val="000000"/>
            </a:solidFill>
          </p:spPr>
          <p:txBody>
            <a:bodyPr wrap="square" lIns="0" tIns="0" rIns="0" bIns="0" rtlCol="0"/>
            <a:lstStyle/>
            <a:p/>
          </p:txBody>
        </p:sp>
        <p:sp>
          <p:nvSpPr>
            <p:cNvPr id="26" name="object 26" descr=""/>
            <p:cNvSpPr/>
            <p:nvPr/>
          </p:nvSpPr>
          <p:spPr>
            <a:xfrm>
              <a:off x="5308504" y="3229031"/>
              <a:ext cx="504190" cy="910590"/>
            </a:xfrm>
            <a:custGeom>
              <a:avLst/>
              <a:gdLst/>
              <a:ahLst/>
              <a:cxnLst/>
              <a:rect l="l" t="t" r="r" b="b"/>
              <a:pathLst>
                <a:path w="504189" h="910589">
                  <a:moveTo>
                    <a:pt x="503997" y="0"/>
                  </a:moveTo>
                  <a:lnTo>
                    <a:pt x="0" y="0"/>
                  </a:lnTo>
                  <a:lnTo>
                    <a:pt x="0" y="910399"/>
                  </a:lnTo>
                </a:path>
              </a:pathLst>
            </a:custGeom>
            <a:ln w="4994">
              <a:solidFill>
                <a:srgbClr val="000000"/>
              </a:solidFill>
            </a:ln>
          </p:spPr>
          <p:txBody>
            <a:bodyPr wrap="square" lIns="0" tIns="0" rIns="0" bIns="0" rtlCol="0"/>
            <a:lstStyle/>
            <a:p/>
          </p:txBody>
        </p:sp>
        <p:sp>
          <p:nvSpPr>
            <p:cNvPr id="27" name="object 27" descr=""/>
            <p:cNvSpPr/>
            <p:nvPr/>
          </p:nvSpPr>
          <p:spPr>
            <a:xfrm>
              <a:off x="5275193" y="4129341"/>
              <a:ext cx="66675" cy="121285"/>
            </a:xfrm>
            <a:custGeom>
              <a:avLst/>
              <a:gdLst/>
              <a:ahLst/>
              <a:cxnLst/>
              <a:rect l="l" t="t" r="r" b="b"/>
              <a:pathLst>
                <a:path w="66675" h="121285">
                  <a:moveTo>
                    <a:pt x="66623" y="0"/>
                  </a:moveTo>
                  <a:lnTo>
                    <a:pt x="0" y="0"/>
                  </a:lnTo>
                  <a:lnTo>
                    <a:pt x="33311" y="121066"/>
                  </a:lnTo>
                  <a:lnTo>
                    <a:pt x="66623" y="0"/>
                  </a:lnTo>
                  <a:close/>
                </a:path>
              </a:pathLst>
            </a:custGeom>
            <a:solidFill>
              <a:srgbClr val="000000"/>
            </a:solidFill>
          </p:spPr>
          <p:txBody>
            <a:bodyPr wrap="square" lIns="0" tIns="0" rIns="0" bIns="0" rtlCol="0"/>
            <a:lstStyle/>
            <a:p/>
          </p:txBody>
        </p:sp>
        <p:sp>
          <p:nvSpPr>
            <p:cNvPr id="28" name="object 28" descr=""/>
            <p:cNvSpPr/>
            <p:nvPr/>
          </p:nvSpPr>
          <p:spPr>
            <a:xfrm>
              <a:off x="6936592" y="3229031"/>
              <a:ext cx="495934" cy="910590"/>
            </a:xfrm>
            <a:custGeom>
              <a:avLst/>
              <a:gdLst/>
              <a:ahLst/>
              <a:cxnLst/>
              <a:rect l="l" t="t" r="r" b="b"/>
              <a:pathLst>
                <a:path w="495934" h="910589">
                  <a:moveTo>
                    <a:pt x="0" y="0"/>
                  </a:moveTo>
                  <a:lnTo>
                    <a:pt x="495312" y="0"/>
                  </a:lnTo>
                  <a:lnTo>
                    <a:pt x="495312" y="910399"/>
                  </a:lnTo>
                </a:path>
              </a:pathLst>
            </a:custGeom>
            <a:ln w="4988">
              <a:solidFill>
                <a:srgbClr val="000000"/>
              </a:solidFill>
            </a:ln>
          </p:spPr>
          <p:txBody>
            <a:bodyPr wrap="square" lIns="0" tIns="0" rIns="0" bIns="0" rtlCol="0"/>
            <a:lstStyle/>
            <a:p/>
          </p:txBody>
        </p:sp>
        <p:sp>
          <p:nvSpPr>
            <p:cNvPr id="29" name="object 29" descr=""/>
            <p:cNvSpPr/>
            <p:nvPr/>
          </p:nvSpPr>
          <p:spPr>
            <a:xfrm>
              <a:off x="7398592" y="4129341"/>
              <a:ext cx="66675" cy="121285"/>
            </a:xfrm>
            <a:custGeom>
              <a:avLst/>
              <a:gdLst/>
              <a:ahLst/>
              <a:cxnLst/>
              <a:rect l="l" t="t" r="r" b="b"/>
              <a:pathLst>
                <a:path w="66675" h="121285">
                  <a:moveTo>
                    <a:pt x="66623" y="0"/>
                  </a:moveTo>
                  <a:lnTo>
                    <a:pt x="0" y="0"/>
                  </a:lnTo>
                  <a:lnTo>
                    <a:pt x="33311" y="121066"/>
                  </a:lnTo>
                  <a:lnTo>
                    <a:pt x="66623" y="0"/>
                  </a:lnTo>
                  <a:close/>
                </a:path>
              </a:pathLst>
            </a:custGeom>
            <a:solidFill>
              <a:srgbClr val="000000"/>
            </a:solidFill>
          </p:spPr>
          <p:txBody>
            <a:bodyPr wrap="square" lIns="0" tIns="0" rIns="0" bIns="0" rtlCol="0"/>
            <a:lstStyle/>
            <a:p/>
          </p:txBody>
        </p:sp>
        <p:sp>
          <p:nvSpPr>
            <p:cNvPr id="30" name="object 30" descr=""/>
            <p:cNvSpPr/>
            <p:nvPr/>
          </p:nvSpPr>
          <p:spPr>
            <a:xfrm>
              <a:off x="5250427" y="4727058"/>
              <a:ext cx="1124585" cy="538480"/>
            </a:xfrm>
            <a:custGeom>
              <a:avLst/>
              <a:gdLst/>
              <a:ahLst/>
              <a:cxnLst/>
              <a:rect l="l" t="t" r="r" b="b"/>
              <a:pathLst>
                <a:path w="1124585" h="538479">
                  <a:moveTo>
                    <a:pt x="0" y="0"/>
                  </a:moveTo>
                  <a:lnTo>
                    <a:pt x="0" y="340450"/>
                  </a:lnTo>
                  <a:lnTo>
                    <a:pt x="1124129" y="340450"/>
                  </a:lnTo>
                  <a:lnTo>
                    <a:pt x="1124129" y="538216"/>
                  </a:lnTo>
                </a:path>
              </a:pathLst>
            </a:custGeom>
            <a:ln w="16732">
              <a:solidFill>
                <a:srgbClr val="000000"/>
              </a:solidFill>
            </a:ln>
          </p:spPr>
          <p:txBody>
            <a:bodyPr wrap="square" lIns="0" tIns="0" rIns="0" bIns="0" rtlCol="0"/>
            <a:lstStyle/>
            <a:p/>
          </p:txBody>
        </p:sp>
        <p:sp>
          <p:nvSpPr>
            <p:cNvPr id="31" name="object 31" descr=""/>
            <p:cNvSpPr/>
            <p:nvPr/>
          </p:nvSpPr>
          <p:spPr>
            <a:xfrm>
              <a:off x="6331727" y="5252303"/>
              <a:ext cx="85725" cy="156210"/>
            </a:xfrm>
            <a:custGeom>
              <a:avLst/>
              <a:gdLst/>
              <a:ahLst/>
              <a:cxnLst/>
              <a:rect l="l" t="t" r="r" b="b"/>
              <a:pathLst>
                <a:path w="85725" h="156210">
                  <a:moveTo>
                    <a:pt x="85658" y="0"/>
                  </a:moveTo>
                  <a:lnTo>
                    <a:pt x="0" y="0"/>
                  </a:lnTo>
                  <a:lnTo>
                    <a:pt x="42829" y="155656"/>
                  </a:lnTo>
                  <a:lnTo>
                    <a:pt x="85658" y="0"/>
                  </a:lnTo>
                  <a:close/>
                </a:path>
              </a:pathLst>
            </a:custGeom>
            <a:solidFill>
              <a:srgbClr val="000000"/>
            </a:solidFill>
          </p:spPr>
          <p:txBody>
            <a:bodyPr wrap="square" lIns="0" tIns="0" rIns="0" bIns="0" rtlCol="0"/>
            <a:lstStyle/>
            <a:p/>
          </p:txBody>
        </p:sp>
        <p:sp>
          <p:nvSpPr>
            <p:cNvPr id="32" name="object 32" descr=""/>
            <p:cNvSpPr/>
            <p:nvPr/>
          </p:nvSpPr>
          <p:spPr>
            <a:xfrm>
              <a:off x="6374557" y="4727058"/>
              <a:ext cx="1124585" cy="538480"/>
            </a:xfrm>
            <a:custGeom>
              <a:avLst/>
              <a:gdLst/>
              <a:ahLst/>
              <a:cxnLst/>
              <a:rect l="l" t="t" r="r" b="b"/>
              <a:pathLst>
                <a:path w="1124584" h="538479">
                  <a:moveTo>
                    <a:pt x="1124169" y="0"/>
                  </a:moveTo>
                  <a:lnTo>
                    <a:pt x="1124169" y="340450"/>
                  </a:lnTo>
                  <a:lnTo>
                    <a:pt x="0" y="340450"/>
                  </a:lnTo>
                  <a:lnTo>
                    <a:pt x="0" y="538216"/>
                  </a:lnTo>
                </a:path>
              </a:pathLst>
            </a:custGeom>
            <a:ln w="16732">
              <a:solidFill>
                <a:srgbClr val="000000"/>
              </a:solidFill>
            </a:ln>
          </p:spPr>
          <p:txBody>
            <a:bodyPr wrap="square" lIns="0" tIns="0" rIns="0" bIns="0" rtlCol="0"/>
            <a:lstStyle/>
            <a:p/>
          </p:txBody>
        </p:sp>
        <p:sp>
          <p:nvSpPr>
            <p:cNvPr id="33" name="object 33" descr=""/>
            <p:cNvSpPr/>
            <p:nvPr/>
          </p:nvSpPr>
          <p:spPr>
            <a:xfrm>
              <a:off x="6331727" y="5252303"/>
              <a:ext cx="85725" cy="156210"/>
            </a:xfrm>
            <a:custGeom>
              <a:avLst/>
              <a:gdLst/>
              <a:ahLst/>
              <a:cxnLst/>
              <a:rect l="l" t="t" r="r" b="b"/>
              <a:pathLst>
                <a:path w="85725" h="156210">
                  <a:moveTo>
                    <a:pt x="85658" y="0"/>
                  </a:moveTo>
                  <a:lnTo>
                    <a:pt x="0" y="0"/>
                  </a:lnTo>
                  <a:lnTo>
                    <a:pt x="42829" y="155656"/>
                  </a:lnTo>
                  <a:lnTo>
                    <a:pt x="85658" y="0"/>
                  </a:lnTo>
                  <a:close/>
                </a:path>
              </a:pathLst>
            </a:custGeom>
            <a:solidFill>
              <a:srgbClr val="000000"/>
            </a:solidFill>
          </p:spPr>
          <p:txBody>
            <a:bodyPr wrap="square" lIns="0" tIns="0" rIns="0" bIns="0" rtlCol="0"/>
            <a:lstStyle/>
            <a:p/>
          </p:txBody>
        </p:sp>
      </p:grpSp>
      <p:sp>
        <p:nvSpPr>
          <p:cNvPr id="34" name="object 34" descr=""/>
          <p:cNvSpPr txBox="1"/>
          <p:nvPr/>
        </p:nvSpPr>
        <p:spPr>
          <a:xfrm>
            <a:off x="5364688" y="2844002"/>
            <a:ext cx="334010" cy="313690"/>
          </a:xfrm>
          <a:prstGeom prst="rect">
            <a:avLst/>
          </a:prstGeom>
        </p:spPr>
        <p:txBody>
          <a:bodyPr wrap="square" lIns="0" tIns="11430" rIns="0" bIns="0" rtlCol="0" vert="horz">
            <a:spAutoFit/>
          </a:bodyPr>
          <a:lstStyle/>
          <a:p>
            <a:pPr marL="12700">
              <a:lnSpc>
                <a:spcPct val="100000"/>
              </a:lnSpc>
              <a:spcBef>
                <a:spcPts val="90"/>
              </a:spcBef>
            </a:pPr>
            <a:r>
              <a:rPr dirty="0" sz="1900" spc="-125">
                <a:latin typeface="Times New Roman"/>
                <a:cs typeface="Times New Roman"/>
              </a:rPr>
              <a:t>true</a:t>
            </a:r>
            <a:endParaRPr sz="1900">
              <a:latin typeface="Times New Roman"/>
              <a:cs typeface="Times New Roman"/>
            </a:endParaRPr>
          </a:p>
        </p:txBody>
      </p:sp>
      <p:sp>
        <p:nvSpPr>
          <p:cNvPr id="35" name="object 35" descr=""/>
          <p:cNvSpPr txBox="1"/>
          <p:nvPr/>
        </p:nvSpPr>
        <p:spPr>
          <a:xfrm>
            <a:off x="7130305" y="2844002"/>
            <a:ext cx="400050" cy="313690"/>
          </a:xfrm>
          <a:prstGeom prst="rect">
            <a:avLst/>
          </a:prstGeom>
        </p:spPr>
        <p:txBody>
          <a:bodyPr wrap="square" lIns="0" tIns="11430" rIns="0" bIns="0" rtlCol="0" vert="horz">
            <a:spAutoFit/>
          </a:bodyPr>
          <a:lstStyle/>
          <a:p>
            <a:pPr marL="12700">
              <a:lnSpc>
                <a:spcPct val="100000"/>
              </a:lnSpc>
              <a:spcBef>
                <a:spcPts val="90"/>
              </a:spcBef>
            </a:pPr>
            <a:r>
              <a:rPr dirty="0" sz="1900" spc="-114">
                <a:latin typeface="Times New Roman"/>
                <a:cs typeface="Times New Roman"/>
              </a:rPr>
              <a:t>false</a:t>
            </a:r>
            <a:endParaRPr sz="1900">
              <a:latin typeface="Times New Roman"/>
              <a:cs typeface="Times New Roman"/>
            </a:endParaRPr>
          </a:p>
        </p:txBody>
      </p:sp>
      <p:sp>
        <p:nvSpPr>
          <p:cNvPr id="36" name="object 36" descr=""/>
          <p:cNvSpPr txBox="1"/>
          <p:nvPr/>
        </p:nvSpPr>
        <p:spPr>
          <a:xfrm>
            <a:off x="5362943" y="3943279"/>
            <a:ext cx="714375" cy="313690"/>
          </a:xfrm>
          <a:prstGeom prst="rect">
            <a:avLst/>
          </a:prstGeom>
        </p:spPr>
        <p:txBody>
          <a:bodyPr wrap="square" lIns="0" tIns="11430" rIns="0" bIns="0" rtlCol="0" vert="horz">
            <a:spAutoFit/>
          </a:bodyPr>
          <a:lstStyle/>
          <a:p>
            <a:pPr marL="12700">
              <a:lnSpc>
                <a:spcPct val="100000"/>
              </a:lnSpc>
              <a:spcBef>
                <a:spcPts val="90"/>
              </a:spcBef>
            </a:pPr>
            <a:r>
              <a:rPr dirty="0" sz="1900" spc="-210">
                <a:latin typeface="Times New Roman"/>
                <a:cs typeface="Times New Roman"/>
              </a:rPr>
              <a:t>then</a:t>
            </a:r>
            <a:r>
              <a:rPr dirty="0" sz="1900" spc="-210">
                <a:latin typeface="Cambria"/>
                <a:cs typeface="Cambria"/>
              </a:rPr>
              <a:t>◻</a:t>
            </a:r>
            <a:r>
              <a:rPr dirty="0" sz="1900">
                <a:latin typeface="Cambria"/>
                <a:cs typeface="Cambria"/>
              </a:rPr>
              <a:t> </a:t>
            </a:r>
            <a:r>
              <a:rPr dirty="0" sz="1900" spc="-490">
                <a:latin typeface="Cambria"/>
                <a:cs typeface="Cambria"/>
              </a:rPr>
              <a:t>◻</a:t>
            </a:r>
            <a:endParaRPr sz="1900">
              <a:latin typeface="Cambria"/>
              <a:cs typeface="Cambria"/>
            </a:endParaRPr>
          </a:p>
        </p:txBody>
      </p:sp>
      <p:sp>
        <p:nvSpPr>
          <p:cNvPr id="37" name="object 37" descr=""/>
          <p:cNvSpPr txBox="1"/>
          <p:nvPr/>
        </p:nvSpPr>
        <p:spPr>
          <a:xfrm>
            <a:off x="6693685" y="3943279"/>
            <a:ext cx="680720" cy="313690"/>
          </a:xfrm>
          <a:prstGeom prst="rect">
            <a:avLst/>
          </a:prstGeom>
        </p:spPr>
        <p:txBody>
          <a:bodyPr wrap="square" lIns="0" tIns="11430" rIns="0" bIns="0" rtlCol="0" vert="horz">
            <a:spAutoFit/>
          </a:bodyPr>
          <a:lstStyle/>
          <a:p>
            <a:pPr marL="12700">
              <a:lnSpc>
                <a:spcPct val="100000"/>
              </a:lnSpc>
              <a:spcBef>
                <a:spcPts val="90"/>
              </a:spcBef>
            </a:pPr>
            <a:r>
              <a:rPr dirty="0" sz="1900" spc="-200">
                <a:latin typeface="Times New Roman"/>
                <a:cs typeface="Times New Roman"/>
              </a:rPr>
              <a:t>else</a:t>
            </a:r>
            <a:r>
              <a:rPr dirty="0" sz="1900" spc="-200">
                <a:latin typeface="Cambria"/>
                <a:cs typeface="Cambria"/>
              </a:rPr>
              <a:t>◻</a:t>
            </a:r>
            <a:r>
              <a:rPr dirty="0" sz="1900" spc="5">
                <a:latin typeface="Cambria"/>
                <a:cs typeface="Cambria"/>
              </a:rPr>
              <a:t> </a:t>
            </a:r>
            <a:r>
              <a:rPr dirty="0" sz="1900" spc="-490">
                <a:latin typeface="Cambria"/>
                <a:cs typeface="Cambria"/>
              </a:rPr>
              <a:t>◻</a:t>
            </a:r>
            <a:endParaRPr sz="1900">
              <a:latin typeface="Cambria"/>
              <a:cs typeface="Cambria"/>
            </a:endParaRPr>
          </a:p>
        </p:txBody>
      </p:sp>
      <p:sp>
        <p:nvSpPr>
          <p:cNvPr id="38" name="object 38" descr=""/>
          <p:cNvSpPr/>
          <p:nvPr/>
        </p:nvSpPr>
        <p:spPr>
          <a:xfrm>
            <a:off x="8848284" y="92630"/>
            <a:ext cx="1274445" cy="196215"/>
          </a:xfrm>
          <a:custGeom>
            <a:avLst/>
            <a:gdLst/>
            <a:ahLst/>
            <a:cxnLst/>
            <a:rect l="l" t="t" r="r" b="b"/>
            <a:pathLst>
              <a:path w="1274445" h="196215">
                <a:moveTo>
                  <a:pt x="0" y="196083"/>
                </a:moveTo>
                <a:lnTo>
                  <a:pt x="1274263" y="196083"/>
                </a:lnTo>
                <a:lnTo>
                  <a:pt x="1274263" y="0"/>
                </a:lnTo>
                <a:lnTo>
                  <a:pt x="0" y="0"/>
                </a:lnTo>
                <a:lnTo>
                  <a:pt x="0" y="196083"/>
                </a:lnTo>
                <a:close/>
              </a:path>
            </a:pathLst>
          </a:custGeom>
          <a:ln w="7199">
            <a:solidFill>
              <a:srgbClr val="000000"/>
            </a:solidFill>
          </a:ln>
        </p:spPr>
        <p:txBody>
          <a:bodyPr wrap="square" lIns="0" tIns="0" rIns="0" bIns="0" rtlCol="0"/>
          <a:lstStyle/>
          <a:p/>
        </p:txBody>
      </p:sp>
      <p:sp>
        <p:nvSpPr>
          <p:cNvPr id="39" name="object 39" descr=""/>
          <p:cNvSpPr txBox="1"/>
          <p:nvPr/>
        </p:nvSpPr>
        <p:spPr>
          <a:xfrm>
            <a:off x="8943037" y="108813"/>
            <a:ext cx="1085215" cy="144145"/>
          </a:xfrm>
          <a:prstGeom prst="rect">
            <a:avLst/>
          </a:prstGeom>
        </p:spPr>
        <p:txBody>
          <a:bodyPr wrap="square" lIns="0" tIns="15875" rIns="0" bIns="0" rtlCol="0" vert="horz">
            <a:spAutoFit/>
          </a:bodyPr>
          <a:lstStyle/>
          <a:p>
            <a:pPr marL="12700">
              <a:lnSpc>
                <a:spcPct val="100000"/>
              </a:lnSpc>
              <a:spcBef>
                <a:spcPts val="125"/>
              </a:spcBef>
            </a:pPr>
            <a:r>
              <a:rPr dirty="0" sz="750" spc="175">
                <a:latin typeface="Times New Roman"/>
                <a:cs typeface="Times New Roman"/>
              </a:rPr>
              <a:t>A[i]</a:t>
            </a:r>
            <a:r>
              <a:rPr dirty="0" sz="750" spc="105">
                <a:latin typeface="Times New Roman"/>
                <a:cs typeface="Times New Roman"/>
              </a:rPr>
              <a:t> </a:t>
            </a:r>
            <a:r>
              <a:rPr dirty="0" sz="750" spc="235">
                <a:latin typeface="Times New Roman"/>
                <a:cs typeface="Times New Roman"/>
              </a:rPr>
              <a:t>=</a:t>
            </a:r>
            <a:r>
              <a:rPr dirty="0" sz="750" spc="105">
                <a:latin typeface="Times New Roman"/>
                <a:cs typeface="Times New Roman"/>
              </a:rPr>
              <a:t> </a:t>
            </a:r>
            <a:r>
              <a:rPr dirty="0" sz="750" spc="175">
                <a:latin typeface="Times New Roman"/>
                <a:cs typeface="Times New Roman"/>
              </a:rPr>
              <a:t>A[i]</a:t>
            </a:r>
            <a:r>
              <a:rPr dirty="0" sz="750" spc="110">
                <a:latin typeface="Times New Roman"/>
                <a:cs typeface="Times New Roman"/>
              </a:rPr>
              <a:t> </a:t>
            </a:r>
            <a:r>
              <a:rPr dirty="0" sz="750" spc="235">
                <a:latin typeface="Times New Roman"/>
                <a:cs typeface="Times New Roman"/>
              </a:rPr>
              <a:t>+</a:t>
            </a:r>
            <a:r>
              <a:rPr dirty="0" sz="750" spc="105">
                <a:latin typeface="Times New Roman"/>
                <a:cs typeface="Times New Roman"/>
              </a:rPr>
              <a:t> </a:t>
            </a:r>
            <a:r>
              <a:rPr dirty="0" sz="750" spc="150">
                <a:latin typeface="Times New Roman"/>
                <a:cs typeface="Times New Roman"/>
              </a:rPr>
              <a:t>B[i]</a:t>
            </a:r>
            <a:endParaRPr sz="750">
              <a:latin typeface="Times New Roman"/>
              <a:cs typeface="Times New Roman"/>
            </a:endParaRPr>
          </a:p>
        </p:txBody>
      </p:sp>
      <p:grpSp>
        <p:nvGrpSpPr>
          <p:cNvPr id="40" name="object 40" descr=""/>
          <p:cNvGrpSpPr/>
          <p:nvPr/>
        </p:nvGrpSpPr>
        <p:grpSpPr>
          <a:xfrm>
            <a:off x="9056213" y="424392"/>
            <a:ext cx="858519" cy="429259"/>
            <a:chOff x="9056213" y="424392"/>
            <a:chExt cx="858519" cy="429259"/>
          </a:xfrm>
        </p:grpSpPr>
        <p:sp>
          <p:nvSpPr>
            <p:cNvPr id="41" name="object 41" descr=""/>
            <p:cNvSpPr/>
            <p:nvPr/>
          </p:nvSpPr>
          <p:spPr>
            <a:xfrm>
              <a:off x="9060658" y="428837"/>
              <a:ext cx="849630" cy="420370"/>
            </a:xfrm>
            <a:custGeom>
              <a:avLst/>
              <a:gdLst/>
              <a:ahLst/>
              <a:cxnLst/>
              <a:rect l="l" t="t" r="r" b="b"/>
              <a:pathLst>
                <a:path w="849629" h="420369">
                  <a:moveTo>
                    <a:pt x="424749" y="0"/>
                  </a:moveTo>
                  <a:lnTo>
                    <a:pt x="0" y="224019"/>
                  </a:lnTo>
                  <a:lnTo>
                    <a:pt x="424749" y="420172"/>
                  </a:lnTo>
                  <a:lnTo>
                    <a:pt x="849498" y="224019"/>
                  </a:lnTo>
                  <a:lnTo>
                    <a:pt x="424749" y="0"/>
                  </a:lnTo>
                  <a:close/>
                </a:path>
              </a:pathLst>
            </a:custGeom>
            <a:solidFill>
              <a:srgbClr val="FFFFFF"/>
            </a:solidFill>
          </p:spPr>
          <p:txBody>
            <a:bodyPr wrap="square" lIns="0" tIns="0" rIns="0" bIns="0" rtlCol="0"/>
            <a:lstStyle/>
            <a:p/>
          </p:txBody>
        </p:sp>
        <p:sp>
          <p:nvSpPr>
            <p:cNvPr id="42" name="object 42" descr=""/>
            <p:cNvSpPr/>
            <p:nvPr/>
          </p:nvSpPr>
          <p:spPr>
            <a:xfrm>
              <a:off x="9060658" y="428837"/>
              <a:ext cx="849630" cy="420370"/>
            </a:xfrm>
            <a:custGeom>
              <a:avLst/>
              <a:gdLst/>
              <a:ahLst/>
              <a:cxnLst/>
              <a:rect l="l" t="t" r="r" b="b"/>
              <a:pathLst>
                <a:path w="849629" h="420369">
                  <a:moveTo>
                    <a:pt x="424749" y="0"/>
                  </a:moveTo>
                  <a:lnTo>
                    <a:pt x="0" y="224019"/>
                  </a:lnTo>
                  <a:lnTo>
                    <a:pt x="424749" y="420172"/>
                  </a:lnTo>
                  <a:lnTo>
                    <a:pt x="849498" y="224019"/>
                  </a:lnTo>
                  <a:lnTo>
                    <a:pt x="424749" y="0"/>
                  </a:lnTo>
                  <a:close/>
                </a:path>
              </a:pathLst>
            </a:custGeom>
            <a:ln w="7837">
              <a:solidFill>
                <a:srgbClr val="000000"/>
              </a:solidFill>
            </a:ln>
          </p:spPr>
          <p:txBody>
            <a:bodyPr wrap="square" lIns="0" tIns="0" rIns="0" bIns="0" rtlCol="0"/>
            <a:lstStyle/>
            <a:p/>
          </p:txBody>
        </p:sp>
      </p:grpSp>
      <p:sp>
        <p:nvSpPr>
          <p:cNvPr id="43" name="object 43" descr=""/>
          <p:cNvSpPr txBox="1"/>
          <p:nvPr/>
        </p:nvSpPr>
        <p:spPr>
          <a:xfrm>
            <a:off x="9197519" y="557050"/>
            <a:ext cx="575945" cy="144145"/>
          </a:xfrm>
          <a:prstGeom prst="rect">
            <a:avLst/>
          </a:prstGeom>
        </p:spPr>
        <p:txBody>
          <a:bodyPr wrap="square" lIns="0" tIns="15875" rIns="0" bIns="0" rtlCol="0" vert="horz">
            <a:spAutoFit/>
          </a:bodyPr>
          <a:lstStyle/>
          <a:p>
            <a:pPr marL="12700">
              <a:lnSpc>
                <a:spcPct val="100000"/>
              </a:lnSpc>
              <a:spcBef>
                <a:spcPts val="125"/>
              </a:spcBef>
            </a:pPr>
            <a:r>
              <a:rPr dirty="0" sz="750" spc="175">
                <a:latin typeface="Times New Roman"/>
                <a:cs typeface="Times New Roman"/>
              </a:rPr>
              <a:t>A[i]</a:t>
            </a:r>
            <a:r>
              <a:rPr dirty="0" sz="750" spc="105">
                <a:latin typeface="Times New Roman"/>
                <a:cs typeface="Times New Roman"/>
              </a:rPr>
              <a:t> </a:t>
            </a:r>
            <a:r>
              <a:rPr dirty="0" sz="750" spc="235">
                <a:latin typeface="Times New Roman"/>
                <a:cs typeface="Times New Roman"/>
              </a:rPr>
              <a:t>=</a:t>
            </a:r>
            <a:r>
              <a:rPr dirty="0" sz="750" spc="105">
                <a:latin typeface="Times New Roman"/>
                <a:cs typeface="Times New Roman"/>
              </a:rPr>
              <a:t> </a:t>
            </a:r>
            <a:r>
              <a:rPr dirty="0" sz="750" spc="170">
                <a:latin typeface="Times New Roman"/>
                <a:cs typeface="Times New Roman"/>
              </a:rPr>
              <a:t>0?</a:t>
            </a:r>
            <a:endParaRPr sz="750">
              <a:latin typeface="Times New Roman"/>
              <a:cs typeface="Times New Roman"/>
            </a:endParaRPr>
          </a:p>
        </p:txBody>
      </p:sp>
      <p:sp>
        <p:nvSpPr>
          <p:cNvPr id="44" name="object 44" descr=""/>
          <p:cNvSpPr txBox="1"/>
          <p:nvPr/>
        </p:nvSpPr>
        <p:spPr>
          <a:xfrm>
            <a:off x="8211145" y="890977"/>
            <a:ext cx="849630" cy="196215"/>
          </a:xfrm>
          <a:prstGeom prst="rect">
            <a:avLst/>
          </a:prstGeom>
          <a:ln w="7515">
            <a:solidFill>
              <a:srgbClr val="000000"/>
            </a:solidFill>
          </a:ln>
        </p:spPr>
        <p:txBody>
          <a:bodyPr wrap="square" lIns="0" tIns="32384" rIns="0" bIns="0" rtlCol="0" vert="horz">
            <a:spAutoFit/>
          </a:bodyPr>
          <a:lstStyle/>
          <a:p>
            <a:pPr marL="242570">
              <a:lnSpc>
                <a:spcPct val="100000"/>
              </a:lnSpc>
              <a:spcBef>
                <a:spcPts val="254"/>
              </a:spcBef>
            </a:pPr>
            <a:r>
              <a:rPr dirty="0" sz="750" spc="170">
                <a:latin typeface="Times New Roman"/>
                <a:cs typeface="Times New Roman"/>
              </a:rPr>
              <a:t>B[i]</a:t>
            </a:r>
            <a:r>
              <a:rPr dirty="0" sz="750" spc="100">
                <a:latin typeface="Times New Roman"/>
                <a:cs typeface="Times New Roman"/>
              </a:rPr>
              <a:t> </a:t>
            </a:r>
            <a:r>
              <a:rPr dirty="0" sz="750" spc="185">
                <a:latin typeface="Times New Roman"/>
                <a:cs typeface="Times New Roman"/>
              </a:rPr>
              <a:t>=</a:t>
            </a:r>
            <a:endParaRPr sz="750">
              <a:latin typeface="Times New Roman"/>
              <a:cs typeface="Times New Roman"/>
            </a:endParaRPr>
          </a:p>
        </p:txBody>
      </p:sp>
      <p:sp>
        <p:nvSpPr>
          <p:cNvPr id="45" name="object 45" descr=""/>
          <p:cNvSpPr txBox="1"/>
          <p:nvPr/>
        </p:nvSpPr>
        <p:spPr>
          <a:xfrm>
            <a:off x="8211145" y="1269152"/>
            <a:ext cx="849630" cy="196215"/>
          </a:xfrm>
          <a:prstGeom prst="rect">
            <a:avLst/>
          </a:prstGeom>
          <a:ln w="7515">
            <a:solidFill>
              <a:srgbClr val="000000"/>
            </a:solidFill>
          </a:ln>
        </p:spPr>
        <p:txBody>
          <a:bodyPr wrap="square" lIns="0" tIns="32384" rIns="0" bIns="0" rtlCol="0" vert="horz">
            <a:spAutoFit/>
          </a:bodyPr>
          <a:lstStyle/>
          <a:p>
            <a:pPr marL="242570">
              <a:lnSpc>
                <a:spcPct val="100000"/>
              </a:lnSpc>
              <a:spcBef>
                <a:spcPts val="254"/>
              </a:spcBef>
            </a:pPr>
            <a:r>
              <a:rPr dirty="0" sz="750" spc="170">
                <a:latin typeface="Times New Roman"/>
                <a:cs typeface="Times New Roman"/>
              </a:rPr>
              <a:t>C[i]</a:t>
            </a:r>
            <a:r>
              <a:rPr dirty="0" sz="750" spc="100">
                <a:latin typeface="Times New Roman"/>
                <a:cs typeface="Times New Roman"/>
              </a:rPr>
              <a:t> </a:t>
            </a:r>
            <a:r>
              <a:rPr dirty="0" sz="750" spc="185">
                <a:latin typeface="Times New Roman"/>
                <a:cs typeface="Times New Roman"/>
              </a:rPr>
              <a:t>=</a:t>
            </a:r>
            <a:endParaRPr sz="750">
              <a:latin typeface="Times New Roman"/>
              <a:cs typeface="Times New Roman"/>
            </a:endParaRPr>
          </a:p>
        </p:txBody>
      </p:sp>
      <p:grpSp>
        <p:nvGrpSpPr>
          <p:cNvPr id="46" name="object 46" descr=""/>
          <p:cNvGrpSpPr/>
          <p:nvPr/>
        </p:nvGrpSpPr>
        <p:grpSpPr>
          <a:xfrm>
            <a:off x="8610720" y="286809"/>
            <a:ext cx="900430" cy="604520"/>
            <a:chOff x="8610720" y="286809"/>
            <a:chExt cx="900430" cy="604520"/>
          </a:xfrm>
        </p:grpSpPr>
        <p:sp>
          <p:nvSpPr>
            <p:cNvPr id="47" name="object 47" descr=""/>
            <p:cNvSpPr/>
            <p:nvPr/>
          </p:nvSpPr>
          <p:spPr>
            <a:xfrm>
              <a:off x="9485408" y="288714"/>
              <a:ext cx="0" cy="94615"/>
            </a:xfrm>
            <a:custGeom>
              <a:avLst/>
              <a:gdLst/>
              <a:ahLst/>
              <a:cxnLst/>
              <a:rect l="l" t="t" r="r" b="b"/>
              <a:pathLst>
                <a:path w="0" h="94614">
                  <a:moveTo>
                    <a:pt x="0" y="0"/>
                  </a:moveTo>
                  <a:lnTo>
                    <a:pt x="0" y="94469"/>
                  </a:lnTo>
                </a:path>
              </a:pathLst>
            </a:custGeom>
            <a:ln w="3596">
              <a:solidFill>
                <a:srgbClr val="000000"/>
              </a:solidFill>
            </a:ln>
          </p:spPr>
          <p:txBody>
            <a:bodyPr wrap="square" lIns="0" tIns="0" rIns="0" bIns="0" rtlCol="0"/>
            <a:lstStyle/>
            <a:p/>
          </p:txBody>
        </p:sp>
        <p:sp>
          <p:nvSpPr>
            <p:cNvPr id="48" name="object 48" descr=""/>
            <p:cNvSpPr/>
            <p:nvPr/>
          </p:nvSpPr>
          <p:spPr>
            <a:xfrm>
              <a:off x="9460234" y="379033"/>
              <a:ext cx="50800" cy="50165"/>
            </a:xfrm>
            <a:custGeom>
              <a:avLst/>
              <a:gdLst/>
              <a:ahLst/>
              <a:cxnLst/>
              <a:rect l="l" t="t" r="r" b="b"/>
              <a:pathLst>
                <a:path w="50800" h="50165">
                  <a:moveTo>
                    <a:pt x="50347" y="0"/>
                  </a:moveTo>
                  <a:lnTo>
                    <a:pt x="0" y="0"/>
                  </a:lnTo>
                  <a:lnTo>
                    <a:pt x="25173" y="49804"/>
                  </a:lnTo>
                  <a:lnTo>
                    <a:pt x="50347" y="0"/>
                  </a:lnTo>
                  <a:close/>
                </a:path>
              </a:pathLst>
            </a:custGeom>
            <a:solidFill>
              <a:srgbClr val="000000"/>
            </a:solidFill>
          </p:spPr>
          <p:txBody>
            <a:bodyPr wrap="square" lIns="0" tIns="0" rIns="0" bIns="0" rtlCol="0"/>
            <a:lstStyle/>
            <a:p/>
          </p:txBody>
        </p:sp>
        <p:sp>
          <p:nvSpPr>
            <p:cNvPr id="49" name="object 49" descr=""/>
            <p:cNvSpPr/>
            <p:nvPr/>
          </p:nvSpPr>
          <p:spPr>
            <a:xfrm>
              <a:off x="8635894" y="652856"/>
              <a:ext cx="424815" cy="193040"/>
            </a:xfrm>
            <a:custGeom>
              <a:avLst/>
              <a:gdLst/>
              <a:ahLst/>
              <a:cxnLst/>
              <a:rect l="l" t="t" r="r" b="b"/>
              <a:pathLst>
                <a:path w="424815" h="193040">
                  <a:moveTo>
                    <a:pt x="424764" y="0"/>
                  </a:moveTo>
                  <a:lnTo>
                    <a:pt x="0" y="0"/>
                  </a:lnTo>
                  <a:lnTo>
                    <a:pt x="0" y="192496"/>
                  </a:lnTo>
                </a:path>
              </a:pathLst>
            </a:custGeom>
            <a:ln w="3175">
              <a:solidFill>
                <a:srgbClr val="000000"/>
              </a:solidFill>
            </a:ln>
          </p:spPr>
          <p:txBody>
            <a:bodyPr wrap="square" lIns="0" tIns="0" rIns="0" bIns="0" rtlCol="0"/>
            <a:lstStyle/>
            <a:p/>
          </p:txBody>
        </p:sp>
        <p:sp>
          <p:nvSpPr>
            <p:cNvPr id="50" name="object 50" descr=""/>
            <p:cNvSpPr/>
            <p:nvPr/>
          </p:nvSpPr>
          <p:spPr>
            <a:xfrm>
              <a:off x="8610720" y="841203"/>
              <a:ext cx="50800" cy="50165"/>
            </a:xfrm>
            <a:custGeom>
              <a:avLst/>
              <a:gdLst/>
              <a:ahLst/>
              <a:cxnLst/>
              <a:rect l="l" t="t" r="r" b="b"/>
              <a:pathLst>
                <a:path w="50800" h="50165">
                  <a:moveTo>
                    <a:pt x="50347" y="0"/>
                  </a:moveTo>
                  <a:lnTo>
                    <a:pt x="0" y="0"/>
                  </a:lnTo>
                  <a:lnTo>
                    <a:pt x="25173" y="49804"/>
                  </a:lnTo>
                  <a:lnTo>
                    <a:pt x="50347" y="0"/>
                  </a:lnTo>
                  <a:close/>
                </a:path>
              </a:pathLst>
            </a:custGeom>
            <a:solidFill>
              <a:srgbClr val="000000"/>
            </a:solidFill>
          </p:spPr>
          <p:txBody>
            <a:bodyPr wrap="square" lIns="0" tIns="0" rIns="0" bIns="0" rtlCol="0"/>
            <a:lstStyle/>
            <a:p/>
          </p:txBody>
        </p:sp>
      </p:grpSp>
      <p:sp>
        <p:nvSpPr>
          <p:cNvPr id="51" name="object 51" descr=""/>
          <p:cNvSpPr txBox="1"/>
          <p:nvPr/>
        </p:nvSpPr>
        <p:spPr>
          <a:xfrm>
            <a:off x="8718975" y="486988"/>
            <a:ext cx="258445" cy="144145"/>
          </a:xfrm>
          <a:prstGeom prst="rect">
            <a:avLst/>
          </a:prstGeom>
        </p:spPr>
        <p:txBody>
          <a:bodyPr wrap="square" lIns="0" tIns="15875" rIns="0" bIns="0" rtlCol="0" vert="horz">
            <a:spAutoFit/>
          </a:bodyPr>
          <a:lstStyle/>
          <a:p>
            <a:pPr marL="12700">
              <a:lnSpc>
                <a:spcPct val="100000"/>
              </a:lnSpc>
              <a:spcBef>
                <a:spcPts val="125"/>
              </a:spcBef>
            </a:pPr>
            <a:r>
              <a:rPr dirty="0" sz="750" spc="140">
                <a:latin typeface="Times New Roman"/>
                <a:cs typeface="Times New Roman"/>
              </a:rPr>
              <a:t>true</a:t>
            </a:r>
            <a:endParaRPr sz="750">
              <a:latin typeface="Times New Roman"/>
              <a:cs typeface="Times New Roman"/>
            </a:endParaRPr>
          </a:p>
        </p:txBody>
      </p:sp>
      <p:grpSp>
        <p:nvGrpSpPr>
          <p:cNvPr id="52" name="object 52" descr=""/>
          <p:cNvGrpSpPr/>
          <p:nvPr/>
        </p:nvGrpSpPr>
        <p:grpSpPr>
          <a:xfrm>
            <a:off x="9908887" y="636255"/>
            <a:ext cx="1275715" cy="33655"/>
            <a:chOff x="9908887" y="636255"/>
            <a:chExt cx="1275715" cy="33655"/>
          </a:xfrm>
        </p:grpSpPr>
        <p:sp>
          <p:nvSpPr>
            <p:cNvPr id="53" name="object 53" descr=""/>
            <p:cNvSpPr/>
            <p:nvPr/>
          </p:nvSpPr>
          <p:spPr>
            <a:xfrm>
              <a:off x="9910157" y="652856"/>
              <a:ext cx="1205230" cy="0"/>
            </a:xfrm>
            <a:custGeom>
              <a:avLst/>
              <a:gdLst/>
              <a:ahLst/>
              <a:cxnLst/>
              <a:rect l="l" t="t" r="r" b="b"/>
              <a:pathLst>
                <a:path w="1205229" h="0">
                  <a:moveTo>
                    <a:pt x="0" y="0"/>
                  </a:moveTo>
                  <a:lnTo>
                    <a:pt x="1205049" y="0"/>
                  </a:lnTo>
                </a:path>
              </a:pathLst>
            </a:custGeom>
            <a:ln w="3175">
              <a:solidFill>
                <a:srgbClr val="000000"/>
              </a:solidFill>
            </a:ln>
          </p:spPr>
          <p:txBody>
            <a:bodyPr wrap="square" lIns="0" tIns="0" rIns="0" bIns="0" rtlCol="0"/>
            <a:lstStyle/>
            <a:p/>
          </p:txBody>
        </p:sp>
        <p:sp>
          <p:nvSpPr>
            <p:cNvPr id="54" name="object 54" descr=""/>
            <p:cNvSpPr/>
            <p:nvPr/>
          </p:nvSpPr>
          <p:spPr>
            <a:xfrm>
              <a:off x="11108913" y="636255"/>
              <a:ext cx="75565" cy="33655"/>
            </a:xfrm>
            <a:custGeom>
              <a:avLst/>
              <a:gdLst/>
              <a:ahLst/>
              <a:cxnLst/>
              <a:rect l="l" t="t" r="r" b="b"/>
              <a:pathLst>
                <a:path w="75565" h="33654">
                  <a:moveTo>
                    <a:pt x="0" y="0"/>
                  </a:moveTo>
                  <a:lnTo>
                    <a:pt x="0" y="33202"/>
                  </a:lnTo>
                  <a:lnTo>
                    <a:pt x="75521" y="16601"/>
                  </a:lnTo>
                  <a:lnTo>
                    <a:pt x="0" y="0"/>
                  </a:lnTo>
                  <a:close/>
                </a:path>
              </a:pathLst>
            </a:custGeom>
            <a:solidFill>
              <a:srgbClr val="000000"/>
            </a:solidFill>
          </p:spPr>
          <p:txBody>
            <a:bodyPr wrap="square" lIns="0" tIns="0" rIns="0" bIns="0" rtlCol="0"/>
            <a:lstStyle/>
            <a:p/>
          </p:txBody>
        </p:sp>
      </p:grpSp>
      <p:sp>
        <p:nvSpPr>
          <p:cNvPr id="55" name="object 55" descr=""/>
          <p:cNvSpPr txBox="1"/>
          <p:nvPr/>
        </p:nvSpPr>
        <p:spPr>
          <a:xfrm>
            <a:off x="9968334" y="486988"/>
            <a:ext cx="308610" cy="144145"/>
          </a:xfrm>
          <a:prstGeom prst="rect">
            <a:avLst/>
          </a:prstGeom>
        </p:spPr>
        <p:txBody>
          <a:bodyPr wrap="square" lIns="0" tIns="15875" rIns="0" bIns="0" rtlCol="0" vert="horz">
            <a:spAutoFit/>
          </a:bodyPr>
          <a:lstStyle/>
          <a:p>
            <a:pPr marL="12700">
              <a:lnSpc>
                <a:spcPct val="100000"/>
              </a:lnSpc>
              <a:spcBef>
                <a:spcPts val="125"/>
              </a:spcBef>
            </a:pPr>
            <a:r>
              <a:rPr dirty="0" sz="750" spc="145">
                <a:latin typeface="Times New Roman"/>
                <a:cs typeface="Times New Roman"/>
              </a:rPr>
              <a:t>false</a:t>
            </a:r>
            <a:endParaRPr sz="750">
              <a:latin typeface="Times New Roman"/>
              <a:cs typeface="Times New Roman"/>
            </a:endParaRPr>
          </a:p>
        </p:txBody>
      </p:sp>
      <p:sp>
        <p:nvSpPr>
          <p:cNvPr id="56" name="object 56" descr=""/>
          <p:cNvSpPr txBox="1"/>
          <p:nvPr/>
        </p:nvSpPr>
        <p:spPr>
          <a:xfrm>
            <a:off x="11301201" y="588672"/>
            <a:ext cx="579120" cy="144145"/>
          </a:xfrm>
          <a:prstGeom prst="rect">
            <a:avLst/>
          </a:prstGeom>
        </p:spPr>
        <p:txBody>
          <a:bodyPr wrap="square" lIns="0" tIns="15875" rIns="0" bIns="0" rtlCol="0" vert="horz">
            <a:spAutoFit/>
          </a:bodyPr>
          <a:lstStyle/>
          <a:p>
            <a:pPr marL="12700">
              <a:lnSpc>
                <a:spcPct val="100000"/>
              </a:lnSpc>
              <a:spcBef>
                <a:spcPts val="125"/>
              </a:spcBef>
            </a:pPr>
            <a:r>
              <a:rPr dirty="0" sz="750" spc="175">
                <a:latin typeface="Times New Roman"/>
                <a:cs typeface="Times New Roman"/>
              </a:rPr>
              <a:t>trace</a:t>
            </a:r>
            <a:r>
              <a:rPr dirty="0" sz="750" spc="175">
                <a:latin typeface="Cambria"/>
                <a:cs typeface="Cambria"/>
              </a:rPr>
              <a:t>◻</a:t>
            </a:r>
            <a:r>
              <a:rPr dirty="0" sz="750" spc="135">
                <a:latin typeface="Cambria"/>
                <a:cs typeface="Cambria"/>
              </a:rPr>
              <a:t> </a:t>
            </a:r>
            <a:r>
              <a:rPr dirty="0" sz="750" spc="204">
                <a:latin typeface="Cambria"/>
                <a:cs typeface="Cambria"/>
              </a:rPr>
              <a:t>◻</a:t>
            </a:r>
            <a:endParaRPr sz="750">
              <a:latin typeface="Cambria"/>
              <a:cs typeface="Cambria"/>
            </a:endParaRPr>
          </a:p>
        </p:txBody>
      </p:sp>
      <p:sp>
        <p:nvSpPr>
          <p:cNvPr id="57" name="object 57" descr=""/>
          <p:cNvSpPr/>
          <p:nvPr/>
        </p:nvSpPr>
        <p:spPr>
          <a:xfrm>
            <a:off x="8848284" y="1690906"/>
            <a:ext cx="1274445" cy="196215"/>
          </a:xfrm>
          <a:custGeom>
            <a:avLst/>
            <a:gdLst/>
            <a:ahLst/>
            <a:cxnLst/>
            <a:rect l="l" t="t" r="r" b="b"/>
            <a:pathLst>
              <a:path w="1274445" h="196214">
                <a:moveTo>
                  <a:pt x="0" y="196083"/>
                </a:moveTo>
                <a:lnTo>
                  <a:pt x="1274263" y="196083"/>
                </a:lnTo>
                <a:lnTo>
                  <a:pt x="1274263" y="0"/>
                </a:lnTo>
                <a:lnTo>
                  <a:pt x="0" y="0"/>
                </a:lnTo>
                <a:lnTo>
                  <a:pt x="0" y="196083"/>
                </a:lnTo>
                <a:close/>
              </a:path>
            </a:pathLst>
          </a:custGeom>
          <a:ln w="7199">
            <a:solidFill>
              <a:srgbClr val="000000"/>
            </a:solidFill>
          </a:ln>
        </p:spPr>
        <p:txBody>
          <a:bodyPr wrap="square" lIns="0" tIns="0" rIns="0" bIns="0" rtlCol="0"/>
          <a:lstStyle/>
          <a:p/>
        </p:txBody>
      </p:sp>
      <p:sp>
        <p:nvSpPr>
          <p:cNvPr id="58" name="object 58" descr=""/>
          <p:cNvSpPr txBox="1"/>
          <p:nvPr/>
        </p:nvSpPr>
        <p:spPr>
          <a:xfrm>
            <a:off x="8943037" y="1706991"/>
            <a:ext cx="1085215" cy="144145"/>
          </a:xfrm>
          <a:prstGeom prst="rect">
            <a:avLst/>
          </a:prstGeom>
        </p:spPr>
        <p:txBody>
          <a:bodyPr wrap="square" lIns="0" tIns="15875" rIns="0" bIns="0" rtlCol="0" vert="horz">
            <a:spAutoFit/>
          </a:bodyPr>
          <a:lstStyle/>
          <a:p>
            <a:pPr marL="12700">
              <a:lnSpc>
                <a:spcPct val="100000"/>
              </a:lnSpc>
              <a:spcBef>
                <a:spcPts val="125"/>
              </a:spcBef>
            </a:pPr>
            <a:r>
              <a:rPr dirty="0" sz="750" spc="175">
                <a:latin typeface="Times New Roman"/>
                <a:cs typeface="Times New Roman"/>
              </a:rPr>
              <a:t>A[i]</a:t>
            </a:r>
            <a:r>
              <a:rPr dirty="0" sz="750" spc="105">
                <a:latin typeface="Times New Roman"/>
                <a:cs typeface="Times New Roman"/>
              </a:rPr>
              <a:t> </a:t>
            </a:r>
            <a:r>
              <a:rPr dirty="0" sz="750" spc="235">
                <a:latin typeface="Times New Roman"/>
                <a:cs typeface="Times New Roman"/>
              </a:rPr>
              <a:t>=</a:t>
            </a:r>
            <a:r>
              <a:rPr dirty="0" sz="750" spc="105">
                <a:latin typeface="Times New Roman"/>
                <a:cs typeface="Times New Roman"/>
              </a:rPr>
              <a:t> </a:t>
            </a:r>
            <a:r>
              <a:rPr dirty="0" sz="750" spc="175">
                <a:latin typeface="Times New Roman"/>
                <a:cs typeface="Times New Roman"/>
              </a:rPr>
              <a:t>A[i]</a:t>
            </a:r>
            <a:r>
              <a:rPr dirty="0" sz="750" spc="110">
                <a:latin typeface="Times New Roman"/>
                <a:cs typeface="Times New Roman"/>
              </a:rPr>
              <a:t> </a:t>
            </a:r>
            <a:r>
              <a:rPr dirty="0" sz="750" spc="235">
                <a:latin typeface="Times New Roman"/>
                <a:cs typeface="Times New Roman"/>
              </a:rPr>
              <a:t>+</a:t>
            </a:r>
            <a:r>
              <a:rPr dirty="0" sz="750" spc="105">
                <a:latin typeface="Times New Roman"/>
                <a:cs typeface="Times New Roman"/>
              </a:rPr>
              <a:t> </a:t>
            </a:r>
            <a:r>
              <a:rPr dirty="0" sz="750" spc="150">
                <a:latin typeface="Times New Roman"/>
                <a:cs typeface="Times New Roman"/>
              </a:rPr>
              <a:t>B[i]</a:t>
            </a:r>
            <a:endParaRPr sz="750">
              <a:latin typeface="Times New Roman"/>
              <a:cs typeface="Times New Roman"/>
            </a:endParaRPr>
          </a:p>
        </p:txBody>
      </p:sp>
      <p:sp>
        <p:nvSpPr>
          <p:cNvPr id="59" name="object 59" descr=""/>
          <p:cNvSpPr/>
          <p:nvPr/>
        </p:nvSpPr>
        <p:spPr>
          <a:xfrm>
            <a:off x="9060659" y="2012982"/>
            <a:ext cx="849630" cy="420370"/>
          </a:xfrm>
          <a:custGeom>
            <a:avLst/>
            <a:gdLst/>
            <a:ahLst/>
            <a:cxnLst/>
            <a:rect l="l" t="t" r="r" b="b"/>
            <a:pathLst>
              <a:path w="849629" h="420369">
                <a:moveTo>
                  <a:pt x="424749" y="0"/>
                </a:moveTo>
                <a:lnTo>
                  <a:pt x="0" y="224118"/>
                </a:lnTo>
                <a:lnTo>
                  <a:pt x="424749" y="420172"/>
                </a:lnTo>
                <a:lnTo>
                  <a:pt x="849498" y="224118"/>
                </a:lnTo>
                <a:lnTo>
                  <a:pt x="424749" y="0"/>
                </a:lnTo>
                <a:close/>
              </a:path>
            </a:pathLst>
          </a:custGeom>
          <a:ln w="7837">
            <a:solidFill>
              <a:srgbClr val="000000"/>
            </a:solidFill>
          </a:ln>
        </p:spPr>
        <p:txBody>
          <a:bodyPr wrap="square" lIns="0" tIns="0" rIns="0" bIns="0" rtlCol="0"/>
          <a:lstStyle/>
          <a:p/>
        </p:txBody>
      </p:sp>
      <p:sp>
        <p:nvSpPr>
          <p:cNvPr id="60" name="object 60" descr=""/>
          <p:cNvSpPr txBox="1"/>
          <p:nvPr/>
        </p:nvSpPr>
        <p:spPr>
          <a:xfrm>
            <a:off x="9197519" y="2141196"/>
            <a:ext cx="575945" cy="144145"/>
          </a:xfrm>
          <a:prstGeom prst="rect">
            <a:avLst/>
          </a:prstGeom>
        </p:spPr>
        <p:txBody>
          <a:bodyPr wrap="square" lIns="0" tIns="15875" rIns="0" bIns="0" rtlCol="0" vert="horz">
            <a:spAutoFit/>
          </a:bodyPr>
          <a:lstStyle/>
          <a:p>
            <a:pPr marL="12700">
              <a:lnSpc>
                <a:spcPct val="100000"/>
              </a:lnSpc>
              <a:spcBef>
                <a:spcPts val="125"/>
              </a:spcBef>
            </a:pPr>
            <a:r>
              <a:rPr dirty="0" sz="750" spc="175">
                <a:latin typeface="Times New Roman"/>
                <a:cs typeface="Times New Roman"/>
              </a:rPr>
              <a:t>A[i]</a:t>
            </a:r>
            <a:r>
              <a:rPr dirty="0" sz="750" spc="105">
                <a:latin typeface="Times New Roman"/>
                <a:cs typeface="Times New Roman"/>
              </a:rPr>
              <a:t> </a:t>
            </a:r>
            <a:r>
              <a:rPr dirty="0" sz="750" spc="235">
                <a:latin typeface="Times New Roman"/>
                <a:cs typeface="Times New Roman"/>
              </a:rPr>
              <a:t>=</a:t>
            </a:r>
            <a:r>
              <a:rPr dirty="0" sz="750" spc="105">
                <a:latin typeface="Times New Roman"/>
                <a:cs typeface="Times New Roman"/>
              </a:rPr>
              <a:t> </a:t>
            </a:r>
            <a:r>
              <a:rPr dirty="0" sz="750" spc="170">
                <a:latin typeface="Times New Roman"/>
                <a:cs typeface="Times New Roman"/>
              </a:rPr>
              <a:t>0?</a:t>
            </a:r>
            <a:endParaRPr sz="750">
              <a:latin typeface="Times New Roman"/>
              <a:cs typeface="Times New Roman"/>
            </a:endParaRPr>
          </a:p>
        </p:txBody>
      </p:sp>
      <p:sp>
        <p:nvSpPr>
          <p:cNvPr id="61" name="object 61" descr=""/>
          <p:cNvSpPr/>
          <p:nvPr/>
        </p:nvSpPr>
        <p:spPr>
          <a:xfrm>
            <a:off x="8211145" y="2503187"/>
            <a:ext cx="849630" cy="196215"/>
          </a:xfrm>
          <a:custGeom>
            <a:avLst/>
            <a:gdLst/>
            <a:ahLst/>
            <a:cxnLst/>
            <a:rect l="l" t="t" r="r" b="b"/>
            <a:pathLst>
              <a:path w="849629" h="196214">
                <a:moveTo>
                  <a:pt x="0" y="196083"/>
                </a:moveTo>
                <a:lnTo>
                  <a:pt x="849513" y="196083"/>
                </a:lnTo>
                <a:lnTo>
                  <a:pt x="849513" y="0"/>
                </a:lnTo>
                <a:lnTo>
                  <a:pt x="0" y="0"/>
                </a:lnTo>
                <a:lnTo>
                  <a:pt x="0" y="196083"/>
                </a:lnTo>
                <a:close/>
              </a:path>
            </a:pathLst>
          </a:custGeom>
          <a:ln w="7300">
            <a:solidFill>
              <a:srgbClr val="000000"/>
            </a:solidFill>
          </a:ln>
        </p:spPr>
        <p:txBody>
          <a:bodyPr wrap="square" lIns="0" tIns="0" rIns="0" bIns="0" rtlCol="0"/>
          <a:lstStyle/>
          <a:p/>
        </p:txBody>
      </p:sp>
      <p:sp>
        <p:nvSpPr>
          <p:cNvPr id="62" name="object 62" descr=""/>
          <p:cNvSpPr txBox="1"/>
          <p:nvPr/>
        </p:nvSpPr>
        <p:spPr>
          <a:xfrm>
            <a:off x="8441583" y="2519371"/>
            <a:ext cx="389255" cy="144145"/>
          </a:xfrm>
          <a:prstGeom prst="rect">
            <a:avLst/>
          </a:prstGeom>
        </p:spPr>
        <p:txBody>
          <a:bodyPr wrap="square" lIns="0" tIns="15875" rIns="0" bIns="0" rtlCol="0" vert="horz">
            <a:spAutoFit/>
          </a:bodyPr>
          <a:lstStyle/>
          <a:p>
            <a:pPr marL="12700">
              <a:lnSpc>
                <a:spcPct val="100000"/>
              </a:lnSpc>
              <a:spcBef>
                <a:spcPts val="125"/>
              </a:spcBef>
            </a:pPr>
            <a:r>
              <a:rPr dirty="0" sz="750" spc="170">
                <a:latin typeface="Times New Roman"/>
                <a:cs typeface="Times New Roman"/>
              </a:rPr>
              <a:t>B[i]</a:t>
            </a:r>
            <a:r>
              <a:rPr dirty="0" sz="750" spc="100">
                <a:latin typeface="Times New Roman"/>
                <a:cs typeface="Times New Roman"/>
              </a:rPr>
              <a:t> </a:t>
            </a:r>
            <a:r>
              <a:rPr dirty="0" sz="750" spc="185">
                <a:latin typeface="Times New Roman"/>
                <a:cs typeface="Times New Roman"/>
              </a:rPr>
              <a:t>=</a:t>
            </a:r>
            <a:endParaRPr sz="750">
              <a:latin typeface="Times New Roman"/>
              <a:cs typeface="Times New Roman"/>
            </a:endParaRPr>
          </a:p>
        </p:txBody>
      </p:sp>
      <p:sp>
        <p:nvSpPr>
          <p:cNvPr id="63" name="object 63" descr=""/>
          <p:cNvSpPr txBox="1"/>
          <p:nvPr/>
        </p:nvSpPr>
        <p:spPr>
          <a:xfrm>
            <a:off x="8211145" y="2825332"/>
            <a:ext cx="849630" cy="196215"/>
          </a:xfrm>
          <a:prstGeom prst="rect">
            <a:avLst/>
          </a:prstGeom>
          <a:ln w="7515">
            <a:solidFill>
              <a:srgbClr val="000000"/>
            </a:solidFill>
          </a:ln>
        </p:spPr>
        <p:txBody>
          <a:bodyPr wrap="square" lIns="0" tIns="32384" rIns="0" bIns="0" rtlCol="0" vert="horz">
            <a:spAutoFit/>
          </a:bodyPr>
          <a:lstStyle/>
          <a:p>
            <a:pPr marL="242570">
              <a:lnSpc>
                <a:spcPct val="100000"/>
              </a:lnSpc>
              <a:spcBef>
                <a:spcPts val="254"/>
              </a:spcBef>
            </a:pPr>
            <a:r>
              <a:rPr dirty="0" sz="750" spc="170">
                <a:latin typeface="Times New Roman"/>
                <a:cs typeface="Times New Roman"/>
              </a:rPr>
              <a:t>C[i]</a:t>
            </a:r>
            <a:r>
              <a:rPr dirty="0" sz="750" spc="100">
                <a:latin typeface="Times New Roman"/>
                <a:cs typeface="Times New Roman"/>
              </a:rPr>
              <a:t> </a:t>
            </a:r>
            <a:r>
              <a:rPr dirty="0" sz="750" spc="185">
                <a:latin typeface="Times New Roman"/>
                <a:cs typeface="Times New Roman"/>
              </a:rPr>
              <a:t>=</a:t>
            </a:r>
            <a:endParaRPr sz="750">
              <a:latin typeface="Times New Roman"/>
              <a:cs typeface="Times New Roman"/>
            </a:endParaRPr>
          </a:p>
        </p:txBody>
      </p:sp>
      <p:grpSp>
        <p:nvGrpSpPr>
          <p:cNvPr id="64" name="object 64" descr=""/>
          <p:cNvGrpSpPr/>
          <p:nvPr/>
        </p:nvGrpSpPr>
        <p:grpSpPr>
          <a:xfrm>
            <a:off x="8610720" y="1885085"/>
            <a:ext cx="900430" cy="618490"/>
            <a:chOff x="8610720" y="1885085"/>
            <a:chExt cx="900430" cy="618490"/>
          </a:xfrm>
        </p:grpSpPr>
        <p:sp>
          <p:nvSpPr>
            <p:cNvPr id="65" name="object 65" descr=""/>
            <p:cNvSpPr/>
            <p:nvPr/>
          </p:nvSpPr>
          <p:spPr>
            <a:xfrm>
              <a:off x="9485408" y="1886990"/>
              <a:ext cx="0" cy="80645"/>
            </a:xfrm>
            <a:custGeom>
              <a:avLst/>
              <a:gdLst/>
              <a:ahLst/>
              <a:cxnLst/>
              <a:rect l="l" t="t" r="r" b="b"/>
              <a:pathLst>
                <a:path w="0" h="80644">
                  <a:moveTo>
                    <a:pt x="0" y="0"/>
                  </a:moveTo>
                  <a:lnTo>
                    <a:pt x="0" y="80338"/>
                  </a:lnTo>
                </a:path>
              </a:pathLst>
            </a:custGeom>
            <a:ln w="3596">
              <a:solidFill>
                <a:srgbClr val="000000"/>
              </a:solidFill>
            </a:ln>
          </p:spPr>
          <p:txBody>
            <a:bodyPr wrap="square" lIns="0" tIns="0" rIns="0" bIns="0" rtlCol="0"/>
            <a:lstStyle/>
            <a:p/>
          </p:txBody>
        </p:sp>
        <p:sp>
          <p:nvSpPr>
            <p:cNvPr id="66" name="object 66" descr=""/>
            <p:cNvSpPr/>
            <p:nvPr/>
          </p:nvSpPr>
          <p:spPr>
            <a:xfrm>
              <a:off x="9460234" y="1963178"/>
              <a:ext cx="50800" cy="50165"/>
            </a:xfrm>
            <a:custGeom>
              <a:avLst/>
              <a:gdLst/>
              <a:ahLst/>
              <a:cxnLst/>
              <a:rect l="l" t="t" r="r" b="b"/>
              <a:pathLst>
                <a:path w="50800" h="50164">
                  <a:moveTo>
                    <a:pt x="50347" y="0"/>
                  </a:moveTo>
                  <a:lnTo>
                    <a:pt x="0" y="0"/>
                  </a:lnTo>
                  <a:lnTo>
                    <a:pt x="25173" y="49804"/>
                  </a:lnTo>
                  <a:lnTo>
                    <a:pt x="50347" y="0"/>
                  </a:lnTo>
                  <a:close/>
                </a:path>
              </a:pathLst>
            </a:custGeom>
            <a:solidFill>
              <a:srgbClr val="000000"/>
            </a:solidFill>
          </p:spPr>
          <p:txBody>
            <a:bodyPr wrap="square" lIns="0" tIns="0" rIns="0" bIns="0" rtlCol="0"/>
            <a:lstStyle/>
            <a:p/>
          </p:txBody>
        </p:sp>
        <p:sp>
          <p:nvSpPr>
            <p:cNvPr id="67" name="object 67" descr=""/>
            <p:cNvSpPr/>
            <p:nvPr/>
          </p:nvSpPr>
          <p:spPr>
            <a:xfrm>
              <a:off x="8635894" y="2237101"/>
              <a:ext cx="424815" cy="220979"/>
            </a:xfrm>
            <a:custGeom>
              <a:avLst/>
              <a:gdLst/>
              <a:ahLst/>
              <a:cxnLst/>
              <a:rect l="l" t="t" r="r" b="b"/>
              <a:pathLst>
                <a:path w="424815" h="220980">
                  <a:moveTo>
                    <a:pt x="424764" y="0"/>
                  </a:moveTo>
                  <a:lnTo>
                    <a:pt x="0" y="0"/>
                  </a:lnTo>
                  <a:lnTo>
                    <a:pt x="0" y="220462"/>
                  </a:lnTo>
                </a:path>
              </a:pathLst>
            </a:custGeom>
            <a:ln w="3175">
              <a:solidFill>
                <a:srgbClr val="000000"/>
              </a:solidFill>
            </a:ln>
          </p:spPr>
          <p:txBody>
            <a:bodyPr wrap="square" lIns="0" tIns="0" rIns="0" bIns="0" rtlCol="0"/>
            <a:lstStyle/>
            <a:p/>
          </p:txBody>
        </p:sp>
        <p:sp>
          <p:nvSpPr>
            <p:cNvPr id="68" name="object 68" descr=""/>
            <p:cNvSpPr/>
            <p:nvPr/>
          </p:nvSpPr>
          <p:spPr>
            <a:xfrm>
              <a:off x="8610720" y="2453412"/>
              <a:ext cx="50800" cy="50165"/>
            </a:xfrm>
            <a:custGeom>
              <a:avLst/>
              <a:gdLst/>
              <a:ahLst/>
              <a:cxnLst/>
              <a:rect l="l" t="t" r="r" b="b"/>
              <a:pathLst>
                <a:path w="50800" h="50164">
                  <a:moveTo>
                    <a:pt x="50347" y="0"/>
                  </a:moveTo>
                  <a:lnTo>
                    <a:pt x="0" y="0"/>
                  </a:lnTo>
                  <a:lnTo>
                    <a:pt x="25173" y="49804"/>
                  </a:lnTo>
                  <a:lnTo>
                    <a:pt x="50347" y="0"/>
                  </a:lnTo>
                  <a:close/>
                </a:path>
              </a:pathLst>
            </a:custGeom>
            <a:solidFill>
              <a:srgbClr val="000000"/>
            </a:solidFill>
          </p:spPr>
          <p:txBody>
            <a:bodyPr wrap="square" lIns="0" tIns="0" rIns="0" bIns="0" rtlCol="0"/>
            <a:lstStyle/>
            <a:p/>
          </p:txBody>
        </p:sp>
      </p:grpSp>
      <p:sp>
        <p:nvSpPr>
          <p:cNvPr id="69" name="object 69" descr=""/>
          <p:cNvSpPr txBox="1"/>
          <p:nvPr/>
        </p:nvSpPr>
        <p:spPr>
          <a:xfrm>
            <a:off x="8718975" y="2071233"/>
            <a:ext cx="258445" cy="144145"/>
          </a:xfrm>
          <a:prstGeom prst="rect">
            <a:avLst/>
          </a:prstGeom>
        </p:spPr>
        <p:txBody>
          <a:bodyPr wrap="square" lIns="0" tIns="15875" rIns="0" bIns="0" rtlCol="0" vert="horz">
            <a:spAutoFit/>
          </a:bodyPr>
          <a:lstStyle/>
          <a:p>
            <a:pPr marL="12700">
              <a:lnSpc>
                <a:spcPct val="100000"/>
              </a:lnSpc>
              <a:spcBef>
                <a:spcPts val="125"/>
              </a:spcBef>
            </a:pPr>
            <a:r>
              <a:rPr dirty="0" sz="750" spc="140">
                <a:latin typeface="Times New Roman"/>
                <a:cs typeface="Times New Roman"/>
              </a:rPr>
              <a:t>true</a:t>
            </a:r>
            <a:endParaRPr sz="750">
              <a:latin typeface="Times New Roman"/>
              <a:cs typeface="Times New Roman"/>
            </a:endParaRPr>
          </a:p>
        </p:txBody>
      </p:sp>
      <p:grpSp>
        <p:nvGrpSpPr>
          <p:cNvPr id="70" name="object 70" descr=""/>
          <p:cNvGrpSpPr/>
          <p:nvPr/>
        </p:nvGrpSpPr>
        <p:grpSpPr>
          <a:xfrm>
            <a:off x="9908887" y="2220499"/>
            <a:ext cx="1275715" cy="33655"/>
            <a:chOff x="9908887" y="2220499"/>
            <a:chExt cx="1275715" cy="33655"/>
          </a:xfrm>
        </p:grpSpPr>
        <p:sp>
          <p:nvSpPr>
            <p:cNvPr id="71" name="object 71" descr=""/>
            <p:cNvSpPr/>
            <p:nvPr/>
          </p:nvSpPr>
          <p:spPr>
            <a:xfrm>
              <a:off x="9910157" y="2237101"/>
              <a:ext cx="1205230" cy="0"/>
            </a:xfrm>
            <a:custGeom>
              <a:avLst/>
              <a:gdLst/>
              <a:ahLst/>
              <a:cxnLst/>
              <a:rect l="l" t="t" r="r" b="b"/>
              <a:pathLst>
                <a:path w="1205229" h="0">
                  <a:moveTo>
                    <a:pt x="0" y="0"/>
                  </a:moveTo>
                  <a:lnTo>
                    <a:pt x="1205049" y="0"/>
                  </a:lnTo>
                </a:path>
              </a:pathLst>
            </a:custGeom>
            <a:ln w="3175">
              <a:solidFill>
                <a:srgbClr val="000000"/>
              </a:solidFill>
            </a:ln>
          </p:spPr>
          <p:txBody>
            <a:bodyPr wrap="square" lIns="0" tIns="0" rIns="0" bIns="0" rtlCol="0"/>
            <a:lstStyle/>
            <a:p/>
          </p:txBody>
        </p:sp>
        <p:sp>
          <p:nvSpPr>
            <p:cNvPr id="72" name="object 72" descr=""/>
            <p:cNvSpPr/>
            <p:nvPr/>
          </p:nvSpPr>
          <p:spPr>
            <a:xfrm>
              <a:off x="11108913" y="2220499"/>
              <a:ext cx="75565" cy="33655"/>
            </a:xfrm>
            <a:custGeom>
              <a:avLst/>
              <a:gdLst/>
              <a:ahLst/>
              <a:cxnLst/>
              <a:rect l="l" t="t" r="r" b="b"/>
              <a:pathLst>
                <a:path w="75565" h="33655">
                  <a:moveTo>
                    <a:pt x="0" y="0"/>
                  </a:moveTo>
                  <a:lnTo>
                    <a:pt x="0" y="33202"/>
                  </a:lnTo>
                  <a:lnTo>
                    <a:pt x="75521" y="16601"/>
                  </a:lnTo>
                  <a:lnTo>
                    <a:pt x="0" y="0"/>
                  </a:lnTo>
                  <a:close/>
                </a:path>
              </a:pathLst>
            </a:custGeom>
            <a:solidFill>
              <a:srgbClr val="000000"/>
            </a:solidFill>
          </p:spPr>
          <p:txBody>
            <a:bodyPr wrap="square" lIns="0" tIns="0" rIns="0" bIns="0" rtlCol="0"/>
            <a:lstStyle/>
            <a:p/>
          </p:txBody>
        </p:sp>
      </p:grpSp>
      <p:sp>
        <p:nvSpPr>
          <p:cNvPr id="73" name="object 73" descr=""/>
          <p:cNvSpPr txBox="1"/>
          <p:nvPr/>
        </p:nvSpPr>
        <p:spPr>
          <a:xfrm>
            <a:off x="9968334" y="2071233"/>
            <a:ext cx="308610" cy="144145"/>
          </a:xfrm>
          <a:prstGeom prst="rect">
            <a:avLst/>
          </a:prstGeom>
        </p:spPr>
        <p:txBody>
          <a:bodyPr wrap="square" lIns="0" tIns="15875" rIns="0" bIns="0" rtlCol="0" vert="horz">
            <a:spAutoFit/>
          </a:bodyPr>
          <a:lstStyle/>
          <a:p>
            <a:pPr marL="12700">
              <a:lnSpc>
                <a:spcPct val="100000"/>
              </a:lnSpc>
              <a:spcBef>
                <a:spcPts val="125"/>
              </a:spcBef>
            </a:pPr>
            <a:r>
              <a:rPr dirty="0" sz="750" spc="145">
                <a:latin typeface="Times New Roman"/>
                <a:cs typeface="Times New Roman"/>
              </a:rPr>
              <a:t>false</a:t>
            </a:r>
            <a:endParaRPr sz="750">
              <a:latin typeface="Times New Roman"/>
              <a:cs typeface="Times New Roman"/>
            </a:endParaRPr>
          </a:p>
        </p:txBody>
      </p:sp>
      <p:sp>
        <p:nvSpPr>
          <p:cNvPr id="74" name="object 74" descr=""/>
          <p:cNvSpPr txBox="1"/>
          <p:nvPr/>
        </p:nvSpPr>
        <p:spPr>
          <a:xfrm>
            <a:off x="11301201" y="2172916"/>
            <a:ext cx="579120" cy="144145"/>
          </a:xfrm>
          <a:prstGeom prst="rect">
            <a:avLst/>
          </a:prstGeom>
        </p:spPr>
        <p:txBody>
          <a:bodyPr wrap="square" lIns="0" tIns="15875" rIns="0" bIns="0" rtlCol="0" vert="horz">
            <a:spAutoFit/>
          </a:bodyPr>
          <a:lstStyle/>
          <a:p>
            <a:pPr marL="12700">
              <a:lnSpc>
                <a:spcPct val="100000"/>
              </a:lnSpc>
              <a:spcBef>
                <a:spcPts val="125"/>
              </a:spcBef>
            </a:pPr>
            <a:r>
              <a:rPr dirty="0" sz="750" spc="175">
                <a:latin typeface="Times New Roman"/>
                <a:cs typeface="Times New Roman"/>
              </a:rPr>
              <a:t>trace</a:t>
            </a:r>
            <a:r>
              <a:rPr dirty="0" sz="750" spc="175">
                <a:latin typeface="Cambria"/>
                <a:cs typeface="Cambria"/>
              </a:rPr>
              <a:t>◻</a:t>
            </a:r>
            <a:r>
              <a:rPr dirty="0" sz="750" spc="135">
                <a:latin typeface="Cambria"/>
                <a:cs typeface="Cambria"/>
              </a:rPr>
              <a:t> </a:t>
            </a:r>
            <a:r>
              <a:rPr dirty="0" sz="750" spc="204">
                <a:latin typeface="Cambria"/>
                <a:cs typeface="Cambria"/>
              </a:rPr>
              <a:t>◻</a:t>
            </a:r>
            <a:endParaRPr sz="750">
              <a:latin typeface="Cambria"/>
              <a:cs typeface="Cambria"/>
            </a:endParaRPr>
          </a:p>
        </p:txBody>
      </p:sp>
      <p:grpSp>
        <p:nvGrpSpPr>
          <p:cNvPr id="75" name="object 75" descr=""/>
          <p:cNvGrpSpPr/>
          <p:nvPr/>
        </p:nvGrpSpPr>
        <p:grpSpPr>
          <a:xfrm>
            <a:off x="8610720" y="1087061"/>
            <a:ext cx="50800" cy="182245"/>
            <a:chOff x="8610720" y="1087061"/>
            <a:chExt cx="50800" cy="182245"/>
          </a:xfrm>
        </p:grpSpPr>
        <p:sp>
          <p:nvSpPr>
            <p:cNvPr id="76" name="object 76" descr=""/>
            <p:cNvSpPr/>
            <p:nvPr/>
          </p:nvSpPr>
          <p:spPr>
            <a:xfrm>
              <a:off x="8635894" y="1087061"/>
              <a:ext cx="0" cy="136525"/>
            </a:xfrm>
            <a:custGeom>
              <a:avLst/>
              <a:gdLst/>
              <a:ahLst/>
              <a:cxnLst/>
              <a:rect l="l" t="t" r="r" b="b"/>
              <a:pathLst>
                <a:path w="0" h="136525">
                  <a:moveTo>
                    <a:pt x="0" y="0"/>
                  </a:moveTo>
                  <a:lnTo>
                    <a:pt x="0" y="136467"/>
                  </a:lnTo>
                </a:path>
              </a:pathLst>
            </a:custGeom>
            <a:ln w="3596">
              <a:solidFill>
                <a:srgbClr val="000000"/>
              </a:solidFill>
            </a:ln>
          </p:spPr>
          <p:txBody>
            <a:bodyPr wrap="square" lIns="0" tIns="0" rIns="0" bIns="0" rtlCol="0"/>
            <a:lstStyle/>
            <a:p/>
          </p:txBody>
        </p:sp>
        <p:sp>
          <p:nvSpPr>
            <p:cNvPr id="77" name="object 77" descr=""/>
            <p:cNvSpPr/>
            <p:nvPr/>
          </p:nvSpPr>
          <p:spPr>
            <a:xfrm>
              <a:off x="8610720" y="1219378"/>
              <a:ext cx="50800" cy="50165"/>
            </a:xfrm>
            <a:custGeom>
              <a:avLst/>
              <a:gdLst/>
              <a:ahLst/>
              <a:cxnLst/>
              <a:rect l="l" t="t" r="r" b="b"/>
              <a:pathLst>
                <a:path w="50800" h="50165">
                  <a:moveTo>
                    <a:pt x="50347" y="0"/>
                  </a:moveTo>
                  <a:lnTo>
                    <a:pt x="0" y="0"/>
                  </a:lnTo>
                  <a:lnTo>
                    <a:pt x="25173" y="49804"/>
                  </a:lnTo>
                  <a:lnTo>
                    <a:pt x="50347" y="0"/>
                  </a:lnTo>
                  <a:close/>
                </a:path>
              </a:pathLst>
            </a:custGeom>
            <a:solidFill>
              <a:srgbClr val="000000"/>
            </a:solidFill>
          </p:spPr>
          <p:txBody>
            <a:bodyPr wrap="square" lIns="0" tIns="0" rIns="0" bIns="0" rtlCol="0"/>
            <a:lstStyle/>
            <a:p/>
          </p:txBody>
        </p:sp>
      </p:grpSp>
      <p:grpSp>
        <p:nvGrpSpPr>
          <p:cNvPr id="78" name="object 78" descr=""/>
          <p:cNvGrpSpPr/>
          <p:nvPr/>
        </p:nvGrpSpPr>
        <p:grpSpPr>
          <a:xfrm>
            <a:off x="8610720" y="1463957"/>
            <a:ext cx="3462654" cy="1361440"/>
            <a:chOff x="8610720" y="1463957"/>
            <a:chExt cx="3462654" cy="1361440"/>
          </a:xfrm>
        </p:grpSpPr>
        <p:sp>
          <p:nvSpPr>
            <p:cNvPr id="79" name="object 79" descr=""/>
            <p:cNvSpPr/>
            <p:nvPr/>
          </p:nvSpPr>
          <p:spPr>
            <a:xfrm>
              <a:off x="8635894" y="1465236"/>
              <a:ext cx="637540" cy="179070"/>
            </a:xfrm>
            <a:custGeom>
              <a:avLst/>
              <a:gdLst/>
              <a:ahLst/>
              <a:cxnLst/>
              <a:rect l="l" t="t" r="r" b="b"/>
              <a:pathLst>
                <a:path w="637540" h="179069">
                  <a:moveTo>
                    <a:pt x="0" y="0"/>
                  </a:moveTo>
                  <a:lnTo>
                    <a:pt x="0" y="112059"/>
                  </a:lnTo>
                  <a:lnTo>
                    <a:pt x="637139" y="112059"/>
                  </a:lnTo>
                  <a:lnTo>
                    <a:pt x="637139" y="178464"/>
                  </a:lnTo>
                </a:path>
              </a:pathLst>
            </a:custGeom>
            <a:ln w="3175">
              <a:solidFill>
                <a:srgbClr val="000000"/>
              </a:solidFill>
            </a:ln>
          </p:spPr>
          <p:txBody>
            <a:bodyPr wrap="square" lIns="0" tIns="0" rIns="0" bIns="0" rtlCol="0"/>
            <a:lstStyle/>
            <a:p/>
          </p:txBody>
        </p:sp>
        <p:sp>
          <p:nvSpPr>
            <p:cNvPr id="80" name="object 80" descr=""/>
            <p:cNvSpPr/>
            <p:nvPr/>
          </p:nvSpPr>
          <p:spPr>
            <a:xfrm>
              <a:off x="9247859" y="1639550"/>
              <a:ext cx="50800" cy="50165"/>
            </a:xfrm>
            <a:custGeom>
              <a:avLst/>
              <a:gdLst/>
              <a:ahLst/>
              <a:cxnLst/>
              <a:rect l="l" t="t" r="r" b="b"/>
              <a:pathLst>
                <a:path w="50800" h="50164">
                  <a:moveTo>
                    <a:pt x="50347" y="0"/>
                  </a:moveTo>
                  <a:lnTo>
                    <a:pt x="0" y="0"/>
                  </a:lnTo>
                  <a:lnTo>
                    <a:pt x="25173" y="49804"/>
                  </a:lnTo>
                  <a:lnTo>
                    <a:pt x="50347" y="0"/>
                  </a:lnTo>
                  <a:close/>
                </a:path>
              </a:pathLst>
            </a:custGeom>
            <a:solidFill>
              <a:srgbClr val="000000"/>
            </a:solidFill>
          </p:spPr>
          <p:txBody>
            <a:bodyPr wrap="square" lIns="0" tIns="0" rIns="0" bIns="0" rtlCol="0"/>
            <a:lstStyle/>
            <a:p/>
          </p:txBody>
        </p:sp>
        <p:sp>
          <p:nvSpPr>
            <p:cNvPr id="81" name="object 81" descr=""/>
            <p:cNvSpPr/>
            <p:nvPr/>
          </p:nvSpPr>
          <p:spPr>
            <a:xfrm>
              <a:off x="9697828" y="1578778"/>
              <a:ext cx="1487170" cy="65405"/>
            </a:xfrm>
            <a:custGeom>
              <a:avLst/>
              <a:gdLst/>
              <a:ahLst/>
              <a:cxnLst/>
              <a:rect l="l" t="t" r="r" b="b"/>
              <a:pathLst>
                <a:path w="1487170" h="65405">
                  <a:moveTo>
                    <a:pt x="1486607" y="0"/>
                  </a:moveTo>
                  <a:lnTo>
                    <a:pt x="0" y="0"/>
                  </a:lnTo>
                  <a:lnTo>
                    <a:pt x="0" y="64923"/>
                  </a:lnTo>
                </a:path>
              </a:pathLst>
            </a:custGeom>
            <a:ln w="3175">
              <a:solidFill>
                <a:srgbClr val="000000"/>
              </a:solidFill>
            </a:ln>
          </p:spPr>
          <p:txBody>
            <a:bodyPr wrap="square" lIns="0" tIns="0" rIns="0" bIns="0" rtlCol="0"/>
            <a:lstStyle/>
            <a:p/>
          </p:txBody>
        </p:sp>
        <p:sp>
          <p:nvSpPr>
            <p:cNvPr id="82" name="object 82" descr=""/>
            <p:cNvSpPr/>
            <p:nvPr/>
          </p:nvSpPr>
          <p:spPr>
            <a:xfrm>
              <a:off x="9672624" y="1639550"/>
              <a:ext cx="50800" cy="50165"/>
            </a:xfrm>
            <a:custGeom>
              <a:avLst/>
              <a:gdLst/>
              <a:ahLst/>
              <a:cxnLst/>
              <a:rect l="l" t="t" r="r" b="b"/>
              <a:pathLst>
                <a:path w="50800" h="50164">
                  <a:moveTo>
                    <a:pt x="50377" y="0"/>
                  </a:moveTo>
                  <a:lnTo>
                    <a:pt x="0" y="0"/>
                  </a:lnTo>
                  <a:lnTo>
                    <a:pt x="25203" y="49804"/>
                  </a:lnTo>
                  <a:lnTo>
                    <a:pt x="50377" y="0"/>
                  </a:lnTo>
                  <a:close/>
                </a:path>
              </a:pathLst>
            </a:custGeom>
            <a:solidFill>
              <a:srgbClr val="000000"/>
            </a:solidFill>
          </p:spPr>
          <p:txBody>
            <a:bodyPr wrap="square" lIns="0" tIns="0" rIns="0" bIns="0" rtlCol="0"/>
            <a:lstStyle/>
            <a:p/>
          </p:txBody>
        </p:sp>
        <p:sp>
          <p:nvSpPr>
            <p:cNvPr id="83" name="object 83" descr=""/>
            <p:cNvSpPr/>
            <p:nvPr/>
          </p:nvSpPr>
          <p:spPr>
            <a:xfrm>
              <a:off x="8635894" y="2699271"/>
              <a:ext cx="0" cy="80645"/>
            </a:xfrm>
            <a:custGeom>
              <a:avLst/>
              <a:gdLst/>
              <a:ahLst/>
              <a:cxnLst/>
              <a:rect l="l" t="t" r="r" b="b"/>
              <a:pathLst>
                <a:path w="0" h="80644">
                  <a:moveTo>
                    <a:pt x="0" y="0"/>
                  </a:moveTo>
                  <a:lnTo>
                    <a:pt x="0" y="80437"/>
                  </a:lnTo>
                </a:path>
              </a:pathLst>
            </a:custGeom>
            <a:ln w="3596">
              <a:solidFill>
                <a:srgbClr val="000000"/>
              </a:solidFill>
            </a:ln>
          </p:spPr>
          <p:txBody>
            <a:bodyPr wrap="square" lIns="0" tIns="0" rIns="0" bIns="0" rtlCol="0"/>
            <a:lstStyle/>
            <a:p/>
          </p:txBody>
        </p:sp>
        <p:sp>
          <p:nvSpPr>
            <p:cNvPr id="84" name="object 84" descr=""/>
            <p:cNvSpPr/>
            <p:nvPr/>
          </p:nvSpPr>
          <p:spPr>
            <a:xfrm>
              <a:off x="8610720" y="2775558"/>
              <a:ext cx="50800" cy="50165"/>
            </a:xfrm>
            <a:custGeom>
              <a:avLst/>
              <a:gdLst/>
              <a:ahLst/>
              <a:cxnLst/>
              <a:rect l="l" t="t" r="r" b="b"/>
              <a:pathLst>
                <a:path w="50800" h="50164">
                  <a:moveTo>
                    <a:pt x="50347" y="0"/>
                  </a:moveTo>
                  <a:lnTo>
                    <a:pt x="0" y="0"/>
                  </a:lnTo>
                  <a:lnTo>
                    <a:pt x="25173" y="49804"/>
                  </a:lnTo>
                  <a:lnTo>
                    <a:pt x="50347" y="0"/>
                  </a:lnTo>
                  <a:close/>
                </a:path>
              </a:pathLst>
            </a:custGeom>
            <a:solidFill>
              <a:srgbClr val="000000"/>
            </a:solidFill>
          </p:spPr>
          <p:txBody>
            <a:bodyPr wrap="square" lIns="0" tIns="0" rIns="0" bIns="0" rtlCol="0"/>
            <a:lstStyle/>
            <a:p/>
          </p:txBody>
        </p:sp>
        <p:sp>
          <p:nvSpPr>
            <p:cNvPr id="85" name="object 85" descr=""/>
            <p:cNvSpPr/>
            <p:nvPr/>
          </p:nvSpPr>
          <p:spPr>
            <a:xfrm>
              <a:off x="11136376" y="2565400"/>
              <a:ext cx="936625" cy="0"/>
            </a:xfrm>
            <a:custGeom>
              <a:avLst/>
              <a:gdLst/>
              <a:ahLst/>
              <a:cxnLst/>
              <a:rect l="l" t="t" r="r" b="b"/>
              <a:pathLst>
                <a:path w="936625" h="0">
                  <a:moveTo>
                    <a:pt x="0" y="0"/>
                  </a:moveTo>
                  <a:lnTo>
                    <a:pt x="936625" y="0"/>
                  </a:lnTo>
                </a:path>
              </a:pathLst>
            </a:custGeom>
            <a:ln w="15875">
              <a:solidFill>
                <a:srgbClr val="FF0000"/>
              </a:solidFill>
            </a:ln>
          </p:spPr>
          <p:txBody>
            <a:bodyPr wrap="square" lIns="0" tIns="0" rIns="0" bIns="0" rtlCol="0"/>
            <a:lstStyle/>
            <a:p/>
          </p:txBody>
        </p:sp>
      </p:grpSp>
      <p:sp>
        <p:nvSpPr>
          <p:cNvPr id="86" name="object 86" descr=""/>
          <p:cNvSpPr txBox="1"/>
          <p:nvPr/>
        </p:nvSpPr>
        <p:spPr>
          <a:xfrm>
            <a:off x="11301201" y="1513012"/>
            <a:ext cx="579120" cy="144145"/>
          </a:xfrm>
          <a:prstGeom prst="rect">
            <a:avLst/>
          </a:prstGeom>
        </p:spPr>
        <p:txBody>
          <a:bodyPr wrap="square" lIns="0" tIns="15875" rIns="0" bIns="0" rtlCol="0" vert="horz">
            <a:spAutoFit/>
          </a:bodyPr>
          <a:lstStyle/>
          <a:p>
            <a:pPr marL="12700">
              <a:lnSpc>
                <a:spcPct val="100000"/>
              </a:lnSpc>
              <a:spcBef>
                <a:spcPts val="125"/>
              </a:spcBef>
            </a:pPr>
            <a:r>
              <a:rPr dirty="0" sz="750" spc="175">
                <a:latin typeface="Times New Roman"/>
                <a:cs typeface="Times New Roman"/>
              </a:rPr>
              <a:t>trace</a:t>
            </a:r>
            <a:r>
              <a:rPr dirty="0" sz="750" spc="175">
                <a:latin typeface="Cambria"/>
                <a:cs typeface="Cambria"/>
              </a:rPr>
              <a:t>◻</a:t>
            </a:r>
            <a:r>
              <a:rPr dirty="0" sz="750" spc="135">
                <a:latin typeface="Cambria"/>
                <a:cs typeface="Cambria"/>
              </a:rPr>
              <a:t> </a:t>
            </a:r>
            <a:r>
              <a:rPr dirty="0" sz="750" spc="204">
                <a:latin typeface="Cambria"/>
                <a:cs typeface="Cambria"/>
              </a:rPr>
              <a:t>◻</a:t>
            </a:r>
            <a:endParaRPr sz="750">
              <a:latin typeface="Cambria"/>
              <a:cs typeface="Cambria"/>
            </a:endParaRPr>
          </a:p>
        </p:txBody>
      </p:sp>
      <p:sp>
        <p:nvSpPr>
          <p:cNvPr id="87" name="object 87" descr=""/>
          <p:cNvSpPr txBox="1"/>
          <p:nvPr/>
        </p:nvSpPr>
        <p:spPr>
          <a:xfrm>
            <a:off x="8848284" y="3231473"/>
            <a:ext cx="1274445" cy="196215"/>
          </a:xfrm>
          <a:prstGeom prst="rect">
            <a:avLst/>
          </a:prstGeom>
          <a:ln w="7304">
            <a:solidFill>
              <a:srgbClr val="000000"/>
            </a:solidFill>
          </a:ln>
        </p:spPr>
        <p:txBody>
          <a:bodyPr wrap="square" lIns="0" tIns="32384" rIns="0" bIns="0" rtlCol="0" vert="horz">
            <a:spAutoFit/>
          </a:bodyPr>
          <a:lstStyle/>
          <a:p>
            <a:pPr marL="107314">
              <a:lnSpc>
                <a:spcPct val="100000"/>
              </a:lnSpc>
              <a:spcBef>
                <a:spcPts val="254"/>
              </a:spcBef>
            </a:pPr>
            <a:r>
              <a:rPr dirty="0" sz="750" spc="175">
                <a:latin typeface="Times New Roman"/>
                <a:cs typeface="Times New Roman"/>
              </a:rPr>
              <a:t>A[i]</a:t>
            </a:r>
            <a:r>
              <a:rPr dirty="0" sz="750" spc="105">
                <a:latin typeface="Times New Roman"/>
                <a:cs typeface="Times New Roman"/>
              </a:rPr>
              <a:t> </a:t>
            </a:r>
            <a:r>
              <a:rPr dirty="0" sz="750" spc="235">
                <a:latin typeface="Times New Roman"/>
                <a:cs typeface="Times New Roman"/>
              </a:rPr>
              <a:t>=</a:t>
            </a:r>
            <a:r>
              <a:rPr dirty="0" sz="750" spc="105">
                <a:latin typeface="Times New Roman"/>
                <a:cs typeface="Times New Roman"/>
              </a:rPr>
              <a:t> </a:t>
            </a:r>
            <a:r>
              <a:rPr dirty="0" sz="750" spc="175">
                <a:latin typeface="Times New Roman"/>
                <a:cs typeface="Times New Roman"/>
              </a:rPr>
              <a:t>A[i]</a:t>
            </a:r>
            <a:r>
              <a:rPr dirty="0" sz="750" spc="110">
                <a:latin typeface="Times New Roman"/>
                <a:cs typeface="Times New Roman"/>
              </a:rPr>
              <a:t> </a:t>
            </a:r>
            <a:r>
              <a:rPr dirty="0" sz="750" spc="235">
                <a:latin typeface="Times New Roman"/>
                <a:cs typeface="Times New Roman"/>
              </a:rPr>
              <a:t>+</a:t>
            </a:r>
            <a:r>
              <a:rPr dirty="0" sz="750" spc="105">
                <a:latin typeface="Times New Roman"/>
                <a:cs typeface="Times New Roman"/>
              </a:rPr>
              <a:t> </a:t>
            </a:r>
            <a:r>
              <a:rPr dirty="0" sz="750" spc="150">
                <a:latin typeface="Times New Roman"/>
                <a:cs typeface="Times New Roman"/>
              </a:rPr>
              <a:t>B[i]</a:t>
            </a:r>
            <a:endParaRPr sz="750">
              <a:latin typeface="Times New Roman"/>
              <a:cs typeface="Times New Roman"/>
            </a:endParaRPr>
          </a:p>
        </p:txBody>
      </p:sp>
      <p:sp>
        <p:nvSpPr>
          <p:cNvPr id="88" name="object 88" descr=""/>
          <p:cNvSpPr/>
          <p:nvPr/>
        </p:nvSpPr>
        <p:spPr>
          <a:xfrm>
            <a:off x="9060659" y="3538825"/>
            <a:ext cx="849630" cy="420370"/>
          </a:xfrm>
          <a:custGeom>
            <a:avLst/>
            <a:gdLst/>
            <a:ahLst/>
            <a:cxnLst/>
            <a:rect l="l" t="t" r="r" b="b"/>
            <a:pathLst>
              <a:path w="849629" h="420370">
                <a:moveTo>
                  <a:pt x="424749" y="0"/>
                </a:moveTo>
                <a:lnTo>
                  <a:pt x="0" y="224118"/>
                </a:lnTo>
                <a:lnTo>
                  <a:pt x="424749" y="420172"/>
                </a:lnTo>
                <a:lnTo>
                  <a:pt x="849498" y="224118"/>
                </a:lnTo>
                <a:lnTo>
                  <a:pt x="424749" y="0"/>
                </a:lnTo>
                <a:close/>
              </a:path>
            </a:pathLst>
          </a:custGeom>
          <a:ln w="7837">
            <a:solidFill>
              <a:srgbClr val="000000"/>
            </a:solidFill>
          </a:ln>
        </p:spPr>
        <p:txBody>
          <a:bodyPr wrap="square" lIns="0" tIns="0" rIns="0" bIns="0" rtlCol="0"/>
          <a:lstStyle/>
          <a:p/>
        </p:txBody>
      </p:sp>
      <p:sp>
        <p:nvSpPr>
          <p:cNvPr id="89" name="object 89" descr=""/>
          <p:cNvSpPr txBox="1"/>
          <p:nvPr/>
        </p:nvSpPr>
        <p:spPr>
          <a:xfrm>
            <a:off x="9197519" y="3667038"/>
            <a:ext cx="575945" cy="144145"/>
          </a:xfrm>
          <a:prstGeom prst="rect">
            <a:avLst/>
          </a:prstGeom>
        </p:spPr>
        <p:txBody>
          <a:bodyPr wrap="square" lIns="0" tIns="15875" rIns="0" bIns="0" rtlCol="0" vert="horz">
            <a:spAutoFit/>
          </a:bodyPr>
          <a:lstStyle/>
          <a:p>
            <a:pPr marL="12700">
              <a:lnSpc>
                <a:spcPct val="100000"/>
              </a:lnSpc>
              <a:spcBef>
                <a:spcPts val="125"/>
              </a:spcBef>
            </a:pPr>
            <a:r>
              <a:rPr dirty="0" sz="750" spc="175">
                <a:latin typeface="Times New Roman"/>
                <a:cs typeface="Times New Roman"/>
              </a:rPr>
              <a:t>A[i]</a:t>
            </a:r>
            <a:r>
              <a:rPr dirty="0" sz="750" spc="105">
                <a:latin typeface="Times New Roman"/>
                <a:cs typeface="Times New Roman"/>
              </a:rPr>
              <a:t> </a:t>
            </a:r>
            <a:r>
              <a:rPr dirty="0" sz="750" spc="235">
                <a:latin typeface="Times New Roman"/>
                <a:cs typeface="Times New Roman"/>
              </a:rPr>
              <a:t>=</a:t>
            </a:r>
            <a:r>
              <a:rPr dirty="0" sz="750" spc="105">
                <a:latin typeface="Times New Roman"/>
                <a:cs typeface="Times New Roman"/>
              </a:rPr>
              <a:t> </a:t>
            </a:r>
            <a:r>
              <a:rPr dirty="0" sz="750" spc="170">
                <a:latin typeface="Times New Roman"/>
                <a:cs typeface="Times New Roman"/>
              </a:rPr>
              <a:t>0?</a:t>
            </a:r>
            <a:endParaRPr sz="750">
              <a:latin typeface="Times New Roman"/>
              <a:cs typeface="Times New Roman"/>
            </a:endParaRPr>
          </a:p>
        </p:txBody>
      </p:sp>
      <p:sp>
        <p:nvSpPr>
          <p:cNvPr id="90" name="object 90" descr=""/>
          <p:cNvSpPr/>
          <p:nvPr/>
        </p:nvSpPr>
        <p:spPr>
          <a:xfrm>
            <a:off x="8211145" y="3987032"/>
            <a:ext cx="849630" cy="196215"/>
          </a:xfrm>
          <a:custGeom>
            <a:avLst/>
            <a:gdLst/>
            <a:ahLst/>
            <a:cxnLst/>
            <a:rect l="l" t="t" r="r" b="b"/>
            <a:pathLst>
              <a:path w="849629" h="196214">
                <a:moveTo>
                  <a:pt x="0" y="196083"/>
                </a:moveTo>
                <a:lnTo>
                  <a:pt x="849513" y="196083"/>
                </a:lnTo>
                <a:lnTo>
                  <a:pt x="849513" y="0"/>
                </a:lnTo>
                <a:lnTo>
                  <a:pt x="0" y="0"/>
                </a:lnTo>
                <a:lnTo>
                  <a:pt x="0" y="196083"/>
                </a:lnTo>
                <a:close/>
              </a:path>
            </a:pathLst>
          </a:custGeom>
          <a:ln w="7300">
            <a:solidFill>
              <a:srgbClr val="000000"/>
            </a:solidFill>
          </a:ln>
        </p:spPr>
        <p:txBody>
          <a:bodyPr wrap="square" lIns="0" tIns="0" rIns="0" bIns="0" rtlCol="0"/>
          <a:lstStyle/>
          <a:p/>
        </p:txBody>
      </p:sp>
      <p:sp>
        <p:nvSpPr>
          <p:cNvPr id="91" name="object 91" descr=""/>
          <p:cNvSpPr txBox="1"/>
          <p:nvPr/>
        </p:nvSpPr>
        <p:spPr>
          <a:xfrm>
            <a:off x="8441583" y="4003216"/>
            <a:ext cx="389255" cy="144145"/>
          </a:xfrm>
          <a:prstGeom prst="rect">
            <a:avLst/>
          </a:prstGeom>
        </p:spPr>
        <p:txBody>
          <a:bodyPr wrap="square" lIns="0" tIns="15875" rIns="0" bIns="0" rtlCol="0" vert="horz">
            <a:spAutoFit/>
          </a:bodyPr>
          <a:lstStyle/>
          <a:p>
            <a:pPr marL="12700">
              <a:lnSpc>
                <a:spcPct val="100000"/>
              </a:lnSpc>
              <a:spcBef>
                <a:spcPts val="125"/>
              </a:spcBef>
            </a:pPr>
            <a:r>
              <a:rPr dirty="0" sz="750" spc="170">
                <a:latin typeface="Times New Roman"/>
                <a:cs typeface="Times New Roman"/>
              </a:rPr>
              <a:t>B[i]</a:t>
            </a:r>
            <a:r>
              <a:rPr dirty="0" sz="750" spc="100">
                <a:latin typeface="Times New Roman"/>
                <a:cs typeface="Times New Roman"/>
              </a:rPr>
              <a:t> </a:t>
            </a:r>
            <a:r>
              <a:rPr dirty="0" sz="750" spc="185">
                <a:latin typeface="Times New Roman"/>
                <a:cs typeface="Times New Roman"/>
              </a:rPr>
              <a:t>=</a:t>
            </a:r>
            <a:endParaRPr sz="750">
              <a:latin typeface="Times New Roman"/>
              <a:cs typeface="Times New Roman"/>
            </a:endParaRPr>
          </a:p>
        </p:txBody>
      </p:sp>
      <p:sp>
        <p:nvSpPr>
          <p:cNvPr id="92" name="object 92" descr=""/>
          <p:cNvSpPr txBox="1"/>
          <p:nvPr/>
        </p:nvSpPr>
        <p:spPr>
          <a:xfrm>
            <a:off x="8211145" y="4323111"/>
            <a:ext cx="849630" cy="196215"/>
          </a:xfrm>
          <a:prstGeom prst="rect">
            <a:avLst/>
          </a:prstGeom>
          <a:ln w="7515">
            <a:solidFill>
              <a:srgbClr val="000000"/>
            </a:solidFill>
          </a:ln>
        </p:spPr>
        <p:txBody>
          <a:bodyPr wrap="square" lIns="0" tIns="32384" rIns="0" bIns="0" rtlCol="0" vert="horz">
            <a:spAutoFit/>
          </a:bodyPr>
          <a:lstStyle/>
          <a:p>
            <a:pPr marL="242570">
              <a:lnSpc>
                <a:spcPct val="100000"/>
              </a:lnSpc>
              <a:spcBef>
                <a:spcPts val="254"/>
              </a:spcBef>
            </a:pPr>
            <a:r>
              <a:rPr dirty="0" sz="750" spc="170">
                <a:latin typeface="Times New Roman"/>
                <a:cs typeface="Times New Roman"/>
              </a:rPr>
              <a:t>C[i]</a:t>
            </a:r>
            <a:r>
              <a:rPr dirty="0" sz="750" spc="100">
                <a:latin typeface="Times New Roman"/>
                <a:cs typeface="Times New Roman"/>
              </a:rPr>
              <a:t> </a:t>
            </a:r>
            <a:r>
              <a:rPr dirty="0" sz="750" spc="185">
                <a:latin typeface="Times New Roman"/>
                <a:cs typeface="Times New Roman"/>
              </a:rPr>
              <a:t>=</a:t>
            </a:r>
            <a:endParaRPr sz="750">
              <a:latin typeface="Times New Roman"/>
              <a:cs typeface="Times New Roman"/>
            </a:endParaRPr>
          </a:p>
        </p:txBody>
      </p:sp>
      <p:grpSp>
        <p:nvGrpSpPr>
          <p:cNvPr id="93" name="object 93" descr=""/>
          <p:cNvGrpSpPr/>
          <p:nvPr/>
        </p:nvGrpSpPr>
        <p:grpSpPr>
          <a:xfrm>
            <a:off x="8610720" y="3438893"/>
            <a:ext cx="2574290" cy="548640"/>
            <a:chOff x="8610720" y="3438893"/>
            <a:chExt cx="2574290" cy="548640"/>
          </a:xfrm>
        </p:grpSpPr>
        <p:sp>
          <p:nvSpPr>
            <p:cNvPr id="94" name="object 94" descr=""/>
            <p:cNvSpPr/>
            <p:nvPr/>
          </p:nvSpPr>
          <p:spPr>
            <a:xfrm>
              <a:off x="9485408" y="3440798"/>
              <a:ext cx="0" cy="52705"/>
            </a:xfrm>
            <a:custGeom>
              <a:avLst/>
              <a:gdLst/>
              <a:ahLst/>
              <a:cxnLst/>
              <a:rect l="l" t="t" r="r" b="b"/>
              <a:pathLst>
                <a:path w="0" h="52704">
                  <a:moveTo>
                    <a:pt x="0" y="0"/>
                  </a:moveTo>
                  <a:lnTo>
                    <a:pt x="0" y="52373"/>
                  </a:lnTo>
                </a:path>
              </a:pathLst>
            </a:custGeom>
            <a:ln w="3596">
              <a:solidFill>
                <a:srgbClr val="000000"/>
              </a:solidFill>
            </a:ln>
          </p:spPr>
          <p:txBody>
            <a:bodyPr wrap="square" lIns="0" tIns="0" rIns="0" bIns="0" rtlCol="0"/>
            <a:lstStyle/>
            <a:p/>
          </p:txBody>
        </p:sp>
        <p:sp>
          <p:nvSpPr>
            <p:cNvPr id="95" name="object 95" descr=""/>
            <p:cNvSpPr/>
            <p:nvPr/>
          </p:nvSpPr>
          <p:spPr>
            <a:xfrm>
              <a:off x="9460234" y="3489021"/>
              <a:ext cx="50800" cy="50165"/>
            </a:xfrm>
            <a:custGeom>
              <a:avLst/>
              <a:gdLst/>
              <a:ahLst/>
              <a:cxnLst/>
              <a:rect l="l" t="t" r="r" b="b"/>
              <a:pathLst>
                <a:path w="50800" h="50164">
                  <a:moveTo>
                    <a:pt x="50347" y="0"/>
                  </a:moveTo>
                  <a:lnTo>
                    <a:pt x="0" y="0"/>
                  </a:lnTo>
                  <a:lnTo>
                    <a:pt x="25173" y="49804"/>
                  </a:lnTo>
                  <a:lnTo>
                    <a:pt x="50347" y="0"/>
                  </a:lnTo>
                  <a:close/>
                </a:path>
              </a:pathLst>
            </a:custGeom>
            <a:solidFill>
              <a:srgbClr val="000000"/>
            </a:solidFill>
          </p:spPr>
          <p:txBody>
            <a:bodyPr wrap="square" lIns="0" tIns="0" rIns="0" bIns="0" rtlCol="0"/>
            <a:lstStyle/>
            <a:p/>
          </p:txBody>
        </p:sp>
        <p:sp>
          <p:nvSpPr>
            <p:cNvPr id="96" name="object 96" descr=""/>
            <p:cNvSpPr/>
            <p:nvPr/>
          </p:nvSpPr>
          <p:spPr>
            <a:xfrm>
              <a:off x="8635894" y="3762944"/>
              <a:ext cx="424815" cy="179070"/>
            </a:xfrm>
            <a:custGeom>
              <a:avLst/>
              <a:gdLst/>
              <a:ahLst/>
              <a:cxnLst/>
              <a:rect l="l" t="t" r="r" b="b"/>
              <a:pathLst>
                <a:path w="424815" h="179070">
                  <a:moveTo>
                    <a:pt x="424764" y="0"/>
                  </a:moveTo>
                  <a:lnTo>
                    <a:pt x="0" y="0"/>
                  </a:lnTo>
                  <a:lnTo>
                    <a:pt x="0" y="178464"/>
                  </a:lnTo>
                </a:path>
              </a:pathLst>
            </a:custGeom>
            <a:ln w="3175">
              <a:solidFill>
                <a:srgbClr val="000000"/>
              </a:solidFill>
            </a:ln>
          </p:spPr>
          <p:txBody>
            <a:bodyPr wrap="square" lIns="0" tIns="0" rIns="0" bIns="0" rtlCol="0"/>
            <a:lstStyle/>
            <a:p/>
          </p:txBody>
        </p:sp>
        <p:sp>
          <p:nvSpPr>
            <p:cNvPr id="97" name="object 97" descr=""/>
            <p:cNvSpPr/>
            <p:nvPr/>
          </p:nvSpPr>
          <p:spPr>
            <a:xfrm>
              <a:off x="8610720" y="3937258"/>
              <a:ext cx="50800" cy="50165"/>
            </a:xfrm>
            <a:custGeom>
              <a:avLst/>
              <a:gdLst/>
              <a:ahLst/>
              <a:cxnLst/>
              <a:rect l="l" t="t" r="r" b="b"/>
              <a:pathLst>
                <a:path w="50800" h="50164">
                  <a:moveTo>
                    <a:pt x="50347" y="0"/>
                  </a:moveTo>
                  <a:lnTo>
                    <a:pt x="0" y="0"/>
                  </a:lnTo>
                  <a:lnTo>
                    <a:pt x="25173" y="49804"/>
                  </a:lnTo>
                  <a:lnTo>
                    <a:pt x="50347" y="0"/>
                  </a:lnTo>
                  <a:close/>
                </a:path>
              </a:pathLst>
            </a:custGeom>
            <a:solidFill>
              <a:srgbClr val="000000"/>
            </a:solidFill>
          </p:spPr>
          <p:txBody>
            <a:bodyPr wrap="square" lIns="0" tIns="0" rIns="0" bIns="0" rtlCol="0"/>
            <a:lstStyle/>
            <a:p/>
          </p:txBody>
        </p:sp>
        <p:sp>
          <p:nvSpPr>
            <p:cNvPr id="98" name="object 98" descr=""/>
            <p:cNvSpPr/>
            <p:nvPr/>
          </p:nvSpPr>
          <p:spPr>
            <a:xfrm>
              <a:off x="9910157" y="3762944"/>
              <a:ext cx="1205230" cy="0"/>
            </a:xfrm>
            <a:custGeom>
              <a:avLst/>
              <a:gdLst/>
              <a:ahLst/>
              <a:cxnLst/>
              <a:rect l="l" t="t" r="r" b="b"/>
              <a:pathLst>
                <a:path w="1205229" h="0">
                  <a:moveTo>
                    <a:pt x="0" y="0"/>
                  </a:moveTo>
                  <a:lnTo>
                    <a:pt x="1205049" y="0"/>
                  </a:lnTo>
                </a:path>
              </a:pathLst>
            </a:custGeom>
            <a:ln w="3175">
              <a:solidFill>
                <a:srgbClr val="000000"/>
              </a:solidFill>
            </a:ln>
          </p:spPr>
          <p:txBody>
            <a:bodyPr wrap="square" lIns="0" tIns="0" rIns="0" bIns="0" rtlCol="0"/>
            <a:lstStyle/>
            <a:p/>
          </p:txBody>
        </p:sp>
        <p:sp>
          <p:nvSpPr>
            <p:cNvPr id="99" name="object 99" descr=""/>
            <p:cNvSpPr/>
            <p:nvPr/>
          </p:nvSpPr>
          <p:spPr>
            <a:xfrm>
              <a:off x="11108914" y="3746342"/>
              <a:ext cx="75565" cy="33655"/>
            </a:xfrm>
            <a:custGeom>
              <a:avLst/>
              <a:gdLst/>
              <a:ahLst/>
              <a:cxnLst/>
              <a:rect l="l" t="t" r="r" b="b"/>
              <a:pathLst>
                <a:path w="75565" h="33654">
                  <a:moveTo>
                    <a:pt x="0" y="0"/>
                  </a:moveTo>
                  <a:lnTo>
                    <a:pt x="0" y="33202"/>
                  </a:lnTo>
                  <a:lnTo>
                    <a:pt x="75521" y="16601"/>
                  </a:lnTo>
                  <a:lnTo>
                    <a:pt x="0" y="0"/>
                  </a:lnTo>
                  <a:close/>
                </a:path>
              </a:pathLst>
            </a:custGeom>
            <a:solidFill>
              <a:srgbClr val="000000"/>
            </a:solidFill>
          </p:spPr>
          <p:txBody>
            <a:bodyPr wrap="square" lIns="0" tIns="0" rIns="0" bIns="0" rtlCol="0"/>
            <a:lstStyle/>
            <a:p/>
          </p:txBody>
        </p:sp>
      </p:grpSp>
      <p:sp>
        <p:nvSpPr>
          <p:cNvPr id="100" name="object 100" descr=""/>
          <p:cNvSpPr txBox="1"/>
          <p:nvPr/>
        </p:nvSpPr>
        <p:spPr>
          <a:xfrm>
            <a:off x="8718975" y="3596977"/>
            <a:ext cx="1557655" cy="144145"/>
          </a:xfrm>
          <a:prstGeom prst="rect">
            <a:avLst/>
          </a:prstGeom>
        </p:spPr>
        <p:txBody>
          <a:bodyPr wrap="square" lIns="0" tIns="15875" rIns="0" bIns="0" rtlCol="0" vert="horz">
            <a:spAutoFit/>
          </a:bodyPr>
          <a:lstStyle/>
          <a:p>
            <a:pPr marL="12700">
              <a:lnSpc>
                <a:spcPct val="100000"/>
              </a:lnSpc>
              <a:spcBef>
                <a:spcPts val="125"/>
              </a:spcBef>
              <a:tabLst>
                <a:tab pos="1261745" algn="l"/>
              </a:tabLst>
            </a:pPr>
            <a:r>
              <a:rPr dirty="0" sz="750" spc="140">
                <a:latin typeface="Times New Roman"/>
                <a:cs typeface="Times New Roman"/>
              </a:rPr>
              <a:t>true</a:t>
            </a:r>
            <a:r>
              <a:rPr dirty="0" sz="750">
                <a:latin typeface="Times New Roman"/>
                <a:cs typeface="Times New Roman"/>
              </a:rPr>
              <a:t>	</a:t>
            </a:r>
            <a:r>
              <a:rPr dirty="0" sz="750" spc="135">
                <a:latin typeface="Times New Roman"/>
                <a:cs typeface="Times New Roman"/>
              </a:rPr>
              <a:t>false</a:t>
            </a:r>
            <a:endParaRPr sz="750">
              <a:latin typeface="Times New Roman"/>
              <a:cs typeface="Times New Roman"/>
            </a:endParaRPr>
          </a:p>
        </p:txBody>
      </p:sp>
      <p:sp>
        <p:nvSpPr>
          <p:cNvPr id="101" name="object 101" descr=""/>
          <p:cNvSpPr txBox="1"/>
          <p:nvPr/>
        </p:nvSpPr>
        <p:spPr>
          <a:xfrm>
            <a:off x="11301201" y="3698660"/>
            <a:ext cx="579120" cy="144145"/>
          </a:xfrm>
          <a:prstGeom prst="rect">
            <a:avLst/>
          </a:prstGeom>
        </p:spPr>
        <p:txBody>
          <a:bodyPr wrap="square" lIns="0" tIns="15875" rIns="0" bIns="0" rtlCol="0" vert="horz">
            <a:spAutoFit/>
          </a:bodyPr>
          <a:lstStyle/>
          <a:p>
            <a:pPr marL="12700">
              <a:lnSpc>
                <a:spcPct val="100000"/>
              </a:lnSpc>
              <a:spcBef>
                <a:spcPts val="125"/>
              </a:spcBef>
            </a:pPr>
            <a:r>
              <a:rPr dirty="0" sz="750" spc="175">
                <a:latin typeface="Times New Roman"/>
                <a:cs typeface="Times New Roman"/>
              </a:rPr>
              <a:t>trace</a:t>
            </a:r>
            <a:r>
              <a:rPr dirty="0" sz="750" spc="175">
                <a:latin typeface="Cambria"/>
                <a:cs typeface="Cambria"/>
              </a:rPr>
              <a:t>◻</a:t>
            </a:r>
            <a:r>
              <a:rPr dirty="0" sz="750" spc="135">
                <a:latin typeface="Cambria"/>
                <a:cs typeface="Cambria"/>
              </a:rPr>
              <a:t> </a:t>
            </a:r>
            <a:r>
              <a:rPr dirty="0" sz="750" spc="204">
                <a:latin typeface="Cambria"/>
                <a:cs typeface="Cambria"/>
              </a:rPr>
              <a:t>◻</a:t>
            </a:r>
            <a:endParaRPr sz="750">
              <a:latin typeface="Cambria"/>
              <a:cs typeface="Cambria"/>
            </a:endParaRPr>
          </a:p>
        </p:txBody>
      </p:sp>
      <p:grpSp>
        <p:nvGrpSpPr>
          <p:cNvPr id="102" name="object 102" descr=""/>
          <p:cNvGrpSpPr/>
          <p:nvPr/>
        </p:nvGrpSpPr>
        <p:grpSpPr>
          <a:xfrm>
            <a:off x="8634639" y="3034193"/>
            <a:ext cx="663575" cy="197485"/>
            <a:chOff x="8634639" y="3034193"/>
            <a:chExt cx="663575" cy="197485"/>
          </a:xfrm>
        </p:grpSpPr>
        <p:sp>
          <p:nvSpPr>
            <p:cNvPr id="103" name="object 103" descr=""/>
            <p:cNvSpPr/>
            <p:nvPr/>
          </p:nvSpPr>
          <p:spPr>
            <a:xfrm>
              <a:off x="8635894" y="3035448"/>
              <a:ext cx="637540" cy="150495"/>
            </a:xfrm>
            <a:custGeom>
              <a:avLst/>
              <a:gdLst/>
              <a:ahLst/>
              <a:cxnLst/>
              <a:rect l="l" t="t" r="r" b="b"/>
              <a:pathLst>
                <a:path w="637540" h="150494">
                  <a:moveTo>
                    <a:pt x="0" y="0"/>
                  </a:moveTo>
                  <a:lnTo>
                    <a:pt x="0" y="98027"/>
                  </a:lnTo>
                  <a:lnTo>
                    <a:pt x="637139" y="98027"/>
                  </a:lnTo>
                  <a:lnTo>
                    <a:pt x="637139" y="150400"/>
                  </a:lnTo>
                </a:path>
              </a:pathLst>
            </a:custGeom>
            <a:ln w="3175">
              <a:solidFill>
                <a:srgbClr val="000000"/>
              </a:solidFill>
            </a:ln>
          </p:spPr>
          <p:txBody>
            <a:bodyPr wrap="square" lIns="0" tIns="0" rIns="0" bIns="0" rtlCol="0"/>
            <a:lstStyle/>
            <a:p/>
          </p:txBody>
        </p:sp>
        <p:sp>
          <p:nvSpPr>
            <p:cNvPr id="104" name="object 104" descr=""/>
            <p:cNvSpPr/>
            <p:nvPr/>
          </p:nvSpPr>
          <p:spPr>
            <a:xfrm>
              <a:off x="9247860" y="3181698"/>
              <a:ext cx="50800" cy="50165"/>
            </a:xfrm>
            <a:custGeom>
              <a:avLst/>
              <a:gdLst/>
              <a:ahLst/>
              <a:cxnLst/>
              <a:rect l="l" t="t" r="r" b="b"/>
              <a:pathLst>
                <a:path w="50800" h="50164">
                  <a:moveTo>
                    <a:pt x="50347" y="0"/>
                  </a:moveTo>
                  <a:lnTo>
                    <a:pt x="0" y="0"/>
                  </a:lnTo>
                  <a:lnTo>
                    <a:pt x="25173" y="49804"/>
                  </a:lnTo>
                  <a:lnTo>
                    <a:pt x="50347" y="0"/>
                  </a:lnTo>
                  <a:close/>
                </a:path>
              </a:pathLst>
            </a:custGeom>
            <a:solidFill>
              <a:srgbClr val="000000"/>
            </a:solidFill>
          </p:spPr>
          <p:txBody>
            <a:bodyPr wrap="square" lIns="0" tIns="0" rIns="0" bIns="0" rtlCol="0"/>
            <a:lstStyle/>
            <a:p/>
          </p:txBody>
        </p:sp>
      </p:grpSp>
      <p:grpSp>
        <p:nvGrpSpPr>
          <p:cNvPr id="105" name="object 105" descr=""/>
          <p:cNvGrpSpPr/>
          <p:nvPr/>
        </p:nvGrpSpPr>
        <p:grpSpPr>
          <a:xfrm>
            <a:off x="9672624" y="3118255"/>
            <a:ext cx="1513205" cy="113664"/>
            <a:chOff x="9672624" y="3118255"/>
            <a:chExt cx="1513205" cy="113664"/>
          </a:xfrm>
        </p:grpSpPr>
        <p:sp>
          <p:nvSpPr>
            <p:cNvPr id="106" name="object 106" descr=""/>
            <p:cNvSpPr/>
            <p:nvPr/>
          </p:nvSpPr>
          <p:spPr>
            <a:xfrm>
              <a:off x="9697828" y="3119443"/>
              <a:ext cx="1487170" cy="66675"/>
            </a:xfrm>
            <a:custGeom>
              <a:avLst/>
              <a:gdLst/>
              <a:ahLst/>
              <a:cxnLst/>
              <a:rect l="l" t="t" r="r" b="b"/>
              <a:pathLst>
                <a:path w="1487170" h="66675">
                  <a:moveTo>
                    <a:pt x="1486607" y="0"/>
                  </a:moveTo>
                  <a:lnTo>
                    <a:pt x="0" y="0"/>
                  </a:lnTo>
                  <a:lnTo>
                    <a:pt x="0" y="66405"/>
                  </a:lnTo>
                </a:path>
              </a:pathLst>
            </a:custGeom>
            <a:ln w="3175">
              <a:solidFill>
                <a:srgbClr val="000000"/>
              </a:solidFill>
            </a:ln>
          </p:spPr>
          <p:txBody>
            <a:bodyPr wrap="square" lIns="0" tIns="0" rIns="0" bIns="0" rtlCol="0"/>
            <a:lstStyle/>
            <a:p/>
          </p:txBody>
        </p:sp>
        <p:sp>
          <p:nvSpPr>
            <p:cNvPr id="107" name="object 107" descr=""/>
            <p:cNvSpPr/>
            <p:nvPr/>
          </p:nvSpPr>
          <p:spPr>
            <a:xfrm>
              <a:off x="9672624" y="3181698"/>
              <a:ext cx="50800" cy="50165"/>
            </a:xfrm>
            <a:custGeom>
              <a:avLst/>
              <a:gdLst/>
              <a:ahLst/>
              <a:cxnLst/>
              <a:rect l="l" t="t" r="r" b="b"/>
              <a:pathLst>
                <a:path w="50800" h="50164">
                  <a:moveTo>
                    <a:pt x="50377" y="0"/>
                  </a:moveTo>
                  <a:lnTo>
                    <a:pt x="0" y="0"/>
                  </a:lnTo>
                  <a:lnTo>
                    <a:pt x="25203" y="49804"/>
                  </a:lnTo>
                  <a:lnTo>
                    <a:pt x="50377" y="0"/>
                  </a:lnTo>
                  <a:close/>
                </a:path>
              </a:pathLst>
            </a:custGeom>
            <a:solidFill>
              <a:srgbClr val="000000"/>
            </a:solidFill>
          </p:spPr>
          <p:txBody>
            <a:bodyPr wrap="square" lIns="0" tIns="0" rIns="0" bIns="0" rtlCol="0"/>
            <a:lstStyle/>
            <a:p/>
          </p:txBody>
        </p:sp>
      </p:grpSp>
      <p:sp>
        <p:nvSpPr>
          <p:cNvPr id="108" name="object 108" descr=""/>
          <p:cNvSpPr txBox="1"/>
          <p:nvPr/>
        </p:nvSpPr>
        <p:spPr>
          <a:xfrm>
            <a:off x="11301201" y="3040436"/>
            <a:ext cx="579120" cy="144145"/>
          </a:xfrm>
          <a:prstGeom prst="rect">
            <a:avLst/>
          </a:prstGeom>
        </p:spPr>
        <p:txBody>
          <a:bodyPr wrap="square" lIns="0" tIns="15875" rIns="0" bIns="0" rtlCol="0" vert="horz">
            <a:spAutoFit/>
          </a:bodyPr>
          <a:lstStyle/>
          <a:p>
            <a:pPr marL="12700">
              <a:lnSpc>
                <a:spcPct val="100000"/>
              </a:lnSpc>
              <a:spcBef>
                <a:spcPts val="125"/>
              </a:spcBef>
            </a:pPr>
            <a:r>
              <a:rPr dirty="0" sz="750" spc="175">
                <a:latin typeface="Times New Roman"/>
                <a:cs typeface="Times New Roman"/>
              </a:rPr>
              <a:t>trace</a:t>
            </a:r>
            <a:r>
              <a:rPr dirty="0" sz="750" spc="175">
                <a:latin typeface="Cambria"/>
                <a:cs typeface="Cambria"/>
              </a:rPr>
              <a:t>◻</a:t>
            </a:r>
            <a:r>
              <a:rPr dirty="0" sz="750" spc="135">
                <a:latin typeface="Cambria"/>
                <a:cs typeface="Cambria"/>
              </a:rPr>
              <a:t> </a:t>
            </a:r>
            <a:r>
              <a:rPr dirty="0" sz="750" spc="204">
                <a:latin typeface="Cambria"/>
                <a:cs typeface="Cambria"/>
              </a:rPr>
              <a:t>◻</a:t>
            </a:r>
            <a:endParaRPr sz="750">
              <a:latin typeface="Cambria"/>
              <a:cs typeface="Cambria"/>
            </a:endParaRPr>
          </a:p>
        </p:txBody>
      </p:sp>
      <p:grpSp>
        <p:nvGrpSpPr>
          <p:cNvPr id="109" name="object 109" descr=""/>
          <p:cNvGrpSpPr/>
          <p:nvPr/>
        </p:nvGrpSpPr>
        <p:grpSpPr>
          <a:xfrm>
            <a:off x="8610720" y="4141787"/>
            <a:ext cx="3462654" cy="181610"/>
            <a:chOff x="8610720" y="4141787"/>
            <a:chExt cx="3462654" cy="181610"/>
          </a:xfrm>
        </p:grpSpPr>
        <p:sp>
          <p:nvSpPr>
            <p:cNvPr id="110" name="object 110" descr=""/>
            <p:cNvSpPr/>
            <p:nvPr/>
          </p:nvSpPr>
          <p:spPr>
            <a:xfrm>
              <a:off x="8635894" y="4183116"/>
              <a:ext cx="0" cy="94615"/>
            </a:xfrm>
            <a:custGeom>
              <a:avLst/>
              <a:gdLst/>
              <a:ahLst/>
              <a:cxnLst/>
              <a:rect l="l" t="t" r="r" b="b"/>
              <a:pathLst>
                <a:path w="0" h="94614">
                  <a:moveTo>
                    <a:pt x="0" y="0"/>
                  </a:moveTo>
                  <a:lnTo>
                    <a:pt x="0" y="94370"/>
                  </a:lnTo>
                </a:path>
              </a:pathLst>
            </a:custGeom>
            <a:ln w="3596">
              <a:solidFill>
                <a:srgbClr val="000000"/>
              </a:solidFill>
            </a:ln>
          </p:spPr>
          <p:txBody>
            <a:bodyPr wrap="square" lIns="0" tIns="0" rIns="0" bIns="0" rtlCol="0"/>
            <a:lstStyle/>
            <a:p/>
          </p:txBody>
        </p:sp>
        <p:sp>
          <p:nvSpPr>
            <p:cNvPr id="111" name="object 111" descr=""/>
            <p:cNvSpPr/>
            <p:nvPr/>
          </p:nvSpPr>
          <p:spPr>
            <a:xfrm>
              <a:off x="8610720" y="4273337"/>
              <a:ext cx="50800" cy="50165"/>
            </a:xfrm>
            <a:custGeom>
              <a:avLst/>
              <a:gdLst/>
              <a:ahLst/>
              <a:cxnLst/>
              <a:rect l="l" t="t" r="r" b="b"/>
              <a:pathLst>
                <a:path w="50800" h="50164">
                  <a:moveTo>
                    <a:pt x="50347" y="0"/>
                  </a:moveTo>
                  <a:lnTo>
                    <a:pt x="0" y="0"/>
                  </a:lnTo>
                  <a:lnTo>
                    <a:pt x="25173" y="49804"/>
                  </a:lnTo>
                  <a:lnTo>
                    <a:pt x="50347" y="0"/>
                  </a:lnTo>
                  <a:close/>
                </a:path>
              </a:pathLst>
            </a:custGeom>
            <a:solidFill>
              <a:srgbClr val="000000"/>
            </a:solidFill>
          </p:spPr>
          <p:txBody>
            <a:bodyPr wrap="square" lIns="0" tIns="0" rIns="0" bIns="0" rtlCol="0"/>
            <a:lstStyle/>
            <a:p/>
          </p:txBody>
        </p:sp>
        <p:sp>
          <p:nvSpPr>
            <p:cNvPr id="112" name="object 112" descr=""/>
            <p:cNvSpPr/>
            <p:nvPr/>
          </p:nvSpPr>
          <p:spPr>
            <a:xfrm>
              <a:off x="11136376" y="4149725"/>
              <a:ext cx="936625" cy="0"/>
            </a:xfrm>
            <a:custGeom>
              <a:avLst/>
              <a:gdLst/>
              <a:ahLst/>
              <a:cxnLst/>
              <a:rect l="l" t="t" r="r" b="b"/>
              <a:pathLst>
                <a:path w="936625" h="0">
                  <a:moveTo>
                    <a:pt x="0" y="0"/>
                  </a:moveTo>
                  <a:lnTo>
                    <a:pt x="936625" y="0"/>
                  </a:lnTo>
                </a:path>
              </a:pathLst>
            </a:custGeom>
            <a:ln w="15875">
              <a:solidFill>
                <a:srgbClr val="FF0000"/>
              </a:solidFill>
            </a:ln>
          </p:spPr>
          <p:txBody>
            <a:bodyPr wrap="square" lIns="0" tIns="0" rIns="0" bIns="0" rtlCol="0"/>
            <a:lstStyle/>
            <a:p/>
          </p:txBody>
        </p:sp>
      </p:grpSp>
      <p:sp>
        <p:nvSpPr>
          <p:cNvPr id="113" name="object 113" descr=""/>
          <p:cNvSpPr txBox="1"/>
          <p:nvPr/>
        </p:nvSpPr>
        <p:spPr>
          <a:xfrm>
            <a:off x="8848284" y="4687264"/>
            <a:ext cx="1274445" cy="196215"/>
          </a:xfrm>
          <a:prstGeom prst="rect">
            <a:avLst/>
          </a:prstGeom>
          <a:ln w="7304">
            <a:solidFill>
              <a:srgbClr val="000000"/>
            </a:solidFill>
          </a:ln>
        </p:spPr>
        <p:txBody>
          <a:bodyPr wrap="square" lIns="0" tIns="32384" rIns="0" bIns="0" rtlCol="0" vert="horz">
            <a:spAutoFit/>
          </a:bodyPr>
          <a:lstStyle/>
          <a:p>
            <a:pPr marL="107314">
              <a:lnSpc>
                <a:spcPct val="100000"/>
              </a:lnSpc>
              <a:spcBef>
                <a:spcPts val="254"/>
              </a:spcBef>
            </a:pPr>
            <a:r>
              <a:rPr dirty="0" sz="750" spc="175">
                <a:latin typeface="Times New Roman"/>
                <a:cs typeface="Times New Roman"/>
              </a:rPr>
              <a:t>A[i]</a:t>
            </a:r>
            <a:r>
              <a:rPr dirty="0" sz="750" spc="105">
                <a:latin typeface="Times New Roman"/>
                <a:cs typeface="Times New Roman"/>
              </a:rPr>
              <a:t> </a:t>
            </a:r>
            <a:r>
              <a:rPr dirty="0" sz="750" spc="235">
                <a:latin typeface="Times New Roman"/>
                <a:cs typeface="Times New Roman"/>
              </a:rPr>
              <a:t>=</a:t>
            </a:r>
            <a:r>
              <a:rPr dirty="0" sz="750" spc="105">
                <a:latin typeface="Times New Roman"/>
                <a:cs typeface="Times New Roman"/>
              </a:rPr>
              <a:t> </a:t>
            </a:r>
            <a:r>
              <a:rPr dirty="0" sz="750" spc="175">
                <a:latin typeface="Times New Roman"/>
                <a:cs typeface="Times New Roman"/>
              </a:rPr>
              <a:t>A[i]</a:t>
            </a:r>
            <a:r>
              <a:rPr dirty="0" sz="750" spc="110">
                <a:latin typeface="Times New Roman"/>
                <a:cs typeface="Times New Roman"/>
              </a:rPr>
              <a:t> </a:t>
            </a:r>
            <a:r>
              <a:rPr dirty="0" sz="750" spc="235">
                <a:latin typeface="Times New Roman"/>
                <a:cs typeface="Times New Roman"/>
              </a:rPr>
              <a:t>+</a:t>
            </a:r>
            <a:r>
              <a:rPr dirty="0" sz="750" spc="105">
                <a:latin typeface="Times New Roman"/>
                <a:cs typeface="Times New Roman"/>
              </a:rPr>
              <a:t> </a:t>
            </a:r>
            <a:r>
              <a:rPr dirty="0" sz="750" spc="150">
                <a:latin typeface="Times New Roman"/>
                <a:cs typeface="Times New Roman"/>
              </a:rPr>
              <a:t>B[i]</a:t>
            </a:r>
            <a:endParaRPr sz="750">
              <a:latin typeface="Times New Roman"/>
              <a:cs typeface="Times New Roman"/>
            </a:endParaRPr>
          </a:p>
        </p:txBody>
      </p:sp>
      <p:sp>
        <p:nvSpPr>
          <p:cNvPr id="114" name="object 114" descr=""/>
          <p:cNvSpPr/>
          <p:nvPr/>
        </p:nvSpPr>
        <p:spPr>
          <a:xfrm>
            <a:off x="9060659" y="4995397"/>
            <a:ext cx="849630" cy="420370"/>
          </a:xfrm>
          <a:custGeom>
            <a:avLst/>
            <a:gdLst/>
            <a:ahLst/>
            <a:cxnLst/>
            <a:rect l="l" t="t" r="r" b="b"/>
            <a:pathLst>
              <a:path w="849629" h="420370">
                <a:moveTo>
                  <a:pt x="424749" y="0"/>
                </a:moveTo>
                <a:lnTo>
                  <a:pt x="0" y="224118"/>
                </a:lnTo>
                <a:lnTo>
                  <a:pt x="424749" y="420192"/>
                </a:lnTo>
                <a:lnTo>
                  <a:pt x="849498" y="224118"/>
                </a:lnTo>
                <a:lnTo>
                  <a:pt x="424749" y="0"/>
                </a:lnTo>
                <a:close/>
              </a:path>
            </a:pathLst>
          </a:custGeom>
          <a:ln w="7837">
            <a:solidFill>
              <a:srgbClr val="000000"/>
            </a:solidFill>
          </a:ln>
        </p:spPr>
        <p:txBody>
          <a:bodyPr wrap="square" lIns="0" tIns="0" rIns="0" bIns="0" rtlCol="0"/>
          <a:lstStyle/>
          <a:p/>
        </p:txBody>
      </p:sp>
      <p:sp>
        <p:nvSpPr>
          <p:cNvPr id="115" name="object 115" descr=""/>
          <p:cNvSpPr txBox="1"/>
          <p:nvPr/>
        </p:nvSpPr>
        <p:spPr>
          <a:xfrm>
            <a:off x="9197519" y="5123640"/>
            <a:ext cx="575945" cy="144145"/>
          </a:xfrm>
          <a:prstGeom prst="rect">
            <a:avLst/>
          </a:prstGeom>
        </p:spPr>
        <p:txBody>
          <a:bodyPr wrap="square" lIns="0" tIns="15875" rIns="0" bIns="0" rtlCol="0" vert="horz">
            <a:spAutoFit/>
          </a:bodyPr>
          <a:lstStyle/>
          <a:p>
            <a:pPr marL="12700">
              <a:lnSpc>
                <a:spcPct val="100000"/>
              </a:lnSpc>
              <a:spcBef>
                <a:spcPts val="125"/>
              </a:spcBef>
            </a:pPr>
            <a:r>
              <a:rPr dirty="0" sz="750" spc="175">
                <a:latin typeface="Times New Roman"/>
                <a:cs typeface="Times New Roman"/>
              </a:rPr>
              <a:t>A[i]</a:t>
            </a:r>
            <a:r>
              <a:rPr dirty="0" sz="750" spc="105">
                <a:latin typeface="Times New Roman"/>
                <a:cs typeface="Times New Roman"/>
              </a:rPr>
              <a:t> </a:t>
            </a:r>
            <a:r>
              <a:rPr dirty="0" sz="750" spc="235">
                <a:latin typeface="Times New Roman"/>
                <a:cs typeface="Times New Roman"/>
              </a:rPr>
              <a:t>=</a:t>
            </a:r>
            <a:r>
              <a:rPr dirty="0" sz="750" spc="105">
                <a:latin typeface="Times New Roman"/>
                <a:cs typeface="Times New Roman"/>
              </a:rPr>
              <a:t> </a:t>
            </a:r>
            <a:r>
              <a:rPr dirty="0" sz="750" spc="170">
                <a:latin typeface="Times New Roman"/>
                <a:cs typeface="Times New Roman"/>
              </a:rPr>
              <a:t>0?</a:t>
            </a:r>
            <a:endParaRPr sz="750">
              <a:latin typeface="Times New Roman"/>
              <a:cs typeface="Times New Roman"/>
            </a:endParaRPr>
          </a:p>
        </p:txBody>
      </p:sp>
      <p:sp>
        <p:nvSpPr>
          <p:cNvPr id="116" name="object 116" descr=""/>
          <p:cNvSpPr/>
          <p:nvPr/>
        </p:nvSpPr>
        <p:spPr>
          <a:xfrm>
            <a:off x="8211145" y="5429602"/>
            <a:ext cx="849630" cy="196215"/>
          </a:xfrm>
          <a:custGeom>
            <a:avLst/>
            <a:gdLst/>
            <a:ahLst/>
            <a:cxnLst/>
            <a:rect l="l" t="t" r="r" b="b"/>
            <a:pathLst>
              <a:path w="849629" h="196214">
                <a:moveTo>
                  <a:pt x="0" y="196073"/>
                </a:moveTo>
                <a:lnTo>
                  <a:pt x="849513" y="196073"/>
                </a:lnTo>
                <a:lnTo>
                  <a:pt x="849513" y="0"/>
                </a:lnTo>
                <a:lnTo>
                  <a:pt x="0" y="0"/>
                </a:lnTo>
                <a:lnTo>
                  <a:pt x="0" y="196073"/>
                </a:lnTo>
                <a:close/>
              </a:path>
            </a:pathLst>
          </a:custGeom>
          <a:ln w="7300">
            <a:solidFill>
              <a:srgbClr val="000000"/>
            </a:solidFill>
          </a:ln>
        </p:spPr>
        <p:txBody>
          <a:bodyPr wrap="square" lIns="0" tIns="0" rIns="0" bIns="0" rtlCol="0"/>
          <a:lstStyle/>
          <a:p/>
        </p:txBody>
      </p:sp>
      <p:sp>
        <p:nvSpPr>
          <p:cNvPr id="117" name="object 117" descr=""/>
          <p:cNvSpPr txBox="1"/>
          <p:nvPr/>
        </p:nvSpPr>
        <p:spPr>
          <a:xfrm>
            <a:off x="8441583" y="5445766"/>
            <a:ext cx="389255" cy="144145"/>
          </a:xfrm>
          <a:prstGeom prst="rect">
            <a:avLst/>
          </a:prstGeom>
        </p:spPr>
        <p:txBody>
          <a:bodyPr wrap="square" lIns="0" tIns="15875" rIns="0" bIns="0" rtlCol="0" vert="horz">
            <a:spAutoFit/>
          </a:bodyPr>
          <a:lstStyle/>
          <a:p>
            <a:pPr marL="12700">
              <a:lnSpc>
                <a:spcPct val="100000"/>
              </a:lnSpc>
              <a:spcBef>
                <a:spcPts val="125"/>
              </a:spcBef>
            </a:pPr>
            <a:r>
              <a:rPr dirty="0" sz="750" spc="170">
                <a:latin typeface="Times New Roman"/>
                <a:cs typeface="Times New Roman"/>
              </a:rPr>
              <a:t>B[i]</a:t>
            </a:r>
            <a:r>
              <a:rPr dirty="0" sz="750" spc="100">
                <a:latin typeface="Times New Roman"/>
                <a:cs typeface="Times New Roman"/>
              </a:rPr>
              <a:t> </a:t>
            </a:r>
            <a:r>
              <a:rPr dirty="0" sz="750" spc="185">
                <a:latin typeface="Times New Roman"/>
                <a:cs typeface="Times New Roman"/>
              </a:rPr>
              <a:t>=</a:t>
            </a:r>
            <a:endParaRPr sz="750">
              <a:latin typeface="Times New Roman"/>
              <a:cs typeface="Times New Roman"/>
            </a:endParaRPr>
          </a:p>
        </p:txBody>
      </p:sp>
      <p:sp>
        <p:nvSpPr>
          <p:cNvPr id="118" name="object 118" descr=""/>
          <p:cNvSpPr txBox="1"/>
          <p:nvPr/>
        </p:nvSpPr>
        <p:spPr>
          <a:xfrm>
            <a:off x="8211145" y="5765730"/>
            <a:ext cx="849630" cy="196215"/>
          </a:xfrm>
          <a:prstGeom prst="rect">
            <a:avLst/>
          </a:prstGeom>
          <a:ln w="7515">
            <a:solidFill>
              <a:srgbClr val="000000"/>
            </a:solidFill>
          </a:ln>
        </p:spPr>
        <p:txBody>
          <a:bodyPr wrap="square" lIns="0" tIns="32384" rIns="0" bIns="0" rtlCol="0" vert="horz">
            <a:spAutoFit/>
          </a:bodyPr>
          <a:lstStyle/>
          <a:p>
            <a:pPr marL="242570">
              <a:lnSpc>
                <a:spcPct val="100000"/>
              </a:lnSpc>
              <a:spcBef>
                <a:spcPts val="254"/>
              </a:spcBef>
            </a:pPr>
            <a:r>
              <a:rPr dirty="0" sz="750" spc="170">
                <a:latin typeface="Times New Roman"/>
                <a:cs typeface="Times New Roman"/>
              </a:rPr>
              <a:t>C[i]</a:t>
            </a:r>
            <a:r>
              <a:rPr dirty="0" sz="750" spc="100">
                <a:latin typeface="Times New Roman"/>
                <a:cs typeface="Times New Roman"/>
              </a:rPr>
              <a:t> </a:t>
            </a:r>
            <a:r>
              <a:rPr dirty="0" sz="750" spc="185">
                <a:latin typeface="Times New Roman"/>
                <a:cs typeface="Times New Roman"/>
              </a:rPr>
              <a:t>=</a:t>
            </a:r>
            <a:endParaRPr sz="750">
              <a:latin typeface="Times New Roman"/>
              <a:cs typeface="Times New Roman"/>
            </a:endParaRPr>
          </a:p>
        </p:txBody>
      </p:sp>
      <p:grpSp>
        <p:nvGrpSpPr>
          <p:cNvPr id="119" name="object 119" descr=""/>
          <p:cNvGrpSpPr/>
          <p:nvPr/>
        </p:nvGrpSpPr>
        <p:grpSpPr>
          <a:xfrm>
            <a:off x="8610720" y="4881433"/>
            <a:ext cx="2574290" cy="548640"/>
            <a:chOff x="8610720" y="4881433"/>
            <a:chExt cx="2574290" cy="548640"/>
          </a:xfrm>
        </p:grpSpPr>
        <p:sp>
          <p:nvSpPr>
            <p:cNvPr id="120" name="object 120" descr=""/>
            <p:cNvSpPr/>
            <p:nvPr/>
          </p:nvSpPr>
          <p:spPr>
            <a:xfrm>
              <a:off x="9485408" y="4883338"/>
              <a:ext cx="0" cy="80645"/>
            </a:xfrm>
            <a:custGeom>
              <a:avLst/>
              <a:gdLst/>
              <a:ahLst/>
              <a:cxnLst/>
              <a:rect l="l" t="t" r="r" b="b"/>
              <a:pathLst>
                <a:path w="0" h="80645">
                  <a:moveTo>
                    <a:pt x="0" y="0"/>
                  </a:moveTo>
                  <a:lnTo>
                    <a:pt x="0" y="80437"/>
                  </a:lnTo>
                </a:path>
              </a:pathLst>
            </a:custGeom>
            <a:ln w="3596">
              <a:solidFill>
                <a:srgbClr val="000000"/>
              </a:solidFill>
            </a:ln>
          </p:spPr>
          <p:txBody>
            <a:bodyPr wrap="square" lIns="0" tIns="0" rIns="0" bIns="0" rtlCol="0"/>
            <a:lstStyle/>
            <a:p/>
          </p:txBody>
        </p:sp>
        <p:sp>
          <p:nvSpPr>
            <p:cNvPr id="121" name="object 121" descr=""/>
            <p:cNvSpPr/>
            <p:nvPr/>
          </p:nvSpPr>
          <p:spPr>
            <a:xfrm>
              <a:off x="9460234" y="4959625"/>
              <a:ext cx="50800" cy="50165"/>
            </a:xfrm>
            <a:custGeom>
              <a:avLst/>
              <a:gdLst/>
              <a:ahLst/>
              <a:cxnLst/>
              <a:rect l="l" t="t" r="r" b="b"/>
              <a:pathLst>
                <a:path w="50800" h="50164">
                  <a:moveTo>
                    <a:pt x="50347" y="0"/>
                  </a:moveTo>
                  <a:lnTo>
                    <a:pt x="0" y="0"/>
                  </a:lnTo>
                  <a:lnTo>
                    <a:pt x="25173" y="49804"/>
                  </a:lnTo>
                  <a:lnTo>
                    <a:pt x="50347" y="0"/>
                  </a:lnTo>
                  <a:close/>
                </a:path>
              </a:pathLst>
            </a:custGeom>
            <a:solidFill>
              <a:srgbClr val="000000"/>
            </a:solidFill>
          </p:spPr>
          <p:txBody>
            <a:bodyPr wrap="square" lIns="0" tIns="0" rIns="0" bIns="0" rtlCol="0"/>
            <a:lstStyle/>
            <a:p/>
          </p:txBody>
        </p:sp>
        <p:sp>
          <p:nvSpPr>
            <p:cNvPr id="122" name="object 122" descr=""/>
            <p:cNvSpPr/>
            <p:nvPr/>
          </p:nvSpPr>
          <p:spPr>
            <a:xfrm>
              <a:off x="8635894" y="5219515"/>
              <a:ext cx="424815" cy="164465"/>
            </a:xfrm>
            <a:custGeom>
              <a:avLst/>
              <a:gdLst/>
              <a:ahLst/>
              <a:cxnLst/>
              <a:rect l="l" t="t" r="r" b="b"/>
              <a:pathLst>
                <a:path w="424815" h="164464">
                  <a:moveTo>
                    <a:pt x="424764" y="0"/>
                  </a:moveTo>
                  <a:lnTo>
                    <a:pt x="0" y="0"/>
                  </a:lnTo>
                  <a:lnTo>
                    <a:pt x="0" y="164432"/>
                  </a:lnTo>
                </a:path>
              </a:pathLst>
            </a:custGeom>
            <a:ln w="3175">
              <a:solidFill>
                <a:srgbClr val="000000"/>
              </a:solidFill>
            </a:ln>
          </p:spPr>
          <p:txBody>
            <a:bodyPr wrap="square" lIns="0" tIns="0" rIns="0" bIns="0" rtlCol="0"/>
            <a:lstStyle/>
            <a:p/>
          </p:txBody>
        </p:sp>
        <p:sp>
          <p:nvSpPr>
            <p:cNvPr id="123" name="object 123" descr=""/>
            <p:cNvSpPr/>
            <p:nvPr/>
          </p:nvSpPr>
          <p:spPr>
            <a:xfrm>
              <a:off x="8610720" y="5379798"/>
              <a:ext cx="50800" cy="50165"/>
            </a:xfrm>
            <a:custGeom>
              <a:avLst/>
              <a:gdLst/>
              <a:ahLst/>
              <a:cxnLst/>
              <a:rect l="l" t="t" r="r" b="b"/>
              <a:pathLst>
                <a:path w="50800" h="50164">
                  <a:moveTo>
                    <a:pt x="50347" y="0"/>
                  </a:moveTo>
                  <a:lnTo>
                    <a:pt x="0" y="0"/>
                  </a:lnTo>
                  <a:lnTo>
                    <a:pt x="25173" y="49804"/>
                  </a:lnTo>
                  <a:lnTo>
                    <a:pt x="50347" y="0"/>
                  </a:lnTo>
                  <a:close/>
                </a:path>
              </a:pathLst>
            </a:custGeom>
            <a:solidFill>
              <a:srgbClr val="000000"/>
            </a:solidFill>
          </p:spPr>
          <p:txBody>
            <a:bodyPr wrap="square" lIns="0" tIns="0" rIns="0" bIns="0" rtlCol="0"/>
            <a:lstStyle/>
            <a:p/>
          </p:txBody>
        </p:sp>
        <p:sp>
          <p:nvSpPr>
            <p:cNvPr id="124" name="object 124" descr=""/>
            <p:cNvSpPr/>
            <p:nvPr/>
          </p:nvSpPr>
          <p:spPr>
            <a:xfrm>
              <a:off x="9910157" y="5219515"/>
              <a:ext cx="1205230" cy="0"/>
            </a:xfrm>
            <a:custGeom>
              <a:avLst/>
              <a:gdLst/>
              <a:ahLst/>
              <a:cxnLst/>
              <a:rect l="l" t="t" r="r" b="b"/>
              <a:pathLst>
                <a:path w="1205229" h="0">
                  <a:moveTo>
                    <a:pt x="0" y="0"/>
                  </a:moveTo>
                  <a:lnTo>
                    <a:pt x="1205049" y="0"/>
                  </a:lnTo>
                </a:path>
              </a:pathLst>
            </a:custGeom>
            <a:ln w="3175">
              <a:solidFill>
                <a:srgbClr val="000000"/>
              </a:solidFill>
            </a:ln>
          </p:spPr>
          <p:txBody>
            <a:bodyPr wrap="square" lIns="0" tIns="0" rIns="0" bIns="0" rtlCol="0"/>
            <a:lstStyle/>
            <a:p/>
          </p:txBody>
        </p:sp>
        <p:sp>
          <p:nvSpPr>
            <p:cNvPr id="125" name="object 125" descr=""/>
            <p:cNvSpPr/>
            <p:nvPr/>
          </p:nvSpPr>
          <p:spPr>
            <a:xfrm>
              <a:off x="11108914" y="5202914"/>
              <a:ext cx="75565" cy="33655"/>
            </a:xfrm>
            <a:custGeom>
              <a:avLst/>
              <a:gdLst/>
              <a:ahLst/>
              <a:cxnLst/>
              <a:rect l="l" t="t" r="r" b="b"/>
              <a:pathLst>
                <a:path w="75565" h="33654">
                  <a:moveTo>
                    <a:pt x="0" y="0"/>
                  </a:moveTo>
                  <a:lnTo>
                    <a:pt x="0" y="33202"/>
                  </a:lnTo>
                  <a:lnTo>
                    <a:pt x="75521" y="16601"/>
                  </a:lnTo>
                  <a:lnTo>
                    <a:pt x="0" y="0"/>
                  </a:lnTo>
                  <a:close/>
                </a:path>
              </a:pathLst>
            </a:custGeom>
            <a:solidFill>
              <a:srgbClr val="000000"/>
            </a:solidFill>
          </p:spPr>
          <p:txBody>
            <a:bodyPr wrap="square" lIns="0" tIns="0" rIns="0" bIns="0" rtlCol="0"/>
            <a:lstStyle/>
            <a:p/>
          </p:txBody>
        </p:sp>
      </p:grpSp>
      <p:sp>
        <p:nvSpPr>
          <p:cNvPr id="126" name="object 126" descr=""/>
          <p:cNvSpPr txBox="1"/>
          <p:nvPr/>
        </p:nvSpPr>
        <p:spPr>
          <a:xfrm>
            <a:off x="8718975" y="5053647"/>
            <a:ext cx="1557655" cy="144145"/>
          </a:xfrm>
          <a:prstGeom prst="rect">
            <a:avLst/>
          </a:prstGeom>
        </p:spPr>
        <p:txBody>
          <a:bodyPr wrap="square" lIns="0" tIns="15875" rIns="0" bIns="0" rtlCol="0" vert="horz">
            <a:spAutoFit/>
          </a:bodyPr>
          <a:lstStyle/>
          <a:p>
            <a:pPr marL="12700">
              <a:lnSpc>
                <a:spcPct val="100000"/>
              </a:lnSpc>
              <a:spcBef>
                <a:spcPts val="125"/>
              </a:spcBef>
              <a:tabLst>
                <a:tab pos="1261745" algn="l"/>
              </a:tabLst>
            </a:pPr>
            <a:r>
              <a:rPr dirty="0" sz="750" spc="140">
                <a:latin typeface="Times New Roman"/>
                <a:cs typeface="Times New Roman"/>
              </a:rPr>
              <a:t>true</a:t>
            </a:r>
            <a:r>
              <a:rPr dirty="0" sz="750">
                <a:latin typeface="Times New Roman"/>
                <a:cs typeface="Times New Roman"/>
              </a:rPr>
              <a:t>	</a:t>
            </a:r>
            <a:r>
              <a:rPr dirty="0" sz="750" spc="135">
                <a:latin typeface="Times New Roman"/>
                <a:cs typeface="Times New Roman"/>
              </a:rPr>
              <a:t>false</a:t>
            </a:r>
            <a:endParaRPr sz="750">
              <a:latin typeface="Times New Roman"/>
              <a:cs typeface="Times New Roman"/>
            </a:endParaRPr>
          </a:p>
        </p:txBody>
      </p:sp>
      <p:sp>
        <p:nvSpPr>
          <p:cNvPr id="127" name="object 127" descr=""/>
          <p:cNvSpPr txBox="1"/>
          <p:nvPr/>
        </p:nvSpPr>
        <p:spPr>
          <a:xfrm>
            <a:off x="11301201" y="5155291"/>
            <a:ext cx="579120" cy="144145"/>
          </a:xfrm>
          <a:prstGeom prst="rect">
            <a:avLst/>
          </a:prstGeom>
        </p:spPr>
        <p:txBody>
          <a:bodyPr wrap="square" lIns="0" tIns="15875" rIns="0" bIns="0" rtlCol="0" vert="horz">
            <a:spAutoFit/>
          </a:bodyPr>
          <a:lstStyle/>
          <a:p>
            <a:pPr marL="12700">
              <a:lnSpc>
                <a:spcPct val="100000"/>
              </a:lnSpc>
              <a:spcBef>
                <a:spcPts val="125"/>
              </a:spcBef>
            </a:pPr>
            <a:r>
              <a:rPr dirty="0" sz="750" spc="175">
                <a:latin typeface="Times New Roman"/>
                <a:cs typeface="Times New Roman"/>
              </a:rPr>
              <a:t>trace</a:t>
            </a:r>
            <a:r>
              <a:rPr dirty="0" sz="750" spc="175">
                <a:latin typeface="Cambria"/>
                <a:cs typeface="Cambria"/>
              </a:rPr>
              <a:t>◻</a:t>
            </a:r>
            <a:r>
              <a:rPr dirty="0" sz="750" spc="135">
                <a:latin typeface="Cambria"/>
                <a:cs typeface="Cambria"/>
              </a:rPr>
              <a:t> </a:t>
            </a:r>
            <a:r>
              <a:rPr dirty="0" sz="750" spc="204">
                <a:latin typeface="Cambria"/>
                <a:cs typeface="Cambria"/>
              </a:rPr>
              <a:t>◻</a:t>
            </a:r>
            <a:endParaRPr sz="750">
              <a:latin typeface="Cambria"/>
              <a:cs typeface="Cambria"/>
            </a:endParaRPr>
          </a:p>
        </p:txBody>
      </p:sp>
      <p:grpSp>
        <p:nvGrpSpPr>
          <p:cNvPr id="128" name="object 128" descr=""/>
          <p:cNvGrpSpPr/>
          <p:nvPr/>
        </p:nvGrpSpPr>
        <p:grpSpPr>
          <a:xfrm>
            <a:off x="8634650" y="4517951"/>
            <a:ext cx="663575" cy="183515"/>
            <a:chOff x="8634650" y="4517951"/>
            <a:chExt cx="663575" cy="183515"/>
          </a:xfrm>
        </p:grpSpPr>
        <p:sp>
          <p:nvSpPr>
            <p:cNvPr id="129" name="object 129" descr=""/>
            <p:cNvSpPr/>
            <p:nvPr/>
          </p:nvSpPr>
          <p:spPr>
            <a:xfrm>
              <a:off x="8635894" y="4519195"/>
              <a:ext cx="637540" cy="136525"/>
            </a:xfrm>
            <a:custGeom>
              <a:avLst/>
              <a:gdLst/>
              <a:ahLst/>
              <a:cxnLst/>
              <a:rect l="l" t="t" r="r" b="b"/>
              <a:pathLst>
                <a:path w="637540" h="136525">
                  <a:moveTo>
                    <a:pt x="0" y="0"/>
                  </a:moveTo>
                  <a:lnTo>
                    <a:pt x="0" y="91109"/>
                  </a:lnTo>
                  <a:lnTo>
                    <a:pt x="637139" y="91109"/>
                  </a:lnTo>
                  <a:lnTo>
                    <a:pt x="637139" y="136467"/>
                  </a:lnTo>
                </a:path>
              </a:pathLst>
            </a:custGeom>
            <a:ln w="3175">
              <a:solidFill>
                <a:srgbClr val="000000"/>
              </a:solidFill>
            </a:ln>
          </p:spPr>
          <p:txBody>
            <a:bodyPr wrap="square" lIns="0" tIns="0" rIns="0" bIns="0" rtlCol="0"/>
            <a:lstStyle/>
            <a:p/>
          </p:txBody>
        </p:sp>
        <p:sp>
          <p:nvSpPr>
            <p:cNvPr id="130" name="object 130" descr=""/>
            <p:cNvSpPr/>
            <p:nvPr/>
          </p:nvSpPr>
          <p:spPr>
            <a:xfrm>
              <a:off x="9247859" y="4651512"/>
              <a:ext cx="50800" cy="50165"/>
            </a:xfrm>
            <a:custGeom>
              <a:avLst/>
              <a:gdLst/>
              <a:ahLst/>
              <a:cxnLst/>
              <a:rect l="l" t="t" r="r" b="b"/>
              <a:pathLst>
                <a:path w="50800" h="50164">
                  <a:moveTo>
                    <a:pt x="50347" y="0"/>
                  </a:moveTo>
                  <a:lnTo>
                    <a:pt x="0" y="0"/>
                  </a:lnTo>
                  <a:lnTo>
                    <a:pt x="25173" y="49804"/>
                  </a:lnTo>
                  <a:lnTo>
                    <a:pt x="50347" y="0"/>
                  </a:lnTo>
                  <a:close/>
                </a:path>
              </a:pathLst>
            </a:custGeom>
            <a:solidFill>
              <a:srgbClr val="000000"/>
            </a:solidFill>
          </p:spPr>
          <p:txBody>
            <a:bodyPr wrap="square" lIns="0" tIns="0" rIns="0" bIns="0" rtlCol="0"/>
            <a:lstStyle/>
            <a:p/>
          </p:txBody>
        </p:sp>
      </p:grpSp>
      <p:grpSp>
        <p:nvGrpSpPr>
          <p:cNvPr id="131" name="object 131" descr=""/>
          <p:cNvGrpSpPr/>
          <p:nvPr/>
        </p:nvGrpSpPr>
        <p:grpSpPr>
          <a:xfrm>
            <a:off x="9672624" y="4574035"/>
            <a:ext cx="1513205" cy="127635"/>
            <a:chOff x="9672624" y="4574035"/>
            <a:chExt cx="1513205" cy="127635"/>
          </a:xfrm>
        </p:grpSpPr>
        <p:sp>
          <p:nvSpPr>
            <p:cNvPr id="132" name="object 132" descr=""/>
            <p:cNvSpPr/>
            <p:nvPr/>
          </p:nvSpPr>
          <p:spPr>
            <a:xfrm>
              <a:off x="9697828" y="4575225"/>
              <a:ext cx="1487170" cy="80645"/>
            </a:xfrm>
            <a:custGeom>
              <a:avLst/>
              <a:gdLst/>
              <a:ahLst/>
              <a:cxnLst/>
              <a:rect l="l" t="t" r="r" b="b"/>
              <a:pathLst>
                <a:path w="1487170" h="80645">
                  <a:moveTo>
                    <a:pt x="1486607" y="0"/>
                  </a:moveTo>
                  <a:lnTo>
                    <a:pt x="0" y="0"/>
                  </a:lnTo>
                  <a:lnTo>
                    <a:pt x="0" y="80437"/>
                  </a:lnTo>
                </a:path>
              </a:pathLst>
            </a:custGeom>
            <a:ln w="3175">
              <a:solidFill>
                <a:srgbClr val="000000"/>
              </a:solidFill>
            </a:ln>
          </p:spPr>
          <p:txBody>
            <a:bodyPr wrap="square" lIns="0" tIns="0" rIns="0" bIns="0" rtlCol="0"/>
            <a:lstStyle/>
            <a:p/>
          </p:txBody>
        </p:sp>
        <p:sp>
          <p:nvSpPr>
            <p:cNvPr id="133" name="object 133" descr=""/>
            <p:cNvSpPr/>
            <p:nvPr/>
          </p:nvSpPr>
          <p:spPr>
            <a:xfrm>
              <a:off x="9672624" y="4651512"/>
              <a:ext cx="50800" cy="50165"/>
            </a:xfrm>
            <a:custGeom>
              <a:avLst/>
              <a:gdLst/>
              <a:ahLst/>
              <a:cxnLst/>
              <a:rect l="l" t="t" r="r" b="b"/>
              <a:pathLst>
                <a:path w="50800" h="50164">
                  <a:moveTo>
                    <a:pt x="50377" y="0"/>
                  </a:moveTo>
                  <a:lnTo>
                    <a:pt x="0" y="0"/>
                  </a:lnTo>
                  <a:lnTo>
                    <a:pt x="25203" y="49804"/>
                  </a:lnTo>
                  <a:lnTo>
                    <a:pt x="50377" y="0"/>
                  </a:lnTo>
                  <a:close/>
                </a:path>
              </a:pathLst>
            </a:custGeom>
            <a:solidFill>
              <a:srgbClr val="000000"/>
            </a:solidFill>
          </p:spPr>
          <p:txBody>
            <a:bodyPr wrap="square" lIns="0" tIns="0" rIns="0" bIns="0" rtlCol="0"/>
            <a:lstStyle/>
            <a:p/>
          </p:txBody>
        </p:sp>
      </p:grpSp>
      <p:sp>
        <p:nvSpPr>
          <p:cNvPr id="134" name="object 134" descr=""/>
          <p:cNvSpPr txBox="1"/>
          <p:nvPr/>
        </p:nvSpPr>
        <p:spPr>
          <a:xfrm>
            <a:off x="11301201" y="4525072"/>
            <a:ext cx="579120" cy="144145"/>
          </a:xfrm>
          <a:prstGeom prst="rect">
            <a:avLst/>
          </a:prstGeom>
        </p:spPr>
        <p:txBody>
          <a:bodyPr wrap="square" lIns="0" tIns="15875" rIns="0" bIns="0" rtlCol="0" vert="horz">
            <a:spAutoFit/>
          </a:bodyPr>
          <a:lstStyle/>
          <a:p>
            <a:pPr marL="12700">
              <a:lnSpc>
                <a:spcPct val="100000"/>
              </a:lnSpc>
              <a:spcBef>
                <a:spcPts val="125"/>
              </a:spcBef>
            </a:pPr>
            <a:r>
              <a:rPr dirty="0" sz="750" spc="175">
                <a:latin typeface="Times New Roman"/>
                <a:cs typeface="Times New Roman"/>
              </a:rPr>
              <a:t>trace</a:t>
            </a:r>
            <a:r>
              <a:rPr dirty="0" sz="750" spc="175">
                <a:latin typeface="Cambria"/>
                <a:cs typeface="Cambria"/>
              </a:rPr>
              <a:t>◻</a:t>
            </a:r>
            <a:r>
              <a:rPr dirty="0" sz="750" spc="135">
                <a:latin typeface="Cambria"/>
                <a:cs typeface="Cambria"/>
              </a:rPr>
              <a:t> </a:t>
            </a:r>
            <a:r>
              <a:rPr dirty="0" sz="750" spc="204">
                <a:latin typeface="Cambria"/>
                <a:cs typeface="Cambria"/>
              </a:rPr>
              <a:t>◻</a:t>
            </a:r>
            <a:endParaRPr sz="750">
              <a:latin typeface="Cambria"/>
              <a:cs typeface="Cambria"/>
            </a:endParaRPr>
          </a:p>
        </p:txBody>
      </p:sp>
      <p:grpSp>
        <p:nvGrpSpPr>
          <p:cNvPr id="135" name="object 135" descr=""/>
          <p:cNvGrpSpPr/>
          <p:nvPr/>
        </p:nvGrpSpPr>
        <p:grpSpPr>
          <a:xfrm>
            <a:off x="8634661" y="5960580"/>
            <a:ext cx="663575" cy="169545"/>
            <a:chOff x="8634661" y="5960580"/>
            <a:chExt cx="663575" cy="169545"/>
          </a:xfrm>
        </p:grpSpPr>
        <p:sp>
          <p:nvSpPr>
            <p:cNvPr id="136" name="object 136" descr=""/>
            <p:cNvSpPr/>
            <p:nvPr/>
          </p:nvSpPr>
          <p:spPr>
            <a:xfrm>
              <a:off x="8635895" y="5961814"/>
              <a:ext cx="637540" cy="122555"/>
            </a:xfrm>
            <a:custGeom>
              <a:avLst/>
              <a:gdLst/>
              <a:ahLst/>
              <a:cxnLst/>
              <a:rect l="l" t="t" r="r" b="b"/>
              <a:pathLst>
                <a:path w="637540" h="122554">
                  <a:moveTo>
                    <a:pt x="0" y="0"/>
                  </a:moveTo>
                  <a:lnTo>
                    <a:pt x="0" y="84034"/>
                  </a:lnTo>
                  <a:lnTo>
                    <a:pt x="637139" y="84034"/>
                  </a:lnTo>
                  <a:lnTo>
                    <a:pt x="637139" y="122415"/>
                  </a:lnTo>
                </a:path>
              </a:pathLst>
            </a:custGeom>
            <a:ln w="3175">
              <a:solidFill>
                <a:srgbClr val="000000"/>
              </a:solidFill>
            </a:ln>
          </p:spPr>
          <p:txBody>
            <a:bodyPr wrap="square" lIns="0" tIns="0" rIns="0" bIns="0" rtlCol="0"/>
            <a:lstStyle/>
            <a:p/>
          </p:txBody>
        </p:sp>
        <p:sp>
          <p:nvSpPr>
            <p:cNvPr id="137" name="object 137" descr=""/>
            <p:cNvSpPr/>
            <p:nvPr/>
          </p:nvSpPr>
          <p:spPr>
            <a:xfrm>
              <a:off x="9247860" y="6080079"/>
              <a:ext cx="50800" cy="50165"/>
            </a:xfrm>
            <a:custGeom>
              <a:avLst/>
              <a:gdLst/>
              <a:ahLst/>
              <a:cxnLst/>
              <a:rect l="l" t="t" r="r" b="b"/>
              <a:pathLst>
                <a:path w="50800" h="50164">
                  <a:moveTo>
                    <a:pt x="50347" y="0"/>
                  </a:moveTo>
                  <a:lnTo>
                    <a:pt x="0" y="0"/>
                  </a:lnTo>
                  <a:lnTo>
                    <a:pt x="25173" y="49802"/>
                  </a:lnTo>
                  <a:lnTo>
                    <a:pt x="50347" y="0"/>
                  </a:lnTo>
                  <a:close/>
                </a:path>
              </a:pathLst>
            </a:custGeom>
            <a:solidFill>
              <a:srgbClr val="000000"/>
            </a:solidFill>
          </p:spPr>
          <p:txBody>
            <a:bodyPr wrap="square" lIns="0" tIns="0" rIns="0" bIns="0" rtlCol="0"/>
            <a:lstStyle/>
            <a:p/>
          </p:txBody>
        </p:sp>
      </p:grpSp>
      <p:grpSp>
        <p:nvGrpSpPr>
          <p:cNvPr id="138" name="object 138" descr=""/>
          <p:cNvGrpSpPr/>
          <p:nvPr/>
        </p:nvGrpSpPr>
        <p:grpSpPr>
          <a:xfrm>
            <a:off x="8610720" y="5508688"/>
            <a:ext cx="3533775" cy="257175"/>
            <a:chOff x="8610720" y="5508688"/>
            <a:chExt cx="3533775" cy="257175"/>
          </a:xfrm>
        </p:grpSpPr>
        <p:sp>
          <p:nvSpPr>
            <p:cNvPr id="139" name="object 139" descr=""/>
            <p:cNvSpPr/>
            <p:nvPr/>
          </p:nvSpPr>
          <p:spPr>
            <a:xfrm>
              <a:off x="8635894" y="5625676"/>
              <a:ext cx="0" cy="94615"/>
            </a:xfrm>
            <a:custGeom>
              <a:avLst/>
              <a:gdLst/>
              <a:ahLst/>
              <a:cxnLst/>
              <a:rect l="l" t="t" r="r" b="b"/>
              <a:pathLst>
                <a:path w="0" h="94614">
                  <a:moveTo>
                    <a:pt x="0" y="0"/>
                  </a:moveTo>
                  <a:lnTo>
                    <a:pt x="0" y="94400"/>
                  </a:lnTo>
                </a:path>
              </a:pathLst>
            </a:custGeom>
            <a:ln w="3596">
              <a:solidFill>
                <a:srgbClr val="000000"/>
              </a:solidFill>
            </a:ln>
          </p:spPr>
          <p:txBody>
            <a:bodyPr wrap="square" lIns="0" tIns="0" rIns="0" bIns="0" rtlCol="0"/>
            <a:lstStyle/>
            <a:p/>
          </p:txBody>
        </p:sp>
        <p:sp>
          <p:nvSpPr>
            <p:cNvPr id="140" name="object 140" descr=""/>
            <p:cNvSpPr/>
            <p:nvPr/>
          </p:nvSpPr>
          <p:spPr>
            <a:xfrm>
              <a:off x="8610720" y="5715926"/>
              <a:ext cx="50800" cy="50165"/>
            </a:xfrm>
            <a:custGeom>
              <a:avLst/>
              <a:gdLst/>
              <a:ahLst/>
              <a:cxnLst/>
              <a:rect l="l" t="t" r="r" b="b"/>
              <a:pathLst>
                <a:path w="50800" h="50164">
                  <a:moveTo>
                    <a:pt x="50347" y="0"/>
                  </a:moveTo>
                  <a:lnTo>
                    <a:pt x="0" y="0"/>
                  </a:lnTo>
                  <a:lnTo>
                    <a:pt x="25173" y="49804"/>
                  </a:lnTo>
                  <a:lnTo>
                    <a:pt x="50347" y="0"/>
                  </a:lnTo>
                  <a:close/>
                </a:path>
              </a:pathLst>
            </a:custGeom>
            <a:solidFill>
              <a:srgbClr val="000000"/>
            </a:solidFill>
          </p:spPr>
          <p:txBody>
            <a:bodyPr wrap="square" lIns="0" tIns="0" rIns="0" bIns="0" rtlCol="0"/>
            <a:lstStyle/>
            <a:p/>
          </p:txBody>
        </p:sp>
        <p:sp>
          <p:nvSpPr>
            <p:cNvPr id="141" name="object 141" descr=""/>
            <p:cNvSpPr/>
            <p:nvPr/>
          </p:nvSpPr>
          <p:spPr>
            <a:xfrm>
              <a:off x="11209274" y="5516626"/>
              <a:ext cx="935355" cy="0"/>
            </a:xfrm>
            <a:custGeom>
              <a:avLst/>
              <a:gdLst/>
              <a:ahLst/>
              <a:cxnLst/>
              <a:rect l="l" t="t" r="r" b="b"/>
              <a:pathLst>
                <a:path w="935354" h="0">
                  <a:moveTo>
                    <a:pt x="0" y="0"/>
                  </a:moveTo>
                  <a:lnTo>
                    <a:pt x="935101" y="0"/>
                  </a:lnTo>
                </a:path>
              </a:pathLst>
            </a:custGeom>
            <a:ln w="15875">
              <a:solidFill>
                <a:srgbClr val="FF0000"/>
              </a:solidFill>
            </a:ln>
          </p:spPr>
          <p:txBody>
            <a:bodyPr wrap="square" lIns="0" tIns="0" rIns="0" bIns="0" rtlCol="0"/>
            <a:lstStyle/>
            <a:p/>
          </p:txBody>
        </p:sp>
      </p:grpSp>
      <p:sp>
        <p:nvSpPr>
          <p:cNvPr id="142" name="object 142" descr=""/>
          <p:cNvSpPr/>
          <p:nvPr/>
        </p:nvSpPr>
        <p:spPr>
          <a:xfrm>
            <a:off x="7653273" y="3745991"/>
            <a:ext cx="504825" cy="85725"/>
          </a:xfrm>
          <a:custGeom>
            <a:avLst/>
            <a:gdLst/>
            <a:ahLst/>
            <a:cxnLst/>
            <a:rect l="l" t="t" r="r" b="b"/>
            <a:pathLst>
              <a:path w="504825" h="85725">
                <a:moveTo>
                  <a:pt x="419480" y="0"/>
                </a:moveTo>
                <a:lnTo>
                  <a:pt x="418846" y="85724"/>
                </a:lnTo>
                <a:lnTo>
                  <a:pt x="476765" y="57149"/>
                </a:lnTo>
                <a:lnTo>
                  <a:pt x="433324" y="57149"/>
                </a:lnTo>
                <a:lnTo>
                  <a:pt x="433577" y="28574"/>
                </a:lnTo>
                <a:lnTo>
                  <a:pt x="475793" y="28574"/>
                </a:lnTo>
                <a:lnTo>
                  <a:pt x="419480" y="0"/>
                </a:lnTo>
                <a:close/>
              </a:path>
              <a:path w="504825" h="85725">
                <a:moveTo>
                  <a:pt x="126" y="25907"/>
                </a:moveTo>
                <a:lnTo>
                  <a:pt x="0" y="54482"/>
                </a:lnTo>
                <a:lnTo>
                  <a:pt x="433323" y="57149"/>
                </a:lnTo>
                <a:lnTo>
                  <a:pt x="419057" y="57149"/>
                </a:lnTo>
                <a:lnTo>
                  <a:pt x="419160" y="43306"/>
                </a:lnTo>
                <a:lnTo>
                  <a:pt x="419269" y="28574"/>
                </a:lnTo>
                <a:lnTo>
                  <a:pt x="433577" y="28574"/>
                </a:lnTo>
                <a:lnTo>
                  <a:pt x="126" y="25907"/>
                </a:lnTo>
                <a:close/>
              </a:path>
              <a:path w="504825" h="85725">
                <a:moveTo>
                  <a:pt x="475793" y="28574"/>
                </a:moveTo>
                <a:lnTo>
                  <a:pt x="433577" y="28574"/>
                </a:lnTo>
                <a:lnTo>
                  <a:pt x="433447" y="43306"/>
                </a:lnTo>
                <a:lnTo>
                  <a:pt x="433324" y="57149"/>
                </a:lnTo>
                <a:lnTo>
                  <a:pt x="476765" y="57149"/>
                </a:lnTo>
                <a:lnTo>
                  <a:pt x="504825" y="43306"/>
                </a:lnTo>
                <a:lnTo>
                  <a:pt x="475793" y="28574"/>
                </a:lnTo>
                <a:close/>
              </a:path>
            </a:pathLst>
          </a:custGeom>
          <a:solidFill>
            <a:srgbClr val="FF0000"/>
          </a:solidFill>
        </p:spPr>
        <p:txBody>
          <a:bodyPr wrap="square" lIns="0" tIns="0" rIns="0" bIns="0" rtlCol="0"/>
          <a:lstStyle/>
          <a:p/>
        </p:txBody>
      </p:sp>
      <p:sp>
        <p:nvSpPr>
          <p:cNvPr id="143" name="object 143" descr=""/>
          <p:cNvSpPr txBox="1"/>
          <p:nvPr/>
        </p:nvSpPr>
        <p:spPr>
          <a:xfrm>
            <a:off x="536575" y="1393825"/>
            <a:ext cx="3764279" cy="4454525"/>
          </a:xfrm>
          <a:prstGeom prst="rect">
            <a:avLst/>
          </a:prstGeom>
          <a:ln w="9525">
            <a:solidFill>
              <a:srgbClr val="FF0000"/>
            </a:solidFill>
          </a:ln>
        </p:spPr>
        <p:txBody>
          <a:bodyPr wrap="square" lIns="0" tIns="18415" rIns="0" bIns="0" rtlCol="0" vert="horz">
            <a:spAutoFit/>
          </a:bodyPr>
          <a:lstStyle/>
          <a:p>
            <a:pPr marL="91440" marR="90805" indent="533400">
              <a:lnSpc>
                <a:spcPts val="4320"/>
              </a:lnSpc>
              <a:spcBef>
                <a:spcPts val="145"/>
              </a:spcBef>
            </a:pPr>
            <a:r>
              <a:rPr dirty="0" sz="2400" spc="-25" b="1">
                <a:solidFill>
                  <a:srgbClr val="0000CC"/>
                </a:solidFill>
                <a:latin typeface="宋体"/>
                <a:cs typeface="宋体"/>
              </a:rPr>
              <a:t>将左边的循环展开</a:t>
            </a:r>
            <a:r>
              <a:rPr dirty="0" sz="2400" spc="-10" b="1">
                <a:solidFill>
                  <a:srgbClr val="FF0000"/>
                </a:solidFill>
                <a:latin typeface="Times New Roman"/>
                <a:cs typeface="Times New Roman"/>
              </a:rPr>
              <a:t>4</a:t>
            </a:r>
            <a:r>
              <a:rPr dirty="0" sz="2400" spc="-50" b="1">
                <a:solidFill>
                  <a:srgbClr val="0000CC"/>
                </a:solidFill>
                <a:latin typeface="宋体"/>
                <a:cs typeface="宋体"/>
              </a:rPr>
              <a:t>次</a:t>
            </a:r>
            <a:r>
              <a:rPr dirty="0" sz="2400" spc="-20" b="1">
                <a:solidFill>
                  <a:srgbClr val="0000CC"/>
                </a:solidFill>
                <a:latin typeface="宋体"/>
                <a:cs typeface="宋体"/>
              </a:rPr>
              <a:t>并把阴影部分</a:t>
            </a:r>
            <a:r>
              <a:rPr dirty="0" sz="2400" spc="-10" b="1">
                <a:solidFill>
                  <a:srgbClr val="0000CC"/>
                </a:solidFill>
                <a:latin typeface="Times New Roman"/>
                <a:cs typeface="Times New Roman"/>
              </a:rPr>
              <a:t>(</a:t>
            </a:r>
            <a:r>
              <a:rPr dirty="0" sz="2400" spc="-25" b="1">
                <a:solidFill>
                  <a:srgbClr val="0000CC"/>
                </a:solidFill>
                <a:latin typeface="宋体"/>
                <a:cs typeface="宋体"/>
              </a:rPr>
              <a:t>执行频率高</a:t>
            </a:r>
            <a:r>
              <a:rPr dirty="0" sz="2400" spc="-50" b="1">
                <a:solidFill>
                  <a:srgbClr val="0000CC"/>
                </a:solidFill>
                <a:latin typeface="Times New Roman"/>
                <a:cs typeface="Times New Roman"/>
              </a:rPr>
              <a:t>)</a:t>
            </a:r>
            <a:r>
              <a:rPr dirty="0" sz="2400" spc="-25" b="1">
                <a:solidFill>
                  <a:srgbClr val="0000CC"/>
                </a:solidFill>
                <a:latin typeface="宋体"/>
                <a:cs typeface="宋体"/>
              </a:rPr>
              <a:t>拼接在一起就可以得到一</a:t>
            </a:r>
            <a:endParaRPr sz="2400">
              <a:latin typeface="宋体"/>
              <a:cs typeface="宋体"/>
            </a:endParaRPr>
          </a:p>
          <a:p>
            <a:pPr marL="91440">
              <a:lnSpc>
                <a:spcPct val="100000"/>
              </a:lnSpc>
              <a:spcBef>
                <a:spcPts val="1060"/>
              </a:spcBef>
            </a:pPr>
            <a:r>
              <a:rPr dirty="0" sz="2400" spc="-20" b="1">
                <a:solidFill>
                  <a:srgbClr val="0000CC"/>
                </a:solidFill>
                <a:latin typeface="宋体"/>
                <a:cs typeface="宋体"/>
              </a:rPr>
              <a:t>条</a:t>
            </a:r>
            <a:r>
              <a:rPr dirty="0" sz="2400" spc="-10" b="1">
                <a:solidFill>
                  <a:srgbClr val="FF0000"/>
                </a:solidFill>
                <a:latin typeface="Times New Roman"/>
                <a:cs typeface="Times New Roman"/>
              </a:rPr>
              <a:t>trace</a:t>
            </a:r>
            <a:r>
              <a:rPr dirty="0" sz="2400" spc="-10" b="1">
                <a:solidFill>
                  <a:srgbClr val="FF0000"/>
                </a:solidFill>
                <a:latin typeface="宋体"/>
                <a:cs typeface="宋体"/>
              </a:rPr>
              <a:t>（</a:t>
            </a:r>
            <a:r>
              <a:rPr dirty="0" sz="2400" spc="-10" b="1">
                <a:solidFill>
                  <a:srgbClr val="FF0000"/>
                </a:solidFill>
                <a:latin typeface="Times New Roman"/>
                <a:cs typeface="Times New Roman"/>
              </a:rPr>
              <a:t>1</a:t>
            </a:r>
            <a:r>
              <a:rPr dirty="0" sz="2400" spc="-20" b="1">
                <a:solidFill>
                  <a:srgbClr val="FF0000"/>
                </a:solidFill>
                <a:latin typeface="宋体"/>
                <a:cs typeface="宋体"/>
              </a:rPr>
              <a:t>入</a:t>
            </a:r>
            <a:r>
              <a:rPr dirty="0" sz="2400" b="1">
                <a:solidFill>
                  <a:srgbClr val="FF0000"/>
                </a:solidFill>
                <a:latin typeface="Times New Roman"/>
                <a:cs typeface="Times New Roman"/>
              </a:rPr>
              <a:t>5</a:t>
            </a:r>
            <a:r>
              <a:rPr dirty="0" sz="2400" spc="-20" b="1">
                <a:solidFill>
                  <a:srgbClr val="FF0000"/>
                </a:solidFill>
                <a:latin typeface="宋体"/>
                <a:cs typeface="宋体"/>
              </a:rPr>
              <a:t>出</a:t>
            </a:r>
            <a:r>
              <a:rPr dirty="0" sz="2400" spc="-25" b="1">
                <a:solidFill>
                  <a:srgbClr val="FF0000"/>
                </a:solidFill>
                <a:latin typeface="宋体"/>
                <a:cs typeface="宋体"/>
              </a:rPr>
              <a:t>）</a:t>
            </a:r>
            <a:r>
              <a:rPr dirty="0" sz="2400" spc="-25" b="1">
                <a:solidFill>
                  <a:srgbClr val="0000CC"/>
                </a:solidFill>
                <a:latin typeface="宋体"/>
                <a:cs typeface="宋体"/>
              </a:rPr>
              <a:t>；</a:t>
            </a:r>
            <a:endParaRPr sz="2400">
              <a:latin typeface="宋体"/>
              <a:cs typeface="宋体"/>
            </a:endParaRPr>
          </a:p>
          <a:p>
            <a:pPr marL="91440" marR="247650" indent="609600">
              <a:lnSpc>
                <a:spcPct val="150000"/>
              </a:lnSpc>
            </a:pPr>
            <a:r>
              <a:rPr dirty="0" sz="2400" spc="-20" b="1">
                <a:solidFill>
                  <a:srgbClr val="0000CC"/>
                </a:solidFill>
                <a:latin typeface="宋体"/>
                <a:cs typeface="宋体"/>
              </a:rPr>
              <a:t>一条</a:t>
            </a:r>
            <a:r>
              <a:rPr dirty="0" sz="2400" b="1">
                <a:solidFill>
                  <a:srgbClr val="0000CC"/>
                </a:solidFill>
                <a:latin typeface="Times New Roman"/>
                <a:cs typeface="Times New Roman"/>
              </a:rPr>
              <a:t>trace</a:t>
            </a:r>
            <a:r>
              <a:rPr dirty="0" sz="2400" spc="-30" b="1">
                <a:solidFill>
                  <a:srgbClr val="0000CC"/>
                </a:solidFill>
                <a:latin typeface="宋体"/>
                <a:cs typeface="宋体"/>
              </a:rPr>
              <a:t>可以有多个入口和多个出口。</a:t>
            </a:r>
            <a:endParaRPr sz="2400">
              <a:latin typeface="宋体"/>
              <a:cs typeface="宋体"/>
            </a:endParaRPr>
          </a:p>
          <a:p>
            <a:pPr marL="91440" marR="248285">
              <a:lnSpc>
                <a:spcPct val="150000"/>
              </a:lnSpc>
              <a:spcBef>
                <a:spcPts val="5"/>
              </a:spcBef>
            </a:pPr>
            <a:r>
              <a:rPr dirty="0" sz="2400" spc="-20" b="1">
                <a:solidFill>
                  <a:srgbClr val="0000CC"/>
                </a:solidFill>
                <a:latin typeface="宋体"/>
                <a:cs typeface="宋体"/>
              </a:rPr>
              <a:t>入口：控制流进入</a:t>
            </a:r>
            <a:r>
              <a:rPr dirty="0" sz="2400" b="1">
                <a:solidFill>
                  <a:srgbClr val="0000CC"/>
                </a:solidFill>
                <a:latin typeface="Times New Roman"/>
                <a:cs typeface="Times New Roman"/>
              </a:rPr>
              <a:t>trace</a:t>
            </a:r>
            <a:r>
              <a:rPr dirty="0" sz="2400" spc="-50" b="1">
                <a:solidFill>
                  <a:srgbClr val="0000CC"/>
                </a:solidFill>
                <a:latin typeface="宋体"/>
                <a:cs typeface="宋体"/>
              </a:rPr>
              <a:t>后</a:t>
            </a:r>
            <a:r>
              <a:rPr dirty="0" sz="2400" spc="-25" b="1">
                <a:solidFill>
                  <a:srgbClr val="0000CC"/>
                </a:solidFill>
                <a:latin typeface="宋体"/>
                <a:cs typeface="宋体"/>
              </a:rPr>
              <a:t>执行的第一条指令</a:t>
            </a:r>
            <a:endParaRPr sz="2400">
              <a:latin typeface="宋体"/>
              <a:cs typeface="宋体"/>
            </a:endParaRPr>
          </a:p>
        </p:txBody>
      </p:sp>
      <p:sp>
        <p:nvSpPr>
          <p:cNvPr id="144" name="object 144" descr=""/>
          <p:cNvSpPr/>
          <p:nvPr/>
        </p:nvSpPr>
        <p:spPr>
          <a:xfrm>
            <a:off x="11136376" y="942975"/>
            <a:ext cx="936625" cy="0"/>
          </a:xfrm>
          <a:custGeom>
            <a:avLst/>
            <a:gdLst/>
            <a:ahLst/>
            <a:cxnLst/>
            <a:rect l="l" t="t" r="r" b="b"/>
            <a:pathLst>
              <a:path w="936625" h="0">
                <a:moveTo>
                  <a:pt x="0" y="0"/>
                </a:moveTo>
                <a:lnTo>
                  <a:pt x="936625" y="0"/>
                </a:lnTo>
              </a:path>
            </a:pathLst>
          </a:custGeom>
          <a:ln w="15875">
            <a:solidFill>
              <a:srgbClr val="FF0000"/>
            </a:solidFill>
          </a:ln>
        </p:spPr>
        <p:txBody>
          <a:bodyPr wrap="square" lIns="0" tIns="0" rIns="0" bIns="0" rtlCol="0"/>
          <a:lstStyle/>
          <a:p/>
        </p:txBody>
      </p:sp>
      <p:sp>
        <p:nvSpPr>
          <p:cNvPr id="145" name="object 145" descr=""/>
          <p:cNvSpPr/>
          <p:nvPr/>
        </p:nvSpPr>
        <p:spPr>
          <a:xfrm>
            <a:off x="8975725" y="6200775"/>
            <a:ext cx="936625" cy="0"/>
          </a:xfrm>
          <a:custGeom>
            <a:avLst/>
            <a:gdLst/>
            <a:ahLst/>
            <a:cxnLst/>
            <a:rect l="l" t="t" r="r" b="b"/>
            <a:pathLst>
              <a:path w="936625" h="0">
                <a:moveTo>
                  <a:pt x="0" y="0"/>
                </a:moveTo>
                <a:lnTo>
                  <a:pt x="936625" y="0"/>
                </a:lnTo>
              </a:path>
            </a:pathLst>
          </a:custGeom>
          <a:ln w="15875">
            <a:solidFill>
              <a:srgbClr val="FF0000"/>
            </a:solidFill>
          </a:ln>
        </p:spPr>
        <p:txBody>
          <a:bodyPr wrap="square" lIns="0" tIns="0" rIns="0" bIns="0" rtlCol="0"/>
          <a:lstStyle/>
          <a:p/>
        </p:txBody>
      </p:sp>
      <p:sp>
        <p:nvSpPr>
          <p:cNvPr id="146" name="object 146" descr=""/>
          <p:cNvSpPr txBox="1"/>
          <p:nvPr/>
        </p:nvSpPr>
        <p:spPr>
          <a:xfrm>
            <a:off x="7759954" y="6205220"/>
            <a:ext cx="3650615"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黑体"/>
                <a:cs typeface="黑体"/>
              </a:rPr>
              <a:t>循环展开</a:t>
            </a:r>
            <a:r>
              <a:rPr dirty="0" sz="2400" spc="-25">
                <a:solidFill>
                  <a:srgbClr val="40458B"/>
                </a:solidFill>
                <a:latin typeface="Tahoma"/>
                <a:cs typeface="Tahoma"/>
              </a:rPr>
              <a:t>4</a:t>
            </a:r>
            <a:r>
              <a:rPr dirty="0" sz="2400">
                <a:solidFill>
                  <a:srgbClr val="40458B"/>
                </a:solidFill>
                <a:latin typeface="黑体"/>
                <a:cs typeface="黑体"/>
              </a:rPr>
              <a:t>次后得到的</a:t>
            </a:r>
            <a:r>
              <a:rPr dirty="0" sz="2400" spc="-45">
                <a:solidFill>
                  <a:srgbClr val="40458B"/>
                </a:solidFill>
                <a:latin typeface="Tahoma"/>
                <a:cs typeface="Tahoma"/>
              </a:rPr>
              <a:t>Trace</a:t>
            </a:r>
            <a:endParaRPr sz="2400">
              <a:latin typeface="Tahoma"/>
              <a:cs typeface="Tahom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36/89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1116279" y="486089"/>
            <a:ext cx="10068560" cy="1513840"/>
          </a:xfrm>
          <a:prstGeom prst="rect">
            <a:avLst/>
          </a:prstGeom>
        </p:spPr>
        <p:txBody>
          <a:bodyPr wrap="square" lIns="0" tIns="204470" rIns="0" bIns="0" rtlCol="0" vert="horz">
            <a:spAutoFit/>
          </a:bodyPr>
          <a:lstStyle/>
          <a:p>
            <a:pPr marL="467995" indent="-455295">
              <a:lnSpc>
                <a:spcPct val="100000"/>
              </a:lnSpc>
              <a:spcBef>
                <a:spcPts val="1610"/>
              </a:spcBef>
              <a:buClr>
                <a:srgbClr val="40458B"/>
              </a:buClr>
              <a:buSzPct val="89285"/>
              <a:buFont typeface="Wingdings"/>
              <a:buChar char=""/>
              <a:tabLst>
                <a:tab pos="467995" algn="l"/>
              </a:tabLst>
            </a:pPr>
            <a:r>
              <a:rPr dirty="0" sz="2800" spc="-40">
                <a:solidFill>
                  <a:srgbClr val="D50092"/>
                </a:solidFill>
                <a:latin typeface="黑体"/>
                <a:cs typeface="黑体"/>
              </a:rPr>
              <a:t>踪迹压缩</a:t>
            </a:r>
            <a:endParaRPr sz="2800">
              <a:latin typeface="黑体"/>
              <a:cs typeface="黑体"/>
            </a:endParaRPr>
          </a:p>
          <a:p>
            <a:pPr lvl="1" marL="753110" indent="-455930">
              <a:lnSpc>
                <a:spcPct val="100000"/>
              </a:lnSpc>
              <a:spcBef>
                <a:spcPts val="1085"/>
              </a:spcBef>
              <a:buClr>
                <a:srgbClr val="4668F5"/>
              </a:buClr>
              <a:buSzPct val="60000"/>
              <a:buFont typeface="Wingdings"/>
              <a:buChar char=""/>
              <a:tabLst>
                <a:tab pos="753110" algn="l"/>
              </a:tabLst>
            </a:pPr>
            <a:r>
              <a:rPr dirty="0" sz="2000" spc="-10" b="1">
                <a:solidFill>
                  <a:srgbClr val="FF5CFF"/>
                </a:solidFill>
                <a:latin typeface="宋体"/>
                <a:cs typeface="宋体"/>
              </a:rPr>
              <a:t>对已生成的</a:t>
            </a:r>
            <a:r>
              <a:rPr dirty="0" sz="2000" b="1">
                <a:solidFill>
                  <a:srgbClr val="FF5CFF"/>
                </a:solidFill>
                <a:latin typeface="Times New Roman"/>
                <a:cs typeface="Times New Roman"/>
              </a:rPr>
              <a:t>trace</a:t>
            </a:r>
            <a:r>
              <a:rPr dirty="0" sz="2000" spc="-25" b="1">
                <a:solidFill>
                  <a:srgbClr val="FF5CFF"/>
                </a:solidFill>
                <a:latin typeface="宋体"/>
                <a:cs typeface="宋体"/>
              </a:rPr>
              <a:t>进行指令调度和优化，尽可能地缩短其执行时间；</a:t>
            </a:r>
            <a:endParaRPr sz="2000">
              <a:latin typeface="宋体"/>
              <a:cs typeface="宋体"/>
            </a:endParaRPr>
          </a:p>
          <a:p>
            <a:pPr lvl="1" marL="753110" indent="-455930">
              <a:lnSpc>
                <a:spcPct val="100000"/>
              </a:lnSpc>
              <a:spcBef>
                <a:spcPts val="960"/>
              </a:spcBef>
              <a:buClr>
                <a:srgbClr val="4668F5"/>
              </a:buClr>
              <a:buSzPct val="60000"/>
              <a:buFont typeface="Wingdings"/>
              <a:buChar char=""/>
              <a:tabLst>
                <a:tab pos="753110" algn="l"/>
              </a:tabLst>
            </a:pPr>
            <a:r>
              <a:rPr dirty="0" sz="2000" spc="-10" b="1">
                <a:solidFill>
                  <a:srgbClr val="FF5CFF"/>
                </a:solidFill>
                <a:latin typeface="宋体"/>
                <a:cs typeface="宋体"/>
              </a:rPr>
              <a:t>跨越</a:t>
            </a:r>
            <a:r>
              <a:rPr dirty="0" sz="2000" b="1">
                <a:solidFill>
                  <a:srgbClr val="FF5CFF"/>
                </a:solidFill>
                <a:latin typeface="Times New Roman"/>
                <a:cs typeface="Times New Roman"/>
              </a:rPr>
              <a:t>trace</a:t>
            </a:r>
            <a:r>
              <a:rPr dirty="0" sz="2000" spc="-40" b="1">
                <a:solidFill>
                  <a:srgbClr val="FF5CFF"/>
                </a:solidFill>
                <a:latin typeface="宋体"/>
                <a:cs typeface="宋体"/>
              </a:rPr>
              <a:t>内部的入口或出口调度指令时必须非常小心，有时还需要增加补偿代码 。</a:t>
            </a:r>
            <a:endParaRPr sz="2000">
              <a:latin typeface="宋体"/>
              <a:cs typeface="宋体"/>
            </a:endParaRPr>
          </a:p>
        </p:txBody>
      </p:sp>
      <p:sp>
        <p:nvSpPr>
          <p:cNvPr id="9" name="object 9"/>
          <p:cNvSpPr txBox="1">
            <a:spLocks noGrp="1"/>
          </p:cNvSpPr>
          <p:nvPr>
            <p:ph type="title"/>
          </p:nvPr>
        </p:nvSpPr>
        <p:spPr>
          <a:xfrm>
            <a:off x="1403350" y="127838"/>
            <a:ext cx="10801350" cy="514350"/>
          </a:xfrm>
          <a:prstGeom prst="rect"/>
        </p:spPr>
        <p:txBody>
          <a:bodyPr wrap="square" lIns="0" tIns="13335" rIns="0" bIns="0" rtlCol="0" vert="horz">
            <a:spAutoFit/>
          </a:bodyPr>
          <a:lstStyle/>
          <a:p>
            <a:pPr marL="12700">
              <a:lnSpc>
                <a:spcPct val="100000"/>
              </a:lnSpc>
              <a:spcBef>
                <a:spcPts val="105"/>
              </a:spcBef>
              <a:tabLst>
                <a:tab pos="833119" algn="l"/>
                <a:tab pos="10788015" algn="l"/>
              </a:tabLst>
            </a:pPr>
            <a:r>
              <a:rPr dirty="0"/>
              <a:t>	6.2</a:t>
            </a:r>
            <a:r>
              <a:rPr dirty="0" spc="-15"/>
              <a:t> </a:t>
            </a:r>
            <a:r>
              <a:rPr dirty="0"/>
              <a:t>跨越基</a:t>
            </a:r>
            <a:r>
              <a:rPr dirty="0" spc="-25"/>
              <a:t>本</a:t>
            </a:r>
            <a:r>
              <a:rPr dirty="0"/>
              <a:t>块的</a:t>
            </a:r>
            <a:r>
              <a:rPr dirty="0" spc="-20"/>
              <a:t>静</a:t>
            </a:r>
            <a:r>
              <a:rPr dirty="0"/>
              <a:t>态指</a:t>
            </a:r>
            <a:r>
              <a:rPr dirty="0" spc="-20"/>
              <a:t>令</a:t>
            </a:r>
            <a:r>
              <a:rPr dirty="0"/>
              <a:t>调</a:t>
            </a:r>
            <a:r>
              <a:rPr dirty="0" spc="-50"/>
              <a:t>度</a:t>
            </a:r>
            <a:r>
              <a:rPr dirty="0"/>
              <a:t>	</a:t>
            </a:r>
          </a:p>
        </p:txBody>
      </p:sp>
      <p:sp>
        <p:nvSpPr>
          <p:cNvPr id="10" name="object 10" descr=""/>
          <p:cNvSpPr/>
          <p:nvPr/>
        </p:nvSpPr>
        <p:spPr>
          <a:xfrm>
            <a:off x="6642100" y="2257425"/>
            <a:ext cx="5549900" cy="4000500"/>
          </a:xfrm>
          <a:custGeom>
            <a:avLst/>
            <a:gdLst/>
            <a:ahLst/>
            <a:cxnLst/>
            <a:rect l="l" t="t" r="r" b="b"/>
            <a:pathLst>
              <a:path w="5549900" h="4000500">
                <a:moveTo>
                  <a:pt x="5549900" y="0"/>
                </a:moveTo>
                <a:lnTo>
                  <a:pt x="0" y="0"/>
                </a:lnTo>
                <a:lnTo>
                  <a:pt x="0" y="4000500"/>
                </a:lnTo>
                <a:lnTo>
                  <a:pt x="5549900" y="4000500"/>
                </a:lnTo>
              </a:path>
            </a:pathLst>
          </a:custGeom>
          <a:ln w="9525">
            <a:solidFill>
              <a:srgbClr val="080808"/>
            </a:solidFill>
          </a:ln>
        </p:spPr>
        <p:txBody>
          <a:bodyPr wrap="square" lIns="0" tIns="0" rIns="0" bIns="0" rtlCol="0"/>
          <a:lstStyle/>
          <a:p/>
        </p:txBody>
      </p:sp>
      <p:sp>
        <p:nvSpPr>
          <p:cNvPr id="11" name="object 11" descr=""/>
          <p:cNvSpPr txBox="1"/>
          <p:nvPr/>
        </p:nvSpPr>
        <p:spPr>
          <a:xfrm>
            <a:off x="6696202" y="2284857"/>
            <a:ext cx="5511800" cy="893444"/>
          </a:xfrm>
          <a:prstGeom prst="rect">
            <a:avLst/>
          </a:prstGeom>
        </p:spPr>
        <p:txBody>
          <a:bodyPr wrap="square" lIns="0" tIns="13335" rIns="0" bIns="0" rtlCol="0" vert="horz">
            <a:spAutoFit/>
          </a:bodyPr>
          <a:lstStyle/>
          <a:p>
            <a:pPr marL="38100">
              <a:lnSpc>
                <a:spcPct val="100000"/>
              </a:lnSpc>
              <a:spcBef>
                <a:spcPts val="105"/>
              </a:spcBef>
            </a:pPr>
            <a:r>
              <a:rPr dirty="0" sz="2000" spc="-20" b="1">
                <a:solidFill>
                  <a:srgbClr val="FF0000"/>
                </a:solidFill>
                <a:latin typeface="宋体"/>
                <a:cs typeface="宋体"/>
              </a:rPr>
              <a:t>踪迹压缩本质：指令跨基本块调度</a:t>
            </a:r>
            <a:endParaRPr sz="2000">
              <a:latin typeface="宋体"/>
              <a:cs typeface="宋体"/>
            </a:endParaRPr>
          </a:p>
          <a:p>
            <a:pPr marL="38100">
              <a:lnSpc>
                <a:spcPct val="100000"/>
              </a:lnSpc>
              <a:spcBef>
                <a:spcPts val="5"/>
              </a:spcBef>
            </a:pPr>
            <a:r>
              <a:rPr dirty="0" sz="1800" spc="-20" b="1">
                <a:solidFill>
                  <a:srgbClr val="40458B"/>
                </a:solidFill>
                <a:latin typeface="宋体"/>
                <a:cs typeface="宋体"/>
              </a:rPr>
              <a:t>三条</a:t>
            </a:r>
            <a:r>
              <a:rPr dirty="0" sz="1800" spc="-10" b="1">
                <a:solidFill>
                  <a:srgbClr val="40458B"/>
                </a:solidFill>
                <a:latin typeface="Times New Roman"/>
                <a:cs typeface="Times New Roman"/>
              </a:rPr>
              <a:t>trace</a:t>
            </a:r>
            <a:r>
              <a:rPr dirty="0" sz="1800" spc="-10" b="1">
                <a:solidFill>
                  <a:srgbClr val="40458B"/>
                </a:solidFill>
                <a:latin typeface="宋体"/>
                <a:cs typeface="宋体"/>
              </a:rPr>
              <a:t>：</a:t>
            </a:r>
            <a:r>
              <a:rPr dirty="0" sz="1800" spc="-10" b="1">
                <a:solidFill>
                  <a:srgbClr val="40458B"/>
                </a:solidFill>
                <a:latin typeface="Times New Roman"/>
                <a:cs typeface="Times New Roman"/>
              </a:rPr>
              <a:t>B</a:t>
            </a:r>
            <a:r>
              <a:rPr dirty="0" baseline="-20833" sz="1800" spc="-15" b="1">
                <a:solidFill>
                  <a:srgbClr val="40458B"/>
                </a:solidFill>
                <a:latin typeface="Times New Roman"/>
                <a:cs typeface="Times New Roman"/>
              </a:rPr>
              <a:t>1</a:t>
            </a:r>
            <a:r>
              <a:rPr dirty="0" sz="1800" spc="-10" b="1">
                <a:solidFill>
                  <a:srgbClr val="40458B"/>
                </a:solidFill>
                <a:latin typeface="Times New Roman"/>
                <a:cs typeface="Times New Roman"/>
              </a:rPr>
              <a:t>-B</a:t>
            </a:r>
            <a:r>
              <a:rPr dirty="0" baseline="-20833" sz="1800" spc="-15" b="1">
                <a:solidFill>
                  <a:srgbClr val="40458B"/>
                </a:solidFill>
                <a:latin typeface="Times New Roman"/>
                <a:cs typeface="Times New Roman"/>
              </a:rPr>
              <a:t>3</a:t>
            </a:r>
            <a:r>
              <a:rPr dirty="0" sz="1800" spc="-20" b="1">
                <a:solidFill>
                  <a:srgbClr val="40458B"/>
                </a:solidFill>
                <a:latin typeface="宋体"/>
                <a:cs typeface="宋体"/>
              </a:rPr>
              <a:t>、</a:t>
            </a:r>
            <a:r>
              <a:rPr dirty="0" sz="1800" spc="-10" b="1">
                <a:solidFill>
                  <a:srgbClr val="40458B"/>
                </a:solidFill>
                <a:latin typeface="Times New Roman"/>
                <a:cs typeface="Times New Roman"/>
              </a:rPr>
              <a:t>B</a:t>
            </a:r>
            <a:r>
              <a:rPr dirty="0" baseline="-20833" sz="1800" spc="-15" b="1">
                <a:solidFill>
                  <a:srgbClr val="40458B"/>
                </a:solidFill>
                <a:latin typeface="Times New Roman"/>
                <a:cs typeface="Times New Roman"/>
              </a:rPr>
              <a:t>4</a:t>
            </a:r>
            <a:r>
              <a:rPr dirty="0" sz="1800" spc="-20" b="1">
                <a:solidFill>
                  <a:srgbClr val="40458B"/>
                </a:solidFill>
                <a:latin typeface="宋体"/>
                <a:cs typeface="宋体"/>
              </a:rPr>
              <a:t>以及</a:t>
            </a:r>
            <a:r>
              <a:rPr dirty="0" sz="1800" spc="-10" b="1">
                <a:solidFill>
                  <a:srgbClr val="40458B"/>
                </a:solidFill>
                <a:latin typeface="Times New Roman"/>
                <a:cs typeface="Times New Roman"/>
              </a:rPr>
              <a:t>B</a:t>
            </a:r>
            <a:r>
              <a:rPr dirty="0" baseline="-20833" sz="1800" spc="-15" b="1">
                <a:solidFill>
                  <a:srgbClr val="40458B"/>
                </a:solidFill>
                <a:latin typeface="Times New Roman"/>
                <a:cs typeface="Times New Roman"/>
              </a:rPr>
              <a:t>5</a:t>
            </a:r>
            <a:r>
              <a:rPr dirty="0" sz="1800" spc="-10" b="1">
                <a:solidFill>
                  <a:srgbClr val="40458B"/>
                </a:solidFill>
                <a:latin typeface="Times New Roman"/>
                <a:cs typeface="Times New Roman"/>
              </a:rPr>
              <a:t>-B</a:t>
            </a:r>
            <a:r>
              <a:rPr dirty="0" baseline="-20833" sz="1800" spc="-15" b="1">
                <a:solidFill>
                  <a:srgbClr val="40458B"/>
                </a:solidFill>
                <a:latin typeface="Times New Roman"/>
                <a:cs typeface="Times New Roman"/>
              </a:rPr>
              <a:t>7</a:t>
            </a:r>
            <a:r>
              <a:rPr dirty="0" baseline="-20833" sz="1800" spc="-15" b="1">
                <a:solidFill>
                  <a:srgbClr val="40458B"/>
                </a:solidFill>
                <a:latin typeface="宋体"/>
                <a:cs typeface="宋体"/>
              </a:rPr>
              <a:t>，</a:t>
            </a:r>
            <a:r>
              <a:rPr dirty="0" sz="1800" spc="-10" b="1">
                <a:solidFill>
                  <a:srgbClr val="40458B"/>
                </a:solidFill>
                <a:latin typeface="Times New Roman"/>
                <a:cs typeface="Times New Roman"/>
              </a:rPr>
              <a:t>B4</a:t>
            </a:r>
            <a:r>
              <a:rPr dirty="0" sz="1800" spc="-25" b="1">
                <a:solidFill>
                  <a:srgbClr val="40458B"/>
                </a:solidFill>
                <a:latin typeface="宋体"/>
                <a:cs typeface="宋体"/>
              </a:rPr>
              <a:t>循环体，所以三条</a:t>
            </a:r>
            <a:endParaRPr sz="1800">
              <a:latin typeface="宋体"/>
              <a:cs typeface="宋体"/>
            </a:endParaRPr>
          </a:p>
          <a:p>
            <a:pPr marL="38100">
              <a:lnSpc>
                <a:spcPct val="100000"/>
              </a:lnSpc>
              <a:spcBef>
                <a:spcPts val="100"/>
              </a:spcBef>
            </a:pPr>
            <a:r>
              <a:rPr dirty="0" sz="1800" spc="-20" b="1">
                <a:solidFill>
                  <a:srgbClr val="40458B"/>
                </a:solidFill>
                <a:latin typeface="宋体"/>
                <a:cs typeface="宋体"/>
              </a:rPr>
              <a:t>路径不能合并</a:t>
            </a:r>
            <a:endParaRPr sz="1800">
              <a:latin typeface="宋体"/>
              <a:cs typeface="宋体"/>
            </a:endParaRPr>
          </a:p>
        </p:txBody>
      </p:sp>
      <p:sp>
        <p:nvSpPr>
          <p:cNvPr id="12" name="object 12" descr=""/>
          <p:cNvSpPr txBox="1"/>
          <p:nvPr/>
        </p:nvSpPr>
        <p:spPr>
          <a:xfrm>
            <a:off x="6696202" y="3414521"/>
            <a:ext cx="1299210" cy="299720"/>
          </a:xfrm>
          <a:prstGeom prst="rect">
            <a:avLst/>
          </a:prstGeom>
        </p:spPr>
        <p:txBody>
          <a:bodyPr wrap="square" lIns="0" tIns="12700" rIns="0" bIns="0" rtlCol="0" vert="horz">
            <a:spAutoFit/>
          </a:bodyPr>
          <a:lstStyle/>
          <a:p>
            <a:pPr marL="38100">
              <a:lnSpc>
                <a:spcPct val="100000"/>
              </a:lnSpc>
              <a:spcBef>
                <a:spcPts val="100"/>
              </a:spcBef>
            </a:pPr>
            <a:r>
              <a:rPr dirty="0" sz="1800" spc="-10" b="1">
                <a:solidFill>
                  <a:srgbClr val="40458B"/>
                </a:solidFill>
                <a:latin typeface="宋体"/>
                <a:cs typeface="宋体"/>
              </a:rPr>
              <a:t>以为</a:t>
            </a:r>
            <a:r>
              <a:rPr dirty="0" sz="1800" spc="-10" b="1">
                <a:solidFill>
                  <a:srgbClr val="40458B"/>
                </a:solidFill>
                <a:latin typeface="Times New Roman"/>
                <a:cs typeface="Times New Roman"/>
              </a:rPr>
              <a:t>B</a:t>
            </a:r>
            <a:r>
              <a:rPr dirty="0" baseline="-20833" sz="1800" spc="-15" b="1">
                <a:solidFill>
                  <a:srgbClr val="40458B"/>
                </a:solidFill>
                <a:latin typeface="Times New Roman"/>
                <a:cs typeface="Times New Roman"/>
              </a:rPr>
              <a:t>1</a:t>
            </a:r>
            <a:r>
              <a:rPr dirty="0" sz="1800" spc="-10" b="1">
                <a:solidFill>
                  <a:srgbClr val="40458B"/>
                </a:solidFill>
                <a:latin typeface="Times New Roman"/>
                <a:cs typeface="Times New Roman"/>
              </a:rPr>
              <a:t>-B</a:t>
            </a:r>
            <a:r>
              <a:rPr dirty="0" baseline="-20833" sz="1800" spc="-15" b="1">
                <a:solidFill>
                  <a:srgbClr val="40458B"/>
                </a:solidFill>
                <a:latin typeface="Times New Roman"/>
                <a:cs typeface="Times New Roman"/>
              </a:rPr>
              <a:t>3</a:t>
            </a:r>
            <a:r>
              <a:rPr dirty="0" sz="1800" spc="-50" b="1">
                <a:solidFill>
                  <a:srgbClr val="40458B"/>
                </a:solidFill>
                <a:latin typeface="宋体"/>
                <a:cs typeface="宋体"/>
              </a:rPr>
              <a:t>例</a:t>
            </a:r>
            <a:endParaRPr sz="1800">
              <a:latin typeface="宋体"/>
              <a:cs typeface="宋体"/>
            </a:endParaRPr>
          </a:p>
        </p:txBody>
      </p:sp>
      <p:sp>
        <p:nvSpPr>
          <p:cNvPr id="13" name="object 13" descr=""/>
          <p:cNvSpPr txBox="1"/>
          <p:nvPr/>
        </p:nvSpPr>
        <p:spPr>
          <a:xfrm>
            <a:off x="6696202" y="3688842"/>
            <a:ext cx="5605780" cy="299720"/>
          </a:xfrm>
          <a:prstGeom prst="rect">
            <a:avLst/>
          </a:prstGeom>
        </p:spPr>
        <p:txBody>
          <a:bodyPr wrap="square" lIns="0" tIns="12700" rIns="0" bIns="0" rtlCol="0" vert="horz">
            <a:spAutoFit/>
          </a:bodyPr>
          <a:lstStyle/>
          <a:p>
            <a:pPr marL="38100">
              <a:lnSpc>
                <a:spcPct val="100000"/>
              </a:lnSpc>
              <a:spcBef>
                <a:spcPts val="100"/>
              </a:spcBef>
            </a:pPr>
            <a:r>
              <a:rPr dirty="0" sz="1800" spc="-10" b="1">
                <a:solidFill>
                  <a:srgbClr val="40458B"/>
                </a:solidFill>
                <a:latin typeface="宋体"/>
                <a:cs typeface="宋体"/>
              </a:rPr>
              <a:t>指令“</a:t>
            </a:r>
            <a:r>
              <a:rPr dirty="0" sz="1800" b="1">
                <a:solidFill>
                  <a:srgbClr val="40458B"/>
                </a:solidFill>
                <a:latin typeface="Times New Roman"/>
                <a:cs typeface="Times New Roman"/>
              </a:rPr>
              <a:t>y</a:t>
            </a:r>
            <a:r>
              <a:rPr dirty="0" sz="1800" spc="10" b="1">
                <a:solidFill>
                  <a:srgbClr val="40458B"/>
                </a:solidFill>
                <a:latin typeface="Times New Roman"/>
                <a:cs typeface="Times New Roman"/>
              </a:rPr>
              <a:t> = </a:t>
            </a:r>
            <a:r>
              <a:rPr dirty="0" sz="1800" b="1">
                <a:solidFill>
                  <a:srgbClr val="40458B"/>
                </a:solidFill>
                <a:latin typeface="Times New Roman"/>
                <a:cs typeface="Times New Roman"/>
              </a:rPr>
              <a:t>x</a:t>
            </a:r>
            <a:r>
              <a:rPr dirty="0" sz="1800" spc="10" b="1">
                <a:solidFill>
                  <a:srgbClr val="40458B"/>
                </a:solidFill>
                <a:latin typeface="Times New Roman"/>
                <a:cs typeface="Times New Roman"/>
              </a:rPr>
              <a:t> - </a:t>
            </a:r>
            <a:r>
              <a:rPr dirty="0" sz="1800" b="1">
                <a:solidFill>
                  <a:srgbClr val="40458B"/>
                </a:solidFill>
                <a:latin typeface="Times New Roman"/>
                <a:cs typeface="Times New Roman"/>
              </a:rPr>
              <a:t>y”</a:t>
            </a:r>
            <a:r>
              <a:rPr dirty="0" sz="1800" spc="-10" b="1">
                <a:solidFill>
                  <a:srgbClr val="40458B"/>
                </a:solidFill>
                <a:latin typeface="宋体"/>
                <a:cs typeface="宋体"/>
              </a:rPr>
              <a:t>被从</a:t>
            </a:r>
            <a:r>
              <a:rPr dirty="0" sz="1800" spc="-10" b="1">
                <a:solidFill>
                  <a:srgbClr val="40458B"/>
                </a:solidFill>
                <a:latin typeface="Times New Roman"/>
                <a:cs typeface="Times New Roman"/>
              </a:rPr>
              <a:t>B</a:t>
            </a:r>
            <a:r>
              <a:rPr dirty="0" baseline="-20833" sz="1800" spc="-15" b="1">
                <a:solidFill>
                  <a:srgbClr val="40458B"/>
                </a:solidFill>
                <a:latin typeface="Times New Roman"/>
                <a:cs typeface="Times New Roman"/>
              </a:rPr>
              <a:t>1</a:t>
            </a:r>
            <a:r>
              <a:rPr dirty="0" sz="1800" spc="-10" b="1">
                <a:solidFill>
                  <a:srgbClr val="40458B"/>
                </a:solidFill>
                <a:latin typeface="宋体"/>
                <a:cs typeface="宋体"/>
              </a:rPr>
              <a:t>调度到</a:t>
            </a:r>
            <a:r>
              <a:rPr dirty="0" sz="1800" spc="-10" b="1">
                <a:solidFill>
                  <a:srgbClr val="40458B"/>
                </a:solidFill>
                <a:latin typeface="Times New Roman"/>
                <a:cs typeface="Times New Roman"/>
              </a:rPr>
              <a:t>B</a:t>
            </a:r>
            <a:r>
              <a:rPr dirty="0" baseline="-20833" sz="1800" spc="-15" b="1">
                <a:solidFill>
                  <a:srgbClr val="40458B"/>
                </a:solidFill>
                <a:latin typeface="Times New Roman"/>
                <a:cs typeface="Times New Roman"/>
              </a:rPr>
              <a:t>3</a:t>
            </a:r>
            <a:r>
              <a:rPr dirty="0" sz="1800" spc="-10" b="1">
                <a:solidFill>
                  <a:srgbClr val="40458B"/>
                </a:solidFill>
                <a:latin typeface="宋体"/>
                <a:cs typeface="宋体"/>
              </a:rPr>
              <a:t>中，跨越了</a:t>
            </a:r>
            <a:r>
              <a:rPr dirty="0" sz="1800" spc="-10" b="1">
                <a:solidFill>
                  <a:srgbClr val="40458B"/>
                </a:solidFill>
                <a:latin typeface="Times New Roman"/>
                <a:cs typeface="Times New Roman"/>
              </a:rPr>
              <a:t>trace</a:t>
            </a:r>
            <a:r>
              <a:rPr dirty="0" sz="1800" spc="-25" b="1">
                <a:solidFill>
                  <a:srgbClr val="40458B"/>
                </a:solidFill>
                <a:latin typeface="宋体"/>
                <a:cs typeface="宋体"/>
              </a:rPr>
              <a:t>的一个</a:t>
            </a:r>
            <a:endParaRPr sz="1800">
              <a:latin typeface="宋体"/>
              <a:cs typeface="宋体"/>
            </a:endParaRPr>
          </a:p>
        </p:txBody>
      </p:sp>
      <p:sp>
        <p:nvSpPr>
          <p:cNvPr id="14" name="object 14" descr=""/>
          <p:cNvSpPr txBox="1"/>
          <p:nvPr/>
        </p:nvSpPr>
        <p:spPr>
          <a:xfrm>
            <a:off x="6721602" y="3962857"/>
            <a:ext cx="716280" cy="300355"/>
          </a:xfrm>
          <a:prstGeom prst="rect">
            <a:avLst/>
          </a:prstGeom>
        </p:spPr>
        <p:txBody>
          <a:bodyPr wrap="square" lIns="0" tIns="12700" rIns="0" bIns="0" rtlCol="0" vert="horz">
            <a:spAutoFit/>
          </a:bodyPr>
          <a:lstStyle/>
          <a:p>
            <a:pPr marL="12700">
              <a:lnSpc>
                <a:spcPct val="100000"/>
              </a:lnSpc>
              <a:spcBef>
                <a:spcPts val="100"/>
              </a:spcBef>
            </a:pPr>
            <a:r>
              <a:rPr dirty="0" sz="1800" spc="-35" b="1">
                <a:solidFill>
                  <a:srgbClr val="40458B"/>
                </a:solidFill>
                <a:latin typeface="宋体"/>
                <a:cs typeface="宋体"/>
              </a:rPr>
              <a:t>出口；</a:t>
            </a:r>
            <a:endParaRPr sz="1800">
              <a:latin typeface="宋体"/>
              <a:cs typeface="宋体"/>
            </a:endParaRPr>
          </a:p>
        </p:txBody>
      </p:sp>
      <p:sp>
        <p:nvSpPr>
          <p:cNvPr id="15" name="object 15" descr=""/>
          <p:cNvSpPr txBox="1"/>
          <p:nvPr/>
        </p:nvSpPr>
        <p:spPr>
          <a:xfrm>
            <a:off x="6721602" y="4512055"/>
            <a:ext cx="5521960" cy="299720"/>
          </a:xfrm>
          <a:prstGeom prst="rect">
            <a:avLst/>
          </a:prstGeom>
        </p:spPr>
        <p:txBody>
          <a:bodyPr wrap="square" lIns="0" tIns="12700" rIns="0" bIns="0" rtlCol="0" vert="horz">
            <a:spAutoFit/>
          </a:bodyPr>
          <a:lstStyle/>
          <a:p>
            <a:pPr marL="12700">
              <a:lnSpc>
                <a:spcPct val="100000"/>
              </a:lnSpc>
              <a:spcBef>
                <a:spcPts val="100"/>
              </a:spcBef>
            </a:pPr>
            <a:r>
              <a:rPr dirty="0" sz="1800" spc="-10" b="1">
                <a:solidFill>
                  <a:srgbClr val="40458B"/>
                </a:solidFill>
                <a:latin typeface="宋体"/>
                <a:cs typeface="宋体"/>
              </a:rPr>
              <a:t>需要向块</a:t>
            </a:r>
            <a:r>
              <a:rPr dirty="0" sz="1800" b="1">
                <a:solidFill>
                  <a:srgbClr val="40458B"/>
                </a:solidFill>
                <a:latin typeface="Times New Roman"/>
                <a:cs typeface="Times New Roman"/>
              </a:rPr>
              <a:t>B</a:t>
            </a:r>
            <a:r>
              <a:rPr dirty="0" sz="1800" spc="150" b="1">
                <a:solidFill>
                  <a:srgbClr val="40458B"/>
                </a:solidFill>
                <a:latin typeface="Times New Roman"/>
                <a:cs typeface="Times New Roman"/>
              </a:rPr>
              <a:t> </a:t>
            </a:r>
            <a:r>
              <a:rPr dirty="0" sz="1800" spc="-10" b="1">
                <a:solidFill>
                  <a:srgbClr val="40458B"/>
                </a:solidFill>
                <a:latin typeface="宋体"/>
                <a:cs typeface="宋体"/>
              </a:rPr>
              <a:t>中增加补偿代码，即将指令“</a:t>
            </a:r>
            <a:r>
              <a:rPr dirty="0" sz="1800" b="1">
                <a:solidFill>
                  <a:srgbClr val="40458B"/>
                </a:solidFill>
                <a:latin typeface="Times New Roman"/>
                <a:cs typeface="Times New Roman"/>
              </a:rPr>
              <a:t>y = x - y”</a:t>
            </a:r>
            <a:r>
              <a:rPr dirty="0" sz="1800" spc="-30" b="1">
                <a:solidFill>
                  <a:srgbClr val="40458B"/>
                </a:solidFill>
                <a:latin typeface="宋体"/>
                <a:cs typeface="宋体"/>
              </a:rPr>
              <a:t>复制</a:t>
            </a:r>
            <a:endParaRPr sz="1800">
              <a:latin typeface="宋体"/>
              <a:cs typeface="宋体"/>
            </a:endParaRPr>
          </a:p>
        </p:txBody>
      </p:sp>
      <p:sp>
        <p:nvSpPr>
          <p:cNvPr id="16" name="object 16" descr=""/>
          <p:cNvSpPr txBox="1"/>
          <p:nvPr/>
        </p:nvSpPr>
        <p:spPr>
          <a:xfrm>
            <a:off x="6696202" y="4644644"/>
            <a:ext cx="2663190" cy="441959"/>
          </a:xfrm>
          <a:prstGeom prst="rect">
            <a:avLst/>
          </a:prstGeom>
        </p:spPr>
        <p:txBody>
          <a:bodyPr wrap="square" lIns="0" tIns="12700" rIns="0" bIns="0" rtlCol="0" vert="horz">
            <a:spAutoFit/>
          </a:bodyPr>
          <a:lstStyle/>
          <a:p>
            <a:pPr algn="ctr" marR="356235">
              <a:lnSpc>
                <a:spcPts val="1280"/>
              </a:lnSpc>
              <a:spcBef>
                <a:spcPts val="100"/>
              </a:spcBef>
            </a:pPr>
            <a:r>
              <a:rPr dirty="0" sz="1200" spc="-50" b="1">
                <a:solidFill>
                  <a:srgbClr val="40458B"/>
                </a:solidFill>
                <a:latin typeface="Times New Roman"/>
                <a:cs typeface="Times New Roman"/>
              </a:rPr>
              <a:t>2</a:t>
            </a:r>
            <a:endParaRPr sz="1200">
              <a:latin typeface="Times New Roman"/>
              <a:cs typeface="Times New Roman"/>
            </a:endParaRPr>
          </a:p>
          <a:p>
            <a:pPr marL="38100">
              <a:lnSpc>
                <a:spcPts val="2000"/>
              </a:lnSpc>
            </a:pPr>
            <a:r>
              <a:rPr dirty="0" sz="1800" spc="-10" b="1">
                <a:solidFill>
                  <a:srgbClr val="40458B"/>
                </a:solidFill>
                <a:latin typeface="宋体"/>
                <a:cs typeface="宋体"/>
              </a:rPr>
              <a:t>到</a:t>
            </a:r>
            <a:r>
              <a:rPr dirty="0" sz="1800" b="1">
                <a:solidFill>
                  <a:srgbClr val="40458B"/>
                </a:solidFill>
                <a:latin typeface="Times New Roman"/>
                <a:cs typeface="Times New Roman"/>
              </a:rPr>
              <a:t>B</a:t>
            </a:r>
            <a:r>
              <a:rPr dirty="0" baseline="-20833" sz="1800" b="1">
                <a:solidFill>
                  <a:srgbClr val="40458B"/>
                </a:solidFill>
                <a:latin typeface="Times New Roman"/>
                <a:cs typeface="Times New Roman"/>
              </a:rPr>
              <a:t>2</a:t>
            </a:r>
            <a:r>
              <a:rPr dirty="0" sz="1800" spc="-60" b="1">
                <a:solidFill>
                  <a:srgbClr val="40458B"/>
                </a:solidFill>
                <a:latin typeface="宋体"/>
                <a:cs typeface="宋体"/>
              </a:rPr>
              <a:t>的第一条指令之前 。</a:t>
            </a:r>
            <a:endParaRPr sz="1800">
              <a:latin typeface="宋体"/>
              <a:cs typeface="宋体"/>
            </a:endParaRPr>
          </a:p>
        </p:txBody>
      </p:sp>
      <p:sp>
        <p:nvSpPr>
          <p:cNvPr id="17" name="object 17" descr=""/>
          <p:cNvSpPr txBox="1"/>
          <p:nvPr/>
        </p:nvSpPr>
        <p:spPr>
          <a:xfrm>
            <a:off x="6721602" y="5334711"/>
            <a:ext cx="5584825" cy="300355"/>
          </a:xfrm>
          <a:prstGeom prst="rect">
            <a:avLst/>
          </a:prstGeom>
        </p:spPr>
        <p:txBody>
          <a:bodyPr wrap="square" lIns="0" tIns="12700" rIns="0" bIns="0" rtlCol="0" vert="horz">
            <a:spAutoFit/>
          </a:bodyPr>
          <a:lstStyle/>
          <a:p>
            <a:pPr marL="12700">
              <a:lnSpc>
                <a:spcPct val="100000"/>
              </a:lnSpc>
              <a:spcBef>
                <a:spcPts val="100"/>
              </a:spcBef>
            </a:pPr>
            <a:r>
              <a:rPr dirty="0" sz="1800" spc="-20" b="1">
                <a:solidFill>
                  <a:srgbClr val="FF09FF"/>
                </a:solidFill>
                <a:latin typeface="宋体"/>
                <a:cs typeface="宋体"/>
              </a:rPr>
              <a:t>压缩实质</a:t>
            </a:r>
            <a:r>
              <a:rPr dirty="0" sz="1800" spc="-20" b="1">
                <a:solidFill>
                  <a:srgbClr val="40458B"/>
                </a:solidFill>
                <a:latin typeface="宋体"/>
                <a:cs typeface="宋体"/>
              </a:rPr>
              <a:t>：提前判断分支，同时执行</a:t>
            </a:r>
            <a:r>
              <a:rPr dirty="0" sz="1800" spc="-10" b="1">
                <a:solidFill>
                  <a:srgbClr val="40458B"/>
                </a:solidFill>
                <a:latin typeface="Times New Roman"/>
                <a:cs typeface="Times New Roman"/>
              </a:rPr>
              <a:t>B3</a:t>
            </a:r>
            <a:r>
              <a:rPr dirty="0" sz="1800" spc="-25" b="1">
                <a:solidFill>
                  <a:srgbClr val="40458B"/>
                </a:solidFill>
                <a:latin typeface="宋体"/>
                <a:cs typeface="宋体"/>
              </a:rPr>
              <a:t>基本块的内容，</a:t>
            </a:r>
            <a:endParaRPr sz="1800">
              <a:latin typeface="宋体"/>
              <a:cs typeface="宋体"/>
            </a:endParaRPr>
          </a:p>
        </p:txBody>
      </p:sp>
      <p:sp>
        <p:nvSpPr>
          <p:cNvPr id="18" name="object 18" descr=""/>
          <p:cNvSpPr txBox="1"/>
          <p:nvPr/>
        </p:nvSpPr>
        <p:spPr>
          <a:xfrm>
            <a:off x="6721602" y="5609640"/>
            <a:ext cx="2327275" cy="299720"/>
          </a:xfrm>
          <a:prstGeom prst="rect">
            <a:avLst/>
          </a:prstGeom>
        </p:spPr>
        <p:txBody>
          <a:bodyPr wrap="square" lIns="0" tIns="12700" rIns="0" bIns="0" rtlCol="0" vert="horz">
            <a:spAutoFit/>
          </a:bodyPr>
          <a:lstStyle/>
          <a:p>
            <a:pPr marL="12700">
              <a:lnSpc>
                <a:spcPct val="100000"/>
              </a:lnSpc>
              <a:spcBef>
                <a:spcPts val="100"/>
              </a:spcBef>
            </a:pPr>
            <a:r>
              <a:rPr dirty="0" sz="1800" spc="-15" b="1">
                <a:solidFill>
                  <a:srgbClr val="40458B"/>
                </a:solidFill>
                <a:latin typeface="宋体"/>
                <a:cs typeface="宋体"/>
              </a:rPr>
              <a:t>同步执行，节约了时间</a:t>
            </a:r>
            <a:endParaRPr sz="1800">
              <a:latin typeface="宋体"/>
              <a:cs typeface="宋体"/>
            </a:endParaRPr>
          </a:p>
        </p:txBody>
      </p:sp>
      <p:sp>
        <p:nvSpPr>
          <p:cNvPr id="19" name="object 19" descr=""/>
          <p:cNvSpPr txBox="1"/>
          <p:nvPr/>
        </p:nvSpPr>
        <p:spPr>
          <a:xfrm>
            <a:off x="731091" y="2148584"/>
            <a:ext cx="611505" cy="386715"/>
          </a:xfrm>
          <a:prstGeom prst="rect">
            <a:avLst/>
          </a:prstGeom>
          <a:solidFill>
            <a:srgbClr val="E6E6E6"/>
          </a:solidFill>
          <a:ln w="16132">
            <a:solidFill>
              <a:srgbClr val="000000"/>
            </a:solidFill>
          </a:ln>
        </p:spPr>
        <p:txBody>
          <a:bodyPr wrap="square" lIns="0" tIns="50800" rIns="0" bIns="0" rtlCol="0" vert="horz">
            <a:spAutoFit/>
          </a:bodyPr>
          <a:lstStyle/>
          <a:p>
            <a:pPr algn="ctr">
              <a:lnSpc>
                <a:spcPct val="100000"/>
              </a:lnSpc>
              <a:spcBef>
                <a:spcPts val="400"/>
              </a:spcBef>
            </a:pPr>
            <a:r>
              <a:rPr dirty="0" sz="1600" spc="-25">
                <a:latin typeface="Times New Roman"/>
                <a:cs typeface="Times New Roman"/>
              </a:rPr>
              <a:t>B</a:t>
            </a:r>
            <a:r>
              <a:rPr dirty="0" baseline="-13227" sz="1575" spc="-37">
                <a:latin typeface="Times New Roman"/>
                <a:cs typeface="Times New Roman"/>
              </a:rPr>
              <a:t>1</a:t>
            </a:r>
            <a:endParaRPr baseline="-13227" sz="1575">
              <a:latin typeface="Times New Roman"/>
              <a:cs typeface="Times New Roman"/>
            </a:endParaRPr>
          </a:p>
        </p:txBody>
      </p:sp>
      <p:sp>
        <p:nvSpPr>
          <p:cNvPr id="20" name="object 20" descr=""/>
          <p:cNvSpPr txBox="1"/>
          <p:nvPr/>
        </p:nvSpPr>
        <p:spPr>
          <a:xfrm>
            <a:off x="1281118" y="2792200"/>
            <a:ext cx="611505" cy="386715"/>
          </a:xfrm>
          <a:prstGeom prst="rect">
            <a:avLst/>
          </a:prstGeom>
          <a:solidFill>
            <a:srgbClr val="E6E6E6"/>
          </a:solidFill>
          <a:ln w="16132">
            <a:solidFill>
              <a:srgbClr val="000000"/>
            </a:solidFill>
          </a:ln>
        </p:spPr>
        <p:txBody>
          <a:bodyPr wrap="square" lIns="0" tIns="51435" rIns="0" bIns="0" rtlCol="0" vert="horz">
            <a:spAutoFit/>
          </a:bodyPr>
          <a:lstStyle/>
          <a:p>
            <a:pPr algn="ctr">
              <a:lnSpc>
                <a:spcPct val="100000"/>
              </a:lnSpc>
              <a:spcBef>
                <a:spcPts val="405"/>
              </a:spcBef>
            </a:pPr>
            <a:r>
              <a:rPr dirty="0" sz="1600" spc="-25">
                <a:latin typeface="Times New Roman"/>
                <a:cs typeface="Times New Roman"/>
              </a:rPr>
              <a:t>B</a:t>
            </a:r>
            <a:r>
              <a:rPr dirty="0" baseline="-13227" sz="1575" spc="-37">
                <a:latin typeface="Times New Roman"/>
                <a:cs typeface="Times New Roman"/>
              </a:rPr>
              <a:t>3</a:t>
            </a:r>
            <a:endParaRPr baseline="-13227" sz="1575">
              <a:latin typeface="Times New Roman"/>
              <a:cs typeface="Times New Roman"/>
            </a:endParaRPr>
          </a:p>
        </p:txBody>
      </p:sp>
      <p:grpSp>
        <p:nvGrpSpPr>
          <p:cNvPr id="21" name="object 21" descr=""/>
          <p:cNvGrpSpPr/>
          <p:nvPr/>
        </p:nvGrpSpPr>
        <p:grpSpPr>
          <a:xfrm>
            <a:off x="1272863" y="3427788"/>
            <a:ext cx="628015" cy="403225"/>
            <a:chOff x="1272863" y="3427788"/>
            <a:chExt cx="628015" cy="403225"/>
          </a:xfrm>
        </p:grpSpPr>
        <p:sp>
          <p:nvSpPr>
            <p:cNvPr id="22" name="object 22" descr=""/>
            <p:cNvSpPr/>
            <p:nvPr/>
          </p:nvSpPr>
          <p:spPr>
            <a:xfrm>
              <a:off x="1281118" y="3436043"/>
              <a:ext cx="611505" cy="386715"/>
            </a:xfrm>
            <a:custGeom>
              <a:avLst/>
              <a:gdLst/>
              <a:ahLst/>
              <a:cxnLst/>
              <a:rect l="l" t="t" r="r" b="b"/>
              <a:pathLst>
                <a:path w="611505" h="386714">
                  <a:moveTo>
                    <a:pt x="611126" y="0"/>
                  </a:moveTo>
                  <a:lnTo>
                    <a:pt x="0" y="0"/>
                  </a:lnTo>
                  <a:lnTo>
                    <a:pt x="0" y="386260"/>
                  </a:lnTo>
                  <a:lnTo>
                    <a:pt x="611126" y="386260"/>
                  </a:lnTo>
                  <a:lnTo>
                    <a:pt x="611126" y="0"/>
                  </a:lnTo>
                  <a:close/>
                </a:path>
              </a:pathLst>
            </a:custGeom>
            <a:solidFill>
              <a:srgbClr val="E6E6E6"/>
            </a:solidFill>
          </p:spPr>
          <p:txBody>
            <a:bodyPr wrap="square" lIns="0" tIns="0" rIns="0" bIns="0" rtlCol="0"/>
            <a:lstStyle/>
            <a:p/>
          </p:txBody>
        </p:sp>
        <p:sp>
          <p:nvSpPr>
            <p:cNvPr id="23" name="object 23" descr=""/>
            <p:cNvSpPr/>
            <p:nvPr/>
          </p:nvSpPr>
          <p:spPr>
            <a:xfrm>
              <a:off x="1281118" y="3436043"/>
              <a:ext cx="611505" cy="386715"/>
            </a:xfrm>
            <a:custGeom>
              <a:avLst/>
              <a:gdLst/>
              <a:ahLst/>
              <a:cxnLst/>
              <a:rect l="l" t="t" r="r" b="b"/>
              <a:pathLst>
                <a:path w="611505" h="386714">
                  <a:moveTo>
                    <a:pt x="0" y="386260"/>
                  </a:moveTo>
                  <a:lnTo>
                    <a:pt x="611126" y="386260"/>
                  </a:lnTo>
                  <a:lnTo>
                    <a:pt x="611126" y="0"/>
                  </a:lnTo>
                  <a:lnTo>
                    <a:pt x="0" y="0"/>
                  </a:lnTo>
                  <a:lnTo>
                    <a:pt x="0" y="386260"/>
                  </a:lnTo>
                  <a:close/>
                </a:path>
              </a:pathLst>
            </a:custGeom>
            <a:ln w="16115">
              <a:solidFill>
                <a:srgbClr val="000000"/>
              </a:solidFill>
            </a:ln>
          </p:spPr>
          <p:txBody>
            <a:bodyPr wrap="square" lIns="0" tIns="0" rIns="0" bIns="0" rtlCol="0"/>
            <a:lstStyle/>
            <a:p/>
          </p:txBody>
        </p:sp>
      </p:grpSp>
      <p:sp>
        <p:nvSpPr>
          <p:cNvPr id="24" name="object 24" descr=""/>
          <p:cNvSpPr txBox="1"/>
          <p:nvPr/>
        </p:nvSpPr>
        <p:spPr>
          <a:xfrm>
            <a:off x="1263784" y="3473487"/>
            <a:ext cx="645795" cy="271145"/>
          </a:xfrm>
          <a:prstGeom prst="rect">
            <a:avLst/>
          </a:prstGeom>
        </p:spPr>
        <p:txBody>
          <a:bodyPr wrap="square" lIns="0" tIns="13970" rIns="0" bIns="0" rtlCol="0" vert="horz">
            <a:spAutoFit/>
          </a:bodyPr>
          <a:lstStyle/>
          <a:p>
            <a:pPr algn="ctr">
              <a:lnSpc>
                <a:spcPct val="100000"/>
              </a:lnSpc>
              <a:spcBef>
                <a:spcPts val="110"/>
              </a:spcBef>
            </a:pPr>
            <a:r>
              <a:rPr dirty="0" sz="1600" spc="-25">
                <a:latin typeface="Times New Roman"/>
                <a:cs typeface="Times New Roman"/>
              </a:rPr>
              <a:t>B</a:t>
            </a:r>
            <a:r>
              <a:rPr dirty="0" baseline="-13227" sz="1575" spc="-37">
                <a:latin typeface="Times New Roman"/>
                <a:cs typeface="Times New Roman"/>
              </a:rPr>
              <a:t>4</a:t>
            </a:r>
            <a:endParaRPr baseline="-13227" sz="1575">
              <a:latin typeface="Times New Roman"/>
              <a:cs typeface="Times New Roman"/>
            </a:endParaRPr>
          </a:p>
        </p:txBody>
      </p:sp>
      <p:sp>
        <p:nvSpPr>
          <p:cNvPr id="25" name="object 25" descr=""/>
          <p:cNvSpPr txBox="1"/>
          <p:nvPr/>
        </p:nvSpPr>
        <p:spPr>
          <a:xfrm>
            <a:off x="792191" y="4079840"/>
            <a:ext cx="611505" cy="386715"/>
          </a:xfrm>
          <a:prstGeom prst="rect">
            <a:avLst/>
          </a:prstGeom>
          <a:solidFill>
            <a:srgbClr val="E6E6E6"/>
          </a:solidFill>
          <a:ln w="16132">
            <a:solidFill>
              <a:srgbClr val="000000"/>
            </a:solidFill>
          </a:ln>
        </p:spPr>
        <p:txBody>
          <a:bodyPr wrap="square" lIns="0" tIns="50800" rIns="0" bIns="0" rtlCol="0" vert="horz">
            <a:spAutoFit/>
          </a:bodyPr>
          <a:lstStyle/>
          <a:p>
            <a:pPr algn="ctr">
              <a:lnSpc>
                <a:spcPct val="100000"/>
              </a:lnSpc>
              <a:spcBef>
                <a:spcPts val="400"/>
              </a:spcBef>
            </a:pPr>
            <a:r>
              <a:rPr dirty="0" sz="1600" spc="-25">
                <a:latin typeface="Times New Roman"/>
                <a:cs typeface="Times New Roman"/>
              </a:rPr>
              <a:t>B</a:t>
            </a:r>
            <a:r>
              <a:rPr dirty="0" baseline="-13227" sz="1575" spc="-37">
                <a:latin typeface="Times New Roman"/>
                <a:cs typeface="Times New Roman"/>
              </a:rPr>
              <a:t>5</a:t>
            </a:r>
            <a:endParaRPr baseline="-13227" sz="1575">
              <a:latin typeface="Times New Roman"/>
              <a:cs typeface="Times New Roman"/>
            </a:endParaRPr>
          </a:p>
        </p:txBody>
      </p:sp>
      <p:sp>
        <p:nvSpPr>
          <p:cNvPr id="26" name="object 26" descr=""/>
          <p:cNvSpPr txBox="1"/>
          <p:nvPr/>
        </p:nvSpPr>
        <p:spPr>
          <a:xfrm>
            <a:off x="242177" y="2792291"/>
            <a:ext cx="611505" cy="1030605"/>
          </a:xfrm>
          <a:prstGeom prst="rect">
            <a:avLst/>
          </a:prstGeom>
          <a:ln w="15755">
            <a:solidFill>
              <a:srgbClr val="000000"/>
            </a:solidFill>
          </a:ln>
        </p:spPr>
        <p:txBody>
          <a:bodyPr wrap="square" lIns="0" tIns="0" rIns="0" bIns="0" rtlCol="0" vert="horz">
            <a:spAutoFit/>
          </a:bodyPr>
          <a:lstStyle/>
          <a:p>
            <a:pPr>
              <a:lnSpc>
                <a:spcPct val="100000"/>
              </a:lnSpc>
            </a:pPr>
            <a:endParaRPr sz="1050">
              <a:latin typeface="Times New Roman"/>
              <a:cs typeface="Times New Roman"/>
            </a:endParaRPr>
          </a:p>
          <a:p>
            <a:pPr>
              <a:lnSpc>
                <a:spcPct val="100000"/>
              </a:lnSpc>
              <a:spcBef>
                <a:spcPts val="520"/>
              </a:spcBef>
            </a:pPr>
            <a:endParaRPr sz="1050">
              <a:latin typeface="Times New Roman"/>
              <a:cs typeface="Times New Roman"/>
            </a:endParaRPr>
          </a:p>
          <a:p>
            <a:pPr algn="ctr">
              <a:lnSpc>
                <a:spcPct val="100000"/>
              </a:lnSpc>
            </a:pPr>
            <a:r>
              <a:rPr dirty="0" sz="1600" spc="-25">
                <a:latin typeface="Times New Roman"/>
                <a:cs typeface="Times New Roman"/>
              </a:rPr>
              <a:t>B</a:t>
            </a:r>
            <a:r>
              <a:rPr dirty="0" baseline="-13227" sz="1575" spc="-37">
                <a:latin typeface="Times New Roman"/>
                <a:cs typeface="Times New Roman"/>
              </a:rPr>
              <a:t>2</a:t>
            </a:r>
            <a:endParaRPr baseline="-13227" sz="1575">
              <a:latin typeface="Times New Roman"/>
              <a:cs typeface="Times New Roman"/>
            </a:endParaRPr>
          </a:p>
        </p:txBody>
      </p:sp>
      <p:sp>
        <p:nvSpPr>
          <p:cNvPr id="27" name="object 27" descr=""/>
          <p:cNvSpPr txBox="1"/>
          <p:nvPr/>
        </p:nvSpPr>
        <p:spPr>
          <a:xfrm>
            <a:off x="303292" y="4723592"/>
            <a:ext cx="611505" cy="386715"/>
          </a:xfrm>
          <a:prstGeom prst="rect">
            <a:avLst/>
          </a:prstGeom>
          <a:ln w="16132">
            <a:solidFill>
              <a:srgbClr val="000000"/>
            </a:solidFill>
          </a:ln>
        </p:spPr>
        <p:txBody>
          <a:bodyPr wrap="square" lIns="0" tIns="50800" rIns="0" bIns="0" rtlCol="0" vert="horz">
            <a:spAutoFit/>
          </a:bodyPr>
          <a:lstStyle/>
          <a:p>
            <a:pPr algn="ctr">
              <a:lnSpc>
                <a:spcPct val="100000"/>
              </a:lnSpc>
              <a:spcBef>
                <a:spcPts val="400"/>
              </a:spcBef>
            </a:pPr>
            <a:r>
              <a:rPr dirty="0" sz="1600" spc="-25">
                <a:latin typeface="Times New Roman"/>
                <a:cs typeface="Times New Roman"/>
              </a:rPr>
              <a:t>B</a:t>
            </a:r>
            <a:r>
              <a:rPr dirty="0" baseline="-13227" sz="1575" spc="-37">
                <a:latin typeface="Times New Roman"/>
                <a:cs typeface="Times New Roman"/>
              </a:rPr>
              <a:t>6</a:t>
            </a:r>
            <a:endParaRPr baseline="-13227" sz="1575">
              <a:latin typeface="Times New Roman"/>
              <a:cs typeface="Times New Roman"/>
            </a:endParaRPr>
          </a:p>
        </p:txBody>
      </p:sp>
      <p:sp>
        <p:nvSpPr>
          <p:cNvPr id="28" name="object 28" descr=""/>
          <p:cNvSpPr txBox="1"/>
          <p:nvPr/>
        </p:nvSpPr>
        <p:spPr>
          <a:xfrm>
            <a:off x="792191" y="5367344"/>
            <a:ext cx="611505" cy="386715"/>
          </a:xfrm>
          <a:prstGeom prst="rect">
            <a:avLst/>
          </a:prstGeom>
          <a:solidFill>
            <a:srgbClr val="E6E6E6"/>
          </a:solidFill>
          <a:ln w="16132">
            <a:solidFill>
              <a:srgbClr val="000000"/>
            </a:solidFill>
          </a:ln>
        </p:spPr>
        <p:txBody>
          <a:bodyPr wrap="square" lIns="0" tIns="50800" rIns="0" bIns="0" rtlCol="0" vert="horz">
            <a:spAutoFit/>
          </a:bodyPr>
          <a:lstStyle/>
          <a:p>
            <a:pPr algn="ctr">
              <a:lnSpc>
                <a:spcPct val="100000"/>
              </a:lnSpc>
              <a:spcBef>
                <a:spcPts val="400"/>
              </a:spcBef>
            </a:pPr>
            <a:r>
              <a:rPr dirty="0" sz="1600" spc="-25">
                <a:latin typeface="Times New Roman"/>
                <a:cs typeface="Times New Roman"/>
              </a:rPr>
              <a:t>B</a:t>
            </a:r>
            <a:r>
              <a:rPr dirty="0" baseline="-13227" sz="1575" spc="-37">
                <a:latin typeface="Times New Roman"/>
                <a:cs typeface="Times New Roman"/>
              </a:rPr>
              <a:t>7</a:t>
            </a:r>
            <a:endParaRPr baseline="-13227" sz="1575">
              <a:latin typeface="Times New Roman"/>
              <a:cs typeface="Times New Roman"/>
            </a:endParaRPr>
          </a:p>
        </p:txBody>
      </p:sp>
      <p:grpSp>
        <p:nvGrpSpPr>
          <p:cNvPr id="29" name="object 29" descr=""/>
          <p:cNvGrpSpPr/>
          <p:nvPr/>
        </p:nvGrpSpPr>
        <p:grpSpPr>
          <a:xfrm>
            <a:off x="547749" y="2526796"/>
            <a:ext cx="375285" cy="279400"/>
            <a:chOff x="547749" y="2526796"/>
            <a:chExt cx="375285" cy="279400"/>
          </a:xfrm>
        </p:grpSpPr>
        <p:sp>
          <p:nvSpPr>
            <p:cNvPr id="30" name="object 30" descr=""/>
            <p:cNvSpPr/>
            <p:nvPr/>
          </p:nvSpPr>
          <p:spPr>
            <a:xfrm>
              <a:off x="578752" y="2534845"/>
              <a:ext cx="335915" cy="236220"/>
            </a:xfrm>
            <a:custGeom>
              <a:avLst/>
              <a:gdLst/>
              <a:ahLst/>
              <a:cxnLst/>
              <a:rect l="l" t="t" r="r" b="b"/>
              <a:pathLst>
                <a:path w="335915" h="236219">
                  <a:moveTo>
                    <a:pt x="335682" y="0"/>
                  </a:moveTo>
                  <a:lnTo>
                    <a:pt x="0" y="235735"/>
                  </a:lnTo>
                </a:path>
              </a:pathLst>
            </a:custGeom>
            <a:ln w="16077">
              <a:solidFill>
                <a:srgbClr val="000000"/>
              </a:solidFill>
            </a:ln>
          </p:spPr>
          <p:txBody>
            <a:bodyPr wrap="square" lIns="0" tIns="0" rIns="0" bIns="0" rtlCol="0"/>
            <a:lstStyle/>
            <a:p/>
          </p:txBody>
        </p:sp>
        <p:sp>
          <p:nvSpPr>
            <p:cNvPr id="31" name="object 31" descr=""/>
            <p:cNvSpPr/>
            <p:nvPr/>
          </p:nvSpPr>
          <p:spPr>
            <a:xfrm>
              <a:off x="547749" y="2724250"/>
              <a:ext cx="64769" cy="81915"/>
            </a:xfrm>
            <a:custGeom>
              <a:avLst/>
              <a:gdLst/>
              <a:ahLst/>
              <a:cxnLst/>
              <a:rect l="l" t="t" r="r" b="b"/>
              <a:pathLst>
                <a:path w="64770" h="81914">
                  <a:moveTo>
                    <a:pt x="12914" y="0"/>
                  </a:moveTo>
                  <a:lnTo>
                    <a:pt x="0" y="68131"/>
                  </a:lnTo>
                  <a:lnTo>
                    <a:pt x="64570" y="81757"/>
                  </a:lnTo>
                  <a:lnTo>
                    <a:pt x="12914" y="0"/>
                  </a:lnTo>
                  <a:close/>
                </a:path>
              </a:pathLst>
            </a:custGeom>
            <a:solidFill>
              <a:srgbClr val="000000"/>
            </a:solidFill>
          </p:spPr>
          <p:txBody>
            <a:bodyPr wrap="square" lIns="0" tIns="0" rIns="0" bIns="0" rtlCol="0"/>
            <a:lstStyle/>
            <a:p/>
          </p:txBody>
        </p:sp>
      </p:grpSp>
      <p:grpSp>
        <p:nvGrpSpPr>
          <p:cNvPr id="32" name="object 32" descr=""/>
          <p:cNvGrpSpPr/>
          <p:nvPr/>
        </p:nvGrpSpPr>
        <p:grpSpPr>
          <a:xfrm>
            <a:off x="1150802" y="2526771"/>
            <a:ext cx="436245" cy="283845"/>
            <a:chOff x="1150802" y="2526771"/>
            <a:chExt cx="436245" cy="283845"/>
          </a:xfrm>
        </p:grpSpPr>
        <p:sp>
          <p:nvSpPr>
            <p:cNvPr id="33" name="object 33" descr=""/>
            <p:cNvSpPr/>
            <p:nvPr/>
          </p:nvSpPr>
          <p:spPr>
            <a:xfrm>
              <a:off x="1158876" y="2534844"/>
              <a:ext cx="395605" cy="238125"/>
            </a:xfrm>
            <a:custGeom>
              <a:avLst/>
              <a:gdLst/>
              <a:ahLst/>
              <a:cxnLst/>
              <a:rect l="l" t="t" r="r" b="b"/>
              <a:pathLst>
                <a:path w="395605" h="238125">
                  <a:moveTo>
                    <a:pt x="0" y="0"/>
                  </a:moveTo>
                  <a:lnTo>
                    <a:pt x="395466" y="238006"/>
                  </a:lnTo>
                </a:path>
              </a:pathLst>
            </a:custGeom>
            <a:ln w="16131">
              <a:solidFill>
                <a:srgbClr val="000000"/>
              </a:solidFill>
            </a:ln>
          </p:spPr>
          <p:txBody>
            <a:bodyPr wrap="square" lIns="0" tIns="0" rIns="0" bIns="0" rtlCol="0"/>
            <a:lstStyle/>
            <a:p/>
          </p:txBody>
        </p:sp>
        <p:sp>
          <p:nvSpPr>
            <p:cNvPr id="34" name="object 34" descr=""/>
            <p:cNvSpPr/>
            <p:nvPr/>
          </p:nvSpPr>
          <p:spPr>
            <a:xfrm>
              <a:off x="1523146" y="2725386"/>
              <a:ext cx="64135" cy="85725"/>
            </a:xfrm>
            <a:custGeom>
              <a:avLst/>
              <a:gdLst/>
              <a:ahLst/>
              <a:cxnLst/>
              <a:rect l="l" t="t" r="r" b="b"/>
              <a:pathLst>
                <a:path w="64134" h="85725">
                  <a:moveTo>
                    <a:pt x="46202" y="0"/>
                  </a:moveTo>
                  <a:lnTo>
                    <a:pt x="0" y="85164"/>
                  </a:lnTo>
                  <a:lnTo>
                    <a:pt x="63535" y="66995"/>
                  </a:lnTo>
                  <a:lnTo>
                    <a:pt x="46202" y="0"/>
                  </a:lnTo>
                  <a:close/>
                </a:path>
              </a:pathLst>
            </a:custGeom>
            <a:solidFill>
              <a:srgbClr val="000000"/>
            </a:solidFill>
          </p:spPr>
          <p:txBody>
            <a:bodyPr wrap="square" lIns="0" tIns="0" rIns="0" bIns="0" rtlCol="0"/>
            <a:lstStyle/>
            <a:p/>
          </p:txBody>
        </p:sp>
      </p:grpSp>
      <p:grpSp>
        <p:nvGrpSpPr>
          <p:cNvPr id="35" name="object 35" descr=""/>
          <p:cNvGrpSpPr/>
          <p:nvPr/>
        </p:nvGrpSpPr>
        <p:grpSpPr>
          <a:xfrm>
            <a:off x="539675" y="3814229"/>
            <a:ext cx="436245" cy="283845"/>
            <a:chOff x="539675" y="3814229"/>
            <a:chExt cx="436245" cy="283845"/>
          </a:xfrm>
        </p:grpSpPr>
        <p:sp>
          <p:nvSpPr>
            <p:cNvPr id="36" name="object 36" descr=""/>
            <p:cNvSpPr/>
            <p:nvPr/>
          </p:nvSpPr>
          <p:spPr>
            <a:xfrm>
              <a:off x="547749" y="3822303"/>
              <a:ext cx="395605" cy="238125"/>
            </a:xfrm>
            <a:custGeom>
              <a:avLst/>
              <a:gdLst/>
              <a:ahLst/>
              <a:cxnLst/>
              <a:rect l="l" t="t" r="r" b="b"/>
              <a:pathLst>
                <a:path w="395605" h="238125">
                  <a:moveTo>
                    <a:pt x="0" y="0"/>
                  </a:moveTo>
                  <a:lnTo>
                    <a:pt x="395445" y="238051"/>
                  </a:lnTo>
                </a:path>
              </a:pathLst>
            </a:custGeom>
            <a:ln w="16131">
              <a:solidFill>
                <a:srgbClr val="000000"/>
              </a:solidFill>
            </a:ln>
          </p:spPr>
          <p:txBody>
            <a:bodyPr wrap="square" lIns="0" tIns="0" rIns="0" bIns="0" rtlCol="0"/>
            <a:lstStyle/>
            <a:p/>
          </p:txBody>
        </p:sp>
        <p:sp>
          <p:nvSpPr>
            <p:cNvPr id="37" name="object 37" descr=""/>
            <p:cNvSpPr/>
            <p:nvPr/>
          </p:nvSpPr>
          <p:spPr>
            <a:xfrm>
              <a:off x="911997" y="4012913"/>
              <a:ext cx="64135" cy="85725"/>
            </a:xfrm>
            <a:custGeom>
              <a:avLst/>
              <a:gdLst/>
              <a:ahLst/>
              <a:cxnLst/>
              <a:rect l="l" t="t" r="r" b="b"/>
              <a:pathLst>
                <a:path w="64134" h="85725">
                  <a:moveTo>
                    <a:pt x="46223" y="0"/>
                  </a:moveTo>
                  <a:lnTo>
                    <a:pt x="0" y="85164"/>
                  </a:lnTo>
                  <a:lnTo>
                    <a:pt x="63535" y="66927"/>
                  </a:lnTo>
                  <a:lnTo>
                    <a:pt x="46223" y="0"/>
                  </a:lnTo>
                  <a:close/>
                </a:path>
              </a:pathLst>
            </a:custGeom>
            <a:solidFill>
              <a:srgbClr val="000000"/>
            </a:solidFill>
          </p:spPr>
          <p:txBody>
            <a:bodyPr wrap="square" lIns="0" tIns="0" rIns="0" bIns="0" rtlCol="0"/>
            <a:lstStyle/>
            <a:p/>
          </p:txBody>
        </p:sp>
      </p:grpSp>
      <p:grpSp>
        <p:nvGrpSpPr>
          <p:cNvPr id="38" name="object 38" descr=""/>
          <p:cNvGrpSpPr/>
          <p:nvPr/>
        </p:nvGrpSpPr>
        <p:grpSpPr>
          <a:xfrm>
            <a:off x="608870" y="4458052"/>
            <a:ext cx="375285" cy="279400"/>
            <a:chOff x="608870" y="4458052"/>
            <a:chExt cx="375285" cy="279400"/>
          </a:xfrm>
        </p:grpSpPr>
        <p:sp>
          <p:nvSpPr>
            <p:cNvPr id="39" name="object 39" descr=""/>
            <p:cNvSpPr/>
            <p:nvPr/>
          </p:nvSpPr>
          <p:spPr>
            <a:xfrm>
              <a:off x="639851" y="4466100"/>
              <a:ext cx="335915" cy="236220"/>
            </a:xfrm>
            <a:custGeom>
              <a:avLst/>
              <a:gdLst/>
              <a:ahLst/>
              <a:cxnLst/>
              <a:rect l="l" t="t" r="r" b="b"/>
              <a:pathLst>
                <a:path w="335915" h="236220">
                  <a:moveTo>
                    <a:pt x="335682" y="0"/>
                  </a:moveTo>
                  <a:lnTo>
                    <a:pt x="0" y="235735"/>
                  </a:lnTo>
                </a:path>
              </a:pathLst>
            </a:custGeom>
            <a:ln w="16077">
              <a:solidFill>
                <a:srgbClr val="000000"/>
              </a:solidFill>
            </a:ln>
          </p:spPr>
          <p:txBody>
            <a:bodyPr wrap="square" lIns="0" tIns="0" rIns="0" bIns="0" rtlCol="0"/>
            <a:lstStyle/>
            <a:p/>
          </p:txBody>
        </p:sp>
        <p:sp>
          <p:nvSpPr>
            <p:cNvPr id="40" name="object 40" descr=""/>
            <p:cNvSpPr/>
            <p:nvPr/>
          </p:nvSpPr>
          <p:spPr>
            <a:xfrm>
              <a:off x="608870" y="4655574"/>
              <a:ext cx="64769" cy="81915"/>
            </a:xfrm>
            <a:custGeom>
              <a:avLst/>
              <a:gdLst/>
              <a:ahLst/>
              <a:cxnLst/>
              <a:rect l="l" t="t" r="r" b="b"/>
              <a:pathLst>
                <a:path w="64770" h="81914">
                  <a:moveTo>
                    <a:pt x="12914" y="0"/>
                  </a:moveTo>
                  <a:lnTo>
                    <a:pt x="0" y="68017"/>
                  </a:lnTo>
                  <a:lnTo>
                    <a:pt x="64570" y="81621"/>
                  </a:lnTo>
                  <a:lnTo>
                    <a:pt x="12914" y="0"/>
                  </a:lnTo>
                  <a:close/>
                </a:path>
              </a:pathLst>
            </a:custGeom>
            <a:solidFill>
              <a:srgbClr val="000000"/>
            </a:solidFill>
          </p:spPr>
          <p:txBody>
            <a:bodyPr wrap="square" lIns="0" tIns="0" rIns="0" bIns="0" rtlCol="0"/>
            <a:lstStyle/>
            <a:p/>
          </p:txBody>
        </p:sp>
      </p:grpSp>
      <p:grpSp>
        <p:nvGrpSpPr>
          <p:cNvPr id="41" name="object 41" descr=""/>
          <p:cNvGrpSpPr/>
          <p:nvPr/>
        </p:nvGrpSpPr>
        <p:grpSpPr>
          <a:xfrm>
            <a:off x="539675" y="5101779"/>
            <a:ext cx="436245" cy="283845"/>
            <a:chOff x="539675" y="5101779"/>
            <a:chExt cx="436245" cy="283845"/>
          </a:xfrm>
        </p:grpSpPr>
        <p:sp>
          <p:nvSpPr>
            <p:cNvPr id="42" name="object 42" descr=""/>
            <p:cNvSpPr/>
            <p:nvPr/>
          </p:nvSpPr>
          <p:spPr>
            <a:xfrm>
              <a:off x="547749" y="5109853"/>
              <a:ext cx="395605" cy="238125"/>
            </a:xfrm>
            <a:custGeom>
              <a:avLst/>
              <a:gdLst/>
              <a:ahLst/>
              <a:cxnLst/>
              <a:rect l="l" t="t" r="r" b="b"/>
              <a:pathLst>
                <a:path w="395605" h="238125">
                  <a:moveTo>
                    <a:pt x="0" y="0"/>
                  </a:moveTo>
                  <a:lnTo>
                    <a:pt x="395445" y="238028"/>
                  </a:lnTo>
                </a:path>
              </a:pathLst>
            </a:custGeom>
            <a:ln w="16131">
              <a:solidFill>
                <a:srgbClr val="000000"/>
              </a:solidFill>
            </a:ln>
          </p:spPr>
          <p:txBody>
            <a:bodyPr wrap="square" lIns="0" tIns="0" rIns="0" bIns="0" rtlCol="0"/>
            <a:lstStyle/>
            <a:p/>
          </p:txBody>
        </p:sp>
        <p:sp>
          <p:nvSpPr>
            <p:cNvPr id="43" name="object 43" descr=""/>
            <p:cNvSpPr/>
            <p:nvPr/>
          </p:nvSpPr>
          <p:spPr>
            <a:xfrm>
              <a:off x="911997" y="5300439"/>
              <a:ext cx="64135" cy="85725"/>
            </a:xfrm>
            <a:custGeom>
              <a:avLst/>
              <a:gdLst/>
              <a:ahLst/>
              <a:cxnLst/>
              <a:rect l="l" t="t" r="r" b="b"/>
              <a:pathLst>
                <a:path w="64134" h="85725">
                  <a:moveTo>
                    <a:pt x="46223" y="0"/>
                  </a:moveTo>
                  <a:lnTo>
                    <a:pt x="0" y="85164"/>
                  </a:lnTo>
                  <a:lnTo>
                    <a:pt x="63535" y="66927"/>
                  </a:lnTo>
                  <a:lnTo>
                    <a:pt x="46223" y="0"/>
                  </a:lnTo>
                  <a:close/>
                </a:path>
              </a:pathLst>
            </a:custGeom>
            <a:solidFill>
              <a:srgbClr val="000000"/>
            </a:solidFill>
          </p:spPr>
          <p:txBody>
            <a:bodyPr wrap="square" lIns="0" tIns="0" rIns="0" bIns="0" rtlCol="0"/>
            <a:lstStyle/>
            <a:p/>
          </p:txBody>
        </p:sp>
      </p:grpSp>
      <p:grpSp>
        <p:nvGrpSpPr>
          <p:cNvPr id="44" name="object 44" descr=""/>
          <p:cNvGrpSpPr/>
          <p:nvPr/>
        </p:nvGrpSpPr>
        <p:grpSpPr>
          <a:xfrm>
            <a:off x="1219997" y="3178460"/>
            <a:ext cx="802640" cy="901700"/>
            <a:chOff x="1219997" y="3178460"/>
            <a:chExt cx="802640" cy="901700"/>
          </a:xfrm>
        </p:grpSpPr>
        <p:sp>
          <p:nvSpPr>
            <p:cNvPr id="45" name="object 45" descr=""/>
            <p:cNvSpPr/>
            <p:nvPr/>
          </p:nvSpPr>
          <p:spPr>
            <a:xfrm>
              <a:off x="1468535" y="3178460"/>
              <a:ext cx="0" cy="219075"/>
            </a:xfrm>
            <a:custGeom>
              <a:avLst/>
              <a:gdLst/>
              <a:ahLst/>
              <a:cxnLst/>
              <a:rect l="l" t="t" r="r" b="b"/>
              <a:pathLst>
                <a:path w="0" h="219075">
                  <a:moveTo>
                    <a:pt x="0" y="0"/>
                  </a:moveTo>
                  <a:lnTo>
                    <a:pt x="0" y="218475"/>
                  </a:lnTo>
                </a:path>
              </a:pathLst>
            </a:custGeom>
            <a:ln w="15522">
              <a:solidFill>
                <a:srgbClr val="000000"/>
              </a:solidFill>
            </a:ln>
          </p:spPr>
          <p:txBody>
            <a:bodyPr wrap="square" lIns="0" tIns="0" rIns="0" bIns="0" rtlCol="0"/>
            <a:lstStyle/>
            <a:p/>
          </p:txBody>
        </p:sp>
        <p:sp>
          <p:nvSpPr>
            <p:cNvPr id="46" name="object 46" descr=""/>
            <p:cNvSpPr/>
            <p:nvPr/>
          </p:nvSpPr>
          <p:spPr>
            <a:xfrm>
              <a:off x="1421967" y="3386943"/>
              <a:ext cx="93345" cy="49530"/>
            </a:xfrm>
            <a:custGeom>
              <a:avLst/>
              <a:gdLst/>
              <a:ahLst/>
              <a:cxnLst/>
              <a:rect l="l" t="t" r="r" b="b"/>
              <a:pathLst>
                <a:path w="93344" h="49529">
                  <a:moveTo>
                    <a:pt x="93137" y="0"/>
                  </a:moveTo>
                  <a:lnTo>
                    <a:pt x="0" y="0"/>
                  </a:lnTo>
                  <a:lnTo>
                    <a:pt x="46568" y="49054"/>
                  </a:lnTo>
                  <a:lnTo>
                    <a:pt x="93137" y="0"/>
                  </a:lnTo>
                  <a:close/>
                </a:path>
              </a:pathLst>
            </a:custGeom>
            <a:solidFill>
              <a:srgbClr val="000000"/>
            </a:solidFill>
          </p:spPr>
          <p:txBody>
            <a:bodyPr wrap="square" lIns="0" tIns="0" rIns="0" bIns="0" rtlCol="0"/>
            <a:lstStyle/>
            <a:p/>
          </p:txBody>
        </p:sp>
        <p:sp>
          <p:nvSpPr>
            <p:cNvPr id="47" name="object 47" descr=""/>
            <p:cNvSpPr/>
            <p:nvPr/>
          </p:nvSpPr>
          <p:spPr>
            <a:xfrm>
              <a:off x="1246343" y="3822303"/>
              <a:ext cx="218440" cy="229870"/>
            </a:xfrm>
            <a:custGeom>
              <a:avLst/>
              <a:gdLst/>
              <a:ahLst/>
              <a:cxnLst/>
              <a:rect l="l" t="t" r="r" b="b"/>
              <a:pathLst>
                <a:path w="218440" h="229870">
                  <a:moveTo>
                    <a:pt x="218117" y="0"/>
                  </a:moveTo>
                  <a:lnTo>
                    <a:pt x="0" y="229784"/>
                  </a:lnTo>
                </a:path>
              </a:pathLst>
            </a:custGeom>
            <a:ln w="15915">
              <a:solidFill>
                <a:srgbClr val="000000"/>
              </a:solidFill>
            </a:ln>
          </p:spPr>
          <p:txBody>
            <a:bodyPr wrap="square" lIns="0" tIns="0" rIns="0" bIns="0" rtlCol="0"/>
            <a:lstStyle/>
            <a:p/>
          </p:txBody>
        </p:sp>
        <p:sp>
          <p:nvSpPr>
            <p:cNvPr id="48" name="object 48" descr=""/>
            <p:cNvSpPr/>
            <p:nvPr/>
          </p:nvSpPr>
          <p:spPr>
            <a:xfrm>
              <a:off x="1219997" y="4010460"/>
              <a:ext cx="66040" cy="69850"/>
            </a:xfrm>
            <a:custGeom>
              <a:avLst/>
              <a:gdLst/>
              <a:ahLst/>
              <a:cxnLst/>
              <a:rect l="l" t="t" r="r" b="b"/>
              <a:pathLst>
                <a:path w="66040" h="69850">
                  <a:moveTo>
                    <a:pt x="0" y="0"/>
                  </a:moveTo>
                  <a:lnTo>
                    <a:pt x="0" y="69380"/>
                  </a:lnTo>
                  <a:lnTo>
                    <a:pt x="65864" y="69380"/>
                  </a:lnTo>
                  <a:lnTo>
                    <a:pt x="0" y="0"/>
                  </a:lnTo>
                  <a:close/>
                </a:path>
              </a:pathLst>
            </a:custGeom>
            <a:solidFill>
              <a:srgbClr val="000000"/>
            </a:solidFill>
          </p:spPr>
          <p:txBody>
            <a:bodyPr wrap="square" lIns="0" tIns="0" rIns="0" bIns="0" rtlCol="0"/>
            <a:lstStyle/>
            <a:p/>
          </p:txBody>
        </p:sp>
        <p:sp>
          <p:nvSpPr>
            <p:cNvPr id="49" name="object 49" descr=""/>
            <p:cNvSpPr/>
            <p:nvPr/>
          </p:nvSpPr>
          <p:spPr>
            <a:xfrm>
              <a:off x="1708903" y="3307229"/>
              <a:ext cx="306070" cy="643890"/>
            </a:xfrm>
            <a:custGeom>
              <a:avLst/>
              <a:gdLst/>
              <a:ahLst/>
              <a:cxnLst/>
              <a:rect l="l" t="t" r="r" b="b"/>
              <a:pathLst>
                <a:path w="306069" h="643889">
                  <a:moveTo>
                    <a:pt x="0" y="515074"/>
                  </a:moveTo>
                  <a:lnTo>
                    <a:pt x="0" y="643842"/>
                  </a:lnTo>
                  <a:lnTo>
                    <a:pt x="305563" y="643842"/>
                  </a:lnTo>
                  <a:lnTo>
                    <a:pt x="305563" y="0"/>
                  </a:lnTo>
                  <a:lnTo>
                    <a:pt x="0" y="0"/>
                  </a:lnTo>
                  <a:lnTo>
                    <a:pt x="0" y="89706"/>
                  </a:lnTo>
                </a:path>
              </a:pathLst>
            </a:custGeom>
            <a:ln w="15675">
              <a:solidFill>
                <a:srgbClr val="000000"/>
              </a:solidFill>
            </a:ln>
          </p:spPr>
          <p:txBody>
            <a:bodyPr wrap="square" lIns="0" tIns="0" rIns="0" bIns="0" rtlCol="0"/>
            <a:lstStyle/>
            <a:p/>
          </p:txBody>
        </p:sp>
        <p:sp>
          <p:nvSpPr>
            <p:cNvPr id="50" name="object 50" descr=""/>
            <p:cNvSpPr/>
            <p:nvPr/>
          </p:nvSpPr>
          <p:spPr>
            <a:xfrm>
              <a:off x="1662334" y="3386943"/>
              <a:ext cx="93345" cy="49530"/>
            </a:xfrm>
            <a:custGeom>
              <a:avLst/>
              <a:gdLst/>
              <a:ahLst/>
              <a:cxnLst/>
              <a:rect l="l" t="t" r="r" b="b"/>
              <a:pathLst>
                <a:path w="93344" h="49529">
                  <a:moveTo>
                    <a:pt x="93137" y="0"/>
                  </a:moveTo>
                  <a:lnTo>
                    <a:pt x="0" y="0"/>
                  </a:lnTo>
                  <a:lnTo>
                    <a:pt x="46568" y="49054"/>
                  </a:lnTo>
                  <a:lnTo>
                    <a:pt x="93137" y="0"/>
                  </a:lnTo>
                  <a:close/>
                </a:path>
              </a:pathLst>
            </a:custGeom>
            <a:solidFill>
              <a:srgbClr val="000000"/>
            </a:solidFill>
          </p:spPr>
          <p:txBody>
            <a:bodyPr wrap="square" lIns="0" tIns="0" rIns="0" bIns="0" rtlCol="0"/>
            <a:lstStyle/>
            <a:p/>
          </p:txBody>
        </p:sp>
      </p:grpSp>
      <p:grpSp>
        <p:nvGrpSpPr>
          <p:cNvPr id="51" name="object 51" descr=""/>
          <p:cNvGrpSpPr/>
          <p:nvPr/>
        </p:nvGrpSpPr>
        <p:grpSpPr>
          <a:xfrm>
            <a:off x="1151047" y="4458272"/>
            <a:ext cx="382905" cy="923290"/>
            <a:chOff x="1151047" y="4458272"/>
            <a:chExt cx="382905" cy="923290"/>
          </a:xfrm>
        </p:grpSpPr>
        <p:sp>
          <p:nvSpPr>
            <p:cNvPr id="52" name="object 52" descr=""/>
            <p:cNvSpPr/>
            <p:nvPr/>
          </p:nvSpPr>
          <p:spPr>
            <a:xfrm>
              <a:off x="1158876" y="4466101"/>
              <a:ext cx="367030" cy="880110"/>
            </a:xfrm>
            <a:custGeom>
              <a:avLst/>
              <a:gdLst/>
              <a:ahLst/>
              <a:cxnLst/>
              <a:rect l="l" t="t" r="r" b="b"/>
              <a:pathLst>
                <a:path w="367030" h="880110">
                  <a:moveTo>
                    <a:pt x="0" y="0"/>
                  </a:moveTo>
                  <a:lnTo>
                    <a:pt x="366684" y="257491"/>
                  </a:lnTo>
                  <a:lnTo>
                    <a:pt x="366684" y="643752"/>
                  </a:lnTo>
                  <a:lnTo>
                    <a:pt x="31002" y="879487"/>
                  </a:lnTo>
                </a:path>
              </a:pathLst>
            </a:custGeom>
            <a:ln w="15645">
              <a:solidFill>
                <a:srgbClr val="000000"/>
              </a:solidFill>
            </a:ln>
          </p:spPr>
          <p:txBody>
            <a:bodyPr wrap="square" lIns="0" tIns="0" rIns="0" bIns="0" rtlCol="0"/>
            <a:lstStyle/>
            <a:p/>
          </p:txBody>
        </p:sp>
        <p:sp>
          <p:nvSpPr>
            <p:cNvPr id="53" name="object 53" descr=""/>
            <p:cNvSpPr/>
            <p:nvPr/>
          </p:nvSpPr>
          <p:spPr>
            <a:xfrm>
              <a:off x="1158876" y="5299327"/>
              <a:ext cx="64769" cy="81915"/>
            </a:xfrm>
            <a:custGeom>
              <a:avLst/>
              <a:gdLst/>
              <a:ahLst/>
              <a:cxnLst/>
              <a:rect l="l" t="t" r="r" b="b"/>
              <a:pathLst>
                <a:path w="64769" h="81914">
                  <a:moveTo>
                    <a:pt x="12914" y="0"/>
                  </a:moveTo>
                  <a:lnTo>
                    <a:pt x="0" y="68040"/>
                  </a:lnTo>
                  <a:lnTo>
                    <a:pt x="64592" y="81644"/>
                  </a:lnTo>
                  <a:lnTo>
                    <a:pt x="12914" y="0"/>
                  </a:lnTo>
                  <a:close/>
                </a:path>
              </a:pathLst>
            </a:custGeom>
            <a:solidFill>
              <a:srgbClr val="000000"/>
            </a:solidFill>
          </p:spPr>
          <p:txBody>
            <a:bodyPr wrap="square" lIns="0" tIns="0" rIns="0" bIns="0" rtlCol="0"/>
            <a:lstStyle/>
            <a:p/>
          </p:txBody>
        </p:sp>
      </p:grpSp>
      <p:sp>
        <p:nvSpPr>
          <p:cNvPr id="54" name="object 54" descr=""/>
          <p:cNvSpPr txBox="1"/>
          <p:nvPr/>
        </p:nvSpPr>
        <p:spPr>
          <a:xfrm>
            <a:off x="573684" y="2523282"/>
            <a:ext cx="119380" cy="189230"/>
          </a:xfrm>
          <a:prstGeom prst="rect">
            <a:avLst/>
          </a:prstGeom>
        </p:spPr>
        <p:txBody>
          <a:bodyPr wrap="square" lIns="0" tIns="15240" rIns="0" bIns="0" rtlCol="0" vert="horz">
            <a:spAutoFit/>
          </a:bodyPr>
          <a:lstStyle/>
          <a:p>
            <a:pPr marL="12700">
              <a:lnSpc>
                <a:spcPct val="100000"/>
              </a:lnSpc>
              <a:spcBef>
                <a:spcPts val="120"/>
              </a:spcBef>
            </a:pPr>
            <a:r>
              <a:rPr dirty="0" sz="1050" spc="-50">
                <a:latin typeface="Times New Roman"/>
                <a:cs typeface="Times New Roman"/>
              </a:rPr>
              <a:t>N</a:t>
            </a:r>
            <a:endParaRPr sz="1050">
              <a:latin typeface="Times New Roman"/>
              <a:cs typeface="Times New Roman"/>
            </a:endParaRPr>
          </a:p>
        </p:txBody>
      </p:sp>
      <p:sp>
        <p:nvSpPr>
          <p:cNvPr id="55" name="object 55" descr=""/>
          <p:cNvSpPr txBox="1"/>
          <p:nvPr/>
        </p:nvSpPr>
        <p:spPr>
          <a:xfrm>
            <a:off x="1221483" y="3810809"/>
            <a:ext cx="119380" cy="189230"/>
          </a:xfrm>
          <a:prstGeom prst="rect">
            <a:avLst/>
          </a:prstGeom>
        </p:spPr>
        <p:txBody>
          <a:bodyPr wrap="square" lIns="0" tIns="15240" rIns="0" bIns="0" rtlCol="0" vert="horz">
            <a:spAutoFit/>
          </a:bodyPr>
          <a:lstStyle/>
          <a:p>
            <a:pPr marL="12700">
              <a:lnSpc>
                <a:spcPct val="100000"/>
              </a:lnSpc>
              <a:spcBef>
                <a:spcPts val="120"/>
              </a:spcBef>
            </a:pPr>
            <a:r>
              <a:rPr dirty="0" sz="1050" spc="-50">
                <a:latin typeface="Times New Roman"/>
                <a:cs typeface="Times New Roman"/>
              </a:rPr>
              <a:t>N</a:t>
            </a:r>
            <a:endParaRPr sz="1050">
              <a:latin typeface="Times New Roman"/>
              <a:cs typeface="Times New Roman"/>
            </a:endParaRPr>
          </a:p>
        </p:txBody>
      </p:sp>
      <p:sp>
        <p:nvSpPr>
          <p:cNvPr id="56" name="object 56" descr=""/>
          <p:cNvSpPr txBox="1"/>
          <p:nvPr/>
        </p:nvSpPr>
        <p:spPr>
          <a:xfrm>
            <a:off x="1404825" y="4486765"/>
            <a:ext cx="119380" cy="189230"/>
          </a:xfrm>
          <a:prstGeom prst="rect">
            <a:avLst/>
          </a:prstGeom>
        </p:spPr>
        <p:txBody>
          <a:bodyPr wrap="square" lIns="0" tIns="15240" rIns="0" bIns="0" rtlCol="0" vert="horz">
            <a:spAutoFit/>
          </a:bodyPr>
          <a:lstStyle/>
          <a:p>
            <a:pPr marL="12700">
              <a:lnSpc>
                <a:spcPct val="100000"/>
              </a:lnSpc>
              <a:spcBef>
                <a:spcPts val="120"/>
              </a:spcBef>
            </a:pPr>
            <a:r>
              <a:rPr dirty="0" sz="1050" spc="-50">
                <a:latin typeface="Times New Roman"/>
                <a:cs typeface="Times New Roman"/>
              </a:rPr>
              <a:t>N</a:t>
            </a:r>
            <a:endParaRPr sz="1050">
              <a:latin typeface="Times New Roman"/>
              <a:cs typeface="Times New Roman"/>
            </a:endParaRPr>
          </a:p>
        </p:txBody>
      </p:sp>
      <p:sp>
        <p:nvSpPr>
          <p:cNvPr id="57" name="object 57" descr=""/>
          <p:cNvSpPr txBox="1"/>
          <p:nvPr/>
        </p:nvSpPr>
        <p:spPr>
          <a:xfrm>
            <a:off x="634805" y="4486765"/>
            <a:ext cx="119380" cy="189230"/>
          </a:xfrm>
          <a:prstGeom prst="rect">
            <a:avLst/>
          </a:prstGeom>
        </p:spPr>
        <p:txBody>
          <a:bodyPr wrap="square" lIns="0" tIns="15240" rIns="0" bIns="0" rtlCol="0" vert="horz">
            <a:spAutoFit/>
          </a:bodyPr>
          <a:lstStyle/>
          <a:p>
            <a:pPr marL="12700">
              <a:lnSpc>
                <a:spcPct val="100000"/>
              </a:lnSpc>
              <a:spcBef>
                <a:spcPts val="120"/>
              </a:spcBef>
            </a:pPr>
            <a:r>
              <a:rPr dirty="0" sz="1050" spc="-50">
                <a:latin typeface="Times New Roman"/>
                <a:cs typeface="Times New Roman"/>
              </a:rPr>
              <a:t>Y</a:t>
            </a:r>
            <a:endParaRPr sz="1050">
              <a:latin typeface="Times New Roman"/>
              <a:cs typeface="Times New Roman"/>
            </a:endParaRPr>
          </a:p>
        </p:txBody>
      </p:sp>
      <p:sp>
        <p:nvSpPr>
          <p:cNvPr id="58" name="object 58" descr=""/>
          <p:cNvSpPr txBox="1"/>
          <p:nvPr/>
        </p:nvSpPr>
        <p:spPr>
          <a:xfrm>
            <a:off x="1771510" y="3939555"/>
            <a:ext cx="119380" cy="189230"/>
          </a:xfrm>
          <a:prstGeom prst="rect">
            <a:avLst/>
          </a:prstGeom>
        </p:spPr>
        <p:txBody>
          <a:bodyPr wrap="square" lIns="0" tIns="15240" rIns="0" bIns="0" rtlCol="0" vert="horz">
            <a:spAutoFit/>
          </a:bodyPr>
          <a:lstStyle/>
          <a:p>
            <a:pPr marL="12700">
              <a:lnSpc>
                <a:spcPct val="100000"/>
              </a:lnSpc>
              <a:spcBef>
                <a:spcPts val="120"/>
              </a:spcBef>
            </a:pPr>
            <a:r>
              <a:rPr dirty="0" sz="1050" spc="-50">
                <a:latin typeface="Times New Roman"/>
                <a:cs typeface="Times New Roman"/>
              </a:rPr>
              <a:t>Y</a:t>
            </a:r>
            <a:endParaRPr sz="1050">
              <a:latin typeface="Times New Roman"/>
              <a:cs typeface="Times New Roman"/>
            </a:endParaRPr>
          </a:p>
        </p:txBody>
      </p:sp>
      <p:sp>
        <p:nvSpPr>
          <p:cNvPr id="59" name="object 59" descr=""/>
          <p:cNvSpPr txBox="1"/>
          <p:nvPr/>
        </p:nvSpPr>
        <p:spPr>
          <a:xfrm>
            <a:off x="1380377" y="2523282"/>
            <a:ext cx="119380" cy="189230"/>
          </a:xfrm>
          <a:prstGeom prst="rect">
            <a:avLst/>
          </a:prstGeom>
        </p:spPr>
        <p:txBody>
          <a:bodyPr wrap="square" lIns="0" tIns="15240" rIns="0" bIns="0" rtlCol="0" vert="horz">
            <a:spAutoFit/>
          </a:bodyPr>
          <a:lstStyle/>
          <a:p>
            <a:pPr marL="12700">
              <a:lnSpc>
                <a:spcPct val="100000"/>
              </a:lnSpc>
              <a:spcBef>
                <a:spcPts val="120"/>
              </a:spcBef>
            </a:pPr>
            <a:r>
              <a:rPr dirty="0" sz="1050" spc="-50">
                <a:latin typeface="Times New Roman"/>
                <a:cs typeface="Times New Roman"/>
              </a:rPr>
              <a:t>Y</a:t>
            </a:r>
            <a:endParaRPr sz="1050">
              <a:latin typeface="Times New Roman"/>
              <a:cs typeface="Times New Roman"/>
            </a:endParaRPr>
          </a:p>
        </p:txBody>
      </p:sp>
      <p:sp>
        <p:nvSpPr>
          <p:cNvPr id="60" name="object 60" descr=""/>
          <p:cNvSpPr txBox="1"/>
          <p:nvPr/>
        </p:nvSpPr>
        <p:spPr>
          <a:xfrm>
            <a:off x="2918216" y="2399735"/>
            <a:ext cx="1520825" cy="802640"/>
          </a:xfrm>
          <a:prstGeom prst="rect">
            <a:avLst/>
          </a:prstGeom>
        </p:spPr>
        <p:txBody>
          <a:bodyPr wrap="square" lIns="0" tIns="31115" rIns="0" bIns="0" rtlCol="0" vert="horz">
            <a:spAutoFit/>
          </a:bodyPr>
          <a:lstStyle/>
          <a:p>
            <a:pPr marL="38100">
              <a:lnSpc>
                <a:spcPct val="100000"/>
              </a:lnSpc>
              <a:spcBef>
                <a:spcPts val="245"/>
              </a:spcBef>
            </a:pPr>
            <a:r>
              <a:rPr dirty="0" sz="1600">
                <a:latin typeface="Times New Roman"/>
                <a:cs typeface="Times New Roman"/>
              </a:rPr>
              <a:t>B</a:t>
            </a:r>
            <a:r>
              <a:rPr dirty="0" baseline="-13227" sz="1575">
                <a:latin typeface="Times New Roman"/>
                <a:cs typeface="Times New Roman"/>
              </a:rPr>
              <a:t>1</a:t>
            </a:r>
            <a:r>
              <a:rPr dirty="0" sz="1600">
                <a:latin typeface="Times New Roman"/>
                <a:cs typeface="Times New Roman"/>
              </a:rPr>
              <a:t>:</a:t>
            </a:r>
            <a:r>
              <a:rPr dirty="0" sz="1600" spc="260">
                <a:latin typeface="Times New Roman"/>
                <a:cs typeface="Times New Roman"/>
              </a:rPr>
              <a:t> </a:t>
            </a:r>
            <a:r>
              <a:rPr dirty="0" sz="1600">
                <a:latin typeface="Times New Roman"/>
                <a:cs typeface="Times New Roman"/>
              </a:rPr>
              <a:t>x</a:t>
            </a:r>
            <a:r>
              <a:rPr dirty="0" sz="1600" spc="-65">
                <a:latin typeface="Times New Roman"/>
                <a:cs typeface="Times New Roman"/>
              </a:rPr>
              <a:t> </a:t>
            </a:r>
            <a:r>
              <a:rPr dirty="0" sz="1600">
                <a:latin typeface="Times New Roman"/>
                <a:cs typeface="Times New Roman"/>
              </a:rPr>
              <a:t>=</a:t>
            </a:r>
            <a:r>
              <a:rPr dirty="0" sz="1600" spc="-70">
                <a:latin typeface="Times New Roman"/>
                <a:cs typeface="Times New Roman"/>
              </a:rPr>
              <a:t> </a:t>
            </a:r>
            <a:r>
              <a:rPr dirty="0" sz="1600">
                <a:latin typeface="Times New Roman"/>
                <a:cs typeface="Times New Roman"/>
              </a:rPr>
              <a:t>x</a:t>
            </a:r>
            <a:r>
              <a:rPr dirty="0" sz="1600" spc="-65">
                <a:latin typeface="Times New Roman"/>
                <a:cs typeface="Times New Roman"/>
              </a:rPr>
              <a:t> </a:t>
            </a:r>
            <a:r>
              <a:rPr dirty="0" sz="1600">
                <a:latin typeface="Times New Roman"/>
                <a:cs typeface="Times New Roman"/>
              </a:rPr>
              <a:t>+</a:t>
            </a:r>
            <a:r>
              <a:rPr dirty="0" sz="1600" spc="-70">
                <a:latin typeface="Times New Roman"/>
                <a:cs typeface="Times New Roman"/>
              </a:rPr>
              <a:t> </a:t>
            </a:r>
            <a:r>
              <a:rPr dirty="0" sz="1600" spc="-50">
                <a:latin typeface="Times New Roman"/>
                <a:cs typeface="Times New Roman"/>
              </a:rPr>
              <a:t>1</a:t>
            </a:r>
            <a:endParaRPr sz="1600">
              <a:latin typeface="Times New Roman"/>
              <a:cs typeface="Times New Roman"/>
            </a:endParaRPr>
          </a:p>
          <a:p>
            <a:pPr marL="377190">
              <a:lnSpc>
                <a:spcPct val="100000"/>
              </a:lnSpc>
              <a:spcBef>
                <a:spcPts val="155"/>
              </a:spcBef>
            </a:pPr>
            <a:r>
              <a:rPr dirty="0" sz="1600">
                <a:latin typeface="Times New Roman"/>
                <a:cs typeface="Times New Roman"/>
              </a:rPr>
              <a:t>y</a:t>
            </a:r>
            <a:r>
              <a:rPr dirty="0" sz="1600" spc="-85">
                <a:latin typeface="Times New Roman"/>
                <a:cs typeface="Times New Roman"/>
              </a:rPr>
              <a:t> </a:t>
            </a:r>
            <a:r>
              <a:rPr dirty="0" sz="1600">
                <a:latin typeface="Times New Roman"/>
                <a:cs typeface="Times New Roman"/>
              </a:rPr>
              <a:t>=</a:t>
            </a:r>
            <a:r>
              <a:rPr dirty="0" sz="1600" spc="-50">
                <a:latin typeface="Times New Roman"/>
                <a:cs typeface="Times New Roman"/>
              </a:rPr>
              <a:t> </a:t>
            </a:r>
            <a:r>
              <a:rPr dirty="0" sz="1600">
                <a:latin typeface="Times New Roman"/>
                <a:cs typeface="Times New Roman"/>
              </a:rPr>
              <a:t>x</a:t>
            </a:r>
            <a:r>
              <a:rPr dirty="0" sz="1600" spc="-50">
                <a:latin typeface="Times New Roman"/>
                <a:cs typeface="Times New Roman"/>
              </a:rPr>
              <a:t> </a:t>
            </a:r>
            <a:r>
              <a:rPr dirty="0" sz="1600" spc="-80">
                <a:latin typeface="宋体"/>
                <a:cs typeface="宋体"/>
              </a:rPr>
              <a:t>–</a:t>
            </a:r>
            <a:r>
              <a:rPr dirty="0" sz="1600" spc="-420">
                <a:latin typeface="宋体"/>
                <a:cs typeface="宋体"/>
              </a:rPr>
              <a:t> </a:t>
            </a:r>
            <a:r>
              <a:rPr dirty="0" sz="1600" spc="-60">
                <a:latin typeface="Times New Roman"/>
                <a:cs typeface="Times New Roman"/>
              </a:rPr>
              <a:t>y</a:t>
            </a:r>
            <a:endParaRPr sz="1600">
              <a:latin typeface="Times New Roman"/>
              <a:cs typeface="Times New Roman"/>
            </a:endParaRPr>
          </a:p>
          <a:p>
            <a:pPr marL="377190">
              <a:lnSpc>
                <a:spcPct val="100000"/>
              </a:lnSpc>
              <a:spcBef>
                <a:spcPts val="55"/>
              </a:spcBef>
            </a:pPr>
            <a:r>
              <a:rPr dirty="0" sz="1600">
                <a:latin typeface="Times New Roman"/>
                <a:cs typeface="Times New Roman"/>
              </a:rPr>
              <a:t>if</a:t>
            </a:r>
            <a:r>
              <a:rPr dirty="0" sz="1600" spc="-75">
                <a:latin typeface="Times New Roman"/>
                <a:cs typeface="Times New Roman"/>
              </a:rPr>
              <a:t> </a:t>
            </a:r>
            <a:r>
              <a:rPr dirty="0" sz="1600" spc="-25">
                <a:latin typeface="Times New Roman"/>
                <a:cs typeface="Times New Roman"/>
              </a:rPr>
              <a:t>x&lt;5</a:t>
            </a:r>
            <a:r>
              <a:rPr dirty="0" sz="1600" spc="-75">
                <a:latin typeface="Times New Roman"/>
                <a:cs typeface="Times New Roman"/>
              </a:rPr>
              <a:t> </a:t>
            </a:r>
            <a:r>
              <a:rPr dirty="0" sz="1600" spc="-25">
                <a:latin typeface="Times New Roman"/>
                <a:cs typeface="Times New Roman"/>
              </a:rPr>
              <a:t>goto</a:t>
            </a:r>
            <a:r>
              <a:rPr dirty="0" sz="1600" spc="-75">
                <a:latin typeface="Times New Roman"/>
                <a:cs typeface="Times New Roman"/>
              </a:rPr>
              <a:t> </a:t>
            </a:r>
            <a:r>
              <a:rPr dirty="0" sz="1600" spc="-25">
                <a:latin typeface="Times New Roman"/>
                <a:cs typeface="Times New Roman"/>
              </a:rPr>
              <a:t>B</a:t>
            </a:r>
            <a:r>
              <a:rPr dirty="0" baseline="-13227" sz="1575" spc="-37">
                <a:latin typeface="Times New Roman"/>
                <a:cs typeface="Times New Roman"/>
              </a:rPr>
              <a:t>3</a:t>
            </a:r>
            <a:endParaRPr baseline="-13227" sz="1575">
              <a:latin typeface="Times New Roman"/>
              <a:cs typeface="Times New Roman"/>
            </a:endParaRPr>
          </a:p>
        </p:txBody>
      </p:sp>
      <p:sp>
        <p:nvSpPr>
          <p:cNvPr id="61" name="object 61" descr=""/>
          <p:cNvSpPr txBox="1"/>
          <p:nvPr/>
        </p:nvSpPr>
        <p:spPr>
          <a:xfrm>
            <a:off x="2918216" y="3422162"/>
            <a:ext cx="1120140" cy="761365"/>
          </a:xfrm>
          <a:prstGeom prst="rect">
            <a:avLst/>
          </a:prstGeom>
        </p:spPr>
        <p:txBody>
          <a:bodyPr wrap="square" lIns="0" tIns="13970" rIns="0" bIns="0" rtlCol="0" vert="horz">
            <a:spAutoFit/>
          </a:bodyPr>
          <a:lstStyle/>
          <a:p>
            <a:pPr marL="38100">
              <a:lnSpc>
                <a:spcPct val="100000"/>
              </a:lnSpc>
              <a:spcBef>
                <a:spcPts val="110"/>
              </a:spcBef>
            </a:pPr>
            <a:r>
              <a:rPr dirty="0" sz="1600">
                <a:latin typeface="Times New Roman"/>
                <a:cs typeface="Times New Roman"/>
              </a:rPr>
              <a:t>B</a:t>
            </a:r>
            <a:r>
              <a:rPr dirty="0" baseline="-13227" sz="1575">
                <a:latin typeface="Times New Roman"/>
                <a:cs typeface="Times New Roman"/>
              </a:rPr>
              <a:t>2</a:t>
            </a:r>
            <a:r>
              <a:rPr dirty="0" sz="1600">
                <a:latin typeface="Times New Roman"/>
                <a:cs typeface="Times New Roman"/>
              </a:rPr>
              <a:t>:</a:t>
            </a:r>
            <a:r>
              <a:rPr dirty="0" sz="1600" spc="265">
                <a:latin typeface="Times New Roman"/>
                <a:cs typeface="Times New Roman"/>
              </a:rPr>
              <a:t> </a:t>
            </a:r>
            <a:r>
              <a:rPr dirty="0" sz="1600">
                <a:latin typeface="Times New Roman"/>
                <a:cs typeface="Times New Roman"/>
              </a:rPr>
              <a:t>z</a:t>
            </a:r>
            <a:r>
              <a:rPr dirty="0" sz="1600" spc="-65">
                <a:latin typeface="Times New Roman"/>
                <a:cs typeface="Times New Roman"/>
              </a:rPr>
              <a:t> </a:t>
            </a:r>
            <a:r>
              <a:rPr dirty="0" sz="1600">
                <a:latin typeface="Times New Roman"/>
                <a:cs typeface="Times New Roman"/>
              </a:rPr>
              <a:t>=</a:t>
            </a:r>
            <a:r>
              <a:rPr dirty="0" sz="1600" spc="-65">
                <a:latin typeface="Times New Roman"/>
                <a:cs typeface="Times New Roman"/>
              </a:rPr>
              <a:t> </a:t>
            </a:r>
            <a:r>
              <a:rPr dirty="0" sz="1600">
                <a:latin typeface="Times New Roman"/>
                <a:cs typeface="Times New Roman"/>
              </a:rPr>
              <a:t>x</a:t>
            </a:r>
            <a:r>
              <a:rPr dirty="0" sz="1600" spc="-70">
                <a:latin typeface="Times New Roman"/>
                <a:cs typeface="Times New Roman"/>
              </a:rPr>
              <a:t> </a:t>
            </a:r>
            <a:r>
              <a:rPr dirty="0" sz="1600">
                <a:latin typeface="Times New Roman"/>
                <a:cs typeface="Times New Roman"/>
              </a:rPr>
              <a:t>*</a:t>
            </a:r>
            <a:r>
              <a:rPr dirty="0" sz="1600" spc="-65">
                <a:latin typeface="Times New Roman"/>
                <a:cs typeface="Times New Roman"/>
              </a:rPr>
              <a:t> </a:t>
            </a:r>
            <a:r>
              <a:rPr dirty="0" sz="1600" spc="-50">
                <a:latin typeface="Times New Roman"/>
                <a:cs typeface="Times New Roman"/>
              </a:rPr>
              <a:t>z</a:t>
            </a:r>
            <a:endParaRPr sz="1600">
              <a:latin typeface="Times New Roman"/>
              <a:cs typeface="Times New Roman"/>
            </a:endParaRPr>
          </a:p>
          <a:p>
            <a:pPr marL="377190" marR="30480">
              <a:lnSpc>
                <a:spcPct val="100600"/>
              </a:lnSpc>
            </a:pPr>
            <a:r>
              <a:rPr dirty="0" sz="1600">
                <a:latin typeface="Times New Roman"/>
                <a:cs typeface="Times New Roman"/>
              </a:rPr>
              <a:t>y</a:t>
            </a:r>
            <a:r>
              <a:rPr dirty="0" sz="1600" spc="-65">
                <a:latin typeface="Times New Roman"/>
                <a:cs typeface="Times New Roman"/>
              </a:rPr>
              <a:t> </a:t>
            </a:r>
            <a:r>
              <a:rPr dirty="0" sz="1600">
                <a:latin typeface="Times New Roman"/>
                <a:cs typeface="Times New Roman"/>
              </a:rPr>
              <a:t>=</a:t>
            </a:r>
            <a:r>
              <a:rPr dirty="0" sz="1600" spc="-60">
                <a:latin typeface="Times New Roman"/>
                <a:cs typeface="Times New Roman"/>
              </a:rPr>
              <a:t> </a:t>
            </a:r>
            <a:r>
              <a:rPr dirty="0" sz="1600">
                <a:latin typeface="Times New Roman"/>
                <a:cs typeface="Times New Roman"/>
              </a:rPr>
              <a:t>y</a:t>
            </a:r>
            <a:r>
              <a:rPr dirty="0" sz="1600" spc="-65">
                <a:latin typeface="Times New Roman"/>
                <a:cs typeface="Times New Roman"/>
              </a:rPr>
              <a:t> </a:t>
            </a:r>
            <a:r>
              <a:rPr dirty="0" sz="1600">
                <a:latin typeface="Times New Roman"/>
                <a:cs typeface="Times New Roman"/>
              </a:rPr>
              <a:t>+</a:t>
            </a:r>
            <a:r>
              <a:rPr dirty="0" sz="1600" spc="-60">
                <a:latin typeface="Times New Roman"/>
                <a:cs typeface="Times New Roman"/>
              </a:rPr>
              <a:t> </a:t>
            </a:r>
            <a:r>
              <a:rPr dirty="0" sz="1600" spc="-50">
                <a:latin typeface="Times New Roman"/>
                <a:cs typeface="Times New Roman"/>
              </a:rPr>
              <a:t>1 </a:t>
            </a:r>
            <a:r>
              <a:rPr dirty="0" sz="1600" spc="-25">
                <a:latin typeface="Times New Roman"/>
                <a:cs typeface="Times New Roman"/>
              </a:rPr>
              <a:t>goto</a:t>
            </a:r>
            <a:r>
              <a:rPr dirty="0" sz="1600" spc="-70">
                <a:latin typeface="Times New Roman"/>
                <a:cs typeface="Times New Roman"/>
              </a:rPr>
              <a:t> </a:t>
            </a:r>
            <a:r>
              <a:rPr dirty="0" sz="1600" spc="-25">
                <a:latin typeface="Times New Roman"/>
                <a:cs typeface="Times New Roman"/>
              </a:rPr>
              <a:t>B</a:t>
            </a:r>
            <a:r>
              <a:rPr dirty="0" baseline="-13227" sz="1575" spc="-37">
                <a:latin typeface="Times New Roman"/>
                <a:cs typeface="Times New Roman"/>
              </a:rPr>
              <a:t>5</a:t>
            </a:r>
            <a:endParaRPr baseline="-13227" sz="1575">
              <a:latin typeface="Times New Roman"/>
              <a:cs typeface="Times New Roman"/>
            </a:endParaRPr>
          </a:p>
        </p:txBody>
      </p:sp>
      <p:sp>
        <p:nvSpPr>
          <p:cNvPr id="62" name="object 62" descr=""/>
          <p:cNvSpPr txBox="1"/>
          <p:nvPr/>
        </p:nvSpPr>
        <p:spPr>
          <a:xfrm>
            <a:off x="2918216" y="4403301"/>
            <a:ext cx="1111250" cy="516255"/>
          </a:xfrm>
          <a:prstGeom prst="rect">
            <a:avLst/>
          </a:prstGeom>
        </p:spPr>
        <p:txBody>
          <a:bodyPr wrap="square" lIns="0" tIns="13970" rIns="0" bIns="0" rtlCol="0" vert="horz">
            <a:spAutoFit/>
          </a:bodyPr>
          <a:lstStyle/>
          <a:p>
            <a:pPr algn="r" marR="30480">
              <a:lnSpc>
                <a:spcPct val="100000"/>
              </a:lnSpc>
              <a:spcBef>
                <a:spcPts val="110"/>
              </a:spcBef>
            </a:pPr>
            <a:r>
              <a:rPr dirty="0" sz="1600">
                <a:latin typeface="Times New Roman"/>
                <a:cs typeface="Times New Roman"/>
              </a:rPr>
              <a:t>B</a:t>
            </a:r>
            <a:r>
              <a:rPr dirty="0" baseline="-13227" sz="1575">
                <a:latin typeface="Times New Roman"/>
                <a:cs typeface="Times New Roman"/>
              </a:rPr>
              <a:t>3</a:t>
            </a:r>
            <a:r>
              <a:rPr dirty="0" sz="1600">
                <a:latin typeface="Times New Roman"/>
                <a:cs typeface="Times New Roman"/>
              </a:rPr>
              <a:t>:</a:t>
            </a:r>
            <a:r>
              <a:rPr dirty="0" sz="1600" spc="265">
                <a:latin typeface="Times New Roman"/>
                <a:cs typeface="Times New Roman"/>
              </a:rPr>
              <a:t> </a:t>
            </a:r>
            <a:r>
              <a:rPr dirty="0" sz="1600">
                <a:latin typeface="Times New Roman"/>
                <a:cs typeface="Times New Roman"/>
              </a:rPr>
              <a:t>y</a:t>
            </a:r>
            <a:r>
              <a:rPr dirty="0" sz="1600" spc="-70">
                <a:latin typeface="Times New Roman"/>
                <a:cs typeface="Times New Roman"/>
              </a:rPr>
              <a:t> </a:t>
            </a:r>
            <a:r>
              <a:rPr dirty="0" sz="1600">
                <a:latin typeface="Times New Roman"/>
                <a:cs typeface="Times New Roman"/>
              </a:rPr>
              <a:t>=</a:t>
            </a:r>
            <a:r>
              <a:rPr dirty="0" sz="1600" spc="-65">
                <a:latin typeface="Times New Roman"/>
                <a:cs typeface="Times New Roman"/>
              </a:rPr>
              <a:t> </a:t>
            </a:r>
            <a:r>
              <a:rPr dirty="0" sz="1600">
                <a:latin typeface="Times New Roman"/>
                <a:cs typeface="Times New Roman"/>
              </a:rPr>
              <a:t>2</a:t>
            </a:r>
            <a:r>
              <a:rPr dirty="0" sz="1600" spc="-65">
                <a:latin typeface="Times New Roman"/>
                <a:cs typeface="Times New Roman"/>
              </a:rPr>
              <a:t> </a:t>
            </a:r>
            <a:r>
              <a:rPr dirty="0" sz="1600">
                <a:latin typeface="Times New Roman"/>
                <a:cs typeface="Times New Roman"/>
              </a:rPr>
              <a:t>*</a:t>
            </a:r>
            <a:r>
              <a:rPr dirty="0" sz="1600" spc="-70">
                <a:latin typeface="Times New Roman"/>
                <a:cs typeface="Times New Roman"/>
              </a:rPr>
              <a:t> </a:t>
            </a:r>
            <a:r>
              <a:rPr dirty="0" sz="1600" spc="-50">
                <a:latin typeface="Times New Roman"/>
                <a:cs typeface="Times New Roman"/>
              </a:rPr>
              <a:t>y</a:t>
            </a:r>
            <a:endParaRPr sz="1600">
              <a:latin typeface="Times New Roman"/>
              <a:cs typeface="Times New Roman"/>
            </a:endParaRPr>
          </a:p>
          <a:p>
            <a:pPr algn="r" marR="66675">
              <a:lnSpc>
                <a:spcPct val="100000"/>
              </a:lnSpc>
              <a:spcBef>
                <a:spcPts val="10"/>
              </a:spcBef>
            </a:pPr>
            <a:r>
              <a:rPr dirty="0" sz="1600">
                <a:latin typeface="Times New Roman"/>
                <a:cs typeface="Times New Roman"/>
              </a:rPr>
              <a:t>x</a:t>
            </a:r>
            <a:r>
              <a:rPr dirty="0" sz="1600" spc="-60">
                <a:latin typeface="Times New Roman"/>
                <a:cs typeface="Times New Roman"/>
              </a:rPr>
              <a:t> </a:t>
            </a:r>
            <a:r>
              <a:rPr dirty="0" sz="1600">
                <a:latin typeface="Times New Roman"/>
                <a:cs typeface="Times New Roman"/>
              </a:rPr>
              <a:t>=</a:t>
            </a:r>
            <a:r>
              <a:rPr dirty="0" sz="1600" spc="-60">
                <a:latin typeface="Times New Roman"/>
                <a:cs typeface="Times New Roman"/>
              </a:rPr>
              <a:t> </a:t>
            </a:r>
            <a:r>
              <a:rPr dirty="0" sz="1600">
                <a:latin typeface="Times New Roman"/>
                <a:cs typeface="Times New Roman"/>
              </a:rPr>
              <a:t>x</a:t>
            </a:r>
            <a:r>
              <a:rPr dirty="0" sz="1600" spc="-60">
                <a:latin typeface="Times New Roman"/>
                <a:cs typeface="Times New Roman"/>
              </a:rPr>
              <a:t> </a:t>
            </a:r>
            <a:r>
              <a:rPr dirty="0" sz="1600">
                <a:latin typeface="Times New Roman"/>
                <a:cs typeface="Times New Roman"/>
              </a:rPr>
              <a:t>-</a:t>
            </a:r>
            <a:r>
              <a:rPr dirty="0" sz="1600" spc="-60">
                <a:latin typeface="Times New Roman"/>
                <a:cs typeface="Times New Roman"/>
              </a:rPr>
              <a:t> </a:t>
            </a:r>
            <a:r>
              <a:rPr dirty="0" sz="1600" spc="-50">
                <a:latin typeface="Times New Roman"/>
                <a:cs typeface="Times New Roman"/>
              </a:rPr>
              <a:t>2</a:t>
            </a:r>
            <a:endParaRPr sz="1600">
              <a:latin typeface="Times New Roman"/>
              <a:cs typeface="Times New Roman"/>
            </a:endParaRPr>
          </a:p>
        </p:txBody>
      </p:sp>
      <p:sp>
        <p:nvSpPr>
          <p:cNvPr id="63" name="object 63" descr=""/>
          <p:cNvSpPr txBox="1"/>
          <p:nvPr/>
        </p:nvSpPr>
        <p:spPr>
          <a:xfrm>
            <a:off x="540935" y="5861277"/>
            <a:ext cx="241300" cy="271145"/>
          </a:xfrm>
          <a:prstGeom prst="rect">
            <a:avLst/>
          </a:prstGeom>
        </p:spPr>
        <p:txBody>
          <a:bodyPr wrap="square" lIns="0" tIns="13970" rIns="0" bIns="0" rtlCol="0" vert="horz">
            <a:spAutoFit/>
          </a:bodyPr>
          <a:lstStyle/>
          <a:p>
            <a:pPr marL="12700">
              <a:lnSpc>
                <a:spcPct val="100000"/>
              </a:lnSpc>
              <a:spcBef>
                <a:spcPts val="110"/>
              </a:spcBef>
            </a:pPr>
            <a:r>
              <a:rPr dirty="0" sz="1600" spc="-25">
                <a:latin typeface="Times New Roman"/>
                <a:cs typeface="Times New Roman"/>
              </a:rPr>
              <a:t>(a)</a:t>
            </a:r>
            <a:endParaRPr sz="1600">
              <a:latin typeface="Times New Roman"/>
              <a:cs typeface="Times New Roman"/>
            </a:endParaRPr>
          </a:p>
        </p:txBody>
      </p:sp>
      <p:sp>
        <p:nvSpPr>
          <p:cNvPr id="64" name="object 64" descr=""/>
          <p:cNvSpPr txBox="1"/>
          <p:nvPr/>
        </p:nvSpPr>
        <p:spPr>
          <a:xfrm>
            <a:off x="865989" y="5893339"/>
            <a:ext cx="727710" cy="228600"/>
          </a:xfrm>
          <a:prstGeom prst="rect">
            <a:avLst/>
          </a:prstGeom>
        </p:spPr>
        <p:txBody>
          <a:bodyPr wrap="square" lIns="0" tIns="0" rIns="0" bIns="0" rtlCol="0" vert="horz">
            <a:spAutoFit/>
          </a:bodyPr>
          <a:lstStyle/>
          <a:p>
            <a:pPr>
              <a:lnSpc>
                <a:spcPts val="1775"/>
              </a:lnSpc>
            </a:pPr>
            <a:r>
              <a:rPr dirty="0" sz="1600" spc="-210">
                <a:latin typeface="Cambria"/>
                <a:cs typeface="Cambria"/>
              </a:rPr>
              <a:t>◻</a:t>
            </a:r>
            <a:r>
              <a:rPr dirty="0" sz="1600" spc="30">
                <a:latin typeface="Cambria"/>
                <a:cs typeface="Cambria"/>
              </a:rPr>
              <a:t> </a:t>
            </a:r>
            <a:r>
              <a:rPr dirty="0" sz="1600" spc="-210">
                <a:latin typeface="Cambria"/>
                <a:cs typeface="Cambria"/>
              </a:rPr>
              <a:t>◻</a:t>
            </a:r>
            <a:r>
              <a:rPr dirty="0" sz="1600" spc="35">
                <a:latin typeface="Cambria"/>
                <a:cs typeface="Cambria"/>
              </a:rPr>
              <a:t> </a:t>
            </a:r>
            <a:r>
              <a:rPr dirty="0" sz="1600" spc="-210">
                <a:latin typeface="Cambria"/>
                <a:cs typeface="Cambria"/>
              </a:rPr>
              <a:t>◻</a:t>
            </a:r>
            <a:r>
              <a:rPr dirty="0" sz="1600" spc="35">
                <a:latin typeface="Cambria"/>
                <a:cs typeface="Cambria"/>
              </a:rPr>
              <a:t> </a:t>
            </a:r>
            <a:r>
              <a:rPr dirty="0" sz="1600" spc="-200">
                <a:latin typeface="Cambria"/>
                <a:cs typeface="Cambria"/>
              </a:rPr>
              <a:t>◻</a:t>
            </a:r>
            <a:endParaRPr sz="1600">
              <a:latin typeface="Cambria"/>
              <a:cs typeface="Cambria"/>
            </a:endParaRPr>
          </a:p>
        </p:txBody>
      </p:sp>
      <p:sp>
        <p:nvSpPr>
          <p:cNvPr id="65" name="object 65" descr=""/>
          <p:cNvSpPr txBox="1"/>
          <p:nvPr/>
        </p:nvSpPr>
        <p:spPr>
          <a:xfrm>
            <a:off x="4751639" y="2417449"/>
            <a:ext cx="1123950" cy="271145"/>
          </a:xfrm>
          <a:prstGeom prst="rect">
            <a:avLst/>
          </a:prstGeom>
        </p:spPr>
        <p:txBody>
          <a:bodyPr wrap="square" lIns="0" tIns="13970" rIns="0" bIns="0" rtlCol="0" vert="horz">
            <a:spAutoFit/>
          </a:bodyPr>
          <a:lstStyle/>
          <a:p>
            <a:pPr marL="38100">
              <a:lnSpc>
                <a:spcPct val="100000"/>
              </a:lnSpc>
              <a:spcBef>
                <a:spcPts val="110"/>
              </a:spcBef>
            </a:pPr>
            <a:r>
              <a:rPr dirty="0" sz="1600">
                <a:latin typeface="Times New Roman"/>
                <a:cs typeface="Times New Roman"/>
              </a:rPr>
              <a:t>B</a:t>
            </a:r>
            <a:r>
              <a:rPr dirty="0" baseline="-13227" sz="1575">
                <a:latin typeface="Times New Roman"/>
                <a:cs typeface="Times New Roman"/>
              </a:rPr>
              <a:t>1</a:t>
            </a:r>
            <a:r>
              <a:rPr dirty="0" sz="1600">
                <a:latin typeface="Times New Roman"/>
                <a:cs typeface="Times New Roman"/>
              </a:rPr>
              <a:t>:</a:t>
            </a:r>
            <a:r>
              <a:rPr dirty="0" sz="1600" spc="260">
                <a:latin typeface="Times New Roman"/>
                <a:cs typeface="Times New Roman"/>
              </a:rPr>
              <a:t> </a:t>
            </a:r>
            <a:r>
              <a:rPr dirty="0" sz="1600">
                <a:latin typeface="Times New Roman"/>
                <a:cs typeface="Times New Roman"/>
              </a:rPr>
              <a:t>x</a:t>
            </a:r>
            <a:r>
              <a:rPr dirty="0" sz="1600" spc="-65">
                <a:latin typeface="Times New Roman"/>
                <a:cs typeface="Times New Roman"/>
              </a:rPr>
              <a:t> </a:t>
            </a:r>
            <a:r>
              <a:rPr dirty="0" sz="1600">
                <a:latin typeface="Times New Roman"/>
                <a:cs typeface="Times New Roman"/>
              </a:rPr>
              <a:t>=</a:t>
            </a:r>
            <a:r>
              <a:rPr dirty="0" sz="1600" spc="-70">
                <a:latin typeface="Times New Roman"/>
                <a:cs typeface="Times New Roman"/>
              </a:rPr>
              <a:t> </a:t>
            </a:r>
            <a:r>
              <a:rPr dirty="0" sz="1600">
                <a:latin typeface="Times New Roman"/>
                <a:cs typeface="Times New Roman"/>
              </a:rPr>
              <a:t>x</a:t>
            </a:r>
            <a:r>
              <a:rPr dirty="0" sz="1600" spc="-65">
                <a:latin typeface="Times New Roman"/>
                <a:cs typeface="Times New Roman"/>
              </a:rPr>
              <a:t> </a:t>
            </a:r>
            <a:r>
              <a:rPr dirty="0" sz="1600">
                <a:latin typeface="Times New Roman"/>
                <a:cs typeface="Times New Roman"/>
              </a:rPr>
              <a:t>+</a:t>
            </a:r>
            <a:r>
              <a:rPr dirty="0" sz="1600" spc="-70">
                <a:latin typeface="Times New Roman"/>
                <a:cs typeface="Times New Roman"/>
              </a:rPr>
              <a:t> </a:t>
            </a:r>
            <a:r>
              <a:rPr dirty="0" sz="1600" spc="-50">
                <a:latin typeface="Times New Roman"/>
                <a:cs typeface="Times New Roman"/>
              </a:rPr>
              <a:t>1</a:t>
            </a:r>
            <a:endParaRPr sz="1600">
              <a:latin typeface="Times New Roman"/>
              <a:cs typeface="Times New Roman"/>
            </a:endParaRPr>
          </a:p>
        </p:txBody>
      </p:sp>
      <p:sp>
        <p:nvSpPr>
          <p:cNvPr id="66" name="object 66" descr=""/>
          <p:cNvSpPr txBox="1"/>
          <p:nvPr/>
        </p:nvSpPr>
        <p:spPr>
          <a:xfrm>
            <a:off x="5091202" y="2907996"/>
            <a:ext cx="1181735" cy="271145"/>
          </a:xfrm>
          <a:prstGeom prst="rect">
            <a:avLst/>
          </a:prstGeom>
        </p:spPr>
        <p:txBody>
          <a:bodyPr wrap="square" lIns="0" tIns="13970" rIns="0" bIns="0" rtlCol="0" vert="horz">
            <a:spAutoFit/>
          </a:bodyPr>
          <a:lstStyle/>
          <a:p>
            <a:pPr marL="38100">
              <a:lnSpc>
                <a:spcPct val="100000"/>
              </a:lnSpc>
              <a:spcBef>
                <a:spcPts val="110"/>
              </a:spcBef>
            </a:pPr>
            <a:r>
              <a:rPr dirty="0" sz="1600">
                <a:latin typeface="Times New Roman"/>
                <a:cs typeface="Times New Roman"/>
              </a:rPr>
              <a:t>if</a:t>
            </a:r>
            <a:r>
              <a:rPr dirty="0" sz="1600" spc="-75">
                <a:latin typeface="Times New Roman"/>
                <a:cs typeface="Times New Roman"/>
              </a:rPr>
              <a:t> </a:t>
            </a:r>
            <a:r>
              <a:rPr dirty="0" sz="1600" spc="-25">
                <a:latin typeface="Times New Roman"/>
                <a:cs typeface="Times New Roman"/>
              </a:rPr>
              <a:t>x&lt;5</a:t>
            </a:r>
            <a:r>
              <a:rPr dirty="0" sz="1600" spc="-75">
                <a:latin typeface="Times New Roman"/>
                <a:cs typeface="Times New Roman"/>
              </a:rPr>
              <a:t> </a:t>
            </a:r>
            <a:r>
              <a:rPr dirty="0" sz="1600" spc="-25">
                <a:latin typeface="Times New Roman"/>
                <a:cs typeface="Times New Roman"/>
              </a:rPr>
              <a:t>goto</a:t>
            </a:r>
            <a:r>
              <a:rPr dirty="0" sz="1600" spc="-75">
                <a:latin typeface="Times New Roman"/>
                <a:cs typeface="Times New Roman"/>
              </a:rPr>
              <a:t> </a:t>
            </a:r>
            <a:r>
              <a:rPr dirty="0" sz="1600" spc="-25">
                <a:latin typeface="Times New Roman"/>
                <a:cs typeface="Times New Roman"/>
              </a:rPr>
              <a:t>B</a:t>
            </a:r>
            <a:r>
              <a:rPr dirty="0" baseline="-13227" sz="1575" spc="-37">
                <a:latin typeface="Times New Roman"/>
                <a:cs typeface="Times New Roman"/>
              </a:rPr>
              <a:t>3</a:t>
            </a:r>
            <a:endParaRPr baseline="-13227" sz="1575">
              <a:latin typeface="Times New Roman"/>
              <a:cs typeface="Times New Roman"/>
            </a:endParaRPr>
          </a:p>
        </p:txBody>
      </p:sp>
      <p:sp>
        <p:nvSpPr>
          <p:cNvPr id="67" name="object 67" descr=""/>
          <p:cNvSpPr txBox="1"/>
          <p:nvPr/>
        </p:nvSpPr>
        <p:spPr>
          <a:xfrm>
            <a:off x="4751639" y="3416257"/>
            <a:ext cx="1208405" cy="1772285"/>
          </a:xfrm>
          <a:prstGeom prst="rect">
            <a:avLst/>
          </a:prstGeom>
        </p:spPr>
        <p:txBody>
          <a:bodyPr wrap="square" lIns="0" tIns="10160" rIns="0" bIns="0" rtlCol="0" vert="horz">
            <a:spAutoFit/>
          </a:bodyPr>
          <a:lstStyle/>
          <a:p>
            <a:pPr marL="377190" marR="30480" indent="-339725">
              <a:lnSpc>
                <a:spcPct val="101400"/>
              </a:lnSpc>
              <a:spcBef>
                <a:spcPts val="80"/>
              </a:spcBef>
            </a:pPr>
            <a:r>
              <a:rPr dirty="0" sz="1600">
                <a:latin typeface="Times New Roman"/>
                <a:cs typeface="Times New Roman"/>
              </a:rPr>
              <a:t>B</a:t>
            </a:r>
            <a:r>
              <a:rPr dirty="0" baseline="-13227" sz="1575">
                <a:latin typeface="Times New Roman"/>
                <a:cs typeface="Times New Roman"/>
              </a:rPr>
              <a:t>2</a:t>
            </a:r>
            <a:r>
              <a:rPr dirty="0" sz="1600">
                <a:latin typeface="Times New Roman"/>
                <a:cs typeface="Times New Roman"/>
              </a:rPr>
              <a:t>:</a:t>
            </a:r>
            <a:r>
              <a:rPr dirty="0" sz="1600" spc="235">
                <a:latin typeface="Times New Roman"/>
                <a:cs typeface="Times New Roman"/>
              </a:rPr>
              <a:t> </a:t>
            </a:r>
            <a:r>
              <a:rPr dirty="0" sz="1600">
                <a:latin typeface="Times New Roman"/>
                <a:cs typeface="Times New Roman"/>
              </a:rPr>
              <a:t>y</a:t>
            </a:r>
            <a:r>
              <a:rPr dirty="0" sz="1600" spc="-60">
                <a:latin typeface="Times New Roman"/>
                <a:cs typeface="Times New Roman"/>
              </a:rPr>
              <a:t> </a:t>
            </a:r>
            <a:r>
              <a:rPr dirty="0" sz="1600">
                <a:latin typeface="Times New Roman"/>
                <a:cs typeface="Times New Roman"/>
              </a:rPr>
              <a:t>=</a:t>
            </a:r>
            <a:r>
              <a:rPr dirty="0" sz="1600" spc="-60">
                <a:latin typeface="Times New Roman"/>
                <a:cs typeface="Times New Roman"/>
              </a:rPr>
              <a:t> </a:t>
            </a:r>
            <a:r>
              <a:rPr dirty="0" sz="1600">
                <a:latin typeface="Times New Roman"/>
                <a:cs typeface="Times New Roman"/>
              </a:rPr>
              <a:t>x</a:t>
            </a:r>
            <a:r>
              <a:rPr dirty="0" sz="1600" spc="-60">
                <a:latin typeface="Times New Roman"/>
                <a:cs typeface="Times New Roman"/>
              </a:rPr>
              <a:t> </a:t>
            </a:r>
            <a:r>
              <a:rPr dirty="0" sz="1600" spc="-80">
                <a:latin typeface="宋体"/>
                <a:cs typeface="宋体"/>
              </a:rPr>
              <a:t>–</a:t>
            </a:r>
            <a:r>
              <a:rPr dirty="0" sz="1600" spc="-420">
                <a:latin typeface="宋体"/>
                <a:cs typeface="宋体"/>
              </a:rPr>
              <a:t> </a:t>
            </a:r>
            <a:r>
              <a:rPr dirty="0" sz="1600" spc="-50">
                <a:latin typeface="Times New Roman"/>
                <a:cs typeface="Times New Roman"/>
              </a:rPr>
              <a:t>y </a:t>
            </a:r>
            <a:r>
              <a:rPr dirty="0" sz="1600">
                <a:latin typeface="Times New Roman"/>
                <a:cs typeface="Times New Roman"/>
              </a:rPr>
              <a:t>z</a:t>
            </a:r>
            <a:r>
              <a:rPr dirty="0" sz="1600" spc="-65">
                <a:latin typeface="Times New Roman"/>
                <a:cs typeface="Times New Roman"/>
              </a:rPr>
              <a:t> </a:t>
            </a:r>
            <a:r>
              <a:rPr dirty="0" sz="1600">
                <a:latin typeface="Times New Roman"/>
                <a:cs typeface="Times New Roman"/>
              </a:rPr>
              <a:t>=</a:t>
            </a:r>
            <a:r>
              <a:rPr dirty="0" sz="1600" spc="-60">
                <a:latin typeface="Times New Roman"/>
                <a:cs typeface="Times New Roman"/>
              </a:rPr>
              <a:t> </a:t>
            </a:r>
            <a:r>
              <a:rPr dirty="0" sz="1600">
                <a:latin typeface="Times New Roman"/>
                <a:cs typeface="Times New Roman"/>
              </a:rPr>
              <a:t>x</a:t>
            </a:r>
            <a:r>
              <a:rPr dirty="0" sz="1600" spc="-60">
                <a:latin typeface="Times New Roman"/>
                <a:cs typeface="Times New Roman"/>
              </a:rPr>
              <a:t> </a:t>
            </a:r>
            <a:r>
              <a:rPr dirty="0" sz="1600">
                <a:latin typeface="Times New Roman"/>
                <a:cs typeface="Times New Roman"/>
              </a:rPr>
              <a:t>*</a:t>
            </a:r>
            <a:r>
              <a:rPr dirty="0" sz="1600" spc="-60">
                <a:latin typeface="Times New Roman"/>
                <a:cs typeface="Times New Roman"/>
              </a:rPr>
              <a:t> </a:t>
            </a:r>
            <a:r>
              <a:rPr dirty="0" sz="1600" spc="-50">
                <a:latin typeface="Times New Roman"/>
                <a:cs typeface="Times New Roman"/>
              </a:rPr>
              <a:t>z</a:t>
            </a:r>
            <a:r>
              <a:rPr dirty="0" sz="1600" spc="500">
                <a:latin typeface="Times New Roman"/>
                <a:cs typeface="Times New Roman"/>
              </a:rPr>
              <a:t> </a:t>
            </a:r>
            <a:r>
              <a:rPr dirty="0" sz="1600">
                <a:latin typeface="Times New Roman"/>
                <a:cs typeface="Times New Roman"/>
              </a:rPr>
              <a:t>y</a:t>
            </a:r>
            <a:r>
              <a:rPr dirty="0" sz="1600" spc="-65">
                <a:latin typeface="Times New Roman"/>
                <a:cs typeface="Times New Roman"/>
              </a:rPr>
              <a:t> </a:t>
            </a:r>
            <a:r>
              <a:rPr dirty="0" sz="1600">
                <a:latin typeface="Times New Roman"/>
                <a:cs typeface="Times New Roman"/>
              </a:rPr>
              <a:t>=</a:t>
            </a:r>
            <a:r>
              <a:rPr dirty="0" sz="1600" spc="-60">
                <a:latin typeface="Times New Roman"/>
                <a:cs typeface="Times New Roman"/>
              </a:rPr>
              <a:t> </a:t>
            </a:r>
            <a:r>
              <a:rPr dirty="0" sz="1600">
                <a:latin typeface="Times New Roman"/>
                <a:cs typeface="Times New Roman"/>
              </a:rPr>
              <a:t>y</a:t>
            </a:r>
            <a:r>
              <a:rPr dirty="0" sz="1600" spc="-65">
                <a:latin typeface="Times New Roman"/>
                <a:cs typeface="Times New Roman"/>
              </a:rPr>
              <a:t> </a:t>
            </a:r>
            <a:r>
              <a:rPr dirty="0" sz="1600">
                <a:latin typeface="Times New Roman"/>
                <a:cs typeface="Times New Roman"/>
              </a:rPr>
              <a:t>+</a:t>
            </a:r>
            <a:r>
              <a:rPr dirty="0" sz="1600" spc="-60">
                <a:latin typeface="Times New Roman"/>
                <a:cs typeface="Times New Roman"/>
              </a:rPr>
              <a:t> </a:t>
            </a:r>
            <a:r>
              <a:rPr dirty="0" sz="1600" spc="-50">
                <a:latin typeface="Times New Roman"/>
                <a:cs typeface="Times New Roman"/>
              </a:rPr>
              <a:t>1 </a:t>
            </a:r>
            <a:r>
              <a:rPr dirty="0" sz="1600" spc="-25">
                <a:latin typeface="Times New Roman"/>
                <a:cs typeface="Times New Roman"/>
              </a:rPr>
              <a:t>goto</a:t>
            </a:r>
            <a:r>
              <a:rPr dirty="0" sz="1600" spc="-70">
                <a:latin typeface="Times New Roman"/>
                <a:cs typeface="Times New Roman"/>
              </a:rPr>
              <a:t> </a:t>
            </a:r>
            <a:r>
              <a:rPr dirty="0" sz="1600" spc="-35">
                <a:latin typeface="Times New Roman"/>
                <a:cs typeface="Times New Roman"/>
              </a:rPr>
              <a:t>B</a:t>
            </a:r>
            <a:r>
              <a:rPr dirty="0" baseline="-13227" sz="1575" spc="-52">
                <a:latin typeface="Times New Roman"/>
                <a:cs typeface="Times New Roman"/>
              </a:rPr>
              <a:t>5</a:t>
            </a:r>
            <a:endParaRPr baseline="-13227" sz="1575">
              <a:latin typeface="Times New Roman"/>
              <a:cs typeface="Times New Roman"/>
            </a:endParaRPr>
          </a:p>
          <a:p>
            <a:pPr marL="377190" marR="30480" indent="-339725">
              <a:lnSpc>
                <a:spcPct val="101800"/>
              </a:lnSpc>
              <a:spcBef>
                <a:spcPts val="120"/>
              </a:spcBef>
            </a:pPr>
            <a:r>
              <a:rPr dirty="0" sz="1600">
                <a:latin typeface="Times New Roman"/>
                <a:cs typeface="Times New Roman"/>
              </a:rPr>
              <a:t>B</a:t>
            </a:r>
            <a:r>
              <a:rPr dirty="0" baseline="-13227" sz="1575">
                <a:latin typeface="Times New Roman"/>
                <a:cs typeface="Times New Roman"/>
              </a:rPr>
              <a:t>3</a:t>
            </a:r>
            <a:r>
              <a:rPr dirty="0" sz="1600">
                <a:latin typeface="Times New Roman"/>
                <a:cs typeface="Times New Roman"/>
              </a:rPr>
              <a:t>:</a:t>
            </a:r>
            <a:r>
              <a:rPr dirty="0" sz="1600" spc="235">
                <a:latin typeface="Times New Roman"/>
                <a:cs typeface="Times New Roman"/>
              </a:rPr>
              <a:t> </a:t>
            </a:r>
            <a:r>
              <a:rPr dirty="0" sz="1600">
                <a:latin typeface="Times New Roman"/>
                <a:cs typeface="Times New Roman"/>
              </a:rPr>
              <a:t>y</a:t>
            </a:r>
            <a:r>
              <a:rPr dirty="0" sz="1600" spc="-60">
                <a:latin typeface="Times New Roman"/>
                <a:cs typeface="Times New Roman"/>
              </a:rPr>
              <a:t> </a:t>
            </a:r>
            <a:r>
              <a:rPr dirty="0" sz="1600">
                <a:latin typeface="Times New Roman"/>
                <a:cs typeface="Times New Roman"/>
              </a:rPr>
              <a:t>=</a:t>
            </a:r>
            <a:r>
              <a:rPr dirty="0" sz="1600" spc="-60">
                <a:latin typeface="Times New Roman"/>
                <a:cs typeface="Times New Roman"/>
              </a:rPr>
              <a:t> </a:t>
            </a:r>
            <a:r>
              <a:rPr dirty="0" sz="1600">
                <a:latin typeface="Times New Roman"/>
                <a:cs typeface="Times New Roman"/>
              </a:rPr>
              <a:t>x</a:t>
            </a:r>
            <a:r>
              <a:rPr dirty="0" sz="1600" spc="-60">
                <a:latin typeface="Times New Roman"/>
                <a:cs typeface="Times New Roman"/>
              </a:rPr>
              <a:t> </a:t>
            </a:r>
            <a:r>
              <a:rPr dirty="0" sz="1600" spc="-80">
                <a:latin typeface="宋体"/>
                <a:cs typeface="宋体"/>
              </a:rPr>
              <a:t>–</a:t>
            </a:r>
            <a:r>
              <a:rPr dirty="0" sz="1600" spc="-420">
                <a:latin typeface="宋体"/>
                <a:cs typeface="宋体"/>
              </a:rPr>
              <a:t> </a:t>
            </a:r>
            <a:r>
              <a:rPr dirty="0" sz="1600" spc="-50">
                <a:latin typeface="Times New Roman"/>
                <a:cs typeface="Times New Roman"/>
              </a:rPr>
              <a:t>y </a:t>
            </a:r>
            <a:r>
              <a:rPr dirty="0" sz="1600">
                <a:latin typeface="Times New Roman"/>
                <a:cs typeface="Times New Roman"/>
              </a:rPr>
              <a:t>y</a:t>
            </a:r>
            <a:r>
              <a:rPr dirty="0" sz="1600" spc="-65">
                <a:latin typeface="Times New Roman"/>
                <a:cs typeface="Times New Roman"/>
              </a:rPr>
              <a:t> </a:t>
            </a:r>
            <a:r>
              <a:rPr dirty="0" sz="1600">
                <a:latin typeface="Times New Roman"/>
                <a:cs typeface="Times New Roman"/>
              </a:rPr>
              <a:t>=</a:t>
            </a:r>
            <a:r>
              <a:rPr dirty="0" sz="1600" spc="-60">
                <a:latin typeface="Times New Roman"/>
                <a:cs typeface="Times New Roman"/>
              </a:rPr>
              <a:t> </a:t>
            </a:r>
            <a:r>
              <a:rPr dirty="0" sz="1600">
                <a:latin typeface="Times New Roman"/>
                <a:cs typeface="Times New Roman"/>
              </a:rPr>
              <a:t>2</a:t>
            </a:r>
            <a:r>
              <a:rPr dirty="0" sz="1600" spc="-60">
                <a:latin typeface="Times New Roman"/>
                <a:cs typeface="Times New Roman"/>
              </a:rPr>
              <a:t> </a:t>
            </a:r>
            <a:r>
              <a:rPr dirty="0" sz="1600">
                <a:latin typeface="Times New Roman"/>
                <a:cs typeface="Times New Roman"/>
              </a:rPr>
              <a:t>*</a:t>
            </a:r>
            <a:r>
              <a:rPr dirty="0" sz="1600" spc="-60">
                <a:latin typeface="Times New Roman"/>
                <a:cs typeface="Times New Roman"/>
              </a:rPr>
              <a:t> </a:t>
            </a:r>
            <a:r>
              <a:rPr dirty="0" sz="1600" spc="-50">
                <a:latin typeface="Times New Roman"/>
                <a:cs typeface="Times New Roman"/>
              </a:rPr>
              <a:t>y </a:t>
            </a:r>
            <a:r>
              <a:rPr dirty="0" sz="1600">
                <a:latin typeface="Times New Roman"/>
                <a:cs typeface="Times New Roman"/>
              </a:rPr>
              <a:t>x</a:t>
            </a:r>
            <a:r>
              <a:rPr dirty="0" sz="1600" spc="-60">
                <a:latin typeface="Times New Roman"/>
                <a:cs typeface="Times New Roman"/>
              </a:rPr>
              <a:t> </a:t>
            </a:r>
            <a:r>
              <a:rPr dirty="0" sz="1600">
                <a:latin typeface="Times New Roman"/>
                <a:cs typeface="Times New Roman"/>
              </a:rPr>
              <a:t>=</a:t>
            </a:r>
            <a:r>
              <a:rPr dirty="0" sz="1600" spc="-60">
                <a:latin typeface="Times New Roman"/>
                <a:cs typeface="Times New Roman"/>
              </a:rPr>
              <a:t> </a:t>
            </a:r>
            <a:r>
              <a:rPr dirty="0" sz="1600">
                <a:latin typeface="Times New Roman"/>
                <a:cs typeface="Times New Roman"/>
              </a:rPr>
              <a:t>x</a:t>
            </a:r>
            <a:r>
              <a:rPr dirty="0" sz="1600" spc="-60">
                <a:latin typeface="Times New Roman"/>
                <a:cs typeface="Times New Roman"/>
              </a:rPr>
              <a:t> </a:t>
            </a:r>
            <a:r>
              <a:rPr dirty="0" sz="1600">
                <a:latin typeface="Times New Roman"/>
                <a:cs typeface="Times New Roman"/>
              </a:rPr>
              <a:t>-</a:t>
            </a:r>
            <a:r>
              <a:rPr dirty="0" sz="1600" spc="-60">
                <a:latin typeface="Times New Roman"/>
                <a:cs typeface="Times New Roman"/>
              </a:rPr>
              <a:t> </a:t>
            </a:r>
            <a:r>
              <a:rPr dirty="0" sz="1600" spc="-50">
                <a:latin typeface="Times New Roman"/>
                <a:cs typeface="Times New Roman"/>
              </a:rPr>
              <a:t>2</a:t>
            </a:r>
            <a:endParaRPr sz="1600">
              <a:latin typeface="Times New Roman"/>
              <a:cs typeface="Times New Roman"/>
            </a:endParaRPr>
          </a:p>
        </p:txBody>
      </p:sp>
      <p:sp>
        <p:nvSpPr>
          <p:cNvPr id="68" name="object 68" descr=""/>
          <p:cNvSpPr txBox="1"/>
          <p:nvPr/>
        </p:nvSpPr>
        <p:spPr>
          <a:xfrm>
            <a:off x="3259443" y="5893339"/>
            <a:ext cx="3705225" cy="264160"/>
          </a:xfrm>
          <a:prstGeom prst="rect">
            <a:avLst/>
          </a:prstGeom>
        </p:spPr>
        <p:txBody>
          <a:bodyPr wrap="square" lIns="0" tIns="0" rIns="0" bIns="0" rtlCol="0" vert="horz">
            <a:spAutoFit/>
          </a:bodyPr>
          <a:lstStyle/>
          <a:p>
            <a:pPr>
              <a:lnSpc>
                <a:spcPts val="1814"/>
              </a:lnSpc>
              <a:tabLst>
                <a:tab pos="3474720" algn="l"/>
              </a:tabLst>
            </a:pPr>
            <a:r>
              <a:rPr dirty="0" sz="1600" spc="-114">
                <a:latin typeface="Cambria"/>
                <a:cs typeface="Cambria"/>
              </a:rPr>
              <a:t>◻ ◻ ◻ ◻ ◻ ◻ ◻ ◻ ◻ ◻ </a:t>
            </a:r>
            <a:r>
              <a:rPr dirty="0" sz="1600" spc="-100">
                <a:latin typeface="Times New Roman"/>
                <a:cs typeface="Times New Roman"/>
              </a:rPr>
              <a:t>B</a:t>
            </a:r>
            <a:r>
              <a:rPr dirty="0" baseline="-13227" sz="1575" spc="-150">
                <a:latin typeface="Times New Roman"/>
                <a:cs typeface="Times New Roman"/>
              </a:rPr>
              <a:t>1</a:t>
            </a:r>
            <a:r>
              <a:rPr dirty="0" sz="1600" spc="-35">
                <a:latin typeface="Cambria"/>
                <a:cs typeface="Cambria"/>
              </a:rPr>
              <a:t>◻ </a:t>
            </a:r>
            <a:r>
              <a:rPr dirty="0" sz="1600" spc="-95">
                <a:latin typeface="Times New Roman"/>
                <a:cs typeface="Times New Roman"/>
              </a:rPr>
              <a:t>B</a:t>
            </a:r>
            <a:r>
              <a:rPr dirty="0" baseline="-13227" sz="1575" spc="-142">
                <a:latin typeface="Times New Roman"/>
                <a:cs typeface="Times New Roman"/>
              </a:rPr>
              <a:t>2</a:t>
            </a:r>
            <a:r>
              <a:rPr dirty="0" sz="1600" spc="-35">
                <a:latin typeface="Cambria"/>
                <a:cs typeface="Cambria"/>
              </a:rPr>
              <a:t>◻ </a:t>
            </a:r>
            <a:r>
              <a:rPr dirty="0" sz="1600" spc="-25">
                <a:latin typeface="Times New Roman"/>
                <a:cs typeface="Times New Roman"/>
              </a:rPr>
              <a:t>B</a:t>
            </a:r>
            <a:r>
              <a:rPr dirty="0" baseline="-13227" sz="1575" spc="-37">
                <a:latin typeface="Times New Roman"/>
                <a:cs typeface="Times New Roman"/>
              </a:rPr>
              <a:t>3</a:t>
            </a:r>
            <a:r>
              <a:rPr dirty="0" baseline="-13227" sz="1575">
                <a:latin typeface="Times New Roman"/>
                <a:cs typeface="Times New Roman"/>
              </a:rPr>
              <a:t>	</a:t>
            </a:r>
            <a:r>
              <a:rPr dirty="0" baseline="-10802" sz="2700" spc="-75" b="1">
                <a:solidFill>
                  <a:srgbClr val="40458B"/>
                </a:solidFill>
                <a:latin typeface="宋体"/>
                <a:cs typeface="宋体"/>
              </a:rPr>
              <a:t>或</a:t>
            </a:r>
            <a:endParaRPr baseline="-10802" sz="2700">
              <a:latin typeface="宋体"/>
              <a:cs typeface="宋体"/>
            </a:endParaRPr>
          </a:p>
        </p:txBody>
      </p:sp>
      <p:sp>
        <p:nvSpPr>
          <p:cNvPr id="69" name="object 69" descr=""/>
          <p:cNvSpPr txBox="1"/>
          <p:nvPr/>
        </p:nvSpPr>
        <p:spPr>
          <a:xfrm>
            <a:off x="3388369" y="5396335"/>
            <a:ext cx="534035" cy="228600"/>
          </a:xfrm>
          <a:prstGeom prst="rect">
            <a:avLst/>
          </a:prstGeom>
        </p:spPr>
        <p:txBody>
          <a:bodyPr wrap="square" lIns="0" tIns="0" rIns="0" bIns="0" rtlCol="0" vert="horz">
            <a:spAutoFit/>
          </a:bodyPr>
          <a:lstStyle/>
          <a:p>
            <a:pPr>
              <a:lnSpc>
                <a:spcPts val="1775"/>
              </a:lnSpc>
            </a:pPr>
            <a:r>
              <a:rPr dirty="0" sz="1600" spc="-210">
                <a:latin typeface="Cambria"/>
                <a:cs typeface="Cambria"/>
              </a:rPr>
              <a:t>◻</a:t>
            </a:r>
            <a:r>
              <a:rPr dirty="0" sz="1600" spc="30">
                <a:latin typeface="Cambria"/>
                <a:cs typeface="Cambria"/>
              </a:rPr>
              <a:t> </a:t>
            </a:r>
            <a:r>
              <a:rPr dirty="0" sz="1600" spc="-210">
                <a:latin typeface="Cambria"/>
                <a:cs typeface="Cambria"/>
              </a:rPr>
              <a:t>◻</a:t>
            </a:r>
            <a:r>
              <a:rPr dirty="0" sz="1600" spc="35">
                <a:latin typeface="Cambria"/>
                <a:cs typeface="Cambria"/>
              </a:rPr>
              <a:t> </a:t>
            </a:r>
            <a:r>
              <a:rPr dirty="0" sz="1600" spc="-215">
                <a:latin typeface="Cambria"/>
                <a:cs typeface="Cambria"/>
              </a:rPr>
              <a:t>◻</a:t>
            </a:r>
            <a:endParaRPr sz="1600">
              <a:latin typeface="Cambria"/>
              <a:cs typeface="Cambria"/>
            </a:endParaRPr>
          </a:p>
        </p:txBody>
      </p:sp>
      <p:sp>
        <p:nvSpPr>
          <p:cNvPr id="70" name="object 70" descr=""/>
          <p:cNvSpPr txBox="1"/>
          <p:nvPr/>
        </p:nvSpPr>
        <p:spPr>
          <a:xfrm>
            <a:off x="5221792" y="5396335"/>
            <a:ext cx="534035" cy="228600"/>
          </a:xfrm>
          <a:prstGeom prst="rect">
            <a:avLst/>
          </a:prstGeom>
        </p:spPr>
        <p:txBody>
          <a:bodyPr wrap="square" lIns="0" tIns="0" rIns="0" bIns="0" rtlCol="0" vert="horz">
            <a:spAutoFit/>
          </a:bodyPr>
          <a:lstStyle/>
          <a:p>
            <a:pPr>
              <a:lnSpc>
                <a:spcPts val="1775"/>
              </a:lnSpc>
            </a:pPr>
            <a:r>
              <a:rPr dirty="0" sz="1600" spc="-210">
                <a:latin typeface="Cambria"/>
                <a:cs typeface="Cambria"/>
              </a:rPr>
              <a:t>◻</a:t>
            </a:r>
            <a:r>
              <a:rPr dirty="0" sz="1600" spc="30">
                <a:latin typeface="Cambria"/>
                <a:cs typeface="Cambria"/>
              </a:rPr>
              <a:t> </a:t>
            </a:r>
            <a:r>
              <a:rPr dirty="0" sz="1600" spc="-210">
                <a:latin typeface="Cambria"/>
                <a:cs typeface="Cambria"/>
              </a:rPr>
              <a:t>◻</a:t>
            </a:r>
            <a:r>
              <a:rPr dirty="0" sz="1600" spc="35">
                <a:latin typeface="Cambria"/>
                <a:cs typeface="Cambria"/>
              </a:rPr>
              <a:t> </a:t>
            </a:r>
            <a:r>
              <a:rPr dirty="0" sz="1600" spc="-215">
                <a:latin typeface="Cambria"/>
                <a:cs typeface="Cambria"/>
              </a:rPr>
              <a:t>◻</a:t>
            </a:r>
            <a:endParaRPr sz="1600">
              <a:latin typeface="Cambria"/>
              <a:cs typeface="Cambria"/>
            </a:endParaRPr>
          </a:p>
        </p:txBody>
      </p:sp>
      <p:sp>
        <p:nvSpPr>
          <p:cNvPr id="71" name="object 71" descr=""/>
          <p:cNvSpPr/>
          <p:nvPr/>
        </p:nvSpPr>
        <p:spPr>
          <a:xfrm>
            <a:off x="963841" y="5786196"/>
            <a:ext cx="1588135" cy="339090"/>
          </a:xfrm>
          <a:custGeom>
            <a:avLst/>
            <a:gdLst/>
            <a:ahLst/>
            <a:cxnLst/>
            <a:rect l="l" t="t" r="r" b="b"/>
            <a:pathLst>
              <a:path w="1588135" h="339089">
                <a:moveTo>
                  <a:pt x="1587627" y="0"/>
                </a:moveTo>
                <a:lnTo>
                  <a:pt x="0" y="0"/>
                </a:lnTo>
                <a:lnTo>
                  <a:pt x="0" y="338556"/>
                </a:lnTo>
                <a:lnTo>
                  <a:pt x="1587627" y="338556"/>
                </a:lnTo>
                <a:lnTo>
                  <a:pt x="1587627" y="0"/>
                </a:lnTo>
                <a:close/>
              </a:path>
            </a:pathLst>
          </a:custGeom>
          <a:solidFill>
            <a:srgbClr val="FFFFFF"/>
          </a:solidFill>
        </p:spPr>
        <p:txBody>
          <a:bodyPr wrap="square" lIns="0" tIns="0" rIns="0" bIns="0" rtlCol="0"/>
          <a:lstStyle/>
          <a:p/>
        </p:txBody>
      </p:sp>
      <p:sp>
        <p:nvSpPr>
          <p:cNvPr id="72" name="object 72" descr=""/>
          <p:cNvSpPr txBox="1"/>
          <p:nvPr/>
        </p:nvSpPr>
        <p:spPr>
          <a:xfrm>
            <a:off x="1042822" y="5820562"/>
            <a:ext cx="836294" cy="269240"/>
          </a:xfrm>
          <a:prstGeom prst="rect">
            <a:avLst/>
          </a:prstGeom>
        </p:spPr>
        <p:txBody>
          <a:bodyPr wrap="square" lIns="0" tIns="12065" rIns="0" bIns="0" rtlCol="0" vert="horz">
            <a:spAutoFit/>
          </a:bodyPr>
          <a:lstStyle/>
          <a:p>
            <a:pPr marL="12700">
              <a:lnSpc>
                <a:spcPct val="100000"/>
              </a:lnSpc>
              <a:spcBef>
                <a:spcPts val="95"/>
              </a:spcBef>
            </a:pPr>
            <a:r>
              <a:rPr dirty="0" sz="1600" spc="-35">
                <a:solidFill>
                  <a:srgbClr val="40458B"/>
                </a:solidFill>
                <a:latin typeface="宋体"/>
                <a:cs typeface="宋体"/>
              </a:rPr>
              <a:t>控制流图</a:t>
            </a:r>
            <a:endParaRPr sz="1600">
              <a:latin typeface="宋体"/>
              <a:cs typeface="宋体"/>
            </a:endParaRPr>
          </a:p>
        </p:txBody>
      </p:sp>
      <p:sp>
        <p:nvSpPr>
          <p:cNvPr id="73" name="object 73" descr=""/>
          <p:cNvSpPr/>
          <p:nvPr/>
        </p:nvSpPr>
        <p:spPr>
          <a:xfrm>
            <a:off x="2969386" y="5230647"/>
            <a:ext cx="1588135" cy="339090"/>
          </a:xfrm>
          <a:custGeom>
            <a:avLst/>
            <a:gdLst/>
            <a:ahLst/>
            <a:cxnLst/>
            <a:rect l="l" t="t" r="r" b="b"/>
            <a:pathLst>
              <a:path w="1588135" h="339089">
                <a:moveTo>
                  <a:pt x="1587627" y="0"/>
                </a:moveTo>
                <a:lnTo>
                  <a:pt x="0" y="0"/>
                </a:lnTo>
                <a:lnTo>
                  <a:pt x="0" y="338556"/>
                </a:lnTo>
                <a:lnTo>
                  <a:pt x="1587627" y="338556"/>
                </a:lnTo>
                <a:lnTo>
                  <a:pt x="1587627" y="0"/>
                </a:lnTo>
                <a:close/>
              </a:path>
            </a:pathLst>
          </a:custGeom>
          <a:solidFill>
            <a:srgbClr val="FFFFFF"/>
          </a:solidFill>
        </p:spPr>
        <p:txBody>
          <a:bodyPr wrap="square" lIns="0" tIns="0" rIns="0" bIns="0" rtlCol="0"/>
          <a:lstStyle/>
          <a:p/>
        </p:txBody>
      </p:sp>
      <p:sp>
        <p:nvSpPr>
          <p:cNvPr id="74" name="object 74" descr=""/>
          <p:cNvSpPr txBox="1"/>
          <p:nvPr/>
        </p:nvSpPr>
        <p:spPr>
          <a:xfrm>
            <a:off x="3048380" y="5264911"/>
            <a:ext cx="633730" cy="269240"/>
          </a:xfrm>
          <a:prstGeom prst="rect">
            <a:avLst/>
          </a:prstGeom>
        </p:spPr>
        <p:txBody>
          <a:bodyPr wrap="square" lIns="0" tIns="12065" rIns="0" bIns="0" rtlCol="0" vert="horz">
            <a:spAutoFit/>
          </a:bodyPr>
          <a:lstStyle/>
          <a:p>
            <a:pPr marL="12700">
              <a:lnSpc>
                <a:spcPct val="100000"/>
              </a:lnSpc>
              <a:spcBef>
                <a:spcPts val="95"/>
              </a:spcBef>
            </a:pPr>
            <a:r>
              <a:rPr dirty="0" sz="1600" spc="-35">
                <a:solidFill>
                  <a:srgbClr val="40458B"/>
                </a:solidFill>
                <a:latin typeface="宋体"/>
                <a:cs typeface="宋体"/>
              </a:rPr>
              <a:t>压缩前</a:t>
            </a:r>
            <a:endParaRPr sz="1600">
              <a:latin typeface="宋体"/>
              <a:cs typeface="宋体"/>
            </a:endParaRPr>
          </a:p>
        </p:txBody>
      </p:sp>
      <p:sp>
        <p:nvSpPr>
          <p:cNvPr id="75" name="object 75" descr=""/>
          <p:cNvSpPr/>
          <p:nvPr/>
        </p:nvSpPr>
        <p:spPr>
          <a:xfrm>
            <a:off x="4653153" y="5258879"/>
            <a:ext cx="1588135" cy="339090"/>
          </a:xfrm>
          <a:custGeom>
            <a:avLst/>
            <a:gdLst/>
            <a:ahLst/>
            <a:cxnLst/>
            <a:rect l="l" t="t" r="r" b="b"/>
            <a:pathLst>
              <a:path w="1588135" h="339089">
                <a:moveTo>
                  <a:pt x="1587627" y="0"/>
                </a:moveTo>
                <a:lnTo>
                  <a:pt x="0" y="0"/>
                </a:lnTo>
                <a:lnTo>
                  <a:pt x="0" y="338556"/>
                </a:lnTo>
                <a:lnTo>
                  <a:pt x="1587627" y="338556"/>
                </a:lnTo>
                <a:lnTo>
                  <a:pt x="1587627" y="0"/>
                </a:lnTo>
                <a:close/>
              </a:path>
            </a:pathLst>
          </a:custGeom>
          <a:solidFill>
            <a:srgbClr val="FFFFFF"/>
          </a:solidFill>
        </p:spPr>
        <p:txBody>
          <a:bodyPr wrap="square" lIns="0" tIns="0" rIns="0" bIns="0" rtlCol="0"/>
          <a:lstStyle/>
          <a:p/>
        </p:txBody>
      </p:sp>
      <p:sp>
        <p:nvSpPr>
          <p:cNvPr id="76" name="object 76" descr=""/>
          <p:cNvSpPr txBox="1"/>
          <p:nvPr/>
        </p:nvSpPr>
        <p:spPr>
          <a:xfrm>
            <a:off x="4732401" y="5293233"/>
            <a:ext cx="633730" cy="269240"/>
          </a:xfrm>
          <a:prstGeom prst="rect">
            <a:avLst/>
          </a:prstGeom>
        </p:spPr>
        <p:txBody>
          <a:bodyPr wrap="square" lIns="0" tIns="12065" rIns="0" bIns="0" rtlCol="0" vert="horz">
            <a:spAutoFit/>
          </a:bodyPr>
          <a:lstStyle/>
          <a:p>
            <a:pPr marL="12700">
              <a:lnSpc>
                <a:spcPct val="100000"/>
              </a:lnSpc>
              <a:spcBef>
                <a:spcPts val="95"/>
              </a:spcBef>
            </a:pPr>
            <a:r>
              <a:rPr dirty="0" sz="1600" spc="-35">
                <a:solidFill>
                  <a:srgbClr val="40458B"/>
                </a:solidFill>
                <a:latin typeface="宋体"/>
                <a:cs typeface="宋体"/>
              </a:rPr>
              <a:t>压缩后</a:t>
            </a:r>
            <a:endParaRPr sz="1600">
              <a:latin typeface="宋体"/>
              <a:cs typeface="宋体"/>
            </a:endParaRPr>
          </a:p>
        </p:txBody>
      </p:sp>
      <p:sp>
        <p:nvSpPr>
          <p:cNvPr id="77" name="object 77" descr=""/>
          <p:cNvSpPr/>
          <p:nvPr/>
        </p:nvSpPr>
        <p:spPr>
          <a:xfrm>
            <a:off x="3175254" y="5833567"/>
            <a:ext cx="3735704" cy="339090"/>
          </a:xfrm>
          <a:custGeom>
            <a:avLst/>
            <a:gdLst/>
            <a:ahLst/>
            <a:cxnLst/>
            <a:rect l="l" t="t" r="r" b="b"/>
            <a:pathLst>
              <a:path w="3735704" h="339089">
                <a:moveTo>
                  <a:pt x="3735197" y="0"/>
                </a:moveTo>
                <a:lnTo>
                  <a:pt x="0" y="0"/>
                </a:lnTo>
                <a:lnTo>
                  <a:pt x="0" y="338556"/>
                </a:lnTo>
                <a:lnTo>
                  <a:pt x="3735197" y="338556"/>
                </a:lnTo>
                <a:lnTo>
                  <a:pt x="3735197" y="0"/>
                </a:lnTo>
                <a:close/>
              </a:path>
            </a:pathLst>
          </a:custGeom>
          <a:solidFill>
            <a:srgbClr val="FFFFFF"/>
          </a:solidFill>
        </p:spPr>
        <p:txBody>
          <a:bodyPr wrap="square" lIns="0" tIns="0" rIns="0" bIns="0" rtlCol="0"/>
          <a:lstStyle/>
          <a:p/>
        </p:txBody>
      </p:sp>
      <p:sp>
        <p:nvSpPr>
          <p:cNvPr id="78" name="object 78" descr=""/>
          <p:cNvSpPr txBox="1"/>
          <p:nvPr/>
        </p:nvSpPr>
        <p:spPr>
          <a:xfrm>
            <a:off x="2897950" y="5861836"/>
            <a:ext cx="3451860" cy="271145"/>
          </a:xfrm>
          <a:prstGeom prst="rect">
            <a:avLst/>
          </a:prstGeom>
        </p:spPr>
        <p:txBody>
          <a:bodyPr wrap="square" lIns="0" tIns="13970" rIns="0" bIns="0" rtlCol="0" vert="horz">
            <a:spAutoFit/>
          </a:bodyPr>
          <a:lstStyle/>
          <a:p>
            <a:pPr marL="38100">
              <a:lnSpc>
                <a:spcPct val="100000"/>
              </a:lnSpc>
              <a:spcBef>
                <a:spcPts val="110"/>
              </a:spcBef>
            </a:pPr>
            <a:r>
              <a:rPr dirty="0" sz="1600">
                <a:latin typeface="Times New Roman"/>
                <a:cs typeface="Times New Roman"/>
              </a:rPr>
              <a:t>(b</a:t>
            </a:r>
            <a:r>
              <a:rPr dirty="0" sz="1600" spc="220">
                <a:latin typeface="Times New Roman"/>
                <a:cs typeface="Times New Roman"/>
              </a:rPr>
              <a:t>) </a:t>
            </a:r>
            <a:r>
              <a:rPr dirty="0" sz="1600" spc="-25">
                <a:solidFill>
                  <a:srgbClr val="40458B"/>
                </a:solidFill>
                <a:latin typeface="宋体"/>
                <a:cs typeface="宋体"/>
              </a:rPr>
              <a:t>踪迹压缩前后的基本块</a:t>
            </a:r>
            <a:r>
              <a:rPr dirty="0" sz="1600">
                <a:solidFill>
                  <a:srgbClr val="40458B"/>
                </a:solidFill>
                <a:latin typeface="Times New Roman"/>
                <a:cs typeface="Times New Roman"/>
              </a:rPr>
              <a:t>B</a:t>
            </a:r>
            <a:r>
              <a:rPr dirty="0" baseline="-21164" sz="1575">
                <a:solidFill>
                  <a:srgbClr val="40458B"/>
                </a:solidFill>
                <a:latin typeface="Times New Roman"/>
                <a:cs typeface="Times New Roman"/>
              </a:rPr>
              <a:t>1</a:t>
            </a:r>
            <a:r>
              <a:rPr dirty="0" sz="1600" spc="-25">
                <a:solidFill>
                  <a:srgbClr val="40458B"/>
                </a:solidFill>
                <a:latin typeface="宋体"/>
                <a:cs typeface="宋体"/>
              </a:rPr>
              <a:t>、</a:t>
            </a:r>
            <a:r>
              <a:rPr dirty="0" sz="1600">
                <a:solidFill>
                  <a:srgbClr val="40458B"/>
                </a:solidFill>
                <a:latin typeface="Times New Roman"/>
                <a:cs typeface="Times New Roman"/>
              </a:rPr>
              <a:t>B</a:t>
            </a:r>
            <a:r>
              <a:rPr dirty="0" baseline="-21164" sz="1575">
                <a:solidFill>
                  <a:srgbClr val="40458B"/>
                </a:solidFill>
                <a:latin typeface="Times New Roman"/>
                <a:cs typeface="Times New Roman"/>
              </a:rPr>
              <a:t>2</a:t>
            </a:r>
            <a:r>
              <a:rPr dirty="0" sz="1600" spc="-25">
                <a:solidFill>
                  <a:srgbClr val="40458B"/>
                </a:solidFill>
                <a:latin typeface="宋体"/>
                <a:cs typeface="宋体"/>
              </a:rPr>
              <a:t>、</a:t>
            </a:r>
            <a:r>
              <a:rPr dirty="0" sz="1600" spc="-25">
                <a:solidFill>
                  <a:srgbClr val="40458B"/>
                </a:solidFill>
                <a:latin typeface="Times New Roman"/>
                <a:cs typeface="Times New Roman"/>
              </a:rPr>
              <a:t>B</a:t>
            </a:r>
            <a:r>
              <a:rPr dirty="0" baseline="-21164" sz="1575" spc="-37">
                <a:solidFill>
                  <a:srgbClr val="40458B"/>
                </a:solidFill>
                <a:latin typeface="Times New Roman"/>
                <a:cs typeface="Times New Roman"/>
              </a:rPr>
              <a:t>3</a:t>
            </a:r>
            <a:endParaRPr baseline="-21164" sz="1575">
              <a:latin typeface="Times New Roman"/>
              <a:cs typeface="Times New Roman"/>
            </a:endParaRPr>
          </a:p>
        </p:txBody>
      </p:sp>
      <p:sp>
        <p:nvSpPr>
          <p:cNvPr id="79" name="object 79" descr=""/>
          <p:cNvSpPr txBox="1"/>
          <p:nvPr/>
        </p:nvSpPr>
        <p:spPr>
          <a:xfrm>
            <a:off x="6939153" y="5864523"/>
            <a:ext cx="4410710" cy="646430"/>
          </a:xfrm>
          <a:prstGeom prst="rect">
            <a:avLst/>
          </a:prstGeom>
        </p:spPr>
        <p:txBody>
          <a:bodyPr wrap="square" lIns="0" tIns="31750" rIns="0" bIns="0" rtlCol="0" vert="horz">
            <a:spAutoFit/>
          </a:bodyPr>
          <a:lstStyle/>
          <a:p>
            <a:pPr marL="24765">
              <a:lnSpc>
                <a:spcPct val="100000"/>
              </a:lnSpc>
              <a:spcBef>
                <a:spcPts val="250"/>
              </a:spcBef>
            </a:pPr>
            <a:r>
              <a:rPr dirty="0" sz="1800" spc="-15" b="1">
                <a:solidFill>
                  <a:srgbClr val="40458B"/>
                </a:solidFill>
                <a:latin typeface="宋体"/>
                <a:cs typeface="宋体"/>
              </a:rPr>
              <a:t>者本例的目的：旨在说明补偿代码的重要性</a:t>
            </a:r>
            <a:endParaRPr sz="1800">
              <a:latin typeface="宋体"/>
              <a:cs typeface="宋体"/>
            </a:endParaRPr>
          </a:p>
          <a:p>
            <a:pPr marL="12700">
              <a:lnSpc>
                <a:spcPct val="100000"/>
              </a:lnSpc>
              <a:spcBef>
                <a:spcPts val="175"/>
              </a:spcBef>
            </a:pPr>
            <a:r>
              <a:rPr dirty="0" sz="2000">
                <a:solidFill>
                  <a:srgbClr val="40458B"/>
                </a:solidFill>
                <a:latin typeface="宋体"/>
                <a:cs typeface="宋体"/>
              </a:rPr>
              <a:t>条件</a:t>
            </a:r>
            <a:r>
              <a:rPr dirty="0" sz="2000" spc="-20">
                <a:solidFill>
                  <a:srgbClr val="40458B"/>
                </a:solidFill>
                <a:latin typeface="Times New Roman"/>
                <a:cs typeface="Times New Roman"/>
              </a:rPr>
              <a:t>Y</a:t>
            </a:r>
            <a:r>
              <a:rPr dirty="0" sz="2000" spc="-15">
                <a:solidFill>
                  <a:srgbClr val="40458B"/>
                </a:solidFill>
                <a:latin typeface="宋体"/>
                <a:cs typeface="宋体"/>
              </a:rPr>
              <a:t>的概率高</a:t>
            </a:r>
            <a:endParaRPr sz="2000">
              <a:latin typeface="宋体"/>
              <a:cs typeface="宋体"/>
            </a:endParaRPr>
          </a:p>
        </p:txBody>
      </p:sp>
      <p:sp>
        <p:nvSpPr>
          <p:cNvPr id="80" name="object 80" descr=""/>
          <p:cNvSpPr txBox="1"/>
          <p:nvPr/>
        </p:nvSpPr>
        <p:spPr>
          <a:xfrm>
            <a:off x="1599691" y="6264046"/>
            <a:ext cx="2952115" cy="330835"/>
          </a:xfrm>
          <a:prstGeom prst="rect">
            <a:avLst/>
          </a:prstGeom>
        </p:spPr>
        <p:txBody>
          <a:bodyPr wrap="square" lIns="0" tIns="12700" rIns="0" bIns="0" rtlCol="0" vert="horz">
            <a:spAutoFit/>
          </a:bodyPr>
          <a:lstStyle/>
          <a:p>
            <a:pPr marL="12700">
              <a:lnSpc>
                <a:spcPct val="100000"/>
              </a:lnSpc>
              <a:spcBef>
                <a:spcPts val="100"/>
              </a:spcBef>
            </a:pPr>
            <a:r>
              <a:rPr dirty="0" sz="2000">
                <a:solidFill>
                  <a:srgbClr val="40458B"/>
                </a:solidFill>
                <a:latin typeface="宋体"/>
                <a:cs typeface="宋体"/>
              </a:rPr>
              <a:t>图</a:t>
            </a:r>
            <a:r>
              <a:rPr dirty="0" sz="2000">
                <a:solidFill>
                  <a:srgbClr val="40458B"/>
                </a:solidFill>
                <a:latin typeface="Times New Roman"/>
                <a:cs typeface="Times New Roman"/>
              </a:rPr>
              <a:t>6.3</a:t>
            </a:r>
            <a:r>
              <a:rPr dirty="0" sz="2000" spc="-5">
                <a:solidFill>
                  <a:srgbClr val="40458B"/>
                </a:solidFill>
                <a:latin typeface="Times New Roman"/>
                <a:cs typeface="Times New Roman"/>
              </a:rPr>
              <a:t> </a:t>
            </a:r>
            <a:r>
              <a:rPr dirty="0" sz="2000" spc="-10">
                <a:solidFill>
                  <a:srgbClr val="40458B"/>
                </a:solidFill>
                <a:latin typeface="宋体"/>
                <a:cs typeface="宋体"/>
              </a:rPr>
              <a:t>踪迹调度和补偿代码</a:t>
            </a:r>
            <a:endParaRPr sz="2000">
              <a:latin typeface="宋体"/>
              <a:cs typeface="宋体"/>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37/89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512165" y="1033551"/>
            <a:ext cx="11501755" cy="3952875"/>
          </a:xfrm>
          <a:prstGeom prst="rect">
            <a:avLst/>
          </a:prstGeom>
        </p:spPr>
        <p:txBody>
          <a:bodyPr wrap="square" lIns="0" tIns="183515" rIns="0" bIns="0" rtlCol="0" vert="horz">
            <a:spAutoFit/>
          </a:bodyPr>
          <a:lstStyle/>
          <a:p>
            <a:pPr marL="467359" indent="-454659">
              <a:lnSpc>
                <a:spcPct val="100000"/>
              </a:lnSpc>
              <a:spcBef>
                <a:spcPts val="1445"/>
              </a:spcBef>
              <a:buClr>
                <a:srgbClr val="40458B"/>
              </a:buClr>
              <a:buFont typeface="Tahoma"/>
              <a:buAutoNum type="arabicPeriod" startAt="3"/>
              <a:tabLst>
                <a:tab pos="467359" algn="l"/>
              </a:tabLst>
            </a:pPr>
            <a:r>
              <a:rPr dirty="0" sz="2800" spc="-40">
                <a:solidFill>
                  <a:srgbClr val="E14B04"/>
                </a:solidFill>
                <a:latin typeface="黑体"/>
                <a:cs typeface="黑体"/>
              </a:rPr>
              <a:t>踪迹调度的性能特点</a:t>
            </a:r>
            <a:endParaRPr sz="2800">
              <a:latin typeface="黑体"/>
              <a:cs typeface="黑体"/>
            </a:endParaRPr>
          </a:p>
          <a:p>
            <a:pPr lvl="1" marL="1097915" marR="5080" indent="-456565">
              <a:lnSpc>
                <a:spcPct val="120000"/>
              </a:lnSpc>
              <a:spcBef>
                <a:spcPts val="675"/>
              </a:spcBef>
              <a:buClr>
                <a:srgbClr val="40458B"/>
              </a:buClr>
              <a:buSzPct val="89285"/>
              <a:buFont typeface="Wingdings"/>
              <a:buChar char=""/>
              <a:tabLst>
                <a:tab pos="1097915" algn="l"/>
              </a:tabLst>
            </a:pPr>
            <a:r>
              <a:rPr dirty="0" sz="2800" spc="-30">
                <a:solidFill>
                  <a:srgbClr val="0000CC"/>
                </a:solidFill>
                <a:latin typeface="黑体"/>
                <a:cs typeface="黑体"/>
              </a:rPr>
              <a:t>踪迹调度能够</a:t>
            </a:r>
            <a:r>
              <a:rPr dirty="0" sz="2800" spc="-40">
                <a:solidFill>
                  <a:srgbClr val="D50092"/>
                </a:solidFill>
                <a:latin typeface="黑体"/>
                <a:cs typeface="黑体"/>
              </a:rPr>
              <a:t>提升性能的最根本原因</a:t>
            </a:r>
            <a:r>
              <a:rPr dirty="0" sz="2800" spc="-35">
                <a:solidFill>
                  <a:srgbClr val="0000CC"/>
                </a:solidFill>
                <a:latin typeface="黑体"/>
                <a:cs typeface="黑体"/>
              </a:rPr>
              <a:t>在于选出的</a:t>
            </a:r>
            <a:r>
              <a:rPr dirty="0" sz="2800" spc="-20">
                <a:solidFill>
                  <a:srgbClr val="0000CC"/>
                </a:solidFill>
                <a:latin typeface="Tahoma"/>
                <a:cs typeface="Tahoma"/>
              </a:rPr>
              <a:t>trace</a:t>
            </a:r>
            <a:r>
              <a:rPr dirty="0" sz="2800" spc="-40">
                <a:solidFill>
                  <a:srgbClr val="0000CC"/>
                </a:solidFill>
                <a:latin typeface="黑体"/>
                <a:cs typeface="黑体"/>
              </a:rPr>
              <a:t>都是执行频率很高的路径，减少它们的执行开销有助于缩短程序的总执行时间。</a:t>
            </a:r>
            <a:endParaRPr sz="2800">
              <a:latin typeface="黑体"/>
              <a:cs typeface="黑体"/>
            </a:endParaRPr>
          </a:p>
          <a:p>
            <a:pPr lvl="1" marL="1097915" marR="87630" indent="-456565">
              <a:lnSpc>
                <a:spcPct val="120100"/>
              </a:lnSpc>
              <a:spcBef>
                <a:spcPts val="670"/>
              </a:spcBef>
              <a:buClr>
                <a:srgbClr val="40458B"/>
              </a:buClr>
              <a:buSzPct val="89285"/>
              <a:buFont typeface="Wingdings"/>
              <a:buChar char=""/>
              <a:tabLst>
                <a:tab pos="1097915" algn="l"/>
              </a:tabLst>
            </a:pPr>
            <a:r>
              <a:rPr dirty="0" sz="2800" spc="-40">
                <a:solidFill>
                  <a:srgbClr val="0000CC"/>
                </a:solidFill>
                <a:latin typeface="黑体"/>
                <a:cs typeface="黑体"/>
              </a:rPr>
              <a:t>对于某些应用，补偿代码引起的开销很有可能降低踪迹调度的优化效果。</a:t>
            </a:r>
            <a:endParaRPr sz="2800">
              <a:latin typeface="黑体"/>
              <a:cs typeface="黑体"/>
            </a:endParaRPr>
          </a:p>
          <a:p>
            <a:pPr lvl="1" marL="1097915" marR="87630" indent="-456565">
              <a:lnSpc>
                <a:spcPct val="120100"/>
              </a:lnSpc>
              <a:spcBef>
                <a:spcPts val="670"/>
              </a:spcBef>
              <a:buClr>
                <a:srgbClr val="40458B"/>
              </a:buClr>
              <a:buSzPct val="89285"/>
              <a:buFont typeface="Wingdings"/>
              <a:buChar char=""/>
              <a:tabLst>
                <a:tab pos="1097915" algn="l"/>
              </a:tabLst>
            </a:pPr>
            <a:r>
              <a:rPr dirty="0" sz="2800" spc="-35">
                <a:solidFill>
                  <a:srgbClr val="0000CC"/>
                </a:solidFill>
                <a:latin typeface="黑体"/>
                <a:cs typeface="黑体"/>
              </a:rPr>
              <a:t>踪迹调度会大大增加编译器的实现复杂度（</a:t>
            </a:r>
            <a:r>
              <a:rPr dirty="0" sz="2800" spc="-40">
                <a:solidFill>
                  <a:srgbClr val="0000CC"/>
                </a:solidFill>
                <a:latin typeface="黑体"/>
                <a:cs typeface="黑体"/>
              </a:rPr>
              <a:t>需要智能的优化不同块</a:t>
            </a:r>
            <a:r>
              <a:rPr dirty="0" sz="2800" spc="-35">
                <a:solidFill>
                  <a:srgbClr val="0000CC"/>
                </a:solidFill>
                <a:latin typeface="黑体"/>
                <a:cs typeface="黑体"/>
              </a:rPr>
              <a:t>之间的并行性）</a:t>
            </a:r>
            <a:r>
              <a:rPr dirty="0" sz="2800" spc="-50">
                <a:solidFill>
                  <a:srgbClr val="0000CC"/>
                </a:solidFill>
                <a:latin typeface="黑体"/>
                <a:cs typeface="黑体"/>
              </a:rPr>
              <a:t>。</a:t>
            </a:r>
            <a:endParaRPr sz="2800">
              <a:latin typeface="黑体"/>
              <a:cs typeface="黑体"/>
            </a:endParaRPr>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tabLst>
                <a:tab pos="10788015" algn="l"/>
              </a:tabLst>
            </a:pPr>
            <a:r>
              <a:rPr dirty="0" spc="310"/>
              <a:t>  </a:t>
            </a:r>
            <a:r>
              <a:rPr dirty="0"/>
              <a:t>6.2</a:t>
            </a:r>
            <a:r>
              <a:rPr dirty="0" spc="-10"/>
              <a:t> </a:t>
            </a:r>
            <a:r>
              <a:rPr dirty="0"/>
              <a:t>跨越基本块的静态指</a:t>
            </a:r>
            <a:r>
              <a:rPr dirty="0" spc="-15"/>
              <a:t>令</a:t>
            </a:r>
            <a:r>
              <a:rPr dirty="0"/>
              <a:t>调</a:t>
            </a:r>
            <a:r>
              <a:rPr dirty="0" spc="-50"/>
              <a:t>度</a:t>
            </a:r>
            <a:r>
              <a:rPr dirty="0"/>
              <a: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38/89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774293" y="766318"/>
            <a:ext cx="10849610" cy="4351020"/>
          </a:xfrm>
          <a:prstGeom prst="rect">
            <a:avLst/>
          </a:prstGeom>
        </p:spPr>
        <p:txBody>
          <a:bodyPr wrap="square" lIns="0" tIns="13335" rIns="0" bIns="0" rtlCol="0" vert="horz">
            <a:spAutoFit/>
          </a:bodyPr>
          <a:lstStyle/>
          <a:p>
            <a:pPr marL="1236345">
              <a:lnSpc>
                <a:spcPct val="100000"/>
              </a:lnSpc>
              <a:spcBef>
                <a:spcPts val="105"/>
              </a:spcBef>
              <a:tabLst>
                <a:tab pos="3879215" algn="l"/>
              </a:tabLst>
            </a:pPr>
            <a:r>
              <a:rPr dirty="0" sz="2600">
                <a:solidFill>
                  <a:srgbClr val="0000CC"/>
                </a:solidFill>
                <a:latin typeface="黑体"/>
                <a:cs typeface="黑体"/>
              </a:rPr>
              <a:t>6.2.3</a:t>
            </a:r>
            <a:r>
              <a:rPr dirty="0" sz="2600" spc="-10">
                <a:solidFill>
                  <a:srgbClr val="0000CC"/>
                </a:solidFill>
                <a:latin typeface="黑体"/>
                <a:cs typeface="黑体"/>
              </a:rPr>
              <a:t> </a:t>
            </a:r>
            <a:r>
              <a:rPr dirty="0" sz="2600">
                <a:solidFill>
                  <a:srgbClr val="0000CC"/>
                </a:solidFill>
                <a:latin typeface="黑体"/>
                <a:cs typeface="黑体"/>
              </a:rPr>
              <a:t>超块调</a:t>
            </a:r>
            <a:r>
              <a:rPr dirty="0" sz="2600" spc="-50">
                <a:solidFill>
                  <a:srgbClr val="0000CC"/>
                </a:solidFill>
                <a:latin typeface="黑体"/>
                <a:cs typeface="黑体"/>
              </a:rPr>
              <a:t>度</a:t>
            </a:r>
            <a:r>
              <a:rPr dirty="0" sz="2600">
                <a:solidFill>
                  <a:srgbClr val="0000CC"/>
                </a:solidFill>
                <a:latin typeface="黑体"/>
                <a:cs typeface="黑体"/>
              </a:rPr>
              <a:t>	（</a:t>
            </a:r>
            <a:r>
              <a:rPr dirty="0" sz="2600">
                <a:solidFill>
                  <a:srgbClr val="FF0000"/>
                </a:solidFill>
                <a:latin typeface="黑体"/>
                <a:cs typeface="黑体"/>
              </a:rPr>
              <a:t>自学</a:t>
            </a:r>
            <a:r>
              <a:rPr dirty="0" sz="2600" spc="-50">
                <a:solidFill>
                  <a:srgbClr val="0000CC"/>
                </a:solidFill>
                <a:latin typeface="黑体"/>
                <a:cs typeface="黑体"/>
              </a:rPr>
              <a:t>）</a:t>
            </a:r>
            <a:endParaRPr sz="2600">
              <a:latin typeface="黑体"/>
              <a:cs typeface="黑体"/>
            </a:endParaRPr>
          </a:p>
          <a:p>
            <a:pPr>
              <a:lnSpc>
                <a:spcPct val="100000"/>
              </a:lnSpc>
              <a:spcBef>
                <a:spcPts val="525"/>
              </a:spcBef>
            </a:pPr>
            <a:endParaRPr sz="2600">
              <a:latin typeface="黑体"/>
              <a:cs typeface="黑体"/>
            </a:endParaRPr>
          </a:p>
          <a:p>
            <a:pPr marL="12700">
              <a:lnSpc>
                <a:spcPct val="100000"/>
              </a:lnSpc>
            </a:pPr>
            <a:r>
              <a:rPr dirty="0" sz="2400" spc="-30">
                <a:solidFill>
                  <a:srgbClr val="E14B04"/>
                </a:solidFill>
                <a:latin typeface="黑体"/>
                <a:cs typeface="黑体"/>
              </a:rPr>
              <a:t>概述</a:t>
            </a:r>
            <a:endParaRPr sz="2400">
              <a:latin typeface="黑体"/>
              <a:cs typeface="黑体"/>
            </a:endParaRPr>
          </a:p>
          <a:p>
            <a:pPr algn="just" marL="1097280" marR="148590" indent="-455930">
              <a:lnSpc>
                <a:spcPct val="110000"/>
              </a:lnSpc>
              <a:spcBef>
                <a:spcPts val="620"/>
              </a:spcBef>
              <a:buClr>
                <a:srgbClr val="40458B"/>
              </a:buClr>
              <a:buSzPct val="89285"/>
              <a:buFont typeface="Wingdings"/>
              <a:buChar char=""/>
              <a:tabLst>
                <a:tab pos="1097280" algn="l"/>
              </a:tabLst>
            </a:pPr>
            <a:r>
              <a:rPr dirty="0" sz="2800" spc="-35">
                <a:solidFill>
                  <a:srgbClr val="0000CC"/>
                </a:solidFill>
                <a:latin typeface="黑体"/>
                <a:cs typeface="黑体"/>
              </a:rPr>
              <a:t>在踪迹调度中，如果</a:t>
            </a:r>
            <a:r>
              <a:rPr dirty="0" sz="2800" spc="-10">
                <a:solidFill>
                  <a:srgbClr val="0000CC"/>
                </a:solidFill>
                <a:latin typeface="Times New Roman"/>
                <a:cs typeface="Times New Roman"/>
              </a:rPr>
              <a:t>trace</a:t>
            </a:r>
            <a:r>
              <a:rPr dirty="0" sz="2800" spc="-35">
                <a:solidFill>
                  <a:srgbClr val="0000CC"/>
                </a:solidFill>
                <a:latin typeface="黑体"/>
                <a:cs typeface="黑体"/>
              </a:rPr>
              <a:t>入口或出口位于</a:t>
            </a:r>
            <a:r>
              <a:rPr dirty="0" sz="2800" spc="-10">
                <a:solidFill>
                  <a:srgbClr val="0000CC"/>
                </a:solidFill>
                <a:latin typeface="Times New Roman"/>
                <a:cs typeface="Times New Roman"/>
              </a:rPr>
              <a:t>trace</a:t>
            </a:r>
            <a:r>
              <a:rPr dirty="0" sz="2800" spc="-40">
                <a:solidFill>
                  <a:srgbClr val="0000CC"/>
                </a:solidFill>
                <a:latin typeface="黑体"/>
                <a:cs typeface="黑体"/>
              </a:rPr>
              <a:t>内部，编译器生成补偿代码的难度将大大增加，而且编译器很难评估这些补偿代码究竟会带来多少性能损失。</a:t>
            </a:r>
            <a:endParaRPr sz="2800">
              <a:latin typeface="黑体"/>
              <a:cs typeface="黑体"/>
            </a:endParaRPr>
          </a:p>
          <a:p>
            <a:pPr algn="just" marL="1097280" marR="5080" indent="-455930">
              <a:lnSpc>
                <a:spcPct val="110000"/>
              </a:lnSpc>
              <a:spcBef>
                <a:spcPts val="675"/>
              </a:spcBef>
              <a:buClr>
                <a:srgbClr val="40458B"/>
              </a:buClr>
              <a:buSzPct val="89285"/>
              <a:buFont typeface="Wingdings"/>
              <a:buChar char=""/>
              <a:tabLst>
                <a:tab pos="1097280" algn="l"/>
              </a:tabLst>
            </a:pPr>
            <a:r>
              <a:rPr dirty="0" sz="2800" spc="-25">
                <a:solidFill>
                  <a:srgbClr val="FF0000"/>
                </a:solidFill>
                <a:latin typeface="黑体"/>
                <a:cs typeface="黑体"/>
              </a:rPr>
              <a:t>超块</a:t>
            </a:r>
            <a:r>
              <a:rPr dirty="0" sz="2800" spc="-10">
                <a:solidFill>
                  <a:srgbClr val="0000CC"/>
                </a:solidFill>
                <a:latin typeface="黑体"/>
                <a:cs typeface="黑体"/>
              </a:rPr>
              <a:t>（</a:t>
            </a:r>
            <a:r>
              <a:rPr dirty="0" sz="2800" spc="-10">
                <a:solidFill>
                  <a:srgbClr val="0000CC"/>
                </a:solidFill>
                <a:latin typeface="Times New Roman"/>
                <a:cs typeface="Times New Roman"/>
              </a:rPr>
              <a:t>superblock</a:t>
            </a:r>
            <a:r>
              <a:rPr dirty="0" sz="2800" spc="-10">
                <a:solidFill>
                  <a:srgbClr val="0000CC"/>
                </a:solidFill>
                <a:latin typeface="黑体"/>
                <a:cs typeface="黑体"/>
              </a:rPr>
              <a:t>）</a:t>
            </a:r>
            <a:r>
              <a:rPr dirty="0" sz="2800" spc="-40">
                <a:solidFill>
                  <a:srgbClr val="0000CC"/>
                </a:solidFill>
                <a:latin typeface="黑体"/>
                <a:cs typeface="黑体"/>
              </a:rPr>
              <a:t>是只能拥有一个入口，但可以拥有多个出口的结构</a:t>
            </a:r>
            <a:endParaRPr sz="2800">
              <a:latin typeface="黑体"/>
              <a:cs typeface="黑体"/>
            </a:endParaRPr>
          </a:p>
          <a:p>
            <a:pPr algn="just" marL="1097280" indent="-455295">
              <a:lnSpc>
                <a:spcPct val="100000"/>
              </a:lnSpc>
              <a:spcBef>
                <a:spcPts val="1010"/>
              </a:spcBef>
              <a:buClr>
                <a:srgbClr val="40458B"/>
              </a:buClr>
              <a:buSzPct val="89285"/>
              <a:buFont typeface="Wingdings"/>
              <a:buChar char=""/>
              <a:tabLst>
                <a:tab pos="1097280" algn="l"/>
              </a:tabLst>
            </a:pPr>
            <a:r>
              <a:rPr dirty="0" sz="2800" spc="-35">
                <a:solidFill>
                  <a:srgbClr val="0000CC"/>
                </a:solidFill>
                <a:latin typeface="黑体"/>
                <a:cs typeface="黑体"/>
              </a:rPr>
              <a:t>超块的构造过程与</a:t>
            </a:r>
            <a:r>
              <a:rPr dirty="0" sz="2800" spc="-10">
                <a:solidFill>
                  <a:srgbClr val="0000CC"/>
                </a:solidFill>
                <a:latin typeface="Times New Roman"/>
                <a:cs typeface="Times New Roman"/>
              </a:rPr>
              <a:t>trace</a:t>
            </a:r>
            <a:r>
              <a:rPr dirty="0" sz="2800" spc="-40">
                <a:solidFill>
                  <a:srgbClr val="0000CC"/>
                </a:solidFill>
                <a:latin typeface="黑体"/>
                <a:cs typeface="黑体"/>
              </a:rPr>
              <a:t>相似，但怎样确保只有一个入口？</a:t>
            </a:r>
            <a:endParaRPr sz="2800">
              <a:latin typeface="黑体"/>
              <a:cs typeface="黑体"/>
            </a:endParaRPr>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833119" algn="l"/>
                <a:tab pos="10788015" algn="l"/>
              </a:tabLst>
            </a:pPr>
            <a:r>
              <a:rPr dirty="0"/>
              <a:t>	6.2</a:t>
            </a:r>
            <a:r>
              <a:rPr dirty="0" spc="-15"/>
              <a:t> </a:t>
            </a:r>
            <a:r>
              <a:rPr dirty="0"/>
              <a:t>跨越基</a:t>
            </a:r>
            <a:r>
              <a:rPr dirty="0" spc="-25"/>
              <a:t>本</a:t>
            </a:r>
            <a:r>
              <a:rPr dirty="0"/>
              <a:t>块的</a:t>
            </a:r>
            <a:r>
              <a:rPr dirty="0" spc="-20"/>
              <a:t>静</a:t>
            </a:r>
            <a:r>
              <a:rPr dirty="0"/>
              <a:t>态指</a:t>
            </a:r>
            <a:r>
              <a:rPr dirty="0" spc="-20"/>
              <a:t>令</a:t>
            </a:r>
            <a:r>
              <a:rPr dirty="0"/>
              <a:t>调</a:t>
            </a:r>
            <a:r>
              <a:rPr dirty="0" spc="-50"/>
              <a:t>度</a:t>
            </a:r>
            <a:r>
              <a:rPr dirty="0"/>
              <a:t>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39/89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grpSp>
        <p:nvGrpSpPr>
          <p:cNvPr id="9" name="object 9" descr=""/>
          <p:cNvGrpSpPr/>
          <p:nvPr/>
        </p:nvGrpSpPr>
        <p:grpSpPr>
          <a:xfrm>
            <a:off x="7610522" y="347430"/>
            <a:ext cx="3062605" cy="4166235"/>
            <a:chOff x="7610522" y="347430"/>
            <a:chExt cx="3062605" cy="4166235"/>
          </a:xfrm>
        </p:grpSpPr>
        <p:sp>
          <p:nvSpPr>
            <p:cNvPr id="10" name="object 10" descr=""/>
            <p:cNvSpPr/>
            <p:nvPr/>
          </p:nvSpPr>
          <p:spPr>
            <a:xfrm>
              <a:off x="9191625" y="2349500"/>
              <a:ext cx="1476375" cy="2159000"/>
            </a:xfrm>
            <a:custGeom>
              <a:avLst/>
              <a:gdLst/>
              <a:ahLst/>
              <a:cxnLst/>
              <a:rect l="l" t="t" r="r" b="b"/>
              <a:pathLst>
                <a:path w="1476375" h="2159000">
                  <a:moveTo>
                    <a:pt x="1476375" y="0"/>
                  </a:moveTo>
                  <a:lnTo>
                    <a:pt x="0" y="0"/>
                  </a:lnTo>
                  <a:lnTo>
                    <a:pt x="0" y="2159000"/>
                  </a:lnTo>
                  <a:lnTo>
                    <a:pt x="1476375" y="2159000"/>
                  </a:lnTo>
                  <a:lnTo>
                    <a:pt x="1476375" y="0"/>
                  </a:lnTo>
                  <a:close/>
                </a:path>
              </a:pathLst>
            </a:custGeom>
            <a:solidFill>
              <a:srgbClr val="EBD782"/>
            </a:solidFill>
          </p:spPr>
          <p:txBody>
            <a:bodyPr wrap="square" lIns="0" tIns="0" rIns="0" bIns="0" rtlCol="0"/>
            <a:lstStyle/>
            <a:p/>
          </p:txBody>
        </p:sp>
        <p:sp>
          <p:nvSpPr>
            <p:cNvPr id="11" name="object 11" descr=""/>
            <p:cNvSpPr/>
            <p:nvPr/>
          </p:nvSpPr>
          <p:spPr>
            <a:xfrm>
              <a:off x="9191625" y="2349500"/>
              <a:ext cx="1476375" cy="2159000"/>
            </a:xfrm>
            <a:custGeom>
              <a:avLst/>
              <a:gdLst/>
              <a:ahLst/>
              <a:cxnLst/>
              <a:rect l="l" t="t" r="r" b="b"/>
              <a:pathLst>
                <a:path w="1476375" h="2159000">
                  <a:moveTo>
                    <a:pt x="0" y="2159000"/>
                  </a:moveTo>
                  <a:lnTo>
                    <a:pt x="1476375" y="2159000"/>
                  </a:lnTo>
                  <a:lnTo>
                    <a:pt x="1476375" y="0"/>
                  </a:lnTo>
                  <a:lnTo>
                    <a:pt x="0" y="0"/>
                  </a:lnTo>
                  <a:lnTo>
                    <a:pt x="0" y="2159000"/>
                  </a:lnTo>
                  <a:close/>
                </a:path>
              </a:pathLst>
            </a:custGeom>
            <a:ln w="9525">
              <a:solidFill>
                <a:srgbClr val="40458B"/>
              </a:solidFill>
            </a:ln>
          </p:spPr>
          <p:txBody>
            <a:bodyPr wrap="square" lIns="0" tIns="0" rIns="0" bIns="0" rtlCol="0"/>
            <a:lstStyle/>
            <a:p/>
          </p:txBody>
        </p:sp>
        <p:sp>
          <p:nvSpPr>
            <p:cNvPr id="12" name="object 12" descr=""/>
            <p:cNvSpPr/>
            <p:nvPr/>
          </p:nvSpPr>
          <p:spPr>
            <a:xfrm>
              <a:off x="7614014" y="350922"/>
              <a:ext cx="923290" cy="191770"/>
            </a:xfrm>
            <a:custGeom>
              <a:avLst/>
              <a:gdLst/>
              <a:ahLst/>
              <a:cxnLst/>
              <a:rect l="l" t="t" r="r" b="b"/>
              <a:pathLst>
                <a:path w="923290" h="191770">
                  <a:moveTo>
                    <a:pt x="922826" y="0"/>
                  </a:moveTo>
                  <a:lnTo>
                    <a:pt x="0" y="0"/>
                  </a:lnTo>
                  <a:lnTo>
                    <a:pt x="0" y="191257"/>
                  </a:lnTo>
                  <a:lnTo>
                    <a:pt x="922826" y="191257"/>
                  </a:lnTo>
                  <a:lnTo>
                    <a:pt x="922826" y="0"/>
                  </a:lnTo>
                  <a:close/>
                </a:path>
              </a:pathLst>
            </a:custGeom>
            <a:solidFill>
              <a:srgbClr val="FFFFFF"/>
            </a:solidFill>
          </p:spPr>
          <p:txBody>
            <a:bodyPr wrap="square" lIns="0" tIns="0" rIns="0" bIns="0" rtlCol="0"/>
            <a:lstStyle/>
            <a:p/>
          </p:txBody>
        </p:sp>
        <p:sp>
          <p:nvSpPr>
            <p:cNvPr id="13" name="object 13" descr=""/>
            <p:cNvSpPr/>
            <p:nvPr/>
          </p:nvSpPr>
          <p:spPr>
            <a:xfrm>
              <a:off x="7614014" y="350922"/>
              <a:ext cx="923290" cy="191770"/>
            </a:xfrm>
            <a:custGeom>
              <a:avLst/>
              <a:gdLst/>
              <a:ahLst/>
              <a:cxnLst/>
              <a:rect l="l" t="t" r="r" b="b"/>
              <a:pathLst>
                <a:path w="923290" h="191770">
                  <a:moveTo>
                    <a:pt x="0" y="191257"/>
                  </a:moveTo>
                  <a:lnTo>
                    <a:pt x="922826" y="191257"/>
                  </a:lnTo>
                  <a:lnTo>
                    <a:pt x="922826" y="0"/>
                  </a:lnTo>
                  <a:lnTo>
                    <a:pt x="0" y="0"/>
                  </a:lnTo>
                  <a:lnTo>
                    <a:pt x="0" y="191257"/>
                  </a:lnTo>
                  <a:close/>
                </a:path>
              </a:pathLst>
            </a:custGeom>
            <a:ln w="6975">
              <a:solidFill>
                <a:srgbClr val="000000"/>
              </a:solidFill>
            </a:ln>
          </p:spPr>
          <p:txBody>
            <a:bodyPr wrap="square" lIns="0" tIns="0" rIns="0" bIns="0" rtlCol="0"/>
            <a:lstStyle/>
            <a:p/>
          </p:txBody>
        </p:sp>
      </p:grpSp>
      <p:sp>
        <p:nvSpPr>
          <p:cNvPr id="14" name="object 14" descr=""/>
          <p:cNvSpPr txBox="1"/>
          <p:nvPr/>
        </p:nvSpPr>
        <p:spPr>
          <a:xfrm>
            <a:off x="2287270" y="1155953"/>
            <a:ext cx="3779520" cy="391160"/>
          </a:xfrm>
          <a:prstGeom prst="rect">
            <a:avLst/>
          </a:prstGeom>
        </p:spPr>
        <p:txBody>
          <a:bodyPr wrap="square" lIns="0" tIns="12700" rIns="0" bIns="0" rtlCol="0" vert="horz">
            <a:spAutoFit/>
          </a:bodyPr>
          <a:lstStyle/>
          <a:p>
            <a:pPr marL="12700">
              <a:lnSpc>
                <a:spcPct val="100000"/>
              </a:lnSpc>
              <a:spcBef>
                <a:spcPts val="100"/>
              </a:spcBef>
              <a:tabLst>
                <a:tab pos="467995" algn="l"/>
              </a:tabLst>
            </a:pPr>
            <a:r>
              <a:rPr dirty="0" sz="2400" spc="-25">
                <a:solidFill>
                  <a:srgbClr val="40458B"/>
                </a:solidFill>
                <a:latin typeface="Tahoma"/>
                <a:cs typeface="Tahoma"/>
              </a:rPr>
              <a:t>2.</a:t>
            </a:r>
            <a:r>
              <a:rPr dirty="0" sz="2400">
                <a:solidFill>
                  <a:srgbClr val="40458B"/>
                </a:solidFill>
                <a:latin typeface="Tahoma"/>
                <a:cs typeface="Tahoma"/>
              </a:rPr>
              <a:t>	</a:t>
            </a:r>
            <a:r>
              <a:rPr dirty="0" sz="2400">
                <a:solidFill>
                  <a:srgbClr val="E14B04"/>
                </a:solidFill>
                <a:latin typeface="黑体"/>
                <a:cs typeface="黑体"/>
              </a:rPr>
              <a:t>超块构造</a:t>
            </a:r>
            <a:r>
              <a:rPr dirty="0" sz="2400" spc="-30">
                <a:solidFill>
                  <a:srgbClr val="E14B04"/>
                </a:solidFill>
                <a:latin typeface="Tahoma"/>
                <a:cs typeface="Tahoma"/>
              </a:rPr>
              <a:t>——</a:t>
            </a:r>
            <a:r>
              <a:rPr dirty="0" sz="2400" spc="-10">
                <a:solidFill>
                  <a:srgbClr val="FF0000"/>
                </a:solidFill>
                <a:latin typeface="黑体"/>
                <a:cs typeface="黑体"/>
              </a:rPr>
              <a:t>尾复制技术</a:t>
            </a:r>
            <a:endParaRPr sz="2400">
              <a:latin typeface="黑体"/>
              <a:cs typeface="黑体"/>
            </a:endParaRPr>
          </a:p>
        </p:txBody>
      </p:sp>
      <p:sp>
        <p:nvSpPr>
          <p:cNvPr id="15" name="object 15"/>
          <p:cNvSpPr txBox="1">
            <a:spLocks noGrp="1"/>
          </p:cNvSpPr>
          <p:nvPr>
            <p:ph type="title"/>
          </p:nvPr>
        </p:nvSpPr>
        <p:spPr>
          <a:xfrm>
            <a:off x="1745995" y="77470"/>
            <a:ext cx="5716270" cy="513715"/>
          </a:xfrm>
          <a:prstGeom prst="rect"/>
        </p:spPr>
        <p:txBody>
          <a:bodyPr wrap="square" lIns="0" tIns="12700" rIns="0" bIns="0" rtlCol="0" vert="horz">
            <a:spAutoFit/>
          </a:bodyPr>
          <a:lstStyle/>
          <a:p>
            <a:pPr marL="12700">
              <a:lnSpc>
                <a:spcPct val="100000"/>
              </a:lnSpc>
              <a:spcBef>
                <a:spcPts val="100"/>
              </a:spcBef>
            </a:pPr>
            <a:r>
              <a:rPr dirty="0" u="none"/>
              <a:t>6.2</a:t>
            </a:r>
            <a:r>
              <a:rPr dirty="0" u="none" spc="-20"/>
              <a:t> 跨越基本块的静态指令调度</a:t>
            </a:r>
          </a:p>
        </p:txBody>
      </p:sp>
      <p:grpSp>
        <p:nvGrpSpPr>
          <p:cNvPr id="16" name="object 16" descr=""/>
          <p:cNvGrpSpPr/>
          <p:nvPr/>
        </p:nvGrpSpPr>
        <p:grpSpPr>
          <a:xfrm>
            <a:off x="4030774" y="1805105"/>
            <a:ext cx="2275205" cy="4095750"/>
            <a:chOff x="4030774" y="1805105"/>
            <a:chExt cx="2275205" cy="4095750"/>
          </a:xfrm>
        </p:grpSpPr>
        <p:sp>
          <p:nvSpPr>
            <p:cNvPr id="17" name="object 17" descr=""/>
            <p:cNvSpPr/>
            <p:nvPr/>
          </p:nvSpPr>
          <p:spPr>
            <a:xfrm>
              <a:off x="4037124" y="1811455"/>
              <a:ext cx="1892300" cy="4083050"/>
            </a:xfrm>
            <a:custGeom>
              <a:avLst/>
              <a:gdLst/>
              <a:ahLst/>
              <a:cxnLst/>
              <a:rect l="l" t="t" r="r" b="b"/>
              <a:pathLst>
                <a:path w="1892300" h="4083050">
                  <a:moveTo>
                    <a:pt x="832065" y="0"/>
                  </a:moveTo>
                  <a:lnTo>
                    <a:pt x="781569" y="3825"/>
                  </a:lnTo>
                  <a:lnTo>
                    <a:pt x="731980" y="11996"/>
                  </a:lnTo>
                  <a:lnTo>
                    <a:pt x="683866" y="24738"/>
                  </a:lnTo>
                  <a:lnTo>
                    <a:pt x="637794" y="42279"/>
                  </a:lnTo>
                  <a:lnTo>
                    <a:pt x="594332" y="64845"/>
                  </a:lnTo>
                  <a:lnTo>
                    <a:pt x="554049" y="92665"/>
                  </a:lnTo>
                  <a:lnTo>
                    <a:pt x="519652" y="123590"/>
                  </a:lnTo>
                  <a:lnTo>
                    <a:pt x="488674" y="158904"/>
                  </a:lnTo>
                  <a:lnTo>
                    <a:pt x="461247" y="198188"/>
                  </a:lnTo>
                  <a:lnTo>
                    <a:pt x="437506" y="241025"/>
                  </a:lnTo>
                  <a:lnTo>
                    <a:pt x="417583" y="286997"/>
                  </a:lnTo>
                  <a:lnTo>
                    <a:pt x="401612" y="335688"/>
                  </a:lnTo>
                  <a:lnTo>
                    <a:pt x="389726" y="386680"/>
                  </a:lnTo>
                  <a:lnTo>
                    <a:pt x="382057" y="439555"/>
                  </a:lnTo>
                  <a:lnTo>
                    <a:pt x="378739" y="493895"/>
                  </a:lnTo>
                  <a:lnTo>
                    <a:pt x="379373" y="541532"/>
                  </a:lnTo>
                  <a:lnTo>
                    <a:pt x="382857" y="589886"/>
                  </a:lnTo>
                  <a:lnTo>
                    <a:pt x="388731" y="638909"/>
                  </a:lnTo>
                  <a:lnTo>
                    <a:pt x="396532" y="688551"/>
                  </a:lnTo>
                  <a:lnTo>
                    <a:pt x="405799" y="738763"/>
                  </a:lnTo>
                  <a:lnTo>
                    <a:pt x="416072" y="789496"/>
                  </a:lnTo>
                  <a:lnTo>
                    <a:pt x="437789" y="892329"/>
                  </a:lnTo>
                  <a:lnTo>
                    <a:pt x="448310" y="944331"/>
                  </a:lnTo>
                  <a:lnTo>
                    <a:pt x="457991" y="996658"/>
                  </a:lnTo>
                  <a:lnTo>
                    <a:pt x="466371" y="1049261"/>
                  </a:lnTo>
                  <a:lnTo>
                    <a:pt x="472382" y="1095810"/>
                  </a:lnTo>
                  <a:lnTo>
                    <a:pt x="477163" y="1142573"/>
                  </a:lnTo>
                  <a:lnTo>
                    <a:pt x="480846" y="1189592"/>
                  </a:lnTo>
                  <a:lnTo>
                    <a:pt x="483567" y="1236911"/>
                  </a:lnTo>
                  <a:lnTo>
                    <a:pt x="485459" y="1284576"/>
                  </a:lnTo>
                  <a:lnTo>
                    <a:pt x="486658" y="1332629"/>
                  </a:lnTo>
                  <a:lnTo>
                    <a:pt x="487296" y="1381115"/>
                  </a:lnTo>
                  <a:lnTo>
                    <a:pt x="487430" y="1479564"/>
                  </a:lnTo>
                  <a:lnTo>
                    <a:pt x="486791" y="1631588"/>
                  </a:lnTo>
                  <a:lnTo>
                    <a:pt x="486890" y="1683600"/>
                  </a:lnTo>
                  <a:lnTo>
                    <a:pt x="487370" y="1736353"/>
                  </a:lnTo>
                  <a:lnTo>
                    <a:pt x="488364" y="1789893"/>
                  </a:lnTo>
                  <a:lnTo>
                    <a:pt x="491658" y="1905406"/>
                  </a:lnTo>
                  <a:lnTo>
                    <a:pt x="492639" y="1962030"/>
                  </a:lnTo>
                  <a:lnTo>
                    <a:pt x="492229" y="2016542"/>
                  </a:lnTo>
                  <a:lnTo>
                    <a:pt x="489719" y="2067927"/>
                  </a:lnTo>
                  <a:lnTo>
                    <a:pt x="484397" y="2115168"/>
                  </a:lnTo>
                  <a:lnTo>
                    <a:pt x="475556" y="2157249"/>
                  </a:lnTo>
                  <a:lnTo>
                    <a:pt x="462483" y="2193153"/>
                  </a:lnTo>
                  <a:lnTo>
                    <a:pt x="412124" y="2248220"/>
                  </a:lnTo>
                  <a:lnTo>
                    <a:pt x="371961" y="2263399"/>
                  </a:lnTo>
                  <a:lnTo>
                    <a:pt x="326247" y="2270875"/>
                  </a:lnTo>
                  <a:lnTo>
                    <a:pt x="277250" y="2274126"/>
                  </a:lnTo>
                  <a:lnTo>
                    <a:pt x="227234" y="2276626"/>
                  </a:lnTo>
                  <a:lnTo>
                    <a:pt x="178467" y="2281853"/>
                  </a:lnTo>
                  <a:lnTo>
                    <a:pt x="133216" y="2293281"/>
                  </a:lnTo>
                  <a:lnTo>
                    <a:pt x="93745" y="2314388"/>
                  </a:lnTo>
                  <a:lnTo>
                    <a:pt x="51500" y="2363944"/>
                  </a:lnTo>
                  <a:lnTo>
                    <a:pt x="22972" y="2434594"/>
                  </a:lnTo>
                  <a:lnTo>
                    <a:pt x="13299" y="2476510"/>
                  </a:lnTo>
                  <a:lnTo>
                    <a:pt x="6393" y="2522118"/>
                  </a:lnTo>
                  <a:lnTo>
                    <a:pt x="2034" y="2570891"/>
                  </a:lnTo>
                  <a:lnTo>
                    <a:pt x="0" y="2622300"/>
                  </a:lnTo>
                  <a:lnTo>
                    <a:pt x="70" y="2675819"/>
                  </a:lnTo>
                  <a:lnTo>
                    <a:pt x="2025" y="2730921"/>
                  </a:lnTo>
                  <a:lnTo>
                    <a:pt x="5643" y="2787077"/>
                  </a:lnTo>
                  <a:lnTo>
                    <a:pt x="10704" y="2843762"/>
                  </a:lnTo>
                  <a:lnTo>
                    <a:pt x="16987" y="2900448"/>
                  </a:lnTo>
                  <a:lnTo>
                    <a:pt x="24271" y="2956607"/>
                  </a:lnTo>
                  <a:lnTo>
                    <a:pt x="32336" y="3011712"/>
                  </a:lnTo>
                  <a:lnTo>
                    <a:pt x="40960" y="3065236"/>
                  </a:lnTo>
                  <a:lnTo>
                    <a:pt x="49924" y="3116652"/>
                  </a:lnTo>
                  <a:lnTo>
                    <a:pt x="62102" y="3180939"/>
                  </a:lnTo>
                  <a:lnTo>
                    <a:pt x="74792" y="3240641"/>
                  </a:lnTo>
                  <a:lnTo>
                    <a:pt x="88297" y="3295812"/>
                  </a:lnTo>
                  <a:lnTo>
                    <a:pt x="102920" y="3346508"/>
                  </a:lnTo>
                  <a:lnTo>
                    <a:pt x="118965" y="3392782"/>
                  </a:lnTo>
                  <a:lnTo>
                    <a:pt x="136734" y="3434690"/>
                  </a:lnTo>
                  <a:lnTo>
                    <a:pt x="156532" y="3472287"/>
                  </a:lnTo>
                  <a:lnTo>
                    <a:pt x="178661" y="3505627"/>
                  </a:lnTo>
                  <a:lnTo>
                    <a:pt x="203425" y="3534764"/>
                  </a:lnTo>
                  <a:lnTo>
                    <a:pt x="262070" y="3580651"/>
                  </a:lnTo>
                  <a:lnTo>
                    <a:pt x="296557" y="3597510"/>
                  </a:lnTo>
                  <a:lnTo>
                    <a:pt x="334892" y="3610385"/>
                  </a:lnTo>
                  <a:lnTo>
                    <a:pt x="383049" y="3620523"/>
                  </a:lnTo>
                  <a:lnTo>
                    <a:pt x="434876" y="3627431"/>
                  </a:lnTo>
                  <a:lnTo>
                    <a:pt x="542869" y="3638837"/>
                  </a:lnTo>
                  <a:lnTo>
                    <a:pt x="595699" y="3646977"/>
                  </a:lnTo>
                  <a:lnTo>
                    <a:pt x="645528" y="3659170"/>
                  </a:lnTo>
                  <a:lnTo>
                    <a:pt x="690689" y="3677236"/>
                  </a:lnTo>
                  <a:lnTo>
                    <a:pt x="729514" y="3702997"/>
                  </a:lnTo>
                  <a:lnTo>
                    <a:pt x="762391" y="3739337"/>
                  </a:lnTo>
                  <a:lnTo>
                    <a:pt x="789219" y="3782627"/>
                  </a:lnTo>
                  <a:lnTo>
                    <a:pt x="812756" y="3829345"/>
                  </a:lnTo>
                  <a:lnTo>
                    <a:pt x="835761" y="3875964"/>
                  </a:lnTo>
                  <a:lnTo>
                    <a:pt x="860992" y="3918960"/>
                  </a:lnTo>
                  <a:lnTo>
                    <a:pt x="890996" y="3955831"/>
                  </a:lnTo>
                  <a:lnTo>
                    <a:pt x="925702" y="3986171"/>
                  </a:lnTo>
                  <a:lnTo>
                    <a:pt x="964738" y="4010732"/>
                  </a:lnTo>
                  <a:lnTo>
                    <a:pt x="1007727" y="4030267"/>
                  </a:lnTo>
                  <a:lnTo>
                    <a:pt x="1054293" y="4045528"/>
                  </a:lnTo>
                  <a:lnTo>
                    <a:pt x="1104062" y="4057268"/>
                  </a:lnTo>
                  <a:lnTo>
                    <a:pt x="1156658" y="4066239"/>
                  </a:lnTo>
                  <a:lnTo>
                    <a:pt x="1211705" y="4073193"/>
                  </a:lnTo>
                  <a:lnTo>
                    <a:pt x="1268742" y="4078644"/>
                  </a:lnTo>
                  <a:lnTo>
                    <a:pt x="1326214" y="4082069"/>
                  </a:lnTo>
                  <a:lnTo>
                    <a:pt x="1382475" y="4082713"/>
                  </a:lnTo>
                  <a:lnTo>
                    <a:pt x="1435874" y="4079821"/>
                  </a:lnTo>
                  <a:lnTo>
                    <a:pt x="1484763" y="4072636"/>
                  </a:lnTo>
                  <a:lnTo>
                    <a:pt x="1527494" y="4060403"/>
                  </a:lnTo>
                  <a:lnTo>
                    <a:pt x="1562418" y="4042366"/>
                  </a:lnTo>
                  <a:lnTo>
                    <a:pt x="1598478" y="4002351"/>
                  </a:lnTo>
                  <a:lnTo>
                    <a:pt x="1614704" y="3948420"/>
                  </a:lnTo>
                  <a:lnTo>
                    <a:pt x="1616148" y="3916721"/>
                  </a:lnTo>
                  <a:lnTo>
                    <a:pt x="1613556" y="3882126"/>
                  </a:lnTo>
                  <a:lnTo>
                    <a:pt x="1597493" y="3805020"/>
                  </a:lnTo>
                  <a:lnTo>
                    <a:pt x="1584637" y="3762898"/>
                  </a:lnTo>
                  <a:lnTo>
                    <a:pt x="1568975" y="3718655"/>
                  </a:lnTo>
                  <a:lnTo>
                    <a:pt x="1550814" y="3672486"/>
                  </a:lnTo>
                  <a:lnTo>
                    <a:pt x="1530461" y="3624584"/>
                  </a:lnTo>
                  <a:lnTo>
                    <a:pt x="1508224" y="3575144"/>
                  </a:lnTo>
                  <a:lnTo>
                    <a:pt x="1484411" y="3524359"/>
                  </a:lnTo>
                  <a:lnTo>
                    <a:pt x="1459329" y="3472424"/>
                  </a:lnTo>
                  <a:lnTo>
                    <a:pt x="1352457" y="3257061"/>
                  </a:lnTo>
                  <a:lnTo>
                    <a:pt x="1325640" y="3202285"/>
                  </a:lnTo>
                  <a:lnTo>
                    <a:pt x="1299399" y="3147523"/>
                  </a:lnTo>
                  <a:lnTo>
                    <a:pt x="1272507" y="3089679"/>
                  </a:lnTo>
                  <a:lnTo>
                    <a:pt x="1246738" y="3032209"/>
                  </a:lnTo>
                  <a:lnTo>
                    <a:pt x="1222222" y="2975254"/>
                  </a:lnTo>
                  <a:lnTo>
                    <a:pt x="1199092" y="2918953"/>
                  </a:lnTo>
                  <a:lnTo>
                    <a:pt x="1177476" y="2863447"/>
                  </a:lnTo>
                  <a:lnTo>
                    <a:pt x="1157507" y="2808878"/>
                  </a:lnTo>
                  <a:lnTo>
                    <a:pt x="1139315" y="2755384"/>
                  </a:lnTo>
                  <a:lnTo>
                    <a:pt x="1123030" y="2703108"/>
                  </a:lnTo>
                  <a:lnTo>
                    <a:pt x="1108785" y="2652189"/>
                  </a:lnTo>
                  <a:lnTo>
                    <a:pt x="1096708" y="2602768"/>
                  </a:lnTo>
                  <a:lnTo>
                    <a:pt x="1086931" y="2554985"/>
                  </a:lnTo>
                  <a:lnTo>
                    <a:pt x="1079586" y="2508982"/>
                  </a:lnTo>
                  <a:lnTo>
                    <a:pt x="1074802" y="2464898"/>
                  </a:lnTo>
                  <a:lnTo>
                    <a:pt x="1072710" y="2422874"/>
                  </a:lnTo>
                  <a:lnTo>
                    <a:pt x="1073442" y="2383051"/>
                  </a:lnTo>
                  <a:lnTo>
                    <a:pt x="1083898" y="2310568"/>
                  </a:lnTo>
                  <a:lnTo>
                    <a:pt x="1107217" y="2248575"/>
                  </a:lnTo>
                  <a:lnTo>
                    <a:pt x="1148765" y="2193760"/>
                  </a:lnTo>
                  <a:lnTo>
                    <a:pt x="1178110" y="2169362"/>
                  </a:lnTo>
                  <a:lnTo>
                    <a:pt x="1211504" y="2148018"/>
                  </a:lnTo>
                  <a:lnTo>
                    <a:pt x="1248387" y="2129075"/>
                  </a:lnTo>
                  <a:lnTo>
                    <a:pt x="1288200" y="2111880"/>
                  </a:lnTo>
                  <a:lnTo>
                    <a:pt x="1330386" y="2095782"/>
                  </a:lnTo>
                  <a:lnTo>
                    <a:pt x="1419638" y="2064261"/>
                  </a:lnTo>
                  <a:lnTo>
                    <a:pt x="1465587" y="2047534"/>
                  </a:lnTo>
                  <a:lnTo>
                    <a:pt x="1511672" y="2029293"/>
                  </a:lnTo>
                  <a:lnTo>
                    <a:pt x="1557336" y="2008885"/>
                  </a:lnTo>
                  <a:lnTo>
                    <a:pt x="1602019" y="1985658"/>
                  </a:lnTo>
                  <a:lnTo>
                    <a:pt x="1645162" y="1958959"/>
                  </a:lnTo>
                  <a:lnTo>
                    <a:pt x="1686207" y="1928135"/>
                  </a:lnTo>
                  <a:lnTo>
                    <a:pt x="1724596" y="1892534"/>
                  </a:lnTo>
                  <a:lnTo>
                    <a:pt x="1759768" y="1851503"/>
                  </a:lnTo>
                  <a:lnTo>
                    <a:pt x="1785815" y="1813574"/>
                  </a:lnTo>
                  <a:lnTo>
                    <a:pt x="1809238" y="1772165"/>
                  </a:lnTo>
                  <a:lnTo>
                    <a:pt x="1829945" y="1727884"/>
                  </a:lnTo>
                  <a:lnTo>
                    <a:pt x="1847846" y="1681342"/>
                  </a:lnTo>
                  <a:lnTo>
                    <a:pt x="1862851" y="1633145"/>
                  </a:lnTo>
                  <a:lnTo>
                    <a:pt x="1874867" y="1583904"/>
                  </a:lnTo>
                  <a:lnTo>
                    <a:pt x="1883804" y="1534226"/>
                  </a:lnTo>
                  <a:lnTo>
                    <a:pt x="1889571" y="1484721"/>
                  </a:lnTo>
                  <a:lnTo>
                    <a:pt x="1892077" y="1435997"/>
                  </a:lnTo>
                  <a:lnTo>
                    <a:pt x="1891231" y="1388663"/>
                  </a:lnTo>
                  <a:lnTo>
                    <a:pt x="1886141" y="1336895"/>
                  </a:lnTo>
                  <a:lnTo>
                    <a:pt x="1876948" y="1287485"/>
                  </a:lnTo>
                  <a:lnTo>
                    <a:pt x="1864043" y="1240171"/>
                  </a:lnTo>
                  <a:lnTo>
                    <a:pt x="1847819" y="1194691"/>
                  </a:lnTo>
                  <a:lnTo>
                    <a:pt x="1828667" y="1150784"/>
                  </a:lnTo>
                  <a:lnTo>
                    <a:pt x="1806981" y="1108189"/>
                  </a:lnTo>
                  <a:lnTo>
                    <a:pt x="1783151" y="1066645"/>
                  </a:lnTo>
                  <a:lnTo>
                    <a:pt x="1757571" y="1025891"/>
                  </a:lnTo>
                  <a:lnTo>
                    <a:pt x="1730632" y="985665"/>
                  </a:lnTo>
                  <a:lnTo>
                    <a:pt x="1702726" y="945706"/>
                  </a:lnTo>
                  <a:lnTo>
                    <a:pt x="1645582" y="865544"/>
                  </a:lnTo>
                  <a:lnTo>
                    <a:pt x="1617129" y="824819"/>
                  </a:lnTo>
                  <a:lnTo>
                    <a:pt x="1589277" y="783315"/>
                  </a:lnTo>
                  <a:lnTo>
                    <a:pt x="1562418" y="740773"/>
                  </a:lnTo>
                  <a:lnTo>
                    <a:pt x="1531101" y="686652"/>
                  </a:lnTo>
                  <a:lnTo>
                    <a:pt x="1501750" y="631271"/>
                  </a:lnTo>
                  <a:lnTo>
                    <a:pt x="1474221" y="575347"/>
                  </a:lnTo>
                  <a:lnTo>
                    <a:pt x="1448372" y="519599"/>
                  </a:lnTo>
                  <a:lnTo>
                    <a:pt x="1424057" y="464747"/>
                  </a:lnTo>
                  <a:lnTo>
                    <a:pt x="1358881" y="312749"/>
                  </a:lnTo>
                  <a:lnTo>
                    <a:pt x="1339265" y="268665"/>
                  </a:lnTo>
                  <a:lnTo>
                    <a:pt x="1320464" y="229069"/>
                  </a:lnTo>
                  <a:lnTo>
                    <a:pt x="1302333" y="194682"/>
                  </a:lnTo>
                  <a:lnTo>
                    <a:pt x="1267508" y="144403"/>
                  </a:lnTo>
                  <a:lnTo>
                    <a:pt x="1233637" y="123579"/>
                  </a:lnTo>
                  <a:lnTo>
                    <a:pt x="1200533" y="98529"/>
                  </a:lnTo>
                  <a:lnTo>
                    <a:pt x="1163226" y="75778"/>
                  </a:lnTo>
                  <a:lnTo>
                    <a:pt x="1122283" y="55554"/>
                  </a:lnTo>
                  <a:lnTo>
                    <a:pt x="1078271" y="38085"/>
                  </a:lnTo>
                  <a:lnTo>
                    <a:pt x="1031759" y="23596"/>
                  </a:lnTo>
                  <a:lnTo>
                    <a:pt x="983315" y="12316"/>
                  </a:lnTo>
                  <a:lnTo>
                    <a:pt x="933506" y="4472"/>
                  </a:lnTo>
                  <a:lnTo>
                    <a:pt x="882900" y="291"/>
                  </a:lnTo>
                  <a:lnTo>
                    <a:pt x="832065" y="0"/>
                  </a:lnTo>
                  <a:close/>
                </a:path>
              </a:pathLst>
            </a:custGeom>
            <a:solidFill>
              <a:srgbClr val="DDDDDD"/>
            </a:solidFill>
          </p:spPr>
          <p:txBody>
            <a:bodyPr wrap="square" lIns="0" tIns="0" rIns="0" bIns="0" rtlCol="0"/>
            <a:lstStyle/>
            <a:p/>
          </p:txBody>
        </p:sp>
        <p:sp>
          <p:nvSpPr>
            <p:cNvPr id="18" name="object 18" descr=""/>
            <p:cNvSpPr/>
            <p:nvPr/>
          </p:nvSpPr>
          <p:spPr>
            <a:xfrm>
              <a:off x="4037124" y="1811455"/>
              <a:ext cx="1892300" cy="4083050"/>
            </a:xfrm>
            <a:custGeom>
              <a:avLst/>
              <a:gdLst/>
              <a:ahLst/>
              <a:cxnLst/>
              <a:rect l="l" t="t" r="r" b="b"/>
              <a:pathLst>
                <a:path w="1892300" h="4083050">
                  <a:moveTo>
                    <a:pt x="1233637" y="123579"/>
                  </a:moveTo>
                  <a:lnTo>
                    <a:pt x="1200533" y="98529"/>
                  </a:lnTo>
                  <a:lnTo>
                    <a:pt x="1163226" y="75778"/>
                  </a:lnTo>
                  <a:lnTo>
                    <a:pt x="1122283" y="55554"/>
                  </a:lnTo>
                  <a:lnTo>
                    <a:pt x="1078271" y="38085"/>
                  </a:lnTo>
                  <a:lnTo>
                    <a:pt x="1031759" y="23596"/>
                  </a:lnTo>
                  <a:lnTo>
                    <a:pt x="983315" y="12316"/>
                  </a:lnTo>
                  <a:lnTo>
                    <a:pt x="933506" y="4472"/>
                  </a:lnTo>
                  <a:lnTo>
                    <a:pt x="882900" y="291"/>
                  </a:lnTo>
                  <a:lnTo>
                    <a:pt x="832065" y="0"/>
                  </a:lnTo>
                  <a:lnTo>
                    <a:pt x="781569" y="3825"/>
                  </a:lnTo>
                  <a:lnTo>
                    <a:pt x="731980" y="11996"/>
                  </a:lnTo>
                  <a:lnTo>
                    <a:pt x="683866" y="24738"/>
                  </a:lnTo>
                  <a:lnTo>
                    <a:pt x="637794" y="42279"/>
                  </a:lnTo>
                  <a:lnTo>
                    <a:pt x="594332" y="64845"/>
                  </a:lnTo>
                  <a:lnTo>
                    <a:pt x="554049" y="92665"/>
                  </a:lnTo>
                  <a:lnTo>
                    <a:pt x="519652" y="123590"/>
                  </a:lnTo>
                  <a:lnTo>
                    <a:pt x="488674" y="158904"/>
                  </a:lnTo>
                  <a:lnTo>
                    <a:pt x="461247" y="198188"/>
                  </a:lnTo>
                  <a:lnTo>
                    <a:pt x="437506" y="241025"/>
                  </a:lnTo>
                  <a:lnTo>
                    <a:pt x="417583" y="286997"/>
                  </a:lnTo>
                  <a:lnTo>
                    <a:pt x="401612" y="335688"/>
                  </a:lnTo>
                  <a:lnTo>
                    <a:pt x="389726" y="386680"/>
                  </a:lnTo>
                  <a:lnTo>
                    <a:pt x="382057" y="439555"/>
                  </a:lnTo>
                  <a:lnTo>
                    <a:pt x="378739" y="493895"/>
                  </a:lnTo>
                  <a:lnTo>
                    <a:pt x="379373" y="541532"/>
                  </a:lnTo>
                  <a:lnTo>
                    <a:pt x="382857" y="589886"/>
                  </a:lnTo>
                  <a:lnTo>
                    <a:pt x="388731" y="638909"/>
                  </a:lnTo>
                  <a:lnTo>
                    <a:pt x="396532" y="688551"/>
                  </a:lnTo>
                  <a:lnTo>
                    <a:pt x="405799" y="738763"/>
                  </a:lnTo>
                  <a:lnTo>
                    <a:pt x="416072" y="789496"/>
                  </a:lnTo>
                  <a:lnTo>
                    <a:pt x="426889" y="840701"/>
                  </a:lnTo>
                  <a:lnTo>
                    <a:pt x="437789" y="892329"/>
                  </a:lnTo>
                  <a:lnTo>
                    <a:pt x="448310" y="944331"/>
                  </a:lnTo>
                  <a:lnTo>
                    <a:pt x="457991" y="996658"/>
                  </a:lnTo>
                  <a:lnTo>
                    <a:pt x="466371" y="1049261"/>
                  </a:lnTo>
                  <a:lnTo>
                    <a:pt x="472382" y="1095810"/>
                  </a:lnTo>
                  <a:lnTo>
                    <a:pt x="477163" y="1142573"/>
                  </a:lnTo>
                  <a:lnTo>
                    <a:pt x="480846" y="1189592"/>
                  </a:lnTo>
                  <a:lnTo>
                    <a:pt x="483567" y="1236911"/>
                  </a:lnTo>
                  <a:lnTo>
                    <a:pt x="485459" y="1284576"/>
                  </a:lnTo>
                  <a:lnTo>
                    <a:pt x="486658" y="1332629"/>
                  </a:lnTo>
                  <a:lnTo>
                    <a:pt x="487296" y="1381115"/>
                  </a:lnTo>
                  <a:lnTo>
                    <a:pt x="487509" y="1430079"/>
                  </a:lnTo>
                  <a:lnTo>
                    <a:pt x="487430" y="1479564"/>
                  </a:lnTo>
                  <a:lnTo>
                    <a:pt x="487195" y="1529615"/>
                  </a:lnTo>
                  <a:lnTo>
                    <a:pt x="486937" y="1580275"/>
                  </a:lnTo>
                  <a:lnTo>
                    <a:pt x="486791" y="1631588"/>
                  </a:lnTo>
                  <a:lnTo>
                    <a:pt x="486890" y="1683600"/>
                  </a:lnTo>
                  <a:lnTo>
                    <a:pt x="487370" y="1736353"/>
                  </a:lnTo>
                  <a:lnTo>
                    <a:pt x="488364" y="1789893"/>
                  </a:lnTo>
                  <a:lnTo>
                    <a:pt x="489996" y="1847689"/>
                  </a:lnTo>
                  <a:lnTo>
                    <a:pt x="491658" y="1905406"/>
                  </a:lnTo>
                  <a:lnTo>
                    <a:pt x="492639" y="1962030"/>
                  </a:lnTo>
                  <a:lnTo>
                    <a:pt x="492229" y="2016542"/>
                  </a:lnTo>
                  <a:lnTo>
                    <a:pt x="489719" y="2067927"/>
                  </a:lnTo>
                  <a:lnTo>
                    <a:pt x="484397" y="2115168"/>
                  </a:lnTo>
                  <a:lnTo>
                    <a:pt x="475556" y="2157249"/>
                  </a:lnTo>
                  <a:lnTo>
                    <a:pt x="462483" y="2193153"/>
                  </a:lnTo>
                  <a:lnTo>
                    <a:pt x="412124" y="2248220"/>
                  </a:lnTo>
                  <a:lnTo>
                    <a:pt x="371961" y="2263399"/>
                  </a:lnTo>
                  <a:lnTo>
                    <a:pt x="326247" y="2270875"/>
                  </a:lnTo>
                  <a:lnTo>
                    <a:pt x="277250" y="2274126"/>
                  </a:lnTo>
                  <a:lnTo>
                    <a:pt x="227234" y="2276626"/>
                  </a:lnTo>
                  <a:lnTo>
                    <a:pt x="178467" y="2281853"/>
                  </a:lnTo>
                  <a:lnTo>
                    <a:pt x="133216" y="2293281"/>
                  </a:lnTo>
                  <a:lnTo>
                    <a:pt x="93745" y="2314388"/>
                  </a:lnTo>
                  <a:lnTo>
                    <a:pt x="51500" y="2363944"/>
                  </a:lnTo>
                  <a:lnTo>
                    <a:pt x="22972" y="2434594"/>
                  </a:lnTo>
                  <a:lnTo>
                    <a:pt x="13299" y="2476510"/>
                  </a:lnTo>
                  <a:lnTo>
                    <a:pt x="6393" y="2522118"/>
                  </a:lnTo>
                  <a:lnTo>
                    <a:pt x="2034" y="2570891"/>
                  </a:lnTo>
                  <a:lnTo>
                    <a:pt x="0" y="2622300"/>
                  </a:lnTo>
                  <a:lnTo>
                    <a:pt x="70" y="2675819"/>
                  </a:lnTo>
                  <a:lnTo>
                    <a:pt x="2025" y="2730921"/>
                  </a:lnTo>
                  <a:lnTo>
                    <a:pt x="5643" y="2787077"/>
                  </a:lnTo>
                  <a:lnTo>
                    <a:pt x="10704" y="2843762"/>
                  </a:lnTo>
                  <a:lnTo>
                    <a:pt x="16987" y="2900448"/>
                  </a:lnTo>
                  <a:lnTo>
                    <a:pt x="24271" y="2956607"/>
                  </a:lnTo>
                  <a:lnTo>
                    <a:pt x="32336" y="3011712"/>
                  </a:lnTo>
                  <a:lnTo>
                    <a:pt x="40960" y="3065236"/>
                  </a:lnTo>
                  <a:lnTo>
                    <a:pt x="49924" y="3116652"/>
                  </a:lnTo>
                  <a:lnTo>
                    <a:pt x="62102" y="3180939"/>
                  </a:lnTo>
                  <a:lnTo>
                    <a:pt x="74792" y="3240641"/>
                  </a:lnTo>
                  <a:lnTo>
                    <a:pt x="88297" y="3295812"/>
                  </a:lnTo>
                  <a:lnTo>
                    <a:pt x="102920" y="3346508"/>
                  </a:lnTo>
                  <a:lnTo>
                    <a:pt x="118965" y="3392782"/>
                  </a:lnTo>
                  <a:lnTo>
                    <a:pt x="136734" y="3434690"/>
                  </a:lnTo>
                  <a:lnTo>
                    <a:pt x="156532" y="3472287"/>
                  </a:lnTo>
                  <a:lnTo>
                    <a:pt x="178661" y="3505627"/>
                  </a:lnTo>
                  <a:lnTo>
                    <a:pt x="203425" y="3534764"/>
                  </a:lnTo>
                  <a:lnTo>
                    <a:pt x="262070" y="3580651"/>
                  </a:lnTo>
                  <a:lnTo>
                    <a:pt x="296557" y="3597510"/>
                  </a:lnTo>
                  <a:lnTo>
                    <a:pt x="334892" y="3610385"/>
                  </a:lnTo>
                  <a:lnTo>
                    <a:pt x="383049" y="3620523"/>
                  </a:lnTo>
                  <a:lnTo>
                    <a:pt x="434876" y="3627431"/>
                  </a:lnTo>
                  <a:lnTo>
                    <a:pt x="488705" y="3632928"/>
                  </a:lnTo>
                  <a:lnTo>
                    <a:pt x="542869" y="3638837"/>
                  </a:lnTo>
                  <a:lnTo>
                    <a:pt x="595699" y="3646977"/>
                  </a:lnTo>
                  <a:lnTo>
                    <a:pt x="645528" y="3659170"/>
                  </a:lnTo>
                  <a:lnTo>
                    <a:pt x="690689" y="3677236"/>
                  </a:lnTo>
                  <a:lnTo>
                    <a:pt x="729514" y="3702997"/>
                  </a:lnTo>
                  <a:lnTo>
                    <a:pt x="762391" y="3739337"/>
                  </a:lnTo>
                  <a:lnTo>
                    <a:pt x="789219" y="3782627"/>
                  </a:lnTo>
                  <a:lnTo>
                    <a:pt x="812756" y="3829345"/>
                  </a:lnTo>
                  <a:lnTo>
                    <a:pt x="835761" y="3875964"/>
                  </a:lnTo>
                  <a:lnTo>
                    <a:pt x="860992" y="3918960"/>
                  </a:lnTo>
                  <a:lnTo>
                    <a:pt x="890996" y="3955831"/>
                  </a:lnTo>
                  <a:lnTo>
                    <a:pt x="925702" y="3986171"/>
                  </a:lnTo>
                  <a:lnTo>
                    <a:pt x="964738" y="4010732"/>
                  </a:lnTo>
                  <a:lnTo>
                    <a:pt x="1007727" y="4030267"/>
                  </a:lnTo>
                  <a:lnTo>
                    <a:pt x="1054293" y="4045528"/>
                  </a:lnTo>
                  <a:lnTo>
                    <a:pt x="1104062" y="4057268"/>
                  </a:lnTo>
                  <a:lnTo>
                    <a:pt x="1156658" y="4066239"/>
                  </a:lnTo>
                  <a:lnTo>
                    <a:pt x="1211705" y="4073193"/>
                  </a:lnTo>
                  <a:lnTo>
                    <a:pt x="1268742" y="4078644"/>
                  </a:lnTo>
                  <a:lnTo>
                    <a:pt x="1326214" y="4082069"/>
                  </a:lnTo>
                  <a:lnTo>
                    <a:pt x="1382475" y="4082713"/>
                  </a:lnTo>
                  <a:lnTo>
                    <a:pt x="1435874" y="4079821"/>
                  </a:lnTo>
                  <a:lnTo>
                    <a:pt x="1484763" y="4072636"/>
                  </a:lnTo>
                  <a:lnTo>
                    <a:pt x="1527494" y="4060403"/>
                  </a:lnTo>
                  <a:lnTo>
                    <a:pt x="1562418" y="4042366"/>
                  </a:lnTo>
                  <a:lnTo>
                    <a:pt x="1598478" y="4002351"/>
                  </a:lnTo>
                  <a:lnTo>
                    <a:pt x="1614704" y="3948420"/>
                  </a:lnTo>
                  <a:lnTo>
                    <a:pt x="1616148" y="3916721"/>
                  </a:lnTo>
                  <a:lnTo>
                    <a:pt x="1613556" y="3882126"/>
                  </a:lnTo>
                  <a:lnTo>
                    <a:pt x="1597493" y="3805020"/>
                  </a:lnTo>
                  <a:lnTo>
                    <a:pt x="1584637" y="3762898"/>
                  </a:lnTo>
                  <a:lnTo>
                    <a:pt x="1568975" y="3718655"/>
                  </a:lnTo>
                  <a:lnTo>
                    <a:pt x="1550814" y="3672486"/>
                  </a:lnTo>
                  <a:lnTo>
                    <a:pt x="1530461" y="3624584"/>
                  </a:lnTo>
                  <a:lnTo>
                    <a:pt x="1508224" y="3575144"/>
                  </a:lnTo>
                  <a:lnTo>
                    <a:pt x="1484411" y="3524359"/>
                  </a:lnTo>
                  <a:lnTo>
                    <a:pt x="1459329" y="3472424"/>
                  </a:lnTo>
                  <a:lnTo>
                    <a:pt x="1433285" y="3419533"/>
                  </a:lnTo>
                  <a:lnTo>
                    <a:pt x="1406586" y="3365879"/>
                  </a:lnTo>
                  <a:lnTo>
                    <a:pt x="1379541" y="3311657"/>
                  </a:lnTo>
                  <a:lnTo>
                    <a:pt x="1352457" y="3257061"/>
                  </a:lnTo>
                  <a:lnTo>
                    <a:pt x="1325640" y="3202285"/>
                  </a:lnTo>
                  <a:lnTo>
                    <a:pt x="1299399" y="3147523"/>
                  </a:lnTo>
                  <a:lnTo>
                    <a:pt x="1272507" y="3089679"/>
                  </a:lnTo>
                  <a:lnTo>
                    <a:pt x="1246738" y="3032209"/>
                  </a:lnTo>
                  <a:lnTo>
                    <a:pt x="1222222" y="2975254"/>
                  </a:lnTo>
                  <a:lnTo>
                    <a:pt x="1199092" y="2918953"/>
                  </a:lnTo>
                  <a:lnTo>
                    <a:pt x="1177476" y="2863447"/>
                  </a:lnTo>
                  <a:lnTo>
                    <a:pt x="1157507" y="2808878"/>
                  </a:lnTo>
                  <a:lnTo>
                    <a:pt x="1139315" y="2755384"/>
                  </a:lnTo>
                  <a:lnTo>
                    <a:pt x="1123030" y="2703108"/>
                  </a:lnTo>
                  <a:lnTo>
                    <a:pt x="1108785" y="2652189"/>
                  </a:lnTo>
                  <a:lnTo>
                    <a:pt x="1096708" y="2602768"/>
                  </a:lnTo>
                  <a:lnTo>
                    <a:pt x="1086931" y="2554985"/>
                  </a:lnTo>
                  <a:lnTo>
                    <a:pt x="1079586" y="2508982"/>
                  </a:lnTo>
                  <a:lnTo>
                    <a:pt x="1074802" y="2464898"/>
                  </a:lnTo>
                  <a:lnTo>
                    <a:pt x="1072710" y="2422874"/>
                  </a:lnTo>
                  <a:lnTo>
                    <a:pt x="1073442" y="2383051"/>
                  </a:lnTo>
                  <a:lnTo>
                    <a:pt x="1083898" y="2310568"/>
                  </a:lnTo>
                  <a:lnTo>
                    <a:pt x="1107217" y="2248575"/>
                  </a:lnTo>
                  <a:lnTo>
                    <a:pt x="1148765" y="2193760"/>
                  </a:lnTo>
                  <a:lnTo>
                    <a:pt x="1178110" y="2169362"/>
                  </a:lnTo>
                  <a:lnTo>
                    <a:pt x="1211504" y="2148018"/>
                  </a:lnTo>
                  <a:lnTo>
                    <a:pt x="1248387" y="2129075"/>
                  </a:lnTo>
                  <a:lnTo>
                    <a:pt x="1288200" y="2111880"/>
                  </a:lnTo>
                  <a:lnTo>
                    <a:pt x="1330386" y="2095782"/>
                  </a:lnTo>
                  <a:lnTo>
                    <a:pt x="1374385" y="2080126"/>
                  </a:lnTo>
                  <a:lnTo>
                    <a:pt x="1419638" y="2064261"/>
                  </a:lnTo>
                  <a:lnTo>
                    <a:pt x="1465587" y="2047534"/>
                  </a:lnTo>
                  <a:lnTo>
                    <a:pt x="1511672" y="2029293"/>
                  </a:lnTo>
                  <a:lnTo>
                    <a:pt x="1557336" y="2008885"/>
                  </a:lnTo>
                  <a:lnTo>
                    <a:pt x="1602019" y="1985658"/>
                  </a:lnTo>
                  <a:lnTo>
                    <a:pt x="1645162" y="1958959"/>
                  </a:lnTo>
                  <a:lnTo>
                    <a:pt x="1686207" y="1928135"/>
                  </a:lnTo>
                  <a:lnTo>
                    <a:pt x="1724596" y="1892534"/>
                  </a:lnTo>
                  <a:lnTo>
                    <a:pt x="1759768" y="1851503"/>
                  </a:lnTo>
                  <a:lnTo>
                    <a:pt x="1785815" y="1813574"/>
                  </a:lnTo>
                  <a:lnTo>
                    <a:pt x="1809238" y="1772165"/>
                  </a:lnTo>
                  <a:lnTo>
                    <a:pt x="1829945" y="1727884"/>
                  </a:lnTo>
                  <a:lnTo>
                    <a:pt x="1847846" y="1681342"/>
                  </a:lnTo>
                  <a:lnTo>
                    <a:pt x="1862851" y="1633145"/>
                  </a:lnTo>
                  <a:lnTo>
                    <a:pt x="1874867" y="1583904"/>
                  </a:lnTo>
                  <a:lnTo>
                    <a:pt x="1883804" y="1534226"/>
                  </a:lnTo>
                  <a:lnTo>
                    <a:pt x="1889571" y="1484721"/>
                  </a:lnTo>
                  <a:lnTo>
                    <a:pt x="1892077" y="1435997"/>
                  </a:lnTo>
                  <a:lnTo>
                    <a:pt x="1891231" y="1388663"/>
                  </a:lnTo>
                  <a:lnTo>
                    <a:pt x="1886141" y="1336895"/>
                  </a:lnTo>
                  <a:lnTo>
                    <a:pt x="1876948" y="1287485"/>
                  </a:lnTo>
                  <a:lnTo>
                    <a:pt x="1864043" y="1240171"/>
                  </a:lnTo>
                  <a:lnTo>
                    <a:pt x="1847819" y="1194691"/>
                  </a:lnTo>
                  <a:lnTo>
                    <a:pt x="1828667" y="1150784"/>
                  </a:lnTo>
                  <a:lnTo>
                    <a:pt x="1806981" y="1108189"/>
                  </a:lnTo>
                  <a:lnTo>
                    <a:pt x="1783151" y="1066645"/>
                  </a:lnTo>
                  <a:lnTo>
                    <a:pt x="1757571" y="1025891"/>
                  </a:lnTo>
                  <a:lnTo>
                    <a:pt x="1730632" y="985665"/>
                  </a:lnTo>
                  <a:lnTo>
                    <a:pt x="1702726" y="945706"/>
                  </a:lnTo>
                  <a:lnTo>
                    <a:pt x="1674245" y="905753"/>
                  </a:lnTo>
                  <a:lnTo>
                    <a:pt x="1645582" y="865544"/>
                  </a:lnTo>
                  <a:lnTo>
                    <a:pt x="1617129" y="824819"/>
                  </a:lnTo>
                  <a:lnTo>
                    <a:pt x="1589277" y="783315"/>
                  </a:lnTo>
                  <a:lnTo>
                    <a:pt x="1562418" y="740773"/>
                  </a:lnTo>
                  <a:lnTo>
                    <a:pt x="1531101" y="686652"/>
                  </a:lnTo>
                  <a:lnTo>
                    <a:pt x="1501750" y="631271"/>
                  </a:lnTo>
                  <a:lnTo>
                    <a:pt x="1474221" y="575347"/>
                  </a:lnTo>
                  <a:lnTo>
                    <a:pt x="1448372" y="519599"/>
                  </a:lnTo>
                  <a:lnTo>
                    <a:pt x="1424057" y="464747"/>
                  </a:lnTo>
                  <a:lnTo>
                    <a:pt x="1401133" y="411509"/>
                  </a:lnTo>
                  <a:lnTo>
                    <a:pt x="1379456" y="360603"/>
                  </a:lnTo>
                  <a:lnTo>
                    <a:pt x="1358881" y="312749"/>
                  </a:lnTo>
                  <a:lnTo>
                    <a:pt x="1339265" y="268665"/>
                  </a:lnTo>
                  <a:lnTo>
                    <a:pt x="1320464" y="229069"/>
                  </a:lnTo>
                  <a:lnTo>
                    <a:pt x="1302333" y="194682"/>
                  </a:lnTo>
                  <a:lnTo>
                    <a:pt x="1267508" y="144403"/>
                  </a:lnTo>
                  <a:lnTo>
                    <a:pt x="1250525" y="129950"/>
                  </a:lnTo>
                  <a:lnTo>
                    <a:pt x="1233637" y="123579"/>
                  </a:lnTo>
                  <a:close/>
                </a:path>
              </a:pathLst>
            </a:custGeom>
            <a:ln w="11938">
              <a:solidFill>
                <a:srgbClr val="000000"/>
              </a:solidFill>
            </a:ln>
          </p:spPr>
          <p:txBody>
            <a:bodyPr wrap="square" lIns="0" tIns="0" rIns="0" bIns="0" rtlCol="0"/>
            <a:lstStyle/>
            <a:p/>
          </p:txBody>
        </p:sp>
        <p:sp>
          <p:nvSpPr>
            <p:cNvPr id="19" name="object 19" descr=""/>
            <p:cNvSpPr/>
            <p:nvPr/>
          </p:nvSpPr>
          <p:spPr>
            <a:xfrm>
              <a:off x="4832339" y="1935187"/>
              <a:ext cx="1473200" cy="432434"/>
            </a:xfrm>
            <a:custGeom>
              <a:avLst/>
              <a:gdLst/>
              <a:ahLst/>
              <a:cxnLst/>
              <a:rect l="l" t="t" r="r" b="b"/>
              <a:pathLst>
                <a:path w="1473200" h="432435">
                  <a:moveTo>
                    <a:pt x="1473177" y="0"/>
                  </a:moveTo>
                  <a:lnTo>
                    <a:pt x="0" y="0"/>
                  </a:lnTo>
                  <a:lnTo>
                    <a:pt x="0" y="431991"/>
                  </a:lnTo>
                  <a:lnTo>
                    <a:pt x="1473177" y="431991"/>
                  </a:lnTo>
                  <a:lnTo>
                    <a:pt x="1473177" y="0"/>
                  </a:lnTo>
                  <a:close/>
                </a:path>
              </a:pathLst>
            </a:custGeom>
            <a:solidFill>
              <a:srgbClr val="FFFFFF"/>
            </a:solidFill>
          </p:spPr>
          <p:txBody>
            <a:bodyPr wrap="square" lIns="0" tIns="0" rIns="0" bIns="0" rtlCol="0"/>
            <a:lstStyle/>
            <a:p/>
          </p:txBody>
        </p:sp>
      </p:grpSp>
      <p:sp>
        <p:nvSpPr>
          <p:cNvPr id="20" name="object 20" descr=""/>
          <p:cNvSpPr txBox="1"/>
          <p:nvPr/>
        </p:nvSpPr>
        <p:spPr>
          <a:xfrm>
            <a:off x="4832339" y="1935187"/>
            <a:ext cx="1473200" cy="432434"/>
          </a:xfrm>
          <a:prstGeom prst="rect">
            <a:avLst/>
          </a:prstGeom>
          <a:ln w="15485">
            <a:solidFill>
              <a:srgbClr val="000000"/>
            </a:solidFill>
          </a:ln>
        </p:spPr>
        <p:txBody>
          <a:bodyPr wrap="square" lIns="0" tIns="65405" rIns="0" bIns="0" rtlCol="0" vert="horz">
            <a:spAutoFit/>
          </a:bodyPr>
          <a:lstStyle/>
          <a:p>
            <a:pPr marL="109855">
              <a:lnSpc>
                <a:spcPct val="100000"/>
              </a:lnSpc>
              <a:spcBef>
                <a:spcPts val="515"/>
              </a:spcBef>
            </a:pPr>
            <a:r>
              <a:rPr dirty="0" sz="1700" spc="-200">
                <a:latin typeface="Times New Roman"/>
                <a:cs typeface="Times New Roman"/>
              </a:rPr>
              <a:t>1:</a:t>
            </a:r>
            <a:r>
              <a:rPr dirty="0" sz="1700" spc="-110">
                <a:latin typeface="Times New Roman"/>
                <a:cs typeface="Times New Roman"/>
              </a:rPr>
              <a:t> </a:t>
            </a:r>
            <a:r>
              <a:rPr dirty="0" sz="1700" spc="-210">
                <a:latin typeface="Times New Roman"/>
                <a:cs typeface="Times New Roman"/>
              </a:rPr>
              <a:t>A[i]</a:t>
            </a:r>
            <a:r>
              <a:rPr dirty="0" sz="1700" spc="-110">
                <a:latin typeface="Times New Roman"/>
                <a:cs typeface="Times New Roman"/>
              </a:rPr>
              <a:t> </a:t>
            </a:r>
            <a:r>
              <a:rPr dirty="0" sz="1700" spc="-280">
                <a:latin typeface="Times New Roman"/>
                <a:cs typeface="Times New Roman"/>
              </a:rPr>
              <a:t>=</a:t>
            </a:r>
            <a:r>
              <a:rPr dirty="0" sz="1700" spc="-110">
                <a:latin typeface="Times New Roman"/>
                <a:cs typeface="Times New Roman"/>
              </a:rPr>
              <a:t> </a:t>
            </a:r>
            <a:r>
              <a:rPr dirty="0" sz="1700" spc="-210">
                <a:latin typeface="Times New Roman"/>
                <a:cs typeface="Times New Roman"/>
              </a:rPr>
              <a:t>A[i]</a:t>
            </a:r>
            <a:r>
              <a:rPr dirty="0" sz="1700" spc="-105">
                <a:latin typeface="Times New Roman"/>
                <a:cs typeface="Times New Roman"/>
              </a:rPr>
              <a:t> </a:t>
            </a:r>
            <a:r>
              <a:rPr dirty="0" sz="1700" spc="-280">
                <a:latin typeface="Times New Roman"/>
                <a:cs typeface="Times New Roman"/>
              </a:rPr>
              <a:t>+</a:t>
            </a:r>
            <a:r>
              <a:rPr dirty="0" sz="1700" spc="-110">
                <a:latin typeface="Times New Roman"/>
                <a:cs typeface="Times New Roman"/>
              </a:rPr>
              <a:t> </a:t>
            </a:r>
            <a:r>
              <a:rPr dirty="0" sz="1700" spc="-20">
                <a:latin typeface="Times New Roman"/>
                <a:cs typeface="Times New Roman"/>
              </a:rPr>
              <a:t>B[i]</a:t>
            </a:r>
            <a:endParaRPr sz="1700">
              <a:latin typeface="Times New Roman"/>
              <a:cs typeface="Times New Roman"/>
            </a:endParaRPr>
          </a:p>
        </p:txBody>
      </p:sp>
      <p:grpSp>
        <p:nvGrpSpPr>
          <p:cNvPr id="21" name="object 21" descr=""/>
          <p:cNvGrpSpPr/>
          <p:nvPr/>
        </p:nvGrpSpPr>
        <p:grpSpPr>
          <a:xfrm>
            <a:off x="5044255" y="2853414"/>
            <a:ext cx="891540" cy="940435"/>
            <a:chOff x="5044255" y="2853414"/>
            <a:chExt cx="891540" cy="940435"/>
          </a:xfrm>
        </p:grpSpPr>
        <p:sp>
          <p:nvSpPr>
            <p:cNvPr id="22" name="object 22" descr=""/>
            <p:cNvSpPr/>
            <p:nvPr/>
          </p:nvSpPr>
          <p:spPr>
            <a:xfrm>
              <a:off x="5051558" y="2860716"/>
              <a:ext cx="876935" cy="925830"/>
            </a:xfrm>
            <a:custGeom>
              <a:avLst/>
              <a:gdLst/>
              <a:ahLst/>
              <a:cxnLst/>
              <a:rect l="l" t="t" r="r" b="b"/>
              <a:pathLst>
                <a:path w="876935" h="925829">
                  <a:moveTo>
                    <a:pt x="438406" y="0"/>
                  </a:moveTo>
                  <a:lnTo>
                    <a:pt x="0" y="493754"/>
                  </a:lnTo>
                  <a:lnTo>
                    <a:pt x="438406" y="925746"/>
                  </a:lnTo>
                  <a:lnTo>
                    <a:pt x="876798" y="493754"/>
                  </a:lnTo>
                  <a:lnTo>
                    <a:pt x="438406" y="0"/>
                  </a:lnTo>
                  <a:close/>
                </a:path>
              </a:pathLst>
            </a:custGeom>
            <a:solidFill>
              <a:srgbClr val="FFFFFF"/>
            </a:solidFill>
          </p:spPr>
          <p:txBody>
            <a:bodyPr wrap="square" lIns="0" tIns="0" rIns="0" bIns="0" rtlCol="0"/>
            <a:lstStyle/>
            <a:p/>
          </p:txBody>
        </p:sp>
        <p:sp>
          <p:nvSpPr>
            <p:cNvPr id="23" name="object 23" descr=""/>
            <p:cNvSpPr/>
            <p:nvPr/>
          </p:nvSpPr>
          <p:spPr>
            <a:xfrm>
              <a:off x="5051558" y="2860716"/>
              <a:ext cx="876935" cy="925830"/>
            </a:xfrm>
            <a:custGeom>
              <a:avLst/>
              <a:gdLst/>
              <a:ahLst/>
              <a:cxnLst/>
              <a:rect l="l" t="t" r="r" b="b"/>
              <a:pathLst>
                <a:path w="876935" h="925829">
                  <a:moveTo>
                    <a:pt x="438406" y="0"/>
                  </a:moveTo>
                  <a:lnTo>
                    <a:pt x="0" y="493754"/>
                  </a:lnTo>
                  <a:lnTo>
                    <a:pt x="438406" y="925746"/>
                  </a:lnTo>
                  <a:lnTo>
                    <a:pt x="876798" y="493754"/>
                  </a:lnTo>
                  <a:lnTo>
                    <a:pt x="438406" y="0"/>
                  </a:lnTo>
                  <a:close/>
                </a:path>
              </a:pathLst>
            </a:custGeom>
            <a:ln w="13282">
              <a:solidFill>
                <a:srgbClr val="000000"/>
              </a:solidFill>
            </a:ln>
          </p:spPr>
          <p:txBody>
            <a:bodyPr wrap="square" lIns="0" tIns="0" rIns="0" bIns="0" rtlCol="0"/>
            <a:lstStyle/>
            <a:p/>
          </p:txBody>
        </p:sp>
      </p:grpSp>
      <p:sp>
        <p:nvSpPr>
          <p:cNvPr id="24" name="object 24" descr=""/>
          <p:cNvSpPr txBox="1"/>
          <p:nvPr/>
        </p:nvSpPr>
        <p:spPr>
          <a:xfrm>
            <a:off x="5113730" y="3158462"/>
            <a:ext cx="753110" cy="287020"/>
          </a:xfrm>
          <a:prstGeom prst="rect">
            <a:avLst/>
          </a:prstGeom>
        </p:spPr>
        <p:txBody>
          <a:bodyPr wrap="square" lIns="0" tIns="14605" rIns="0" bIns="0" rtlCol="0" vert="horz">
            <a:spAutoFit/>
          </a:bodyPr>
          <a:lstStyle/>
          <a:p>
            <a:pPr marL="12700">
              <a:lnSpc>
                <a:spcPct val="100000"/>
              </a:lnSpc>
              <a:spcBef>
                <a:spcPts val="115"/>
              </a:spcBef>
            </a:pPr>
            <a:r>
              <a:rPr dirty="0" sz="1700" spc="-200">
                <a:latin typeface="Times New Roman"/>
                <a:cs typeface="Times New Roman"/>
              </a:rPr>
              <a:t>2:</a:t>
            </a:r>
            <a:r>
              <a:rPr dirty="0" sz="1700" spc="-114">
                <a:latin typeface="Times New Roman"/>
                <a:cs typeface="Times New Roman"/>
              </a:rPr>
              <a:t> </a:t>
            </a:r>
            <a:r>
              <a:rPr dirty="0" sz="1700" spc="-210">
                <a:latin typeface="Times New Roman"/>
                <a:cs typeface="Times New Roman"/>
              </a:rPr>
              <a:t>A[i]</a:t>
            </a:r>
            <a:r>
              <a:rPr dirty="0" sz="1700" spc="-110">
                <a:latin typeface="Times New Roman"/>
                <a:cs typeface="Times New Roman"/>
              </a:rPr>
              <a:t> </a:t>
            </a:r>
            <a:r>
              <a:rPr dirty="0" sz="1700" spc="-280">
                <a:latin typeface="Times New Roman"/>
                <a:cs typeface="Times New Roman"/>
              </a:rPr>
              <a:t>=</a:t>
            </a:r>
            <a:r>
              <a:rPr dirty="0" sz="1700" spc="-110">
                <a:latin typeface="Times New Roman"/>
                <a:cs typeface="Times New Roman"/>
              </a:rPr>
              <a:t> </a:t>
            </a:r>
            <a:r>
              <a:rPr dirty="0" sz="1700" spc="-185">
                <a:latin typeface="Times New Roman"/>
                <a:cs typeface="Times New Roman"/>
              </a:rPr>
              <a:t>0?</a:t>
            </a:r>
            <a:endParaRPr sz="1700">
              <a:latin typeface="Times New Roman"/>
              <a:cs typeface="Times New Roman"/>
            </a:endParaRPr>
          </a:p>
        </p:txBody>
      </p:sp>
      <p:sp>
        <p:nvSpPr>
          <p:cNvPr id="25" name="object 25" descr=""/>
          <p:cNvSpPr txBox="1"/>
          <p:nvPr/>
        </p:nvSpPr>
        <p:spPr>
          <a:xfrm>
            <a:off x="4174729" y="4280153"/>
            <a:ext cx="876935" cy="432434"/>
          </a:xfrm>
          <a:prstGeom prst="rect">
            <a:avLst/>
          </a:prstGeom>
          <a:solidFill>
            <a:srgbClr val="FFFFFF"/>
          </a:solidFill>
          <a:ln w="15179">
            <a:solidFill>
              <a:srgbClr val="000000"/>
            </a:solidFill>
          </a:ln>
        </p:spPr>
        <p:txBody>
          <a:bodyPr wrap="square" lIns="0" tIns="65405" rIns="0" bIns="0" rtlCol="0" vert="horz">
            <a:spAutoFit/>
          </a:bodyPr>
          <a:lstStyle/>
          <a:p>
            <a:pPr marL="171450">
              <a:lnSpc>
                <a:spcPct val="100000"/>
              </a:lnSpc>
              <a:spcBef>
                <a:spcPts val="515"/>
              </a:spcBef>
            </a:pPr>
            <a:r>
              <a:rPr dirty="0" sz="1700" spc="-200">
                <a:latin typeface="Times New Roman"/>
                <a:cs typeface="Times New Roman"/>
              </a:rPr>
              <a:t>3:</a:t>
            </a:r>
            <a:r>
              <a:rPr dirty="0" sz="1700" spc="-100">
                <a:latin typeface="Times New Roman"/>
                <a:cs typeface="Times New Roman"/>
              </a:rPr>
              <a:t> </a:t>
            </a:r>
            <a:r>
              <a:rPr dirty="0" sz="1700" spc="-204">
                <a:latin typeface="Times New Roman"/>
                <a:cs typeface="Times New Roman"/>
              </a:rPr>
              <a:t>B[i]</a:t>
            </a:r>
            <a:r>
              <a:rPr dirty="0" sz="1700" spc="-100">
                <a:latin typeface="Times New Roman"/>
                <a:cs typeface="Times New Roman"/>
              </a:rPr>
              <a:t> </a:t>
            </a:r>
            <a:r>
              <a:rPr dirty="0" sz="1700" spc="-330">
                <a:latin typeface="Times New Roman"/>
                <a:cs typeface="Times New Roman"/>
              </a:rPr>
              <a:t>=</a:t>
            </a:r>
            <a:endParaRPr sz="1700">
              <a:latin typeface="Times New Roman"/>
              <a:cs typeface="Times New Roman"/>
            </a:endParaRPr>
          </a:p>
        </p:txBody>
      </p:sp>
      <p:sp>
        <p:nvSpPr>
          <p:cNvPr id="26" name="object 26" descr=""/>
          <p:cNvSpPr txBox="1"/>
          <p:nvPr/>
        </p:nvSpPr>
        <p:spPr>
          <a:xfrm>
            <a:off x="5051557" y="5329247"/>
            <a:ext cx="876935" cy="432434"/>
          </a:xfrm>
          <a:prstGeom prst="rect">
            <a:avLst/>
          </a:prstGeom>
          <a:solidFill>
            <a:srgbClr val="FFFFFF"/>
          </a:solidFill>
          <a:ln w="15179">
            <a:solidFill>
              <a:srgbClr val="000000"/>
            </a:solidFill>
          </a:ln>
        </p:spPr>
        <p:txBody>
          <a:bodyPr wrap="square" lIns="0" tIns="65405" rIns="0" bIns="0" rtlCol="0" vert="horz">
            <a:spAutoFit/>
          </a:bodyPr>
          <a:lstStyle/>
          <a:p>
            <a:pPr marL="171450">
              <a:lnSpc>
                <a:spcPct val="100000"/>
              </a:lnSpc>
              <a:spcBef>
                <a:spcPts val="515"/>
              </a:spcBef>
            </a:pPr>
            <a:r>
              <a:rPr dirty="0" sz="1700" spc="-200">
                <a:latin typeface="Times New Roman"/>
                <a:cs typeface="Times New Roman"/>
              </a:rPr>
              <a:t>5:</a:t>
            </a:r>
            <a:r>
              <a:rPr dirty="0" sz="1700" spc="-105">
                <a:latin typeface="Times New Roman"/>
                <a:cs typeface="Times New Roman"/>
              </a:rPr>
              <a:t> </a:t>
            </a:r>
            <a:r>
              <a:rPr dirty="0" sz="1700" spc="-204">
                <a:latin typeface="Times New Roman"/>
                <a:cs typeface="Times New Roman"/>
              </a:rPr>
              <a:t>C[i]</a:t>
            </a:r>
            <a:r>
              <a:rPr dirty="0" sz="1700" spc="-100">
                <a:latin typeface="Times New Roman"/>
                <a:cs typeface="Times New Roman"/>
              </a:rPr>
              <a:t> </a:t>
            </a:r>
            <a:r>
              <a:rPr dirty="0" sz="1700" spc="-330">
                <a:latin typeface="Times New Roman"/>
                <a:cs typeface="Times New Roman"/>
              </a:rPr>
              <a:t>=</a:t>
            </a:r>
            <a:endParaRPr sz="1700">
              <a:latin typeface="Times New Roman"/>
              <a:cs typeface="Times New Roman"/>
            </a:endParaRPr>
          </a:p>
        </p:txBody>
      </p:sp>
      <p:sp>
        <p:nvSpPr>
          <p:cNvPr id="27" name="object 27" descr=""/>
          <p:cNvSpPr txBox="1"/>
          <p:nvPr/>
        </p:nvSpPr>
        <p:spPr>
          <a:xfrm>
            <a:off x="5928355" y="4280153"/>
            <a:ext cx="876935" cy="432434"/>
          </a:xfrm>
          <a:prstGeom prst="rect">
            <a:avLst/>
          </a:prstGeom>
          <a:ln w="15179">
            <a:solidFill>
              <a:srgbClr val="000000"/>
            </a:solidFill>
          </a:ln>
        </p:spPr>
        <p:txBody>
          <a:bodyPr wrap="square" lIns="0" tIns="65405" rIns="0" bIns="0" rtlCol="0" vert="horz">
            <a:spAutoFit/>
          </a:bodyPr>
          <a:lstStyle/>
          <a:p>
            <a:pPr algn="ctr">
              <a:lnSpc>
                <a:spcPct val="100000"/>
              </a:lnSpc>
              <a:spcBef>
                <a:spcPts val="515"/>
              </a:spcBef>
            </a:pPr>
            <a:r>
              <a:rPr dirty="0" sz="1700" spc="-200">
                <a:latin typeface="Times New Roman"/>
                <a:cs typeface="Times New Roman"/>
              </a:rPr>
              <a:t>4:</a:t>
            </a:r>
            <a:r>
              <a:rPr dirty="0" sz="1700" spc="-110">
                <a:latin typeface="Times New Roman"/>
                <a:cs typeface="Times New Roman"/>
              </a:rPr>
              <a:t> </a:t>
            </a:r>
            <a:r>
              <a:rPr dirty="0" sz="1700" spc="-409">
                <a:latin typeface="Times New Roman"/>
                <a:cs typeface="Times New Roman"/>
              </a:rPr>
              <a:t>X</a:t>
            </a:r>
            <a:endParaRPr sz="1700">
              <a:latin typeface="Times New Roman"/>
              <a:cs typeface="Times New Roman"/>
            </a:endParaRPr>
          </a:p>
        </p:txBody>
      </p:sp>
      <p:grpSp>
        <p:nvGrpSpPr>
          <p:cNvPr id="28" name="object 28" descr=""/>
          <p:cNvGrpSpPr/>
          <p:nvPr/>
        </p:nvGrpSpPr>
        <p:grpSpPr>
          <a:xfrm>
            <a:off x="4605604" y="2367179"/>
            <a:ext cx="1769110" cy="2962275"/>
            <a:chOff x="4605604" y="2367179"/>
            <a:chExt cx="1769110" cy="2962275"/>
          </a:xfrm>
        </p:grpSpPr>
        <p:sp>
          <p:nvSpPr>
            <p:cNvPr id="29" name="object 29" descr=""/>
            <p:cNvSpPr/>
            <p:nvPr/>
          </p:nvSpPr>
          <p:spPr>
            <a:xfrm>
              <a:off x="5489964" y="2367179"/>
              <a:ext cx="0" cy="393065"/>
            </a:xfrm>
            <a:custGeom>
              <a:avLst/>
              <a:gdLst/>
              <a:ahLst/>
              <a:cxnLst/>
              <a:rect l="l" t="t" r="r" b="b"/>
              <a:pathLst>
                <a:path w="0" h="393064">
                  <a:moveTo>
                    <a:pt x="0" y="0"/>
                  </a:moveTo>
                  <a:lnTo>
                    <a:pt x="0" y="392957"/>
                  </a:lnTo>
                </a:path>
              </a:pathLst>
            </a:custGeom>
            <a:ln w="3711">
              <a:solidFill>
                <a:srgbClr val="000000"/>
              </a:solidFill>
            </a:ln>
          </p:spPr>
          <p:txBody>
            <a:bodyPr wrap="square" lIns="0" tIns="0" rIns="0" bIns="0" rtlCol="0"/>
            <a:lstStyle/>
            <a:p/>
          </p:txBody>
        </p:sp>
        <p:sp>
          <p:nvSpPr>
            <p:cNvPr id="30" name="object 30" descr=""/>
            <p:cNvSpPr/>
            <p:nvPr/>
          </p:nvSpPr>
          <p:spPr>
            <a:xfrm>
              <a:off x="5463981" y="2750993"/>
              <a:ext cx="52069" cy="109855"/>
            </a:xfrm>
            <a:custGeom>
              <a:avLst/>
              <a:gdLst/>
              <a:ahLst/>
              <a:cxnLst/>
              <a:rect l="l" t="t" r="r" b="b"/>
              <a:pathLst>
                <a:path w="52070" h="109855">
                  <a:moveTo>
                    <a:pt x="51966" y="0"/>
                  </a:moveTo>
                  <a:lnTo>
                    <a:pt x="0" y="0"/>
                  </a:lnTo>
                  <a:lnTo>
                    <a:pt x="25983" y="109723"/>
                  </a:lnTo>
                  <a:lnTo>
                    <a:pt x="51966" y="0"/>
                  </a:lnTo>
                  <a:close/>
                </a:path>
              </a:pathLst>
            </a:custGeom>
            <a:solidFill>
              <a:srgbClr val="000000"/>
            </a:solidFill>
          </p:spPr>
          <p:txBody>
            <a:bodyPr wrap="square" lIns="0" tIns="0" rIns="0" bIns="0" rtlCol="0"/>
            <a:lstStyle/>
            <a:p/>
          </p:txBody>
        </p:sp>
        <p:sp>
          <p:nvSpPr>
            <p:cNvPr id="31" name="object 31" descr=""/>
            <p:cNvSpPr/>
            <p:nvPr/>
          </p:nvSpPr>
          <p:spPr>
            <a:xfrm>
              <a:off x="4658436" y="3354471"/>
              <a:ext cx="393700" cy="825500"/>
            </a:xfrm>
            <a:custGeom>
              <a:avLst/>
              <a:gdLst/>
              <a:ahLst/>
              <a:cxnLst/>
              <a:rect l="l" t="t" r="r" b="b"/>
              <a:pathLst>
                <a:path w="393700" h="825500">
                  <a:moveTo>
                    <a:pt x="393121" y="0"/>
                  </a:moveTo>
                  <a:lnTo>
                    <a:pt x="0" y="0"/>
                  </a:lnTo>
                  <a:lnTo>
                    <a:pt x="0" y="825101"/>
                  </a:lnTo>
                </a:path>
              </a:pathLst>
            </a:custGeom>
            <a:ln w="3991">
              <a:solidFill>
                <a:srgbClr val="000000"/>
              </a:solidFill>
            </a:ln>
          </p:spPr>
          <p:txBody>
            <a:bodyPr wrap="square" lIns="0" tIns="0" rIns="0" bIns="0" rtlCol="0"/>
            <a:lstStyle/>
            <a:p/>
          </p:txBody>
        </p:sp>
        <p:sp>
          <p:nvSpPr>
            <p:cNvPr id="32" name="object 32" descr=""/>
            <p:cNvSpPr/>
            <p:nvPr/>
          </p:nvSpPr>
          <p:spPr>
            <a:xfrm>
              <a:off x="4632453" y="4170429"/>
              <a:ext cx="52069" cy="109855"/>
            </a:xfrm>
            <a:custGeom>
              <a:avLst/>
              <a:gdLst/>
              <a:ahLst/>
              <a:cxnLst/>
              <a:rect l="l" t="t" r="r" b="b"/>
              <a:pathLst>
                <a:path w="52070" h="109854">
                  <a:moveTo>
                    <a:pt x="51966" y="0"/>
                  </a:moveTo>
                  <a:lnTo>
                    <a:pt x="0" y="0"/>
                  </a:lnTo>
                  <a:lnTo>
                    <a:pt x="25983" y="109723"/>
                  </a:lnTo>
                  <a:lnTo>
                    <a:pt x="51966" y="0"/>
                  </a:lnTo>
                  <a:close/>
                </a:path>
              </a:pathLst>
            </a:custGeom>
            <a:solidFill>
              <a:srgbClr val="000000"/>
            </a:solidFill>
          </p:spPr>
          <p:txBody>
            <a:bodyPr wrap="square" lIns="0" tIns="0" rIns="0" bIns="0" rtlCol="0"/>
            <a:lstStyle/>
            <a:p/>
          </p:txBody>
        </p:sp>
        <p:sp>
          <p:nvSpPr>
            <p:cNvPr id="33" name="object 33" descr=""/>
            <p:cNvSpPr/>
            <p:nvPr/>
          </p:nvSpPr>
          <p:spPr>
            <a:xfrm>
              <a:off x="5928355" y="3354471"/>
              <a:ext cx="386715" cy="825500"/>
            </a:xfrm>
            <a:custGeom>
              <a:avLst/>
              <a:gdLst/>
              <a:ahLst/>
              <a:cxnLst/>
              <a:rect l="l" t="t" r="r" b="b"/>
              <a:pathLst>
                <a:path w="386714" h="825500">
                  <a:moveTo>
                    <a:pt x="0" y="0"/>
                  </a:moveTo>
                  <a:lnTo>
                    <a:pt x="386347" y="0"/>
                  </a:lnTo>
                  <a:lnTo>
                    <a:pt x="386347" y="825101"/>
                  </a:lnTo>
                </a:path>
              </a:pathLst>
            </a:custGeom>
            <a:ln w="3983">
              <a:solidFill>
                <a:srgbClr val="000000"/>
              </a:solidFill>
            </a:ln>
          </p:spPr>
          <p:txBody>
            <a:bodyPr wrap="square" lIns="0" tIns="0" rIns="0" bIns="0" rtlCol="0"/>
            <a:lstStyle/>
            <a:p/>
          </p:txBody>
        </p:sp>
        <p:sp>
          <p:nvSpPr>
            <p:cNvPr id="34" name="object 34" descr=""/>
            <p:cNvSpPr/>
            <p:nvPr/>
          </p:nvSpPr>
          <p:spPr>
            <a:xfrm>
              <a:off x="6288719" y="4170429"/>
              <a:ext cx="52069" cy="109855"/>
            </a:xfrm>
            <a:custGeom>
              <a:avLst/>
              <a:gdLst/>
              <a:ahLst/>
              <a:cxnLst/>
              <a:rect l="l" t="t" r="r" b="b"/>
              <a:pathLst>
                <a:path w="52070" h="109854">
                  <a:moveTo>
                    <a:pt x="51966" y="0"/>
                  </a:moveTo>
                  <a:lnTo>
                    <a:pt x="0" y="0"/>
                  </a:lnTo>
                  <a:lnTo>
                    <a:pt x="25983" y="109723"/>
                  </a:lnTo>
                  <a:lnTo>
                    <a:pt x="51966" y="0"/>
                  </a:lnTo>
                  <a:close/>
                </a:path>
              </a:pathLst>
            </a:custGeom>
            <a:solidFill>
              <a:srgbClr val="000000"/>
            </a:solidFill>
          </p:spPr>
          <p:txBody>
            <a:bodyPr wrap="square" lIns="0" tIns="0" rIns="0" bIns="0" rtlCol="0"/>
            <a:lstStyle/>
            <a:p/>
          </p:txBody>
        </p:sp>
        <p:sp>
          <p:nvSpPr>
            <p:cNvPr id="35" name="object 35" descr=""/>
            <p:cNvSpPr/>
            <p:nvPr/>
          </p:nvSpPr>
          <p:spPr>
            <a:xfrm>
              <a:off x="4613135" y="4712144"/>
              <a:ext cx="876935" cy="488315"/>
            </a:xfrm>
            <a:custGeom>
              <a:avLst/>
              <a:gdLst/>
              <a:ahLst/>
              <a:cxnLst/>
              <a:rect l="l" t="t" r="r" b="b"/>
              <a:pathLst>
                <a:path w="876935" h="488314">
                  <a:moveTo>
                    <a:pt x="0" y="0"/>
                  </a:moveTo>
                  <a:lnTo>
                    <a:pt x="0" y="308553"/>
                  </a:lnTo>
                  <a:lnTo>
                    <a:pt x="876828" y="308553"/>
                  </a:lnTo>
                  <a:lnTo>
                    <a:pt x="876828" y="487789"/>
                  </a:lnTo>
                </a:path>
              </a:pathLst>
            </a:custGeom>
            <a:ln w="14602">
              <a:solidFill>
                <a:srgbClr val="000000"/>
              </a:solidFill>
            </a:ln>
          </p:spPr>
          <p:txBody>
            <a:bodyPr wrap="square" lIns="0" tIns="0" rIns="0" bIns="0" rtlCol="0"/>
            <a:lstStyle/>
            <a:p/>
          </p:txBody>
        </p:sp>
        <p:sp>
          <p:nvSpPr>
            <p:cNvPr id="36" name="object 36" descr=""/>
            <p:cNvSpPr/>
            <p:nvPr/>
          </p:nvSpPr>
          <p:spPr>
            <a:xfrm>
              <a:off x="5456557" y="5188178"/>
              <a:ext cx="67310" cy="141605"/>
            </a:xfrm>
            <a:custGeom>
              <a:avLst/>
              <a:gdLst/>
              <a:ahLst/>
              <a:cxnLst/>
              <a:rect l="l" t="t" r="r" b="b"/>
              <a:pathLst>
                <a:path w="67310" h="141604">
                  <a:moveTo>
                    <a:pt x="66814" y="0"/>
                  </a:moveTo>
                  <a:lnTo>
                    <a:pt x="0" y="0"/>
                  </a:lnTo>
                  <a:lnTo>
                    <a:pt x="33407" y="141072"/>
                  </a:lnTo>
                  <a:lnTo>
                    <a:pt x="66814" y="0"/>
                  </a:lnTo>
                  <a:close/>
                </a:path>
              </a:pathLst>
            </a:custGeom>
            <a:solidFill>
              <a:srgbClr val="000000"/>
            </a:solidFill>
          </p:spPr>
          <p:txBody>
            <a:bodyPr wrap="square" lIns="0" tIns="0" rIns="0" bIns="0" rtlCol="0"/>
            <a:lstStyle/>
            <a:p/>
          </p:txBody>
        </p:sp>
        <p:sp>
          <p:nvSpPr>
            <p:cNvPr id="37" name="object 37" descr=""/>
            <p:cNvSpPr/>
            <p:nvPr/>
          </p:nvSpPr>
          <p:spPr>
            <a:xfrm>
              <a:off x="5489964" y="4712144"/>
              <a:ext cx="876935" cy="488315"/>
            </a:xfrm>
            <a:custGeom>
              <a:avLst/>
              <a:gdLst/>
              <a:ahLst/>
              <a:cxnLst/>
              <a:rect l="l" t="t" r="r" b="b"/>
              <a:pathLst>
                <a:path w="876935" h="488314">
                  <a:moveTo>
                    <a:pt x="876859" y="0"/>
                  </a:moveTo>
                  <a:lnTo>
                    <a:pt x="876859" y="308553"/>
                  </a:lnTo>
                  <a:lnTo>
                    <a:pt x="0" y="308553"/>
                  </a:lnTo>
                  <a:lnTo>
                    <a:pt x="0" y="487789"/>
                  </a:lnTo>
                </a:path>
              </a:pathLst>
            </a:custGeom>
            <a:ln w="14602">
              <a:solidFill>
                <a:srgbClr val="000000"/>
              </a:solidFill>
            </a:ln>
          </p:spPr>
          <p:txBody>
            <a:bodyPr wrap="square" lIns="0" tIns="0" rIns="0" bIns="0" rtlCol="0"/>
            <a:lstStyle/>
            <a:p/>
          </p:txBody>
        </p:sp>
        <p:sp>
          <p:nvSpPr>
            <p:cNvPr id="38" name="object 38" descr=""/>
            <p:cNvSpPr/>
            <p:nvPr/>
          </p:nvSpPr>
          <p:spPr>
            <a:xfrm>
              <a:off x="5456557" y="5188178"/>
              <a:ext cx="67310" cy="141605"/>
            </a:xfrm>
            <a:custGeom>
              <a:avLst/>
              <a:gdLst/>
              <a:ahLst/>
              <a:cxnLst/>
              <a:rect l="l" t="t" r="r" b="b"/>
              <a:pathLst>
                <a:path w="67310" h="141604">
                  <a:moveTo>
                    <a:pt x="66814" y="0"/>
                  </a:moveTo>
                  <a:lnTo>
                    <a:pt x="0" y="0"/>
                  </a:lnTo>
                  <a:lnTo>
                    <a:pt x="33407" y="141072"/>
                  </a:lnTo>
                  <a:lnTo>
                    <a:pt x="66814" y="0"/>
                  </a:lnTo>
                  <a:close/>
                </a:path>
              </a:pathLst>
            </a:custGeom>
            <a:solidFill>
              <a:srgbClr val="000000"/>
            </a:solidFill>
          </p:spPr>
          <p:txBody>
            <a:bodyPr wrap="square" lIns="0" tIns="0" rIns="0" bIns="0" rtlCol="0"/>
            <a:lstStyle/>
            <a:p/>
          </p:txBody>
        </p:sp>
      </p:grpSp>
      <p:sp>
        <p:nvSpPr>
          <p:cNvPr id="39" name="object 39" descr=""/>
          <p:cNvSpPr txBox="1"/>
          <p:nvPr/>
        </p:nvSpPr>
        <p:spPr>
          <a:xfrm>
            <a:off x="4699466" y="3004327"/>
            <a:ext cx="266065" cy="287020"/>
          </a:xfrm>
          <a:prstGeom prst="rect">
            <a:avLst/>
          </a:prstGeom>
        </p:spPr>
        <p:txBody>
          <a:bodyPr wrap="square" lIns="0" tIns="14605" rIns="0" bIns="0" rtlCol="0" vert="horz">
            <a:spAutoFit/>
          </a:bodyPr>
          <a:lstStyle/>
          <a:p>
            <a:pPr marL="12700">
              <a:lnSpc>
                <a:spcPct val="100000"/>
              </a:lnSpc>
              <a:spcBef>
                <a:spcPts val="115"/>
              </a:spcBef>
            </a:pPr>
            <a:r>
              <a:rPr dirty="0" sz="1700" spc="-180">
                <a:latin typeface="Times New Roman"/>
                <a:cs typeface="Times New Roman"/>
              </a:rPr>
              <a:t>true</a:t>
            </a:r>
            <a:endParaRPr sz="1700">
              <a:latin typeface="Times New Roman"/>
              <a:cs typeface="Times New Roman"/>
            </a:endParaRPr>
          </a:p>
        </p:txBody>
      </p:sp>
      <p:sp>
        <p:nvSpPr>
          <p:cNvPr id="40" name="object 40" descr=""/>
          <p:cNvSpPr txBox="1"/>
          <p:nvPr/>
        </p:nvSpPr>
        <p:spPr>
          <a:xfrm>
            <a:off x="6076660" y="3004327"/>
            <a:ext cx="317500" cy="287020"/>
          </a:xfrm>
          <a:prstGeom prst="rect">
            <a:avLst/>
          </a:prstGeom>
        </p:spPr>
        <p:txBody>
          <a:bodyPr wrap="square" lIns="0" tIns="14605" rIns="0" bIns="0" rtlCol="0" vert="horz">
            <a:spAutoFit/>
          </a:bodyPr>
          <a:lstStyle/>
          <a:p>
            <a:pPr marL="12700">
              <a:lnSpc>
                <a:spcPct val="100000"/>
              </a:lnSpc>
              <a:spcBef>
                <a:spcPts val="115"/>
              </a:spcBef>
            </a:pPr>
            <a:r>
              <a:rPr dirty="0" sz="1700" spc="-170">
                <a:latin typeface="Times New Roman"/>
                <a:cs typeface="Times New Roman"/>
              </a:rPr>
              <a:t>false</a:t>
            </a:r>
            <a:endParaRPr sz="1700">
              <a:latin typeface="Times New Roman"/>
              <a:cs typeface="Times New Roman"/>
            </a:endParaRPr>
          </a:p>
        </p:txBody>
      </p:sp>
      <p:sp>
        <p:nvSpPr>
          <p:cNvPr id="41" name="object 41" descr=""/>
          <p:cNvSpPr txBox="1"/>
          <p:nvPr/>
        </p:nvSpPr>
        <p:spPr>
          <a:xfrm>
            <a:off x="4698105" y="4000610"/>
            <a:ext cx="562610" cy="287020"/>
          </a:xfrm>
          <a:prstGeom prst="rect">
            <a:avLst/>
          </a:prstGeom>
        </p:spPr>
        <p:txBody>
          <a:bodyPr wrap="square" lIns="0" tIns="14605" rIns="0" bIns="0" rtlCol="0" vert="horz">
            <a:spAutoFit/>
          </a:bodyPr>
          <a:lstStyle/>
          <a:p>
            <a:pPr marL="12700">
              <a:lnSpc>
                <a:spcPct val="100000"/>
              </a:lnSpc>
              <a:spcBef>
                <a:spcPts val="115"/>
              </a:spcBef>
            </a:pPr>
            <a:r>
              <a:rPr dirty="0" sz="1700" spc="-275">
                <a:latin typeface="Times New Roman"/>
                <a:cs typeface="Times New Roman"/>
              </a:rPr>
              <a:t>then</a:t>
            </a:r>
            <a:r>
              <a:rPr dirty="0" sz="1700" spc="-275">
                <a:latin typeface="Cambria"/>
                <a:cs typeface="Cambria"/>
              </a:rPr>
              <a:t>◻</a:t>
            </a:r>
            <a:r>
              <a:rPr dirty="0" sz="1700" spc="-50">
                <a:latin typeface="Cambria"/>
                <a:cs typeface="Cambria"/>
              </a:rPr>
              <a:t> </a:t>
            </a:r>
            <a:r>
              <a:rPr dirty="0" sz="1700" spc="-565">
                <a:latin typeface="Cambria"/>
                <a:cs typeface="Cambria"/>
              </a:rPr>
              <a:t>◻</a:t>
            </a:r>
            <a:endParaRPr sz="1700">
              <a:latin typeface="Cambria"/>
              <a:cs typeface="Cambria"/>
            </a:endParaRPr>
          </a:p>
        </p:txBody>
      </p:sp>
      <p:sp>
        <p:nvSpPr>
          <p:cNvPr id="42" name="object 42" descr=""/>
          <p:cNvSpPr txBox="1"/>
          <p:nvPr/>
        </p:nvSpPr>
        <p:spPr>
          <a:xfrm>
            <a:off x="5736092" y="4000610"/>
            <a:ext cx="536575" cy="287020"/>
          </a:xfrm>
          <a:prstGeom prst="rect">
            <a:avLst/>
          </a:prstGeom>
        </p:spPr>
        <p:txBody>
          <a:bodyPr wrap="square" lIns="0" tIns="14605" rIns="0" bIns="0" rtlCol="0" vert="horz">
            <a:spAutoFit/>
          </a:bodyPr>
          <a:lstStyle/>
          <a:p>
            <a:pPr marL="12700">
              <a:lnSpc>
                <a:spcPct val="100000"/>
              </a:lnSpc>
              <a:spcBef>
                <a:spcPts val="115"/>
              </a:spcBef>
            </a:pPr>
            <a:r>
              <a:rPr dirty="0" sz="1700" spc="-254">
                <a:latin typeface="Times New Roman"/>
                <a:cs typeface="Times New Roman"/>
              </a:rPr>
              <a:t>else</a:t>
            </a:r>
            <a:r>
              <a:rPr dirty="0" sz="1700" spc="-254">
                <a:latin typeface="Cambria"/>
                <a:cs typeface="Cambria"/>
              </a:rPr>
              <a:t>◻</a:t>
            </a:r>
            <a:r>
              <a:rPr dirty="0" sz="1700" spc="-65">
                <a:latin typeface="Cambria"/>
                <a:cs typeface="Cambria"/>
              </a:rPr>
              <a:t> </a:t>
            </a:r>
            <a:r>
              <a:rPr dirty="0" sz="1700" spc="-565">
                <a:latin typeface="Cambria"/>
                <a:cs typeface="Cambria"/>
              </a:rPr>
              <a:t>◻</a:t>
            </a:r>
            <a:endParaRPr sz="1700">
              <a:latin typeface="Cambria"/>
              <a:cs typeface="Cambria"/>
            </a:endParaRPr>
          </a:p>
        </p:txBody>
      </p:sp>
      <p:sp>
        <p:nvSpPr>
          <p:cNvPr id="43" name="object 43" descr=""/>
          <p:cNvSpPr/>
          <p:nvPr/>
        </p:nvSpPr>
        <p:spPr>
          <a:xfrm>
            <a:off x="6845300" y="3702050"/>
            <a:ext cx="287655" cy="76200"/>
          </a:xfrm>
          <a:custGeom>
            <a:avLst/>
            <a:gdLst/>
            <a:ahLst/>
            <a:cxnLst/>
            <a:rect l="l" t="t" r="r" b="b"/>
            <a:pathLst>
              <a:path w="287654" h="76200">
                <a:moveTo>
                  <a:pt x="211074" y="0"/>
                </a:moveTo>
                <a:lnTo>
                  <a:pt x="211074" y="76200"/>
                </a:lnTo>
                <a:lnTo>
                  <a:pt x="277875" y="42799"/>
                </a:lnTo>
                <a:lnTo>
                  <a:pt x="223774" y="42799"/>
                </a:lnTo>
                <a:lnTo>
                  <a:pt x="223774" y="33274"/>
                </a:lnTo>
                <a:lnTo>
                  <a:pt x="277622" y="33274"/>
                </a:lnTo>
                <a:lnTo>
                  <a:pt x="211074" y="0"/>
                </a:lnTo>
                <a:close/>
              </a:path>
              <a:path w="287654" h="76200">
                <a:moveTo>
                  <a:pt x="211074" y="33274"/>
                </a:moveTo>
                <a:lnTo>
                  <a:pt x="0" y="33274"/>
                </a:lnTo>
                <a:lnTo>
                  <a:pt x="0" y="42799"/>
                </a:lnTo>
                <a:lnTo>
                  <a:pt x="211074" y="42799"/>
                </a:lnTo>
                <a:lnTo>
                  <a:pt x="211074" y="33274"/>
                </a:lnTo>
                <a:close/>
              </a:path>
              <a:path w="287654" h="76200">
                <a:moveTo>
                  <a:pt x="277622" y="33274"/>
                </a:moveTo>
                <a:lnTo>
                  <a:pt x="223774" y="33274"/>
                </a:lnTo>
                <a:lnTo>
                  <a:pt x="223774" y="42799"/>
                </a:lnTo>
                <a:lnTo>
                  <a:pt x="277875" y="42799"/>
                </a:lnTo>
                <a:lnTo>
                  <a:pt x="287274" y="38100"/>
                </a:lnTo>
                <a:lnTo>
                  <a:pt x="277622" y="33274"/>
                </a:lnTo>
                <a:close/>
              </a:path>
            </a:pathLst>
          </a:custGeom>
          <a:solidFill>
            <a:srgbClr val="40458B"/>
          </a:solidFill>
        </p:spPr>
        <p:txBody>
          <a:bodyPr wrap="square" lIns="0" tIns="0" rIns="0" bIns="0" rtlCol="0"/>
          <a:lstStyle/>
          <a:p/>
        </p:txBody>
      </p:sp>
      <p:sp>
        <p:nvSpPr>
          <p:cNvPr id="44" name="object 44" descr=""/>
          <p:cNvSpPr txBox="1"/>
          <p:nvPr/>
        </p:nvSpPr>
        <p:spPr>
          <a:xfrm>
            <a:off x="336550" y="1876425"/>
            <a:ext cx="3743325" cy="3727450"/>
          </a:xfrm>
          <a:prstGeom prst="rect">
            <a:avLst/>
          </a:prstGeom>
          <a:ln w="9525">
            <a:solidFill>
              <a:srgbClr val="FF0000"/>
            </a:solidFill>
          </a:ln>
        </p:spPr>
        <p:txBody>
          <a:bodyPr wrap="square" lIns="0" tIns="23495" rIns="0" bIns="0" rtlCol="0" vert="horz">
            <a:spAutoFit/>
          </a:bodyPr>
          <a:lstStyle/>
          <a:p>
            <a:pPr marL="90805" marR="149860" indent="507365">
              <a:lnSpc>
                <a:spcPts val="3600"/>
              </a:lnSpc>
              <a:spcBef>
                <a:spcPts val="185"/>
              </a:spcBef>
            </a:pPr>
            <a:r>
              <a:rPr dirty="0" sz="2000" spc="-10" b="1">
                <a:solidFill>
                  <a:srgbClr val="080808"/>
                </a:solidFill>
                <a:latin typeface="宋体"/>
                <a:cs typeface="宋体"/>
              </a:rPr>
              <a:t>将左边的循环展开</a:t>
            </a:r>
            <a:r>
              <a:rPr dirty="0" sz="2000" b="1">
                <a:solidFill>
                  <a:srgbClr val="6600FF"/>
                </a:solidFill>
                <a:latin typeface="Times New Roman"/>
                <a:cs typeface="Times New Roman"/>
              </a:rPr>
              <a:t>4</a:t>
            </a:r>
            <a:r>
              <a:rPr dirty="0" sz="2000" spc="-30" b="1">
                <a:solidFill>
                  <a:srgbClr val="080808"/>
                </a:solidFill>
                <a:latin typeface="宋体"/>
                <a:cs typeface="宋体"/>
              </a:rPr>
              <a:t>次并把</a:t>
            </a:r>
            <a:r>
              <a:rPr dirty="0" sz="2000" spc="-10" b="1">
                <a:solidFill>
                  <a:srgbClr val="080808"/>
                </a:solidFill>
                <a:latin typeface="宋体"/>
                <a:cs typeface="宋体"/>
              </a:rPr>
              <a:t>阴影部分</a:t>
            </a:r>
            <a:r>
              <a:rPr dirty="0" sz="2000" b="1">
                <a:solidFill>
                  <a:srgbClr val="080808"/>
                </a:solidFill>
                <a:latin typeface="Times New Roman"/>
                <a:cs typeface="Times New Roman"/>
              </a:rPr>
              <a:t>(</a:t>
            </a:r>
            <a:r>
              <a:rPr dirty="0" sz="2000" spc="-10" b="1">
                <a:solidFill>
                  <a:srgbClr val="080808"/>
                </a:solidFill>
                <a:latin typeface="宋体"/>
                <a:cs typeface="宋体"/>
              </a:rPr>
              <a:t>执行频率高</a:t>
            </a:r>
            <a:r>
              <a:rPr dirty="0" sz="2000" spc="-10" b="1">
                <a:solidFill>
                  <a:srgbClr val="080808"/>
                </a:solidFill>
                <a:latin typeface="Times New Roman"/>
                <a:cs typeface="Times New Roman"/>
              </a:rPr>
              <a:t>)</a:t>
            </a:r>
            <a:r>
              <a:rPr dirty="0" sz="2000" spc="-30" b="1">
                <a:solidFill>
                  <a:srgbClr val="080808"/>
                </a:solidFill>
                <a:latin typeface="宋体"/>
                <a:cs typeface="宋体"/>
              </a:rPr>
              <a:t>拼接在一</a:t>
            </a:r>
            <a:endParaRPr sz="2000">
              <a:latin typeface="宋体"/>
              <a:cs typeface="宋体"/>
            </a:endParaRPr>
          </a:p>
          <a:p>
            <a:pPr marL="90805">
              <a:lnSpc>
                <a:spcPct val="100000"/>
              </a:lnSpc>
              <a:spcBef>
                <a:spcPts val="880"/>
              </a:spcBef>
            </a:pPr>
            <a:r>
              <a:rPr dirty="0" sz="2000" spc="-15" b="1">
                <a:solidFill>
                  <a:srgbClr val="080808"/>
                </a:solidFill>
                <a:latin typeface="宋体"/>
                <a:cs typeface="宋体"/>
              </a:rPr>
              <a:t>起就可以得到一个超块；</a:t>
            </a:r>
            <a:endParaRPr sz="2000">
              <a:latin typeface="宋体"/>
              <a:cs typeface="宋体"/>
            </a:endParaRPr>
          </a:p>
          <a:p>
            <a:pPr algn="ctr" marL="267970">
              <a:lnSpc>
                <a:spcPct val="100000"/>
              </a:lnSpc>
              <a:spcBef>
                <a:spcPts val="1200"/>
              </a:spcBef>
            </a:pPr>
            <a:r>
              <a:rPr dirty="0" sz="2000" spc="-10" b="1">
                <a:solidFill>
                  <a:srgbClr val="080808"/>
                </a:solidFill>
                <a:latin typeface="宋体"/>
                <a:cs typeface="宋体"/>
              </a:rPr>
              <a:t>超块有</a:t>
            </a:r>
            <a:r>
              <a:rPr dirty="0" sz="2000" b="1">
                <a:solidFill>
                  <a:srgbClr val="6600FF"/>
                </a:solidFill>
                <a:latin typeface="Times New Roman"/>
                <a:cs typeface="Times New Roman"/>
              </a:rPr>
              <a:t>1</a:t>
            </a:r>
            <a:r>
              <a:rPr dirty="0" sz="2000" spc="-10" b="1">
                <a:solidFill>
                  <a:srgbClr val="080808"/>
                </a:solidFill>
                <a:latin typeface="宋体"/>
                <a:cs typeface="宋体"/>
              </a:rPr>
              <a:t>个入口和</a:t>
            </a:r>
            <a:r>
              <a:rPr dirty="0" sz="2000" b="1">
                <a:solidFill>
                  <a:srgbClr val="6600FF"/>
                </a:solidFill>
                <a:latin typeface="Times New Roman"/>
                <a:cs typeface="Times New Roman"/>
              </a:rPr>
              <a:t>5</a:t>
            </a:r>
            <a:r>
              <a:rPr dirty="0" sz="2000" spc="-30" b="1">
                <a:solidFill>
                  <a:srgbClr val="080808"/>
                </a:solidFill>
                <a:latin typeface="宋体"/>
                <a:cs typeface="宋体"/>
              </a:rPr>
              <a:t>个出口</a:t>
            </a:r>
            <a:endParaRPr sz="2000">
              <a:latin typeface="宋体"/>
              <a:cs typeface="宋体"/>
            </a:endParaRPr>
          </a:p>
          <a:p>
            <a:pPr marL="90805">
              <a:lnSpc>
                <a:spcPct val="100000"/>
              </a:lnSpc>
              <a:spcBef>
                <a:spcPts val="1200"/>
              </a:spcBef>
            </a:pPr>
            <a:r>
              <a:rPr dirty="0" sz="2000" spc="-10" b="1">
                <a:solidFill>
                  <a:srgbClr val="080808"/>
                </a:solidFill>
                <a:latin typeface="Times New Roman"/>
                <a:cs typeface="Times New Roman"/>
              </a:rPr>
              <a:t>(n=4/3/2/1/0)</a:t>
            </a:r>
            <a:r>
              <a:rPr dirty="0" sz="2000" spc="-50" b="1">
                <a:solidFill>
                  <a:srgbClr val="080808"/>
                </a:solidFill>
                <a:latin typeface="宋体"/>
                <a:cs typeface="宋体"/>
              </a:rPr>
              <a:t>。</a:t>
            </a:r>
            <a:endParaRPr sz="2000">
              <a:latin typeface="宋体"/>
              <a:cs typeface="宋体"/>
            </a:endParaRPr>
          </a:p>
          <a:p>
            <a:pPr algn="just" marL="90805" marR="262890" indent="507365">
              <a:lnSpc>
                <a:spcPct val="150000"/>
              </a:lnSpc>
              <a:spcBef>
                <a:spcPts val="5"/>
              </a:spcBef>
            </a:pPr>
            <a:r>
              <a:rPr dirty="0" sz="2000" spc="-10" b="1">
                <a:solidFill>
                  <a:srgbClr val="080808"/>
                </a:solidFill>
                <a:latin typeface="宋体"/>
                <a:cs typeface="宋体"/>
              </a:rPr>
              <a:t>除了</a:t>
            </a:r>
            <a:r>
              <a:rPr dirty="0" sz="2000" b="1">
                <a:solidFill>
                  <a:srgbClr val="6600FF"/>
                </a:solidFill>
                <a:latin typeface="Times New Roman"/>
                <a:cs typeface="Times New Roman"/>
              </a:rPr>
              <a:t>n=0</a:t>
            </a:r>
            <a:r>
              <a:rPr dirty="0" sz="2000" spc="-10" b="1">
                <a:solidFill>
                  <a:srgbClr val="080808"/>
                </a:solidFill>
                <a:latin typeface="宋体"/>
                <a:cs typeface="宋体"/>
              </a:rPr>
              <a:t>外，从其他</a:t>
            </a:r>
            <a:r>
              <a:rPr dirty="0" sz="2000" spc="-10" b="1">
                <a:solidFill>
                  <a:srgbClr val="6600FF"/>
                </a:solidFill>
                <a:latin typeface="Times New Roman"/>
                <a:cs typeface="Times New Roman"/>
              </a:rPr>
              <a:t>4</a:t>
            </a:r>
            <a:r>
              <a:rPr dirty="0" sz="2000" spc="-35" b="1">
                <a:solidFill>
                  <a:srgbClr val="080808"/>
                </a:solidFill>
                <a:latin typeface="宋体"/>
                <a:cs typeface="宋体"/>
              </a:rPr>
              <a:t>个出</a:t>
            </a:r>
            <a:r>
              <a:rPr dirty="0" sz="2000" spc="-15" b="1">
                <a:solidFill>
                  <a:srgbClr val="080808"/>
                </a:solidFill>
                <a:latin typeface="宋体"/>
                <a:cs typeface="宋体"/>
              </a:rPr>
              <a:t>口退出超块后，还需要继续完成余下的</a:t>
            </a:r>
            <a:r>
              <a:rPr dirty="0" sz="2000" b="1">
                <a:solidFill>
                  <a:srgbClr val="080808"/>
                </a:solidFill>
                <a:latin typeface="Times New Roman"/>
                <a:cs typeface="Times New Roman"/>
              </a:rPr>
              <a:t>n</a:t>
            </a:r>
            <a:r>
              <a:rPr dirty="0" sz="2000" spc="-15" b="1">
                <a:solidFill>
                  <a:srgbClr val="080808"/>
                </a:solidFill>
                <a:latin typeface="宋体"/>
                <a:cs typeface="宋体"/>
              </a:rPr>
              <a:t>次迭代</a:t>
            </a:r>
            <a:r>
              <a:rPr dirty="0" sz="2000" b="1">
                <a:solidFill>
                  <a:srgbClr val="080808"/>
                </a:solidFill>
                <a:latin typeface="Times New Roman"/>
                <a:cs typeface="Times New Roman"/>
              </a:rPr>
              <a:t>(</a:t>
            </a:r>
            <a:r>
              <a:rPr dirty="0" sz="2000" spc="-20" b="1">
                <a:solidFill>
                  <a:srgbClr val="080808"/>
                </a:solidFill>
                <a:latin typeface="宋体"/>
                <a:cs typeface="宋体"/>
              </a:rPr>
              <a:t>黄色部分</a:t>
            </a:r>
            <a:r>
              <a:rPr dirty="0" sz="2000" spc="-10" b="1">
                <a:solidFill>
                  <a:srgbClr val="080808"/>
                </a:solidFill>
                <a:latin typeface="Times New Roman"/>
                <a:cs typeface="Times New Roman"/>
              </a:rPr>
              <a:t>)</a:t>
            </a:r>
            <a:r>
              <a:rPr dirty="0" sz="2000" spc="-60" b="1">
                <a:solidFill>
                  <a:srgbClr val="080808"/>
                </a:solidFill>
                <a:latin typeface="宋体"/>
                <a:cs typeface="宋体"/>
              </a:rPr>
              <a:t>。</a:t>
            </a:r>
            <a:endParaRPr sz="2000">
              <a:latin typeface="宋体"/>
              <a:cs typeface="宋体"/>
            </a:endParaRPr>
          </a:p>
        </p:txBody>
      </p:sp>
      <p:sp>
        <p:nvSpPr>
          <p:cNvPr id="45" name="object 45" descr=""/>
          <p:cNvSpPr txBox="1"/>
          <p:nvPr/>
        </p:nvSpPr>
        <p:spPr>
          <a:xfrm>
            <a:off x="7617507" y="366395"/>
            <a:ext cx="916305" cy="141605"/>
          </a:xfrm>
          <a:prstGeom prst="rect">
            <a:avLst/>
          </a:prstGeom>
        </p:spPr>
        <p:txBody>
          <a:bodyPr wrap="square" lIns="0" tIns="13335" rIns="0" bIns="0" rtlCol="0" vert="horz">
            <a:spAutoFit/>
          </a:bodyPr>
          <a:lstStyle/>
          <a:p>
            <a:pPr marL="74295">
              <a:lnSpc>
                <a:spcPct val="100000"/>
              </a:lnSpc>
              <a:spcBef>
                <a:spcPts val="105"/>
              </a:spcBef>
            </a:pPr>
            <a:r>
              <a:rPr dirty="0" sz="750">
                <a:latin typeface="Times New Roman"/>
                <a:cs typeface="Times New Roman"/>
              </a:rPr>
              <a:t>A[i]</a:t>
            </a:r>
            <a:r>
              <a:rPr dirty="0" sz="750" spc="105">
                <a:latin typeface="Times New Roman"/>
                <a:cs typeface="Times New Roman"/>
              </a:rPr>
              <a:t> </a:t>
            </a:r>
            <a:r>
              <a:rPr dirty="0" sz="750" spc="55">
                <a:latin typeface="Times New Roman"/>
                <a:cs typeface="Times New Roman"/>
              </a:rPr>
              <a:t>=</a:t>
            </a:r>
            <a:r>
              <a:rPr dirty="0" sz="750" spc="105">
                <a:latin typeface="Times New Roman"/>
                <a:cs typeface="Times New Roman"/>
              </a:rPr>
              <a:t> </a:t>
            </a:r>
            <a:r>
              <a:rPr dirty="0" sz="750">
                <a:latin typeface="Times New Roman"/>
                <a:cs typeface="Times New Roman"/>
              </a:rPr>
              <a:t>A[i]</a:t>
            </a:r>
            <a:r>
              <a:rPr dirty="0" sz="750" spc="110">
                <a:latin typeface="Times New Roman"/>
                <a:cs typeface="Times New Roman"/>
              </a:rPr>
              <a:t> </a:t>
            </a:r>
            <a:r>
              <a:rPr dirty="0" sz="750" spc="55">
                <a:latin typeface="Times New Roman"/>
                <a:cs typeface="Times New Roman"/>
              </a:rPr>
              <a:t>+</a:t>
            </a:r>
            <a:r>
              <a:rPr dirty="0" sz="750" spc="105">
                <a:latin typeface="Times New Roman"/>
                <a:cs typeface="Times New Roman"/>
              </a:rPr>
              <a:t> </a:t>
            </a:r>
            <a:r>
              <a:rPr dirty="0" sz="750" spc="-20">
                <a:latin typeface="Times New Roman"/>
                <a:cs typeface="Times New Roman"/>
              </a:rPr>
              <a:t>B[i]</a:t>
            </a:r>
            <a:endParaRPr sz="750">
              <a:latin typeface="Times New Roman"/>
              <a:cs typeface="Times New Roman"/>
            </a:endParaRPr>
          </a:p>
        </p:txBody>
      </p:sp>
      <p:sp>
        <p:nvSpPr>
          <p:cNvPr id="46" name="object 46" descr=""/>
          <p:cNvSpPr/>
          <p:nvPr/>
        </p:nvSpPr>
        <p:spPr>
          <a:xfrm>
            <a:off x="7767817" y="678854"/>
            <a:ext cx="615315" cy="410209"/>
          </a:xfrm>
          <a:custGeom>
            <a:avLst/>
            <a:gdLst/>
            <a:ahLst/>
            <a:cxnLst/>
            <a:rect l="l" t="t" r="r" b="b"/>
            <a:pathLst>
              <a:path w="615315" h="410209">
                <a:moveTo>
                  <a:pt x="307605" y="0"/>
                </a:moveTo>
                <a:lnTo>
                  <a:pt x="0" y="218505"/>
                </a:lnTo>
                <a:lnTo>
                  <a:pt x="307605" y="409830"/>
                </a:lnTo>
                <a:lnTo>
                  <a:pt x="615210" y="218505"/>
                </a:lnTo>
                <a:lnTo>
                  <a:pt x="307605" y="0"/>
                </a:lnTo>
                <a:close/>
              </a:path>
            </a:pathLst>
          </a:custGeom>
          <a:ln w="7208">
            <a:solidFill>
              <a:srgbClr val="000000"/>
            </a:solidFill>
          </a:ln>
        </p:spPr>
        <p:txBody>
          <a:bodyPr wrap="square" lIns="0" tIns="0" rIns="0" bIns="0" rtlCol="0"/>
          <a:lstStyle/>
          <a:p/>
        </p:txBody>
      </p:sp>
      <p:sp>
        <p:nvSpPr>
          <p:cNvPr id="47" name="object 47" descr=""/>
          <p:cNvSpPr txBox="1"/>
          <p:nvPr/>
        </p:nvSpPr>
        <p:spPr>
          <a:xfrm>
            <a:off x="7863429" y="803599"/>
            <a:ext cx="424180" cy="141605"/>
          </a:xfrm>
          <a:prstGeom prst="rect">
            <a:avLst/>
          </a:prstGeom>
        </p:spPr>
        <p:txBody>
          <a:bodyPr wrap="square" lIns="0" tIns="13335" rIns="0" bIns="0" rtlCol="0" vert="horz">
            <a:spAutoFit/>
          </a:bodyPr>
          <a:lstStyle/>
          <a:p>
            <a:pPr marL="12700">
              <a:lnSpc>
                <a:spcPct val="100000"/>
              </a:lnSpc>
              <a:spcBef>
                <a:spcPts val="105"/>
              </a:spcBef>
            </a:pPr>
            <a:r>
              <a:rPr dirty="0" sz="750">
                <a:latin typeface="Times New Roman"/>
                <a:cs typeface="Times New Roman"/>
              </a:rPr>
              <a:t>A[i]</a:t>
            </a:r>
            <a:r>
              <a:rPr dirty="0" sz="750" spc="105">
                <a:latin typeface="Times New Roman"/>
                <a:cs typeface="Times New Roman"/>
              </a:rPr>
              <a:t> </a:t>
            </a:r>
            <a:r>
              <a:rPr dirty="0" sz="750" spc="55">
                <a:latin typeface="Times New Roman"/>
                <a:cs typeface="Times New Roman"/>
              </a:rPr>
              <a:t>=</a:t>
            </a:r>
            <a:r>
              <a:rPr dirty="0" sz="750" spc="105">
                <a:latin typeface="Times New Roman"/>
                <a:cs typeface="Times New Roman"/>
              </a:rPr>
              <a:t> </a:t>
            </a:r>
            <a:r>
              <a:rPr dirty="0" sz="750" spc="-25">
                <a:latin typeface="Times New Roman"/>
                <a:cs typeface="Times New Roman"/>
              </a:rPr>
              <a:t>0?</a:t>
            </a:r>
            <a:endParaRPr sz="750">
              <a:latin typeface="Times New Roman"/>
              <a:cs typeface="Times New Roman"/>
            </a:endParaRPr>
          </a:p>
        </p:txBody>
      </p:sp>
      <p:sp>
        <p:nvSpPr>
          <p:cNvPr id="48" name="object 48" descr=""/>
          <p:cNvSpPr txBox="1"/>
          <p:nvPr/>
        </p:nvSpPr>
        <p:spPr>
          <a:xfrm>
            <a:off x="7152595" y="1129620"/>
            <a:ext cx="615315" cy="191770"/>
          </a:xfrm>
          <a:prstGeom prst="rect">
            <a:avLst/>
          </a:prstGeom>
          <a:ln w="7035">
            <a:solidFill>
              <a:srgbClr val="000000"/>
            </a:solidFill>
          </a:ln>
        </p:spPr>
        <p:txBody>
          <a:bodyPr wrap="square" lIns="0" tIns="29209" rIns="0" bIns="0" rtlCol="0" vert="horz">
            <a:spAutoFit/>
          </a:bodyPr>
          <a:lstStyle/>
          <a:p>
            <a:pPr marL="175895">
              <a:lnSpc>
                <a:spcPct val="100000"/>
              </a:lnSpc>
              <a:spcBef>
                <a:spcPts val="229"/>
              </a:spcBef>
            </a:pPr>
            <a:r>
              <a:rPr dirty="0" sz="750">
                <a:latin typeface="Times New Roman"/>
                <a:cs typeface="Times New Roman"/>
              </a:rPr>
              <a:t>B[i]</a:t>
            </a:r>
            <a:r>
              <a:rPr dirty="0" sz="750" spc="175">
                <a:latin typeface="Times New Roman"/>
                <a:cs typeface="Times New Roman"/>
              </a:rPr>
              <a:t> </a:t>
            </a:r>
            <a:r>
              <a:rPr dirty="0" sz="750" spc="5">
                <a:latin typeface="Times New Roman"/>
                <a:cs typeface="Times New Roman"/>
              </a:rPr>
              <a:t>=</a:t>
            </a:r>
            <a:endParaRPr sz="750">
              <a:latin typeface="Times New Roman"/>
              <a:cs typeface="Times New Roman"/>
            </a:endParaRPr>
          </a:p>
        </p:txBody>
      </p:sp>
      <p:sp>
        <p:nvSpPr>
          <p:cNvPr id="49" name="object 49" descr=""/>
          <p:cNvSpPr txBox="1"/>
          <p:nvPr/>
        </p:nvSpPr>
        <p:spPr>
          <a:xfrm>
            <a:off x="7152595" y="1498487"/>
            <a:ext cx="615315" cy="191770"/>
          </a:xfrm>
          <a:prstGeom prst="rect">
            <a:avLst/>
          </a:prstGeom>
          <a:ln w="7035">
            <a:solidFill>
              <a:srgbClr val="000000"/>
            </a:solidFill>
          </a:ln>
        </p:spPr>
        <p:txBody>
          <a:bodyPr wrap="square" lIns="0" tIns="29209" rIns="0" bIns="0" rtlCol="0" vert="horz">
            <a:spAutoFit/>
          </a:bodyPr>
          <a:lstStyle/>
          <a:p>
            <a:pPr marL="175895">
              <a:lnSpc>
                <a:spcPct val="100000"/>
              </a:lnSpc>
              <a:spcBef>
                <a:spcPts val="229"/>
              </a:spcBef>
            </a:pPr>
            <a:r>
              <a:rPr dirty="0" sz="750">
                <a:latin typeface="Times New Roman"/>
                <a:cs typeface="Times New Roman"/>
              </a:rPr>
              <a:t>C[i]</a:t>
            </a:r>
            <a:r>
              <a:rPr dirty="0" sz="750" spc="175">
                <a:latin typeface="Times New Roman"/>
                <a:cs typeface="Times New Roman"/>
              </a:rPr>
              <a:t> </a:t>
            </a:r>
            <a:r>
              <a:rPr dirty="0" sz="750" spc="5">
                <a:latin typeface="Times New Roman"/>
                <a:cs typeface="Times New Roman"/>
              </a:rPr>
              <a:t>=</a:t>
            </a:r>
            <a:endParaRPr sz="750">
              <a:latin typeface="Times New Roman"/>
              <a:cs typeface="Times New Roman"/>
            </a:endParaRPr>
          </a:p>
        </p:txBody>
      </p:sp>
      <p:grpSp>
        <p:nvGrpSpPr>
          <p:cNvPr id="50" name="object 50" descr=""/>
          <p:cNvGrpSpPr/>
          <p:nvPr/>
        </p:nvGrpSpPr>
        <p:grpSpPr>
          <a:xfrm>
            <a:off x="7441969" y="540592"/>
            <a:ext cx="652145" cy="589280"/>
            <a:chOff x="7441969" y="540592"/>
            <a:chExt cx="652145" cy="589280"/>
          </a:xfrm>
        </p:grpSpPr>
        <p:sp>
          <p:nvSpPr>
            <p:cNvPr id="51" name="object 51" descr=""/>
            <p:cNvSpPr/>
            <p:nvPr/>
          </p:nvSpPr>
          <p:spPr>
            <a:xfrm>
              <a:off x="8075422" y="542180"/>
              <a:ext cx="0" cy="92710"/>
            </a:xfrm>
            <a:custGeom>
              <a:avLst/>
              <a:gdLst/>
              <a:ahLst/>
              <a:cxnLst/>
              <a:rect l="l" t="t" r="r" b="b"/>
              <a:pathLst>
                <a:path w="0" h="92709">
                  <a:moveTo>
                    <a:pt x="0" y="0"/>
                  </a:moveTo>
                  <a:lnTo>
                    <a:pt x="0" y="92144"/>
                  </a:lnTo>
                </a:path>
              </a:pathLst>
            </a:custGeom>
            <a:ln w="3175">
              <a:solidFill>
                <a:srgbClr val="000000"/>
              </a:solidFill>
            </a:ln>
          </p:spPr>
          <p:txBody>
            <a:bodyPr wrap="square" lIns="0" tIns="0" rIns="0" bIns="0" rtlCol="0"/>
            <a:lstStyle/>
            <a:p/>
          </p:txBody>
        </p:sp>
        <p:sp>
          <p:nvSpPr>
            <p:cNvPr id="52" name="object 52" descr=""/>
            <p:cNvSpPr/>
            <p:nvPr/>
          </p:nvSpPr>
          <p:spPr>
            <a:xfrm>
              <a:off x="8057191" y="630276"/>
              <a:ext cx="36830" cy="48895"/>
            </a:xfrm>
            <a:custGeom>
              <a:avLst/>
              <a:gdLst/>
              <a:ahLst/>
              <a:cxnLst/>
              <a:rect l="l" t="t" r="r" b="b"/>
              <a:pathLst>
                <a:path w="36829" h="48895">
                  <a:moveTo>
                    <a:pt x="36462" y="0"/>
                  </a:moveTo>
                  <a:lnTo>
                    <a:pt x="0" y="0"/>
                  </a:lnTo>
                  <a:lnTo>
                    <a:pt x="18231" y="48578"/>
                  </a:lnTo>
                  <a:lnTo>
                    <a:pt x="36462" y="0"/>
                  </a:lnTo>
                  <a:close/>
                </a:path>
              </a:pathLst>
            </a:custGeom>
            <a:solidFill>
              <a:srgbClr val="000000"/>
            </a:solidFill>
          </p:spPr>
          <p:txBody>
            <a:bodyPr wrap="square" lIns="0" tIns="0" rIns="0" bIns="0" rtlCol="0"/>
            <a:lstStyle/>
            <a:p/>
          </p:txBody>
        </p:sp>
        <p:sp>
          <p:nvSpPr>
            <p:cNvPr id="53" name="object 53" descr=""/>
            <p:cNvSpPr/>
            <p:nvPr/>
          </p:nvSpPr>
          <p:spPr>
            <a:xfrm>
              <a:off x="7460200" y="897360"/>
              <a:ext cx="307975" cy="187960"/>
            </a:xfrm>
            <a:custGeom>
              <a:avLst/>
              <a:gdLst/>
              <a:ahLst/>
              <a:cxnLst/>
              <a:rect l="l" t="t" r="r" b="b"/>
              <a:pathLst>
                <a:path w="307975" h="187959">
                  <a:moveTo>
                    <a:pt x="307616" y="0"/>
                  </a:moveTo>
                  <a:lnTo>
                    <a:pt x="0" y="0"/>
                  </a:lnTo>
                  <a:lnTo>
                    <a:pt x="0" y="187758"/>
                  </a:lnTo>
                </a:path>
              </a:pathLst>
            </a:custGeom>
            <a:ln w="3175">
              <a:solidFill>
                <a:srgbClr val="000000"/>
              </a:solidFill>
            </a:ln>
          </p:spPr>
          <p:txBody>
            <a:bodyPr wrap="square" lIns="0" tIns="0" rIns="0" bIns="0" rtlCol="0"/>
            <a:lstStyle/>
            <a:p/>
          </p:txBody>
        </p:sp>
        <p:sp>
          <p:nvSpPr>
            <p:cNvPr id="54" name="object 54" descr=""/>
            <p:cNvSpPr/>
            <p:nvPr/>
          </p:nvSpPr>
          <p:spPr>
            <a:xfrm>
              <a:off x="7441969" y="1081070"/>
              <a:ext cx="36830" cy="48895"/>
            </a:xfrm>
            <a:custGeom>
              <a:avLst/>
              <a:gdLst/>
              <a:ahLst/>
              <a:cxnLst/>
              <a:rect l="l" t="t" r="r" b="b"/>
              <a:pathLst>
                <a:path w="36829" h="48894">
                  <a:moveTo>
                    <a:pt x="36462" y="0"/>
                  </a:moveTo>
                  <a:lnTo>
                    <a:pt x="0" y="0"/>
                  </a:lnTo>
                  <a:lnTo>
                    <a:pt x="18231" y="48578"/>
                  </a:lnTo>
                  <a:lnTo>
                    <a:pt x="36462" y="0"/>
                  </a:lnTo>
                  <a:close/>
                </a:path>
              </a:pathLst>
            </a:custGeom>
            <a:solidFill>
              <a:srgbClr val="000000"/>
            </a:solidFill>
          </p:spPr>
          <p:txBody>
            <a:bodyPr wrap="square" lIns="0" tIns="0" rIns="0" bIns="0" rtlCol="0"/>
            <a:lstStyle/>
            <a:p/>
          </p:txBody>
        </p:sp>
      </p:grpSp>
      <p:sp>
        <p:nvSpPr>
          <p:cNvPr id="55" name="object 55" descr=""/>
          <p:cNvSpPr txBox="1"/>
          <p:nvPr/>
        </p:nvSpPr>
        <p:spPr>
          <a:xfrm>
            <a:off x="7516865" y="735261"/>
            <a:ext cx="194310" cy="141605"/>
          </a:xfrm>
          <a:prstGeom prst="rect">
            <a:avLst/>
          </a:prstGeom>
        </p:spPr>
        <p:txBody>
          <a:bodyPr wrap="square" lIns="0" tIns="13335" rIns="0" bIns="0" rtlCol="0" vert="horz">
            <a:spAutoFit/>
          </a:bodyPr>
          <a:lstStyle/>
          <a:p>
            <a:pPr marL="12700">
              <a:lnSpc>
                <a:spcPct val="100000"/>
              </a:lnSpc>
              <a:spcBef>
                <a:spcPts val="105"/>
              </a:spcBef>
            </a:pPr>
            <a:r>
              <a:rPr dirty="0" sz="750" spc="-20">
                <a:latin typeface="Times New Roman"/>
                <a:cs typeface="Times New Roman"/>
              </a:rPr>
              <a:t>true</a:t>
            </a:r>
            <a:endParaRPr sz="750">
              <a:latin typeface="Times New Roman"/>
              <a:cs typeface="Times New Roman"/>
            </a:endParaRPr>
          </a:p>
        </p:txBody>
      </p:sp>
      <p:sp>
        <p:nvSpPr>
          <p:cNvPr id="56" name="object 56" descr=""/>
          <p:cNvSpPr txBox="1"/>
          <p:nvPr/>
        </p:nvSpPr>
        <p:spPr>
          <a:xfrm>
            <a:off x="8421656" y="735261"/>
            <a:ext cx="230504" cy="141605"/>
          </a:xfrm>
          <a:prstGeom prst="rect">
            <a:avLst/>
          </a:prstGeom>
        </p:spPr>
        <p:txBody>
          <a:bodyPr wrap="square" lIns="0" tIns="13335" rIns="0" bIns="0" rtlCol="0" vert="horz">
            <a:spAutoFit/>
          </a:bodyPr>
          <a:lstStyle/>
          <a:p>
            <a:pPr marL="12700">
              <a:lnSpc>
                <a:spcPct val="100000"/>
              </a:lnSpc>
              <a:spcBef>
                <a:spcPts val="105"/>
              </a:spcBef>
            </a:pPr>
            <a:r>
              <a:rPr dirty="0" sz="750" spc="-10">
                <a:latin typeface="Times New Roman"/>
                <a:cs typeface="Times New Roman"/>
              </a:rPr>
              <a:t>false</a:t>
            </a:r>
            <a:endParaRPr sz="750">
              <a:latin typeface="Times New Roman"/>
              <a:cs typeface="Times New Roman"/>
            </a:endParaRPr>
          </a:p>
        </p:txBody>
      </p:sp>
      <p:sp>
        <p:nvSpPr>
          <p:cNvPr id="57" name="object 57" descr=""/>
          <p:cNvSpPr/>
          <p:nvPr/>
        </p:nvSpPr>
        <p:spPr>
          <a:xfrm>
            <a:off x="7614014" y="1909859"/>
            <a:ext cx="923290" cy="191770"/>
          </a:xfrm>
          <a:custGeom>
            <a:avLst/>
            <a:gdLst/>
            <a:ahLst/>
            <a:cxnLst/>
            <a:rect l="l" t="t" r="r" b="b"/>
            <a:pathLst>
              <a:path w="923290" h="191769">
                <a:moveTo>
                  <a:pt x="0" y="191257"/>
                </a:moveTo>
                <a:lnTo>
                  <a:pt x="922826" y="191257"/>
                </a:lnTo>
                <a:lnTo>
                  <a:pt x="922826" y="0"/>
                </a:lnTo>
                <a:lnTo>
                  <a:pt x="0" y="0"/>
                </a:lnTo>
                <a:lnTo>
                  <a:pt x="0" y="191257"/>
                </a:lnTo>
                <a:close/>
              </a:path>
            </a:pathLst>
          </a:custGeom>
          <a:ln w="6975">
            <a:solidFill>
              <a:srgbClr val="000000"/>
            </a:solidFill>
          </a:ln>
        </p:spPr>
        <p:txBody>
          <a:bodyPr wrap="square" lIns="0" tIns="0" rIns="0" bIns="0" rtlCol="0"/>
          <a:lstStyle/>
          <a:p/>
        </p:txBody>
      </p:sp>
      <p:sp>
        <p:nvSpPr>
          <p:cNvPr id="58" name="object 58" descr=""/>
          <p:cNvSpPr txBox="1"/>
          <p:nvPr/>
        </p:nvSpPr>
        <p:spPr>
          <a:xfrm>
            <a:off x="7617507" y="1925236"/>
            <a:ext cx="916305" cy="141605"/>
          </a:xfrm>
          <a:prstGeom prst="rect">
            <a:avLst/>
          </a:prstGeom>
        </p:spPr>
        <p:txBody>
          <a:bodyPr wrap="square" lIns="0" tIns="13335" rIns="0" bIns="0" rtlCol="0" vert="horz">
            <a:spAutoFit/>
          </a:bodyPr>
          <a:lstStyle/>
          <a:p>
            <a:pPr marL="74295">
              <a:lnSpc>
                <a:spcPct val="100000"/>
              </a:lnSpc>
              <a:spcBef>
                <a:spcPts val="105"/>
              </a:spcBef>
            </a:pPr>
            <a:r>
              <a:rPr dirty="0" sz="750">
                <a:latin typeface="Times New Roman"/>
                <a:cs typeface="Times New Roman"/>
              </a:rPr>
              <a:t>A[i]</a:t>
            </a:r>
            <a:r>
              <a:rPr dirty="0" sz="750" spc="105">
                <a:latin typeface="Times New Roman"/>
                <a:cs typeface="Times New Roman"/>
              </a:rPr>
              <a:t> </a:t>
            </a:r>
            <a:r>
              <a:rPr dirty="0" sz="750" spc="55">
                <a:latin typeface="Times New Roman"/>
                <a:cs typeface="Times New Roman"/>
              </a:rPr>
              <a:t>=</a:t>
            </a:r>
            <a:r>
              <a:rPr dirty="0" sz="750" spc="105">
                <a:latin typeface="Times New Roman"/>
                <a:cs typeface="Times New Roman"/>
              </a:rPr>
              <a:t> </a:t>
            </a:r>
            <a:r>
              <a:rPr dirty="0" sz="750">
                <a:latin typeface="Times New Roman"/>
                <a:cs typeface="Times New Roman"/>
              </a:rPr>
              <a:t>A[i]</a:t>
            </a:r>
            <a:r>
              <a:rPr dirty="0" sz="750" spc="110">
                <a:latin typeface="Times New Roman"/>
                <a:cs typeface="Times New Roman"/>
              </a:rPr>
              <a:t> </a:t>
            </a:r>
            <a:r>
              <a:rPr dirty="0" sz="750" spc="55">
                <a:latin typeface="Times New Roman"/>
                <a:cs typeface="Times New Roman"/>
              </a:rPr>
              <a:t>+</a:t>
            </a:r>
            <a:r>
              <a:rPr dirty="0" sz="750" spc="105">
                <a:latin typeface="Times New Roman"/>
                <a:cs typeface="Times New Roman"/>
              </a:rPr>
              <a:t> </a:t>
            </a:r>
            <a:r>
              <a:rPr dirty="0" sz="750" spc="-20">
                <a:latin typeface="Times New Roman"/>
                <a:cs typeface="Times New Roman"/>
              </a:rPr>
              <a:t>B[i]</a:t>
            </a:r>
            <a:endParaRPr sz="750">
              <a:latin typeface="Times New Roman"/>
              <a:cs typeface="Times New Roman"/>
            </a:endParaRPr>
          </a:p>
        </p:txBody>
      </p:sp>
      <p:sp>
        <p:nvSpPr>
          <p:cNvPr id="59" name="object 59" descr=""/>
          <p:cNvSpPr/>
          <p:nvPr/>
        </p:nvSpPr>
        <p:spPr>
          <a:xfrm>
            <a:off x="7767817" y="2224008"/>
            <a:ext cx="615315" cy="410209"/>
          </a:xfrm>
          <a:custGeom>
            <a:avLst/>
            <a:gdLst/>
            <a:ahLst/>
            <a:cxnLst/>
            <a:rect l="l" t="t" r="r" b="b"/>
            <a:pathLst>
              <a:path w="615315" h="410210">
                <a:moveTo>
                  <a:pt x="307605" y="0"/>
                </a:moveTo>
                <a:lnTo>
                  <a:pt x="0" y="218602"/>
                </a:lnTo>
                <a:lnTo>
                  <a:pt x="307605" y="409830"/>
                </a:lnTo>
                <a:lnTo>
                  <a:pt x="615210" y="218602"/>
                </a:lnTo>
                <a:lnTo>
                  <a:pt x="307605" y="0"/>
                </a:lnTo>
                <a:close/>
              </a:path>
            </a:pathLst>
          </a:custGeom>
          <a:ln w="7208">
            <a:solidFill>
              <a:srgbClr val="000000"/>
            </a:solidFill>
          </a:ln>
        </p:spPr>
        <p:txBody>
          <a:bodyPr wrap="square" lIns="0" tIns="0" rIns="0" bIns="0" rtlCol="0"/>
          <a:lstStyle/>
          <a:p/>
        </p:txBody>
      </p:sp>
      <p:sp>
        <p:nvSpPr>
          <p:cNvPr id="60" name="object 60" descr=""/>
          <p:cNvSpPr txBox="1"/>
          <p:nvPr/>
        </p:nvSpPr>
        <p:spPr>
          <a:xfrm>
            <a:off x="7863429" y="2348753"/>
            <a:ext cx="424180" cy="141605"/>
          </a:xfrm>
          <a:prstGeom prst="rect">
            <a:avLst/>
          </a:prstGeom>
        </p:spPr>
        <p:txBody>
          <a:bodyPr wrap="square" lIns="0" tIns="13335" rIns="0" bIns="0" rtlCol="0" vert="horz">
            <a:spAutoFit/>
          </a:bodyPr>
          <a:lstStyle/>
          <a:p>
            <a:pPr marL="12700">
              <a:lnSpc>
                <a:spcPct val="100000"/>
              </a:lnSpc>
              <a:spcBef>
                <a:spcPts val="105"/>
              </a:spcBef>
            </a:pPr>
            <a:r>
              <a:rPr dirty="0" sz="750">
                <a:latin typeface="Times New Roman"/>
                <a:cs typeface="Times New Roman"/>
              </a:rPr>
              <a:t>A[i]</a:t>
            </a:r>
            <a:r>
              <a:rPr dirty="0" sz="750" spc="105">
                <a:latin typeface="Times New Roman"/>
                <a:cs typeface="Times New Roman"/>
              </a:rPr>
              <a:t> </a:t>
            </a:r>
            <a:r>
              <a:rPr dirty="0" sz="750" spc="55">
                <a:latin typeface="Times New Roman"/>
                <a:cs typeface="Times New Roman"/>
              </a:rPr>
              <a:t>=</a:t>
            </a:r>
            <a:r>
              <a:rPr dirty="0" sz="750" spc="105">
                <a:latin typeface="Times New Roman"/>
                <a:cs typeface="Times New Roman"/>
              </a:rPr>
              <a:t> </a:t>
            </a:r>
            <a:r>
              <a:rPr dirty="0" sz="750" spc="-25">
                <a:latin typeface="Times New Roman"/>
                <a:cs typeface="Times New Roman"/>
              </a:rPr>
              <a:t>0?</a:t>
            </a:r>
            <a:endParaRPr sz="750">
              <a:latin typeface="Times New Roman"/>
              <a:cs typeface="Times New Roman"/>
            </a:endParaRPr>
          </a:p>
        </p:txBody>
      </p:sp>
      <p:sp>
        <p:nvSpPr>
          <p:cNvPr id="61" name="object 61" descr=""/>
          <p:cNvSpPr txBox="1"/>
          <p:nvPr/>
        </p:nvSpPr>
        <p:spPr>
          <a:xfrm>
            <a:off x="7152595" y="2702147"/>
            <a:ext cx="615315" cy="191770"/>
          </a:xfrm>
          <a:prstGeom prst="rect">
            <a:avLst/>
          </a:prstGeom>
          <a:ln w="7035">
            <a:solidFill>
              <a:srgbClr val="000000"/>
            </a:solidFill>
          </a:ln>
        </p:spPr>
        <p:txBody>
          <a:bodyPr wrap="square" lIns="0" tIns="29209" rIns="0" bIns="0" rtlCol="0" vert="horz">
            <a:spAutoFit/>
          </a:bodyPr>
          <a:lstStyle/>
          <a:p>
            <a:pPr marL="175895">
              <a:lnSpc>
                <a:spcPct val="100000"/>
              </a:lnSpc>
              <a:spcBef>
                <a:spcPts val="229"/>
              </a:spcBef>
            </a:pPr>
            <a:r>
              <a:rPr dirty="0" sz="750">
                <a:latin typeface="Times New Roman"/>
                <a:cs typeface="Times New Roman"/>
              </a:rPr>
              <a:t>B[i]</a:t>
            </a:r>
            <a:r>
              <a:rPr dirty="0" sz="750" spc="175">
                <a:latin typeface="Times New Roman"/>
                <a:cs typeface="Times New Roman"/>
              </a:rPr>
              <a:t> </a:t>
            </a:r>
            <a:r>
              <a:rPr dirty="0" sz="750" spc="5">
                <a:latin typeface="Times New Roman"/>
                <a:cs typeface="Times New Roman"/>
              </a:rPr>
              <a:t>=</a:t>
            </a:r>
            <a:endParaRPr sz="750">
              <a:latin typeface="Times New Roman"/>
              <a:cs typeface="Times New Roman"/>
            </a:endParaRPr>
          </a:p>
        </p:txBody>
      </p:sp>
      <p:sp>
        <p:nvSpPr>
          <p:cNvPr id="62" name="object 62" descr=""/>
          <p:cNvSpPr txBox="1"/>
          <p:nvPr/>
        </p:nvSpPr>
        <p:spPr>
          <a:xfrm>
            <a:off x="7152595" y="3016364"/>
            <a:ext cx="615315" cy="191770"/>
          </a:xfrm>
          <a:prstGeom prst="rect">
            <a:avLst/>
          </a:prstGeom>
          <a:ln w="7035">
            <a:solidFill>
              <a:srgbClr val="000000"/>
            </a:solidFill>
          </a:ln>
        </p:spPr>
        <p:txBody>
          <a:bodyPr wrap="square" lIns="0" tIns="29209" rIns="0" bIns="0" rtlCol="0" vert="horz">
            <a:spAutoFit/>
          </a:bodyPr>
          <a:lstStyle/>
          <a:p>
            <a:pPr marL="175895">
              <a:lnSpc>
                <a:spcPct val="100000"/>
              </a:lnSpc>
              <a:spcBef>
                <a:spcPts val="229"/>
              </a:spcBef>
            </a:pPr>
            <a:r>
              <a:rPr dirty="0" sz="750">
                <a:latin typeface="Times New Roman"/>
                <a:cs typeface="Times New Roman"/>
              </a:rPr>
              <a:t>C[i]</a:t>
            </a:r>
            <a:r>
              <a:rPr dirty="0" sz="750" spc="175">
                <a:latin typeface="Times New Roman"/>
                <a:cs typeface="Times New Roman"/>
              </a:rPr>
              <a:t> </a:t>
            </a:r>
            <a:r>
              <a:rPr dirty="0" sz="750" spc="5">
                <a:latin typeface="Times New Roman"/>
                <a:cs typeface="Times New Roman"/>
              </a:rPr>
              <a:t>=</a:t>
            </a:r>
            <a:endParaRPr sz="750">
              <a:latin typeface="Times New Roman"/>
              <a:cs typeface="Times New Roman"/>
            </a:endParaRPr>
          </a:p>
        </p:txBody>
      </p:sp>
      <p:grpSp>
        <p:nvGrpSpPr>
          <p:cNvPr id="63" name="object 63" descr=""/>
          <p:cNvGrpSpPr/>
          <p:nvPr/>
        </p:nvGrpSpPr>
        <p:grpSpPr>
          <a:xfrm>
            <a:off x="7441969" y="2099529"/>
            <a:ext cx="652145" cy="603250"/>
            <a:chOff x="7441969" y="2099529"/>
            <a:chExt cx="652145" cy="603250"/>
          </a:xfrm>
        </p:grpSpPr>
        <p:sp>
          <p:nvSpPr>
            <p:cNvPr id="64" name="object 64" descr=""/>
            <p:cNvSpPr/>
            <p:nvPr/>
          </p:nvSpPr>
          <p:spPr>
            <a:xfrm>
              <a:off x="8075422" y="2101117"/>
              <a:ext cx="0" cy="78740"/>
            </a:xfrm>
            <a:custGeom>
              <a:avLst/>
              <a:gdLst/>
              <a:ahLst/>
              <a:cxnLst/>
              <a:rect l="l" t="t" r="r" b="b"/>
              <a:pathLst>
                <a:path w="0" h="78739">
                  <a:moveTo>
                    <a:pt x="0" y="0"/>
                  </a:moveTo>
                  <a:lnTo>
                    <a:pt x="0" y="78361"/>
                  </a:lnTo>
                </a:path>
              </a:pathLst>
            </a:custGeom>
            <a:ln w="3175">
              <a:solidFill>
                <a:srgbClr val="000000"/>
              </a:solidFill>
            </a:ln>
          </p:spPr>
          <p:txBody>
            <a:bodyPr wrap="square" lIns="0" tIns="0" rIns="0" bIns="0" rtlCol="0"/>
            <a:lstStyle/>
            <a:p/>
          </p:txBody>
        </p:sp>
        <p:sp>
          <p:nvSpPr>
            <p:cNvPr id="65" name="object 65" descr=""/>
            <p:cNvSpPr/>
            <p:nvPr/>
          </p:nvSpPr>
          <p:spPr>
            <a:xfrm>
              <a:off x="8057191" y="2175430"/>
              <a:ext cx="36830" cy="48895"/>
            </a:xfrm>
            <a:custGeom>
              <a:avLst/>
              <a:gdLst/>
              <a:ahLst/>
              <a:cxnLst/>
              <a:rect l="l" t="t" r="r" b="b"/>
              <a:pathLst>
                <a:path w="36829" h="48894">
                  <a:moveTo>
                    <a:pt x="36462" y="0"/>
                  </a:moveTo>
                  <a:lnTo>
                    <a:pt x="0" y="0"/>
                  </a:lnTo>
                  <a:lnTo>
                    <a:pt x="18231" y="48578"/>
                  </a:lnTo>
                  <a:lnTo>
                    <a:pt x="36462" y="0"/>
                  </a:lnTo>
                  <a:close/>
                </a:path>
              </a:pathLst>
            </a:custGeom>
            <a:solidFill>
              <a:srgbClr val="000000"/>
            </a:solidFill>
          </p:spPr>
          <p:txBody>
            <a:bodyPr wrap="square" lIns="0" tIns="0" rIns="0" bIns="0" rtlCol="0"/>
            <a:lstStyle/>
            <a:p/>
          </p:txBody>
        </p:sp>
        <p:sp>
          <p:nvSpPr>
            <p:cNvPr id="66" name="object 66" descr=""/>
            <p:cNvSpPr/>
            <p:nvPr/>
          </p:nvSpPr>
          <p:spPr>
            <a:xfrm>
              <a:off x="7460200" y="2442610"/>
              <a:ext cx="307975" cy="215265"/>
            </a:xfrm>
            <a:custGeom>
              <a:avLst/>
              <a:gdLst/>
              <a:ahLst/>
              <a:cxnLst/>
              <a:rect l="l" t="t" r="r" b="b"/>
              <a:pathLst>
                <a:path w="307975" h="215264">
                  <a:moveTo>
                    <a:pt x="307616" y="0"/>
                  </a:moveTo>
                  <a:lnTo>
                    <a:pt x="0" y="0"/>
                  </a:lnTo>
                  <a:lnTo>
                    <a:pt x="0" y="215035"/>
                  </a:lnTo>
                </a:path>
              </a:pathLst>
            </a:custGeom>
            <a:ln w="3175">
              <a:solidFill>
                <a:srgbClr val="000000"/>
              </a:solidFill>
            </a:ln>
          </p:spPr>
          <p:txBody>
            <a:bodyPr wrap="square" lIns="0" tIns="0" rIns="0" bIns="0" rtlCol="0"/>
            <a:lstStyle/>
            <a:p/>
          </p:txBody>
        </p:sp>
        <p:sp>
          <p:nvSpPr>
            <p:cNvPr id="67" name="object 67" descr=""/>
            <p:cNvSpPr/>
            <p:nvPr/>
          </p:nvSpPr>
          <p:spPr>
            <a:xfrm>
              <a:off x="7441969" y="2653598"/>
              <a:ext cx="36830" cy="48895"/>
            </a:xfrm>
            <a:custGeom>
              <a:avLst/>
              <a:gdLst/>
              <a:ahLst/>
              <a:cxnLst/>
              <a:rect l="l" t="t" r="r" b="b"/>
              <a:pathLst>
                <a:path w="36829" h="48894">
                  <a:moveTo>
                    <a:pt x="36462" y="0"/>
                  </a:moveTo>
                  <a:lnTo>
                    <a:pt x="0" y="0"/>
                  </a:lnTo>
                  <a:lnTo>
                    <a:pt x="18231" y="48578"/>
                  </a:lnTo>
                  <a:lnTo>
                    <a:pt x="36462" y="0"/>
                  </a:lnTo>
                  <a:close/>
                </a:path>
              </a:pathLst>
            </a:custGeom>
            <a:solidFill>
              <a:srgbClr val="000000"/>
            </a:solidFill>
          </p:spPr>
          <p:txBody>
            <a:bodyPr wrap="square" lIns="0" tIns="0" rIns="0" bIns="0" rtlCol="0"/>
            <a:lstStyle/>
            <a:p/>
          </p:txBody>
        </p:sp>
      </p:grpSp>
      <p:sp>
        <p:nvSpPr>
          <p:cNvPr id="68" name="object 68" descr=""/>
          <p:cNvSpPr txBox="1"/>
          <p:nvPr/>
        </p:nvSpPr>
        <p:spPr>
          <a:xfrm>
            <a:off x="7516865" y="2280512"/>
            <a:ext cx="194310" cy="141605"/>
          </a:xfrm>
          <a:prstGeom prst="rect">
            <a:avLst/>
          </a:prstGeom>
        </p:spPr>
        <p:txBody>
          <a:bodyPr wrap="square" lIns="0" tIns="13335" rIns="0" bIns="0" rtlCol="0" vert="horz">
            <a:spAutoFit/>
          </a:bodyPr>
          <a:lstStyle/>
          <a:p>
            <a:pPr marL="12700">
              <a:lnSpc>
                <a:spcPct val="100000"/>
              </a:lnSpc>
              <a:spcBef>
                <a:spcPts val="105"/>
              </a:spcBef>
            </a:pPr>
            <a:r>
              <a:rPr dirty="0" sz="750" spc="-20">
                <a:latin typeface="Times New Roman"/>
                <a:cs typeface="Times New Roman"/>
              </a:rPr>
              <a:t>true</a:t>
            </a:r>
            <a:endParaRPr sz="750">
              <a:latin typeface="Times New Roman"/>
              <a:cs typeface="Times New Roman"/>
            </a:endParaRPr>
          </a:p>
        </p:txBody>
      </p:sp>
      <p:sp>
        <p:nvSpPr>
          <p:cNvPr id="69" name="object 69" descr=""/>
          <p:cNvSpPr txBox="1"/>
          <p:nvPr/>
        </p:nvSpPr>
        <p:spPr>
          <a:xfrm>
            <a:off x="8421656" y="2280512"/>
            <a:ext cx="230504" cy="141605"/>
          </a:xfrm>
          <a:prstGeom prst="rect">
            <a:avLst/>
          </a:prstGeom>
        </p:spPr>
        <p:txBody>
          <a:bodyPr wrap="square" lIns="0" tIns="13335" rIns="0" bIns="0" rtlCol="0" vert="horz">
            <a:spAutoFit/>
          </a:bodyPr>
          <a:lstStyle/>
          <a:p>
            <a:pPr marL="12700">
              <a:lnSpc>
                <a:spcPct val="100000"/>
              </a:lnSpc>
              <a:spcBef>
                <a:spcPts val="105"/>
              </a:spcBef>
            </a:pPr>
            <a:r>
              <a:rPr dirty="0" sz="750" spc="-10">
                <a:latin typeface="Times New Roman"/>
                <a:cs typeface="Times New Roman"/>
              </a:rPr>
              <a:t>false</a:t>
            </a:r>
            <a:endParaRPr sz="750">
              <a:latin typeface="Times New Roman"/>
              <a:cs typeface="Times New Roman"/>
            </a:endParaRPr>
          </a:p>
        </p:txBody>
      </p:sp>
      <p:grpSp>
        <p:nvGrpSpPr>
          <p:cNvPr id="70" name="object 70" descr=""/>
          <p:cNvGrpSpPr/>
          <p:nvPr/>
        </p:nvGrpSpPr>
        <p:grpSpPr>
          <a:xfrm>
            <a:off x="7441969" y="1320877"/>
            <a:ext cx="36830" cy="177800"/>
            <a:chOff x="7441969" y="1320877"/>
            <a:chExt cx="36830" cy="177800"/>
          </a:xfrm>
        </p:grpSpPr>
        <p:sp>
          <p:nvSpPr>
            <p:cNvPr id="71" name="object 71" descr=""/>
            <p:cNvSpPr/>
            <p:nvPr/>
          </p:nvSpPr>
          <p:spPr>
            <a:xfrm>
              <a:off x="7460200" y="1320877"/>
              <a:ext cx="0" cy="133350"/>
            </a:xfrm>
            <a:custGeom>
              <a:avLst/>
              <a:gdLst/>
              <a:ahLst/>
              <a:cxnLst/>
              <a:rect l="l" t="t" r="r" b="b"/>
              <a:pathLst>
                <a:path w="0" h="133350">
                  <a:moveTo>
                    <a:pt x="0" y="0"/>
                  </a:moveTo>
                  <a:lnTo>
                    <a:pt x="0" y="133108"/>
                  </a:lnTo>
                </a:path>
              </a:pathLst>
            </a:custGeom>
            <a:ln w="3175">
              <a:solidFill>
                <a:srgbClr val="000000"/>
              </a:solidFill>
            </a:ln>
          </p:spPr>
          <p:txBody>
            <a:bodyPr wrap="square" lIns="0" tIns="0" rIns="0" bIns="0" rtlCol="0"/>
            <a:lstStyle/>
            <a:p/>
          </p:txBody>
        </p:sp>
        <p:sp>
          <p:nvSpPr>
            <p:cNvPr id="72" name="object 72" descr=""/>
            <p:cNvSpPr/>
            <p:nvPr/>
          </p:nvSpPr>
          <p:spPr>
            <a:xfrm>
              <a:off x="7441969" y="1449937"/>
              <a:ext cx="36830" cy="48895"/>
            </a:xfrm>
            <a:custGeom>
              <a:avLst/>
              <a:gdLst/>
              <a:ahLst/>
              <a:cxnLst/>
              <a:rect l="l" t="t" r="r" b="b"/>
              <a:pathLst>
                <a:path w="36829" h="48894">
                  <a:moveTo>
                    <a:pt x="36462" y="0"/>
                  </a:moveTo>
                  <a:lnTo>
                    <a:pt x="0" y="0"/>
                  </a:lnTo>
                  <a:lnTo>
                    <a:pt x="18231" y="48578"/>
                  </a:lnTo>
                  <a:lnTo>
                    <a:pt x="36462" y="0"/>
                  </a:lnTo>
                  <a:close/>
                </a:path>
              </a:pathLst>
            </a:custGeom>
            <a:solidFill>
              <a:srgbClr val="000000"/>
            </a:solidFill>
          </p:spPr>
          <p:txBody>
            <a:bodyPr wrap="square" lIns="0" tIns="0" rIns="0" bIns="0" rtlCol="0"/>
            <a:lstStyle/>
            <a:p/>
          </p:txBody>
        </p:sp>
      </p:grpSp>
      <p:grpSp>
        <p:nvGrpSpPr>
          <p:cNvPr id="73" name="object 73" descr=""/>
          <p:cNvGrpSpPr/>
          <p:nvPr/>
        </p:nvGrpSpPr>
        <p:grpSpPr>
          <a:xfrm>
            <a:off x="7441969" y="2893405"/>
            <a:ext cx="36830" cy="123189"/>
            <a:chOff x="7441969" y="2893405"/>
            <a:chExt cx="36830" cy="123189"/>
          </a:xfrm>
        </p:grpSpPr>
        <p:sp>
          <p:nvSpPr>
            <p:cNvPr id="74" name="object 74" descr=""/>
            <p:cNvSpPr/>
            <p:nvPr/>
          </p:nvSpPr>
          <p:spPr>
            <a:xfrm>
              <a:off x="7460200" y="2893405"/>
              <a:ext cx="0" cy="78740"/>
            </a:xfrm>
            <a:custGeom>
              <a:avLst/>
              <a:gdLst/>
              <a:ahLst/>
              <a:cxnLst/>
              <a:rect l="l" t="t" r="r" b="b"/>
              <a:pathLst>
                <a:path w="0" h="78739">
                  <a:moveTo>
                    <a:pt x="0" y="0"/>
                  </a:moveTo>
                  <a:lnTo>
                    <a:pt x="0" y="78457"/>
                  </a:lnTo>
                </a:path>
              </a:pathLst>
            </a:custGeom>
            <a:ln w="3175">
              <a:solidFill>
                <a:srgbClr val="000000"/>
              </a:solidFill>
            </a:ln>
          </p:spPr>
          <p:txBody>
            <a:bodyPr wrap="square" lIns="0" tIns="0" rIns="0" bIns="0" rtlCol="0"/>
            <a:lstStyle/>
            <a:p/>
          </p:txBody>
        </p:sp>
        <p:sp>
          <p:nvSpPr>
            <p:cNvPr id="75" name="object 75" descr=""/>
            <p:cNvSpPr/>
            <p:nvPr/>
          </p:nvSpPr>
          <p:spPr>
            <a:xfrm>
              <a:off x="7441969" y="2967814"/>
              <a:ext cx="36830" cy="48895"/>
            </a:xfrm>
            <a:custGeom>
              <a:avLst/>
              <a:gdLst/>
              <a:ahLst/>
              <a:cxnLst/>
              <a:rect l="l" t="t" r="r" b="b"/>
              <a:pathLst>
                <a:path w="36829" h="48894">
                  <a:moveTo>
                    <a:pt x="36462" y="0"/>
                  </a:moveTo>
                  <a:lnTo>
                    <a:pt x="0" y="0"/>
                  </a:lnTo>
                  <a:lnTo>
                    <a:pt x="18231" y="48578"/>
                  </a:lnTo>
                  <a:lnTo>
                    <a:pt x="36462" y="0"/>
                  </a:lnTo>
                  <a:close/>
                </a:path>
              </a:pathLst>
            </a:custGeom>
            <a:solidFill>
              <a:srgbClr val="000000"/>
            </a:solidFill>
          </p:spPr>
          <p:txBody>
            <a:bodyPr wrap="square" lIns="0" tIns="0" rIns="0" bIns="0" rtlCol="0"/>
            <a:lstStyle/>
            <a:p/>
          </p:txBody>
        </p:sp>
      </p:grpSp>
      <p:grpSp>
        <p:nvGrpSpPr>
          <p:cNvPr id="76" name="object 76" descr=""/>
          <p:cNvGrpSpPr/>
          <p:nvPr/>
        </p:nvGrpSpPr>
        <p:grpSpPr>
          <a:xfrm>
            <a:off x="7458930" y="1688474"/>
            <a:ext cx="1081405" cy="1918970"/>
            <a:chOff x="7458930" y="1688474"/>
            <a:chExt cx="1081405" cy="1918970"/>
          </a:xfrm>
        </p:grpSpPr>
        <p:sp>
          <p:nvSpPr>
            <p:cNvPr id="77" name="object 77" descr=""/>
            <p:cNvSpPr/>
            <p:nvPr/>
          </p:nvSpPr>
          <p:spPr>
            <a:xfrm>
              <a:off x="7460200" y="1689744"/>
              <a:ext cx="461645" cy="174625"/>
            </a:xfrm>
            <a:custGeom>
              <a:avLst/>
              <a:gdLst/>
              <a:ahLst/>
              <a:cxnLst/>
              <a:rect l="l" t="t" r="r" b="b"/>
              <a:pathLst>
                <a:path w="461645" h="174625">
                  <a:moveTo>
                    <a:pt x="0" y="0"/>
                  </a:moveTo>
                  <a:lnTo>
                    <a:pt x="0" y="109301"/>
                  </a:lnTo>
                  <a:lnTo>
                    <a:pt x="461418" y="109301"/>
                  </a:lnTo>
                  <a:lnTo>
                    <a:pt x="461418" y="174072"/>
                  </a:lnTo>
                </a:path>
              </a:pathLst>
            </a:custGeom>
            <a:ln w="3175">
              <a:solidFill>
                <a:srgbClr val="000000"/>
              </a:solidFill>
            </a:ln>
          </p:spPr>
          <p:txBody>
            <a:bodyPr wrap="square" lIns="0" tIns="0" rIns="0" bIns="0" rtlCol="0"/>
            <a:lstStyle/>
            <a:p/>
          </p:txBody>
        </p:sp>
        <p:sp>
          <p:nvSpPr>
            <p:cNvPr id="78" name="object 78" descr=""/>
            <p:cNvSpPr/>
            <p:nvPr/>
          </p:nvSpPr>
          <p:spPr>
            <a:xfrm>
              <a:off x="7903388" y="1859768"/>
              <a:ext cx="36830" cy="48895"/>
            </a:xfrm>
            <a:custGeom>
              <a:avLst/>
              <a:gdLst/>
              <a:ahLst/>
              <a:cxnLst/>
              <a:rect l="l" t="t" r="r" b="b"/>
              <a:pathLst>
                <a:path w="36829" h="48894">
                  <a:moveTo>
                    <a:pt x="36462" y="0"/>
                  </a:moveTo>
                  <a:lnTo>
                    <a:pt x="0" y="0"/>
                  </a:lnTo>
                  <a:lnTo>
                    <a:pt x="18231" y="48578"/>
                  </a:lnTo>
                  <a:lnTo>
                    <a:pt x="36462" y="0"/>
                  </a:lnTo>
                  <a:close/>
                </a:path>
              </a:pathLst>
            </a:custGeom>
            <a:solidFill>
              <a:srgbClr val="000000"/>
            </a:solidFill>
          </p:spPr>
          <p:txBody>
            <a:bodyPr wrap="square" lIns="0" tIns="0" rIns="0" bIns="0" rtlCol="0"/>
            <a:lstStyle/>
            <a:p/>
          </p:txBody>
        </p:sp>
        <p:sp>
          <p:nvSpPr>
            <p:cNvPr id="79" name="object 79" descr=""/>
            <p:cNvSpPr/>
            <p:nvPr/>
          </p:nvSpPr>
          <p:spPr>
            <a:xfrm>
              <a:off x="7614014" y="3412508"/>
              <a:ext cx="923290" cy="191770"/>
            </a:xfrm>
            <a:custGeom>
              <a:avLst/>
              <a:gdLst/>
              <a:ahLst/>
              <a:cxnLst/>
              <a:rect l="l" t="t" r="r" b="b"/>
              <a:pathLst>
                <a:path w="923290" h="191770">
                  <a:moveTo>
                    <a:pt x="0" y="191257"/>
                  </a:moveTo>
                  <a:lnTo>
                    <a:pt x="922826" y="191257"/>
                  </a:lnTo>
                  <a:lnTo>
                    <a:pt x="922826" y="0"/>
                  </a:lnTo>
                  <a:lnTo>
                    <a:pt x="0" y="0"/>
                  </a:lnTo>
                  <a:lnTo>
                    <a:pt x="0" y="191257"/>
                  </a:lnTo>
                  <a:close/>
                </a:path>
              </a:pathLst>
            </a:custGeom>
            <a:ln w="6975">
              <a:solidFill>
                <a:srgbClr val="000000"/>
              </a:solidFill>
            </a:ln>
          </p:spPr>
          <p:txBody>
            <a:bodyPr wrap="square" lIns="0" tIns="0" rIns="0" bIns="0" rtlCol="0"/>
            <a:lstStyle/>
            <a:p/>
          </p:txBody>
        </p:sp>
      </p:grpSp>
      <p:sp>
        <p:nvSpPr>
          <p:cNvPr id="80" name="object 80" descr=""/>
          <p:cNvSpPr txBox="1"/>
          <p:nvPr/>
        </p:nvSpPr>
        <p:spPr>
          <a:xfrm>
            <a:off x="7679132" y="3427980"/>
            <a:ext cx="793115" cy="141605"/>
          </a:xfrm>
          <a:prstGeom prst="rect">
            <a:avLst/>
          </a:prstGeom>
        </p:spPr>
        <p:txBody>
          <a:bodyPr wrap="square" lIns="0" tIns="13335" rIns="0" bIns="0" rtlCol="0" vert="horz">
            <a:spAutoFit/>
          </a:bodyPr>
          <a:lstStyle/>
          <a:p>
            <a:pPr marL="12700">
              <a:lnSpc>
                <a:spcPct val="100000"/>
              </a:lnSpc>
              <a:spcBef>
                <a:spcPts val="105"/>
              </a:spcBef>
            </a:pPr>
            <a:r>
              <a:rPr dirty="0" sz="750">
                <a:latin typeface="Times New Roman"/>
                <a:cs typeface="Times New Roman"/>
              </a:rPr>
              <a:t>A[i]</a:t>
            </a:r>
            <a:r>
              <a:rPr dirty="0" sz="750" spc="105">
                <a:latin typeface="Times New Roman"/>
                <a:cs typeface="Times New Roman"/>
              </a:rPr>
              <a:t> </a:t>
            </a:r>
            <a:r>
              <a:rPr dirty="0" sz="750" spc="55">
                <a:latin typeface="Times New Roman"/>
                <a:cs typeface="Times New Roman"/>
              </a:rPr>
              <a:t>=</a:t>
            </a:r>
            <a:r>
              <a:rPr dirty="0" sz="750" spc="105">
                <a:latin typeface="Times New Roman"/>
                <a:cs typeface="Times New Roman"/>
              </a:rPr>
              <a:t> </a:t>
            </a:r>
            <a:r>
              <a:rPr dirty="0" sz="750">
                <a:latin typeface="Times New Roman"/>
                <a:cs typeface="Times New Roman"/>
              </a:rPr>
              <a:t>A[i]</a:t>
            </a:r>
            <a:r>
              <a:rPr dirty="0" sz="750" spc="110">
                <a:latin typeface="Times New Roman"/>
                <a:cs typeface="Times New Roman"/>
              </a:rPr>
              <a:t> </a:t>
            </a:r>
            <a:r>
              <a:rPr dirty="0" sz="750" spc="55">
                <a:latin typeface="Times New Roman"/>
                <a:cs typeface="Times New Roman"/>
              </a:rPr>
              <a:t>+</a:t>
            </a:r>
            <a:r>
              <a:rPr dirty="0" sz="750" spc="105">
                <a:latin typeface="Times New Roman"/>
                <a:cs typeface="Times New Roman"/>
              </a:rPr>
              <a:t> </a:t>
            </a:r>
            <a:r>
              <a:rPr dirty="0" sz="750" spc="-20">
                <a:latin typeface="Times New Roman"/>
                <a:cs typeface="Times New Roman"/>
              </a:rPr>
              <a:t>B[i]</a:t>
            </a:r>
            <a:endParaRPr sz="750">
              <a:latin typeface="Times New Roman"/>
              <a:cs typeface="Times New Roman"/>
            </a:endParaRPr>
          </a:p>
        </p:txBody>
      </p:sp>
      <p:sp>
        <p:nvSpPr>
          <p:cNvPr id="81" name="object 81" descr=""/>
          <p:cNvSpPr/>
          <p:nvPr/>
        </p:nvSpPr>
        <p:spPr>
          <a:xfrm>
            <a:off x="7767817" y="3712295"/>
            <a:ext cx="615315" cy="410209"/>
          </a:xfrm>
          <a:custGeom>
            <a:avLst/>
            <a:gdLst/>
            <a:ahLst/>
            <a:cxnLst/>
            <a:rect l="l" t="t" r="r" b="b"/>
            <a:pathLst>
              <a:path w="615315" h="410210">
                <a:moveTo>
                  <a:pt x="307605" y="0"/>
                </a:moveTo>
                <a:lnTo>
                  <a:pt x="0" y="218602"/>
                </a:lnTo>
                <a:lnTo>
                  <a:pt x="307605" y="409830"/>
                </a:lnTo>
                <a:lnTo>
                  <a:pt x="615210" y="218602"/>
                </a:lnTo>
                <a:lnTo>
                  <a:pt x="307605" y="0"/>
                </a:lnTo>
                <a:close/>
              </a:path>
            </a:pathLst>
          </a:custGeom>
          <a:ln w="7208">
            <a:solidFill>
              <a:srgbClr val="000000"/>
            </a:solidFill>
          </a:ln>
        </p:spPr>
        <p:txBody>
          <a:bodyPr wrap="square" lIns="0" tIns="0" rIns="0" bIns="0" rtlCol="0"/>
          <a:lstStyle/>
          <a:p/>
        </p:txBody>
      </p:sp>
      <p:sp>
        <p:nvSpPr>
          <p:cNvPr id="82" name="object 82" descr=""/>
          <p:cNvSpPr txBox="1"/>
          <p:nvPr/>
        </p:nvSpPr>
        <p:spPr>
          <a:xfrm>
            <a:off x="7863429" y="3837040"/>
            <a:ext cx="424180" cy="141605"/>
          </a:xfrm>
          <a:prstGeom prst="rect">
            <a:avLst/>
          </a:prstGeom>
        </p:spPr>
        <p:txBody>
          <a:bodyPr wrap="square" lIns="0" tIns="13335" rIns="0" bIns="0" rtlCol="0" vert="horz">
            <a:spAutoFit/>
          </a:bodyPr>
          <a:lstStyle/>
          <a:p>
            <a:pPr marL="12700">
              <a:lnSpc>
                <a:spcPct val="100000"/>
              </a:lnSpc>
              <a:spcBef>
                <a:spcPts val="105"/>
              </a:spcBef>
            </a:pPr>
            <a:r>
              <a:rPr dirty="0" sz="750">
                <a:latin typeface="Times New Roman"/>
                <a:cs typeface="Times New Roman"/>
              </a:rPr>
              <a:t>A[i]</a:t>
            </a:r>
            <a:r>
              <a:rPr dirty="0" sz="750" spc="105">
                <a:latin typeface="Times New Roman"/>
                <a:cs typeface="Times New Roman"/>
              </a:rPr>
              <a:t> </a:t>
            </a:r>
            <a:r>
              <a:rPr dirty="0" sz="750" spc="55">
                <a:latin typeface="Times New Roman"/>
                <a:cs typeface="Times New Roman"/>
              </a:rPr>
              <a:t>=</a:t>
            </a:r>
            <a:r>
              <a:rPr dirty="0" sz="750" spc="105">
                <a:latin typeface="Times New Roman"/>
                <a:cs typeface="Times New Roman"/>
              </a:rPr>
              <a:t> </a:t>
            </a:r>
            <a:r>
              <a:rPr dirty="0" sz="750" spc="-25">
                <a:latin typeface="Times New Roman"/>
                <a:cs typeface="Times New Roman"/>
              </a:rPr>
              <a:t>0?</a:t>
            </a:r>
            <a:endParaRPr sz="750">
              <a:latin typeface="Times New Roman"/>
              <a:cs typeface="Times New Roman"/>
            </a:endParaRPr>
          </a:p>
        </p:txBody>
      </p:sp>
      <p:sp>
        <p:nvSpPr>
          <p:cNvPr id="83" name="object 83" descr=""/>
          <p:cNvSpPr txBox="1"/>
          <p:nvPr/>
        </p:nvSpPr>
        <p:spPr>
          <a:xfrm>
            <a:off x="7152595" y="4149470"/>
            <a:ext cx="615315" cy="191770"/>
          </a:xfrm>
          <a:prstGeom prst="rect">
            <a:avLst/>
          </a:prstGeom>
          <a:ln w="7035">
            <a:solidFill>
              <a:srgbClr val="000000"/>
            </a:solidFill>
          </a:ln>
        </p:spPr>
        <p:txBody>
          <a:bodyPr wrap="square" lIns="0" tIns="29209" rIns="0" bIns="0" rtlCol="0" vert="horz">
            <a:spAutoFit/>
          </a:bodyPr>
          <a:lstStyle/>
          <a:p>
            <a:pPr marL="175895">
              <a:lnSpc>
                <a:spcPct val="100000"/>
              </a:lnSpc>
              <a:spcBef>
                <a:spcPts val="229"/>
              </a:spcBef>
            </a:pPr>
            <a:r>
              <a:rPr dirty="0" sz="750">
                <a:latin typeface="Times New Roman"/>
                <a:cs typeface="Times New Roman"/>
              </a:rPr>
              <a:t>B[i]</a:t>
            </a:r>
            <a:r>
              <a:rPr dirty="0" sz="750" spc="175">
                <a:latin typeface="Times New Roman"/>
                <a:cs typeface="Times New Roman"/>
              </a:rPr>
              <a:t> </a:t>
            </a:r>
            <a:r>
              <a:rPr dirty="0" sz="750" spc="5">
                <a:latin typeface="Times New Roman"/>
                <a:cs typeface="Times New Roman"/>
              </a:rPr>
              <a:t>=</a:t>
            </a:r>
            <a:endParaRPr sz="750">
              <a:latin typeface="Times New Roman"/>
              <a:cs typeface="Times New Roman"/>
            </a:endParaRPr>
          </a:p>
        </p:txBody>
      </p:sp>
      <p:sp>
        <p:nvSpPr>
          <p:cNvPr id="84" name="object 84" descr=""/>
          <p:cNvSpPr txBox="1"/>
          <p:nvPr/>
        </p:nvSpPr>
        <p:spPr>
          <a:xfrm>
            <a:off x="7152595" y="4477277"/>
            <a:ext cx="615315" cy="191770"/>
          </a:xfrm>
          <a:prstGeom prst="rect">
            <a:avLst/>
          </a:prstGeom>
          <a:ln w="7035">
            <a:solidFill>
              <a:srgbClr val="000000"/>
            </a:solidFill>
          </a:ln>
        </p:spPr>
        <p:txBody>
          <a:bodyPr wrap="square" lIns="0" tIns="29209" rIns="0" bIns="0" rtlCol="0" vert="horz">
            <a:spAutoFit/>
          </a:bodyPr>
          <a:lstStyle/>
          <a:p>
            <a:pPr marL="175895">
              <a:lnSpc>
                <a:spcPct val="100000"/>
              </a:lnSpc>
              <a:spcBef>
                <a:spcPts val="229"/>
              </a:spcBef>
            </a:pPr>
            <a:r>
              <a:rPr dirty="0" sz="750">
                <a:latin typeface="Times New Roman"/>
                <a:cs typeface="Times New Roman"/>
              </a:rPr>
              <a:t>C[i]</a:t>
            </a:r>
            <a:r>
              <a:rPr dirty="0" sz="750" spc="175">
                <a:latin typeface="Times New Roman"/>
                <a:cs typeface="Times New Roman"/>
              </a:rPr>
              <a:t> </a:t>
            </a:r>
            <a:r>
              <a:rPr dirty="0" sz="750" spc="5">
                <a:latin typeface="Times New Roman"/>
                <a:cs typeface="Times New Roman"/>
              </a:rPr>
              <a:t>=</a:t>
            </a:r>
            <a:endParaRPr sz="750">
              <a:latin typeface="Times New Roman"/>
              <a:cs typeface="Times New Roman"/>
            </a:endParaRPr>
          </a:p>
        </p:txBody>
      </p:sp>
      <p:grpSp>
        <p:nvGrpSpPr>
          <p:cNvPr id="85" name="object 85" descr=""/>
          <p:cNvGrpSpPr/>
          <p:nvPr/>
        </p:nvGrpSpPr>
        <p:grpSpPr>
          <a:xfrm>
            <a:off x="7441969" y="3615093"/>
            <a:ext cx="652145" cy="534670"/>
            <a:chOff x="7441969" y="3615093"/>
            <a:chExt cx="652145" cy="534670"/>
          </a:xfrm>
        </p:grpSpPr>
        <p:sp>
          <p:nvSpPr>
            <p:cNvPr id="86" name="object 86" descr=""/>
            <p:cNvSpPr/>
            <p:nvPr/>
          </p:nvSpPr>
          <p:spPr>
            <a:xfrm>
              <a:off x="8075422" y="3616681"/>
              <a:ext cx="0" cy="51435"/>
            </a:xfrm>
            <a:custGeom>
              <a:avLst/>
              <a:gdLst/>
              <a:ahLst/>
              <a:cxnLst/>
              <a:rect l="l" t="t" r="r" b="b"/>
              <a:pathLst>
                <a:path w="0" h="51435">
                  <a:moveTo>
                    <a:pt x="0" y="0"/>
                  </a:moveTo>
                  <a:lnTo>
                    <a:pt x="0" y="51084"/>
                  </a:lnTo>
                </a:path>
              </a:pathLst>
            </a:custGeom>
            <a:ln w="3175">
              <a:solidFill>
                <a:srgbClr val="000000"/>
              </a:solidFill>
            </a:ln>
          </p:spPr>
          <p:txBody>
            <a:bodyPr wrap="square" lIns="0" tIns="0" rIns="0" bIns="0" rtlCol="0"/>
            <a:lstStyle/>
            <a:p/>
          </p:txBody>
        </p:sp>
        <p:sp>
          <p:nvSpPr>
            <p:cNvPr id="87" name="object 87" descr=""/>
            <p:cNvSpPr/>
            <p:nvPr/>
          </p:nvSpPr>
          <p:spPr>
            <a:xfrm>
              <a:off x="8057191" y="3663717"/>
              <a:ext cx="36830" cy="48895"/>
            </a:xfrm>
            <a:custGeom>
              <a:avLst/>
              <a:gdLst/>
              <a:ahLst/>
              <a:cxnLst/>
              <a:rect l="l" t="t" r="r" b="b"/>
              <a:pathLst>
                <a:path w="36829" h="48895">
                  <a:moveTo>
                    <a:pt x="36462" y="0"/>
                  </a:moveTo>
                  <a:lnTo>
                    <a:pt x="0" y="0"/>
                  </a:lnTo>
                  <a:lnTo>
                    <a:pt x="18231" y="48578"/>
                  </a:lnTo>
                  <a:lnTo>
                    <a:pt x="36462" y="0"/>
                  </a:lnTo>
                  <a:close/>
                </a:path>
              </a:pathLst>
            </a:custGeom>
            <a:solidFill>
              <a:srgbClr val="000000"/>
            </a:solidFill>
          </p:spPr>
          <p:txBody>
            <a:bodyPr wrap="square" lIns="0" tIns="0" rIns="0" bIns="0" rtlCol="0"/>
            <a:lstStyle/>
            <a:p/>
          </p:txBody>
        </p:sp>
        <p:sp>
          <p:nvSpPr>
            <p:cNvPr id="88" name="object 88" descr=""/>
            <p:cNvSpPr/>
            <p:nvPr/>
          </p:nvSpPr>
          <p:spPr>
            <a:xfrm>
              <a:off x="7460200" y="3930897"/>
              <a:ext cx="307975" cy="174625"/>
            </a:xfrm>
            <a:custGeom>
              <a:avLst/>
              <a:gdLst/>
              <a:ahLst/>
              <a:cxnLst/>
              <a:rect l="l" t="t" r="r" b="b"/>
              <a:pathLst>
                <a:path w="307975" h="174625">
                  <a:moveTo>
                    <a:pt x="307616" y="0"/>
                  </a:moveTo>
                  <a:lnTo>
                    <a:pt x="0" y="0"/>
                  </a:lnTo>
                  <a:lnTo>
                    <a:pt x="0" y="174072"/>
                  </a:lnTo>
                </a:path>
              </a:pathLst>
            </a:custGeom>
            <a:ln w="3175">
              <a:solidFill>
                <a:srgbClr val="000000"/>
              </a:solidFill>
            </a:ln>
          </p:spPr>
          <p:txBody>
            <a:bodyPr wrap="square" lIns="0" tIns="0" rIns="0" bIns="0" rtlCol="0"/>
            <a:lstStyle/>
            <a:p/>
          </p:txBody>
        </p:sp>
        <p:sp>
          <p:nvSpPr>
            <p:cNvPr id="89" name="object 89" descr=""/>
            <p:cNvSpPr/>
            <p:nvPr/>
          </p:nvSpPr>
          <p:spPr>
            <a:xfrm>
              <a:off x="7441969" y="4100921"/>
              <a:ext cx="36830" cy="48895"/>
            </a:xfrm>
            <a:custGeom>
              <a:avLst/>
              <a:gdLst/>
              <a:ahLst/>
              <a:cxnLst/>
              <a:rect l="l" t="t" r="r" b="b"/>
              <a:pathLst>
                <a:path w="36829" h="48895">
                  <a:moveTo>
                    <a:pt x="36462" y="0"/>
                  </a:moveTo>
                  <a:lnTo>
                    <a:pt x="0" y="0"/>
                  </a:lnTo>
                  <a:lnTo>
                    <a:pt x="18231" y="48578"/>
                  </a:lnTo>
                  <a:lnTo>
                    <a:pt x="36462" y="0"/>
                  </a:lnTo>
                  <a:close/>
                </a:path>
              </a:pathLst>
            </a:custGeom>
            <a:solidFill>
              <a:srgbClr val="000000"/>
            </a:solidFill>
          </p:spPr>
          <p:txBody>
            <a:bodyPr wrap="square" lIns="0" tIns="0" rIns="0" bIns="0" rtlCol="0"/>
            <a:lstStyle/>
            <a:p/>
          </p:txBody>
        </p:sp>
      </p:grpSp>
      <p:sp>
        <p:nvSpPr>
          <p:cNvPr id="90" name="object 90" descr=""/>
          <p:cNvSpPr txBox="1"/>
          <p:nvPr/>
        </p:nvSpPr>
        <p:spPr>
          <a:xfrm>
            <a:off x="7516865" y="3768702"/>
            <a:ext cx="194310" cy="141605"/>
          </a:xfrm>
          <a:prstGeom prst="rect">
            <a:avLst/>
          </a:prstGeom>
        </p:spPr>
        <p:txBody>
          <a:bodyPr wrap="square" lIns="0" tIns="13335" rIns="0" bIns="0" rtlCol="0" vert="horz">
            <a:spAutoFit/>
          </a:bodyPr>
          <a:lstStyle/>
          <a:p>
            <a:pPr marL="12700">
              <a:lnSpc>
                <a:spcPct val="100000"/>
              </a:lnSpc>
              <a:spcBef>
                <a:spcPts val="105"/>
              </a:spcBef>
            </a:pPr>
            <a:r>
              <a:rPr dirty="0" sz="750" spc="-20">
                <a:latin typeface="Times New Roman"/>
                <a:cs typeface="Times New Roman"/>
              </a:rPr>
              <a:t>true</a:t>
            </a:r>
            <a:endParaRPr sz="750">
              <a:latin typeface="Times New Roman"/>
              <a:cs typeface="Times New Roman"/>
            </a:endParaRPr>
          </a:p>
        </p:txBody>
      </p:sp>
      <p:sp>
        <p:nvSpPr>
          <p:cNvPr id="91" name="object 91" descr=""/>
          <p:cNvSpPr txBox="1"/>
          <p:nvPr/>
        </p:nvSpPr>
        <p:spPr>
          <a:xfrm>
            <a:off x="8421656" y="3768702"/>
            <a:ext cx="230504" cy="141605"/>
          </a:xfrm>
          <a:prstGeom prst="rect">
            <a:avLst/>
          </a:prstGeom>
        </p:spPr>
        <p:txBody>
          <a:bodyPr wrap="square" lIns="0" tIns="13335" rIns="0" bIns="0" rtlCol="0" vert="horz">
            <a:spAutoFit/>
          </a:bodyPr>
          <a:lstStyle/>
          <a:p>
            <a:pPr marL="12700">
              <a:lnSpc>
                <a:spcPct val="100000"/>
              </a:lnSpc>
              <a:spcBef>
                <a:spcPts val="105"/>
              </a:spcBef>
            </a:pPr>
            <a:r>
              <a:rPr dirty="0" sz="750" spc="-10">
                <a:latin typeface="Times New Roman"/>
                <a:cs typeface="Times New Roman"/>
              </a:rPr>
              <a:t>false</a:t>
            </a:r>
            <a:endParaRPr sz="750">
              <a:latin typeface="Times New Roman"/>
              <a:cs typeface="Times New Roman"/>
            </a:endParaRPr>
          </a:p>
        </p:txBody>
      </p:sp>
      <p:grpSp>
        <p:nvGrpSpPr>
          <p:cNvPr id="92" name="object 92" descr=""/>
          <p:cNvGrpSpPr/>
          <p:nvPr/>
        </p:nvGrpSpPr>
        <p:grpSpPr>
          <a:xfrm>
            <a:off x="7441969" y="4340728"/>
            <a:ext cx="36830" cy="137160"/>
            <a:chOff x="7441969" y="4340728"/>
            <a:chExt cx="36830" cy="137160"/>
          </a:xfrm>
        </p:grpSpPr>
        <p:sp>
          <p:nvSpPr>
            <p:cNvPr id="93" name="object 93" descr=""/>
            <p:cNvSpPr/>
            <p:nvPr/>
          </p:nvSpPr>
          <p:spPr>
            <a:xfrm>
              <a:off x="7460200" y="4340728"/>
              <a:ext cx="0" cy="92075"/>
            </a:xfrm>
            <a:custGeom>
              <a:avLst/>
              <a:gdLst/>
              <a:ahLst/>
              <a:cxnLst/>
              <a:rect l="l" t="t" r="r" b="b"/>
              <a:pathLst>
                <a:path w="0" h="92075">
                  <a:moveTo>
                    <a:pt x="0" y="0"/>
                  </a:moveTo>
                  <a:lnTo>
                    <a:pt x="0" y="92048"/>
                  </a:lnTo>
                </a:path>
              </a:pathLst>
            </a:custGeom>
            <a:ln w="3175">
              <a:solidFill>
                <a:srgbClr val="000000"/>
              </a:solidFill>
            </a:ln>
          </p:spPr>
          <p:txBody>
            <a:bodyPr wrap="square" lIns="0" tIns="0" rIns="0" bIns="0" rtlCol="0"/>
            <a:lstStyle/>
            <a:p/>
          </p:txBody>
        </p:sp>
        <p:sp>
          <p:nvSpPr>
            <p:cNvPr id="94" name="object 94" descr=""/>
            <p:cNvSpPr/>
            <p:nvPr/>
          </p:nvSpPr>
          <p:spPr>
            <a:xfrm>
              <a:off x="7441969" y="4428727"/>
              <a:ext cx="36830" cy="48895"/>
            </a:xfrm>
            <a:custGeom>
              <a:avLst/>
              <a:gdLst/>
              <a:ahLst/>
              <a:cxnLst/>
              <a:rect l="l" t="t" r="r" b="b"/>
              <a:pathLst>
                <a:path w="36829" h="48895">
                  <a:moveTo>
                    <a:pt x="36462" y="0"/>
                  </a:moveTo>
                  <a:lnTo>
                    <a:pt x="0" y="0"/>
                  </a:lnTo>
                  <a:lnTo>
                    <a:pt x="18231" y="48578"/>
                  </a:lnTo>
                  <a:lnTo>
                    <a:pt x="36462" y="0"/>
                  </a:lnTo>
                  <a:close/>
                </a:path>
              </a:pathLst>
            </a:custGeom>
            <a:solidFill>
              <a:srgbClr val="000000"/>
            </a:solidFill>
          </p:spPr>
          <p:txBody>
            <a:bodyPr wrap="square" lIns="0" tIns="0" rIns="0" bIns="0" rtlCol="0"/>
            <a:lstStyle/>
            <a:p/>
          </p:txBody>
        </p:sp>
      </p:grpSp>
      <p:grpSp>
        <p:nvGrpSpPr>
          <p:cNvPr id="95" name="object 95" descr=""/>
          <p:cNvGrpSpPr/>
          <p:nvPr/>
        </p:nvGrpSpPr>
        <p:grpSpPr>
          <a:xfrm>
            <a:off x="7458930" y="3220038"/>
            <a:ext cx="1081405" cy="1807210"/>
            <a:chOff x="7458930" y="3220038"/>
            <a:chExt cx="1081405" cy="1807210"/>
          </a:xfrm>
        </p:grpSpPr>
        <p:sp>
          <p:nvSpPr>
            <p:cNvPr id="96" name="object 96" descr=""/>
            <p:cNvSpPr/>
            <p:nvPr/>
          </p:nvSpPr>
          <p:spPr>
            <a:xfrm>
              <a:off x="7460200" y="3221308"/>
              <a:ext cx="461645" cy="147320"/>
            </a:xfrm>
            <a:custGeom>
              <a:avLst/>
              <a:gdLst/>
              <a:ahLst/>
              <a:cxnLst/>
              <a:rect l="l" t="t" r="r" b="b"/>
              <a:pathLst>
                <a:path w="461645" h="147320">
                  <a:moveTo>
                    <a:pt x="0" y="0"/>
                  </a:moveTo>
                  <a:lnTo>
                    <a:pt x="0" y="95614"/>
                  </a:lnTo>
                  <a:lnTo>
                    <a:pt x="461418" y="95614"/>
                  </a:lnTo>
                  <a:lnTo>
                    <a:pt x="461418" y="146698"/>
                  </a:lnTo>
                </a:path>
              </a:pathLst>
            </a:custGeom>
            <a:ln w="3175">
              <a:solidFill>
                <a:srgbClr val="000000"/>
              </a:solidFill>
            </a:ln>
          </p:spPr>
          <p:txBody>
            <a:bodyPr wrap="square" lIns="0" tIns="0" rIns="0" bIns="0" rtlCol="0"/>
            <a:lstStyle/>
            <a:p/>
          </p:txBody>
        </p:sp>
        <p:sp>
          <p:nvSpPr>
            <p:cNvPr id="97" name="object 97" descr=""/>
            <p:cNvSpPr/>
            <p:nvPr/>
          </p:nvSpPr>
          <p:spPr>
            <a:xfrm>
              <a:off x="7903388" y="3363958"/>
              <a:ext cx="36830" cy="48895"/>
            </a:xfrm>
            <a:custGeom>
              <a:avLst/>
              <a:gdLst/>
              <a:ahLst/>
              <a:cxnLst/>
              <a:rect l="l" t="t" r="r" b="b"/>
              <a:pathLst>
                <a:path w="36829" h="48895">
                  <a:moveTo>
                    <a:pt x="36462" y="0"/>
                  </a:moveTo>
                  <a:lnTo>
                    <a:pt x="0" y="0"/>
                  </a:lnTo>
                  <a:lnTo>
                    <a:pt x="18231" y="48578"/>
                  </a:lnTo>
                  <a:lnTo>
                    <a:pt x="36462" y="0"/>
                  </a:lnTo>
                  <a:close/>
                </a:path>
              </a:pathLst>
            </a:custGeom>
            <a:solidFill>
              <a:srgbClr val="000000"/>
            </a:solidFill>
          </p:spPr>
          <p:txBody>
            <a:bodyPr wrap="square" lIns="0" tIns="0" rIns="0" bIns="0" rtlCol="0"/>
            <a:lstStyle/>
            <a:p/>
          </p:txBody>
        </p:sp>
        <p:sp>
          <p:nvSpPr>
            <p:cNvPr id="98" name="object 98" descr=""/>
            <p:cNvSpPr/>
            <p:nvPr/>
          </p:nvSpPr>
          <p:spPr>
            <a:xfrm>
              <a:off x="7614014" y="4832467"/>
              <a:ext cx="923290" cy="191770"/>
            </a:xfrm>
            <a:custGeom>
              <a:avLst/>
              <a:gdLst/>
              <a:ahLst/>
              <a:cxnLst/>
              <a:rect l="l" t="t" r="r" b="b"/>
              <a:pathLst>
                <a:path w="923290" h="191770">
                  <a:moveTo>
                    <a:pt x="0" y="191247"/>
                  </a:moveTo>
                  <a:lnTo>
                    <a:pt x="922826" y="191247"/>
                  </a:lnTo>
                  <a:lnTo>
                    <a:pt x="922826" y="0"/>
                  </a:lnTo>
                  <a:lnTo>
                    <a:pt x="0" y="0"/>
                  </a:lnTo>
                  <a:lnTo>
                    <a:pt x="0" y="191247"/>
                  </a:lnTo>
                  <a:close/>
                </a:path>
              </a:pathLst>
            </a:custGeom>
            <a:ln w="6975">
              <a:solidFill>
                <a:srgbClr val="000000"/>
              </a:solidFill>
            </a:ln>
          </p:spPr>
          <p:txBody>
            <a:bodyPr wrap="square" lIns="0" tIns="0" rIns="0" bIns="0" rtlCol="0"/>
            <a:lstStyle/>
            <a:p/>
          </p:txBody>
        </p:sp>
      </p:grpSp>
      <p:sp>
        <p:nvSpPr>
          <p:cNvPr id="99" name="object 99" descr=""/>
          <p:cNvSpPr txBox="1"/>
          <p:nvPr/>
        </p:nvSpPr>
        <p:spPr>
          <a:xfrm>
            <a:off x="7617507" y="4847930"/>
            <a:ext cx="916305" cy="141605"/>
          </a:xfrm>
          <a:prstGeom prst="rect">
            <a:avLst/>
          </a:prstGeom>
        </p:spPr>
        <p:txBody>
          <a:bodyPr wrap="square" lIns="0" tIns="13335" rIns="0" bIns="0" rtlCol="0" vert="horz">
            <a:spAutoFit/>
          </a:bodyPr>
          <a:lstStyle/>
          <a:p>
            <a:pPr marL="74295">
              <a:lnSpc>
                <a:spcPct val="100000"/>
              </a:lnSpc>
              <a:spcBef>
                <a:spcPts val="105"/>
              </a:spcBef>
            </a:pPr>
            <a:r>
              <a:rPr dirty="0" sz="750">
                <a:latin typeface="Times New Roman"/>
                <a:cs typeface="Times New Roman"/>
              </a:rPr>
              <a:t>A[i]</a:t>
            </a:r>
            <a:r>
              <a:rPr dirty="0" sz="750" spc="105">
                <a:latin typeface="Times New Roman"/>
                <a:cs typeface="Times New Roman"/>
              </a:rPr>
              <a:t> </a:t>
            </a:r>
            <a:r>
              <a:rPr dirty="0" sz="750" spc="55">
                <a:latin typeface="Times New Roman"/>
                <a:cs typeface="Times New Roman"/>
              </a:rPr>
              <a:t>=</a:t>
            </a:r>
            <a:r>
              <a:rPr dirty="0" sz="750" spc="105">
                <a:latin typeface="Times New Roman"/>
                <a:cs typeface="Times New Roman"/>
              </a:rPr>
              <a:t> </a:t>
            </a:r>
            <a:r>
              <a:rPr dirty="0" sz="750">
                <a:latin typeface="Times New Roman"/>
                <a:cs typeface="Times New Roman"/>
              </a:rPr>
              <a:t>A[i]</a:t>
            </a:r>
            <a:r>
              <a:rPr dirty="0" sz="750" spc="110">
                <a:latin typeface="Times New Roman"/>
                <a:cs typeface="Times New Roman"/>
              </a:rPr>
              <a:t> </a:t>
            </a:r>
            <a:r>
              <a:rPr dirty="0" sz="750" spc="55">
                <a:latin typeface="Times New Roman"/>
                <a:cs typeface="Times New Roman"/>
              </a:rPr>
              <a:t>+</a:t>
            </a:r>
            <a:r>
              <a:rPr dirty="0" sz="750" spc="105">
                <a:latin typeface="Times New Roman"/>
                <a:cs typeface="Times New Roman"/>
              </a:rPr>
              <a:t> </a:t>
            </a:r>
            <a:r>
              <a:rPr dirty="0" sz="750" spc="-20">
                <a:latin typeface="Times New Roman"/>
                <a:cs typeface="Times New Roman"/>
              </a:rPr>
              <a:t>B[i]</a:t>
            </a:r>
            <a:endParaRPr sz="750">
              <a:latin typeface="Times New Roman"/>
              <a:cs typeface="Times New Roman"/>
            </a:endParaRPr>
          </a:p>
        </p:txBody>
      </p:sp>
      <p:sp>
        <p:nvSpPr>
          <p:cNvPr id="100" name="object 100" descr=""/>
          <p:cNvSpPr/>
          <p:nvPr/>
        </p:nvSpPr>
        <p:spPr>
          <a:xfrm>
            <a:off x="7767817" y="5133016"/>
            <a:ext cx="615315" cy="410209"/>
          </a:xfrm>
          <a:custGeom>
            <a:avLst/>
            <a:gdLst/>
            <a:ahLst/>
            <a:cxnLst/>
            <a:rect l="l" t="t" r="r" b="b"/>
            <a:pathLst>
              <a:path w="615315" h="410210">
                <a:moveTo>
                  <a:pt x="307605" y="0"/>
                </a:moveTo>
                <a:lnTo>
                  <a:pt x="0" y="218602"/>
                </a:lnTo>
                <a:lnTo>
                  <a:pt x="307605" y="409849"/>
                </a:lnTo>
                <a:lnTo>
                  <a:pt x="615210" y="218602"/>
                </a:lnTo>
                <a:lnTo>
                  <a:pt x="307605" y="0"/>
                </a:lnTo>
                <a:close/>
              </a:path>
            </a:pathLst>
          </a:custGeom>
          <a:ln w="7208">
            <a:solidFill>
              <a:srgbClr val="000000"/>
            </a:solidFill>
          </a:ln>
        </p:spPr>
        <p:txBody>
          <a:bodyPr wrap="square" lIns="0" tIns="0" rIns="0" bIns="0" rtlCol="0"/>
          <a:lstStyle/>
          <a:p/>
        </p:txBody>
      </p:sp>
      <p:sp>
        <p:nvSpPr>
          <p:cNvPr id="101" name="object 101" descr=""/>
          <p:cNvSpPr txBox="1"/>
          <p:nvPr/>
        </p:nvSpPr>
        <p:spPr>
          <a:xfrm>
            <a:off x="7863429" y="5257789"/>
            <a:ext cx="424180" cy="141605"/>
          </a:xfrm>
          <a:prstGeom prst="rect">
            <a:avLst/>
          </a:prstGeom>
        </p:spPr>
        <p:txBody>
          <a:bodyPr wrap="square" lIns="0" tIns="13335" rIns="0" bIns="0" rtlCol="0" vert="horz">
            <a:spAutoFit/>
          </a:bodyPr>
          <a:lstStyle/>
          <a:p>
            <a:pPr marL="12700">
              <a:lnSpc>
                <a:spcPct val="100000"/>
              </a:lnSpc>
              <a:spcBef>
                <a:spcPts val="105"/>
              </a:spcBef>
            </a:pPr>
            <a:r>
              <a:rPr dirty="0" sz="750">
                <a:latin typeface="Times New Roman"/>
                <a:cs typeface="Times New Roman"/>
              </a:rPr>
              <a:t>A[i]</a:t>
            </a:r>
            <a:r>
              <a:rPr dirty="0" sz="750" spc="105">
                <a:latin typeface="Times New Roman"/>
                <a:cs typeface="Times New Roman"/>
              </a:rPr>
              <a:t> </a:t>
            </a:r>
            <a:r>
              <a:rPr dirty="0" sz="750" spc="55">
                <a:latin typeface="Times New Roman"/>
                <a:cs typeface="Times New Roman"/>
              </a:rPr>
              <a:t>=</a:t>
            </a:r>
            <a:r>
              <a:rPr dirty="0" sz="750" spc="105">
                <a:latin typeface="Times New Roman"/>
                <a:cs typeface="Times New Roman"/>
              </a:rPr>
              <a:t> </a:t>
            </a:r>
            <a:r>
              <a:rPr dirty="0" sz="750" spc="-25">
                <a:latin typeface="Times New Roman"/>
                <a:cs typeface="Times New Roman"/>
              </a:rPr>
              <a:t>0?</a:t>
            </a:r>
            <a:endParaRPr sz="750">
              <a:latin typeface="Times New Roman"/>
              <a:cs typeface="Times New Roman"/>
            </a:endParaRPr>
          </a:p>
        </p:txBody>
      </p:sp>
      <p:sp>
        <p:nvSpPr>
          <p:cNvPr id="102" name="object 102" descr=""/>
          <p:cNvSpPr txBox="1"/>
          <p:nvPr/>
        </p:nvSpPr>
        <p:spPr>
          <a:xfrm>
            <a:off x="7152595" y="5556533"/>
            <a:ext cx="615315" cy="191770"/>
          </a:xfrm>
          <a:prstGeom prst="rect">
            <a:avLst/>
          </a:prstGeom>
          <a:ln w="7035">
            <a:solidFill>
              <a:srgbClr val="000000"/>
            </a:solidFill>
          </a:ln>
        </p:spPr>
        <p:txBody>
          <a:bodyPr wrap="square" lIns="0" tIns="29209" rIns="0" bIns="0" rtlCol="0" vert="horz">
            <a:spAutoFit/>
          </a:bodyPr>
          <a:lstStyle/>
          <a:p>
            <a:pPr marL="175895">
              <a:lnSpc>
                <a:spcPct val="100000"/>
              </a:lnSpc>
              <a:spcBef>
                <a:spcPts val="229"/>
              </a:spcBef>
            </a:pPr>
            <a:r>
              <a:rPr dirty="0" sz="750">
                <a:latin typeface="Times New Roman"/>
                <a:cs typeface="Times New Roman"/>
              </a:rPr>
              <a:t>B[i]</a:t>
            </a:r>
            <a:r>
              <a:rPr dirty="0" sz="750" spc="175">
                <a:latin typeface="Times New Roman"/>
                <a:cs typeface="Times New Roman"/>
              </a:rPr>
              <a:t> </a:t>
            </a:r>
            <a:r>
              <a:rPr dirty="0" sz="750" spc="5">
                <a:latin typeface="Times New Roman"/>
                <a:cs typeface="Times New Roman"/>
              </a:rPr>
              <a:t>=</a:t>
            </a:r>
            <a:endParaRPr sz="750">
              <a:latin typeface="Times New Roman"/>
              <a:cs typeface="Times New Roman"/>
            </a:endParaRPr>
          </a:p>
        </p:txBody>
      </p:sp>
      <p:sp>
        <p:nvSpPr>
          <p:cNvPr id="103" name="object 103" descr=""/>
          <p:cNvSpPr txBox="1"/>
          <p:nvPr/>
        </p:nvSpPr>
        <p:spPr>
          <a:xfrm>
            <a:off x="7152595" y="5884388"/>
            <a:ext cx="615315" cy="191770"/>
          </a:xfrm>
          <a:prstGeom prst="rect">
            <a:avLst/>
          </a:prstGeom>
          <a:ln w="7035">
            <a:solidFill>
              <a:srgbClr val="000000"/>
            </a:solidFill>
          </a:ln>
        </p:spPr>
        <p:txBody>
          <a:bodyPr wrap="square" lIns="0" tIns="29209" rIns="0" bIns="0" rtlCol="0" vert="horz">
            <a:spAutoFit/>
          </a:bodyPr>
          <a:lstStyle/>
          <a:p>
            <a:pPr marL="175895">
              <a:lnSpc>
                <a:spcPct val="100000"/>
              </a:lnSpc>
              <a:spcBef>
                <a:spcPts val="229"/>
              </a:spcBef>
            </a:pPr>
            <a:r>
              <a:rPr dirty="0" sz="750">
                <a:latin typeface="Times New Roman"/>
                <a:cs typeface="Times New Roman"/>
              </a:rPr>
              <a:t>C[i]</a:t>
            </a:r>
            <a:r>
              <a:rPr dirty="0" sz="750" spc="175">
                <a:latin typeface="Times New Roman"/>
                <a:cs typeface="Times New Roman"/>
              </a:rPr>
              <a:t> </a:t>
            </a:r>
            <a:r>
              <a:rPr dirty="0" sz="750" spc="5">
                <a:latin typeface="Times New Roman"/>
                <a:cs typeface="Times New Roman"/>
              </a:rPr>
              <a:t>=</a:t>
            </a:r>
            <a:endParaRPr sz="750">
              <a:latin typeface="Times New Roman"/>
              <a:cs typeface="Times New Roman"/>
            </a:endParaRPr>
          </a:p>
        </p:txBody>
      </p:sp>
      <p:grpSp>
        <p:nvGrpSpPr>
          <p:cNvPr id="104" name="object 104" descr=""/>
          <p:cNvGrpSpPr/>
          <p:nvPr/>
        </p:nvGrpSpPr>
        <p:grpSpPr>
          <a:xfrm>
            <a:off x="7441969" y="5022127"/>
            <a:ext cx="652145" cy="534670"/>
            <a:chOff x="7441969" y="5022127"/>
            <a:chExt cx="652145" cy="534670"/>
          </a:xfrm>
        </p:grpSpPr>
        <p:sp>
          <p:nvSpPr>
            <p:cNvPr id="105" name="object 105" descr=""/>
            <p:cNvSpPr/>
            <p:nvPr/>
          </p:nvSpPr>
          <p:spPr>
            <a:xfrm>
              <a:off x="8075422" y="5023715"/>
              <a:ext cx="0" cy="78740"/>
            </a:xfrm>
            <a:custGeom>
              <a:avLst/>
              <a:gdLst/>
              <a:ahLst/>
              <a:cxnLst/>
              <a:rect l="l" t="t" r="r" b="b"/>
              <a:pathLst>
                <a:path w="0" h="78739">
                  <a:moveTo>
                    <a:pt x="0" y="0"/>
                  </a:moveTo>
                  <a:lnTo>
                    <a:pt x="0" y="78457"/>
                  </a:lnTo>
                </a:path>
              </a:pathLst>
            </a:custGeom>
            <a:ln w="3175">
              <a:solidFill>
                <a:srgbClr val="000000"/>
              </a:solidFill>
            </a:ln>
          </p:spPr>
          <p:txBody>
            <a:bodyPr wrap="square" lIns="0" tIns="0" rIns="0" bIns="0" rtlCol="0"/>
            <a:lstStyle/>
            <a:p/>
          </p:txBody>
        </p:sp>
        <p:sp>
          <p:nvSpPr>
            <p:cNvPr id="106" name="object 106" descr=""/>
            <p:cNvSpPr/>
            <p:nvPr/>
          </p:nvSpPr>
          <p:spPr>
            <a:xfrm>
              <a:off x="8057191" y="5098124"/>
              <a:ext cx="36830" cy="48895"/>
            </a:xfrm>
            <a:custGeom>
              <a:avLst/>
              <a:gdLst/>
              <a:ahLst/>
              <a:cxnLst/>
              <a:rect l="l" t="t" r="r" b="b"/>
              <a:pathLst>
                <a:path w="36829" h="48895">
                  <a:moveTo>
                    <a:pt x="36462" y="0"/>
                  </a:moveTo>
                  <a:lnTo>
                    <a:pt x="0" y="0"/>
                  </a:lnTo>
                  <a:lnTo>
                    <a:pt x="18231" y="48578"/>
                  </a:lnTo>
                  <a:lnTo>
                    <a:pt x="36462" y="0"/>
                  </a:lnTo>
                  <a:close/>
                </a:path>
              </a:pathLst>
            </a:custGeom>
            <a:solidFill>
              <a:srgbClr val="000000"/>
            </a:solidFill>
          </p:spPr>
          <p:txBody>
            <a:bodyPr wrap="square" lIns="0" tIns="0" rIns="0" bIns="0" rtlCol="0"/>
            <a:lstStyle/>
            <a:p/>
          </p:txBody>
        </p:sp>
        <p:sp>
          <p:nvSpPr>
            <p:cNvPr id="107" name="object 107" descr=""/>
            <p:cNvSpPr/>
            <p:nvPr/>
          </p:nvSpPr>
          <p:spPr>
            <a:xfrm>
              <a:off x="7460200" y="5351618"/>
              <a:ext cx="307975" cy="160655"/>
            </a:xfrm>
            <a:custGeom>
              <a:avLst/>
              <a:gdLst/>
              <a:ahLst/>
              <a:cxnLst/>
              <a:rect l="l" t="t" r="r" b="b"/>
              <a:pathLst>
                <a:path w="307975" h="160654">
                  <a:moveTo>
                    <a:pt x="307616" y="0"/>
                  </a:moveTo>
                  <a:lnTo>
                    <a:pt x="0" y="0"/>
                  </a:lnTo>
                  <a:lnTo>
                    <a:pt x="0" y="160385"/>
                  </a:lnTo>
                </a:path>
              </a:pathLst>
            </a:custGeom>
            <a:ln w="3175">
              <a:solidFill>
                <a:srgbClr val="000000"/>
              </a:solidFill>
            </a:ln>
          </p:spPr>
          <p:txBody>
            <a:bodyPr wrap="square" lIns="0" tIns="0" rIns="0" bIns="0" rtlCol="0"/>
            <a:lstStyle/>
            <a:p/>
          </p:txBody>
        </p:sp>
        <p:sp>
          <p:nvSpPr>
            <p:cNvPr id="108" name="object 108" descr=""/>
            <p:cNvSpPr/>
            <p:nvPr/>
          </p:nvSpPr>
          <p:spPr>
            <a:xfrm>
              <a:off x="7441969" y="5507955"/>
              <a:ext cx="36830" cy="48895"/>
            </a:xfrm>
            <a:custGeom>
              <a:avLst/>
              <a:gdLst/>
              <a:ahLst/>
              <a:cxnLst/>
              <a:rect l="l" t="t" r="r" b="b"/>
              <a:pathLst>
                <a:path w="36829" h="48895">
                  <a:moveTo>
                    <a:pt x="36462" y="0"/>
                  </a:moveTo>
                  <a:lnTo>
                    <a:pt x="0" y="0"/>
                  </a:lnTo>
                  <a:lnTo>
                    <a:pt x="18231" y="48578"/>
                  </a:lnTo>
                  <a:lnTo>
                    <a:pt x="36462" y="0"/>
                  </a:lnTo>
                  <a:close/>
                </a:path>
              </a:pathLst>
            </a:custGeom>
            <a:solidFill>
              <a:srgbClr val="000000"/>
            </a:solidFill>
          </p:spPr>
          <p:txBody>
            <a:bodyPr wrap="square" lIns="0" tIns="0" rIns="0" bIns="0" rtlCol="0"/>
            <a:lstStyle/>
            <a:p/>
          </p:txBody>
        </p:sp>
      </p:grpSp>
      <p:sp>
        <p:nvSpPr>
          <p:cNvPr id="109" name="object 109" descr=""/>
          <p:cNvSpPr txBox="1"/>
          <p:nvPr/>
        </p:nvSpPr>
        <p:spPr>
          <a:xfrm>
            <a:off x="7516865" y="5189520"/>
            <a:ext cx="194310" cy="141605"/>
          </a:xfrm>
          <a:prstGeom prst="rect">
            <a:avLst/>
          </a:prstGeom>
        </p:spPr>
        <p:txBody>
          <a:bodyPr wrap="square" lIns="0" tIns="13335" rIns="0" bIns="0" rtlCol="0" vert="horz">
            <a:spAutoFit/>
          </a:bodyPr>
          <a:lstStyle/>
          <a:p>
            <a:pPr marL="12700">
              <a:lnSpc>
                <a:spcPct val="100000"/>
              </a:lnSpc>
              <a:spcBef>
                <a:spcPts val="105"/>
              </a:spcBef>
            </a:pPr>
            <a:r>
              <a:rPr dirty="0" sz="750" spc="-20">
                <a:latin typeface="Times New Roman"/>
                <a:cs typeface="Times New Roman"/>
              </a:rPr>
              <a:t>true</a:t>
            </a:r>
            <a:endParaRPr sz="750">
              <a:latin typeface="Times New Roman"/>
              <a:cs typeface="Times New Roman"/>
            </a:endParaRPr>
          </a:p>
        </p:txBody>
      </p:sp>
      <p:sp>
        <p:nvSpPr>
          <p:cNvPr id="110" name="object 110" descr=""/>
          <p:cNvSpPr txBox="1"/>
          <p:nvPr/>
        </p:nvSpPr>
        <p:spPr>
          <a:xfrm>
            <a:off x="8421656" y="5189520"/>
            <a:ext cx="230504" cy="141605"/>
          </a:xfrm>
          <a:prstGeom prst="rect">
            <a:avLst/>
          </a:prstGeom>
        </p:spPr>
        <p:txBody>
          <a:bodyPr wrap="square" lIns="0" tIns="13335" rIns="0" bIns="0" rtlCol="0" vert="horz">
            <a:spAutoFit/>
          </a:bodyPr>
          <a:lstStyle/>
          <a:p>
            <a:pPr marL="12700">
              <a:lnSpc>
                <a:spcPct val="100000"/>
              </a:lnSpc>
              <a:spcBef>
                <a:spcPts val="105"/>
              </a:spcBef>
            </a:pPr>
            <a:r>
              <a:rPr dirty="0" sz="750" spc="-10">
                <a:latin typeface="Times New Roman"/>
                <a:cs typeface="Times New Roman"/>
              </a:rPr>
              <a:t>false</a:t>
            </a:r>
            <a:endParaRPr sz="750">
              <a:latin typeface="Times New Roman"/>
              <a:cs typeface="Times New Roman"/>
            </a:endParaRPr>
          </a:p>
        </p:txBody>
      </p:sp>
      <p:grpSp>
        <p:nvGrpSpPr>
          <p:cNvPr id="111" name="object 111" descr=""/>
          <p:cNvGrpSpPr/>
          <p:nvPr/>
        </p:nvGrpSpPr>
        <p:grpSpPr>
          <a:xfrm>
            <a:off x="7441969" y="5747781"/>
            <a:ext cx="36830" cy="137160"/>
            <a:chOff x="7441969" y="5747781"/>
            <a:chExt cx="36830" cy="137160"/>
          </a:xfrm>
        </p:grpSpPr>
        <p:sp>
          <p:nvSpPr>
            <p:cNvPr id="112" name="object 112" descr=""/>
            <p:cNvSpPr/>
            <p:nvPr/>
          </p:nvSpPr>
          <p:spPr>
            <a:xfrm>
              <a:off x="7460200" y="5747781"/>
              <a:ext cx="0" cy="92075"/>
            </a:xfrm>
            <a:custGeom>
              <a:avLst/>
              <a:gdLst/>
              <a:ahLst/>
              <a:cxnLst/>
              <a:rect l="l" t="t" r="r" b="b"/>
              <a:pathLst>
                <a:path w="0" h="92075">
                  <a:moveTo>
                    <a:pt x="0" y="0"/>
                  </a:moveTo>
                  <a:lnTo>
                    <a:pt x="0" y="92076"/>
                  </a:lnTo>
                </a:path>
              </a:pathLst>
            </a:custGeom>
            <a:ln w="3175">
              <a:solidFill>
                <a:srgbClr val="000000"/>
              </a:solidFill>
            </a:ln>
          </p:spPr>
          <p:txBody>
            <a:bodyPr wrap="square" lIns="0" tIns="0" rIns="0" bIns="0" rtlCol="0"/>
            <a:lstStyle/>
            <a:p/>
          </p:txBody>
        </p:sp>
        <p:sp>
          <p:nvSpPr>
            <p:cNvPr id="113" name="object 113" descr=""/>
            <p:cNvSpPr/>
            <p:nvPr/>
          </p:nvSpPr>
          <p:spPr>
            <a:xfrm>
              <a:off x="7441969" y="5835810"/>
              <a:ext cx="36830" cy="48895"/>
            </a:xfrm>
            <a:custGeom>
              <a:avLst/>
              <a:gdLst/>
              <a:ahLst/>
              <a:cxnLst/>
              <a:rect l="l" t="t" r="r" b="b"/>
              <a:pathLst>
                <a:path w="36829" h="48895">
                  <a:moveTo>
                    <a:pt x="36462" y="0"/>
                  </a:moveTo>
                  <a:lnTo>
                    <a:pt x="0" y="0"/>
                  </a:lnTo>
                  <a:lnTo>
                    <a:pt x="18231" y="48578"/>
                  </a:lnTo>
                  <a:lnTo>
                    <a:pt x="36462" y="0"/>
                  </a:lnTo>
                  <a:close/>
                </a:path>
              </a:pathLst>
            </a:custGeom>
            <a:solidFill>
              <a:srgbClr val="000000"/>
            </a:solidFill>
          </p:spPr>
          <p:txBody>
            <a:bodyPr wrap="square" lIns="0" tIns="0" rIns="0" bIns="0" rtlCol="0"/>
            <a:lstStyle/>
            <a:p/>
          </p:txBody>
        </p:sp>
      </p:grpSp>
      <p:grpSp>
        <p:nvGrpSpPr>
          <p:cNvPr id="114" name="object 114" descr=""/>
          <p:cNvGrpSpPr/>
          <p:nvPr/>
        </p:nvGrpSpPr>
        <p:grpSpPr>
          <a:xfrm>
            <a:off x="7459033" y="6074477"/>
            <a:ext cx="481330" cy="165100"/>
            <a:chOff x="7459033" y="6074477"/>
            <a:chExt cx="481330" cy="165100"/>
          </a:xfrm>
        </p:grpSpPr>
        <p:sp>
          <p:nvSpPr>
            <p:cNvPr id="115" name="object 115" descr=""/>
            <p:cNvSpPr/>
            <p:nvPr/>
          </p:nvSpPr>
          <p:spPr>
            <a:xfrm>
              <a:off x="7460201" y="6075645"/>
              <a:ext cx="461645" cy="120014"/>
            </a:xfrm>
            <a:custGeom>
              <a:avLst/>
              <a:gdLst/>
              <a:ahLst/>
              <a:cxnLst/>
              <a:rect l="l" t="t" r="r" b="b"/>
              <a:pathLst>
                <a:path w="461645" h="120014">
                  <a:moveTo>
                    <a:pt x="0" y="0"/>
                  </a:moveTo>
                  <a:lnTo>
                    <a:pt x="0" y="81966"/>
                  </a:lnTo>
                  <a:lnTo>
                    <a:pt x="461418" y="81966"/>
                  </a:lnTo>
                  <a:lnTo>
                    <a:pt x="461418" y="119402"/>
                  </a:lnTo>
                </a:path>
              </a:pathLst>
            </a:custGeom>
            <a:ln w="3175">
              <a:solidFill>
                <a:srgbClr val="000000"/>
              </a:solidFill>
            </a:ln>
          </p:spPr>
          <p:txBody>
            <a:bodyPr wrap="square" lIns="0" tIns="0" rIns="0" bIns="0" rtlCol="0"/>
            <a:lstStyle/>
            <a:p/>
          </p:txBody>
        </p:sp>
        <p:sp>
          <p:nvSpPr>
            <p:cNvPr id="116" name="object 116" descr=""/>
            <p:cNvSpPr/>
            <p:nvPr/>
          </p:nvSpPr>
          <p:spPr>
            <a:xfrm>
              <a:off x="7903388" y="6190999"/>
              <a:ext cx="36830" cy="48895"/>
            </a:xfrm>
            <a:custGeom>
              <a:avLst/>
              <a:gdLst/>
              <a:ahLst/>
              <a:cxnLst/>
              <a:rect l="l" t="t" r="r" b="b"/>
              <a:pathLst>
                <a:path w="36829" h="48895">
                  <a:moveTo>
                    <a:pt x="36462" y="0"/>
                  </a:moveTo>
                  <a:lnTo>
                    <a:pt x="0" y="0"/>
                  </a:lnTo>
                  <a:lnTo>
                    <a:pt x="18231" y="48576"/>
                  </a:lnTo>
                  <a:lnTo>
                    <a:pt x="36462" y="0"/>
                  </a:lnTo>
                  <a:close/>
                </a:path>
              </a:pathLst>
            </a:custGeom>
            <a:solidFill>
              <a:srgbClr val="000000"/>
            </a:solidFill>
          </p:spPr>
          <p:txBody>
            <a:bodyPr wrap="square" lIns="0" tIns="0" rIns="0" bIns="0" rtlCol="0"/>
            <a:lstStyle/>
            <a:p/>
          </p:txBody>
        </p:sp>
      </p:grpSp>
      <p:grpSp>
        <p:nvGrpSpPr>
          <p:cNvPr id="117" name="object 117" descr=""/>
          <p:cNvGrpSpPr/>
          <p:nvPr/>
        </p:nvGrpSpPr>
        <p:grpSpPr>
          <a:xfrm>
            <a:off x="7458930" y="2137846"/>
            <a:ext cx="3757929" cy="2708910"/>
            <a:chOff x="7458930" y="2137846"/>
            <a:chExt cx="3757929" cy="2708910"/>
          </a:xfrm>
        </p:grpSpPr>
        <p:sp>
          <p:nvSpPr>
            <p:cNvPr id="118" name="object 118" descr=""/>
            <p:cNvSpPr/>
            <p:nvPr/>
          </p:nvSpPr>
          <p:spPr>
            <a:xfrm>
              <a:off x="7460200" y="4668534"/>
              <a:ext cx="461645" cy="133350"/>
            </a:xfrm>
            <a:custGeom>
              <a:avLst/>
              <a:gdLst/>
              <a:ahLst/>
              <a:cxnLst/>
              <a:rect l="l" t="t" r="r" b="b"/>
              <a:pathLst>
                <a:path w="461645" h="133350">
                  <a:moveTo>
                    <a:pt x="0" y="0"/>
                  </a:moveTo>
                  <a:lnTo>
                    <a:pt x="0" y="88867"/>
                  </a:lnTo>
                  <a:lnTo>
                    <a:pt x="461418" y="88867"/>
                  </a:lnTo>
                  <a:lnTo>
                    <a:pt x="461418" y="133108"/>
                  </a:lnTo>
                </a:path>
              </a:pathLst>
            </a:custGeom>
            <a:ln w="3175">
              <a:solidFill>
                <a:srgbClr val="000000"/>
              </a:solidFill>
            </a:ln>
          </p:spPr>
          <p:txBody>
            <a:bodyPr wrap="square" lIns="0" tIns="0" rIns="0" bIns="0" rtlCol="0"/>
            <a:lstStyle/>
            <a:p/>
          </p:txBody>
        </p:sp>
        <p:sp>
          <p:nvSpPr>
            <p:cNvPr id="119" name="object 119" descr=""/>
            <p:cNvSpPr/>
            <p:nvPr/>
          </p:nvSpPr>
          <p:spPr>
            <a:xfrm>
              <a:off x="7903388" y="4797594"/>
              <a:ext cx="36830" cy="48895"/>
            </a:xfrm>
            <a:custGeom>
              <a:avLst/>
              <a:gdLst/>
              <a:ahLst/>
              <a:cxnLst/>
              <a:rect l="l" t="t" r="r" b="b"/>
              <a:pathLst>
                <a:path w="36829" h="48895">
                  <a:moveTo>
                    <a:pt x="36462" y="0"/>
                  </a:moveTo>
                  <a:lnTo>
                    <a:pt x="0" y="0"/>
                  </a:lnTo>
                  <a:lnTo>
                    <a:pt x="18231" y="48578"/>
                  </a:lnTo>
                  <a:lnTo>
                    <a:pt x="36462" y="0"/>
                  </a:lnTo>
                  <a:close/>
                </a:path>
              </a:pathLst>
            </a:custGeom>
            <a:solidFill>
              <a:srgbClr val="000000"/>
            </a:solidFill>
          </p:spPr>
          <p:txBody>
            <a:bodyPr wrap="square" lIns="0" tIns="0" rIns="0" bIns="0" rtlCol="0"/>
            <a:lstStyle/>
            <a:p/>
          </p:txBody>
        </p:sp>
        <p:sp>
          <p:nvSpPr>
            <p:cNvPr id="120" name="object 120" descr=""/>
            <p:cNvSpPr/>
            <p:nvPr/>
          </p:nvSpPr>
          <p:spPr>
            <a:xfrm>
              <a:off x="10413292" y="2141338"/>
              <a:ext cx="800100" cy="166370"/>
            </a:xfrm>
            <a:custGeom>
              <a:avLst/>
              <a:gdLst/>
              <a:ahLst/>
              <a:cxnLst/>
              <a:rect l="l" t="t" r="r" b="b"/>
              <a:pathLst>
                <a:path w="800100" h="166369">
                  <a:moveTo>
                    <a:pt x="0" y="165753"/>
                  </a:moveTo>
                  <a:lnTo>
                    <a:pt x="799789" y="165753"/>
                  </a:lnTo>
                  <a:lnTo>
                    <a:pt x="799789" y="0"/>
                  </a:lnTo>
                  <a:lnTo>
                    <a:pt x="0" y="0"/>
                  </a:lnTo>
                  <a:lnTo>
                    <a:pt x="0" y="165753"/>
                  </a:lnTo>
                  <a:close/>
                </a:path>
              </a:pathLst>
            </a:custGeom>
            <a:ln w="6975">
              <a:solidFill>
                <a:srgbClr val="000000"/>
              </a:solidFill>
            </a:ln>
          </p:spPr>
          <p:txBody>
            <a:bodyPr wrap="square" lIns="0" tIns="0" rIns="0" bIns="0" rtlCol="0"/>
            <a:lstStyle/>
            <a:p/>
          </p:txBody>
        </p:sp>
      </p:grpSp>
      <p:sp>
        <p:nvSpPr>
          <p:cNvPr id="121" name="object 121" descr=""/>
          <p:cNvSpPr txBox="1"/>
          <p:nvPr/>
        </p:nvSpPr>
        <p:spPr>
          <a:xfrm>
            <a:off x="10416785" y="2150778"/>
            <a:ext cx="793115" cy="129539"/>
          </a:xfrm>
          <a:prstGeom prst="rect">
            <a:avLst/>
          </a:prstGeom>
        </p:spPr>
        <p:txBody>
          <a:bodyPr wrap="square" lIns="0" tIns="16510" rIns="0" bIns="0" rtlCol="0" vert="horz">
            <a:spAutoFit/>
          </a:bodyPr>
          <a:lstStyle/>
          <a:p>
            <a:pPr marL="50800">
              <a:lnSpc>
                <a:spcPct val="100000"/>
              </a:lnSpc>
              <a:spcBef>
                <a:spcPts val="130"/>
              </a:spcBef>
            </a:pPr>
            <a:r>
              <a:rPr dirty="0" sz="650" spc="10">
                <a:latin typeface="Times New Roman"/>
                <a:cs typeface="Times New Roman"/>
              </a:rPr>
              <a:t>A[i]</a:t>
            </a:r>
            <a:r>
              <a:rPr dirty="0" sz="650" spc="105">
                <a:latin typeface="Times New Roman"/>
                <a:cs typeface="Times New Roman"/>
              </a:rPr>
              <a:t> </a:t>
            </a:r>
            <a:r>
              <a:rPr dirty="0" sz="650" spc="65">
                <a:latin typeface="Times New Roman"/>
                <a:cs typeface="Times New Roman"/>
              </a:rPr>
              <a:t>=</a:t>
            </a:r>
            <a:r>
              <a:rPr dirty="0" sz="650" spc="105">
                <a:latin typeface="Times New Roman"/>
                <a:cs typeface="Times New Roman"/>
              </a:rPr>
              <a:t> </a:t>
            </a:r>
            <a:r>
              <a:rPr dirty="0" sz="650" spc="10">
                <a:latin typeface="Times New Roman"/>
                <a:cs typeface="Times New Roman"/>
              </a:rPr>
              <a:t>A[i]</a:t>
            </a:r>
            <a:r>
              <a:rPr dirty="0" sz="650" spc="110">
                <a:latin typeface="Times New Roman"/>
                <a:cs typeface="Times New Roman"/>
              </a:rPr>
              <a:t> </a:t>
            </a:r>
            <a:r>
              <a:rPr dirty="0" sz="650" spc="65">
                <a:latin typeface="Times New Roman"/>
                <a:cs typeface="Times New Roman"/>
              </a:rPr>
              <a:t>+</a:t>
            </a:r>
            <a:r>
              <a:rPr dirty="0" sz="650" spc="105">
                <a:latin typeface="Times New Roman"/>
                <a:cs typeface="Times New Roman"/>
              </a:rPr>
              <a:t> </a:t>
            </a:r>
            <a:r>
              <a:rPr dirty="0" sz="650" spc="-20">
                <a:latin typeface="Times New Roman"/>
                <a:cs typeface="Times New Roman"/>
              </a:rPr>
              <a:t>B[i]</a:t>
            </a:r>
            <a:endParaRPr sz="650">
              <a:latin typeface="Times New Roman"/>
              <a:cs typeface="Times New Roman"/>
            </a:endParaRPr>
          </a:p>
        </p:txBody>
      </p:sp>
      <p:grpSp>
        <p:nvGrpSpPr>
          <p:cNvPr id="122" name="object 122" descr=""/>
          <p:cNvGrpSpPr/>
          <p:nvPr/>
        </p:nvGrpSpPr>
        <p:grpSpPr>
          <a:xfrm>
            <a:off x="10542742" y="2492680"/>
            <a:ext cx="541020" cy="363220"/>
            <a:chOff x="10542742" y="2492680"/>
            <a:chExt cx="541020" cy="363220"/>
          </a:xfrm>
        </p:grpSpPr>
        <p:sp>
          <p:nvSpPr>
            <p:cNvPr id="123" name="object 123" descr=""/>
            <p:cNvSpPr/>
            <p:nvPr/>
          </p:nvSpPr>
          <p:spPr>
            <a:xfrm>
              <a:off x="10546552" y="2496490"/>
              <a:ext cx="533400" cy="355600"/>
            </a:xfrm>
            <a:custGeom>
              <a:avLst/>
              <a:gdLst/>
              <a:ahLst/>
              <a:cxnLst/>
              <a:rect l="l" t="t" r="r" b="b"/>
              <a:pathLst>
                <a:path w="533400" h="355600">
                  <a:moveTo>
                    <a:pt x="266628" y="0"/>
                  </a:moveTo>
                  <a:lnTo>
                    <a:pt x="0" y="189397"/>
                  </a:lnTo>
                  <a:lnTo>
                    <a:pt x="266628" y="355180"/>
                  </a:lnTo>
                  <a:lnTo>
                    <a:pt x="533149" y="189397"/>
                  </a:lnTo>
                  <a:lnTo>
                    <a:pt x="266628" y="0"/>
                  </a:lnTo>
                  <a:close/>
                </a:path>
              </a:pathLst>
            </a:custGeom>
            <a:solidFill>
              <a:srgbClr val="FFFFFF"/>
            </a:solidFill>
          </p:spPr>
          <p:txBody>
            <a:bodyPr wrap="square" lIns="0" tIns="0" rIns="0" bIns="0" rtlCol="0"/>
            <a:lstStyle/>
            <a:p/>
          </p:txBody>
        </p:sp>
        <p:sp>
          <p:nvSpPr>
            <p:cNvPr id="124" name="object 124" descr=""/>
            <p:cNvSpPr/>
            <p:nvPr/>
          </p:nvSpPr>
          <p:spPr>
            <a:xfrm>
              <a:off x="10546552" y="2496490"/>
              <a:ext cx="533400" cy="355600"/>
            </a:xfrm>
            <a:custGeom>
              <a:avLst/>
              <a:gdLst/>
              <a:ahLst/>
              <a:cxnLst/>
              <a:rect l="l" t="t" r="r" b="b"/>
              <a:pathLst>
                <a:path w="533400" h="355600">
                  <a:moveTo>
                    <a:pt x="266628" y="0"/>
                  </a:moveTo>
                  <a:lnTo>
                    <a:pt x="0" y="189397"/>
                  </a:lnTo>
                  <a:lnTo>
                    <a:pt x="266628" y="355180"/>
                  </a:lnTo>
                  <a:lnTo>
                    <a:pt x="533149" y="189397"/>
                  </a:lnTo>
                  <a:lnTo>
                    <a:pt x="266628" y="0"/>
                  </a:lnTo>
                  <a:close/>
                </a:path>
              </a:pathLst>
            </a:custGeom>
            <a:ln w="7208">
              <a:solidFill>
                <a:srgbClr val="000000"/>
              </a:solidFill>
            </a:ln>
          </p:spPr>
          <p:txBody>
            <a:bodyPr wrap="square" lIns="0" tIns="0" rIns="0" bIns="0" rtlCol="0"/>
            <a:lstStyle/>
            <a:p/>
          </p:txBody>
        </p:sp>
      </p:grpSp>
      <p:sp>
        <p:nvSpPr>
          <p:cNvPr id="125" name="object 125" descr=""/>
          <p:cNvSpPr txBox="1"/>
          <p:nvPr/>
        </p:nvSpPr>
        <p:spPr>
          <a:xfrm>
            <a:off x="10621100" y="2600609"/>
            <a:ext cx="384810" cy="129539"/>
          </a:xfrm>
          <a:prstGeom prst="rect">
            <a:avLst/>
          </a:prstGeom>
        </p:spPr>
        <p:txBody>
          <a:bodyPr wrap="square" lIns="0" tIns="16510" rIns="0" bIns="0" rtlCol="0" vert="horz">
            <a:spAutoFit/>
          </a:bodyPr>
          <a:lstStyle/>
          <a:p>
            <a:pPr marL="12700">
              <a:lnSpc>
                <a:spcPct val="100000"/>
              </a:lnSpc>
              <a:spcBef>
                <a:spcPts val="130"/>
              </a:spcBef>
            </a:pPr>
            <a:r>
              <a:rPr dirty="0" sz="650" spc="10">
                <a:latin typeface="Times New Roman"/>
                <a:cs typeface="Times New Roman"/>
              </a:rPr>
              <a:t>A[i]</a:t>
            </a:r>
            <a:r>
              <a:rPr dirty="0" sz="650" spc="105">
                <a:latin typeface="Times New Roman"/>
                <a:cs typeface="Times New Roman"/>
              </a:rPr>
              <a:t> </a:t>
            </a:r>
            <a:r>
              <a:rPr dirty="0" sz="650" spc="65">
                <a:latin typeface="Times New Roman"/>
                <a:cs typeface="Times New Roman"/>
              </a:rPr>
              <a:t>=</a:t>
            </a:r>
            <a:r>
              <a:rPr dirty="0" sz="650" spc="105">
                <a:latin typeface="Times New Roman"/>
                <a:cs typeface="Times New Roman"/>
              </a:rPr>
              <a:t> </a:t>
            </a:r>
            <a:r>
              <a:rPr dirty="0" sz="650" spc="30">
                <a:latin typeface="Times New Roman"/>
                <a:cs typeface="Times New Roman"/>
              </a:rPr>
              <a:t>0?</a:t>
            </a:r>
            <a:endParaRPr sz="650">
              <a:latin typeface="Times New Roman"/>
              <a:cs typeface="Times New Roman"/>
            </a:endParaRPr>
          </a:p>
        </p:txBody>
      </p:sp>
      <p:sp>
        <p:nvSpPr>
          <p:cNvPr id="126" name="object 126" descr=""/>
          <p:cNvSpPr txBox="1"/>
          <p:nvPr/>
        </p:nvSpPr>
        <p:spPr>
          <a:xfrm>
            <a:off x="10013403" y="3041096"/>
            <a:ext cx="533400" cy="166370"/>
          </a:xfrm>
          <a:prstGeom prst="rect">
            <a:avLst/>
          </a:prstGeom>
          <a:solidFill>
            <a:srgbClr val="FFFFFF"/>
          </a:solidFill>
          <a:ln w="7035">
            <a:solidFill>
              <a:srgbClr val="000000"/>
            </a:solidFill>
          </a:ln>
        </p:spPr>
        <p:txBody>
          <a:bodyPr wrap="square" lIns="0" tIns="26034" rIns="0" bIns="0" rtlCol="0" vert="horz">
            <a:spAutoFit/>
          </a:bodyPr>
          <a:lstStyle/>
          <a:p>
            <a:pPr marL="147955">
              <a:lnSpc>
                <a:spcPct val="100000"/>
              </a:lnSpc>
              <a:spcBef>
                <a:spcPts val="204"/>
              </a:spcBef>
            </a:pPr>
            <a:r>
              <a:rPr dirty="0" sz="650" spc="10">
                <a:latin typeface="Times New Roman"/>
                <a:cs typeface="Times New Roman"/>
              </a:rPr>
              <a:t>B[i]</a:t>
            </a:r>
            <a:r>
              <a:rPr dirty="0" sz="650" spc="175">
                <a:latin typeface="Times New Roman"/>
                <a:cs typeface="Times New Roman"/>
              </a:rPr>
              <a:t> </a:t>
            </a:r>
            <a:r>
              <a:rPr dirty="0" sz="650" spc="15">
                <a:latin typeface="Times New Roman"/>
                <a:cs typeface="Times New Roman"/>
              </a:rPr>
              <a:t>=</a:t>
            </a:r>
            <a:endParaRPr sz="650">
              <a:latin typeface="Times New Roman"/>
              <a:cs typeface="Times New Roman"/>
            </a:endParaRPr>
          </a:p>
        </p:txBody>
      </p:sp>
      <p:grpSp>
        <p:nvGrpSpPr>
          <p:cNvPr id="127" name="object 127" descr=""/>
          <p:cNvGrpSpPr/>
          <p:nvPr/>
        </p:nvGrpSpPr>
        <p:grpSpPr>
          <a:xfrm>
            <a:off x="10542742" y="3439791"/>
            <a:ext cx="541020" cy="173990"/>
            <a:chOff x="10542742" y="3439791"/>
            <a:chExt cx="541020" cy="173990"/>
          </a:xfrm>
        </p:grpSpPr>
        <p:sp>
          <p:nvSpPr>
            <p:cNvPr id="128" name="object 128" descr=""/>
            <p:cNvSpPr/>
            <p:nvPr/>
          </p:nvSpPr>
          <p:spPr>
            <a:xfrm>
              <a:off x="10546552" y="3443601"/>
              <a:ext cx="533400" cy="166370"/>
            </a:xfrm>
            <a:custGeom>
              <a:avLst/>
              <a:gdLst/>
              <a:ahLst/>
              <a:cxnLst/>
              <a:rect l="l" t="t" r="r" b="b"/>
              <a:pathLst>
                <a:path w="533400" h="166370">
                  <a:moveTo>
                    <a:pt x="533192" y="0"/>
                  </a:moveTo>
                  <a:lnTo>
                    <a:pt x="0" y="0"/>
                  </a:lnTo>
                  <a:lnTo>
                    <a:pt x="0" y="165753"/>
                  </a:lnTo>
                  <a:lnTo>
                    <a:pt x="533192" y="165753"/>
                  </a:lnTo>
                  <a:lnTo>
                    <a:pt x="533192" y="0"/>
                  </a:lnTo>
                  <a:close/>
                </a:path>
              </a:pathLst>
            </a:custGeom>
            <a:solidFill>
              <a:srgbClr val="FFFFFF"/>
            </a:solidFill>
          </p:spPr>
          <p:txBody>
            <a:bodyPr wrap="square" lIns="0" tIns="0" rIns="0" bIns="0" rtlCol="0"/>
            <a:lstStyle/>
            <a:p/>
          </p:txBody>
        </p:sp>
        <p:sp>
          <p:nvSpPr>
            <p:cNvPr id="129" name="object 129" descr=""/>
            <p:cNvSpPr/>
            <p:nvPr/>
          </p:nvSpPr>
          <p:spPr>
            <a:xfrm>
              <a:off x="10546552" y="3443601"/>
              <a:ext cx="533400" cy="166370"/>
            </a:xfrm>
            <a:custGeom>
              <a:avLst/>
              <a:gdLst/>
              <a:ahLst/>
              <a:cxnLst/>
              <a:rect l="l" t="t" r="r" b="b"/>
              <a:pathLst>
                <a:path w="533400" h="166370">
                  <a:moveTo>
                    <a:pt x="0" y="165753"/>
                  </a:moveTo>
                  <a:lnTo>
                    <a:pt x="533192" y="165753"/>
                  </a:lnTo>
                  <a:lnTo>
                    <a:pt x="533192" y="0"/>
                  </a:lnTo>
                  <a:lnTo>
                    <a:pt x="0" y="0"/>
                  </a:lnTo>
                  <a:lnTo>
                    <a:pt x="0" y="165753"/>
                  </a:lnTo>
                  <a:close/>
                </a:path>
              </a:pathLst>
            </a:custGeom>
            <a:ln w="7016">
              <a:solidFill>
                <a:srgbClr val="000000"/>
              </a:solidFill>
            </a:ln>
          </p:spPr>
          <p:txBody>
            <a:bodyPr wrap="square" lIns="0" tIns="0" rIns="0" bIns="0" rtlCol="0"/>
            <a:lstStyle/>
            <a:p/>
          </p:txBody>
        </p:sp>
      </p:grpSp>
      <p:sp>
        <p:nvSpPr>
          <p:cNvPr id="130" name="object 130" descr=""/>
          <p:cNvSpPr txBox="1"/>
          <p:nvPr/>
        </p:nvSpPr>
        <p:spPr>
          <a:xfrm>
            <a:off x="10672762" y="3453137"/>
            <a:ext cx="403860" cy="129539"/>
          </a:xfrm>
          <a:prstGeom prst="rect">
            <a:avLst/>
          </a:prstGeom>
        </p:spPr>
        <p:txBody>
          <a:bodyPr wrap="square" lIns="0" tIns="16510" rIns="0" bIns="0" rtlCol="0" vert="horz">
            <a:spAutoFit/>
          </a:bodyPr>
          <a:lstStyle/>
          <a:p>
            <a:pPr marL="21590">
              <a:lnSpc>
                <a:spcPct val="100000"/>
              </a:lnSpc>
              <a:spcBef>
                <a:spcPts val="130"/>
              </a:spcBef>
            </a:pPr>
            <a:r>
              <a:rPr dirty="0" sz="650" spc="10">
                <a:latin typeface="Times New Roman"/>
                <a:cs typeface="Times New Roman"/>
              </a:rPr>
              <a:t>C[i]</a:t>
            </a:r>
            <a:r>
              <a:rPr dirty="0" sz="650" spc="175">
                <a:latin typeface="Times New Roman"/>
                <a:cs typeface="Times New Roman"/>
              </a:rPr>
              <a:t> </a:t>
            </a:r>
            <a:r>
              <a:rPr dirty="0" sz="650" spc="15">
                <a:latin typeface="Times New Roman"/>
                <a:cs typeface="Times New Roman"/>
              </a:rPr>
              <a:t>=</a:t>
            </a:r>
            <a:endParaRPr sz="650">
              <a:latin typeface="Times New Roman"/>
              <a:cs typeface="Times New Roman"/>
            </a:endParaRPr>
          </a:p>
        </p:txBody>
      </p:sp>
      <p:sp>
        <p:nvSpPr>
          <p:cNvPr id="131" name="object 131" descr=""/>
          <p:cNvSpPr txBox="1"/>
          <p:nvPr/>
        </p:nvSpPr>
        <p:spPr>
          <a:xfrm>
            <a:off x="11079723" y="3041096"/>
            <a:ext cx="533400" cy="166370"/>
          </a:xfrm>
          <a:prstGeom prst="rect">
            <a:avLst/>
          </a:prstGeom>
          <a:ln w="7035">
            <a:solidFill>
              <a:srgbClr val="000000"/>
            </a:solidFill>
          </a:ln>
        </p:spPr>
        <p:txBody>
          <a:bodyPr wrap="square" lIns="0" tIns="26034" rIns="0" bIns="0" rtlCol="0" vert="horz">
            <a:spAutoFit/>
          </a:bodyPr>
          <a:lstStyle/>
          <a:p>
            <a:pPr algn="ctr">
              <a:lnSpc>
                <a:spcPct val="100000"/>
              </a:lnSpc>
              <a:spcBef>
                <a:spcPts val="204"/>
              </a:spcBef>
            </a:pPr>
            <a:r>
              <a:rPr dirty="0" sz="650" spc="25">
                <a:latin typeface="Times New Roman"/>
                <a:cs typeface="Times New Roman"/>
              </a:rPr>
              <a:t>X</a:t>
            </a:r>
            <a:endParaRPr sz="650">
              <a:latin typeface="Times New Roman"/>
              <a:cs typeface="Times New Roman"/>
            </a:endParaRPr>
          </a:p>
        </p:txBody>
      </p:sp>
      <p:grpSp>
        <p:nvGrpSpPr>
          <p:cNvPr id="132" name="object 132" descr=""/>
          <p:cNvGrpSpPr/>
          <p:nvPr/>
        </p:nvGrpSpPr>
        <p:grpSpPr>
          <a:xfrm>
            <a:off x="10276113" y="2305505"/>
            <a:ext cx="1074420" cy="1138555"/>
            <a:chOff x="10276113" y="2305505"/>
            <a:chExt cx="1074420" cy="1138555"/>
          </a:xfrm>
        </p:grpSpPr>
        <p:sp>
          <p:nvSpPr>
            <p:cNvPr id="133" name="object 133" descr=""/>
            <p:cNvSpPr/>
            <p:nvPr/>
          </p:nvSpPr>
          <p:spPr>
            <a:xfrm>
              <a:off x="10813181" y="2307092"/>
              <a:ext cx="0" cy="145415"/>
            </a:xfrm>
            <a:custGeom>
              <a:avLst/>
              <a:gdLst/>
              <a:ahLst/>
              <a:cxnLst/>
              <a:rect l="l" t="t" r="r" b="b"/>
              <a:pathLst>
                <a:path w="0" h="145414">
                  <a:moveTo>
                    <a:pt x="0" y="0"/>
                  </a:moveTo>
                  <a:lnTo>
                    <a:pt x="0" y="144867"/>
                  </a:lnTo>
                </a:path>
              </a:pathLst>
            </a:custGeom>
            <a:ln w="3175">
              <a:solidFill>
                <a:srgbClr val="000000"/>
              </a:solidFill>
            </a:ln>
          </p:spPr>
          <p:txBody>
            <a:bodyPr wrap="square" lIns="0" tIns="0" rIns="0" bIns="0" rtlCol="0"/>
            <a:lstStyle/>
            <a:p/>
          </p:txBody>
        </p:sp>
        <p:sp>
          <p:nvSpPr>
            <p:cNvPr id="134" name="object 134" descr=""/>
            <p:cNvSpPr/>
            <p:nvPr/>
          </p:nvSpPr>
          <p:spPr>
            <a:xfrm>
              <a:off x="10794950" y="2447911"/>
              <a:ext cx="36830" cy="48895"/>
            </a:xfrm>
            <a:custGeom>
              <a:avLst/>
              <a:gdLst/>
              <a:ahLst/>
              <a:cxnLst/>
              <a:rect l="l" t="t" r="r" b="b"/>
              <a:pathLst>
                <a:path w="36829" h="48894">
                  <a:moveTo>
                    <a:pt x="36462" y="0"/>
                  </a:moveTo>
                  <a:lnTo>
                    <a:pt x="0" y="0"/>
                  </a:lnTo>
                  <a:lnTo>
                    <a:pt x="18231" y="48578"/>
                  </a:lnTo>
                  <a:lnTo>
                    <a:pt x="36462" y="0"/>
                  </a:lnTo>
                  <a:close/>
                </a:path>
              </a:pathLst>
            </a:custGeom>
            <a:solidFill>
              <a:srgbClr val="000000"/>
            </a:solidFill>
          </p:spPr>
          <p:txBody>
            <a:bodyPr wrap="square" lIns="0" tIns="0" rIns="0" bIns="0" rtlCol="0"/>
            <a:lstStyle/>
            <a:p/>
          </p:txBody>
        </p:sp>
        <p:sp>
          <p:nvSpPr>
            <p:cNvPr id="135" name="object 135" descr=""/>
            <p:cNvSpPr/>
            <p:nvPr/>
          </p:nvSpPr>
          <p:spPr>
            <a:xfrm>
              <a:off x="10337004" y="2685887"/>
              <a:ext cx="209550" cy="311150"/>
            </a:xfrm>
            <a:custGeom>
              <a:avLst/>
              <a:gdLst/>
              <a:ahLst/>
              <a:cxnLst/>
              <a:rect l="l" t="t" r="r" b="b"/>
              <a:pathLst>
                <a:path w="209550" h="311150">
                  <a:moveTo>
                    <a:pt x="209548" y="0"/>
                  </a:moveTo>
                  <a:lnTo>
                    <a:pt x="0" y="0"/>
                  </a:lnTo>
                  <a:lnTo>
                    <a:pt x="0" y="310650"/>
                  </a:lnTo>
                </a:path>
              </a:pathLst>
            </a:custGeom>
            <a:ln w="3175">
              <a:solidFill>
                <a:srgbClr val="000000"/>
              </a:solidFill>
            </a:ln>
          </p:spPr>
          <p:txBody>
            <a:bodyPr wrap="square" lIns="0" tIns="0" rIns="0" bIns="0" rtlCol="0"/>
            <a:lstStyle/>
            <a:p/>
          </p:txBody>
        </p:sp>
        <p:sp>
          <p:nvSpPr>
            <p:cNvPr id="136" name="object 136" descr=""/>
            <p:cNvSpPr/>
            <p:nvPr/>
          </p:nvSpPr>
          <p:spPr>
            <a:xfrm>
              <a:off x="10318773" y="2992489"/>
              <a:ext cx="36830" cy="48895"/>
            </a:xfrm>
            <a:custGeom>
              <a:avLst/>
              <a:gdLst/>
              <a:ahLst/>
              <a:cxnLst/>
              <a:rect l="l" t="t" r="r" b="b"/>
              <a:pathLst>
                <a:path w="36829" h="48894">
                  <a:moveTo>
                    <a:pt x="36462" y="0"/>
                  </a:moveTo>
                  <a:lnTo>
                    <a:pt x="0" y="0"/>
                  </a:lnTo>
                  <a:lnTo>
                    <a:pt x="18231" y="48578"/>
                  </a:lnTo>
                  <a:lnTo>
                    <a:pt x="36462" y="0"/>
                  </a:lnTo>
                  <a:close/>
                </a:path>
              </a:pathLst>
            </a:custGeom>
            <a:solidFill>
              <a:srgbClr val="000000"/>
            </a:solidFill>
          </p:spPr>
          <p:txBody>
            <a:bodyPr wrap="square" lIns="0" tIns="0" rIns="0" bIns="0" rtlCol="0"/>
            <a:lstStyle/>
            <a:p/>
          </p:txBody>
        </p:sp>
        <p:sp>
          <p:nvSpPr>
            <p:cNvPr id="137" name="object 137" descr=""/>
            <p:cNvSpPr/>
            <p:nvPr/>
          </p:nvSpPr>
          <p:spPr>
            <a:xfrm>
              <a:off x="11079702" y="2685887"/>
              <a:ext cx="236854" cy="311150"/>
            </a:xfrm>
            <a:custGeom>
              <a:avLst/>
              <a:gdLst/>
              <a:ahLst/>
              <a:cxnLst/>
              <a:rect l="l" t="t" r="r" b="b"/>
              <a:pathLst>
                <a:path w="236854" h="311150">
                  <a:moveTo>
                    <a:pt x="0" y="0"/>
                  </a:moveTo>
                  <a:lnTo>
                    <a:pt x="236243" y="0"/>
                  </a:lnTo>
                  <a:lnTo>
                    <a:pt x="236243" y="310650"/>
                  </a:lnTo>
                </a:path>
              </a:pathLst>
            </a:custGeom>
            <a:ln w="3175">
              <a:solidFill>
                <a:srgbClr val="000000"/>
              </a:solidFill>
            </a:ln>
          </p:spPr>
          <p:txBody>
            <a:bodyPr wrap="square" lIns="0" tIns="0" rIns="0" bIns="0" rtlCol="0"/>
            <a:lstStyle/>
            <a:p/>
          </p:txBody>
        </p:sp>
        <p:sp>
          <p:nvSpPr>
            <p:cNvPr id="138" name="object 138" descr=""/>
            <p:cNvSpPr/>
            <p:nvPr/>
          </p:nvSpPr>
          <p:spPr>
            <a:xfrm>
              <a:off x="11297714" y="2992489"/>
              <a:ext cx="36830" cy="48895"/>
            </a:xfrm>
            <a:custGeom>
              <a:avLst/>
              <a:gdLst/>
              <a:ahLst/>
              <a:cxnLst/>
              <a:rect l="l" t="t" r="r" b="b"/>
              <a:pathLst>
                <a:path w="36829" h="48894">
                  <a:moveTo>
                    <a:pt x="36462" y="0"/>
                  </a:moveTo>
                  <a:lnTo>
                    <a:pt x="0" y="0"/>
                  </a:lnTo>
                  <a:lnTo>
                    <a:pt x="18231" y="48578"/>
                  </a:lnTo>
                  <a:lnTo>
                    <a:pt x="36462" y="0"/>
                  </a:lnTo>
                  <a:close/>
                </a:path>
              </a:pathLst>
            </a:custGeom>
            <a:solidFill>
              <a:srgbClr val="000000"/>
            </a:solidFill>
          </p:spPr>
          <p:txBody>
            <a:bodyPr wrap="square" lIns="0" tIns="0" rIns="0" bIns="0" rtlCol="0"/>
            <a:lstStyle/>
            <a:p/>
          </p:txBody>
        </p:sp>
        <p:sp>
          <p:nvSpPr>
            <p:cNvPr id="139" name="object 139" descr=""/>
            <p:cNvSpPr/>
            <p:nvPr/>
          </p:nvSpPr>
          <p:spPr>
            <a:xfrm>
              <a:off x="10279923" y="3206850"/>
              <a:ext cx="533400" cy="179705"/>
            </a:xfrm>
            <a:custGeom>
              <a:avLst/>
              <a:gdLst/>
              <a:ahLst/>
              <a:cxnLst/>
              <a:rect l="l" t="t" r="r" b="b"/>
              <a:pathLst>
                <a:path w="533400" h="179704">
                  <a:moveTo>
                    <a:pt x="0" y="0"/>
                  </a:moveTo>
                  <a:lnTo>
                    <a:pt x="0" y="118361"/>
                  </a:lnTo>
                  <a:lnTo>
                    <a:pt x="533257" y="118361"/>
                  </a:lnTo>
                  <a:lnTo>
                    <a:pt x="533257" y="179565"/>
                  </a:lnTo>
                </a:path>
              </a:pathLst>
            </a:custGeom>
            <a:ln w="7028">
              <a:solidFill>
                <a:srgbClr val="000000"/>
              </a:solidFill>
            </a:ln>
          </p:spPr>
          <p:txBody>
            <a:bodyPr wrap="square" lIns="0" tIns="0" rIns="0" bIns="0" rtlCol="0"/>
            <a:lstStyle/>
            <a:p/>
          </p:txBody>
        </p:sp>
        <p:sp>
          <p:nvSpPr>
            <p:cNvPr id="140" name="object 140" descr=""/>
            <p:cNvSpPr/>
            <p:nvPr/>
          </p:nvSpPr>
          <p:spPr>
            <a:xfrm>
              <a:off x="10789741" y="3381211"/>
              <a:ext cx="46990" cy="62865"/>
            </a:xfrm>
            <a:custGeom>
              <a:avLst/>
              <a:gdLst/>
              <a:ahLst/>
              <a:cxnLst/>
              <a:rect l="l" t="t" r="r" b="b"/>
              <a:pathLst>
                <a:path w="46990" h="62864">
                  <a:moveTo>
                    <a:pt x="46879" y="0"/>
                  </a:moveTo>
                  <a:lnTo>
                    <a:pt x="0" y="0"/>
                  </a:lnTo>
                  <a:lnTo>
                    <a:pt x="23439" y="62457"/>
                  </a:lnTo>
                  <a:lnTo>
                    <a:pt x="46879" y="0"/>
                  </a:lnTo>
                  <a:close/>
                </a:path>
              </a:pathLst>
            </a:custGeom>
            <a:solidFill>
              <a:srgbClr val="000000"/>
            </a:solidFill>
          </p:spPr>
          <p:txBody>
            <a:bodyPr wrap="square" lIns="0" tIns="0" rIns="0" bIns="0" rtlCol="0"/>
            <a:lstStyle/>
            <a:p/>
          </p:txBody>
        </p:sp>
        <p:sp>
          <p:nvSpPr>
            <p:cNvPr id="141" name="object 141" descr=""/>
            <p:cNvSpPr/>
            <p:nvPr/>
          </p:nvSpPr>
          <p:spPr>
            <a:xfrm>
              <a:off x="10813181" y="3206850"/>
              <a:ext cx="533400" cy="179705"/>
            </a:xfrm>
            <a:custGeom>
              <a:avLst/>
              <a:gdLst/>
              <a:ahLst/>
              <a:cxnLst/>
              <a:rect l="l" t="t" r="r" b="b"/>
              <a:pathLst>
                <a:path w="533400" h="179704">
                  <a:moveTo>
                    <a:pt x="533149" y="0"/>
                  </a:moveTo>
                  <a:lnTo>
                    <a:pt x="533149" y="118361"/>
                  </a:lnTo>
                  <a:lnTo>
                    <a:pt x="0" y="118361"/>
                  </a:lnTo>
                  <a:lnTo>
                    <a:pt x="0" y="179565"/>
                  </a:lnTo>
                </a:path>
              </a:pathLst>
            </a:custGeom>
            <a:ln w="7028">
              <a:solidFill>
                <a:srgbClr val="000000"/>
              </a:solidFill>
            </a:ln>
          </p:spPr>
          <p:txBody>
            <a:bodyPr wrap="square" lIns="0" tIns="0" rIns="0" bIns="0" rtlCol="0"/>
            <a:lstStyle/>
            <a:p/>
          </p:txBody>
        </p:sp>
        <p:sp>
          <p:nvSpPr>
            <p:cNvPr id="142" name="object 142" descr=""/>
            <p:cNvSpPr/>
            <p:nvPr/>
          </p:nvSpPr>
          <p:spPr>
            <a:xfrm>
              <a:off x="10789741" y="3381211"/>
              <a:ext cx="46990" cy="62865"/>
            </a:xfrm>
            <a:custGeom>
              <a:avLst/>
              <a:gdLst/>
              <a:ahLst/>
              <a:cxnLst/>
              <a:rect l="l" t="t" r="r" b="b"/>
              <a:pathLst>
                <a:path w="46990" h="62864">
                  <a:moveTo>
                    <a:pt x="46879" y="0"/>
                  </a:moveTo>
                  <a:lnTo>
                    <a:pt x="0" y="0"/>
                  </a:lnTo>
                  <a:lnTo>
                    <a:pt x="23439" y="62457"/>
                  </a:lnTo>
                  <a:lnTo>
                    <a:pt x="46879" y="0"/>
                  </a:lnTo>
                  <a:close/>
                </a:path>
              </a:pathLst>
            </a:custGeom>
            <a:solidFill>
              <a:srgbClr val="000000"/>
            </a:solidFill>
          </p:spPr>
          <p:txBody>
            <a:bodyPr wrap="square" lIns="0" tIns="0" rIns="0" bIns="0" rtlCol="0"/>
            <a:lstStyle/>
            <a:p/>
          </p:txBody>
        </p:sp>
      </p:grpSp>
      <p:sp>
        <p:nvSpPr>
          <p:cNvPr id="143" name="object 143" descr=""/>
          <p:cNvSpPr txBox="1"/>
          <p:nvPr/>
        </p:nvSpPr>
        <p:spPr>
          <a:xfrm>
            <a:off x="10308460" y="2541428"/>
            <a:ext cx="210185" cy="129539"/>
          </a:xfrm>
          <a:prstGeom prst="rect">
            <a:avLst/>
          </a:prstGeom>
        </p:spPr>
        <p:txBody>
          <a:bodyPr wrap="square" lIns="0" tIns="16510" rIns="0" bIns="0" rtlCol="0" vert="horz">
            <a:spAutoFit/>
          </a:bodyPr>
          <a:lstStyle/>
          <a:p>
            <a:pPr marL="12700">
              <a:lnSpc>
                <a:spcPct val="100000"/>
              </a:lnSpc>
              <a:spcBef>
                <a:spcPts val="130"/>
              </a:spcBef>
            </a:pPr>
            <a:r>
              <a:rPr dirty="0" sz="650" spc="35">
                <a:latin typeface="Times New Roman"/>
                <a:cs typeface="Times New Roman"/>
              </a:rPr>
              <a:t>True</a:t>
            </a:r>
            <a:endParaRPr sz="650">
              <a:latin typeface="Times New Roman"/>
              <a:cs typeface="Times New Roman"/>
            </a:endParaRPr>
          </a:p>
        </p:txBody>
      </p:sp>
      <p:sp>
        <p:nvSpPr>
          <p:cNvPr id="144" name="object 144" descr=""/>
          <p:cNvSpPr txBox="1"/>
          <p:nvPr/>
        </p:nvSpPr>
        <p:spPr>
          <a:xfrm>
            <a:off x="11150668" y="2541428"/>
            <a:ext cx="231775" cy="129539"/>
          </a:xfrm>
          <a:prstGeom prst="rect">
            <a:avLst/>
          </a:prstGeom>
        </p:spPr>
        <p:txBody>
          <a:bodyPr wrap="square" lIns="0" tIns="16510" rIns="0" bIns="0" rtlCol="0" vert="horz">
            <a:spAutoFit/>
          </a:bodyPr>
          <a:lstStyle/>
          <a:p>
            <a:pPr marL="12700">
              <a:lnSpc>
                <a:spcPct val="100000"/>
              </a:lnSpc>
              <a:spcBef>
                <a:spcPts val="130"/>
              </a:spcBef>
            </a:pPr>
            <a:r>
              <a:rPr dirty="0" sz="650" spc="30">
                <a:latin typeface="Times New Roman"/>
                <a:cs typeface="Times New Roman"/>
              </a:rPr>
              <a:t>False</a:t>
            </a:r>
            <a:endParaRPr sz="650">
              <a:latin typeface="Times New Roman"/>
              <a:cs typeface="Times New Roman"/>
            </a:endParaRPr>
          </a:p>
        </p:txBody>
      </p:sp>
      <p:grpSp>
        <p:nvGrpSpPr>
          <p:cNvPr id="145" name="object 145" descr=""/>
          <p:cNvGrpSpPr/>
          <p:nvPr/>
        </p:nvGrpSpPr>
        <p:grpSpPr>
          <a:xfrm>
            <a:off x="9855714" y="1921437"/>
            <a:ext cx="1099185" cy="2051050"/>
            <a:chOff x="9855714" y="1921437"/>
            <a:chExt cx="1099185" cy="2051050"/>
          </a:xfrm>
        </p:grpSpPr>
        <p:sp>
          <p:nvSpPr>
            <p:cNvPr id="146" name="object 146" descr=""/>
            <p:cNvSpPr/>
            <p:nvPr/>
          </p:nvSpPr>
          <p:spPr>
            <a:xfrm>
              <a:off x="10936240" y="3609355"/>
              <a:ext cx="0" cy="318135"/>
            </a:xfrm>
            <a:custGeom>
              <a:avLst/>
              <a:gdLst/>
              <a:ahLst/>
              <a:cxnLst/>
              <a:rect l="l" t="t" r="r" b="b"/>
              <a:pathLst>
                <a:path w="0" h="318135">
                  <a:moveTo>
                    <a:pt x="0" y="0"/>
                  </a:moveTo>
                  <a:lnTo>
                    <a:pt x="0" y="317975"/>
                  </a:lnTo>
                </a:path>
              </a:pathLst>
            </a:custGeom>
            <a:ln w="3175">
              <a:solidFill>
                <a:srgbClr val="000000"/>
              </a:solidFill>
            </a:ln>
          </p:spPr>
          <p:txBody>
            <a:bodyPr wrap="square" lIns="0" tIns="0" rIns="0" bIns="0" rtlCol="0"/>
            <a:lstStyle/>
            <a:p/>
          </p:txBody>
        </p:sp>
        <p:sp>
          <p:nvSpPr>
            <p:cNvPr id="147" name="object 147" descr=""/>
            <p:cNvSpPr/>
            <p:nvPr/>
          </p:nvSpPr>
          <p:spPr>
            <a:xfrm>
              <a:off x="10918009" y="3923283"/>
              <a:ext cx="36830" cy="48895"/>
            </a:xfrm>
            <a:custGeom>
              <a:avLst/>
              <a:gdLst/>
              <a:ahLst/>
              <a:cxnLst/>
              <a:rect l="l" t="t" r="r" b="b"/>
              <a:pathLst>
                <a:path w="36829" h="48895">
                  <a:moveTo>
                    <a:pt x="36462" y="0"/>
                  </a:moveTo>
                  <a:lnTo>
                    <a:pt x="0" y="0"/>
                  </a:lnTo>
                  <a:lnTo>
                    <a:pt x="18231" y="48578"/>
                  </a:lnTo>
                  <a:lnTo>
                    <a:pt x="36462" y="0"/>
                  </a:lnTo>
                  <a:close/>
                </a:path>
              </a:pathLst>
            </a:custGeom>
            <a:solidFill>
              <a:srgbClr val="000000"/>
            </a:solidFill>
          </p:spPr>
          <p:txBody>
            <a:bodyPr wrap="square" lIns="0" tIns="0" rIns="0" bIns="0" rtlCol="0"/>
            <a:lstStyle/>
            <a:p/>
          </p:txBody>
        </p:sp>
        <p:sp>
          <p:nvSpPr>
            <p:cNvPr id="148" name="object 148" descr=""/>
            <p:cNvSpPr/>
            <p:nvPr/>
          </p:nvSpPr>
          <p:spPr>
            <a:xfrm>
              <a:off x="9859524" y="2824393"/>
              <a:ext cx="923290" cy="1010919"/>
            </a:xfrm>
            <a:custGeom>
              <a:avLst/>
              <a:gdLst/>
              <a:ahLst/>
              <a:cxnLst/>
              <a:rect l="l" t="t" r="r" b="b"/>
              <a:pathLst>
                <a:path w="923290" h="1010920">
                  <a:moveTo>
                    <a:pt x="922837" y="784962"/>
                  </a:moveTo>
                  <a:lnTo>
                    <a:pt x="922837" y="1010889"/>
                  </a:lnTo>
                  <a:lnTo>
                    <a:pt x="876784" y="1009652"/>
                  </a:lnTo>
                  <a:lnTo>
                    <a:pt x="831315" y="1005979"/>
                  </a:lnTo>
                  <a:lnTo>
                    <a:pt x="786482" y="999928"/>
                  </a:lnTo>
                  <a:lnTo>
                    <a:pt x="742340" y="991557"/>
                  </a:lnTo>
                  <a:lnTo>
                    <a:pt x="698939" y="980924"/>
                  </a:lnTo>
                  <a:lnTo>
                    <a:pt x="656334" y="968086"/>
                  </a:lnTo>
                  <a:lnTo>
                    <a:pt x="614578" y="953103"/>
                  </a:lnTo>
                  <a:lnTo>
                    <a:pt x="573723" y="936031"/>
                  </a:lnTo>
                  <a:lnTo>
                    <a:pt x="533822" y="916929"/>
                  </a:lnTo>
                  <a:lnTo>
                    <a:pt x="494928" y="895855"/>
                  </a:lnTo>
                  <a:lnTo>
                    <a:pt x="457094" y="872866"/>
                  </a:lnTo>
                  <a:lnTo>
                    <a:pt x="420373" y="848020"/>
                  </a:lnTo>
                  <a:lnTo>
                    <a:pt x="384817" y="821376"/>
                  </a:lnTo>
                  <a:lnTo>
                    <a:pt x="350481" y="792991"/>
                  </a:lnTo>
                  <a:lnTo>
                    <a:pt x="317416" y="762923"/>
                  </a:lnTo>
                  <a:lnTo>
                    <a:pt x="285675" y="731231"/>
                  </a:lnTo>
                  <a:lnTo>
                    <a:pt x="255312" y="697972"/>
                  </a:lnTo>
                  <a:lnTo>
                    <a:pt x="226379" y="663203"/>
                  </a:lnTo>
                  <a:lnTo>
                    <a:pt x="198930" y="626984"/>
                  </a:lnTo>
                  <a:lnTo>
                    <a:pt x="173016" y="589372"/>
                  </a:lnTo>
                  <a:lnTo>
                    <a:pt x="148692" y="550424"/>
                  </a:lnTo>
                  <a:lnTo>
                    <a:pt x="126009" y="510199"/>
                  </a:lnTo>
                  <a:lnTo>
                    <a:pt x="105021" y="468755"/>
                  </a:lnTo>
                  <a:lnTo>
                    <a:pt x="85781" y="426150"/>
                  </a:lnTo>
                  <a:lnTo>
                    <a:pt x="68342" y="382441"/>
                  </a:lnTo>
                  <a:lnTo>
                    <a:pt x="52756" y="337687"/>
                  </a:lnTo>
                  <a:lnTo>
                    <a:pt x="39077" y="291945"/>
                  </a:lnTo>
                  <a:lnTo>
                    <a:pt x="27357" y="245274"/>
                  </a:lnTo>
                  <a:lnTo>
                    <a:pt x="17649" y="197730"/>
                  </a:lnTo>
                  <a:lnTo>
                    <a:pt x="10007" y="149374"/>
                  </a:lnTo>
                  <a:lnTo>
                    <a:pt x="4483" y="100261"/>
                  </a:lnTo>
                  <a:lnTo>
                    <a:pt x="1129" y="50450"/>
                  </a:lnTo>
                  <a:lnTo>
                    <a:pt x="0" y="0"/>
                  </a:lnTo>
                </a:path>
              </a:pathLst>
            </a:custGeom>
            <a:ln w="7416">
              <a:solidFill>
                <a:srgbClr val="000000"/>
              </a:solidFill>
            </a:ln>
          </p:spPr>
          <p:txBody>
            <a:bodyPr wrap="square" lIns="0" tIns="0" rIns="0" bIns="0" rtlCol="0"/>
            <a:lstStyle/>
            <a:p/>
          </p:txBody>
        </p:sp>
        <p:sp>
          <p:nvSpPr>
            <p:cNvPr id="149" name="object 149" descr=""/>
            <p:cNvSpPr/>
            <p:nvPr/>
          </p:nvSpPr>
          <p:spPr>
            <a:xfrm>
              <a:off x="9859524" y="1922707"/>
              <a:ext cx="923290" cy="956310"/>
            </a:xfrm>
            <a:custGeom>
              <a:avLst/>
              <a:gdLst/>
              <a:ahLst/>
              <a:cxnLst/>
              <a:rect l="l" t="t" r="r" b="b"/>
              <a:pathLst>
                <a:path w="923290" h="956310">
                  <a:moveTo>
                    <a:pt x="922837" y="169156"/>
                  </a:moveTo>
                  <a:lnTo>
                    <a:pt x="922837" y="0"/>
                  </a:lnTo>
                  <a:lnTo>
                    <a:pt x="875354" y="1244"/>
                  </a:lnTo>
                  <a:lnTo>
                    <a:pt x="828494" y="4937"/>
                  </a:lnTo>
                  <a:lnTo>
                    <a:pt x="782314" y="11018"/>
                  </a:lnTo>
                  <a:lnTo>
                    <a:pt x="736873" y="19428"/>
                  </a:lnTo>
                  <a:lnTo>
                    <a:pt x="692228" y="30106"/>
                  </a:lnTo>
                  <a:lnTo>
                    <a:pt x="648439" y="42992"/>
                  </a:lnTo>
                  <a:lnTo>
                    <a:pt x="605562" y="58026"/>
                  </a:lnTo>
                  <a:lnTo>
                    <a:pt x="563656" y="75148"/>
                  </a:lnTo>
                  <a:lnTo>
                    <a:pt x="522779" y="94299"/>
                  </a:lnTo>
                  <a:lnTo>
                    <a:pt x="482988" y="115417"/>
                  </a:lnTo>
                  <a:lnTo>
                    <a:pt x="444343" y="138442"/>
                  </a:lnTo>
                  <a:lnTo>
                    <a:pt x="406900" y="163316"/>
                  </a:lnTo>
                  <a:lnTo>
                    <a:pt x="370718" y="189977"/>
                  </a:lnTo>
                  <a:lnTo>
                    <a:pt x="335855" y="218365"/>
                  </a:lnTo>
                  <a:lnTo>
                    <a:pt x="302369" y="248420"/>
                  </a:lnTo>
                  <a:lnTo>
                    <a:pt x="270318" y="280083"/>
                  </a:lnTo>
                  <a:lnTo>
                    <a:pt x="239760" y="313293"/>
                  </a:lnTo>
                  <a:lnTo>
                    <a:pt x="210753" y="347991"/>
                  </a:lnTo>
                  <a:lnTo>
                    <a:pt x="183355" y="384115"/>
                  </a:lnTo>
                  <a:lnTo>
                    <a:pt x="157624" y="421606"/>
                  </a:lnTo>
                  <a:lnTo>
                    <a:pt x="133618" y="460403"/>
                  </a:lnTo>
                  <a:lnTo>
                    <a:pt x="111395" y="500448"/>
                  </a:lnTo>
                  <a:lnTo>
                    <a:pt x="91013" y="541679"/>
                  </a:lnTo>
                  <a:lnTo>
                    <a:pt x="72530" y="584036"/>
                  </a:lnTo>
                  <a:lnTo>
                    <a:pt x="56005" y="627460"/>
                  </a:lnTo>
                  <a:lnTo>
                    <a:pt x="41494" y="671890"/>
                  </a:lnTo>
                  <a:lnTo>
                    <a:pt x="29057" y="717267"/>
                  </a:lnTo>
                  <a:lnTo>
                    <a:pt x="18751" y="763529"/>
                  </a:lnTo>
                  <a:lnTo>
                    <a:pt x="10634" y="810618"/>
                  </a:lnTo>
                  <a:lnTo>
                    <a:pt x="4765" y="858472"/>
                  </a:lnTo>
                  <a:lnTo>
                    <a:pt x="1200" y="907033"/>
                  </a:lnTo>
                  <a:lnTo>
                    <a:pt x="0" y="956239"/>
                  </a:lnTo>
                </a:path>
              </a:pathLst>
            </a:custGeom>
            <a:ln w="3175">
              <a:solidFill>
                <a:srgbClr val="000000"/>
              </a:solidFill>
            </a:ln>
          </p:spPr>
          <p:txBody>
            <a:bodyPr wrap="square" lIns="0" tIns="0" rIns="0" bIns="0" rtlCol="0"/>
            <a:lstStyle/>
            <a:p/>
          </p:txBody>
        </p:sp>
        <p:sp>
          <p:nvSpPr>
            <p:cNvPr id="150" name="object 150" descr=""/>
            <p:cNvSpPr/>
            <p:nvPr/>
          </p:nvSpPr>
          <p:spPr>
            <a:xfrm>
              <a:off x="10764131" y="2087816"/>
              <a:ext cx="36830" cy="48895"/>
            </a:xfrm>
            <a:custGeom>
              <a:avLst/>
              <a:gdLst/>
              <a:ahLst/>
              <a:cxnLst/>
              <a:rect l="l" t="t" r="r" b="b"/>
              <a:pathLst>
                <a:path w="36829" h="48894">
                  <a:moveTo>
                    <a:pt x="36462" y="0"/>
                  </a:moveTo>
                  <a:lnTo>
                    <a:pt x="0" y="0"/>
                  </a:lnTo>
                  <a:lnTo>
                    <a:pt x="18231" y="48578"/>
                  </a:lnTo>
                  <a:lnTo>
                    <a:pt x="36462" y="0"/>
                  </a:lnTo>
                  <a:close/>
                </a:path>
              </a:pathLst>
            </a:custGeom>
            <a:solidFill>
              <a:srgbClr val="000000"/>
            </a:solidFill>
          </p:spPr>
          <p:txBody>
            <a:bodyPr wrap="square" lIns="0" tIns="0" rIns="0" bIns="0" rtlCol="0"/>
            <a:lstStyle/>
            <a:p/>
          </p:txBody>
        </p:sp>
      </p:grpSp>
      <p:sp>
        <p:nvSpPr>
          <p:cNvPr id="151" name="object 151" descr=""/>
          <p:cNvSpPr txBox="1"/>
          <p:nvPr/>
        </p:nvSpPr>
        <p:spPr>
          <a:xfrm>
            <a:off x="9980952" y="3798100"/>
            <a:ext cx="468630" cy="141605"/>
          </a:xfrm>
          <a:prstGeom prst="rect">
            <a:avLst/>
          </a:prstGeom>
        </p:spPr>
        <p:txBody>
          <a:bodyPr wrap="square" lIns="0" tIns="13335" rIns="0" bIns="0" rtlCol="0" vert="horz">
            <a:spAutoFit/>
          </a:bodyPr>
          <a:lstStyle/>
          <a:p>
            <a:pPr marL="12700">
              <a:lnSpc>
                <a:spcPct val="100000"/>
              </a:lnSpc>
              <a:spcBef>
                <a:spcPts val="105"/>
              </a:spcBef>
            </a:pPr>
            <a:r>
              <a:rPr dirty="0" sz="750">
                <a:latin typeface="Cambria"/>
                <a:cs typeface="Cambria"/>
              </a:rPr>
              <a:t>◻</a:t>
            </a:r>
            <a:r>
              <a:rPr dirty="0" sz="750" spc="95">
                <a:latin typeface="Cambria"/>
                <a:cs typeface="Cambria"/>
              </a:rPr>
              <a:t> </a:t>
            </a:r>
            <a:r>
              <a:rPr dirty="0" sz="750">
                <a:latin typeface="Cambria"/>
                <a:cs typeface="Cambria"/>
              </a:rPr>
              <a:t>◻</a:t>
            </a:r>
            <a:r>
              <a:rPr dirty="0" sz="750" spc="100">
                <a:latin typeface="Cambria"/>
                <a:cs typeface="Cambria"/>
              </a:rPr>
              <a:t> </a:t>
            </a:r>
            <a:r>
              <a:rPr dirty="0" sz="750">
                <a:latin typeface="Times New Roman"/>
                <a:cs typeface="Times New Roman"/>
              </a:rPr>
              <a:t>4-</a:t>
            </a:r>
            <a:r>
              <a:rPr dirty="0" sz="750" spc="-25">
                <a:latin typeface="Times New Roman"/>
                <a:cs typeface="Times New Roman"/>
              </a:rPr>
              <a:t>n</a:t>
            </a:r>
            <a:r>
              <a:rPr dirty="0" sz="750" spc="-25">
                <a:latin typeface="Cambria"/>
                <a:cs typeface="Cambria"/>
              </a:rPr>
              <a:t>◻</a:t>
            </a:r>
            <a:endParaRPr sz="750">
              <a:latin typeface="Cambria"/>
              <a:cs typeface="Cambria"/>
            </a:endParaRPr>
          </a:p>
        </p:txBody>
      </p:sp>
      <p:sp>
        <p:nvSpPr>
          <p:cNvPr id="152" name="object 152" descr=""/>
          <p:cNvSpPr txBox="1"/>
          <p:nvPr/>
        </p:nvSpPr>
        <p:spPr>
          <a:xfrm>
            <a:off x="8307170" y="910877"/>
            <a:ext cx="432434" cy="279400"/>
          </a:xfrm>
          <a:prstGeom prst="rect">
            <a:avLst/>
          </a:prstGeom>
        </p:spPr>
        <p:txBody>
          <a:bodyPr wrap="square" lIns="0" tIns="24765" rIns="0" bIns="0" rtlCol="0" vert="horz">
            <a:spAutoFit/>
          </a:bodyPr>
          <a:lstStyle/>
          <a:p>
            <a:pPr algn="ctr">
              <a:lnSpc>
                <a:spcPct val="100000"/>
              </a:lnSpc>
              <a:spcBef>
                <a:spcPts val="195"/>
              </a:spcBef>
            </a:pPr>
            <a:r>
              <a:rPr dirty="0" sz="750" spc="-20">
                <a:latin typeface="Times New Roman"/>
                <a:cs typeface="Times New Roman"/>
              </a:rPr>
              <a:t>n=4</a:t>
            </a:r>
            <a:r>
              <a:rPr dirty="0" sz="750" spc="-20">
                <a:latin typeface="Cambria"/>
                <a:cs typeface="Cambria"/>
              </a:rPr>
              <a:t>◻</a:t>
            </a:r>
            <a:endParaRPr sz="750">
              <a:latin typeface="Cambria"/>
              <a:cs typeface="Cambria"/>
            </a:endParaRPr>
          </a:p>
          <a:p>
            <a:pPr algn="ctr">
              <a:lnSpc>
                <a:spcPct val="100000"/>
              </a:lnSpc>
              <a:spcBef>
                <a:spcPts val="100"/>
              </a:spcBef>
            </a:pPr>
            <a:r>
              <a:rPr dirty="0" sz="750">
                <a:latin typeface="Cambria"/>
                <a:cs typeface="Cambria"/>
              </a:rPr>
              <a:t>◻</a:t>
            </a:r>
            <a:r>
              <a:rPr dirty="0" sz="750" spc="55">
                <a:latin typeface="Cambria"/>
                <a:cs typeface="Cambria"/>
              </a:rPr>
              <a:t> </a:t>
            </a:r>
            <a:r>
              <a:rPr dirty="0" sz="750">
                <a:latin typeface="Cambria"/>
                <a:cs typeface="Cambria"/>
              </a:rPr>
              <a:t>◻</a:t>
            </a:r>
            <a:r>
              <a:rPr dirty="0" sz="750" spc="60">
                <a:latin typeface="Cambria"/>
                <a:cs typeface="Cambria"/>
              </a:rPr>
              <a:t> </a:t>
            </a:r>
            <a:r>
              <a:rPr dirty="0" sz="750">
                <a:latin typeface="Cambria"/>
                <a:cs typeface="Cambria"/>
              </a:rPr>
              <a:t>◻</a:t>
            </a:r>
            <a:r>
              <a:rPr dirty="0" sz="750" spc="55">
                <a:latin typeface="Cambria"/>
                <a:cs typeface="Cambria"/>
              </a:rPr>
              <a:t> </a:t>
            </a:r>
            <a:r>
              <a:rPr dirty="0" sz="750" spc="-50">
                <a:latin typeface="Cambria"/>
                <a:cs typeface="Cambria"/>
              </a:rPr>
              <a:t>◻</a:t>
            </a:r>
            <a:endParaRPr sz="750">
              <a:latin typeface="Cambria"/>
              <a:cs typeface="Cambria"/>
            </a:endParaRPr>
          </a:p>
        </p:txBody>
      </p:sp>
      <p:sp>
        <p:nvSpPr>
          <p:cNvPr id="153" name="object 153" descr=""/>
          <p:cNvSpPr txBox="1"/>
          <p:nvPr/>
        </p:nvSpPr>
        <p:spPr>
          <a:xfrm>
            <a:off x="8307170" y="2413429"/>
            <a:ext cx="432434" cy="279400"/>
          </a:xfrm>
          <a:prstGeom prst="rect">
            <a:avLst/>
          </a:prstGeom>
        </p:spPr>
        <p:txBody>
          <a:bodyPr wrap="square" lIns="0" tIns="24765" rIns="0" bIns="0" rtlCol="0" vert="horz">
            <a:spAutoFit/>
          </a:bodyPr>
          <a:lstStyle/>
          <a:p>
            <a:pPr algn="ctr">
              <a:lnSpc>
                <a:spcPct val="100000"/>
              </a:lnSpc>
              <a:spcBef>
                <a:spcPts val="195"/>
              </a:spcBef>
            </a:pPr>
            <a:r>
              <a:rPr dirty="0" sz="750" spc="-20">
                <a:latin typeface="Times New Roman"/>
                <a:cs typeface="Times New Roman"/>
              </a:rPr>
              <a:t>n=3</a:t>
            </a:r>
            <a:r>
              <a:rPr dirty="0" sz="750" spc="-20">
                <a:latin typeface="Cambria"/>
                <a:cs typeface="Cambria"/>
              </a:rPr>
              <a:t>◻</a:t>
            </a:r>
            <a:endParaRPr sz="750">
              <a:latin typeface="Cambria"/>
              <a:cs typeface="Cambria"/>
            </a:endParaRPr>
          </a:p>
          <a:p>
            <a:pPr algn="ctr">
              <a:lnSpc>
                <a:spcPct val="100000"/>
              </a:lnSpc>
              <a:spcBef>
                <a:spcPts val="100"/>
              </a:spcBef>
            </a:pPr>
            <a:r>
              <a:rPr dirty="0" sz="750">
                <a:latin typeface="Cambria"/>
                <a:cs typeface="Cambria"/>
              </a:rPr>
              <a:t>◻</a:t>
            </a:r>
            <a:r>
              <a:rPr dirty="0" sz="750" spc="55">
                <a:latin typeface="Cambria"/>
                <a:cs typeface="Cambria"/>
              </a:rPr>
              <a:t> </a:t>
            </a:r>
            <a:r>
              <a:rPr dirty="0" sz="750">
                <a:latin typeface="Cambria"/>
                <a:cs typeface="Cambria"/>
              </a:rPr>
              <a:t>◻</a:t>
            </a:r>
            <a:r>
              <a:rPr dirty="0" sz="750" spc="60">
                <a:latin typeface="Cambria"/>
                <a:cs typeface="Cambria"/>
              </a:rPr>
              <a:t> </a:t>
            </a:r>
            <a:r>
              <a:rPr dirty="0" sz="750">
                <a:latin typeface="Cambria"/>
                <a:cs typeface="Cambria"/>
              </a:rPr>
              <a:t>◻</a:t>
            </a:r>
            <a:r>
              <a:rPr dirty="0" sz="750" spc="55">
                <a:latin typeface="Cambria"/>
                <a:cs typeface="Cambria"/>
              </a:rPr>
              <a:t> </a:t>
            </a:r>
            <a:r>
              <a:rPr dirty="0" sz="750" spc="-50">
                <a:latin typeface="Cambria"/>
                <a:cs typeface="Cambria"/>
              </a:rPr>
              <a:t>◻</a:t>
            </a:r>
            <a:endParaRPr sz="750">
              <a:latin typeface="Cambria"/>
              <a:cs typeface="Cambria"/>
            </a:endParaRPr>
          </a:p>
        </p:txBody>
      </p:sp>
      <p:sp>
        <p:nvSpPr>
          <p:cNvPr id="154" name="object 154" descr=""/>
          <p:cNvSpPr txBox="1"/>
          <p:nvPr/>
        </p:nvSpPr>
        <p:spPr>
          <a:xfrm>
            <a:off x="8307170" y="3956462"/>
            <a:ext cx="432434" cy="279400"/>
          </a:xfrm>
          <a:prstGeom prst="rect">
            <a:avLst/>
          </a:prstGeom>
        </p:spPr>
        <p:txBody>
          <a:bodyPr wrap="square" lIns="0" tIns="24765" rIns="0" bIns="0" rtlCol="0" vert="horz">
            <a:spAutoFit/>
          </a:bodyPr>
          <a:lstStyle/>
          <a:p>
            <a:pPr algn="ctr">
              <a:lnSpc>
                <a:spcPct val="100000"/>
              </a:lnSpc>
              <a:spcBef>
                <a:spcPts val="195"/>
              </a:spcBef>
            </a:pPr>
            <a:r>
              <a:rPr dirty="0" sz="750" spc="-20">
                <a:latin typeface="Times New Roman"/>
                <a:cs typeface="Times New Roman"/>
              </a:rPr>
              <a:t>n=2</a:t>
            </a:r>
            <a:r>
              <a:rPr dirty="0" sz="750" spc="-20">
                <a:latin typeface="Cambria"/>
                <a:cs typeface="Cambria"/>
              </a:rPr>
              <a:t>◻</a:t>
            </a:r>
            <a:endParaRPr sz="750">
              <a:latin typeface="Cambria"/>
              <a:cs typeface="Cambria"/>
            </a:endParaRPr>
          </a:p>
          <a:p>
            <a:pPr algn="ctr">
              <a:lnSpc>
                <a:spcPct val="100000"/>
              </a:lnSpc>
              <a:spcBef>
                <a:spcPts val="100"/>
              </a:spcBef>
            </a:pPr>
            <a:r>
              <a:rPr dirty="0" sz="750">
                <a:latin typeface="Cambria"/>
                <a:cs typeface="Cambria"/>
              </a:rPr>
              <a:t>◻</a:t>
            </a:r>
            <a:r>
              <a:rPr dirty="0" sz="750" spc="55">
                <a:latin typeface="Cambria"/>
                <a:cs typeface="Cambria"/>
              </a:rPr>
              <a:t> </a:t>
            </a:r>
            <a:r>
              <a:rPr dirty="0" sz="750">
                <a:latin typeface="Cambria"/>
                <a:cs typeface="Cambria"/>
              </a:rPr>
              <a:t>◻</a:t>
            </a:r>
            <a:r>
              <a:rPr dirty="0" sz="750" spc="60">
                <a:latin typeface="Cambria"/>
                <a:cs typeface="Cambria"/>
              </a:rPr>
              <a:t> </a:t>
            </a:r>
            <a:r>
              <a:rPr dirty="0" sz="750">
                <a:latin typeface="Cambria"/>
                <a:cs typeface="Cambria"/>
              </a:rPr>
              <a:t>◻</a:t>
            </a:r>
            <a:r>
              <a:rPr dirty="0" sz="750" spc="55">
                <a:latin typeface="Cambria"/>
                <a:cs typeface="Cambria"/>
              </a:rPr>
              <a:t> </a:t>
            </a:r>
            <a:r>
              <a:rPr dirty="0" sz="750" spc="-50">
                <a:latin typeface="Cambria"/>
                <a:cs typeface="Cambria"/>
              </a:rPr>
              <a:t>◻</a:t>
            </a:r>
            <a:endParaRPr sz="750">
              <a:latin typeface="Cambria"/>
              <a:cs typeface="Cambria"/>
            </a:endParaRPr>
          </a:p>
        </p:txBody>
      </p:sp>
      <p:sp>
        <p:nvSpPr>
          <p:cNvPr id="155" name="object 155" descr=""/>
          <p:cNvSpPr txBox="1"/>
          <p:nvPr/>
        </p:nvSpPr>
        <p:spPr>
          <a:xfrm>
            <a:off x="8307170" y="5322580"/>
            <a:ext cx="432434" cy="279400"/>
          </a:xfrm>
          <a:prstGeom prst="rect">
            <a:avLst/>
          </a:prstGeom>
        </p:spPr>
        <p:txBody>
          <a:bodyPr wrap="square" lIns="0" tIns="24765" rIns="0" bIns="0" rtlCol="0" vert="horz">
            <a:spAutoFit/>
          </a:bodyPr>
          <a:lstStyle/>
          <a:p>
            <a:pPr algn="ctr">
              <a:lnSpc>
                <a:spcPct val="100000"/>
              </a:lnSpc>
              <a:spcBef>
                <a:spcPts val="195"/>
              </a:spcBef>
            </a:pPr>
            <a:r>
              <a:rPr dirty="0" sz="750" spc="-20">
                <a:latin typeface="Times New Roman"/>
                <a:cs typeface="Times New Roman"/>
              </a:rPr>
              <a:t>n=1</a:t>
            </a:r>
            <a:r>
              <a:rPr dirty="0" sz="750" spc="-20">
                <a:latin typeface="Cambria"/>
                <a:cs typeface="Cambria"/>
              </a:rPr>
              <a:t>◻</a:t>
            </a:r>
            <a:endParaRPr sz="750">
              <a:latin typeface="Cambria"/>
              <a:cs typeface="Cambria"/>
            </a:endParaRPr>
          </a:p>
          <a:p>
            <a:pPr algn="ctr">
              <a:lnSpc>
                <a:spcPct val="100000"/>
              </a:lnSpc>
              <a:spcBef>
                <a:spcPts val="100"/>
              </a:spcBef>
            </a:pPr>
            <a:r>
              <a:rPr dirty="0" sz="750">
                <a:latin typeface="Cambria"/>
                <a:cs typeface="Cambria"/>
              </a:rPr>
              <a:t>◻</a:t>
            </a:r>
            <a:r>
              <a:rPr dirty="0" sz="750" spc="55">
                <a:latin typeface="Cambria"/>
                <a:cs typeface="Cambria"/>
              </a:rPr>
              <a:t> </a:t>
            </a:r>
            <a:r>
              <a:rPr dirty="0" sz="750">
                <a:latin typeface="Cambria"/>
                <a:cs typeface="Cambria"/>
              </a:rPr>
              <a:t>◻</a:t>
            </a:r>
            <a:r>
              <a:rPr dirty="0" sz="750" spc="60">
                <a:latin typeface="Cambria"/>
                <a:cs typeface="Cambria"/>
              </a:rPr>
              <a:t> </a:t>
            </a:r>
            <a:r>
              <a:rPr dirty="0" sz="750">
                <a:latin typeface="Cambria"/>
                <a:cs typeface="Cambria"/>
              </a:rPr>
              <a:t>◻</a:t>
            </a:r>
            <a:r>
              <a:rPr dirty="0" sz="750" spc="55">
                <a:latin typeface="Cambria"/>
                <a:cs typeface="Cambria"/>
              </a:rPr>
              <a:t> </a:t>
            </a:r>
            <a:r>
              <a:rPr dirty="0" sz="750" spc="-50">
                <a:latin typeface="Cambria"/>
                <a:cs typeface="Cambria"/>
              </a:rPr>
              <a:t>◻</a:t>
            </a:r>
            <a:endParaRPr sz="750">
              <a:latin typeface="Cambria"/>
              <a:cs typeface="Cambria"/>
            </a:endParaRPr>
          </a:p>
        </p:txBody>
      </p:sp>
      <p:grpSp>
        <p:nvGrpSpPr>
          <p:cNvPr id="156" name="object 156" descr=""/>
          <p:cNvGrpSpPr/>
          <p:nvPr/>
        </p:nvGrpSpPr>
        <p:grpSpPr>
          <a:xfrm>
            <a:off x="8381731" y="896149"/>
            <a:ext cx="3096260" cy="4457065"/>
            <a:chOff x="8381731" y="896149"/>
            <a:chExt cx="3096260" cy="4457065"/>
          </a:xfrm>
        </p:grpSpPr>
        <p:sp>
          <p:nvSpPr>
            <p:cNvPr id="157" name="object 157" descr=""/>
            <p:cNvSpPr/>
            <p:nvPr/>
          </p:nvSpPr>
          <p:spPr>
            <a:xfrm>
              <a:off x="8383027" y="897360"/>
              <a:ext cx="3076575" cy="2099310"/>
            </a:xfrm>
            <a:custGeom>
              <a:avLst/>
              <a:gdLst/>
              <a:ahLst/>
              <a:cxnLst/>
              <a:rect l="l" t="t" r="r" b="b"/>
              <a:pathLst>
                <a:path w="3076575" h="2099310">
                  <a:moveTo>
                    <a:pt x="0" y="0"/>
                  </a:moveTo>
                  <a:lnTo>
                    <a:pt x="3076161" y="0"/>
                  </a:lnTo>
                  <a:lnTo>
                    <a:pt x="3076161" y="2099177"/>
                  </a:lnTo>
                </a:path>
              </a:pathLst>
            </a:custGeom>
            <a:ln w="3175">
              <a:solidFill>
                <a:srgbClr val="000000"/>
              </a:solidFill>
            </a:ln>
          </p:spPr>
          <p:txBody>
            <a:bodyPr wrap="square" lIns="0" tIns="0" rIns="0" bIns="0" rtlCol="0"/>
            <a:lstStyle/>
            <a:p/>
          </p:txBody>
        </p:sp>
        <p:sp>
          <p:nvSpPr>
            <p:cNvPr id="158" name="object 158" descr=""/>
            <p:cNvSpPr/>
            <p:nvPr/>
          </p:nvSpPr>
          <p:spPr>
            <a:xfrm>
              <a:off x="11440958" y="2992489"/>
              <a:ext cx="36830" cy="48895"/>
            </a:xfrm>
            <a:custGeom>
              <a:avLst/>
              <a:gdLst/>
              <a:ahLst/>
              <a:cxnLst/>
              <a:rect l="l" t="t" r="r" b="b"/>
              <a:pathLst>
                <a:path w="36829" h="48894">
                  <a:moveTo>
                    <a:pt x="36462" y="0"/>
                  </a:moveTo>
                  <a:lnTo>
                    <a:pt x="0" y="0"/>
                  </a:lnTo>
                  <a:lnTo>
                    <a:pt x="18231" y="48578"/>
                  </a:lnTo>
                  <a:lnTo>
                    <a:pt x="36462" y="0"/>
                  </a:lnTo>
                  <a:close/>
                </a:path>
              </a:pathLst>
            </a:custGeom>
            <a:solidFill>
              <a:srgbClr val="000000"/>
            </a:solidFill>
          </p:spPr>
          <p:txBody>
            <a:bodyPr wrap="square" lIns="0" tIns="0" rIns="0" bIns="0" rtlCol="0"/>
            <a:lstStyle/>
            <a:p/>
          </p:txBody>
        </p:sp>
        <p:sp>
          <p:nvSpPr>
            <p:cNvPr id="159" name="object 159" descr=""/>
            <p:cNvSpPr/>
            <p:nvPr/>
          </p:nvSpPr>
          <p:spPr>
            <a:xfrm>
              <a:off x="8383027" y="941890"/>
              <a:ext cx="769620" cy="1501140"/>
            </a:xfrm>
            <a:custGeom>
              <a:avLst/>
              <a:gdLst/>
              <a:ahLst/>
              <a:cxnLst/>
              <a:rect l="l" t="t" r="r" b="b"/>
              <a:pathLst>
                <a:path w="769620" h="1501139">
                  <a:moveTo>
                    <a:pt x="0" y="1500720"/>
                  </a:moveTo>
                  <a:lnTo>
                    <a:pt x="769067" y="1500720"/>
                  </a:lnTo>
                  <a:lnTo>
                    <a:pt x="769067" y="0"/>
                  </a:lnTo>
                </a:path>
              </a:pathLst>
            </a:custGeom>
            <a:ln w="3175">
              <a:solidFill>
                <a:srgbClr val="000000"/>
              </a:solidFill>
            </a:ln>
          </p:spPr>
          <p:txBody>
            <a:bodyPr wrap="square" lIns="0" tIns="0" rIns="0" bIns="0" rtlCol="0"/>
            <a:lstStyle/>
            <a:p/>
          </p:txBody>
        </p:sp>
        <p:sp>
          <p:nvSpPr>
            <p:cNvPr id="160" name="object 160" descr=""/>
            <p:cNvSpPr/>
            <p:nvPr/>
          </p:nvSpPr>
          <p:spPr>
            <a:xfrm>
              <a:off x="9133863" y="897360"/>
              <a:ext cx="36830" cy="48895"/>
            </a:xfrm>
            <a:custGeom>
              <a:avLst/>
              <a:gdLst/>
              <a:ahLst/>
              <a:cxnLst/>
              <a:rect l="l" t="t" r="r" b="b"/>
              <a:pathLst>
                <a:path w="36829" h="48894">
                  <a:moveTo>
                    <a:pt x="18231" y="0"/>
                  </a:moveTo>
                  <a:lnTo>
                    <a:pt x="0" y="48578"/>
                  </a:lnTo>
                  <a:lnTo>
                    <a:pt x="36462" y="48578"/>
                  </a:lnTo>
                  <a:lnTo>
                    <a:pt x="18231" y="0"/>
                  </a:lnTo>
                  <a:close/>
                </a:path>
              </a:pathLst>
            </a:custGeom>
            <a:solidFill>
              <a:srgbClr val="000000"/>
            </a:solidFill>
          </p:spPr>
          <p:txBody>
            <a:bodyPr wrap="square" lIns="0" tIns="0" rIns="0" bIns="0" rtlCol="0"/>
            <a:lstStyle/>
            <a:p/>
          </p:txBody>
        </p:sp>
        <p:sp>
          <p:nvSpPr>
            <p:cNvPr id="161" name="object 161" descr=""/>
            <p:cNvSpPr/>
            <p:nvPr/>
          </p:nvSpPr>
          <p:spPr>
            <a:xfrm>
              <a:off x="8383027" y="941890"/>
              <a:ext cx="923290" cy="2989580"/>
            </a:xfrm>
            <a:custGeom>
              <a:avLst/>
              <a:gdLst/>
              <a:ahLst/>
              <a:cxnLst/>
              <a:rect l="l" t="t" r="r" b="b"/>
              <a:pathLst>
                <a:path w="923290" h="2989579">
                  <a:moveTo>
                    <a:pt x="0" y="2989007"/>
                  </a:moveTo>
                  <a:lnTo>
                    <a:pt x="922837" y="2989007"/>
                  </a:lnTo>
                  <a:lnTo>
                    <a:pt x="922837" y="0"/>
                  </a:lnTo>
                </a:path>
              </a:pathLst>
            </a:custGeom>
            <a:ln w="3175">
              <a:solidFill>
                <a:srgbClr val="000000"/>
              </a:solidFill>
            </a:ln>
          </p:spPr>
          <p:txBody>
            <a:bodyPr wrap="square" lIns="0" tIns="0" rIns="0" bIns="0" rtlCol="0"/>
            <a:lstStyle/>
            <a:p/>
          </p:txBody>
        </p:sp>
        <p:sp>
          <p:nvSpPr>
            <p:cNvPr id="162" name="object 162" descr=""/>
            <p:cNvSpPr/>
            <p:nvPr/>
          </p:nvSpPr>
          <p:spPr>
            <a:xfrm>
              <a:off x="9287634" y="897360"/>
              <a:ext cx="36830" cy="48895"/>
            </a:xfrm>
            <a:custGeom>
              <a:avLst/>
              <a:gdLst/>
              <a:ahLst/>
              <a:cxnLst/>
              <a:rect l="l" t="t" r="r" b="b"/>
              <a:pathLst>
                <a:path w="36829" h="48894">
                  <a:moveTo>
                    <a:pt x="18231" y="0"/>
                  </a:moveTo>
                  <a:lnTo>
                    <a:pt x="0" y="48578"/>
                  </a:lnTo>
                  <a:lnTo>
                    <a:pt x="36462" y="48578"/>
                  </a:lnTo>
                  <a:lnTo>
                    <a:pt x="18231" y="0"/>
                  </a:lnTo>
                  <a:close/>
                </a:path>
              </a:pathLst>
            </a:custGeom>
            <a:solidFill>
              <a:srgbClr val="000000"/>
            </a:solidFill>
          </p:spPr>
          <p:txBody>
            <a:bodyPr wrap="square" lIns="0" tIns="0" rIns="0" bIns="0" rtlCol="0"/>
            <a:lstStyle/>
            <a:p/>
          </p:txBody>
        </p:sp>
        <p:sp>
          <p:nvSpPr>
            <p:cNvPr id="163" name="object 163" descr=""/>
            <p:cNvSpPr/>
            <p:nvPr/>
          </p:nvSpPr>
          <p:spPr>
            <a:xfrm>
              <a:off x="8383027" y="941890"/>
              <a:ext cx="1076960" cy="4410075"/>
            </a:xfrm>
            <a:custGeom>
              <a:avLst/>
              <a:gdLst/>
              <a:ahLst/>
              <a:cxnLst/>
              <a:rect l="l" t="t" r="r" b="b"/>
              <a:pathLst>
                <a:path w="1076959" h="4410075">
                  <a:moveTo>
                    <a:pt x="0" y="4409727"/>
                  </a:moveTo>
                  <a:lnTo>
                    <a:pt x="1076607" y="4409727"/>
                  </a:lnTo>
                  <a:lnTo>
                    <a:pt x="1076607" y="0"/>
                  </a:lnTo>
                </a:path>
              </a:pathLst>
            </a:custGeom>
            <a:ln w="3175">
              <a:solidFill>
                <a:srgbClr val="000000"/>
              </a:solidFill>
            </a:ln>
          </p:spPr>
          <p:txBody>
            <a:bodyPr wrap="square" lIns="0" tIns="0" rIns="0" bIns="0" rtlCol="0"/>
            <a:lstStyle/>
            <a:p/>
          </p:txBody>
        </p:sp>
        <p:sp>
          <p:nvSpPr>
            <p:cNvPr id="164" name="object 164" descr=""/>
            <p:cNvSpPr/>
            <p:nvPr/>
          </p:nvSpPr>
          <p:spPr>
            <a:xfrm>
              <a:off x="9441404" y="897360"/>
              <a:ext cx="36830" cy="48895"/>
            </a:xfrm>
            <a:custGeom>
              <a:avLst/>
              <a:gdLst/>
              <a:ahLst/>
              <a:cxnLst/>
              <a:rect l="l" t="t" r="r" b="b"/>
              <a:pathLst>
                <a:path w="36829" h="48894">
                  <a:moveTo>
                    <a:pt x="18231" y="0"/>
                  </a:moveTo>
                  <a:lnTo>
                    <a:pt x="0" y="48578"/>
                  </a:lnTo>
                  <a:lnTo>
                    <a:pt x="36462" y="48578"/>
                  </a:lnTo>
                  <a:lnTo>
                    <a:pt x="18231" y="0"/>
                  </a:lnTo>
                  <a:close/>
                </a:path>
              </a:pathLst>
            </a:custGeom>
            <a:solidFill>
              <a:srgbClr val="000000"/>
            </a:solidFill>
          </p:spPr>
          <p:txBody>
            <a:bodyPr wrap="square" lIns="0" tIns="0" rIns="0" bIns="0" rtlCol="0"/>
            <a:lstStyle/>
            <a:p/>
          </p:txBody>
        </p:sp>
      </p:grpSp>
      <p:sp>
        <p:nvSpPr>
          <p:cNvPr id="165" name="object 165" descr=""/>
          <p:cNvSpPr txBox="1"/>
          <p:nvPr/>
        </p:nvSpPr>
        <p:spPr>
          <a:xfrm>
            <a:off x="7991719" y="6002182"/>
            <a:ext cx="432434" cy="279400"/>
          </a:xfrm>
          <a:prstGeom prst="rect">
            <a:avLst/>
          </a:prstGeom>
        </p:spPr>
        <p:txBody>
          <a:bodyPr wrap="square" lIns="0" tIns="24765" rIns="0" bIns="0" rtlCol="0" vert="horz">
            <a:spAutoFit/>
          </a:bodyPr>
          <a:lstStyle/>
          <a:p>
            <a:pPr algn="ctr">
              <a:lnSpc>
                <a:spcPct val="100000"/>
              </a:lnSpc>
              <a:spcBef>
                <a:spcPts val="195"/>
              </a:spcBef>
            </a:pPr>
            <a:r>
              <a:rPr dirty="0" sz="750" spc="-20">
                <a:latin typeface="Times New Roman"/>
                <a:cs typeface="Times New Roman"/>
              </a:rPr>
              <a:t>n=0</a:t>
            </a:r>
            <a:r>
              <a:rPr dirty="0" sz="750" spc="-20">
                <a:latin typeface="Cambria"/>
                <a:cs typeface="Cambria"/>
              </a:rPr>
              <a:t>◻</a:t>
            </a:r>
            <a:endParaRPr sz="750">
              <a:latin typeface="Cambria"/>
              <a:cs typeface="Cambria"/>
            </a:endParaRPr>
          </a:p>
          <a:p>
            <a:pPr algn="ctr">
              <a:lnSpc>
                <a:spcPct val="100000"/>
              </a:lnSpc>
              <a:spcBef>
                <a:spcPts val="100"/>
              </a:spcBef>
            </a:pPr>
            <a:r>
              <a:rPr dirty="0" sz="750">
                <a:latin typeface="Cambria"/>
                <a:cs typeface="Cambria"/>
              </a:rPr>
              <a:t>◻</a:t>
            </a:r>
            <a:r>
              <a:rPr dirty="0" sz="750" spc="55">
                <a:latin typeface="Cambria"/>
                <a:cs typeface="Cambria"/>
              </a:rPr>
              <a:t> </a:t>
            </a:r>
            <a:r>
              <a:rPr dirty="0" sz="750">
                <a:latin typeface="Cambria"/>
                <a:cs typeface="Cambria"/>
              </a:rPr>
              <a:t>◻</a:t>
            </a:r>
            <a:r>
              <a:rPr dirty="0" sz="750" spc="60">
                <a:latin typeface="Cambria"/>
                <a:cs typeface="Cambria"/>
              </a:rPr>
              <a:t> </a:t>
            </a:r>
            <a:r>
              <a:rPr dirty="0" sz="750">
                <a:latin typeface="Cambria"/>
                <a:cs typeface="Cambria"/>
              </a:rPr>
              <a:t>◻</a:t>
            </a:r>
            <a:r>
              <a:rPr dirty="0" sz="750" spc="55">
                <a:latin typeface="Cambria"/>
                <a:cs typeface="Cambria"/>
              </a:rPr>
              <a:t> </a:t>
            </a:r>
            <a:r>
              <a:rPr dirty="0" sz="750" spc="-50">
                <a:latin typeface="Cambria"/>
                <a:cs typeface="Cambria"/>
              </a:rPr>
              <a:t>◻</a:t>
            </a:r>
            <a:endParaRPr sz="750">
              <a:latin typeface="Cambria"/>
              <a:cs typeface="Cambria"/>
            </a:endParaRPr>
          </a:p>
        </p:txBody>
      </p:sp>
      <p:sp>
        <p:nvSpPr>
          <p:cNvPr id="166" name="object 166" descr=""/>
          <p:cNvSpPr txBox="1"/>
          <p:nvPr/>
        </p:nvSpPr>
        <p:spPr>
          <a:xfrm>
            <a:off x="1695069" y="623442"/>
            <a:ext cx="3683635" cy="391160"/>
          </a:xfrm>
          <a:prstGeom prst="rect">
            <a:avLst/>
          </a:prstGeom>
        </p:spPr>
        <p:txBody>
          <a:bodyPr wrap="square" lIns="0" tIns="12700" rIns="0" bIns="0" rtlCol="0" vert="horz">
            <a:spAutoFit/>
          </a:bodyPr>
          <a:lstStyle/>
          <a:p>
            <a:pPr marL="12700">
              <a:lnSpc>
                <a:spcPct val="100000"/>
              </a:lnSpc>
              <a:spcBef>
                <a:spcPts val="100"/>
              </a:spcBef>
              <a:tabLst>
                <a:tab pos="926465" algn="l"/>
                <a:tab pos="2451100" algn="l"/>
              </a:tabLst>
            </a:pPr>
            <a:r>
              <a:rPr dirty="0" sz="2400" spc="-10">
                <a:solidFill>
                  <a:srgbClr val="0000CC"/>
                </a:solidFill>
                <a:latin typeface="黑体"/>
                <a:cs typeface="黑体"/>
              </a:rPr>
              <a:t>6.2.3</a:t>
            </a:r>
            <a:r>
              <a:rPr dirty="0" sz="2400">
                <a:solidFill>
                  <a:srgbClr val="0000CC"/>
                </a:solidFill>
                <a:latin typeface="黑体"/>
                <a:cs typeface="黑体"/>
              </a:rPr>
              <a:t>	超块调</a:t>
            </a:r>
            <a:r>
              <a:rPr dirty="0" sz="2400" spc="-50">
                <a:solidFill>
                  <a:srgbClr val="0000CC"/>
                </a:solidFill>
                <a:latin typeface="黑体"/>
                <a:cs typeface="黑体"/>
              </a:rPr>
              <a:t>度</a:t>
            </a:r>
            <a:r>
              <a:rPr dirty="0" sz="2400">
                <a:solidFill>
                  <a:srgbClr val="0000CC"/>
                </a:solidFill>
                <a:latin typeface="黑体"/>
                <a:cs typeface="黑体"/>
              </a:rPr>
              <a:t>	（</a:t>
            </a:r>
            <a:r>
              <a:rPr dirty="0" sz="2400">
                <a:solidFill>
                  <a:srgbClr val="FF0000"/>
                </a:solidFill>
                <a:latin typeface="黑体"/>
                <a:cs typeface="黑体"/>
              </a:rPr>
              <a:t>自学</a:t>
            </a:r>
            <a:r>
              <a:rPr dirty="0" sz="2400" spc="-50">
                <a:solidFill>
                  <a:srgbClr val="0000CC"/>
                </a:solidFill>
                <a:latin typeface="黑体"/>
                <a:cs typeface="黑体"/>
              </a:rPr>
              <a:t>）</a:t>
            </a:r>
            <a:endParaRPr sz="2400">
              <a:latin typeface="黑体"/>
              <a:cs typeface="黑体"/>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40/89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1205890" y="613917"/>
            <a:ext cx="9994900" cy="4299585"/>
          </a:xfrm>
          <a:prstGeom prst="rect">
            <a:avLst/>
          </a:prstGeom>
        </p:spPr>
        <p:txBody>
          <a:bodyPr wrap="square" lIns="0" tIns="12700" rIns="0" bIns="0" rtlCol="0" vert="horz">
            <a:spAutoFit/>
          </a:bodyPr>
          <a:lstStyle/>
          <a:p>
            <a:pPr algn="just" marL="588645">
              <a:lnSpc>
                <a:spcPct val="100000"/>
              </a:lnSpc>
              <a:spcBef>
                <a:spcPts val="100"/>
              </a:spcBef>
            </a:pPr>
            <a:r>
              <a:rPr dirty="0" sz="2400">
                <a:solidFill>
                  <a:srgbClr val="0000CC"/>
                </a:solidFill>
                <a:latin typeface="黑体"/>
                <a:cs typeface="黑体"/>
              </a:rPr>
              <a:t>6.2.3 超块调度  （</a:t>
            </a:r>
            <a:r>
              <a:rPr dirty="0" sz="2400" spc="-5">
                <a:solidFill>
                  <a:srgbClr val="FF0000"/>
                </a:solidFill>
                <a:latin typeface="黑体"/>
                <a:cs typeface="黑体"/>
              </a:rPr>
              <a:t>自学</a:t>
            </a:r>
            <a:r>
              <a:rPr dirty="0" sz="2400" spc="-50">
                <a:solidFill>
                  <a:srgbClr val="0000CC"/>
                </a:solidFill>
                <a:latin typeface="黑体"/>
                <a:cs typeface="黑体"/>
              </a:rPr>
              <a:t>）</a:t>
            </a:r>
            <a:endParaRPr sz="2400">
              <a:latin typeface="黑体"/>
              <a:cs typeface="黑体"/>
            </a:endParaRPr>
          </a:p>
          <a:p>
            <a:pPr algn="just" marL="467995" indent="-455295">
              <a:lnSpc>
                <a:spcPct val="100000"/>
              </a:lnSpc>
              <a:spcBef>
                <a:spcPts val="1739"/>
              </a:spcBef>
              <a:buClr>
                <a:srgbClr val="40458B"/>
              </a:buClr>
              <a:buFont typeface="Tahoma"/>
              <a:buAutoNum type="arabicPeriod" startAt="3"/>
              <a:tabLst>
                <a:tab pos="467995" algn="l"/>
              </a:tabLst>
            </a:pPr>
            <a:r>
              <a:rPr dirty="0" sz="2400" spc="-10">
                <a:solidFill>
                  <a:srgbClr val="E14B04"/>
                </a:solidFill>
                <a:latin typeface="黑体"/>
                <a:cs typeface="黑体"/>
              </a:rPr>
              <a:t>超块调度的性能特点</a:t>
            </a:r>
            <a:endParaRPr sz="2400">
              <a:latin typeface="黑体"/>
              <a:cs typeface="黑体"/>
            </a:endParaRPr>
          </a:p>
          <a:p>
            <a:pPr algn="just" lvl="1" marL="1097915" marR="5080" indent="-455930">
              <a:lnSpc>
                <a:spcPct val="120000"/>
              </a:lnSpc>
              <a:spcBef>
                <a:spcPts val="610"/>
              </a:spcBef>
              <a:buClr>
                <a:srgbClr val="40458B"/>
              </a:buClr>
              <a:buSzPct val="89285"/>
              <a:buFont typeface="Wingdings"/>
              <a:buChar char=""/>
              <a:tabLst>
                <a:tab pos="1097915" algn="l"/>
              </a:tabLst>
            </a:pPr>
            <a:r>
              <a:rPr dirty="0" sz="2800" spc="-40">
                <a:solidFill>
                  <a:srgbClr val="0000CC"/>
                </a:solidFill>
                <a:latin typeface="黑体"/>
                <a:cs typeface="黑体"/>
              </a:rPr>
              <a:t>尾复制技术简化了补偿代码的生成过程，并降低了指令调度的复杂度。</a:t>
            </a:r>
            <a:endParaRPr sz="2800">
              <a:latin typeface="黑体"/>
              <a:cs typeface="黑体"/>
            </a:endParaRPr>
          </a:p>
          <a:p>
            <a:pPr algn="just" lvl="1" marL="1096645" indent="-454659">
              <a:lnSpc>
                <a:spcPct val="100000"/>
              </a:lnSpc>
              <a:spcBef>
                <a:spcPts val="1345"/>
              </a:spcBef>
              <a:buClr>
                <a:srgbClr val="40458B"/>
              </a:buClr>
              <a:buSzPct val="89285"/>
              <a:buFont typeface="Wingdings"/>
              <a:buChar char=""/>
              <a:tabLst>
                <a:tab pos="1096645" algn="l"/>
              </a:tabLst>
            </a:pPr>
            <a:r>
              <a:rPr dirty="0" sz="2800" spc="-40">
                <a:solidFill>
                  <a:srgbClr val="0000CC"/>
                </a:solidFill>
                <a:latin typeface="黑体"/>
                <a:cs typeface="黑体"/>
              </a:rPr>
              <a:t>超块结构目标代码的体积也大大增加。</a:t>
            </a:r>
            <a:endParaRPr sz="2800">
              <a:latin typeface="黑体"/>
              <a:cs typeface="黑体"/>
            </a:endParaRPr>
          </a:p>
          <a:p>
            <a:pPr algn="just" lvl="1" marL="1097915" marR="5080" indent="-455930">
              <a:lnSpc>
                <a:spcPct val="120000"/>
              </a:lnSpc>
              <a:spcBef>
                <a:spcPts val="675"/>
              </a:spcBef>
              <a:buClr>
                <a:srgbClr val="40458B"/>
              </a:buClr>
              <a:buSzPct val="89285"/>
              <a:buFont typeface="Wingdings"/>
              <a:buChar char=""/>
              <a:tabLst>
                <a:tab pos="1097915" algn="l"/>
              </a:tabLst>
            </a:pPr>
            <a:r>
              <a:rPr dirty="0" sz="2800" spc="-40">
                <a:solidFill>
                  <a:srgbClr val="0000CC"/>
                </a:solidFill>
                <a:latin typeface="黑体"/>
                <a:cs typeface="黑体"/>
              </a:rPr>
              <a:t>补偿代码的生成使得编译过程更加复杂，而且由于无法准确评估由补偿代码引起的时间开销，这限制方法超块调度的应用范围。</a:t>
            </a:r>
            <a:endParaRPr sz="2800">
              <a:latin typeface="黑体"/>
              <a:cs typeface="黑体"/>
            </a:endParaRPr>
          </a:p>
        </p:txBody>
      </p:sp>
      <p:sp>
        <p:nvSpPr>
          <p:cNvPr id="10" name="object 10"/>
          <p:cNvSpPr txBox="1">
            <a:spLocks noGrp="1"/>
          </p:cNvSpPr>
          <p:nvPr>
            <p:ph type="title"/>
          </p:nvPr>
        </p:nvSpPr>
        <p:spPr>
          <a:xfrm>
            <a:off x="1817623" y="36068"/>
            <a:ext cx="5716270" cy="513715"/>
          </a:xfrm>
          <a:prstGeom prst="rect"/>
        </p:spPr>
        <p:txBody>
          <a:bodyPr wrap="square" lIns="0" tIns="12700" rIns="0" bIns="0" rtlCol="0" vert="horz">
            <a:spAutoFit/>
          </a:bodyPr>
          <a:lstStyle/>
          <a:p>
            <a:pPr marL="12700">
              <a:lnSpc>
                <a:spcPct val="100000"/>
              </a:lnSpc>
              <a:spcBef>
                <a:spcPts val="100"/>
              </a:spcBef>
            </a:pPr>
            <a:r>
              <a:rPr dirty="0" u="none"/>
              <a:t>6.2</a:t>
            </a:r>
            <a:r>
              <a:rPr dirty="0" u="none" spc="-20"/>
              <a:t> 跨越基本块的静态指令调度</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41/89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270763" y="1298829"/>
            <a:ext cx="11474450" cy="3385185"/>
          </a:xfrm>
          <a:prstGeom prst="rect">
            <a:avLst/>
          </a:prstGeom>
        </p:spPr>
        <p:txBody>
          <a:bodyPr wrap="square" lIns="0" tIns="12065" rIns="0" bIns="0" rtlCol="0" vert="horz">
            <a:spAutoFit/>
          </a:bodyPr>
          <a:lstStyle/>
          <a:p>
            <a:pPr marL="12700">
              <a:lnSpc>
                <a:spcPct val="100000"/>
              </a:lnSpc>
              <a:spcBef>
                <a:spcPts val="95"/>
              </a:spcBef>
            </a:pPr>
            <a:r>
              <a:rPr dirty="0" sz="2800">
                <a:solidFill>
                  <a:srgbClr val="E14B04"/>
                </a:solidFill>
                <a:latin typeface="Tahoma"/>
                <a:cs typeface="Tahoma"/>
              </a:rPr>
              <a:t>VLIW</a:t>
            </a:r>
            <a:r>
              <a:rPr dirty="0" sz="2800" spc="-50">
                <a:solidFill>
                  <a:srgbClr val="E14B04"/>
                </a:solidFill>
                <a:latin typeface="Tahoma"/>
                <a:cs typeface="Tahoma"/>
              </a:rPr>
              <a:t> </a:t>
            </a:r>
            <a:r>
              <a:rPr dirty="0" sz="2800" spc="-40">
                <a:solidFill>
                  <a:srgbClr val="E14B04"/>
                </a:solidFill>
                <a:latin typeface="黑体"/>
                <a:cs typeface="黑体"/>
              </a:rPr>
              <a:t>技术</a:t>
            </a:r>
            <a:endParaRPr sz="2800">
              <a:latin typeface="黑体"/>
              <a:cs typeface="黑体"/>
            </a:endParaRPr>
          </a:p>
          <a:p>
            <a:pPr marL="1097915" marR="205740" indent="-455930">
              <a:lnSpc>
                <a:spcPct val="150100"/>
              </a:lnSpc>
              <a:spcBef>
                <a:spcPts val="335"/>
              </a:spcBef>
              <a:buClr>
                <a:srgbClr val="40458B"/>
              </a:buClr>
              <a:buSzPct val="89583"/>
              <a:buFont typeface="Wingdings"/>
              <a:buChar char=""/>
              <a:tabLst>
                <a:tab pos="1097915" algn="l"/>
              </a:tabLst>
            </a:pPr>
            <a:r>
              <a:rPr dirty="0" sz="2400">
                <a:solidFill>
                  <a:srgbClr val="0000CC"/>
                </a:solidFill>
                <a:latin typeface="黑体"/>
                <a:cs typeface="黑体"/>
              </a:rPr>
              <a:t>核心思想：利用</a:t>
            </a:r>
            <a:r>
              <a:rPr dirty="0" sz="2400" spc="-95" b="1">
                <a:solidFill>
                  <a:srgbClr val="0000CC"/>
                </a:solidFill>
                <a:latin typeface="黑体"/>
                <a:cs typeface="黑体"/>
              </a:rPr>
              <a:t>指令级并行 </a:t>
            </a:r>
            <a:r>
              <a:rPr dirty="0" sz="2400" spc="-5">
                <a:solidFill>
                  <a:srgbClr val="0000CC"/>
                </a:solidFill>
                <a:latin typeface="黑体"/>
                <a:cs typeface="黑体"/>
              </a:rPr>
              <a:t>的处理器架构设计思想，重心在于挖掘指令级的</a:t>
            </a:r>
            <a:r>
              <a:rPr dirty="0" sz="2400">
                <a:solidFill>
                  <a:srgbClr val="0000CC"/>
                </a:solidFill>
                <a:latin typeface="黑体"/>
                <a:cs typeface="黑体"/>
              </a:rPr>
              <a:t>并行性放在编译器身上</a:t>
            </a:r>
            <a:r>
              <a:rPr dirty="0" sz="2400" spc="-10">
                <a:solidFill>
                  <a:srgbClr val="0000CC"/>
                </a:solidFill>
                <a:latin typeface="Tahoma"/>
                <a:cs typeface="Tahoma"/>
              </a:rPr>
              <a:t>---</a:t>
            </a:r>
            <a:r>
              <a:rPr dirty="0" sz="2400" spc="-10">
                <a:solidFill>
                  <a:srgbClr val="0000CC"/>
                </a:solidFill>
                <a:latin typeface="黑体"/>
                <a:cs typeface="黑体"/>
              </a:rPr>
              <a:t>编译器驱动的并行。</a:t>
            </a:r>
            <a:endParaRPr sz="2400">
              <a:latin typeface="黑体"/>
              <a:cs typeface="黑体"/>
            </a:endParaRPr>
          </a:p>
          <a:p>
            <a:pPr marL="1097915" marR="5080" indent="-455930">
              <a:lnSpc>
                <a:spcPct val="150000"/>
              </a:lnSpc>
              <a:spcBef>
                <a:spcPts val="580"/>
              </a:spcBef>
              <a:buClr>
                <a:srgbClr val="40458B"/>
              </a:buClr>
              <a:buSzPct val="89583"/>
              <a:buFont typeface="Wingdings"/>
              <a:buChar char=""/>
              <a:tabLst>
                <a:tab pos="1097915" algn="l"/>
              </a:tabLst>
            </a:pPr>
            <a:r>
              <a:rPr dirty="0" sz="2400" spc="-5">
                <a:solidFill>
                  <a:srgbClr val="0000CC"/>
                </a:solidFill>
                <a:latin typeface="黑体"/>
                <a:cs typeface="黑体"/>
              </a:rPr>
              <a:t>编译器在编译时就已经静态分析出来哪些指令可以并行，处理器在运行时只需</a:t>
            </a:r>
            <a:r>
              <a:rPr dirty="0" sz="2400" spc="-15">
                <a:solidFill>
                  <a:srgbClr val="0000CC"/>
                </a:solidFill>
                <a:latin typeface="黑体"/>
                <a:cs typeface="黑体"/>
              </a:rPr>
              <a:t>简单解码并执行这条长指令字中的所有操作，无需复杂的动态调度电路。</a:t>
            </a:r>
            <a:endParaRPr sz="2400">
              <a:latin typeface="黑体"/>
              <a:cs typeface="黑体"/>
            </a:endParaRPr>
          </a:p>
          <a:p>
            <a:pPr marL="1097915" indent="-455930">
              <a:lnSpc>
                <a:spcPct val="100000"/>
              </a:lnSpc>
              <a:spcBef>
                <a:spcPts val="2014"/>
              </a:spcBef>
              <a:buClr>
                <a:srgbClr val="40458B"/>
              </a:buClr>
              <a:buSzPct val="89583"/>
              <a:buFont typeface="Wingdings"/>
              <a:buChar char=""/>
              <a:tabLst>
                <a:tab pos="1097915" algn="l"/>
              </a:tabLst>
            </a:pPr>
            <a:r>
              <a:rPr dirty="0" sz="2400" spc="-5">
                <a:solidFill>
                  <a:srgbClr val="0000CC"/>
                </a:solidFill>
                <a:latin typeface="黑体"/>
                <a:cs typeface="黑体"/>
              </a:rPr>
              <a:t>应用场景：数字信号处理、多媒体或图形处理器等</a:t>
            </a:r>
            <a:endParaRPr sz="2400">
              <a:latin typeface="黑体"/>
              <a:cs typeface="黑体"/>
            </a:endParaRPr>
          </a:p>
        </p:txBody>
      </p:sp>
      <p:sp>
        <p:nvSpPr>
          <p:cNvPr id="10" name="object 10"/>
          <p:cNvSpPr txBox="1">
            <a:spLocks noGrp="1"/>
          </p:cNvSpPr>
          <p:nvPr>
            <p:ph type="title"/>
          </p:nvPr>
        </p:nvSpPr>
        <p:spPr>
          <a:xfrm>
            <a:off x="1839214" y="48513"/>
            <a:ext cx="5008245" cy="452120"/>
          </a:xfrm>
          <a:prstGeom prst="rect"/>
        </p:spPr>
        <p:txBody>
          <a:bodyPr wrap="square" lIns="0" tIns="12065" rIns="0" bIns="0" rtlCol="0" vert="horz">
            <a:spAutoFit/>
          </a:bodyPr>
          <a:lstStyle/>
          <a:p>
            <a:pPr marL="12700">
              <a:lnSpc>
                <a:spcPct val="100000"/>
              </a:lnSpc>
              <a:spcBef>
                <a:spcPts val="95"/>
              </a:spcBef>
            </a:pPr>
            <a:r>
              <a:rPr dirty="0" u="none" sz="2800">
                <a:solidFill>
                  <a:srgbClr val="000000"/>
                </a:solidFill>
              </a:rPr>
              <a:t>6.3</a:t>
            </a:r>
            <a:r>
              <a:rPr dirty="0" u="none" sz="2800" spc="-30">
                <a:solidFill>
                  <a:srgbClr val="000000"/>
                </a:solidFill>
              </a:rPr>
              <a:t> 静态多指令流出：</a:t>
            </a:r>
            <a:r>
              <a:rPr dirty="0" u="none" sz="2800" spc="-20">
                <a:solidFill>
                  <a:srgbClr val="000000"/>
                </a:solidFill>
              </a:rPr>
              <a:t>VLIW</a:t>
            </a:r>
            <a:r>
              <a:rPr dirty="0" u="none" sz="2800" spc="-45">
                <a:solidFill>
                  <a:srgbClr val="000000"/>
                </a:solidFill>
              </a:rPr>
              <a:t>技术</a:t>
            </a:r>
            <a:endParaRPr sz="28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42/89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971803" y="5202631"/>
            <a:ext cx="10638790" cy="1306195"/>
          </a:xfrm>
          <a:prstGeom prst="rect">
            <a:avLst/>
          </a:prstGeom>
        </p:spPr>
        <p:txBody>
          <a:bodyPr wrap="square" lIns="0" tIns="12700" rIns="0" bIns="0" rtlCol="0" vert="horz">
            <a:spAutoFit/>
          </a:bodyPr>
          <a:lstStyle/>
          <a:p>
            <a:pPr marL="467995" marR="5080" indent="-455930">
              <a:lnSpc>
                <a:spcPct val="110000"/>
              </a:lnSpc>
              <a:spcBef>
                <a:spcPts val="100"/>
              </a:spcBef>
              <a:buClr>
                <a:srgbClr val="40458B"/>
              </a:buClr>
              <a:buSzPct val="89583"/>
              <a:buFont typeface="Wingdings"/>
              <a:buChar char=""/>
              <a:tabLst>
                <a:tab pos="467995" algn="l"/>
              </a:tabLst>
            </a:pPr>
            <a:r>
              <a:rPr dirty="0" sz="2400" spc="-25">
                <a:solidFill>
                  <a:srgbClr val="0000CC"/>
                </a:solidFill>
                <a:latin typeface="Times New Roman"/>
                <a:cs typeface="Times New Roman"/>
              </a:rPr>
              <a:t>VLIW</a:t>
            </a:r>
            <a:r>
              <a:rPr dirty="0" sz="2400">
                <a:solidFill>
                  <a:srgbClr val="FF0000"/>
                </a:solidFill>
                <a:latin typeface="黑体"/>
                <a:cs typeface="黑体"/>
              </a:rPr>
              <a:t>不需要</a:t>
            </a:r>
            <a:r>
              <a:rPr dirty="0" sz="2400">
                <a:solidFill>
                  <a:srgbClr val="0000CC"/>
                </a:solidFill>
                <a:latin typeface="黑体"/>
                <a:cs typeface="黑体"/>
              </a:rPr>
              <a:t>动态调度硬件，简化硬件电路，</a:t>
            </a:r>
            <a:r>
              <a:rPr dirty="0" sz="2400">
                <a:solidFill>
                  <a:srgbClr val="FF0000"/>
                </a:solidFill>
                <a:latin typeface="黑体"/>
                <a:cs typeface="黑体"/>
              </a:rPr>
              <a:t>但</a:t>
            </a:r>
            <a:r>
              <a:rPr dirty="0" sz="2400">
                <a:solidFill>
                  <a:srgbClr val="0000CC"/>
                </a:solidFill>
                <a:latin typeface="黑体"/>
                <a:cs typeface="黑体"/>
              </a:rPr>
              <a:t>编译器需要找到</a:t>
            </a:r>
            <a:r>
              <a:rPr dirty="0" sz="2400" spc="-35">
                <a:solidFill>
                  <a:srgbClr val="0000CC"/>
                </a:solidFill>
                <a:latin typeface="Times New Roman"/>
                <a:cs typeface="Times New Roman"/>
              </a:rPr>
              <a:t>N</a:t>
            </a:r>
            <a:r>
              <a:rPr dirty="0" sz="2400" spc="-10">
                <a:solidFill>
                  <a:srgbClr val="0000CC"/>
                </a:solidFill>
                <a:latin typeface="黑体"/>
                <a:cs typeface="黑体"/>
              </a:rPr>
              <a:t>个独立的操</a:t>
            </a:r>
            <a:r>
              <a:rPr dirty="0" sz="2400">
                <a:solidFill>
                  <a:srgbClr val="0000CC"/>
                </a:solidFill>
                <a:latin typeface="黑体"/>
                <a:cs typeface="黑体"/>
              </a:rPr>
              <a:t>作，若找不到则插入</a:t>
            </a:r>
            <a:r>
              <a:rPr dirty="0" sz="2400" spc="-25">
                <a:solidFill>
                  <a:srgbClr val="0000CC"/>
                </a:solidFill>
                <a:latin typeface="Times New Roman"/>
                <a:cs typeface="Times New Roman"/>
              </a:rPr>
              <a:t>NOP</a:t>
            </a:r>
            <a:r>
              <a:rPr dirty="0" sz="2400" spc="-15">
                <a:solidFill>
                  <a:srgbClr val="0000CC"/>
                </a:solidFill>
                <a:latin typeface="黑体"/>
                <a:cs typeface="黑体"/>
              </a:rPr>
              <a:t>，因此增加了代码量，降低了并行性。</a:t>
            </a:r>
            <a:endParaRPr sz="2400">
              <a:latin typeface="黑体"/>
              <a:cs typeface="黑体"/>
            </a:endParaRPr>
          </a:p>
          <a:p>
            <a:pPr marL="467995" indent="-455295">
              <a:lnSpc>
                <a:spcPct val="100000"/>
              </a:lnSpc>
              <a:spcBef>
                <a:spcPts val="865"/>
              </a:spcBef>
              <a:buClr>
                <a:srgbClr val="40458B"/>
              </a:buClr>
              <a:buSzPct val="89583"/>
              <a:buFont typeface="Wingdings"/>
              <a:buChar char=""/>
              <a:tabLst>
                <a:tab pos="467995" algn="l"/>
              </a:tabLst>
            </a:pPr>
            <a:r>
              <a:rPr dirty="0" sz="2400" spc="-10">
                <a:solidFill>
                  <a:srgbClr val="0000CC"/>
                </a:solidFill>
                <a:latin typeface="Times New Roman"/>
                <a:cs typeface="Times New Roman"/>
              </a:rPr>
              <a:t>VLIW</a:t>
            </a:r>
            <a:r>
              <a:rPr dirty="0" sz="2400" spc="-15">
                <a:solidFill>
                  <a:srgbClr val="0000CC"/>
                </a:solidFill>
                <a:latin typeface="黑体"/>
                <a:cs typeface="黑体"/>
              </a:rPr>
              <a:t>：在延迟时间最长的指令完成之前，任何指令都不能执行。</a:t>
            </a:r>
            <a:endParaRPr sz="2400">
              <a:latin typeface="黑体"/>
              <a:cs typeface="黑体"/>
            </a:endParaRPr>
          </a:p>
        </p:txBody>
      </p:sp>
      <p:sp>
        <p:nvSpPr>
          <p:cNvPr id="10" name="object 10"/>
          <p:cNvSpPr txBox="1">
            <a:spLocks noGrp="1"/>
          </p:cNvSpPr>
          <p:nvPr>
            <p:ph type="title"/>
          </p:nvPr>
        </p:nvSpPr>
        <p:spPr>
          <a:xfrm>
            <a:off x="1839214" y="48513"/>
            <a:ext cx="5008245" cy="452120"/>
          </a:xfrm>
          <a:prstGeom prst="rect"/>
        </p:spPr>
        <p:txBody>
          <a:bodyPr wrap="square" lIns="0" tIns="12065" rIns="0" bIns="0" rtlCol="0" vert="horz">
            <a:spAutoFit/>
          </a:bodyPr>
          <a:lstStyle/>
          <a:p>
            <a:pPr marL="12700">
              <a:lnSpc>
                <a:spcPct val="100000"/>
              </a:lnSpc>
              <a:spcBef>
                <a:spcPts val="95"/>
              </a:spcBef>
            </a:pPr>
            <a:r>
              <a:rPr dirty="0" u="none" sz="2800">
                <a:solidFill>
                  <a:srgbClr val="000000"/>
                </a:solidFill>
              </a:rPr>
              <a:t>6.3</a:t>
            </a:r>
            <a:r>
              <a:rPr dirty="0" u="none" sz="2800" spc="-30">
                <a:solidFill>
                  <a:srgbClr val="000000"/>
                </a:solidFill>
              </a:rPr>
              <a:t> 静态多指令流出：</a:t>
            </a:r>
            <a:r>
              <a:rPr dirty="0" u="none" sz="2800" spc="-20">
                <a:solidFill>
                  <a:srgbClr val="000000"/>
                </a:solidFill>
              </a:rPr>
              <a:t>VLIW</a:t>
            </a:r>
            <a:r>
              <a:rPr dirty="0" u="none" sz="2800" spc="-45">
                <a:solidFill>
                  <a:srgbClr val="000000"/>
                </a:solidFill>
              </a:rPr>
              <a:t>技术</a:t>
            </a:r>
            <a:endParaRPr sz="2800"/>
          </a:p>
        </p:txBody>
      </p:sp>
      <p:graphicFrame>
        <p:nvGraphicFramePr>
          <p:cNvPr id="11" name="object 11" descr=""/>
          <p:cNvGraphicFramePr>
            <a:graphicFrameLocks noGrp="1"/>
          </p:cNvGraphicFramePr>
          <p:nvPr/>
        </p:nvGraphicFramePr>
        <p:xfrm>
          <a:off x="2022538" y="3750741"/>
          <a:ext cx="5277485" cy="502920"/>
        </p:xfrm>
        <a:graphic>
          <a:graphicData uri="http://schemas.openxmlformats.org/drawingml/2006/table">
            <a:tbl>
              <a:tblPr firstRow="1" bandRow="1">
                <a:tableStyleId>{2D5ABB26-0587-4C30-8999-92F81FD0307C}</a:tableStyleId>
              </a:tblPr>
              <a:tblGrid>
                <a:gridCol w="1297940"/>
                <a:gridCol w="1297940"/>
                <a:gridCol w="1297940"/>
                <a:gridCol w="1297939"/>
              </a:tblGrid>
              <a:tr h="502920">
                <a:tc>
                  <a:txBody>
                    <a:bodyPr/>
                    <a:lstStyle/>
                    <a:p>
                      <a:pPr algn="ctr">
                        <a:lnSpc>
                          <a:spcPct val="100000"/>
                        </a:lnSpc>
                        <a:spcBef>
                          <a:spcPts val="780"/>
                        </a:spcBef>
                      </a:pPr>
                      <a:r>
                        <a:rPr dirty="0" sz="2000" spc="-20">
                          <a:solidFill>
                            <a:srgbClr val="40458B"/>
                          </a:solidFill>
                          <a:latin typeface="Tahoma"/>
                          <a:cs typeface="Tahoma"/>
                        </a:rPr>
                        <a:t>slot</a:t>
                      </a:r>
                      <a:endParaRPr sz="2000">
                        <a:latin typeface="Tahoma"/>
                        <a:cs typeface="Tahoma"/>
                      </a:endParaRPr>
                    </a:p>
                  </a:txBody>
                  <a:tcPr marL="0" marR="0" marB="0" marT="9906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EBD782"/>
                    </a:solidFill>
                  </a:tcPr>
                </a:tc>
                <a:tc>
                  <a:txBody>
                    <a:bodyPr/>
                    <a:lstStyle/>
                    <a:p>
                      <a:pPr algn="ctr">
                        <a:lnSpc>
                          <a:spcPct val="100000"/>
                        </a:lnSpc>
                        <a:spcBef>
                          <a:spcPts val="780"/>
                        </a:spcBef>
                      </a:pPr>
                      <a:r>
                        <a:rPr dirty="0" sz="2000" spc="-20">
                          <a:solidFill>
                            <a:srgbClr val="40458B"/>
                          </a:solidFill>
                          <a:latin typeface="Tahoma"/>
                          <a:cs typeface="Tahoma"/>
                        </a:rPr>
                        <a:t>slot</a:t>
                      </a:r>
                      <a:endParaRPr sz="2000">
                        <a:latin typeface="Tahoma"/>
                        <a:cs typeface="Tahoma"/>
                      </a:endParaRPr>
                    </a:p>
                  </a:txBody>
                  <a:tcPr marL="0" marR="0" marB="0" marT="9906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EBD782"/>
                    </a:solidFill>
                  </a:tcPr>
                </a:tc>
                <a:tc>
                  <a:txBody>
                    <a:bodyPr/>
                    <a:lstStyle/>
                    <a:p>
                      <a:pPr algn="ctr">
                        <a:lnSpc>
                          <a:spcPct val="100000"/>
                        </a:lnSpc>
                        <a:spcBef>
                          <a:spcPts val="780"/>
                        </a:spcBef>
                      </a:pPr>
                      <a:r>
                        <a:rPr dirty="0" sz="2000" spc="-20">
                          <a:solidFill>
                            <a:srgbClr val="40458B"/>
                          </a:solidFill>
                          <a:latin typeface="Tahoma"/>
                          <a:cs typeface="Tahoma"/>
                        </a:rPr>
                        <a:t>slot</a:t>
                      </a:r>
                      <a:endParaRPr sz="2000">
                        <a:latin typeface="Tahoma"/>
                        <a:cs typeface="Tahoma"/>
                      </a:endParaRPr>
                    </a:p>
                  </a:txBody>
                  <a:tcPr marL="0" marR="0" marB="0" marT="9906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EBD782"/>
                    </a:solidFill>
                  </a:tcPr>
                </a:tc>
                <a:tc>
                  <a:txBody>
                    <a:bodyPr/>
                    <a:lstStyle/>
                    <a:p>
                      <a:pPr algn="ctr">
                        <a:lnSpc>
                          <a:spcPct val="100000"/>
                        </a:lnSpc>
                        <a:spcBef>
                          <a:spcPts val="780"/>
                        </a:spcBef>
                      </a:pPr>
                      <a:r>
                        <a:rPr dirty="0" sz="2000" spc="-20">
                          <a:solidFill>
                            <a:srgbClr val="40458B"/>
                          </a:solidFill>
                          <a:latin typeface="Tahoma"/>
                          <a:cs typeface="Tahoma"/>
                        </a:rPr>
                        <a:t>slot</a:t>
                      </a:r>
                      <a:endParaRPr sz="2000">
                        <a:latin typeface="Tahoma"/>
                        <a:cs typeface="Tahoma"/>
                      </a:endParaRPr>
                    </a:p>
                  </a:txBody>
                  <a:tcPr marL="0" marR="0" marB="0" marT="9906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EBD782"/>
                    </a:solidFill>
                  </a:tcPr>
                </a:tc>
              </a:tr>
            </a:tbl>
          </a:graphicData>
        </a:graphic>
      </p:graphicFrame>
      <p:sp>
        <p:nvSpPr>
          <p:cNvPr id="12" name="object 12" descr=""/>
          <p:cNvSpPr txBox="1"/>
          <p:nvPr/>
        </p:nvSpPr>
        <p:spPr>
          <a:xfrm>
            <a:off x="342391" y="590783"/>
            <a:ext cx="11778615" cy="3413125"/>
          </a:xfrm>
          <a:prstGeom prst="rect">
            <a:avLst/>
          </a:prstGeom>
        </p:spPr>
        <p:txBody>
          <a:bodyPr wrap="square" lIns="0" tIns="148590" rIns="0" bIns="0" rtlCol="0" vert="horz">
            <a:spAutoFit/>
          </a:bodyPr>
          <a:lstStyle/>
          <a:p>
            <a:pPr marL="12700">
              <a:lnSpc>
                <a:spcPct val="100000"/>
              </a:lnSpc>
              <a:spcBef>
                <a:spcPts val="1170"/>
              </a:spcBef>
            </a:pPr>
            <a:r>
              <a:rPr dirty="0" sz="2800">
                <a:solidFill>
                  <a:srgbClr val="E14B04"/>
                </a:solidFill>
                <a:latin typeface="Tahoma"/>
                <a:cs typeface="Tahoma"/>
              </a:rPr>
              <a:t>VLIW</a:t>
            </a:r>
            <a:r>
              <a:rPr dirty="0" sz="2800" spc="-45">
                <a:solidFill>
                  <a:srgbClr val="E14B04"/>
                </a:solidFill>
                <a:latin typeface="Tahoma"/>
                <a:cs typeface="Tahoma"/>
              </a:rPr>
              <a:t> </a:t>
            </a:r>
            <a:r>
              <a:rPr dirty="0" sz="2800">
                <a:solidFill>
                  <a:srgbClr val="E14B04"/>
                </a:solidFill>
                <a:latin typeface="Tahoma"/>
                <a:cs typeface="Tahoma"/>
              </a:rPr>
              <a:t>vs.</a:t>
            </a:r>
            <a:r>
              <a:rPr dirty="0" sz="2800" spc="-30">
                <a:solidFill>
                  <a:srgbClr val="E14B04"/>
                </a:solidFill>
                <a:latin typeface="Tahoma"/>
                <a:cs typeface="Tahoma"/>
              </a:rPr>
              <a:t> </a:t>
            </a:r>
            <a:r>
              <a:rPr dirty="0" sz="2800" spc="-40">
                <a:solidFill>
                  <a:srgbClr val="E14B04"/>
                </a:solidFill>
                <a:latin typeface="黑体"/>
                <a:cs typeface="黑体"/>
              </a:rPr>
              <a:t>超标量</a:t>
            </a:r>
            <a:endParaRPr sz="2800">
              <a:latin typeface="黑体"/>
              <a:cs typeface="黑体"/>
            </a:endParaRPr>
          </a:p>
          <a:p>
            <a:pPr marL="1097280" indent="-455295">
              <a:lnSpc>
                <a:spcPct val="100000"/>
              </a:lnSpc>
              <a:spcBef>
                <a:spcPts val="915"/>
              </a:spcBef>
              <a:buClr>
                <a:srgbClr val="40458B"/>
              </a:buClr>
              <a:buSzPct val="89583"/>
              <a:buFont typeface="Wingdings"/>
              <a:buChar char=""/>
              <a:tabLst>
                <a:tab pos="1097280" algn="l"/>
              </a:tabLst>
            </a:pPr>
            <a:r>
              <a:rPr dirty="0" sz="2400">
                <a:solidFill>
                  <a:srgbClr val="FF0000"/>
                </a:solidFill>
                <a:latin typeface="黑体"/>
                <a:cs typeface="黑体"/>
              </a:rPr>
              <a:t>都是</a:t>
            </a:r>
            <a:r>
              <a:rPr dirty="0" sz="2400" spc="-5">
                <a:solidFill>
                  <a:srgbClr val="0000CC"/>
                </a:solidFill>
                <a:latin typeface="黑体"/>
                <a:cs typeface="黑体"/>
              </a:rPr>
              <a:t>关注指令级的细粒度并行</a:t>
            </a:r>
            <a:endParaRPr sz="2400">
              <a:latin typeface="黑体"/>
              <a:cs typeface="黑体"/>
            </a:endParaRPr>
          </a:p>
          <a:p>
            <a:pPr marL="1097280" indent="-455295">
              <a:lnSpc>
                <a:spcPct val="100000"/>
              </a:lnSpc>
              <a:spcBef>
                <a:spcPts val="865"/>
              </a:spcBef>
              <a:buClr>
                <a:srgbClr val="40458B"/>
              </a:buClr>
              <a:buSzPct val="89583"/>
              <a:buFont typeface="Wingdings"/>
              <a:buChar char=""/>
              <a:tabLst>
                <a:tab pos="1097280" algn="l"/>
              </a:tabLst>
            </a:pPr>
            <a:r>
              <a:rPr dirty="0" sz="2400" spc="-5">
                <a:solidFill>
                  <a:srgbClr val="0000CC"/>
                </a:solidFill>
                <a:latin typeface="黑体"/>
                <a:cs typeface="黑体"/>
              </a:rPr>
              <a:t>在动态调度的超标量处理器中，相关检测和指令调度基本都由硬件完成。</a:t>
            </a:r>
            <a:endParaRPr sz="2400">
              <a:latin typeface="黑体"/>
              <a:cs typeface="黑体"/>
            </a:endParaRPr>
          </a:p>
          <a:p>
            <a:pPr marL="1097280" indent="-455295">
              <a:lnSpc>
                <a:spcPct val="100000"/>
              </a:lnSpc>
              <a:spcBef>
                <a:spcPts val="865"/>
              </a:spcBef>
              <a:buClr>
                <a:srgbClr val="40458B"/>
              </a:buClr>
              <a:buSzPct val="89583"/>
              <a:buFont typeface="Wingdings"/>
              <a:buChar char=""/>
              <a:tabLst>
                <a:tab pos="1097280" algn="l"/>
              </a:tabLst>
            </a:pPr>
            <a:r>
              <a:rPr dirty="0" sz="2400" spc="-15">
                <a:solidFill>
                  <a:srgbClr val="0000CC"/>
                </a:solidFill>
                <a:latin typeface="黑体"/>
                <a:cs typeface="黑体"/>
              </a:rPr>
              <a:t>在静态调度的超标量处理器中，部分相关检测和指令调度工作交由编译器完成。</a:t>
            </a:r>
            <a:endParaRPr sz="2400">
              <a:latin typeface="黑体"/>
              <a:cs typeface="黑体"/>
            </a:endParaRPr>
          </a:p>
          <a:p>
            <a:pPr marL="1097280" marR="294640" indent="-455930">
              <a:lnSpc>
                <a:spcPct val="110000"/>
              </a:lnSpc>
              <a:spcBef>
                <a:spcPts val="580"/>
              </a:spcBef>
              <a:buClr>
                <a:srgbClr val="40458B"/>
              </a:buClr>
              <a:buSzPct val="89583"/>
              <a:buFont typeface="Wingdings"/>
              <a:buChar char=""/>
              <a:tabLst>
                <a:tab pos="1097280" algn="l"/>
              </a:tabLst>
            </a:pPr>
            <a:r>
              <a:rPr dirty="0" sz="2400">
                <a:solidFill>
                  <a:srgbClr val="0000CC"/>
                </a:solidFill>
                <a:latin typeface="黑体"/>
                <a:cs typeface="黑体"/>
              </a:rPr>
              <a:t>在</a:t>
            </a:r>
            <a:r>
              <a:rPr dirty="0" sz="2400" spc="-25">
                <a:solidFill>
                  <a:srgbClr val="0000CC"/>
                </a:solidFill>
                <a:latin typeface="Times New Roman"/>
                <a:cs typeface="Times New Roman"/>
              </a:rPr>
              <a:t>VLIW</a:t>
            </a:r>
            <a:r>
              <a:rPr dirty="0" sz="2400">
                <a:solidFill>
                  <a:srgbClr val="0000CC"/>
                </a:solidFill>
                <a:latin typeface="黑体"/>
                <a:cs typeface="黑体"/>
              </a:rPr>
              <a:t>处理器中，相关检测和指令调度工作全部由编译器完成，它需要更</a:t>
            </a:r>
            <a:r>
              <a:rPr dirty="0" sz="2400">
                <a:solidFill>
                  <a:srgbClr val="0000CC"/>
                </a:solidFill>
                <a:latin typeface="Times New Roman"/>
                <a:cs typeface="Times New Roman"/>
              </a:rPr>
              <a:t>“</a:t>
            </a:r>
            <a:r>
              <a:rPr dirty="0" sz="2400" spc="-50">
                <a:solidFill>
                  <a:srgbClr val="0000CC"/>
                </a:solidFill>
                <a:latin typeface="黑体"/>
                <a:cs typeface="黑体"/>
              </a:rPr>
              <a:t>智</a:t>
            </a:r>
            <a:r>
              <a:rPr dirty="0" sz="2400">
                <a:solidFill>
                  <a:srgbClr val="0000CC"/>
                </a:solidFill>
                <a:latin typeface="黑体"/>
                <a:cs typeface="黑体"/>
              </a:rPr>
              <a:t>能</a:t>
            </a:r>
            <a:r>
              <a:rPr dirty="0" sz="2400">
                <a:solidFill>
                  <a:srgbClr val="0000CC"/>
                </a:solidFill>
                <a:latin typeface="Times New Roman"/>
                <a:cs typeface="Times New Roman"/>
              </a:rPr>
              <a:t>”</a:t>
            </a:r>
            <a:r>
              <a:rPr dirty="0" sz="2400" spc="-10">
                <a:solidFill>
                  <a:srgbClr val="0000CC"/>
                </a:solidFill>
                <a:latin typeface="黑体"/>
                <a:cs typeface="黑体"/>
              </a:rPr>
              <a:t>的编译器。</a:t>
            </a:r>
            <a:endParaRPr sz="2400">
              <a:latin typeface="黑体"/>
              <a:cs typeface="黑体"/>
            </a:endParaRPr>
          </a:p>
          <a:p>
            <a:pPr marL="7154545">
              <a:lnSpc>
                <a:spcPct val="100000"/>
              </a:lnSpc>
              <a:spcBef>
                <a:spcPts val="1640"/>
              </a:spcBef>
            </a:pPr>
            <a:r>
              <a:rPr dirty="0" sz="2000" b="1">
                <a:latin typeface="Times New Roman"/>
                <a:cs typeface="Times New Roman"/>
              </a:rPr>
              <a:t>128bit</a:t>
            </a:r>
            <a:r>
              <a:rPr dirty="0" sz="2000" spc="-70" b="1">
                <a:latin typeface="Times New Roman"/>
                <a:cs typeface="Times New Roman"/>
              </a:rPr>
              <a:t> </a:t>
            </a:r>
            <a:r>
              <a:rPr dirty="0" sz="2000" b="1">
                <a:latin typeface="Times New Roman"/>
                <a:cs typeface="Times New Roman"/>
              </a:rPr>
              <a:t>VLIW</a:t>
            </a:r>
            <a:r>
              <a:rPr dirty="0" sz="2000" spc="-30" b="1">
                <a:latin typeface="宋体"/>
                <a:cs typeface="宋体"/>
              </a:rPr>
              <a:t>指令</a:t>
            </a:r>
            <a:endParaRPr sz="2000">
              <a:latin typeface="宋体"/>
              <a:cs typeface="宋体"/>
            </a:endParaRPr>
          </a:p>
        </p:txBody>
      </p:sp>
      <p:sp>
        <p:nvSpPr>
          <p:cNvPr id="13" name="object 13" descr=""/>
          <p:cNvSpPr txBox="1"/>
          <p:nvPr/>
        </p:nvSpPr>
        <p:spPr>
          <a:xfrm>
            <a:off x="2259583" y="4352290"/>
            <a:ext cx="676910" cy="637540"/>
          </a:xfrm>
          <a:prstGeom prst="rect">
            <a:avLst/>
          </a:prstGeom>
        </p:spPr>
        <p:txBody>
          <a:bodyPr wrap="square" lIns="0" tIns="12700" rIns="0" bIns="0" rtlCol="0" vert="horz">
            <a:spAutoFit/>
          </a:bodyPr>
          <a:lstStyle/>
          <a:p>
            <a:pPr marL="12700">
              <a:lnSpc>
                <a:spcPct val="100000"/>
              </a:lnSpc>
              <a:spcBef>
                <a:spcPts val="100"/>
              </a:spcBef>
            </a:pPr>
            <a:r>
              <a:rPr dirty="0" sz="2000" spc="-10">
                <a:solidFill>
                  <a:srgbClr val="40458B"/>
                </a:solidFill>
                <a:latin typeface="Tahoma"/>
                <a:cs typeface="Tahoma"/>
              </a:rPr>
              <a:t>32bit</a:t>
            </a:r>
            <a:endParaRPr sz="2000">
              <a:latin typeface="Tahoma"/>
              <a:cs typeface="Tahoma"/>
            </a:endParaRPr>
          </a:p>
          <a:p>
            <a:pPr marL="12700">
              <a:lnSpc>
                <a:spcPct val="100000"/>
              </a:lnSpc>
              <a:spcBef>
                <a:spcPts val="15"/>
              </a:spcBef>
            </a:pPr>
            <a:r>
              <a:rPr dirty="0" sz="2000">
                <a:solidFill>
                  <a:srgbClr val="40458B"/>
                </a:solidFill>
                <a:latin typeface="黑体"/>
                <a:cs typeface="黑体"/>
              </a:rPr>
              <a:t>操作</a:t>
            </a:r>
            <a:r>
              <a:rPr dirty="0" sz="2000" spc="-50">
                <a:solidFill>
                  <a:srgbClr val="40458B"/>
                </a:solidFill>
                <a:latin typeface="Tahoma"/>
                <a:cs typeface="Tahoma"/>
              </a:rPr>
              <a:t>1</a:t>
            </a:r>
            <a:endParaRPr sz="2000">
              <a:latin typeface="Tahoma"/>
              <a:cs typeface="Tahoma"/>
            </a:endParaRPr>
          </a:p>
        </p:txBody>
      </p:sp>
      <p:sp>
        <p:nvSpPr>
          <p:cNvPr id="14" name="object 14" descr=""/>
          <p:cNvSpPr txBox="1"/>
          <p:nvPr/>
        </p:nvSpPr>
        <p:spPr>
          <a:xfrm>
            <a:off x="3557778" y="4352290"/>
            <a:ext cx="676910" cy="637540"/>
          </a:xfrm>
          <a:prstGeom prst="rect">
            <a:avLst/>
          </a:prstGeom>
        </p:spPr>
        <p:txBody>
          <a:bodyPr wrap="square" lIns="0" tIns="12700" rIns="0" bIns="0" rtlCol="0" vert="horz">
            <a:spAutoFit/>
          </a:bodyPr>
          <a:lstStyle/>
          <a:p>
            <a:pPr marL="12700">
              <a:lnSpc>
                <a:spcPct val="100000"/>
              </a:lnSpc>
              <a:spcBef>
                <a:spcPts val="100"/>
              </a:spcBef>
            </a:pPr>
            <a:r>
              <a:rPr dirty="0" sz="2000" spc="-10">
                <a:solidFill>
                  <a:srgbClr val="40458B"/>
                </a:solidFill>
                <a:latin typeface="Tahoma"/>
                <a:cs typeface="Tahoma"/>
              </a:rPr>
              <a:t>32bit</a:t>
            </a:r>
            <a:endParaRPr sz="2000">
              <a:latin typeface="Tahoma"/>
              <a:cs typeface="Tahoma"/>
            </a:endParaRPr>
          </a:p>
          <a:p>
            <a:pPr marL="12700">
              <a:lnSpc>
                <a:spcPct val="100000"/>
              </a:lnSpc>
              <a:spcBef>
                <a:spcPts val="15"/>
              </a:spcBef>
            </a:pPr>
            <a:r>
              <a:rPr dirty="0" sz="2000">
                <a:solidFill>
                  <a:srgbClr val="40458B"/>
                </a:solidFill>
                <a:latin typeface="黑体"/>
                <a:cs typeface="黑体"/>
              </a:rPr>
              <a:t>操作</a:t>
            </a:r>
            <a:r>
              <a:rPr dirty="0" sz="2000" spc="-50">
                <a:solidFill>
                  <a:srgbClr val="40458B"/>
                </a:solidFill>
                <a:latin typeface="Tahoma"/>
                <a:cs typeface="Tahoma"/>
              </a:rPr>
              <a:t>2</a:t>
            </a:r>
            <a:endParaRPr sz="2000">
              <a:latin typeface="Tahoma"/>
              <a:cs typeface="Tahoma"/>
            </a:endParaRPr>
          </a:p>
        </p:txBody>
      </p:sp>
      <p:sp>
        <p:nvSpPr>
          <p:cNvPr id="15" name="object 15" descr=""/>
          <p:cNvSpPr txBox="1"/>
          <p:nvPr/>
        </p:nvSpPr>
        <p:spPr>
          <a:xfrm>
            <a:off x="4796409" y="4352290"/>
            <a:ext cx="586740" cy="330835"/>
          </a:xfrm>
          <a:prstGeom prst="rect">
            <a:avLst/>
          </a:prstGeom>
        </p:spPr>
        <p:txBody>
          <a:bodyPr wrap="square" lIns="0" tIns="12700" rIns="0" bIns="0" rtlCol="0" vert="horz">
            <a:spAutoFit/>
          </a:bodyPr>
          <a:lstStyle/>
          <a:p>
            <a:pPr marL="12700">
              <a:lnSpc>
                <a:spcPct val="100000"/>
              </a:lnSpc>
              <a:spcBef>
                <a:spcPts val="100"/>
              </a:spcBef>
            </a:pPr>
            <a:r>
              <a:rPr dirty="0" sz="2000" spc="-10">
                <a:solidFill>
                  <a:srgbClr val="40458B"/>
                </a:solidFill>
                <a:latin typeface="Tahoma"/>
                <a:cs typeface="Tahoma"/>
              </a:rPr>
              <a:t>32bit</a:t>
            </a:r>
            <a:endParaRPr sz="2000">
              <a:latin typeface="Tahoma"/>
              <a:cs typeface="Tahoma"/>
            </a:endParaRPr>
          </a:p>
        </p:txBody>
      </p:sp>
      <p:sp>
        <p:nvSpPr>
          <p:cNvPr id="16" name="object 16" descr=""/>
          <p:cNvSpPr txBox="1"/>
          <p:nvPr/>
        </p:nvSpPr>
        <p:spPr>
          <a:xfrm>
            <a:off x="6094603" y="4352290"/>
            <a:ext cx="586740" cy="330835"/>
          </a:xfrm>
          <a:prstGeom prst="rect">
            <a:avLst/>
          </a:prstGeom>
        </p:spPr>
        <p:txBody>
          <a:bodyPr wrap="square" lIns="0" tIns="12700" rIns="0" bIns="0" rtlCol="0" vert="horz">
            <a:spAutoFit/>
          </a:bodyPr>
          <a:lstStyle/>
          <a:p>
            <a:pPr marL="12700">
              <a:lnSpc>
                <a:spcPct val="100000"/>
              </a:lnSpc>
              <a:spcBef>
                <a:spcPts val="100"/>
              </a:spcBef>
            </a:pPr>
            <a:r>
              <a:rPr dirty="0" sz="2000" spc="-10">
                <a:solidFill>
                  <a:srgbClr val="40458B"/>
                </a:solidFill>
                <a:latin typeface="Tahoma"/>
                <a:cs typeface="Tahoma"/>
              </a:rPr>
              <a:t>32bit</a:t>
            </a:r>
            <a:endParaRPr sz="2000">
              <a:latin typeface="Tahoma"/>
              <a:cs typeface="Tahom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43/89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728268" y="728294"/>
            <a:ext cx="11078210" cy="5709285"/>
          </a:xfrm>
          <a:prstGeom prst="rect">
            <a:avLst/>
          </a:prstGeom>
        </p:spPr>
        <p:txBody>
          <a:bodyPr wrap="square" lIns="0" tIns="12700" rIns="0" bIns="0" rtlCol="0" vert="horz">
            <a:spAutoFit/>
          </a:bodyPr>
          <a:lstStyle/>
          <a:p>
            <a:pPr marL="1320800">
              <a:lnSpc>
                <a:spcPct val="100000"/>
              </a:lnSpc>
              <a:spcBef>
                <a:spcPts val="100"/>
              </a:spcBef>
              <a:tabLst>
                <a:tab pos="1776095" algn="l"/>
              </a:tabLst>
            </a:pPr>
            <a:r>
              <a:rPr dirty="0" sz="2400" spc="-25">
                <a:solidFill>
                  <a:srgbClr val="40458B"/>
                </a:solidFill>
                <a:latin typeface="Tahoma"/>
                <a:cs typeface="Tahoma"/>
              </a:rPr>
              <a:t>2.</a:t>
            </a:r>
            <a:r>
              <a:rPr dirty="0" sz="2400">
                <a:solidFill>
                  <a:srgbClr val="40458B"/>
                </a:solidFill>
                <a:latin typeface="Tahoma"/>
                <a:cs typeface="Tahoma"/>
              </a:rPr>
              <a:t>	</a:t>
            </a:r>
            <a:r>
              <a:rPr dirty="0" sz="2400" spc="-20">
                <a:solidFill>
                  <a:srgbClr val="E14B04"/>
                </a:solidFill>
                <a:latin typeface="黑体"/>
                <a:cs typeface="黑体"/>
              </a:rPr>
              <a:t>实例分析</a:t>
            </a:r>
            <a:endParaRPr sz="2400">
              <a:latin typeface="黑体"/>
              <a:cs typeface="黑体"/>
            </a:endParaRPr>
          </a:p>
          <a:p>
            <a:pPr algn="just" marL="12700" marR="102870" indent="685165">
              <a:lnSpc>
                <a:spcPct val="120000"/>
              </a:lnSpc>
              <a:spcBef>
                <a:spcPts val="2150"/>
              </a:spcBef>
            </a:pPr>
            <a:r>
              <a:rPr dirty="0" sz="2400" spc="-20" b="1">
                <a:solidFill>
                  <a:srgbClr val="E14B04"/>
                </a:solidFill>
                <a:latin typeface="宋体"/>
                <a:cs typeface="宋体"/>
              </a:rPr>
              <a:t>例</a:t>
            </a:r>
            <a:r>
              <a:rPr dirty="0" sz="2400" b="1">
                <a:solidFill>
                  <a:srgbClr val="E14B04"/>
                </a:solidFill>
                <a:latin typeface="Times New Roman"/>
                <a:cs typeface="Times New Roman"/>
              </a:rPr>
              <a:t>6.3 </a:t>
            </a:r>
            <a:r>
              <a:rPr dirty="0" sz="2400" spc="-20" b="1">
                <a:latin typeface="宋体"/>
                <a:cs typeface="宋体"/>
              </a:rPr>
              <a:t>假设某</a:t>
            </a:r>
            <a:r>
              <a:rPr dirty="0" sz="2400" spc="-25" b="1">
                <a:latin typeface="Times New Roman"/>
                <a:cs typeface="Times New Roman"/>
              </a:rPr>
              <a:t>VLIW</a:t>
            </a:r>
            <a:r>
              <a:rPr dirty="0" sz="2400" spc="-20" b="1">
                <a:latin typeface="宋体"/>
                <a:cs typeface="宋体"/>
              </a:rPr>
              <a:t>处理器每个时钟周期可以同时流出</a:t>
            </a:r>
            <a:r>
              <a:rPr dirty="0" sz="2400" b="1">
                <a:solidFill>
                  <a:srgbClr val="6600FF"/>
                </a:solidFill>
                <a:latin typeface="Times New Roman"/>
                <a:cs typeface="Times New Roman"/>
              </a:rPr>
              <a:t>5</a:t>
            </a:r>
            <a:r>
              <a:rPr dirty="0" sz="2400" spc="-20" b="1">
                <a:latin typeface="宋体"/>
                <a:cs typeface="宋体"/>
              </a:rPr>
              <a:t>个操作，包括</a:t>
            </a:r>
            <a:r>
              <a:rPr dirty="0" sz="2400" b="1">
                <a:solidFill>
                  <a:srgbClr val="6600FF"/>
                </a:solidFill>
                <a:latin typeface="Times New Roman"/>
                <a:cs typeface="Times New Roman"/>
              </a:rPr>
              <a:t>2</a:t>
            </a:r>
            <a:r>
              <a:rPr dirty="0" sz="2400" spc="-30" b="1">
                <a:latin typeface="宋体"/>
                <a:cs typeface="宋体"/>
              </a:rPr>
              <a:t>个访存</a:t>
            </a:r>
            <a:r>
              <a:rPr dirty="0" sz="2400" spc="-20" b="1">
                <a:latin typeface="宋体"/>
                <a:cs typeface="宋体"/>
              </a:rPr>
              <a:t>操作，</a:t>
            </a:r>
            <a:r>
              <a:rPr dirty="0" sz="2400" spc="-10" b="1">
                <a:solidFill>
                  <a:srgbClr val="6600FF"/>
                </a:solidFill>
                <a:latin typeface="Times New Roman"/>
                <a:cs typeface="Times New Roman"/>
              </a:rPr>
              <a:t>2</a:t>
            </a:r>
            <a:r>
              <a:rPr dirty="0" sz="2400" spc="-20" b="1">
                <a:latin typeface="宋体"/>
                <a:cs typeface="宋体"/>
              </a:rPr>
              <a:t>个浮点操作以及</a:t>
            </a:r>
            <a:r>
              <a:rPr dirty="0" sz="2400" b="1">
                <a:solidFill>
                  <a:srgbClr val="6600FF"/>
                </a:solidFill>
                <a:latin typeface="Times New Roman"/>
                <a:cs typeface="Times New Roman"/>
              </a:rPr>
              <a:t>1</a:t>
            </a:r>
            <a:r>
              <a:rPr dirty="0" sz="2400" spc="-20" b="1">
                <a:latin typeface="宋体"/>
                <a:cs typeface="宋体"/>
              </a:rPr>
              <a:t>个整数或分支操作。将</a:t>
            </a:r>
            <a:r>
              <a:rPr dirty="0" sz="2400" spc="-20" b="1">
                <a:solidFill>
                  <a:srgbClr val="6600FF"/>
                </a:solidFill>
                <a:latin typeface="宋体"/>
                <a:cs typeface="宋体"/>
              </a:rPr>
              <a:t>例</a:t>
            </a:r>
            <a:r>
              <a:rPr dirty="0" sz="2400" b="1">
                <a:solidFill>
                  <a:srgbClr val="6600FF"/>
                </a:solidFill>
                <a:latin typeface="Times New Roman"/>
                <a:cs typeface="Times New Roman"/>
              </a:rPr>
              <a:t>6.1</a:t>
            </a:r>
            <a:r>
              <a:rPr dirty="0" sz="2400" spc="-25" b="1">
                <a:latin typeface="宋体"/>
                <a:cs typeface="宋体"/>
              </a:rPr>
              <a:t>中的代码循环展开，并调度到该</a:t>
            </a:r>
            <a:r>
              <a:rPr dirty="0" sz="2400" spc="-30" b="1">
                <a:latin typeface="Times New Roman"/>
                <a:cs typeface="Times New Roman"/>
              </a:rPr>
              <a:t>VLIW</a:t>
            </a:r>
            <a:r>
              <a:rPr dirty="0" sz="2400" spc="-30" b="1">
                <a:latin typeface="宋体"/>
                <a:cs typeface="宋体"/>
              </a:rPr>
              <a:t>处理器上执行。循环展开次数不定，但至少要能够保证消除所有流水线</a:t>
            </a:r>
            <a:r>
              <a:rPr dirty="0" sz="2400" spc="-50" b="1">
                <a:latin typeface="宋体"/>
                <a:cs typeface="宋体"/>
              </a:rPr>
              <a:t> </a:t>
            </a:r>
            <a:r>
              <a:rPr dirty="0" sz="2400" spc="-25" b="1">
                <a:latin typeface="宋体"/>
                <a:cs typeface="宋体"/>
              </a:rPr>
              <a:t>“空转”周期，同时不考虑分支延迟。</a:t>
            </a:r>
            <a:endParaRPr sz="2400">
              <a:latin typeface="宋体"/>
              <a:cs typeface="宋体"/>
            </a:endParaRPr>
          </a:p>
          <a:p>
            <a:pPr>
              <a:lnSpc>
                <a:spcPct val="100000"/>
              </a:lnSpc>
              <a:spcBef>
                <a:spcPts val="305"/>
              </a:spcBef>
            </a:pPr>
            <a:endParaRPr sz="2400">
              <a:latin typeface="宋体"/>
              <a:cs typeface="宋体"/>
            </a:endParaRPr>
          </a:p>
          <a:p>
            <a:pPr algn="just" marL="954405" marR="5080" indent="-457834">
              <a:lnSpc>
                <a:spcPct val="120000"/>
              </a:lnSpc>
              <a:spcBef>
                <a:spcPts val="5"/>
              </a:spcBef>
            </a:pPr>
            <a:r>
              <a:rPr dirty="0" sz="2400" spc="-20" b="1">
                <a:solidFill>
                  <a:srgbClr val="E14B04"/>
                </a:solidFill>
                <a:latin typeface="宋体"/>
                <a:cs typeface="宋体"/>
              </a:rPr>
              <a:t>解：</a:t>
            </a:r>
            <a:r>
              <a:rPr dirty="0" sz="2400" spc="-20" b="1">
                <a:latin typeface="宋体"/>
                <a:cs typeface="宋体"/>
              </a:rPr>
              <a:t>循环被展开</a:t>
            </a:r>
            <a:r>
              <a:rPr dirty="0" sz="2400" b="1">
                <a:latin typeface="Times New Roman"/>
                <a:cs typeface="Times New Roman"/>
              </a:rPr>
              <a:t>7</a:t>
            </a:r>
            <a:r>
              <a:rPr dirty="0" sz="2400" spc="-25" b="1">
                <a:latin typeface="宋体"/>
                <a:cs typeface="宋体"/>
              </a:rPr>
              <a:t>次，经调度后可以消除所有流水线“空转”。在不考虑分支延迟的情况下，每执行一个迭代需要</a:t>
            </a:r>
            <a:r>
              <a:rPr dirty="0" sz="2400" spc="-10" b="1">
                <a:solidFill>
                  <a:srgbClr val="6600FF"/>
                </a:solidFill>
                <a:latin typeface="Times New Roman"/>
                <a:cs typeface="Times New Roman"/>
              </a:rPr>
              <a:t>9</a:t>
            </a:r>
            <a:r>
              <a:rPr dirty="0" sz="2400" spc="-25" b="1">
                <a:latin typeface="宋体"/>
                <a:cs typeface="宋体"/>
              </a:rPr>
              <a:t>个时钟周期，计算出</a:t>
            </a:r>
            <a:r>
              <a:rPr dirty="0" sz="2400" spc="-10" b="1">
                <a:solidFill>
                  <a:srgbClr val="6600FF"/>
                </a:solidFill>
                <a:latin typeface="Times New Roman"/>
                <a:cs typeface="Times New Roman"/>
              </a:rPr>
              <a:t>7</a:t>
            </a:r>
            <a:r>
              <a:rPr dirty="0" sz="2400" spc="-30" b="1">
                <a:latin typeface="宋体"/>
                <a:cs typeface="宋体"/>
              </a:rPr>
              <a:t>个结果，即平均每</a:t>
            </a:r>
            <a:r>
              <a:rPr dirty="0" sz="2400" spc="-20" b="1">
                <a:latin typeface="宋体"/>
                <a:cs typeface="宋体"/>
              </a:rPr>
              <a:t>得到一个结果需要</a:t>
            </a:r>
            <a:r>
              <a:rPr dirty="0" sz="2400" b="1">
                <a:solidFill>
                  <a:srgbClr val="6600FF"/>
                </a:solidFill>
                <a:latin typeface="Times New Roman"/>
                <a:cs typeface="Times New Roman"/>
              </a:rPr>
              <a:t>1.29</a:t>
            </a:r>
            <a:r>
              <a:rPr dirty="0" sz="2400" spc="-30" b="1">
                <a:latin typeface="宋体"/>
                <a:cs typeface="宋体"/>
              </a:rPr>
              <a:t>个周期。</a:t>
            </a:r>
            <a:endParaRPr sz="2400">
              <a:latin typeface="宋体"/>
              <a:cs typeface="宋体"/>
            </a:endParaRPr>
          </a:p>
          <a:p>
            <a:pPr marL="497205">
              <a:lnSpc>
                <a:spcPct val="100000"/>
              </a:lnSpc>
              <a:spcBef>
                <a:spcPts val="1150"/>
              </a:spcBef>
            </a:pPr>
            <a:r>
              <a:rPr dirty="0" sz="2400" spc="-20">
                <a:solidFill>
                  <a:srgbClr val="D50092"/>
                </a:solidFill>
                <a:latin typeface="Tahoma"/>
                <a:cs typeface="Tahoma"/>
              </a:rPr>
              <a:t>VLIW</a:t>
            </a:r>
            <a:r>
              <a:rPr dirty="0" sz="2400" spc="-15">
                <a:solidFill>
                  <a:srgbClr val="D50092"/>
                </a:solidFill>
                <a:latin typeface="宋体"/>
                <a:cs typeface="宋体"/>
              </a:rPr>
              <a:t>的不足：</a:t>
            </a:r>
            <a:endParaRPr sz="2400">
              <a:latin typeface="宋体"/>
              <a:cs typeface="宋体"/>
            </a:endParaRPr>
          </a:p>
          <a:p>
            <a:pPr marL="1239520" indent="-457200">
              <a:lnSpc>
                <a:spcPct val="100000"/>
              </a:lnSpc>
              <a:spcBef>
                <a:spcPts val="1150"/>
              </a:spcBef>
              <a:buClr>
                <a:srgbClr val="4668F5"/>
              </a:buClr>
              <a:buSzPct val="60416"/>
              <a:buFont typeface="Wingdings"/>
              <a:buChar char=""/>
              <a:tabLst>
                <a:tab pos="1239520" algn="l"/>
              </a:tabLst>
            </a:pPr>
            <a:r>
              <a:rPr dirty="0" sz="2400" spc="-25" b="1">
                <a:latin typeface="宋体"/>
                <a:cs typeface="宋体"/>
              </a:rPr>
              <a:t>编码效率仅比</a:t>
            </a:r>
            <a:r>
              <a:rPr dirty="0" sz="2400" spc="-20" b="1">
                <a:solidFill>
                  <a:srgbClr val="6600FF"/>
                </a:solidFill>
                <a:latin typeface="Times New Roman"/>
                <a:cs typeface="Times New Roman"/>
              </a:rPr>
              <a:t>50%</a:t>
            </a:r>
            <a:r>
              <a:rPr dirty="0" sz="2400" spc="-35" b="1">
                <a:latin typeface="宋体"/>
                <a:cs typeface="宋体"/>
              </a:rPr>
              <a:t>略高一些</a:t>
            </a:r>
            <a:endParaRPr sz="2400">
              <a:latin typeface="宋体"/>
              <a:cs typeface="宋体"/>
            </a:endParaRPr>
          </a:p>
          <a:p>
            <a:pPr marL="1239520" indent="-457200">
              <a:lnSpc>
                <a:spcPct val="100000"/>
              </a:lnSpc>
              <a:spcBef>
                <a:spcPts val="1155"/>
              </a:spcBef>
              <a:buClr>
                <a:srgbClr val="4668F5"/>
              </a:buClr>
              <a:buSzPct val="60416"/>
              <a:buFont typeface="Wingdings"/>
              <a:buChar char=""/>
              <a:tabLst>
                <a:tab pos="1239520" algn="l"/>
              </a:tabLst>
            </a:pPr>
            <a:r>
              <a:rPr dirty="0" sz="2400" spc="-25" b="1">
                <a:latin typeface="宋体"/>
                <a:cs typeface="宋体"/>
              </a:rPr>
              <a:t>所需要的寄存器数量也大大增加</a:t>
            </a:r>
            <a:endParaRPr sz="2400">
              <a:latin typeface="宋体"/>
              <a:cs typeface="宋体"/>
            </a:endParaRPr>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627380" algn="l"/>
                <a:tab pos="10788015" algn="l"/>
              </a:tabLst>
            </a:pPr>
            <a:r>
              <a:rPr dirty="0"/>
              <a:t>	6.3</a:t>
            </a:r>
            <a:r>
              <a:rPr dirty="0" spc="15"/>
              <a:t> </a:t>
            </a:r>
            <a:r>
              <a:rPr dirty="0"/>
              <a:t>静态多指令</a:t>
            </a:r>
            <a:r>
              <a:rPr dirty="0" spc="-15"/>
              <a:t>流</a:t>
            </a:r>
            <a:r>
              <a:rPr dirty="0" spc="-10"/>
              <a:t>出</a:t>
            </a:r>
            <a:r>
              <a:rPr dirty="0" spc="-10">
                <a:latin typeface="Arial"/>
                <a:cs typeface="Arial"/>
              </a:rPr>
              <a:t>—</a:t>
            </a:r>
            <a:r>
              <a:rPr dirty="0" spc="-15">
                <a:latin typeface="Arial"/>
                <a:cs typeface="Arial"/>
              </a:rPr>
              <a:t>—</a:t>
            </a:r>
            <a:r>
              <a:rPr dirty="0" spc="-10"/>
              <a:t>VLIW技</a:t>
            </a:r>
            <a:r>
              <a:rPr dirty="0" spc="-50"/>
              <a:t>术</a:t>
            </a:r>
            <a:r>
              <a:rPr dirty="0"/>
              <a:t>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44/89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2018157" y="108026"/>
            <a:ext cx="6127115" cy="514350"/>
          </a:xfrm>
          <a:prstGeom prst="rect"/>
        </p:spPr>
        <p:txBody>
          <a:bodyPr wrap="square" lIns="0" tIns="13335" rIns="0" bIns="0" rtlCol="0" vert="horz">
            <a:spAutoFit/>
          </a:bodyPr>
          <a:lstStyle/>
          <a:p>
            <a:pPr marL="12700">
              <a:lnSpc>
                <a:spcPct val="100000"/>
              </a:lnSpc>
              <a:spcBef>
                <a:spcPts val="105"/>
              </a:spcBef>
            </a:pPr>
            <a:r>
              <a:rPr dirty="0" u="none"/>
              <a:t>6.3</a:t>
            </a:r>
            <a:r>
              <a:rPr dirty="0" u="none" spc="-10"/>
              <a:t> 静态多指令流出</a:t>
            </a:r>
            <a:r>
              <a:rPr dirty="0" u="none" spc="-15">
                <a:latin typeface="Arial"/>
                <a:cs typeface="Arial"/>
              </a:rPr>
              <a:t>——</a:t>
            </a:r>
            <a:r>
              <a:rPr dirty="0" u="none" spc="-10"/>
              <a:t>VLIW</a:t>
            </a:r>
            <a:r>
              <a:rPr dirty="0" u="none" spc="-30"/>
              <a:t>技术</a:t>
            </a:r>
          </a:p>
        </p:txBody>
      </p:sp>
      <p:graphicFrame>
        <p:nvGraphicFramePr>
          <p:cNvPr id="10" name="object 10" descr=""/>
          <p:cNvGraphicFramePr>
            <a:graphicFrameLocks noGrp="1"/>
          </p:cNvGraphicFramePr>
          <p:nvPr/>
        </p:nvGraphicFramePr>
        <p:xfrm>
          <a:off x="1446275" y="901700"/>
          <a:ext cx="10819130" cy="5305424"/>
        </p:xfrm>
        <a:graphic>
          <a:graphicData uri="http://schemas.openxmlformats.org/drawingml/2006/table">
            <a:tbl>
              <a:tblPr firstRow="1" bandRow="1">
                <a:tableStyleId>{2D5ABB26-0587-4C30-8999-92F81FD0307C}</a:tableStyleId>
              </a:tblPr>
              <a:tblGrid>
                <a:gridCol w="107950"/>
                <a:gridCol w="2065655"/>
                <a:gridCol w="2140585"/>
                <a:gridCol w="2136775"/>
                <a:gridCol w="2140584"/>
                <a:gridCol w="1812290"/>
                <a:gridCol w="325754"/>
              </a:tblGrid>
              <a:tr h="636905">
                <a:tc gridSpan="2">
                  <a:txBody>
                    <a:bodyPr/>
                    <a:lstStyle/>
                    <a:p>
                      <a:pPr marL="629920">
                        <a:lnSpc>
                          <a:spcPct val="100000"/>
                        </a:lnSpc>
                        <a:spcBef>
                          <a:spcPts val="1485"/>
                        </a:spcBef>
                      </a:pPr>
                      <a:r>
                        <a:rPr dirty="0" sz="1600" spc="-25" b="1">
                          <a:solidFill>
                            <a:srgbClr val="E14B04"/>
                          </a:solidFill>
                          <a:latin typeface="微软雅黑"/>
                          <a:cs typeface="微软雅黑"/>
                        </a:rPr>
                        <a:t>访存操作</a:t>
                      </a:r>
                      <a:r>
                        <a:rPr dirty="0" sz="1600" spc="-50" b="1">
                          <a:solidFill>
                            <a:srgbClr val="E14B04"/>
                          </a:solidFill>
                          <a:latin typeface="Times New Roman"/>
                          <a:cs typeface="Times New Roman"/>
                        </a:rPr>
                        <a:t>1</a:t>
                      </a:r>
                      <a:endParaRPr sz="1600">
                        <a:latin typeface="Times New Roman"/>
                        <a:cs typeface="Times New Roman"/>
                      </a:endParaRPr>
                    </a:p>
                  </a:txBody>
                  <a:tcPr marL="0" marR="0" marB="0" marT="1885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pPr/>
                    </a:p>
                  </a:txBody>
                  <a:tcPr marL="0" marR="0" marB="0" marT="0"/>
                </a:tc>
                <a:tc>
                  <a:txBody>
                    <a:bodyPr/>
                    <a:lstStyle/>
                    <a:p>
                      <a:pPr algn="ctr">
                        <a:lnSpc>
                          <a:spcPct val="100000"/>
                        </a:lnSpc>
                        <a:spcBef>
                          <a:spcPts val="1485"/>
                        </a:spcBef>
                      </a:pPr>
                      <a:r>
                        <a:rPr dirty="0" sz="1600" spc="-25" b="1">
                          <a:solidFill>
                            <a:srgbClr val="E14B04"/>
                          </a:solidFill>
                          <a:latin typeface="微软雅黑"/>
                          <a:cs typeface="微软雅黑"/>
                        </a:rPr>
                        <a:t>访存操作</a:t>
                      </a:r>
                      <a:r>
                        <a:rPr dirty="0" sz="1600" spc="-50" b="1">
                          <a:solidFill>
                            <a:srgbClr val="E14B04"/>
                          </a:solidFill>
                          <a:latin typeface="Times New Roman"/>
                          <a:cs typeface="Times New Roman"/>
                        </a:rPr>
                        <a:t>2</a:t>
                      </a:r>
                      <a:endParaRPr sz="1600">
                        <a:latin typeface="Times New Roman"/>
                        <a:cs typeface="Times New Roman"/>
                      </a:endParaRPr>
                    </a:p>
                  </a:txBody>
                  <a:tcPr marL="0" marR="0" marB="0" marT="1885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485"/>
                        </a:spcBef>
                      </a:pPr>
                      <a:r>
                        <a:rPr dirty="0" sz="1600" spc="-25" b="1">
                          <a:solidFill>
                            <a:srgbClr val="E14B04"/>
                          </a:solidFill>
                          <a:latin typeface="微软雅黑"/>
                          <a:cs typeface="微软雅黑"/>
                        </a:rPr>
                        <a:t>浮点操作</a:t>
                      </a:r>
                      <a:r>
                        <a:rPr dirty="0" sz="1600" spc="-50" b="1">
                          <a:solidFill>
                            <a:srgbClr val="E14B04"/>
                          </a:solidFill>
                          <a:latin typeface="Times New Roman"/>
                          <a:cs typeface="Times New Roman"/>
                        </a:rPr>
                        <a:t>1</a:t>
                      </a:r>
                      <a:endParaRPr sz="1600">
                        <a:latin typeface="Times New Roman"/>
                        <a:cs typeface="Times New Roman"/>
                      </a:endParaRPr>
                    </a:p>
                  </a:txBody>
                  <a:tcPr marL="0" marR="0" marB="0" marT="1885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485"/>
                        </a:spcBef>
                      </a:pPr>
                      <a:r>
                        <a:rPr dirty="0" sz="1600" spc="-25" b="1">
                          <a:solidFill>
                            <a:srgbClr val="E14B04"/>
                          </a:solidFill>
                          <a:latin typeface="微软雅黑"/>
                          <a:cs typeface="微软雅黑"/>
                        </a:rPr>
                        <a:t>浮点操作</a:t>
                      </a:r>
                      <a:r>
                        <a:rPr dirty="0" sz="1600" spc="-50" b="1">
                          <a:solidFill>
                            <a:srgbClr val="E14B04"/>
                          </a:solidFill>
                          <a:latin typeface="Times New Roman"/>
                          <a:cs typeface="Times New Roman"/>
                        </a:rPr>
                        <a:t>2</a:t>
                      </a:r>
                      <a:endParaRPr sz="1600">
                        <a:latin typeface="Times New Roman"/>
                        <a:cs typeface="Times New Roman"/>
                      </a:endParaRPr>
                    </a:p>
                  </a:txBody>
                  <a:tcPr marL="0" marR="0" marB="0" marT="1885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marL="460375">
                        <a:lnSpc>
                          <a:spcPct val="100000"/>
                        </a:lnSpc>
                        <a:spcBef>
                          <a:spcPts val="1485"/>
                        </a:spcBef>
                      </a:pPr>
                      <a:r>
                        <a:rPr dirty="0" sz="1600" spc="-30" b="1">
                          <a:solidFill>
                            <a:srgbClr val="E14B04"/>
                          </a:solidFill>
                          <a:latin typeface="微软雅黑"/>
                          <a:cs typeface="微软雅黑"/>
                        </a:rPr>
                        <a:t>整数分支操作</a:t>
                      </a:r>
                      <a:endParaRPr sz="1600">
                        <a:latin typeface="微软雅黑"/>
                        <a:cs typeface="微软雅黑"/>
                      </a:endParaRPr>
                    </a:p>
                  </a:txBody>
                  <a:tcPr marL="0" marR="0" marB="0" marT="1885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pPr/>
                    </a:p>
                  </a:txBody>
                  <a:tcPr marL="0" marR="0" marB="0" marT="0"/>
                </a:tc>
              </a:tr>
              <a:tr h="83185">
                <a:tc gridSpan="2">
                  <a:txBody>
                    <a:bodyPr/>
                    <a:lstStyle/>
                    <a:p>
                      <a:pPr>
                        <a:lnSpc>
                          <a:spcPct val="100000"/>
                        </a:lnSpc>
                      </a:pPr>
                      <a:endParaRPr sz="4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tcPr>
                </a:tc>
                <a:tc hMerge="1">
                  <a:txBody>
                    <a:bodyPr/>
                    <a:lstStyle/>
                    <a:p>
                      <a:pPr/>
                    </a:p>
                  </a:txBody>
                  <a:tcPr marL="0" marR="0" marB="0" marT="0"/>
                </a:tc>
                <a:tc>
                  <a:txBody>
                    <a:bodyPr/>
                    <a:lstStyle/>
                    <a:p>
                      <a:pPr>
                        <a:lnSpc>
                          <a:spcPct val="100000"/>
                        </a:lnSpc>
                      </a:pPr>
                      <a:endParaRPr sz="4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9050">
                      <a:solidFill>
                        <a:srgbClr val="FF0000"/>
                      </a:solidFill>
                      <a:prstDash val="sysDash"/>
                    </a:lnB>
                  </a:tcPr>
                </a:tc>
                <a:tc>
                  <a:txBody>
                    <a:bodyPr/>
                    <a:lstStyle/>
                    <a:p>
                      <a:pPr>
                        <a:lnSpc>
                          <a:spcPct val="100000"/>
                        </a:lnSpc>
                      </a:pPr>
                      <a:endParaRPr sz="4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9050">
                      <a:solidFill>
                        <a:srgbClr val="FF0000"/>
                      </a:solidFill>
                      <a:prstDash val="sysDash"/>
                    </a:lnB>
                  </a:tcPr>
                </a:tc>
                <a:tc>
                  <a:txBody>
                    <a:bodyPr/>
                    <a:lstStyle/>
                    <a:p>
                      <a:pPr>
                        <a:lnSpc>
                          <a:spcPct val="100000"/>
                        </a:lnSpc>
                      </a:pPr>
                      <a:endParaRPr sz="4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9050">
                      <a:solidFill>
                        <a:srgbClr val="FF0000"/>
                      </a:solidFill>
                      <a:prstDash val="sysDash"/>
                    </a:lnB>
                  </a:tcPr>
                </a:tc>
                <a:tc gridSpan="2">
                  <a:txBody>
                    <a:bodyPr/>
                    <a:lstStyle/>
                    <a:p>
                      <a:pPr>
                        <a:lnSpc>
                          <a:spcPct val="100000"/>
                        </a:lnSpc>
                      </a:pPr>
                      <a:endParaRPr sz="4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tcPr>
                </a:tc>
                <a:tc hMerge="1">
                  <a:txBody>
                    <a:bodyPr/>
                    <a:lstStyle/>
                    <a:p>
                      <a:pPr/>
                    </a:p>
                  </a:txBody>
                  <a:tcPr marL="0" marR="0" marB="0" marT="0"/>
                </a:tc>
              </a:tr>
              <a:tr h="287020">
                <a:tc>
                  <a:txBody>
                    <a:bodyPr/>
                    <a:lstStyle/>
                    <a:p>
                      <a:pPr>
                        <a:lnSpc>
                          <a:spcPct val="100000"/>
                        </a:lnSpc>
                      </a:pPr>
                      <a:endParaRPr sz="1300">
                        <a:latin typeface="Times New Roman"/>
                        <a:cs typeface="Times New Roman"/>
                      </a:endParaRPr>
                    </a:p>
                  </a:txBody>
                  <a:tcPr marL="0" marR="0" marB="0" marT="0">
                    <a:lnL w="12700">
                      <a:solidFill>
                        <a:srgbClr val="000000"/>
                      </a:solidFill>
                      <a:prstDash val="solid"/>
                    </a:lnL>
                    <a:lnR w="19050">
                      <a:solidFill>
                        <a:srgbClr val="FF0000"/>
                      </a:solidFill>
                      <a:prstDash val="sysDash"/>
                    </a:lnR>
                  </a:tcPr>
                </a:tc>
                <a:tc>
                  <a:txBody>
                    <a:bodyPr/>
                    <a:lstStyle/>
                    <a:p>
                      <a:pPr marL="391160">
                        <a:lnSpc>
                          <a:spcPct val="100000"/>
                        </a:lnSpc>
                        <a:spcBef>
                          <a:spcPts val="620"/>
                        </a:spcBef>
                      </a:pPr>
                      <a:r>
                        <a:rPr dirty="0" sz="1200" b="1">
                          <a:latin typeface="Times New Roman"/>
                          <a:cs typeface="Times New Roman"/>
                        </a:rPr>
                        <a:t>L.D</a:t>
                      </a:r>
                      <a:r>
                        <a:rPr dirty="0" sz="1200" spc="-10" b="1">
                          <a:latin typeface="Times New Roman"/>
                          <a:cs typeface="Times New Roman"/>
                        </a:rPr>
                        <a:t> F0</a:t>
                      </a:r>
                      <a:r>
                        <a:rPr dirty="0" sz="1200" spc="-10" b="1">
                          <a:latin typeface="微软雅黑"/>
                          <a:cs typeface="微软雅黑"/>
                        </a:rPr>
                        <a:t>，</a:t>
                      </a:r>
                      <a:r>
                        <a:rPr dirty="0" sz="1200" spc="-10" b="1">
                          <a:latin typeface="Times New Roman"/>
                          <a:cs typeface="Times New Roman"/>
                        </a:rPr>
                        <a:t>0</a:t>
                      </a:r>
                      <a:r>
                        <a:rPr dirty="0" sz="1200" spc="-10" b="1">
                          <a:latin typeface="微软雅黑"/>
                          <a:cs typeface="微软雅黑"/>
                        </a:rPr>
                        <a:t>（</a:t>
                      </a:r>
                      <a:r>
                        <a:rPr dirty="0" sz="1200" spc="-10" b="1">
                          <a:latin typeface="Times New Roman"/>
                          <a:cs typeface="Times New Roman"/>
                        </a:rPr>
                        <a:t>R1</a:t>
                      </a:r>
                      <a:r>
                        <a:rPr dirty="0" sz="1200" spc="-10" b="1">
                          <a:latin typeface="微软雅黑"/>
                          <a:cs typeface="微软雅黑"/>
                        </a:rPr>
                        <a:t>）</a:t>
                      </a:r>
                      <a:endParaRPr sz="1200">
                        <a:latin typeface="微软雅黑"/>
                        <a:cs typeface="微软雅黑"/>
                      </a:endParaRPr>
                    </a:p>
                  </a:txBody>
                  <a:tcPr marL="0" marR="0" marB="0" marT="78740">
                    <a:lnL w="19050">
                      <a:solidFill>
                        <a:srgbClr val="FF0000"/>
                      </a:solidFill>
                      <a:prstDash val="sysDash"/>
                    </a:lnL>
                    <a:lnR w="12700">
                      <a:solidFill>
                        <a:srgbClr val="000000"/>
                      </a:solidFill>
                      <a:prstDash val="solid"/>
                    </a:lnR>
                    <a:lnT w="19050">
                      <a:solidFill>
                        <a:srgbClr val="FF0000"/>
                      </a:solidFill>
                      <a:prstDash val="sysDash"/>
                    </a:lnT>
                    <a:lnB w="19050">
                      <a:solidFill>
                        <a:srgbClr val="FF0000"/>
                      </a:solidFill>
                      <a:prstDash val="sysDash"/>
                    </a:lnB>
                  </a:tcPr>
                </a:tc>
                <a:tc>
                  <a:txBody>
                    <a:bodyPr/>
                    <a:lstStyle/>
                    <a:p>
                      <a:pPr marL="457834">
                        <a:lnSpc>
                          <a:spcPct val="100000"/>
                        </a:lnSpc>
                        <a:spcBef>
                          <a:spcPts val="620"/>
                        </a:spcBef>
                      </a:pPr>
                      <a:r>
                        <a:rPr dirty="0" sz="1200" b="1">
                          <a:latin typeface="Times New Roman"/>
                          <a:cs typeface="Times New Roman"/>
                        </a:rPr>
                        <a:t>L.D</a:t>
                      </a:r>
                      <a:r>
                        <a:rPr dirty="0" sz="1200" spc="-10" b="1">
                          <a:latin typeface="Times New Roman"/>
                          <a:cs typeface="Times New Roman"/>
                        </a:rPr>
                        <a:t> F6</a:t>
                      </a:r>
                      <a:r>
                        <a:rPr dirty="0" sz="1200" spc="-10" b="1">
                          <a:latin typeface="微软雅黑"/>
                          <a:cs typeface="微软雅黑"/>
                        </a:rPr>
                        <a:t>，</a:t>
                      </a:r>
                      <a:r>
                        <a:rPr dirty="0" sz="1200" spc="-10" b="1">
                          <a:latin typeface="Times New Roman"/>
                          <a:cs typeface="Times New Roman"/>
                        </a:rPr>
                        <a:t>-8</a:t>
                      </a:r>
                      <a:r>
                        <a:rPr dirty="0" sz="1200" spc="-10" b="1">
                          <a:latin typeface="微软雅黑"/>
                          <a:cs typeface="微软雅黑"/>
                        </a:rPr>
                        <a:t>（</a:t>
                      </a:r>
                      <a:r>
                        <a:rPr dirty="0" sz="1200" spc="-10" b="1">
                          <a:latin typeface="Times New Roman"/>
                          <a:cs typeface="Times New Roman"/>
                        </a:rPr>
                        <a:t>R1</a:t>
                      </a:r>
                      <a:r>
                        <a:rPr dirty="0" sz="1200" spc="-10" b="1">
                          <a:latin typeface="微软雅黑"/>
                          <a:cs typeface="微软雅黑"/>
                        </a:rPr>
                        <a:t>）</a:t>
                      </a:r>
                      <a:endParaRPr sz="1200">
                        <a:latin typeface="微软雅黑"/>
                        <a:cs typeface="微软雅黑"/>
                      </a:endParaRPr>
                    </a:p>
                  </a:txBody>
                  <a:tcPr marL="0" marR="0" marB="0" marT="78740">
                    <a:lnL w="12700">
                      <a:solidFill>
                        <a:srgbClr val="000000"/>
                      </a:solidFill>
                      <a:prstDash val="solid"/>
                    </a:lnL>
                    <a:lnR w="12700">
                      <a:solidFill>
                        <a:srgbClr val="000000"/>
                      </a:solidFill>
                      <a:prstDash val="solid"/>
                    </a:lnR>
                    <a:lnT w="19050">
                      <a:solidFill>
                        <a:srgbClr val="FF0000"/>
                      </a:solidFill>
                      <a:prstDash val="sysDash"/>
                    </a:lnT>
                    <a:lnB w="19050">
                      <a:solidFill>
                        <a:srgbClr val="FF0000"/>
                      </a:solidFill>
                      <a:prstDash val="sysDash"/>
                    </a:lnB>
                  </a:tcPr>
                </a:tc>
                <a:tc>
                  <a:txBody>
                    <a:bodyPr/>
                    <a:lstStyle/>
                    <a:p>
                      <a:pPr algn="ctr">
                        <a:lnSpc>
                          <a:spcPct val="100000"/>
                        </a:lnSpc>
                        <a:spcBef>
                          <a:spcPts val="630"/>
                        </a:spcBef>
                      </a:pPr>
                      <a:r>
                        <a:rPr dirty="0" sz="1200" spc="-25" b="1">
                          <a:latin typeface="Times New Roman"/>
                          <a:cs typeface="Times New Roman"/>
                        </a:rPr>
                        <a:t>nop</a:t>
                      </a:r>
                      <a:endParaRPr sz="1200">
                        <a:latin typeface="Times New Roman"/>
                        <a:cs typeface="Times New Roman"/>
                      </a:endParaRPr>
                    </a:p>
                  </a:txBody>
                  <a:tcPr marL="0" marR="0" marB="0" marT="80010">
                    <a:lnL w="12700">
                      <a:solidFill>
                        <a:srgbClr val="000000"/>
                      </a:solidFill>
                      <a:prstDash val="solid"/>
                    </a:lnL>
                    <a:lnR w="12700">
                      <a:solidFill>
                        <a:srgbClr val="000000"/>
                      </a:solidFill>
                      <a:prstDash val="solid"/>
                    </a:lnR>
                    <a:lnT w="19050">
                      <a:solidFill>
                        <a:srgbClr val="FF0000"/>
                      </a:solidFill>
                      <a:prstDash val="sysDash"/>
                    </a:lnT>
                    <a:lnB w="19050">
                      <a:solidFill>
                        <a:srgbClr val="FF0000"/>
                      </a:solidFill>
                      <a:prstDash val="sysDash"/>
                    </a:lnB>
                  </a:tcPr>
                </a:tc>
                <a:tc>
                  <a:txBody>
                    <a:bodyPr/>
                    <a:lstStyle/>
                    <a:p>
                      <a:pPr algn="ctr" marL="635">
                        <a:lnSpc>
                          <a:spcPct val="100000"/>
                        </a:lnSpc>
                        <a:spcBef>
                          <a:spcPts val="630"/>
                        </a:spcBef>
                      </a:pPr>
                      <a:r>
                        <a:rPr dirty="0" sz="1200" spc="-25" b="1">
                          <a:latin typeface="Times New Roman"/>
                          <a:cs typeface="Times New Roman"/>
                        </a:rPr>
                        <a:t>nop</a:t>
                      </a:r>
                      <a:endParaRPr sz="1200">
                        <a:latin typeface="Times New Roman"/>
                        <a:cs typeface="Times New Roman"/>
                      </a:endParaRPr>
                    </a:p>
                  </a:txBody>
                  <a:tcPr marL="0" marR="0" marB="0" marT="80010">
                    <a:lnL w="12700">
                      <a:solidFill>
                        <a:srgbClr val="000000"/>
                      </a:solidFill>
                      <a:prstDash val="solid"/>
                    </a:lnL>
                    <a:lnR w="12700">
                      <a:solidFill>
                        <a:srgbClr val="000000"/>
                      </a:solidFill>
                      <a:prstDash val="solid"/>
                    </a:lnR>
                    <a:lnT w="19050">
                      <a:solidFill>
                        <a:srgbClr val="FF0000"/>
                      </a:solidFill>
                      <a:prstDash val="sysDash"/>
                    </a:lnT>
                    <a:lnB w="19050">
                      <a:solidFill>
                        <a:srgbClr val="FF0000"/>
                      </a:solidFill>
                      <a:prstDash val="sysDash"/>
                    </a:lnB>
                  </a:tcPr>
                </a:tc>
                <a:tc>
                  <a:txBody>
                    <a:bodyPr/>
                    <a:lstStyle/>
                    <a:p>
                      <a:pPr algn="ctr" marL="327025">
                        <a:lnSpc>
                          <a:spcPct val="100000"/>
                        </a:lnSpc>
                        <a:spcBef>
                          <a:spcPts val="630"/>
                        </a:spcBef>
                      </a:pPr>
                      <a:r>
                        <a:rPr dirty="0" sz="1200" spc="-25" b="1">
                          <a:latin typeface="Times New Roman"/>
                          <a:cs typeface="Times New Roman"/>
                        </a:rPr>
                        <a:t>nop</a:t>
                      </a:r>
                      <a:endParaRPr sz="1200">
                        <a:latin typeface="Times New Roman"/>
                        <a:cs typeface="Times New Roman"/>
                      </a:endParaRPr>
                    </a:p>
                  </a:txBody>
                  <a:tcPr marL="0" marR="0" marB="0" marT="80010">
                    <a:lnL w="12700">
                      <a:solidFill>
                        <a:srgbClr val="000000"/>
                      </a:solidFill>
                      <a:prstDash val="solid"/>
                    </a:lnL>
                    <a:lnR w="19050">
                      <a:solidFill>
                        <a:srgbClr val="FF0000"/>
                      </a:solidFill>
                      <a:prstDash val="sysDash"/>
                    </a:lnR>
                    <a:lnT w="19050">
                      <a:solidFill>
                        <a:srgbClr val="FF0000"/>
                      </a:solidFill>
                      <a:prstDash val="sysDash"/>
                    </a:lnT>
                    <a:lnB w="19050">
                      <a:solidFill>
                        <a:srgbClr val="FF0000"/>
                      </a:solidFill>
                      <a:prstDash val="sysDash"/>
                    </a:lnB>
                  </a:tcPr>
                </a:tc>
                <a:tc>
                  <a:txBody>
                    <a:bodyPr/>
                    <a:lstStyle/>
                    <a:p>
                      <a:pPr>
                        <a:lnSpc>
                          <a:spcPct val="100000"/>
                        </a:lnSpc>
                      </a:pPr>
                      <a:endParaRPr sz="1300">
                        <a:latin typeface="Times New Roman"/>
                        <a:cs typeface="Times New Roman"/>
                      </a:endParaRPr>
                    </a:p>
                  </a:txBody>
                  <a:tcPr marL="0" marR="0" marB="0" marT="0">
                    <a:lnL w="19050">
                      <a:solidFill>
                        <a:srgbClr val="FF0000"/>
                      </a:solidFill>
                      <a:prstDash val="sysDash"/>
                    </a:lnL>
                    <a:lnR w="12700">
                      <a:solidFill>
                        <a:srgbClr val="000000"/>
                      </a:solidFill>
                      <a:prstDash val="solid"/>
                    </a:lnR>
                  </a:tcPr>
                </a:tc>
              </a:tr>
              <a:tr h="148590">
                <a:tc gridSpan="2">
                  <a:txBody>
                    <a:bodyPr/>
                    <a:lstStyle/>
                    <a:p>
                      <a:pPr>
                        <a:lnSpc>
                          <a:spcPct val="100000"/>
                        </a:lnSpc>
                      </a:pPr>
                      <a:endParaRPr sz="800">
                        <a:latin typeface="Times New Roman"/>
                        <a:cs typeface="Times New Roman"/>
                      </a:endParaRPr>
                    </a:p>
                  </a:txBody>
                  <a:tcPr marL="0" marR="0" marB="0" marT="0">
                    <a:lnL w="12700">
                      <a:solidFill>
                        <a:srgbClr val="000000"/>
                      </a:solidFill>
                      <a:prstDash val="solid"/>
                    </a:lnL>
                    <a:lnR w="12700">
                      <a:solidFill>
                        <a:srgbClr val="000000"/>
                      </a:solidFill>
                      <a:prstDash val="solid"/>
                    </a:lnR>
                    <a:lnB w="12700">
                      <a:solidFill>
                        <a:srgbClr val="000000"/>
                      </a:solidFill>
                      <a:prstDash val="solid"/>
                    </a:lnB>
                  </a:tcPr>
                </a:tc>
                <a:tc hMerge="1">
                  <a:txBody>
                    <a:bodyPr/>
                    <a:lstStyle/>
                    <a:p>
                      <a:pPr/>
                    </a:p>
                  </a:txBody>
                  <a:tcPr marL="0" marR="0" marB="0" marT="0"/>
                </a:tc>
                <a:tc>
                  <a:txBody>
                    <a:bodyPr/>
                    <a:lstStyle/>
                    <a:p>
                      <a:pPr>
                        <a:lnSpc>
                          <a:spcPct val="100000"/>
                        </a:lnSpc>
                      </a:pPr>
                      <a:endParaRPr sz="800">
                        <a:latin typeface="Times New Roman"/>
                        <a:cs typeface="Times New Roman"/>
                      </a:endParaRPr>
                    </a:p>
                  </a:txBody>
                  <a:tcPr marL="0" marR="0" marB="0" marT="0">
                    <a:lnL w="12700">
                      <a:solidFill>
                        <a:srgbClr val="000000"/>
                      </a:solidFill>
                      <a:prstDash val="solid"/>
                    </a:lnL>
                    <a:lnR w="12700">
                      <a:solidFill>
                        <a:srgbClr val="000000"/>
                      </a:solidFill>
                      <a:prstDash val="solid"/>
                    </a:lnR>
                    <a:lnT w="19050">
                      <a:solidFill>
                        <a:srgbClr val="FF0000"/>
                      </a:solidFill>
                      <a:prstDash val="sysDash"/>
                    </a:lnT>
                    <a:lnB w="1270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L w="12700">
                      <a:solidFill>
                        <a:srgbClr val="000000"/>
                      </a:solidFill>
                      <a:prstDash val="solid"/>
                    </a:lnL>
                    <a:lnR w="12700">
                      <a:solidFill>
                        <a:srgbClr val="000000"/>
                      </a:solidFill>
                      <a:prstDash val="solid"/>
                    </a:lnR>
                    <a:lnT w="19050">
                      <a:solidFill>
                        <a:srgbClr val="FF0000"/>
                      </a:solidFill>
                      <a:prstDash val="sysDash"/>
                    </a:lnT>
                    <a:lnB w="1270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L w="12700">
                      <a:solidFill>
                        <a:srgbClr val="000000"/>
                      </a:solidFill>
                      <a:prstDash val="solid"/>
                    </a:lnL>
                    <a:lnR w="12700">
                      <a:solidFill>
                        <a:srgbClr val="000000"/>
                      </a:solidFill>
                      <a:prstDash val="solid"/>
                    </a:lnR>
                    <a:lnT w="19050">
                      <a:solidFill>
                        <a:srgbClr val="FF0000"/>
                      </a:solidFill>
                      <a:prstDash val="sysDash"/>
                    </a:lnT>
                    <a:lnB w="12700">
                      <a:solidFill>
                        <a:srgbClr val="000000"/>
                      </a:solidFill>
                      <a:prstDash val="solid"/>
                    </a:lnB>
                  </a:tcPr>
                </a:tc>
                <a:tc gridSpan="2">
                  <a:txBody>
                    <a:bodyPr/>
                    <a:lstStyle/>
                    <a:p>
                      <a:pPr>
                        <a:lnSpc>
                          <a:spcPct val="100000"/>
                        </a:lnSpc>
                      </a:pPr>
                      <a:endParaRPr sz="800">
                        <a:latin typeface="Times New Roman"/>
                        <a:cs typeface="Times New Roman"/>
                      </a:endParaRPr>
                    </a:p>
                  </a:txBody>
                  <a:tcPr marL="0" marR="0" marB="0" marT="0">
                    <a:lnL w="12700">
                      <a:solidFill>
                        <a:srgbClr val="000000"/>
                      </a:solidFill>
                      <a:prstDash val="solid"/>
                    </a:lnL>
                    <a:lnR w="12700">
                      <a:solidFill>
                        <a:srgbClr val="000000"/>
                      </a:solidFill>
                      <a:prstDash val="solid"/>
                    </a:lnR>
                    <a:lnB w="12700">
                      <a:solidFill>
                        <a:srgbClr val="000000"/>
                      </a:solidFill>
                      <a:prstDash val="solid"/>
                    </a:lnB>
                  </a:tcPr>
                </a:tc>
                <a:tc hMerge="1">
                  <a:txBody>
                    <a:bodyPr/>
                    <a:lstStyle/>
                    <a:p>
                      <a:pPr/>
                    </a:p>
                  </a:txBody>
                  <a:tcPr marL="0" marR="0" marB="0" marT="0"/>
                </a:tc>
              </a:tr>
              <a:tr h="517525">
                <a:tc gridSpan="2">
                  <a:txBody>
                    <a:bodyPr/>
                    <a:lstStyle/>
                    <a:p>
                      <a:pPr marL="396875">
                        <a:lnSpc>
                          <a:spcPct val="100000"/>
                        </a:lnSpc>
                        <a:spcBef>
                          <a:spcPts val="1275"/>
                        </a:spcBef>
                      </a:pPr>
                      <a:r>
                        <a:rPr dirty="0" sz="1200" b="1">
                          <a:latin typeface="Times New Roman"/>
                          <a:cs typeface="Times New Roman"/>
                        </a:rPr>
                        <a:t>L.D </a:t>
                      </a:r>
                      <a:r>
                        <a:rPr dirty="0" sz="1200" spc="-10" b="1">
                          <a:latin typeface="Times New Roman"/>
                          <a:cs typeface="Times New Roman"/>
                        </a:rPr>
                        <a:t>F10</a:t>
                      </a:r>
                      <a:r>
                        <a:rPr dirty="0" sz="1200" spc="-10" b="1">
                          <a:latin typeface="微软雅黑"/>
                          <a:cs typeface="微软雅黑"/>
                        </a:rPr>
                        <a:t>，</a:t>
                      </a:r>
                      <a:r>
                        <a:rPr dirty="0" sz="1200" spc="-10" b="1">
                          <a:latin typeface="Times New Roman"/>
                          <a:cs typeface="Times New Roman"/>
                        </a:rPr>
                        <a:t>-16</a:t>
                      </a:r>
                      <a:r>
                        <a:rPr dirty="0" sz="1200" spc="-10" b="1">
                          <a:latin typeface="微软雅黑"/>
                          <a:cs typeface="微软雅黑"/>
                        </a:rPr>
                        <a:t>（</a:t>
                      </a:r>
                      <a:r>
                        <a:rPr dirty="0" sz="1200" spc="-10" b="1">
                          <a:latin typeface="Times New Roman"/>
                          <a:cs typeface="Times New Roman"/>
                        </a:rPr>
                        <a:t>R1</a:t>
                      </a:r>
                      <a:r>
                        <a:rPr dirty="0" sz="1200" spc="-10" b="1">
                          <a:latin typeface="微软雅黑"/>
                          <a:cs typeface="微软雅黑"/>
                        </a:rPr>
                        <a:t>）</a:t>
                      </a:r>
                      <a:endParaRPr sz="1200">
                        <a:latin typeface="微软雅黑"/>
                        <a:cs typeface="微软雅黑"/>
                      </a:endParaRPr>
                    </a:p>
                  </a:txBody>
                  <a:tcPr marL="0" marR="0" marB="0" marT="16192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pPr/>
                    </a:p>
                  </a:txBody>
                  <a:tcPr marL="0" marR="0" marB="0" marT="0"/>
                </a:tc>
                <a:tc>
                  <a:txBody>
                    <a:bodyPr/>
                    <a:lstStyle/>
                    <a:p>
                      <a:pPr marL="381635">
                        <a:lnSpc>
                          <a:spcPct val="100000"/>
                        </a:lnSpc>
                        <a:spcBef>
                          <a:spcPts val="1275"/>
                        </a:spcBef>
                      </a:pPr>
                      <a:r>
                        <a:rPr dirty="0" sz="1200" b="1">
                          <a:latin typeface="Times New Roman"/>
                          <a:cs typeface="Times New Roman"/>
                        </a:rPr>
                        <a:t>L.D </a:t>
                      </a:r>
                      <a:r>
                        <a:rPr dirty="0" sz="1200" spc="-10" b="1">
                          <a:latin typeface="Times New Roman"/>
                          <a:cs typeface="Times New Roman"/>
                        </a:rPr>
                        <a:t>F14</a:t>
                      </a:r>
                      <a:r>
                        <a:rPr dirty="0" sz="1200" spc="-10" b="1">
                          <a:latin typeface="微软雅黑"/>
                          <a:cs typeface="微软雅黑"/>
                        </a:rPr>
                        <a:t>，</a:t>
                      </a:r>
                      <a:r>
                        <a:rPr dirty="0" sz="1200" spc="-10" b="1">
                          <a:latin typeface="Times New Roman"/>
                          <a:cs typeface="Times New Roman"/>
                        </a:rPr>
                        <a:t>-24</a:t>
                      </a:r>
                      <a:r>
                        <a:rPr dirty="0" sz="1200" spc="-10" b="1">
                          <a:latin typeface="微软雅黑"/>
                          <a:cs typeface="微软雅黑"/>
                        </a:rPr>
                        <a:t>（</a:t>
                      </a:r>
                      <a:r>
                        <a:rPr dirty="0" sz="1200" spc="-10" b="1">
                          <a:latin typeface="Times New Roman"/>
                          <a:cs typeface="Times New Roman"/>
                        </a:rPr>
                        <a:t>R1</a:t>
                      </a:r>
                      <a:r>
                        <a:rPr dirty="0" sz="1200" spc="-10" b="1">
                          <a:latin typeface="微软雅黑"/>
                          <a:cs typeface="微软雅黑"/>
                        </a:rPr>
                        <a:t>）</a:t>
                      </a:r>
                      <a:endParaRPr sz="1200">
                        <a:latin typeface="微软雅黑"/>
                        <a:cs typeface="微软雅黑"/>
                      </a:endParaRPr>
                    </a:p>
                  </a:txBody>
                  <a:tcPr marL="0" marR="0" marB="0" marT="16192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285"/>
                        </a:spcBef>
                      </a:pPr>
                      <a:r>
                        <a:rPr dirty="0" sz="1200" spc="-25" b="1">
                          <a:latin typeface="Times New Roman"/>
                          <a:cs typeface="Times New Roman"/>
                        </a:rPr>
                        <a:t>nop</a:t>
                      </a:r>
                      <a:endParaRPr sz="1200">
                        <a:latin typeface="Times New Roman"/>
                        <a:cs typeface="Times New Roman"/>
                      </a:endParaRPr>
                    </a:p>
                  </a:txBody>
                  <a:tcPr marL="0" marR="0" marB="0" marT="1631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1285"/>
                        </a:spcBef>
                      </a:pPr>
                      <a:r>
                        <a:rPr dirty="0" sz="1200" spc="-25" b="1">
                          <a:latin typeface="Times New Roman"/>
                          <a:cs typeface="Times New Roman"/>
                        </a:rPr>
                        <a:t>nop</a:t>
                      </a:r>
                      <a:endParaRPr sz="1200">
                        <a:latin typeface="Times New Roman"/>
                        <a:cs typeface="Times New Roman"/>
                      </a:endParaRPr>
                    </a:p>
                  </a:txBody>
                  <a:tcPr marL="0" marR="0" marB="0" marT="1631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algn="ctr" marL="1270">
                        <a:lnSpc>
                          <a:spcPct val="100000"/>
                        </a:lnSpc>
                        <a:spcBef>
                          <a:spcPts val="1285"/>
                        </a:spcBef>
                      </a:pPr>
                      <a:r>
                        <a:rPr dirty="0" sz="1200" spc="-25" b="1">
                          <a:latin typeface="Times New Roman"/>
                          <a:cs typeface="Times New Roman"/>
                        </a:rPr>
                        <a:t>nop</a:t>
                      </a:r>
                      <a:endParaRPr sz="1200">
                        <a:latin typeface="Times New Roman"/>
                        <a:cs typeface="Times New Roman"/>
                      </a:endParaRPr>
                    </a:p>
                  </a:txBody>
                  <a:tcPr marL="0" marR="0" marB="0" marT="1631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pPr/>
                    </a:p>
                  </a:txBody>
                  <a:tcPr marL="0" marR="0" marB="0" marT="0"/>
                </a:tc>
              </a:tr>
              <a:tr h="519430">
                <a:tc gridSpan="2">
                  <a:txBody>
                    <a:bodyPr/>
                    <a:lstStyle/>
                    <a:p>
                      <a:pPr marL="396875">
                        <a:lnSpc>
                          <a:spcPct val="100000"/>
                        </a:lnSpc>
                        <a:spcBef>
                          <a:spcPts val="1285"/>
                        </a:spcBef>
                      </a:pPr>
                      <a:r>
                        <a:rPr dirty="0" sz="1200" b="1">
                          <a:latin typeface="Times New Roman"/>
                          <a:cs typeface="Times New Roman"/>
                        </a:rPr>
                        <a:t>L.D </a:t>
                      </a:r>
                      <a:r>
                        <a:rPr dirty="0" sz="1200" spc="-10" b="1">
                          <a:latin typeface="Times New Roman"/>
                          <a:cs typeface="Times New Roman"/>
                        </a:rPr>
                        <a:t>F18</a:t>
                      </a:r>
                      <a:r>
                        <a:rPr dirty="0" sz="1200" spc="-10" b="1">
                          <a:latin typeface="微软雅黑"/>
                          <a:cs typeface="微软雅黑"/>
                        </a:rPr>
                        <a:t>，</a:t>
                      </a:r>
                      <a:r>
                        <a:rPr dirty="0" sz="1200" spc="-10" b="1">
                          <a:latin typeface="Times New Roman"/>
                          <a:cs typeface="Times New Roman"/>
                        </a:rPr>
                        <a:t>-32</a:t>
                      </a:r>
                      <a:r>
                        <a:rPr dirty="0" sz="1200" spc="-10" b="1">
                          <a:latin typeface="微软雅黑"/>
                          <a:cs typeface="微软雅黑"/>
                        </a:rPr>
                        <a:t>（</a:t>
                      </a:r>
                      <a:r>
                        <a:rPr dirty="0" sz="1200" spc="-10" b="1">
                          <a:latin typeface="Times New Roman"/>
                          <a:cs typeface="Times New Roman"/>
                        </a:rPr>
                        <a:t>R1</a:t>
                      </a:r>
                      <a:r>
                        <a:rPr dirty="0" sz="1200" spc="-10" b="1">
                          <a:latin typeface="微软雅黑"/>
                          <a:cs typeface="微软雅黑"/>
                        </a:rPr>
                        <a:t>）</a:t>
                      </a:r>
                      <a:endParaRPr sz="1200">
                        <a:latin typeface="微软雅黑"/>
                        <a:cs typeface="微软雅黑"/>
                      </a:endParaRPr>
                    </a:p>
                  </a:txBody>
                  <a:tcPr marL="0" marR="0" marB="0" marT="1631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pPr/>
                    </a:p>
                  </a:txBody>
                  <a:tcPr marL="0" marR="0" marB="0" marT="0"/>
                </a:tc>
                <a:tc>
                  <a:txBody>
                    <a:bodyPr/>
                    <a:lstStyle/>
                    <a:p>
                      <a:pPr marL="381635">
                        <a:lnSpc>
                          <a:spcPct val="100000"/>
                        </a:lnSpc>
                        <a:spcBef>
                          <a:spcPts val="1285"/>
                        </a:spcBef>
                      </a:pPr>
                      <a:r>
                        <a:rPr dirty="0" sz="1200" b="1">
                          <a:latin typeface="Times New Roman"/>
                          <a:cs typeface="Times New Roman"/>
                        </a:rPr>
                        <a:t>L.D </a:t>
                      </a:r>
                      <a:r>
                        <a:rPr dirty="0" sz="1200" spc="-10" b="1">
                          <a:latin typeface="Times New Roman"/>
                          <a:cs typeface="Times New Roman"/>
                        </a:rPr>
                        <a:t>F22</a:t>
                      </a:r>
                      <a:r>
                        <a:rPr dirty="0" sz="1200" spc="-10" b="1">
                          <a:latin typeface="微软雅黑"/>
                          <a:cs typeface="微软雅黑"/>
                        </a:rPr>
                        <a:t>，</a:t>
                      </a:r>
                      <a:r>
                        <a:rPr dirty="0" sz="1200" spc="-10" b="1">
                          <a:latin typeface="Times New Roman"/>
                          <a:cs typeface="Times New Roman"/>
                        </a:rPr>
                        <a:t>-40</a:t>
                      </a:r>
                      <a:r>
                        <a:rPr dirty="0" sz="1200" spc="-10" b="1">
                          <a:latin typeface="微软雅黑"/>
                          <a:cs typeface="微软雅黑"/>
                        </a:rPr>
                        <a:t>（</a:t>
                      </a:r>
                      <a:r>
                        <a:rPr dirty="0" sz="1200" spc="-10" b="1">
                          <a:latin typeface="Times New Roman"/>
                          <a:cs typeface="Times New Roman"/>
                        </a:rPr>
                        <a:t>R1</a:t>
                      </a:r>
                      <a:r>
                        <a:rPr dirty="0" sz="1200" spc="-10" b="1">
                          <a:latin typeface="微软雅黑"/>
                          <a:cs typeface="微软雅黑"/>
                        </a:rPr>
                        <a:t>）</a:t>
                      </a:r>
                      <a:endParaRPr sz="1200">
                        <a:latin typeface="微软雅黑"/>
                        <a:cs typeface="微软雅黑"/>
                      </a:endParaRPr>
                    </a:p>
                  </a:txBody>
                  <a:tcPr marL="0" marR="0" marB="0" marT="1631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285"/>
                        </a:spcBef>
                      </a:pPr>
                      <a:r>
                        <a:rPr dirty="0" sz="1200" b="1">
                          <a:latin typeface="Times New Roman"/>
                          <a:cs typeface="Times New Roman"/>
                        </a:rPr>
                        <a:t>ADD.D</a:t>
                      </a:r>
                      <a:r>
                        <a:rPr dirty="0" sz="1200" spc="-40" b="1">
                          <a:latin typeface="Times New Roman"/>
                          <a:cs typeface="Times New Roman"/>
                        </a:rPr>
                        <a:t> </a:t>
                      </a:r>
                      <a:r>
                        <a:rPr dirty="0" sz="1200" spc="-10" b="1">
                          <a:latin typeface="Times New Roman"/>
                          <a:cs typeface="Times New Roman"/>
                        </a:rPr>
                        <a:t>F4</a:t>
                      </a:r>
                      <a:r>
                        <a:rPr dirty="0" sz="1200" spc="-10" b="1">
                          <a:latin typeface="微软雅黑"/>
                          <a:cs typeface="微软雅黑"/>
                        </a:rPr>
                        <a:t>，</a:t>
                      </a:r>
                      <a:r>
                        <a:rPr dirty="0" sz="1200" spc="-10" b="1">
                          <a:latin typeface="Times New Roman"/>
                          <a:cs typeface="Times New Roman"/>
                        </a:rPr>
                        <a:t>F0</a:t>
                      </a:r>
                      <a:r>
                        <a:rPr dirty="0" sz="1200" spc="-10" b="1">
                          <a:latin typeface="微软雅黑"/>
                          <a:cs typeface="微软雅黑"/>
                        </a:rPr>
                        <a:t>，</a:t>
                      </a:r>
                      <a:r>
                        <a:rPr dirty="0" sz="1200" spc="-10" b="1">
                          <a:latin typeface="Times New Roman"/>
                          <a:cs typeface="Times New Roman"/>
                        </a:rPr>
                        <a:t>F2</a:t>
                      </a:r>
                      <a:endParaRPr sz="1200">
                        <a:latin typeface="Times New Roman"/>
                        <a:cs typeface="Times New Roman"/>
                      </a:endParaRPr>
                    </a:p>
                  </a:txBody>
                  <a:tcPr marL="0" marR="0" marB="0" marT="1631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285"/>
                        </a:spcBef>
                      </a:pPr>
                      <a:r>
                        <a:rPr dirty="0" sz="1200" b="1">
                          <a:latin typeface="Times New Roman"/>
                          <a:cs typeface="Times New Roman"/>
                        </a:rPr>
                        <a:t>ADD.D</a:t>
                      </a:r>
                      <a:r>
                        <a:rPr dirty="0" sz="1200" spc="-40" b="1">
                          <a:latin typeface="Times New Roman"/>
                          <a:cs typeface="Times New Roman"/>
                        </a:rPr>
                        <a:t> </a:t>
                      </a:r>
                      <a:r>
                        <a:rPr dirty="0" sz="1200" spc="-10" b="1">
                          <a:latin typeface="Times New Roman"/>
                          <a:cs typeface="Times New Roman"/>
                        </a:rPr>
                        <a:t>F8</a:t>
                      </a:r>
                      <a:r>
                        <a:rPr dirty="0" sz="1200" spc="-10" b="1">
                          <a:latin typeface="微软雅黑"/>
                          <a:cs typeface="微软雅黑"/>
                        </a:rPr>
                        <a:t>，</a:t>
                      </a:r>
                      <a:r>
                        <a:rPr dirty="0" sz="1200" spc="-10" b="1">
                          <a:latin typeface="Times New Roman"/>
                          <a:cs typeface="Times New Roman"/>
                        </a:rPr>
                        <a:t>F6</a:t>
                      </a:r>
                      <a:r>
                        <a:rPr dirty="0" sz="1200" spc="-10" b="1">
                          <a:latin typeface="微软雅黑"/>
                          <a:cs typeface="微软雅黑"/>
                        </a:rPr>
                        <a:t>，</a:t>
                      </a:r>
                      <a:r>
                        <a:rPr dirty="0" sz="1200" spc="-10" b="1">
                          <a:latin typeface="Times New Roman"/>
                          <a:cs typeface="Times New Roman"/>
                        </a:rPr>
                        <a:t>F2</a:t>
                      </a:r>
                      <a:endParaRPr sz="1200">
                        <a:latin typeface="Times New Roman"/>
                        <a:cs typeface="Times New Roman"/>
                      </a:endParaRPr>
                    </a:p>
                  </a:txBody>
                  <a:tcPr marL="0" marR="0" marB="0" marT="1631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algn="ctr" marL="1270">
                        <a:lnSpc>
                          <a:spcPct val="100000"/>
                        </a:lnSpc>
                        <a:spcBef>
                          <a:spcPts val="1295"/>
                        </a:spcBef>
                      </a:pPr>
                      <a:r>
                        <a:rPr dirty="0" sz="1200" spc="-25" b="1">
                          <a:latin typeface="Times New Roman"/>
                          <a:cs typeface="Times New Roman"/>
                        </a:rPr>
                        <a:t>nop</a:t>
                      </a:r>
                      <a:endParaRPr sz="1200">
                        <a:latin typeface="Times New Roman"/>
                        <a:cs typeface="Times New Roman"/>
                      </a:endParaRPr>
                    </a:p>
                  </a:txBody>
                  <a:tcPr marL="0" marR="0" marB="0" marT="16446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pPr/>
                    </a:p>
                  </a:txBody>
                  <a:tcPr marL="0" marR="0" marB="0" marT="0"/>
                </a:tc>
              </a:tr>
              <a:tr h="519430">
                <a:tc gridSpan="2">
                  <a:txBody>
                    <a:bodyPr/>
                    <a:lstStyle/>
                    <a:p>
                      <a:pPr marL="396875">
                        <a:lnSpc>
                          <a:spcPct val="100000"/>
                        </a:lnSpc>
                        <a:spcBef>
                          <a:spcPts val="1285"/>
                        </a:spcBef>
                      </a:pPr>
                      <a:r>
                        <a:rPr dirty="0" sz="1200" b="1">
                          <a:latin typeface="Times New Roman"/>
                          <a:cs typeface="Times New Roman"/>
                        </a:rPr>
                        <a:t>L.D </a:t>
                      </a:r>
                      <a:r>
                        <a:rPr dirty="0" sz="1200" spc="-10" b="1">
                          <a:latin typeface="Times New Roman"/>
                          <a:cs typeface="Times New Roman"/>
                        </a:rPr>
                        <a:t>F26</a:t>
                      </a:r>
                      <a:r>
                        <a:rPr dirty="0" sz="1200" spc="-10" b="1">
                          <a:latin typeface="微软雅黑"/>
                          <a:cs typeface="微软雅黑"/>
                        </a:rPr>
                        <a:t>，</a:t>
                      </a:r>
                      <a:r>
                        <a:rPr dirty="0" sz="1200" spc="-10" b="1">
                          <a:latin typeface="Times New Roman"/>
                          <a:cs typeface="Times New Roman"/>
                        </a:rPr>
                        <a:t>-48</a:t>
                      </a:r>
                      <a:r>
                        <a:rPr dirty="0" sz="1200" spc="-10" b="1">
                          <a:latin typeface="微软雅黑"/>
                          <a:cs typeface="微软雅黑"/>
                        </a:rPr>
                        <a:t>（</a:t>
                      </a:r>
                      <a:r>
                        <a:rPr dirty="0" sz="1200" spc="-10" b="1">
                          <a:latin typeface="Times New Roman"/>
                          <a:cs typeface="Times New Roman"/>
                        </a:rPr>
                        <a:t>R1</a:t>
                      </a:r>
                      <a:r>
                        <a:rPr dirty="0" sz="1200" spc="-10" b="1">
                          <a:latin typeface="微软雅黑"/>
                          <a:cs typeface="微软雅黑"/>
                        </a:rPr>
                        <a:t>）</a:t>
                      </a:r>
                      <a:endParaRPr sz="1200">
                        <a:latin typeface="微软雅黑"/>
                        <a:cs typeface="微软雅黑"/>
                      </a:endParaRPr>
                    </a:p>
                  </a:txBody>
                  <a:tcPr marL="0" marR="0" marB="0" marT="1631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pPr/>
                    </a:p>
                  </a:txBody>
                  <a:tcPr marL="0" marR="0" marB="0" marT="0"/>
                </a:tc>
                <a:tc>
                  <a:txBody>
                    <a:bodyPr/>
                    <a:lstStyle/>
                    <a:p>
                      <a:pPr algn="ctr">
                        <a:lnSpc>
                          <a:spcPct val="100000"/>
                        </a:lnSpc>
                        <a:spcBef>
                          <a:spcPts val="1295"/>
                        </a:spcBef>
                      </a:pPr>
                      <a:r>
                        <a:rPr dirty="0" sz="1200" spc="-25" b="1">
                          <a:latin typeface="Times New Roman"/>
                          <a:cs typeface="Times New Roman"/>
                        </a:rPr>
                        <a:t>nop</a:t>
                      </a:r>
                      <a:endParaRPr sz="1200">
                        <a:latin typeface="Times New Roman"/>
                        <a:cs typeface="Times New Roman"/>
                      </a:endParaRPr>
                    </a:p>
                  </a:txBody>
                  <a:tcPr marL="0" marR="0" marB="0" marT="16446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285"/>
                        </a:spcBef>
                      </a:pPr>
                      <a:r>
                        <a:rPr dirty="0" sz="1200" b="1">
                          <a:latin typeface="Times New Roman"/>
                          <a:cs typeface="Times New Roman"/>
                        </a:rPr>
                        <a:t>ADD.D</a:t>
                      </a:r>
                      <a:r>
                        <a:rPr dirty="0" sz="1200" spc="-40" b="1">
                          <a:latin typeface="Times New Roman"/>
                          <a:cs typeface="Times New Roman"/>
                        </a:rPr>
                        <a:t> </a:t>
                      </a:r>
                      <a:r>
                        <a:rPr dirty="0" sz="1200" spc="-10" b="1">
                          <a:latin typeface="Times New Roman"/>
                          <a:cs typeface="Times New Roman"/>
                        </a:rPr>
                        <a:t>F12</a:t>
                      </a:r>
                      <a:r>
                        <a:rPr dirty="0" sz="1200" spc="-10" b="1">
                          <a:latin typeface="微软雅黑"/>
                          <a:cs typeface="微软雅黑"/>
                        </a:rPr>
                        <a:t>，</a:t>
                      </a:r>
                      <a:r>
                        <a:rPr dirty="0" sz="1200" spc="-10" b="1">
                          <a:latin typeface="Times New Roman"/>
                          <a:cs typeface="Times New Roman"/>
                        </a:rPr>
                        <a:t>F10</a:t>
                      </a:r>
                      <a:r>
                        <a:rPr dirty="0" sz="1200" spc="-10" b="1">
                          <a:latin typeface="微软雅黑"/>
                          <a:cs typeface="微软雅黑"/>
                        </a:rPr>
                        <a:t>，</a:t>
                      </a:r>
                      <a:r>
                        <a:rPr dirty="0" sz="1200" spc="-10" b="1">
                          <a:latin typeface="Times New Roman"/>
                          <a:cs typeface="Times New Roman"/>
                        </a:rPr>
                        <a:t>F2</a:t>
                      </a:r>
                      <a:endParaRPr sz="1200">
                        <a:latin typeface="Times New Roman"/>
                        <a:cs typeface="Times New Roman"/>
                      </a:endParaRPr>
                    </a:p>
                  </a:txBody>
                  <a:tcPr marL="0" marR="0" marB="0" marT="1631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285"/>
                        </a:spcBef>
                      </a:pPr>
                      <a:r>
                        <a:rPr dirty="0" sz="1200" b="1">
                          <a:latin typeface="Times New Roman"/>
                          <a:cs typeface="Times New Roman"/>
                        </a:rPr>
                        <a:t>ADD.D</a:t>
                      </a:r>
                      <a:r>
                        <a:rPr dirty="0" sz="1200" spc="-40" b="1">
                          <a:latin typeface="Times New Roman"/>
                          <a:cs typeface="Times New Roman"/>
                        </a:rPr>
                        <a:t> </a:t>
                      </a:r>
                      <a:r>
                        <a:rPr dirty="0" sz="1200" spc="-10" b="1">
                          <a:latin typeface="Times New Roman"/>
                          <a:cs typeface="Times New Roman"/>
                        </a:rPr>
                        <a:t>F16</a:t>
                      </a:r>
                      <a:r>
                        <a:rPr dirty="0" sz="1200" spc="-10" b="1">
                          <a:latin typeface="微软雅黑"/>
                          <a:cs typeface="微软雅黑"/>
                        </a:rPr>
                        <a:t>，</a:t>
                      </a:r>
                      <a:r>
                        <a:rPr dirty="0" sz="1200" spc="-10" b="1">
                          <a:latin typeface="Times New Roman"/>
                          <a:cs typeface="Times New Roman"/>
                        </a:rPr>
                        <a:t>F14</a:t>
                      </a:r>
                      <a:r>
                        <a:rPr dirty="0" sz="1200" spc="-10" b="1">
                          <a:latin typeface="微软雅黑"/>
                          <a:cs typeface="微软雅黑"/>
                        </a:rPr>
                        <a:t>，</a:t>
                      </a:r>
                      <a:r>
                        <a:rPr dirty="0" sz="1200" spc="-10" b="1">
                          <a:latin typeface="Times New Roman"/>
                          <a:cs typeface="Times New Roman"/>
                        </a:rPr>
                        <a:t>F2</a:t>
                      </a:r>
                      <a:endParaRPr sz="1200">
                        <a:latin typeface="Times New Roman"/>
                        <a:cs typeface="Times New Roman"/>
                      </a:endParaRPr>
                    </a:p>
                  </a:txBody>
                  <a:tcPr marL="0" marR="0" marB="0" marT="1631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algn="ctr" marL="1270">
                        <a:lnSpc>
                          <a:spcPct val="100000"/>
                        </a:lnSpc>
                        <a:spcBef>
                          <a:spcPts val="1295"/>
                        </a:spcBef>
                      </a:pPr>
                      <a:r>
                        <a:rPr dirty="0" sz="1200" spc="-25" b="1">
                          <a:latin typeface="Times New Roman"/>
                          <a:cs typeface="Times New Roman"/>
                        </a:rPr>
                        <a:t>nop</a:t>
                      </a:r>
                      <a:endParaRPr sz="1200">
                        <a:latin typeface="Times New Roman"/>
                        <a:cs typeface="Times New Roman"/>
                      </a:endParaRPr>
                    </a:p>
                  </a:txBody>
                  <a:tcPr marL="0" marR="0" marB="0" marT="16446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pPr/>
                    </a:p>
                  </a:txBody>
                  <a:tcPr marL="0" marR="0" marB="0" marT="0"/>
                </a:tc>
              </a:tr>
              <a:tr h="517525">
                <a:tc gridSpan="2">
                  <a:txBody>
                    <a:bodyPr/>
                    <a:lstStyle/>
                    <a:p>
                      <a:pPr algn="ctr">
                        <a:lnSpc>
                          <a:spcPct val="100000"/>
                        </a:lnSpc>
                        <a:spcBef>
                          <a:spcPts val="1290"/>
                        </a:spcBef>
                      </a:pPr>
                      <a:r>
                        <a:rPr dirty="0" sz="1200" spc="-25" b="1">
                          <a:latin typeface="Times New Roman"/>
                          <a:cs typeface="Times New Roman"/>
                        </a:rPr>
                        <a:t>nop</a:t>
                      </a:r>
                      <a:endParaRPr sz="1200">
                        <a:latin typeface="Times New Roman"/>
                        <a:cs typeface="Times New Roman"/>
                      </a:endParaRPr>
                    </a:p>
                  </a:txBody>
                  <a:tcPr marL="0" marR="0" marB="0" marT="1638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pPr/>
                    </a:p>
                  </a:txBody>
                  <a:tcPr marL="0" marR="0" marB="0" marT="0"/>
                </a:tc>
                <a:tc>
                  <a:txBody>
                    <a:bodyPr/>
                    <a:lstStyle/>
                    <a:p>
                      <a:pPr algn="ctr">
                        <a:lnSpc>
                          <a:spcPct val="100000"/>
                        </a:lnSpc>
                        <a:spcBef>
                          <a:spcPts val="1290"/>
                        </a:spcBef>
                      </a:pPr>
                      <a:r>
                        <a:rPr dirty="0" sz="1200" spc="-25" b="1">
                          <a:latin typeface="Times New Roman"/>
                          <a:cs typeface="Times New Roman"/>
                        </a:rPr>
                        <a:t>nop</a:t>
                      </a:r>
                      <a:endParaRPr sz="1200">
                        <a:latin typeface="Times New Roman"/>
                        <a:cs typeface="Times New Roman"/>
                      </a:endParaRPr>
                    </a:p>
                  </a:txBody>
                  <a:tcPr marL="0" marR="0" marB="0" marT="1638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275"/>
                        </a:spcBef>
                      </a:pPr>
                      <a:r>
                        <a:rPr dirty="0" sz="1200" b="1">
                          <a:latin typeface="Times New Roman"/>
                          <a:cs typeface="Times New Roman"/>
                        </a:rPr>
                        <a:t>ADD.D</a:t>
                      </a:r>
                      <a:r>
                        <a:rPr dirty="0" sz="1200" spc="-40" b="1">
                          <a:latin typeface="Times New Roman"/>
                          <a:cs typeface="Times New Roman"/>
                        </a:rPr>
                        <a:t> </a:t>
                      </a:r>
                      <a:r>
                        <a:rPr dirty="0" sz="1200" spc="-10" b="1">
                          <a:latin typeface="Times New Roman"/>
                          <a:cs typeface="Times New Roman"/>
                        </a:rPr>
                        <a:t>F20</a:t>
                      </a:r>
                      <a:r>
                        <a:rPr dirty="0" sz="1200" spc="-10" b="1">
                          <a:latin typeface="微软雅黑"/>
                          <a:cs typeface="微软雅黑"/>
                        </a:rPr>
                        <a:t>，</a:t>
                      </a:r>
                      <a:r>
                        <a:rPr dirty="0" sz="1200" spc="-10" b="1">
                          <a:latin typeface="Times New Roman"/>
                          <a:cs typeface="Times New Roman"/>
                        </a:rPr>
                        <a:t>F18</a:t>
                      </a:r>
                      <a:r>
                        <a:rPr dirty="0" sz="1200" spc="-10" b="1">
                          <a:latin typeface="微软雅黑"/>
                          <a:cs typeface="微软雅黑"/>
                        </a:rPr>
                        <a:t>，</a:t>
                      </a:r>
                      <a:r>
                        <a:rPr dirty="0" sz="1200" spc="-10" b="1">
                          <a:latin typeface="Times New Roman"/>
                          <a:cs typeface="Times New Roman"/>
                        </a:rPr>
                        <a:t>F2</a:t>
                      </a:r>
                      <a:endParaRPr sz="1200">
                        <a:latin typeface="Times New Roman"/>
                        <a:cs typeface="Times New Roman"/>
                      </a:endParaRPr>
                    </a:p>
                  </a:txBody>
                  <a:tcPr marL="0" marR="0" marB="0" marT="16192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275"/>
                        </a:spcBef>
                      </a:pPr>
                      <a:r>
                        <a:rPr dirty="0" sz="1200" b="1">
                          <a:latin typeface="Times New Roman"/>
                          <a:cs typeface="Times New Roman"/>
                        </a:rPr>
                        <a:t>ADD.D</a:t>
                      </a:r>
                      <a:r>
                        <a:rPr dirty="0" sz="1200" spc="-40" b="1">
                          <a:latin typeface="Times New Roman"/>
                          <a:cs typeface="Times New Roman"/>
                        </a:rPr>
                        <a:t> </a:t>
                      </a:r>
                      <a:r>
                        <a:rPr dirty="0" sz="1200" spc="-10" b="1">
                          <a:latin typeface="Times New Roman"/>
                          <a:cs typeface="Times New Roman"/>
                        </a:rPr>
                        <a:t>F24</a:t>
                      </a:r>
                      <a:r>
                        <a:rPr dirty="0" sz="1200" spc="-10" b="1">
                          <a:latin typeface="微软雅黑"/>
                          <a:cs typeface="微软雅黑"/>
                        </a:rPr>
                        <a:t>，</a:t>
                      </a:r>
                      <a:r>
                        <a:rPr dirty="0" sz="1200" spc="-10" b="1">
                          <a:latin typeface="Times New Roman"/>
                          <a:cs typeface="Times New Roman"/>
                        </a:rPr>
                        <a:t>F22</a:t>
                      </a:r>
                      <a:r>
                        <a:rPr dirty="0" sz="1200" spc="-10" b="1">
                          <a:latin typeface="微软雅黑"/>
                          <a:cs typeface="微软雅黑"/>
                        </a:rPr>
                        <a:t>，</a:t>
                      </a:r>
                      <a:r>
                        <a:rPr dirty="0" sz="1200" spc="-10" b="1">
                          <a:latin typeface="Times New Roman"/>
                          <a:cs typeface="Times New Roman"/>
                        </a:rPr>
                        <a:t>F2</a:t>
                      </a:r>
                      <a:endParaRPr sz="1200">
                        <a:latin typeface="Times New Roman"/>
                        <a:cs typeface="Times New Roman"/>
                      </a:endParaRPr>
                    </a:p>
                  </a:txBody>
                  <a:tcPr marL="0" marR="0" marB="0" marT="16192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algn="ctr" marL="1270">
                        <a:lnSpc>
                          <a:spcPct val="100000"/>
                        </a:lnSpc>
                        <a:spcBef>
                          <a:spcPts val="1290"/>
                        </a:spcBef>
                      </a:pPr>
                      <a:r>
                        <a:rPr dirty="0" sz="1200" spc="-25" b="1">
                          <a:latin typeface="Times New Roman"/>
                          <a:cs typeface="Times New Roman"/>
                        </a:rPr>
                        <a:t>nop</a:t>
                      </a:r>
                      <a:endParaRPr sz="1200">
                        <a:latin typeface="Times New Roman"/>
                        <a:cs typeface="Times New Roman"/>
                      </a:endParaRPr>
                    </a:p>
                  </a:txBody>
                  <a:tcPr marL="0" marR="0" marB="0" marT="1638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pPr/>
                    </a:p>
                  </a:txBody>
                  <a:tcPr marL="0" marR="0" marB="0" marT="0"/>
                </a:tc>
              </a:tr>
              <a:tr h="519430">
                <a:tc gridSpan="2">
                  <a:txBody>
                    <a:bodyPr/>
                    <a:lstStyle/>
                    <a:p>
                      <a:pPr marL="508000">
                        <a:lnSpc>
                          <a:spcPct val="100000"/>
                        </a:lnSpc>
                        <a:spcBef>
                          <a:spcPts val="1285"/>
                        </a:spcBef>
                      </a:pPr>
                      <a:r>
                        <a:rPr dirty="0" sz="1200" b="1">
                          <a:latin typeface="Times New Roman"/>
                          <a:cs typeface="Times New Roman"/>
                        </a:rPr>
                        <a:t>S.D</a:t>
                      </a:r>
                      <a:r>
                        <a:rPr dirty="0" sz="1200" spc="-30" b="1">
                          <a:latin typeface="Times New Roman"/>
                          <a:cs typeface="Times New Roman"/>
                        </a:rPr>
                        <a:t> </a:t>
                      </a:r>
                      <a:r>
                        <a:rPr dirty="0" sz="1200" spc="-10" b="1">
                          <a:latin typeface="Times New Roman"/>
                          <a:cs typeface="Times New Roman"/>
                        </a:rPr>
                        <a:t>0</a:t>
                      </a:r>
                      <a:r>
                        <a:rPr dirty="0" sz="1200" spc="-10" b="1">
                          <a:latin typeface="微软雅黑"/>
                          <a:cs typeface="微软雅黑"/>
                        </a:rPr>
                        <a:t>（</a:t>
                      </a:r>
                      <a:r>
                        <a:rPr dirty="0" sz="1200" spc="-10" b="1">
                          <a:latin typeface="Times New Roman"/>
                          <a:cs typeface="Times New Roman"/>
                        </a:rPr>
                        <a:t>R1</a:t>
                      </a:r>
                      <a:r>
                        <a:rPr dirty="0" sz="1200" spc="-10" b="1">
                          <a:latin typeface="微软雅黑"/>
                          <a:cs typeface="微软雅黑"/>
                        </a:rPr>
                        <a:t>），</a:t>
                      </a:r>
                      <a:r>
                        <a:rPr dirty="0" sz="1200" spc="-10" b="1">
                          <a:latin typeface="Times New Roman"/>
                          <a:cs typeface="Times New Roman"/>
                        </a:rPr>
                        <a:t>F4</a:t>
                      </a:r>
                      <a:endParaRPr sz="1200">
                        <a:latin typeface="Times New Roman"/>
                        <a:cs typeface="Times New Roman"/>
                      </a:endParaRPr>
                    </a:p>
                  </a:txBody>
                  <a:tcPr marL="0" marR="0" marB="0" marT="1631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pPr/>
                    </a:p>
                  </a:txBody>
                  <a:tcPr marL="0" marR="0" marB="0" marT="0"/>
                </a:tc>
                <a:tc>
                  <a:txBody>
                    <a:bodyPr/>
                    <a:lstStyle/>
                    <a:p>
                      <a:pPr marL="466725">
                        <a:lnSpc>
                          <a:spcPct val="100000"/>
                        </a:lnSpc>
                        <a:spcBef>
                          <a:spcPts val="1285"/>
                        </a:spcBef>
                      </a:pPr>
                      <a:r>
                        <a:rPr dirty="0" sz="1200" b="1">
                          <a:latin typeface="Times New Roman"/>
                          <a:cs typeface="Times New Roman"/>
                        </a:rPr>
                        <a:t>S.D</a:t>
                      </a:r>
                      <a:r>
                        <a:rPr dirty="0" sz="1200" spc="-20" b="1">
                          <a:latin typeface="Times New Roman"/>
                          <a:cs typeface="Times New Roman"/>
                        </a:rPr>
                        <a:t> </a:t>
                      </a:r>
                      <a:r>
                        <a:rPr dirty="0" sz="1200" spc="-10" b="1">
                          <a:latin typeface="Times New Roman"/>
                          <a:cs typeface="Times New Roman"/>
                        </a:rPr>
                        <a:t>-8</a:t>
                      </a:r>
                      <a:r>
                        <a:rPr dirty="0" sz="1200" spc="-10" b="1">
                          <a:latin typeface="微软雅黑"/>
                          <a:cs typeface="微软雅黑"/>
                        </a:rPr>
                        <a:t>（</a:t>
                      </a:r>
                      <a:r>
                        <a:rPr dirty="0" sz="1200" spc="-10" b="1">
                          <a:latin typeface="Times New Roman"/>
                          <a:cs typeface="Times New Roman"/>
                        </a:rPr>
                        <a:t>R1</a:t>
                      </a:r>
                      <a:r>
                        <a:rPr dirty="0" sz="1200" spc="-10" b="1">
                          <a:latin typeface="微软雅黑"/>
                          <a:cs typeface="微软雅黑"/>
                        </a:rPr>
                        <a:t>），</a:t>
                      </a:r>
                      <a:r>
                        <a:rPr dirty="0" sz="1200" spc="-10" b="1">
                          <a:latin typeface="Times New Roman"/>
                          <a:cs typeface="Times New Roman"/>
                        </a:rPr>
                        <a:t>F8</a:t>
                      </a:r>
                      <a:endParaRPr sz="1200">
                        <a:latin typeface="Times New Roman"/>
                        <a:cs typeface="Times New Roman"/>
                      </a:endParaRPr>
                    </a:p>
                  </a:txBody>
                  <a:tcPr marL="0" marR="0" marB="0" marT="1631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285"/>
                        </a:spcBef>
                      </a:pPr>
                      <a:r>
                        <a:rPr dirty="0" sz="1200" b="1">
                          <a:latin typeface="Times New Roman"/>
                          <a:cs typeface="Times New Roman"/>
                        </a:rPr>
                        <a:t>ADD.D</a:t>
                      </a:r>
                      <a:r>
                        <a:rPr dirty="0" sz="1200" spc="-40" b="1">
                          <a:latin typeface="Times New Roman"/>
                          <a:cs typeface="Times New Roman"/>
                        </a:rPr>
                        <a:t> </a:t>
                      </a:r>
                      <a:r>
                        <a:rPr dirty="0" sz="1200" spc="-10" b="1">
                          <a:latin typeface="Times New Roman"/>
                          <a:cs typeface="Times New Roman"/>
                        </a:rPr>
                        <a:t>F28</a:t>
                      </a:r>
                      <a:r>
                        <a:rPr dirty="0" sz="1200" spc="-10" b="1">
                          <a:latin typeface="微软雅黑"/>
                          <a:cs typeface="微软雅黑"/>
                        </a:rPr>
                        <a:t>，</a:t>
                      </a:r>
                      <a:r>
                        <a:rPr dirty="0" sz="1200" spc="-10" b="1">
                          <a:latin typeface="Times New Roman"/>
                          <a:cs typeface="Times New Roman"/>
                        </a:rPr>
                        <a:t>F26</a:t>
                      </a:r>
                      <a:r>
                        <a:rPr dirty="0" sz="1200" spc="-10" b="1">
                          <a:latin typeface="微软雅黑"/>
                          <a:cs typeface="微软雅黑"/>
                        </a:rPr>
                        <a:t>，</a:t>
                      </a:r>
                      <a:r>
                        <a:rPr dirty="0" sz="1200" spc="-10" b="1">
                          <a:latin typeface="Times New Roman"/>
                          <a:cs typeface="Times New Roman"/>
                        </a:rPr>
                        <a:t>F2</a:t>
                      </a:r>
                      <a:endParaRPr sz="1200">
                        <a:latin typeface="Times New Roman"/>
                        <a:cs typeface="Times New Roman"/>
                      </a:endParaRPr>
                    </a:p>
                  </a:txBody>
                  <a:tcPr marL="0" marR="0" marB="0" marT="1631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1300"/>
                        </a:spcBef>
                      </a:pPr>
                      <a:r>
                        <a:rPr dirty="0" sz="1200" spc="-25" b="1">
                          <a:latin typeface="Times New Roman"/>
                          <a:cs typeface="Times New Roman"/>
                        </a:rPr>
                        <a:t>nop</a:t>
                      </a:r>
                      <a:endParaRPr sz="1200">
                        <a:latin typeface="Times New Roman"/>
                        <a:cs typeface="Times New Roman"/>
                      </a:endParaRPr>
                    </a:p>
                  </a:txBody>
                  <a:tcPr marL="0" marR="0" marB="0" marT="165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algn="ctr" marL="1270">
                        <a:lnSpc>
                          <a:spcPct val="100000"/>
                        </a:lnSpc>
                        <a:spcBef>
                          <a:spcPts val="1300"/>
                        </a:spcBef>
                      </a:pPr>
                      <a:r>
                        <a:rPr dirty="0" sz="1200" spc="-25" b="1">
                          <a:latin typeface="Times New Roman"/>
                          <a:cs typeface="Times New Roman"/>
                        </a:rPr>
                        <a:t>nop</a:t>
                      </a:r>
                      <a:endParaRPr sz="1200">
                        <a:latin typeface="Times New Roman"/>
                        <a:cs typeface="Times New Roman"/>
                      </a:endParaRPr>
                    </a:p>
                  </a:txBody>
                  <a:tcPr marL="0" marR="0" marB="0" marT="165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pPr/>
                    </a:p>
                  </a:txBody>
                  <a:tcPr marL="0" marR="0" marB="0" marT="0"/>
                </a:tc>
              </a:tr>
              <a:tr h="519430">
                <a:tc gridSpan="2">
                  <a:txBody>
                    <a:bodyPr/>
                    <a:lstStyle/>
                    <a:p>
                      <a:pPr marL="406400">
                        <a:lnSpc>
                          <a:spcPct val="100000"/>
                        </a:lnSpc>
                        <a:spcBef>
                          <a:spcPts val="1285"/>
                        </a:spcBef>
                      </a:pPr>
                      <a:r>
                        <a:rPr dirty="0" sz="1200" b="1">
                          <a:latin typeface="Times New Roman"/>
                          <a:cs typeface="Times New Roman"/>
                        </a:rPr>
                        <a:t>S.D</a:t>
                      </a:r>
                      <a:r>
                        <a:rPr dirty="0" sz="1200" spc="-20" b="1">
                          <a:latin typeface="Times New Roman"/>
                          <a:cs typeface="Times New Roman"/>
                        </a:rPr>
                        <a:t> </a:t>
                      </a:r>
                      <a:r>
                        <a:rPr dirty="0" sz="1200" spc="-10" b="1">
                          <a:latin typeface="Times New Roman"/>
                          <a:cs typeface="Times New Roman"/>
                        </a:rPr>
                        <a:t>-16</a:t>
                      </a:r>
                      <a:r>
                        <a:rPr dirty="0" sz="1200" spc="-10" b="1">
                          <a:latin typeface="微软雅黑"/>
                          <a:cs typeface="微软雅黑"/>
                        </a:rPr>
                        <a:t>（</a:t>
                      </a:r>
                      <a:r>
                        <a:rPr dirty="0" sz="1200" spc="-10" b="1">
                          <a:latin typeface="Times New Roman"/>
                          <a:cs typeface="Times New Roman"/>
                        </a:rPr>
                        <a:t>R1</a:t>
                      </a:r>
                      <a:r>
                        <a:rPr dirty="0" sz="1200" spc="-10" b="1">
                          <a:latin typeface="微软雅黑"/>
                          <a:cs typeface="微软雅黑"/>
                        </a:rPr>
                        <a:t>），</a:t>
                      </a:r>
                      <a:r>
                        <a:rPr dirty="0" sz="1200" spc="-10" b="1">
                          <a:latin typeface="Times New Roman"/>
                          <a:cs typeface="Times New Roman"/>
                        </a:rPr>
                        <a:t>F12</a:t>
                      </a:r>
                      <a:endParaRPr sz="1200">
                        <a:latin typeface="Times New Roman"/>
                        <a:cs typeface="Times New Roman"/>
                      </a:endParaRPr>
                    </a:p>
                  </a:txBody>
                  <a:tcPr marL="0" marR="0" marB="0" marT="1631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pPr/>
                    </a:p>
                  </a:txBody>
                  <a:tcPr marL="0" marR="0" marB="0" marT="0"/>
                </a:tc>
                <a:tc>
                  <a:txBody>
                    <a:bodyPr/>
                    <a:lstStyle/>
                    <a:p>
                      <a:pPr marL="390525">
                        <a:lnSpc>
                          <a:spcPct val="100000"/>
                        </a:lnSpc>
                        <a:spcBef>
                          <a:spcPts val="1285"/>
                        </a:spcBef>
                      </a:pPr>
                      <a:r>
                        <a:rPr dirty="0" sz="1200" b="1">
                          <a:latin typeface="Times New Roman"/>
                          <a:cs typeface="Times New Roman"/>
                        </a:rPr>
                        <a:t>S.D</a:t>
                      </a:r>
                      <a:r>
                        <a:rPr dirty="0" sz="1200" spc="-20" b="1">
                          <a:latin typeface="Times New Roman"/>
                          <a:cs typeface="Times New Roman"/>
                        </a:rPr>
                        <a:t> </a:t>
                      </a:r>
                      <a:r>
                        <a:rPr dirty="0" sz="1200" spc="-10" b="1">
                          <a:latin typeface="Times New Roman"/>
                          <a:cs typeface="Times New Roman"/>
                        </a:rPr>
                        <a:t>-24</a:t>
                      </a:r>
                      <a:r>
                        <a:rPr dirty="0" sz="1200" spc="-10" b="1">
                          <a:latin typeface="微软雅黑"/>
                          <a:cs typeface="微软雅黑"/>
                        </a:rPr>
                        <a:t>（</a:t>
                      </a:r>
                      <a:r>
                        <a:rPr dirty="0" sz="1200" spc="-10" b="1">
                          <a:latin typeface="Times New Roman"/>
                          <a:cs typeface="Times New Roman"/>
                        </a:rPr>
                        <a:t>R1</a:t>
                      </a:r>
                      <a:r>
                        <a:rPr dirty="0" sz="1200" spc="-10" b="1">
                          <a:latin typeface="微软雅黑"/>
                          <a:cs typeface="微软雅黑"/>
                        </a:rPr>
                        <a:t>），</a:t>
                      </a:r>
                      <a:r>
                        <a:rPr dirty="0" sz="1200" spc="-10" b="1">
                          <a:latin typeface="Times New Roman"/>
                          <a:cs typeface="Times New Roman"/>
                        </a:rPr>
                        <a:t>F16</a:t>
                      </a:r>
                      <a:endParaRPr sz="1200">
                        <a:latin typeface="Times New Roman"/>
                        <a:cs typeface="Times New Roman"/>
                      </a:endParaRPr>
                    </a:p>
                  </a:txBody>
                  <a:tcPr marL="0" marR="0" marB="0" marT="1631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300"/>
                        </a:spcBef>
                      </a:pPr>
                      <a:r>
                        <a:rPr dirty="0" sz="1200" spc="-25" b="1">
                          <a:latin typeface="Times New Roman"/>
                          <a:cs typeface="Times New Roman"/>
                        </a:rPr>
                        <a:t>nop</a:t>
                      </a:r>
                      <a:endParaRPr sz="1200">
                        <a:latin typeface="Times New Roman"/>
                        <a:cs typeface="Times New Roman"/>
                      </a:endParaRPr>
                    </a:p>
                  </a:txBody>
                  <a:tcPr marL="0" marR="0" marB="0" marT="165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1300"/>
                        </a:spcBef>
                      </a:pPr>
                      <a:r>
                        <a:rPr dirty="0" sz="1200" spc="-25" b="1">
                          <a:latin typeface="Times New Roman"/>
                          <a:cs typeface="Times New Roman"/>
                        </a:rPr>
                        <a:t>nop</a:t>
                      </a:r>
                      <a:endParaRPr sz="1200">
                        <a:latin typeface="Times New Roman"/>
                        <a:cs typeface="Times New Roman"/>
                      </a:endParaRPr>
                    </a:p>
                  </a:txBody>
                  <a:tcPr marL="0" marR="0" marB="0" marT="165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algn="ctr" marL="1270">
                        <a:lnSpc>
                          <a:spcPct val="100000"/>
                        </a:lnSpc>
                        <a:spcBef>
                          <a:spcPts val="1300"/>
                        </a:spcBef>
                      </a:pPr>
                      <a:r>
                        <a:rPr dirty="0" sz="1200" spc="-25" b="1">
                          <a:latin typeface="Times New Roman"/>
                          <a:cs typeface="Times New Roman"/>
                        </a:rPr>
                        <a:t>nop</a:t>
                      </a:r>
                      <a:endParaRPr sz="1200">
                        <a:latin typeface="Times New Roman"/>
                        <a:cs typeface="Times New Roman"/>
                      </a:endParaRPr>
                    </a:p>
                  </a:txBody>
                  <a:tcPr marL="0" marR="0" marB="0" marT="165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pPr/>
                    </a:p>
                  </a:txBody>
                  <a:tcPr marL="0" marR="0" marB="0" marT="0"/>
                </a:tc>
              </a:tr>
              <a:tr h="517525">
                <a:tc gridSpan="2">
                  <a:txBody>
                    <a:bodyPr/>
                    <a:lstStyle/>
                    <a:p>
                      <a:pPr marL="406400">
                        <a:lnSpc>
                          <a:spcPct val="100000"/>
                        </a:lnSpc>
                        <a:spcBef>
                          <a:spcPts val="1280"/>
                        </a:spcBef>
                      </a:pPr>
                      <a:r>
                        <a:rPr dirty="0" sz="1200" b="1">
                          <a:latin typeface="Times New Roman"/>
                          <a:cs typeface="Times New Roman"/>
                        </a:rPr>
                        <a:t>S.D</a:t>
                      </a:r>
                      <a:r>
                        <a:rPr dirty="0" sz="1200" spc="-20" b="1">
                          <a:latin typeface="Times New Roman"/>
                          <a:cs typeface="Times New Roman"/>
                        </a:rPr>
                        <a:t> </a:t>
                      </a:r>
                      <a:r>
                        <a:rPr dirty="0" sz="1200" spc="-10" b="1">
                          <a:latin typeface="Times New Roman"/>
                          <a:cs typeface="Times New Roman"/>
                        </a:rPr>
                        <a:t>-32</a:t>
                      </a:r>
                      <a:r>
                        <a:rPr dirty="0" sz="1200" spc="-10" b="1">
                          <a:latin typeface="微软雅黑"/>
                          <a:cs typeface="微软雅黑"/>
                        </a:rPr>
                        <a:t>（</a:t>
                      </a:r>
                      <a:r>
                        <a:rPr dirty="0" sz="1200" spc="-10" b="1">
                          <a:latin typeface="Times New Roman"/>
                          <a:cs typeface="Times New Roman"/>
                        </a:rPr>
                        <a:t>R1</a:t>
                      </a:r>
                      <a:r>
                        <a:rPr dirty="0" sz="1200" spc="-10" b="1">
                          <a:latin typeface="微软雅黑"/>
                          <a:cs typeface="微软雅黑"/>
                        </a:rPr>
                        <a:t>），</a:t>
                      </a:r>
                      <a:r>
                        <a:rPr dirty="0" sz="1200" spc="-10" b="1">
                          <a:latin typeface="Times New Roman"/>
                          <a:cs typeface="Times New Roman"/>
                        </a:rPr>
                        <a:t>F20</a:t>
                      </a:r>
                      <a:endParaRPr sz="1200">
                        <a:latin typeface="Times New Roman"/>
                        <a:cs typeface="Times New Roman"/>
                      </a:endParaRPr>
                    </a:p>
                  </a:txBody>
                  <a:tcPr marL="0" marR="0" marB="0" marT="16256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pPr/>
                    </a:p>
                  </a:txBody>
                  <a:tcPr marL="0" marR="0" marB="0" marT="0"/>
                </a:tc>
                <a:tc>
                  <a:txBody>
                    <a:bodyPr/>
                    <a:lstStyle/>
                    <a:p>
                      <a:pPr marL="390525">
                        <a:lnSpc>
                          <a:spcPct val="100000"/>
                        </a:lnSpc>
                        <a:spcBef>
                          <a:spcPts val="1280"/>
                        </a:spcBef>
                      </a:pPr>
                      <a:r>
                        <a:rPr dirty="0" sz="1200" b="1">
                          <a:latin typeface="Times New Roman"/>
                          <a:cs typeface="Times New Roman"/>
                        </a:rPr>
                        <a:t>S.D</a:t>
                      </a:r>
                      <a:r>
                        <a:rPr dirty="0" sz="1200" spc="-20" b="1">
                          <a:latin typeface="Times New Roman"/>
                          <a:cs typeface="Times New Roman"/>
                        </a:rPr>
                        <a:t> </a:t>
                      </a:r>
                      <a:r>
                        <a:rPr dirty="0" sz="1200" spc="-10" b="1">
                          <a:latin typeface="Times New Roman"/>
                          <a:cs typeface="Times New Roman"/>
                        </a:rPr>
                        <a:t>-40</a:t>
                      </a:r>
                      <a:r>
                        <a:rPr dirty="0" sz="1200" spc="-10" b="1">
                          <a:latin typeface="微软雅黑"/>
                          <a:cs typeface="微软雅黑"/>
                        </a:rPr>
                        <a:t>（</a:t>
                      </a:r>
                      <a:r>
                        <a:rPr dirty="0" sz="1200" spc="-10" b="1">
                          <a:latin typeface="Times New Roman"/>
                          <a:cs typeface="Times New Roman"/>
                        </a:rPr>
                        <a:t>R1</a:t>
                      </a:r>
                      <a:r>
                        <a:rPr dirty="0" sz="1200" spc="-10" b="1">
                          <a:latin typeface="微软雅黑"/>
                          <a:cs typeface="微软雅黑"/>
                        </a:rPr>
                        <a:t>），</a:t>
                      </a:r>
                      <a:r>
                        <a:rPr dirty="0" sz="1200" spc="-10" b="1">
                          <a:latin typeface="Times New Roman"/>
                          <a:cs typeface="Times New Roman"/>
                        </a:rPr>
                        <a:t>F24</a:t>
                      </a:r>
                      <a:endParaRPr sz="1200">
                        <a:latin typeface="Times New Roman"/>
                        <a:cs typeface="Times New Roman"/>
                      </a:endParaRPr>
                    </a:p>
                  </a:txBody>
                  <a:tcPr marL="0" marR="0" marB="0" marT="16256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290"/>
                        </a:spcBef>
                      </a:pPr>
                      <a:r>
                        <a:rPr dirty="0" sz="1200" spc="-25" b="1">
                          <a:latin typeface="Times New Roman"/>
                          <a:cs typeface="Times New Roman"/>
                        </a:rPr>
                        <a:t>nop</a:t>
                      </a:r>
                      <a:endParaRPr sz="1200">
                        <a:latin typeface="Times New Roman"/>
                        <a:cs typeface="Times New Roman"/>
                      </a:endParaRPr>
                    </a:p>
                  </a:txBody>
                  <a:tcPr marL="0" marR="0" marB="0" marT="1638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1290"/>
                        </a:spcBef>
                      </a:pPr>
                      <a:r>
                        <a:rPr dirty="0" sz="1200" spc="-25" b="1">
                          <a:latin typeface="Times New Roman"/>
                          <a:cs typeface="Times New Roman"/>
                        </a:rPr>
                        <a:t>nop</a:t>
                      </a:r>
                      <a:endParaRPr sz="1200">
                        <a:latin typeface="Times New Roman"/>
                        <a:cs typeface="Times New Roman"/>
                      </a:endParaRPr>
                    </a:p>
                  </a:txBody>
                  <a:tcPr marL="0" marR="0" marB="0" marT="1638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marL="294005">
                        <a:lnSpc>
                          <a:spcPct val="100000"/>
                        </a:lnSpc>
                        <a:spcBef>
                          <a:spcPts val="1280"/>
                        </a:spcBef>
                      </a:pPr>
                      <a:r>
                        <a:rPr dirty="0" sz="1200" b="1">
                          <a:latin typeface="Times New Roman"/>
                          <a:cs typeface="Times New Roman"/>
                        </a:rPr>
                        <a:t>DADDUI</a:t>
                      </a:r>
                      <a:r>
                        <a:rPr dirty="0" sz="1200" spc="-40" b="1">
                          <a:latin typeface="Times New Roman"/>
                          <a:cs typeface="Times New Roman"/>
                        </a:rPr>
                        <a:t> </a:t>
                      </a:r>
                      <a:r>
                        <a:rPr dirty="0" sz="1200" spc="-10" b="1">
                          <a:latin typeface="Times New Roman"/>
                          <a:cs typeface="Times New Roman"/>
                        </a:rPr>
                        <a:t>R1</a:t>
                      </a:r>
                      <a:r>
                        <a:rPr dirty="0" sz="1200" spc="-10" b="1">
                          <a:latin typeface="微软雅黑"/>
                          <a:cs typeface="微软雅黑"/>
                        </a:rPr>
                        <a:t>，</a:t>
                      </a:r>
                      <a:r>
                        <a:rPr dirty="0" sz="1200" spc="-10" b="1">
                          <a:latin typeface="Times New Roman"/>
                          <a:cs typeface="Times New Roman"/>
                        </a:rPr>
                        <a:t>R1</a:t>
                      </a:r>
                      <a:r>
                        <a:rPr dirty="0" sz="1200" spc="-10" b="1">
                          <a:latin typeface="微软雅黑"/>
                          <a:cs typeface="微软雅黑"/>
                        </a:rPr>
                        <a:t>，</a:t>
                      </a:r>
                      <a:r>
                        <a:rPr dirty="0" sz="1200" spc="-10" b="1">
                          <a:latin typeface="Times New Roman"/>
                          <a:cs typeface="Times New Roman"/>
                        </a:rPr>
                        <a:t>#56</a:t>
                      </a:r>
                      <a:endParaRPr sz="1200">
                        <a:latin typeface="Times New Roman"/>
                        <a:cs typeface="Times New Roman"/>
                      </a:endParaRPr>
                    </a:p>
                  </a:txBody>
                  <a:tcPr marL="0" marR="0" marB="0" marT="16256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pPr/>
                    </a:p>
                  </a:txBody>
                  <a:tcPr marL="0" marR="0" marB="0" marT="0"/>
                </a:tc>
              </a:tr>
              <a:tr h="519430">
                <a:tc gridSpan="2">
                  <a:txBody>
                    <a:bodyPr/>
                    <a:lstStyle/>
                    <a:p>
                      <a:pPr marL="469900">
                        <a:lnSpc>
                          <a:spcPct val="100000"/>
                        </a:lnSpc>
                        <a:spcBef>
                          <a:spcPts val="1290"/>
                        </a:spcBef>
                      </a:pPr>
                      <a:r>
                        <a:rPr dirty="0" sz="1200" b="1">
                          <a:latin typeface="Times New Roman"/>
                          <a:cs typeface="Times New Roman"/>
                        </a:rPr>
                        <a:t>S.D</a:t>
                      </a:r>
                      <a:r>
                        <a:rPr dirty="0" sz="1200" spc="-30" b="1">
                          <a:latin typeface="Times New Roman"/>
                          <a:cs typeface="Times New Roman"/>
                        </a:rPr>
                        <a:t> </a:t>
                      </a:r>
                      <a:r>
                        <a:rPr dirty="0" sz="1200" spc="-10" b="1">
                          <a:latin typeface="Times New Roman"/>
                          <a:cs typeface="Times New Roman"/>
                        </a:rPr>
                        <a:t>8</a:t>
                      </a:r>
                      <a:r>
                        <a:rPr dirty="0" sz="1200" spc="-10" b="1">
                          <a:latin typeface="微软雅黑"/>
                          <a:cs typeface="微软雅黑"/>
                        </a:rPr>
                        <a:t>（</a:t>
                      </a:r>
                      <a:r>
                        <a:rPr dirty="0" sz="1200" spc="-10" b="1">
                          <a:latin typeface="Times New Roman"/>
                          <a:cs typeface="Times New Roman"/>
                        </a:rPr>
                        <a:t>R1</a:t>
                      </a:r>
                      <a:r>
                        <a:rPr dirty="0" sz="1200" spc="-10" b="1">
                          <a:latin typeface="微软雅黑"/>
                          <a:cs typeface="微软雅黑"/>
                        </a:rPr>
                        <a:t>），</a:t>
                      </a:r>
                      <a:r>
                        <a:rPr dirty="0" sz="1200" spc="-10" b="1">
                          <a:latin typeface="Times New Roman"/>
                          <a:cs typeface="Times New Roman"/>
                        </a:rPr>
                        <a:t>F28</a:t>
                      </a:r>
                      <a:endParaRPr sz="1200">
                        <a:latin typeface="Times New Roman"/>
                        <a:cs typeface="Times New Roman"/>
                      </a:endParaRPr>
                    </a:p>
                  </a:txBody>
                  <a:tcPr marL="0" marR="0" marB="0" marT="1638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pPr/>
                    </a:p>
                  </a:txBody>
                  <a:tcPr marL="0" marR="0" marB="0" marT="0"/>
                </a:tc>
                <a:tc>
                  <a:txBody>
                    <a:bodyPr/>
                    <a:lstStyle/>
                    <a:p>
                      <a:pPr algn="ctr">
                        <a:lnSpc>
                          <a:spcPct val="100000"/>
                        </a:lnSpc>
                        <a:spcBef>
                          <a:spcPts val="1300"/>
                        </a:spcBef>
                      </a:pPr>
                      <a:r>
                        <a:rPr dirty="0" sz="1200" spc="-25" b="1">
                          <a:latin typeface="Times New Roman"/>
                          <a:cs typeface="Times New Roman"/>
                        </a:rPr>
                        <a:t>nop</a:t>
                      </a:r>
                      <a:endParaRPr sz="1200">
                        <a:latin typeface="Times New Roman"/>
                        <a:cs typeface="Times New Roman"/>
                      </a:endParaRPr>
                    </a:p>
                  </a:txBody>
                  <a:tcPr marL="0" marR="0" marB="0" marT="165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300"/>
                        </a:spcBef>
                      </a:pPr>
                      <a:r>
                        <a:rPr dirty="0" sz="1200" spc="-25" b="1">
                          <a:latin typeface="Times New Roman"/>
                          <a:cs typeface="Times New Roman"/>
                        </a:rPr>
                        <a:t>nop</a:t>
                      </a:r>
                      <a:endParaRPr sz="1200">
                        <a:latin typeface="Times New Roman"/>
                        <a:cs typeface="Times New Roman"/>
                      </a:endParaRPr>
                    </a:p>
                  </a:txBody>
                  <a:tcPr marL="0" marR="0" marB="0" marT="165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1300"/>
                        </a:spcBef>
                      </a:pPr>
                      <a:r>
                        <a:rPr dirty="0" sz="1200" spc="-25" b="1">
                          <a:latin typeface="Times New Roman"/>
                          <a:cs typeface="Times New Roman"/>
                        </a:rPr>
                        <a:t>nop</a:t>
                      </a:r>
                      <a:endParaRPr sz="1200">
                        <a:latin typeface="Times New Roman"/>
                        <a:cs typeface="Times New Roman"/>
                      </a:endParaRPr>
                    </a:p>
                  </a:txBody>
                  <a:tcPr marL="0" marR="0" marB="0" marT="165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marL="385445">
                        <a:lnSpc>
                          <a:spcPct val="100000"/>
                        </a:lnSpc>
                        <a:spcBef>
                          <a:spcPts val="1290"/>
                        </a:spcBef>
                      </a:pPr>
                      <a:r>
                        <a:rPr dirty="0" sz="1200" b="1">
                          <a:latin typeface="Times New Roman"/>
                          <a:cs typeface="Times New Roman"/>
                        </a:rPr>
                        <a:t>BNE</a:t>
                      </a:r>
                      <a:r>
                        <a:rPr dirty="0" sz="1200" spc="-15" b="1">
                          <a:latin typeface="Times New Roman"/>
                          <a:cs typeface="Times New Roman"/>
                        </a:rPr>
                        <a:t> </a:t>
                      </a:r>
                      <a:r>
                        <a:rPr dirty="0" sz="1200" spc="-10" b="1">
                          <a:latin typeface="Times New Roman"/>
                          <a:cs typeface="Times New Roman"/>
                        </a:rPr>
                        <a:t>R1</a:t>
                      </a:r>
                      <a:r>
                        <a:rPr dirty="0" sz="1200" spc="-10" b="1">
                          <a:latin typeface="微软雅黑"/>
                          <a:cs typeface="微软雅黑"/>
                        </a:rPr>
                        <a:t>，</a:t>
                      </a:r>
                      <a:r>
                        <a:rPr dirty="0" sz="1200" spc="-10" b="1">
                          <a:latin typeface="Times New Roman"/>
                          <a:cs typeface="Times New Roman"/>
                        </a:rPr>
                        <a:t>R2</a:t>
                      </a:r>
                      <a:r>
                        <a:rPr dirty="0" sz="1200" spc="-10" b="1">
                          <a:latin typeface="微软雅黑"/>
                          <a:cs typeface="微软雅黑"/>
                        </a:rPr>
                        <a:t>，</a:t>
                      </a:r>
                      <a:r>
                        <a:rPr dirty="0" sz="1200" spc="-10" b="1">
                          <a:latin typeface="Times New Roman"/>
                          <a:cs typeface="Times New Roman"/>
                        </a:rPr>
                        <a:t>Loop</a:t>
                      </a:r>
                      <a:endParaRPr sz="1200">
                        <a:latin typeface="Times New Roman"/>
                        <a:cs typeface="Times New Roman"/>
                      </a:endParaRPr>
                    </a:p>
                  </a:txBody>
                  <a:tcPr marL="0" marR="0" marB="0" marT="1638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pPr/>
                    </a:p>
                  </a:txBody>
                  <a:tcPr marL="0" marR="0" marB="0" marT="0"/>
                </a:tc>
              </a:tr>
            </a:tbl>
          </a:graphicData>
        </a:graphic>
      </p:graphicFrame>
      <p:sp>
        <p:nvSpPr>
          <p:cNvPr id="11" name="object 11" descr=""/>
          <p:cNvSpPr txBox="1"/>
          <p:nvPr/>
        </p:nvSpPr>
        <p:spPr>
          <a:xfrm>
            <a:off x="34239" y="1544828"/>
            <a:ext cx="1293495" cy="3115945"/>
          </a:xfrm>
          <a:prstGeom prst="rect">
            <a:avLst/>
          </a:prstGeom>
        </p:spPr>
        <p:txBody>
          <a:bodyPr wrap="square" lIns="0" tIns="12700" rIns="0" bIns="0" rtlCol="0" vert="horz">
            <a:spAutoFit/>
          </a:bodyPr>
          <a:lstStyle/>
          <a:p>
            <a:pPr marL="31750">
              <a:lnSpc>
                <a:spcPct val="100000"/>
              </a:lnSpc>
              <a:spcBef>
                <a:spcPts val="100"/>
              </a:spcBef>
            </a:pPr>
            <a:r>
              <a:rPr dirty="0" sz="1800" spc="-10">
                <a:solidFill>
                  <a:srgbClr val="40458B"/>
                </a:solidFill>
                <a:latin typeface="Tahoma"/>
                <a:cs typeface="Tahoma"/>
              </a:rPr>
              <a:t>9</a:t>
            </a:r>
            <a:r>
              <a:rPr dirty="0" sz="1800" spc="-20">
                <a:solidFill>
                  <a:srgbClr val="40458B"/>
                </a:solidFill>
                <a:latin typeface="黑体"/>
                <a:cs typeface="黑体"/>
              </a:rPr>
              <a:t>条指令</a:t>
            </a:r>
            <a:endParaRPr sz="1800">
              <a:latin typeface="黑体"/>
              <a:cs typeface="黑体"/>
            </a:endParaRPr>
          </a:p>
          <a:p>
            <a:pPr marL="12700">
              <a:lnSpc>
                <a:spcPct val="100000"/>
              </a:lnSpc>
              <a:spcBef>
                <a:spcPts val="2110"/>
              </a:spcBef>
            </a:pPr>
            <a:r>
              <a:rPr dirty="0" sz="1800" spc="-10">
                <a:solidFill>
                  <a:srgbClr val="40458B"/>
                </a:solidFill>
                <a:latin typeface="Tahoma"/>
                <a:cs typeface="Tahoma"/>
              </a:rPr>
              <a:t>45</a:t>
            </a:r>
            <a:r>
              <a:rPr dirty="0" sz="1800" spc="-30">
                <a:solidFill>
                  <a:srgbClr val="40458B"/>
                </a:solidFill>
                <a:latin typeface="黑体"/>
                <a:cs typeface="黑体"/>
              </a:rPr>
              <a:t>个操作</a:t>
            </a:r>
            <a:endParaRPr sz="1800">
              <a:latin typeface="黑体"/>
              <a:cs typeface="黑体"/>
            </a:endParaRPr>
          </a:p>
          <a:p>
            <a:pPr marL="12700">
              <a:lnSpc>
                <a:spcPct val="100000"/>
              </a:lnSpc>
              <a:spcBef>
                <a:spcPts val="1295"/>
              </a:spcBef>
            </a:pPr>
            <a:r>
              <a:rPr dirty="0" sz="1800" spc="-10">
                <a:solidFill>
                  <a:srgbClr val="40458B"/>
                </a:solidFill>
                <a:latin typeface="Tahoma"/>
                <a:cs typeface="Tahoma"/>
              </a:rPr>
              <a:t>22</a:t>
            </a:r>
            <a:r>
              <a:rPr dirty="0" sz="1800" spc="-15">
                <a:solidFill>
                  <a:srgbClr val="40458B"/>
                </a:solidFill>
                <a:latin typeface="黑体"/>
                <a:cs typeface="黑体"/>
              </a:rPr>
              <a:t>个空操作</a:t>
            </a:r>
            <a:endParaRPr sz="1800">
              <a:latin typeface="黑体"/>
              <a:cs typeface="黑体"/>
            </a:endParaRPr>
          </a:p>
          <a:p>
            <a:pPr marL="12700" marR="129539">
              <a:lnSpc>
                <a:spcPts val="2100"/>
              </a:lnSpc>
              <a:spcBef>
                <a:spcPts val="2005"/>
              </a:spcBef>
            </a:pPr>
            <a:r>
              <a:rPr dirty="0" sz="1800" spc="-10">
                <a:solidFill>
                  <a:srgbClr val="40458B"/>
                </a:solidFill>
                <a:latin typeface="黑体"/>
                <a:cs typeface="黑体"/>
              </a:rPr>
              <a:t>编码效率略</a:t>
            </a:r>
            <a:r>
              <a:rPr dirty="0" sz="1800">
                <a:solidFill>
                  <a:srgbClr val="40458B"/>
                </a:solidFill>
                <a:latin typeface="黑体"/>
                <a:cs typeface="黑体"/>
              </a:rPr>
              <a:t>高</a:t>
            </a:r>
            <a:r>
              <a:rPr dirty="0" sz="1800" spc="-25">
                <a:solidFill>
                  <a:srgbClr val="40458B"/>
                </a:solidFill>
                <a:latin typeface="Tahoma"/>
                <a:cs typeface="Tahoma"/>
              </a:rPr>
              <a:t>50%</a:t>
            </a:r>
            <a:endParaRPr sz="1800">
              <a:latin typeface="Tahoma"/>
              <a:cs typeface="Tahoma"/>
            </a:endParaRPr>
          </a:p>
          <a:p>
            <a:pPr algn="just" marL="47625" marR="5080">
              <a:lnSpc>
                <a:spcPct val="98600"/>
              </a:lnSpc>
              <a:spcBef>
                <a:spcPts val="1855"/>
              </a:spcBef>
            </a:pPr>
            <a:r>
              <a:rPr dirty="0" sz="1800" spc="-10">
                <a:solidFill>
                  <a:srgbClr val="40458B"/>
                </a:solidFill>
                <a:latin typeface="黑体"/>
                <a:cs typeface="黑体"/>
              </a:rPr>
              <a:t>浮点寄存器</a:t>
            </a:r>
            <a:r>
              <a:rPr dirty="0" sz="1800">
                <a:solidFill>
                  <a:srgbClr val="40458B"/>
                </a:solidFill>
                <a:latin typeface="黑体"/>
                <a:cs typeface="黑体"/>
              </a:rPr>
              <a:t>个数较多</a:t>
            </a:r>
            <a:r>
              <a:rPr dirty="0" sz="1800" spc="-50">
                <a:solidFill>
                  <a:srgbClr val="40458B"/>
                </a:solidFill>
                <a:latin typeface="黑体"/>
                <a:cs typeface="黑体"/>
              </a:rPr>
              <a:t>（</a:t>
            </a:r>
            <a:r>
              <a:rPr dirty="0" sz="1800">
                <a:solidFill>
                  <a:srgbClr val="40458B"/>
                </a:solidFill>
                <a:latin typeface="黑体"/>
                <a:cs typeface="黑体"/>
              </a:rPr>
              <a:t>相比例</a:t>
            </a:r>
            <a:r>
              <a:rPr dirty="0" sz="1800" spc="-20">
                <a:solidFill>
                  <a:srgbClr val="40458B"/>
                </a:solidFill>
                <a:latin typeface="Tahoma"/>
                <a:cs typeface="Tahoma"/>
              </a:rPr>
              <a:t>6.1</a:t>
            </a:r>
            <a:r>
              <a:rPr dirty="0" sz="1800" spc="-20">
                <a:solidFill>
                  <a:srgbClr val="40458B"/>
                </a:solidFill>
                <a:latin typeface="黑体"/>
                <a:cs typeface="黑体"/>
              </a:rPr>
              <a:t>）</a:t>
            </a:r>
            <a:endParaRPr sz="1800">
              <a:latin typeface="黑体"/>
              <a:cs typeface="黑体"/>
            </a:endParaRPr>
          </a:p>
        </p:txBody>
      </p:sp>
      <p:sp>
        <p:nvSpPr>
          <p:cNvPr id="12" name="object 12" descr=""/>
          <p:cNvSpPr/>
          <p:nvPr/>
        </p:nvSpPr>
        <p:spPr>
          <a:xfrm>
            <a:off x="9475216" y="568579"/>
            <a:ext cx="377825" cy="1134110"/>
          </a:xfrm>
          <a:custGeom>
            <a:avLst/>
            <a:gdLst/>
            <a:ahLst/>
            <a:cxnLst/>
            <a:rect l="l" t="t" r="r" b="b"/>
            <a:pathLst>
              <a:path w="377825" h="1134110">
                <a:moveTo>
                  <a:pt x="337017" y="71161"/>
                </a:moveTo>
                <a:lnTo>
                  <a:pt x="0" y="1130808"/>
                </a:lnTo>
                <a:lnTo>
                  <a:pt x="9143" y="1133729"/>
                </a:lnTo>
                <a:lnTo>
                  <a:pt x="346055" y="74021"/>
                </a:lnTo>
                <a:lnTo>
                  <a:pt x="337017" y="71161"/>
                </a:lnTo>
                <a:close/>
              </a:path>
              <a:path w="377825" h="1134110">
                <a:moveTo>
                  <a:pt x="373894" y="59055"/>
                </a:moveTo>
                <a:lnTo>
                  <a:pt x="340867" y="59055"/>
                </a:lnTo>
                <a:lnTo>
                  <a:pt x="349884" y="61975"/>
                </a:lnTo>
                <a:lnTo>
                  <a:pt x="346055" y="74021"/>
                </a:lnTo>
                <a:lnTo>
                  <a:pt x="377825" y="84074"/>
                </a:lnTo>
                <a:lnTo>
                  <a:pt x="373894" y="59055"/>
                </a:lnTo>
                <a:close/>
              </a:path>
              <a:path w="377825" h="1134110">
                <a:moveTo>
                  <a:pt x="340867" y="59055"/>
                </a:moveTo>
                <a:lnTo>
                  <a:pt x="337017" y="71161"/>
                </a:lnTo>
                <a:lnTo>
                  <a:pt x="346055" y="74021"/>
                </a:lnTo>
                <a:lnTo>
                  <a:pt x="349884" y="61975"/>
                </a:lnTo>
                <a:lnTo>
                  <a:pt x="340867" y="59055"/>
                </a:lnTo>
                <a:close/>
              </a:path>
              <a:path w="377825" h="1134110">
                <a:moveTo>
                  <a:pt x="364616" y="0"/>
                </a:moveTo>
                <a:lnTo>
                  <a:pt x="305180" y="61087"/>
                </a:lnTo>
                <a:lnTo>
                  <a:pt x="337017" y="71161"/>
                </a:lnTo>
                <a:lnTo>
                  <a:pt x="340867" y="59055"/>
                </a:lnTo>
                <a:lnTo>
                  <a:pt x="373894" y="59055"/>
                </a:lnTo>
                <a:lnTo>
                  <a:pt x="364616" y="0"/>
                </a:lnTo>
                <a:close/>
              </a:path>
            </a:pathLst>
          </a:custGeom>
          <a:solidFill>
            <a:srgbClr val="40458B"/>
          </a:solidFill>
        </p:spPr>
        <p:txBody>
          <a:bodyPr wrap="square" lIns="0" tIns="0" rIns="0" bIns="0" rtlCol="0"/>
          <a:lstStyle/>
          <a:p/>
        </p:txBody>
      </p:sp>
      <p:sp>
        <p:nvSpPr>
          <p:cNvPr id="13" name="object 13" descr=""/>
          <p:cNvSpPr txBox="1"/>
          <p:nvPr/>
        </p:nvSpPr>
        <p:spPr>
          <a:xfrm>
            <a:off x="9631806" y="221996"/>
            <a:ext cx="2273300"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黑体"/>
                <a:cs typeface="黑体"/>
              </a:rPr>
              <a:t>一个</a:t>
            </a:r>
            <a:r>
              <a:rPr dirty="0" sz="2400" spc="-20">
                <a:solidFill>
                  <a:srgbClr val="40458B"/>
                </a:solidFill>
                <a:latin typeface="Tahoma"/>
                <a:cs typeface="Tahoma"/>
              </a:rPr>
              <a:t>VLIW</a:t>
            </a:r>
            <a:r>
              <a:rPr dirty="0" sz="2400" spc="-20">
                <a:solidFill>
                  <a:srgbClr val="40458B"/>
                </a:solidFill>
                <a:latin typeface="黑体"/>
                <a:cs typeface="黑体"/>
              </a:rPr>
              <a:t>指令字</a:t>
            </a:r>
            <a:endParaRPr sz="2400">
              <a:latin typeface="黑体"/>
              <a:cs typeface="黑体"/>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45/89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78739" y="1121155"/>
            <a:ext cx="11779250" cy="3830320"/>
          </a:xfrm>
          <a:prstGeom prst="rect">
            <a:avLst/>
          </a:prstGeom>
        </p:spPr>
        <p:txBody>
          <a:bodyPr wrap="square" lIns="0" tIns="12700" rIns="0" bIns="0" rtlCol="0" vert="horz">
            <a:spAutoFit/>
          </a:bodyPr>
          <a:lstStyle/>
          <a:p>
            <a:pPr marL="467995" indent="-455295">
              <a:lnSpc>
                <a:spcPct val="100000"/>
              </a:lnSpc>
              <a:spcBef>
                <a:spcPts val="100"/>
              </a:spcBef>
              <a:buClr>
                <a:srgbClr val="40458B"/>
              </a:buClr>
              <a:buAutoNum type="arabicPeriod" startAt="3"/>
              <a:tabLst>
                <a:tab pos="467995" algn="l"/>
              </a:tabLst>
            </a:pPr>
            <a:r>
              <a:rPr dirty="0" sz="2400" spc="-25">
                <a:solidFill>
                  <a:srgbClr val="E14B04"/>
                </a:solidFill>
                <a:latin typeface="Times New Roman"/>
                <a:cs typeface="Times New Roman"/>
              </a:rPr>
              <a:t>VLIW</a:t>
            </a:r>
            <a:r>
              <a:rPr dirty="0" sz="2400" spc="-25">
                <a:solidFill>
                  <a:srgbClr val="E14B04"/>
                </a:solidFill>
                <a:latin typeface="黑体"/>
                <a:cs typeface="黑体"/>
              </a:rPr>
              <a:t>优点</a:t>
            </a:r>
            <a:endParaRPr sz="2400">
              <a:latin typeface="黑体"/>
              <a:cs typeface="黑体"/>
            </a:endParaRPr>
          </a:p>
          <a:p>
            <a:pPr lvl="1" marL="1097915" indent="-455930">
              <a:lnSpc>
                <a:spcPct val="100000"/>
              </a:lnSpc>
              <a:spcBef>
                <a:spcPts val="2014"/>
              </a:spcBef>
              <a:buClr>
                <a:srgbClr val="40458B"/>
              </a:buClr>
              <a:buSzPct val="89583"/>
              <a:buFont typeface="Wingdings"/>
              <a:buChar char=""/>
              <a:tabLst>
                <a:tab pos="1097915" algn="l"/>
              </a:tabLst>
            </a:pPr>
            <a:r>
              <a:rPr dirty="0" sz="2400" spc="-15">
                <a:solidFill>
                  <a:srgbClr val="0000CC"/>
                </a:solidFill>
                <a:latin typeface="黑体"/>
                <a:cs typeface="黑体"/>
              </a:rPr>
              <a:t>多个可以并行执行的指令打包到一个很长的指令字中，由编译器在编译时完成指</a:t>
            </a:r>
            <a:endParaRPr sz="2400">
              <a:latin typeface="黑体"/>
              <a:cs typeface="黑体"/>
            </a:endParaRPr>
          </a:p>
          <a:p>
            <a:pPr marL="1097915">
              <a:lnSpc>
                <a:spcPct val="100000"/>
              </a:lnSpc>
              <a:spcBef>
                <a:spcPts val="1440"/>
              </a:spcBef>
            </a:pPr>
            <a:r>
              <a:rPr dirty="0" sz="2400" spc="-10">
                <a:solidFill>
                  <a:srgbClr val="0000CC"/>
                </a:solidFill>
                <a:latin typeface="黑体"/>
                <a:cs typeface="黑体"/>
              </a:rPr>
              <a:t>令的分配和调度</a:t>
            </a:r>
            <a:endParaRPr sz="2400">
              <a:latin typeface="黑体"/>
              <a:cs typeface="黑体"/>
            </a:endParaRPr>
          </a:p>
          <a:p>
            <a:pPr lvl="1" marL="1097915" marR="5080" indent="-456565">
              <a:lnSpc>
                <a:spcPct val="150000"/>
              </a:lnSpc>
              <a:spcBef>
                <a:spcPts val="580"/>
              </a:spcBef>
              <a:buClr>
                <a:srgbClr val="40458B"/>
              </a:buClr>
              <a:buSzPct val="89583"/>
              <a:buFont typeface="Wingdings"/>
              <a:buChar char=""/>
              <a:tabLst>
                <a:tab pos="1097915" algn="l"/>
              </a:tabLst>
            </a:pPr>
            <a:r>
              <a:rPr dirty="0" sz="2400" spc="-10">
                <a:solidFill>
                  <a:srgbClr val="0000CC"/>
                </a:solidFill>
                <a:latin typeface="黑体"/>
                <a:cs typeface="黑体"/>
              </a:rPr>
              <a:t>在</a:t>
            </a:r>
            <a:r>
              <a:rPr dirty="0" sz="2400" spc="-25">
                <a:solidFill>
                  <a:srgbClr val="0000CC"/>
                </a:solidFill>
                <a:latin typeface="Times New Roman"/>
                <a:cs typeface="Times New Roman"/>
              </a:rPr>
              <a:t>VLIW</a:t>
            </a:r>
            <a:r>
              <a:rPr dirty="0" sz="2400" spc="-5">
                <a:solidFill>
                  <a:srgbClr val="0000CC"/>
                </a:solidFill>
                <a:latin typeface="黑体"/>
                <a:cs typeface="黑体"/>
              </a:rPr>
              <a:t>中，每个指令字包含多组操作，这些操作可以是算术运算、逻辑运算、加载</a:t>
            </a:r>
            <a:r>
              <a:rPr dirty="0" sz="2400">
                <a:solidFill>
                  <a:srgbClr val="0000CC"/>
                </a:solidFill>
                <a:latin typeface="Times New Roman"/>
                <a:cs typeface="Times New Roman"/>
              </a:rPr>
              <a:t>/</a:t>
            </a:r>
            <a:r>
              <a:rPr dirty="0" sz="2400" spc="-5">
                <a:solidFill>
                  <a:srgbClr val="0000CC"/>
                </a:solidFill>
                <a:latin typeface="黑体"/>
                <a:cs typeface="黑体"/>
              </a:rPr>
              <a:t>存储指令等。由于编译器能够看到更宽广的指令窗口，因此它能够做出更精确的指令调度决策，这样不仅减少了硬件的复杂性，同时也降低了处理器的功</a:t>
            </a:r>
            <a:r>
              <a:rPr dirty="0" sz="2400" spc="-20">
                <a:solidFill>
                  <a:srgbClr val="0000CC"/>
                </a:solidFill>
                <a:latin typeface="黑体"/>
                <a:cs typeface="黑体"/>
              </a:rPr>
              <a:t>耗和成本。</a:t>
            </a:r>
            <a:endParaRPr sz="2400">
              <a:latin typeface="黑体"/>
              <a:cs typeface="黑体"/>
            </a:endParaRPr>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627380" algn="l"/>
                <a:tab pos="10788015" algn="l"/>
              </a:tabLst>
            </a:pPr>
            <a:r>
              <a:rPr dirty="0"/>
              <a:t>	6.3</a:t>
            </a:r>
            <a:r>
              <a:rPr dirty="0" spc="15"/>
              <a:t> </a:t>
            </a:r>
            <a:r>
              <a:rPr dirty="0"/>
              <a:t>静态多指令</a:t>
            </a:r>
            <a:r>
              <a:rPr dirty="0" spc="-15"/>
              <a:t>流</a:t>
            </a:r>
            <a:r>
              <a:rPr dirty="0" spc="-10"/>
              <a:t>出</a:t>
            </a:r>
            <a:r>
              <a:rPr dirty="0" spc="-10">
                <a:latin typeface="Arial"/>
                <a:cs typeface="Arial"/>
              </a:rPr>
              <a:t>—</a:t>
            </a:r>
            <a:r>
              <a:rPr dirty="0" spc="-15">
                <a:latin typeface="Arial"/>
                <a:cs typeface="Arial"/>
              </a:rPr>
              <a:t>—</a:t>
            </a:r>
            <a:r>
              <a:rPr dirty="0" spc="-10"/>
              <a:t>VLIW技</a:t>
            </a:r>
            <a:r>
              <a:rPr dirty="0" spc="-50"/>
              <a:t>术</a:t>
            </a:r>
            <a:r>
              <a:rPr dirty="0"/>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46/89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342391" y="544249"/>
            <a:ext cx="11842115" cy="5869305"/>
          </a:xfrm>
          <a:prstGeom prst="rect">
            <a:avLst/>
          </a:prstGeom>
        </p:spPr>
        <p:txBody>
          <a:bodyPr wrap="square" lIns="0" tIns="191770" rIns="0" bIns="0" rtlCol="0" vert="horz">
            <a:spAutoFit/>
          </a:bodyPr>
          <a:lstStyle/>
          <a:p>
            <a:pPr marL="467995" indent="-455295">
              <a:lnSpc>
                <a:spcPct val="100000"/>
              </a:lnSpc>
              <a:spcBef>
                <a:spcPts val="1510"/>
              </a:spcBef>
              <a:buClr>
                <a:srgbClr val="40458B"/>
              </a:buClr>
              <a:buAutoNum type="arabicPeriod" startAt="3"/>
              <a:tabLst>
                <a:tab pos="467995" algn="l"/>
              </a:tabLst>
            </a:pPr>
            <a:r>
              <a:rPr dirty="0" sz="2800" spc="-25">
                <a:solidFill>
                  <a:srgbClr val="E14B04"/>
                </a:solidFill>
                <a:latin typeface="Times New Roman"/>
                <a:cs typeface="Times New Roman"/>
              </a:rPr>
              <a:t>VLIW</a:t>
            </a:r>
            <a:r>
              <a:rPr dirty="0" sz="2800" spc="-25">
                <a:solidFill>
                  <a:srgbClr val="E14B04"/>
                </a:solidFill>
                <a:latin typeface="黑体"/>
                <a:cs typeface="黑体"/>
              </a:rPr>
              <a:t>性能分析（缺点</a:t>
            </a:r>
            <a:r>
              <a:rPr dirty="0" sz="2800" spc="-50">
                <a:solidFill>
                  <a:srgbClr val="E14B04"/>
                </a:solidFill>
                <a:latin typeface="黑体"/>
                <a:cs typeface="黑体"/>
              </a:rPr>
              <a:t>）</a:t>
            </a:r>
            <a:endParaRPr sz="2800">
              <a:latin typeface="黑体"/>
              <a:cs typeface="黑体"/>
            </a:endParaRPr>
          </a:p>
          <a:p>
            <a:pPr lvl="1" marL="1097280" indent="-455295">
              <a:lnSpc>
                <a:spcPct val="100000"/>
              </a:lnSpc>
              <a:spcBef>
                <a:spcPts val="1220"/>
              </a:spcBef>
              <a:buClr>
                <a:srgbClr val="40458B"/>
              </a:buClr>
              <a:buSzPct val="89583"/>
              <a:buFont typeface="Wingdings"/>
              <a:buChar char=""/>
              <a:tabLst>
                <a:tab pos="1097280" algn="l"/>
              </a:tabLst>
            </a:pPr>
            <a:r>
              <a:rPr dirty="0" sz="2400" spc="-25">
                <a:solidFill>
                  <a:srgbClr val="0000CC"/>
                </a:solidFill>
                <a:latin typeface="Times New Roman"/>
                <a:cs typeface="Times New Roman"/>
              </a:rPr>
              <a:t>VLIW</a:t>
            </a:r>
            <a:r>
              <a:rPr dirty="0" sz="2400" spc="-10">
                <a:solidFill>
                  <a:srgbClr val="0000CC"/>
                </a:solidFill>
                <a:latin typeface="黑体"/>
                <a:cs typeface="黑体"/>
              </a:rPr>
              <a:t>目标代码编码效率低</a:t>
            </a:r>
            <a:endParaRPr sz="2400">
              <a:latin typeface="黑体"/>
              <a:cs typeface="黑体"/>
            </a:endParaRPr>
          </a:p>
          <a:p>
            <a:pPr lvl="2" marL="1513205" indent="-235585">
              <a:lnSpc>
                <a:spcPct val="100000"/>
              </a:lnSpc>
              <a:spcBef>
                <a:spcPts val="1085"/>
              </a:spcBef>
              <a:buClr>
                <a:srgbClr val="4668F5"/>
              </a:buClr>
              <a:buSzPct val="59090"/>
              <a:buFont typeface="Wingdings"/>
              <a:buChar char=""/>
              <a:tabLst>
                <a:tab pos="1513205" algn="l"/>
              </a:tabLst>
            </a:pPr>
            <a:r>
              <a:rPr dirty="0" sz="2200" spc="-30" b="1">
                <a:solidFill>
                  <a:srgbClr val="FF5CFF"/>
                </a:solidFill>
                <a:latin typeface="宋体"/>
                <a:cs typeface="宋体"/>
              </a:rPr>
              <a:t>为消除流水线“空转”需要增加循环展开的次数</a:t>
            </a:r>
            <a:endParaRPr sz="2200">
              <a:latin typeface="宋体"/>
              <a:cs typeface="宋体"/>
            </a:endParaRPr>
          </a:p>
          <a:p>
            <a:pPr lvl="2" marL="1513205" indent="-235585">
              <a:lnSpc>
                <a:spcPct val="100000"/>
              </a:lnSpc>
              <a:spcBef>
                <a:spcPts val="1060"/>
              </a:spcBef>
              <a:buClr>
                <a:srgbClr val="4668F5"/>
              </a:buClr>
              <a:buSzPct val="59090"/>
              <a:buFont typeface="Wingdings"/>
              <a:buChar char=""/>
              <a:tabLst>
                <a:tab pos="1513205" algn="l"/>
              </a:tabLst>
            </a:pPr>
            <a:r>
              <a:rPr dirty="0" sz="2200" spc="-20" b="1">
                <a:solidFill>
                  <a:srgbClr val="FF5CFF"/>
                </a:solidFill>
                <a:latin typeface="宋体"/>
                <a:cs typeface="宋体"/>
              </a:rPr>
              <a:t>很难从应用程序中找到足够多的并行指令填满</a:t>
            </a:r>
            <a:r>
              <a:rPr dirty="0" sz="2200" spc="-10" b="1">
                <a:solidFill>
                  <a:srgbClr val="FF5CFF"/>
                </a:solidFill>
                <a:latin typeface="Times New Roman"/>
                <a:cs typeface="Times New Roman"/>
              </a:rPr>
              <a:t>VLIW</a:t>
            </a:r>
            <a:r>
              <a:rPr dirty="0" sz="2200" spc="-25" b="1">
                <a:solidFill>
                  <a:srgbClr val="FF5CFF"/>
                </a:solidFill>
                <a:latin typeface="宋体"/>
                <a:cs typeface="宋体"/>
              </a:rPr>
              <a:t>指令中的每一个</a:t>
            </a:r>
            <a:r>
              <a:rPr dirty="0" sz="2200" spc="-20" b="1">
                <a:solidFill>
                  <a:srgbClr val="FF5CFF"/>
                </a:solidFill>
                <a:latin typeface="Times New Roman"/>
                <a:cs typeface="Times New Roman"/>
              </a:rPr>
              <a:t>slot</a:t>
            </a:r>
            <a:endParaRPr sz="2200">
              <a:latin typeface="Times New Roman"/>
              <a:cs typeface="Times New Roman"/>
            </a:endParaRPr>
          </a:p>
          <a:p>
            <a:pPr lvl="1" marL="1097280" indent="-455295">
              <a:lnSpc>
                <a:spcPct val="100000"/>
              </a:lnSpc>
              <a:spcBef>
                <a:spcPts val="1120"/>
              </a:spcBef>
              <a:buClr>
                <a:srgbClr val="40458B"/>
              </a:buClr>
              <a:buSzPct val="89583"/>
              <a:buFont typeface="Wingdings"/>
              <a:buChar char=""/>
              <a:tabLst>
                <a:tab pos="1097280" algn="l"/>
              </a:tabLst>
            </a:pPr>
            <a:r>
              <a:rPr dirty="0" sz="2400" spc="-25">
                <a:solidFill>
                  <a:srgbClr val="0000CC"/>
                </a:solidFill>
                <a:latin typeface="Times New Roman"/>
                <a:cs typeface="Times New Roman"/>
              </a:rPr>
              <a:t>VLIW</a:t>
            </a:r>
            <a:r>
              <a:rPr dirty="0" sz="2400" spc="-10">
                <a:solidFill>
                  <a:srgbClr val="0000CC"/>
                </a:solidFill>
                <a:latin typeface="黑体"/>
                <a:cs typeface="黑体"/>
              </a:rPr>
              <a:t>流水线的互锁机制</a:t>
            </a:r>
            <a:endParaRPr sz="2400">
              <a:latin typeface="黑体"/>
              <a:cs typeface="黑体"/>
            </a:endParaRPr>
          </a:p>
          <a:p>
            <a:pPr lvl="2" marL="1491615" indent="-213995">
              <a:lnSpc>
                <a:spcPct val="100000"/>
              </a:lnSpc>
              <a:spcBef>
                <a:spcPts val="1090"/>
              </a:spcBef>
              <a:buClr>
                <a:srgbClr val="4668F5"/>
              </a:buClr>
              <a:buSzPct val="54545"/>
              <a:buFont typeface="Wingdings"/>
              <a:buChar char=""/>
              <a:tabLst>
                <a:tab pos="1491615" algn="l"/>
              </a:tabLst>
            </a:pPr>
            <a:r>
              <a:rPr dirty="0" sz="2200" spc="-10" b="1">
                <a:solidFill>
                  <a:srgbClr val="FF5CFF"/>
                </a:solidFill>
                <a:latin typeface="Times New Roman"/>
                <a:cs typeface="Times New Roman"/>
              </a:rPr>
              <a:t>VLIW</a:t>
            </a:r>
            <a:r>
              <a:rPr dirty="0" sz="2200" spc="-40" b="1">
                <a:solidFill>
                  <a:srgbClr val="FF5CFF"/>
                </a:solidFill>
                <a:latin typeface="宋体"/>
                <a:cs typeface="宋体"/>
              </a:rPr>
              <a:t>处理器中没有实现任何相关检测逻辑，而是靠互 锁机制保证执行结果的正确</a:t>
            </a:r>
            <a:endParaRPr sz="2200">
              <a:latin typeface="宋体"/>
              <a:cs typeface="宋体"/>
            </a:endParaRPr>
          </a:p>
          <a:p>
            <a:pPr lvl="2" marL="1513205" indent="-235585">
              <a:lnSpc>
                <a:spcPct val="100000"/>
              </a:lnSpc>
              <a:spcBef>
                <a:spcPts val="1055"/>
              </a:spcBef>
              <a:buClr>
                <a:srgbClr val="4668F5"/>
              </a:buClr>
              <a:buSzPct val="59090"/>
              <a:buFont typeface="Wingdings"/>
              <a:buChar char=""/>
              <a:tabLst>
                <a:tab pos="1513205" algn="l"/>
              </a:tabLst>
            </a:pPr>
            <a:r>
              <a:rPr dirty="0" sz="2200" spc="-25" b="1">
                <a:solidFill>
                  <a:srgbClr val="FF5CFF"/>
                </a:solidFill>
                <a:latin typeface="宋体"/>
                <a:cs typeface="宋体"/>
              </a:rPr>
              <a:t>这种简单的互锁机制将造成较大的开销</a:t>
            </a:r>
            <a:endParaRPr sz="2200">
              <a:latin typeface="宋体"/>
              <a:cs typeface="宋体"/>
            </a:endParaRPr>
          </a:p>
          <a:p>
            <a:pPr lvl="1" marL="1097280" indent="-455295">
              <a:lnSpc>
                <a:spcPct val="100000"/>
              </a:lnSpc>
              <a:spcBef>
                <a:spcPts val="1120"/>
              </a:spcBef>
              <a:buClr>
                <a:srgbClr val="40458B"/>
              </a:buClr>
              <a:buSzPct val="89583"/>
              <a:buFont typeface="Wingdings"/>
              <a:buChar char=""/>
              <a:tabLst>
                <a:tab pos="1097280" algn="l"/>
              </a:tabLst>
            </a:pPr>
            <a:r>
              <a:rPr dirty="0" sz="2400" spc="-20">
                <a:solidFill>
                  <a:srgbClr val="0000CC"/>
                </a:solidFill>
                <a:latin typeface="黑体"/>
                <a:cs typeface="黑体"/>
              </a:rPr>
              <a:t>目标代码兼容性差</a:t>
            </a:r>
            <a:endParaRPr sz="2400">
              <a:latin typeface="黑体"/>
              <a:cs typeface="黑体"/>
            </a:endParaRPr>
          </a:p>
          <a:p>
            <a:pPr lvl="2" marL="1491615" indent="-213995">
              <a:lnSpc>
                <a:spcPct val="100000"/>
              </a:lnSpc>
              <a:spcBef>
                <a:spcPts val="1090"/>
              </a:spcBef>
              <a:buClr>
                <a:srgbClr val="4668F5"/>
              </a:buClr>
              <a:buSzPct val="54545"/>
              <a:buFont typeface="Wingdings"/>
              <a:buChar char=""/>
              <a:tabLst>
                <a:tab pos="1491615" algn="l"/>
              </a:tabLst>
            </a:pPr>
            <a:r>
              <a:rPr dirty="0" sz="2200" spc="-30" b="1">
                <a:solidFill>
                  <a:srgbClr val="FF5CFF"/>
                </a:solidFill>
                <a:latin typeface="宋体"/>
                <a:cs typeface="宋体"/>
              </a:rPr>
              <a:t>二进制翻译</a:t>
            </a:r>
            <a:endParaRPr sz="2200">
              <a:latin typeface="宋体"/>
              <a:cs typeface="宋体"/>
            </a:endParaRPr>
          </a:p>
          <a:p>
            <a:pPr lvl="2" marL="1443355" indent="-176530">
              <a:lnSpc>
                <a:spcPct val="100000"/>
              </a:lnSpc>
              <a:spcBef>
                <a:spcPts val="1055"/>
              </a:spcBef>
              <a:buClr>
                <a:srgbClr val="4668F5"/>
              </a:buClr>
              <a:buSzPct val="54545"/>
              <a:buFont typeface="Wingdings"/>
              <a:buChar char=""/>
              <a:tabLst>
                <a:tab pos="1443355" algn="l"/>
              </a:tabLst>
            </a:pPr>
            <a:r>
              <a:rPr dirty="0" sz="2200" spc="-10" b="1">
                <a:solidFill>
                  <a:srgbClr val="FF5CFF"/>
                </a:solidFill>
                <a:latin typeface="Times New Roman"/>
                <a:cs typeface="Times New Roman"/>
              </a:rPr>
              <a:t>VLIW</a:t>
            </a:r>
            <a:r>
              <a:rPr dirty="0" sz="2200" spc="-25" b="1">
                <a:solidFill>
                  <a:srgbClr val="FF5CFF"/>
                </a:solidFill>
                <a:latin typeface="宋体"/>
                <a:cs typeface="宋体"/>
              </a:rPr>
              <a:t>指令格式与功能单元的数量、类型、延迟紧密绑定。</a:t>
            </a:r>
            <a:endParaRPr sz="2200">
              <a:latin typeface="宋体"/>
              <a:cs typeface="宋体"/>
            </a:endParaRPr>
          </a:p>
          <a:p>
            <a:pPr lvl="2" marL="1443355" indent="-176530">
              <a:lnSpc>
                <a:spcPct val="100000"/>
              </a:lnSpc>
              <a:spcBef>
                <a:spcPts val="1060"/>
              </a:spcBef>
              <a:buClr>
                <a:srgbClr val="4668F5"/>
              </a:buClr>
              <a:buSzPct val="54545"/>
              <a:buFont typeface="Wingdings"/>
              <a:buChar char=""/>
              <a:tabLst>
                <a:tab pos="1443355" algn="l"/>
              </a:tabLst>
            </a:pPr>
            <a:r>
              <a:rPr dirty="0" sz="2200" spc="-25" b="1">
                <a:solidFill>
                  <a:srgbClr val="FF5CFF"/>
                </a:solidFill>
                <a:latin typeface="宋体"/>
                <a:cs typeface="宋体"/>
              </a:rPr>
              <a:t>一旦改变处理器设计（如增加一个功能单元），</a:t>
            </a:r>
            <a:r>
              <a:rPr dirty="0" sz="2200" spc="-30" b="1">
                <a:solidFill>
                  <a:srgbClr val="FF5CFF"/>
                </a:solidFill>
                <a:latin typeface="宋体"/>
                <a:cs typeface="宋体"/>
              </a:rPr>
              <a:t>指令格式就必须改变，之前编译的二</a:t>
            </a:r>
            <a:endParaRPr sz="2200">
              <a:latin typeface="宋体"/>
              <a:cs typeface="宋体"/>
            </a:endParaRPr>
          </a:p>
          <a:p>
            <a:pPr marL="1382395">
              <a:lnSpc>
                <a:spcPct val="100000"/>
              </a:lnSpc>
              <a:spcBef>
                <a:spcPts val="530"/>
              </a:spcBef>
            </a:pPr>
            <a:r>
              <a:rPr dirty="0" sz="2200" spc="-25" b="1">
                <a:solidFill>
                  <a:srgbClr val="FF5CFF"/>
                </a:solidFill>
                <a:latin typeface="宋体"/>
                <a:cs typeface="宋体"/>
              </a:rPr>
              <a:t>进制程序将无法运行。这严重阻碍了技术迭代和市场接受度。</a:t>
            </a:r>
            <a:endParaRPr sz="2200">
              <a:latin typeface="宋体"/>
              <a:cs typeface="宋体"/>
            </a:endParaRPr>
          </a:p>
        </p:txBody>
      </p:sp>
      <p:sp>
        <p:nvSpPr>
          <p:cNvPr id="9" name="object 9"/>
          <p:cNvSpPr txBox="1">
            <a:spLocks noGrp="1"/>
          </p:cNvSpPr>
          <p:nvPr>
            <p:ph type="title"/>
          </p:nvPr>
        </p:nvSpPr>
        <p:spPr>
          <a:xfrm>
            <a:off x="1403350" y="108026"/>
            <a:ext cx="10801350" cy="514350"/>
          </a:xfrm>
          <a:prstGeom prst="rect"/>
        </p:spPr>
        <p:txBody>
          <a:bodyPr wrap="square" lIns="0" tIns="13335" rIns="0" bIns="0" rtlCol="0" vert="horz">
            <a:spAutoFit/>
          </a:bodyPr>
          <a:lstStyle/>
          <a:p>
            <a:pPr marL="12700">
              <a:lnSpc>
                <a:spcPct val="100000"/>
              </a:lnSpc>
              <a:spcBef>
                <a:spcPts val="105"/>
              </a:spcBef>
              <a:tabLst>
                <a:tab pos="627380" algn="l"/>
                <a:tab pos="10788015" algn="l"/>
              </a:tabLst>
            </a:pPr>
            <a:r>
              <a:rPr dirty="0"/>
              <a:t>	6.3</a:t>
            </a:r>
            <a:r>
              <a:rPr dirty="0" spc="15"/>
              <a:t> </a:t>
            </a:r>
            <a:r>
              <a:rPr dirty="0"/>
              <a:t>静态多指令</a:t>
            </a:r>
            <a:r>
              <a:rPr dirty="0" spc="-15"/>
              <a:t>流</a:t>
            </a:r>
            <a:r>
              <a:rPr dirty="0" spc="-10"/>
              <a:t>出</a:t>
            </a:r>
            <a:r>
              <a:rPr dirty="0" spc="-10">
                <a:latin typeface="Arial"/>
                <a:cs typeface="Arial"/>
              </a:rPr>
              <a:t>—</a:t>
            </a:r>
            <a:r>
              <a:rPr dirty="0" spc="-15">
                <a:latin typeface="Arial"/>
                <a:cs typeface="Arial"/>
              </a:rPr>
              <a:t>—</a:t>
            </a:r>
            <a:r>
              <a:rPr dirty="0" spc="-10"/>
              <a:t>VLIW技</a:t>
            </a:r>
            <a:r>
              <a:rPr dirty="0" spc="-50"/>
              <a:t>术</a:t>
            </a:r>
            <a:r>
              <a:rPr dirty="0"/>
              <a:t>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47/89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78739" y="718874"/>
            <a:ext cx="12084050" cy="2168525"/>
          </a:xfrm>
          <a:prstGeom prst="rect">
            <a:avLst/>
          </a:prstGeom>
        </p:spPr>
        <p:txBody>
          <a:bodyPr wrap="square" lIns="0" tIns="191770" rIns="0" bIns="0" rtlCol="0" vert="horz">
            <a:spAutoFit/>
          </a:bodyPr>
          <a:lstStyle/>
          <a:p>
            <a:pPr marL="467359" indent="-454659">
              <a:lnSpc>
                <a:spcPct val="100000"/>
              </a:lnSpc>
              <a:spcBef>
                <a:spcPts val="1510"/>
              </a:spcBef>
              <a:buClr>
                <a:srgbClr val="40458B"/>
              </a:buClr>
              <a:buFont typeface="Tahoma"/>
              <a:buAutoNum type="arabicPeriod" startAt="4"/>
              <a:tabLst>
                <a:tab pos="467359" algn="l"/>
              </a:tabLst>
            </a:pPr>
            <a:r>
              <a:rPr dirty="0" sz="2800" spc="-25">
                <a:solidFill>
                  <a:srgbClr val="E14B04"/>
                </a:solidFill>
                <a:latin typeface="黑体"/>
                <a:cs typeface="黑体"/>
              </a:rPr>
              <a:t>性能比较</a:t>
            </a:r>
            <a:r>
              <a:rPr dirty="0" sz="2800" spc="-35">
                <a:solidFill>
                  <a:srgbClr val="E14B04"/>
                </a:solidFill>
                <a:latin typeface="Tahoma"/>
                <a:cs typeface="Tahoma"/>
              </a:rPr>
              <a:t>——</a:t>
            </a:r>
            <a:r>
              <a:rPr dirty="0" sz="2800" spc="-105">
                <a:solidFill>
                  <a:srgbClr val="E14B04"/>
                </a:solidFill>
                <a:latin typeface="黑体"/>
                <a:cs typeface="黑体"/>
              </a:rPr>
              <a:t>多流出处理器 </a:t>
            </a:r>
            <a:r>
              <a:rPr dirty="0" sz="2800">
                <a:solidFill>
                  <a:srgbClr val="E14B04"/>
                </a:solidFill>
                <a:latin typeface="Tahoma"/>
                <a:cs typeface="Tahoma"/>
              </a:rPr>
              <a:t>vs.</a:t>
            </a:r>
            <a:r>
              <a:rPr dirty="0" sz="2800" spc="55">
                <a:solidFill>
                  <a:srgbClr val="E14B04"/>
                </a:solidFill>
                <a:latin typeface="Tahoma"/>
                <a:cs typeface="Tahoma"/>
              </a:rPr>
              <a:t> </a:t>
            </a:r>
            <a:r>
              <a:rPr dirty="0" sz="2800" spc="-30">
                <a:solidFill>
                  <a:srgbClr val="E14B04"/>
                </a:solidFill>
                <a:latin typeface="黑体"/>
                <a:cs typeface="黑体"/>
              </a:rPr>
              <a:t>向量处理器</a:t>
            </a:r>
            <a:endParaRPr sz="2800">
              <a:latin typeface="黑体"/>
              <a:cs typeface="黑体"/>
            </a:endParaRPr>
          </a:p>
          <a:p>
            <a:pPr lvl="1" marL="1097915" indent="-455930">
              <a:lnSpc>
                <a:spcPct val="100000"/>
              </a:lnSpc>
              <a:spcBef>
                <a:spcPts val="1220"/>
              </a:spcBef>
              <a:buClr>
                <a:srgbClr val="40458B"/>
              </a:buClr>
              <a:buSzPct val="89583"/>
              <a:buFont typeface="Wingdings"/>
              <a:buChar char=""/>
              <a:tabLst>
                <a:tab pos="1097915" algn="l"/>
              </a:tabLst>
            </a:pPr>
            <a:r>
              <a:rPr dirty="0" sz="2400" spc="-5">
                <a:solidFill>
                  <a:srgbClr val="0000CC"/>
                </a:solidFill>
                <a:latin typeface="黑体"/>
                <a:cs typeface="黑体"/>
              </a:rPr>
              <a:t>即使对于一些结构不规则的代码，多流出处理器也能从中挖掘出一些指令级并行。</a:t>
            </a:r>
            <a:endParaRPr sz="2400">
              <a:latin typeface="黑体"/>
              <a:cs typeface="黑体"/>
            </a:endParaRPr>
          </a:p>
          <a:p>
            <a:pPr lvl="1" marL="1097915" marR="461009" indent="-456565">
              <a:lnSpc>
                <a:spcPct val="121100"/>
              </a:lnSpc>
              <a:spcBef>
                <a:spcPts val="545"/>
              </a:spcBef>
              <a:buClr>
                <a:srgbClr val="40458B"/>
              </a:buClr>
              <a:buSzPct val="89583"/>
              <a:buFont typeface="Wingdings"/>
              <a:buChar char=""/>
              <a:tabLst>
                <a:tab pos="1097915" algn="l"/>
              </a:tabLst>
            </a:pPr>
            <a:r>
              <a:rPr dirty="0" sz="2400">
                <a:solidFill>
                  <a:srgbClr val="0000CC"/>
                </a:solidFill>
                <a:latin typeface="黑体"/>
                <a:cs typeface="黑体"/>
              </a:rPr>
              <a:t>多流出处理器对存储系统没有过高的要求，价格较便宜、由</a:t>
            </a:r>
            <a:r>
              <a:rPr dirty="0" sz="2400">
                <a:solidFill>
                  <a:srgbClr val="0000CC"/>
                </a:solidFill>
                <a:latin typeface="Times New Roman"/>
                <a:cs typeface="Times New Roman"/>
              </a:rPr>
              <a:t>Cache</a:t>
            </a:r>
            <a:r>
              <a:rPr dirty="0" sz="2400" spc="-10">
                <a:solidFill>
                  <a:srgbClr val="0000CC"/>
                </a:solidFill>
                <a:latin typeface="黑体"/>
                <a:cs typeface="黑体"/>
              </a:rPr>
              <a:t>和主存构成的</a:t>
            </a:r>
            <a:r>
              <a:rPr dirty="0" sz="2400">
                <a:solidFill>
                  <a:srgbClr val="0000CC"/>
                </a:solidFill>
                <a:latin typeface="黑体"/>
                <a:cs typeface="黑体"/>
              </a:rPr>
              <a:t>多层次存储子系统即可满足其对性能的要求</a:t>
            </a:r>
            <a:r>
              <a:rPr dirty="0" sz="2800" spc="-50">
                <a:solidFill>
                  <a:srgbClr val="0000CC"/>
                </a:solidFill>
                <a:latin typeface="黑体"/>
                <a:cs typeface="黑体"/>
              </a:rPr>
              <a:t>。</a:t>
            </a:r>
            <a:endParaRPr sz="2800">
              <a:latin typeface="黑体"/>
              <a:cs typeface="黑体"/>
            </a:endParaRPr>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627380" algn="l"/>
                <a:tab pos="10788015" algn="l"/>
              </a:tabLst>
            </a:pPr>
            <a:r>
              <a:rPr dirty="0"/>
              <a:t>	6.3</a:t>
            </a:r>
            <a:r>
              <a:rPr dirty="0" spc="15"/>
              <a:t> </a:t>
            </a:r>
            <a:r>
              <a:rPr dirty="0"/>
              <a:t>静态多指令</a:t>
            </a:r>
            <a:r>
              <a:rPr dirty="0" spc="-15"/>
              <a:t>流</a:t>
            </a:r>
            <a:r>
              <a:rPr dirty="0" spc="-10"/>
              <a:t>出</a:t>
            </a:r>
            <a:r>
              <a:rPr dirty="0" spc="-10">
                <a:latin typeface="Arial"/>
                <a:cs typeface="Arial"/>
              </a:rPr>
              <a:t>—</a:t>
            </a:r>
            <a:r>
              <a:rPr dirty="0" spc="-15">
                <a:latin typeface="Arial"/>
                <a:cs typeface="Arial"/>
              </a:rPr>
              <a:t>—</a:t>
            </a:r>
            <a:r>
              <a:rPr dirty="0" spc="-10"/>
              <a:t>VLIW技</a:t>
            </a:r>
            <a:r>
              <a:rPr dirty="0" spc="-50"/>
              <a:t>术</a:t>
            </a:r>
            <a:r>
              <a:rPr dirty="0"/>
              <a:t>	</a:t>
            </a:r>
          </a:p>
        </p:txBody>
      </p:sp>
      <p:sp>
        <p:nvSpPr>
          <p:cNvPr id="10" name="object 10" descr=""/>
          <p:cNvSpPr txBox="1"/>
          <p:nvPr/>
        </p:nvSpPr>
        <p:spPr>
          <a:xfrm>
            <a:off x="1200150" y="4581525"/>
            <a:ext cx="10298430" cy="939800"/>
          </a:xfrm>
          <a:prstGeom prst="rect">
            <a:avLst/>
          </a:prstGeom>
          <a:ln w="9525">
            <a:solidFill>
              <a:srgbClr val="080808"/>
            </a:solidFill>
          </a:ln>
        </p:spPr>
        <p:txBody>
          <a:bodyPr wrap="square" lIns="0" tIns="1905" rIns="0" bIns="0" rtlCol="0" vert="horz">
            <a:spAutoFit/>
          </a:bodyPr>
          <a:lstStyle/>
          <a:p>
            <a:pPr marL="91440" marR="132080">
              <a:lnSpc>
                <a:spcPct val="120000"/>
              </a:lnSpc>
              <a:spcBef>
                <a:spcPts val="15"/>
              </a:spcBef>
            </a:pPr>
            <a:r>
              <a:rPr dirty="0" sz="2400">
                <a:solidFill>
                  <a:srgbClr val="D50092"/>
                </a:solidFill>
                <a:latin typeface="微软雅黑"/>
                <a:cs typeface="微软雅黑"/>
              </a:rPr>
              <a:t>结论：</a:t>
            </a:r>
            <a:r>
              <a:rPr dirty="0" sz="2400" spc="-5">
                <a:solidFill>
                  <a:srgbClr val="080808"/>
                </a:solidFill>
                <a:latin typeface="微软雅黑"/>
                <a:cs typeface="微软雅黑"/>
              </a:rPr>
              <a:t>多流出处理器已成为当前实现指令级并行的主要选择，而向量处理器则通常是作为协处理器集成到计算机系统中，以加速特定类型的应用程序。</a:t>
            </a:r>
            <a:endParaRPr sz="2400">
              <a:latin typeface="微软雅黑"/>
              <a:cs typeface="微软雅黑"/>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48/89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186944" y="821970"/>
            <a:ext cx="11607800" cy="3380104"/>
          </a:xfrm>
          <a:prstGeom prst="rect">
            <a:avLst/>
          </a:prstGeom>
        </p:spPr>
        <p:txBody>
          <a:bodyPr wrap="square" lIns="0" tIns="128905" rIns="0" bIns="0" rtlCol="0" vert="horz">
            <a:spAutoFit/>
          </a:bodyPr>
          <a:lstStyle/>
          <a:p>
            <a:pPr marL="532130" indent="-455930">
              <a:lnSpc>
                <a:spcPct val="100000"/>
              </a:lnSpc>
              <a:spcBef>
                <a:spcPts val="1015"/>
              </a:spcBef>
              <a:buClr>
                <a:srgbClr val="40458B"/>
              </a:buClr>
              <a:buSzPct val="89583"/>
              <a:buFont typeface="Wingdings"/>
              <a:buChar char=""/>
              <a:tabLst>
                <a:tab pos="532130" algn="l"/>
              </a:tabLst>
            </a:pPr>
            <a:r>
              <a:rPr dirty="0" sz="2400">
                <a:solidFill>
                  <a:srgbClr val="FF0000"/>
                </a:solidFill>
                <a:latin typeface="宋体"/>
                <a:cs typeface="宋体"/>
              </a:rPr>
              <a:t>超标量</a:t>
            </a:r>
            <a:r>
              <a:rPr dirty="0" sz="2400" spc="-5">
                <a:solidFill>
                  <a:srgbClr val="0000CC"/>
                </a:solidFill>
                <a:latin typeface="宋体"/>
                <a:cs typeface="宋体"/>
              </a:rPr>
              <a:t>完全依赖硬件动态识别出可并行的指令，然后分发给相应的功能硬件单元</a:t>
            </a:r>
            <a:endParaRPr sz="2400">
              <a:latin typeface="宋体"/>
              <a:cs typeface="宋体"/>
            </a:endParaRPr>
          </a:p>
          <a:p>
            <a:pPr lvl="1" marL="739140" indent="-151130">
              <a:lnSpc>
                <a:spcPct val="100000"/>
              </a:lnSpc>
              <a:spcBef>
                <a:spcPts val="770"/>
              </a:spcBef>
              <a:buClr>
                <a:srgbClr val="4668F5"/>
              </a:buClr>
              <a:buSzPct val="55000"/>
              <a:buFont typeface="Wingdings"/>
              <a:buChar char=""/>
              <a:tabLst>
                <a:tab pos="739140" algn="l"/>
              </a:tabLst>
            </a:pPr>
            <a:r>
              <a:rPr dirty="0" sz="2000" spc="-15" b="1">
                <a:solidFill>
                  <a:srgbClr val="FF09FF"/>
                </a:solidFill>
                <a:latin typeface="宋体"/>
                <a:cs typeface="宋体"/>
              </a:rPr>
              <a:t>但硬件复杂度太高，</a:t>
            </a:r>
            <a:r>
              <a:rPr dirty="0" sz="2000" spc="-15" b="1">
                <a:solidFill>
                  <a:srgbClr val="FF09FF"/>
                </a:solidFill>
                <a:latin typeface="Times New Roman"/>
                <a:cs typeface="Times New Roman"/>
              </a:rPr>
              <a:t>8</a:t>
            </a:r>
            <a:r>
              <a:rPr dirty="0" sz="2000" spc="-25" b="1">
                <a:solidFill>
                  <a:srgbClr val="FF09FF"/>
                </a:solidFill>
                <a:latin typeface="宋体"/>
                <a:cs typeface="宋体"/>
              </a:rPr>
              <a:t>流出成为极限。</a:t>
            </a:r>
            <a:endParaRPr sz="2000">
              <a:latin typeface="宋体"/>
              <a:cs typeface="宋体"/>
            </a:endParaRPr>
          </a:p>
          <a:p>
            <a:pPr marL="12700" marR="5080" indent="293370">
              <a:lnSpc>
                <a:spcPct val="110000"/>
              </a:lnSpc>
              <a:spcBef>
                <a:spcPts val="525"/>
              </a:spcBef>
              <a:buClr>
                <a:srgbClr val="40458B"/>
              </a:buClr>
              <a:buSzPct val="89583"/>
              <a:buFont typeface="Wingdings"/>
              <a:buChar char=""/>
              <a:tabLst>
                <a:tab pos="306070" algn="l"/>
              </a:tabLst>
            </a:pPr>
            <a:r>
              <a:rPr dirty="0" sz="2400" spc="-25">
                <a:solidFill>
                  <a:srgbClr val="FF0000"/>
                </a:solidFill>
                <a:latin typeface="Times New Roman"/>
                <a:cs typeface="Times New Roman"/>
              </a:rPr>
              <a:t>VLIW</a:t>
            </a:r>
            <a:r>
              <a:rPr dirty="0" sz="2400" spc="-5">
                <a:solidFill>
                  <a:srgbClr val="0000CC"/>
                </a:solidFill>
                <a:latin typeface="宋体"/>
                <a:cs typeface="宋体"/>
              </a:rPr>
              <a:t>完全依靠编译器识别指令级的并行，静态编译时确定每条指令的流出时刻与执行延迟，然后简单依靠流水线硬件确保指令的实际延迟与编译时假定的延迟不一致时程</a:t>
            </a:r>
            <a:r>
              <a:rPr dirty="0" sz="2400" spc="-15">
                <a:solidFill>
                  <a:srgbClr val="0000CC"/>
                </a:solidFill>
                <a:latin typeface="宋体"/>
                <a:cs typeface="宋体"/>
              </a:rPr>
              <a:t>序执行结果的正确性。</a:t>
            </a:r>
            <a:endParaRPr sz="2400">
              <a:latin typeface="宋体"/>
              <a:cs typeface="宋体"/>
            </a:endParaRPr>
          </a:p>
          <a:p>
            <a:pPr lvl="1" marL="738505" indent="-150495">
              <a:lnSpc>
                <a:spcPct val="100000"/>
              </a:lnSpc>
              <a:spcBef>
                <a:spcPts val="775"/>
              </a:spcBef>
              <a:buClr>
                <a:srgbClr val="4668F5"/>
              </a:buClr>
              <a:buSzPct val="55000"/>
              <a:buFont typeface="Wingdings"/>
              <a:buChar char=""/>
              <a:tabLst>
                <a:tab pos="738505" algn="l"/>
              </a:tabLst>
            </a:pPr>
            <a:r>
              <a:rPr dirty="0" sz="2000" spc="-25" b="1">
                <a:solidFill>
                  <a:srgbClr val="FF09FF"/>
                </a:solidFill>
                <a:latin typeface="宋体"/>
                <a:cs typeface="宋体"/>
              </a:rPr>
              <a:t>存在代码兼容问题，编译器智能程度不够。</a:t>
            </a:r>
            <a:endParaRPr sz="2000">
              <a:latin typeface="宋体"/>
              <a:cs typeface="宋体"/>
            </a:endParaRPr>
          </a:p>
          <a:p>
            <a:pPr>
              <a:lnSpc>
                <a:spcPct val="100000"/>
              </a:lnSpc>
              <a:spcBef>
                <a:spcPts val="1240"/>
              </a:spcBef>
            </a:pPr>
            <a:endParaRPr sz="2000">
              <a:latin typeface="宋体"/>
              <a:cs typeface="宋体"/>
            </a:endParaRPr>
          </a:p>
          <a:p>
            <a:pPr marL="2002789">
              <a:lnSpc>
                <a:spcPct val="100000"/>
              </a:lnSpc>
            </a:pPr>
            <a:r>
              <a:rPr dirty="0" sz="2000" spc="-25" b="1">
                <a:solidFill>
                  <a:srgbClr val="FF09FF"/>
                </a:solidFill>
                <a:latin typeface="黑体"/>
                <a:cs typeface="黑体"/>
              </a:rPr>
              <a:t>完全依靠硬件或完全依靠软件存在上述不足。</a:t>
            </a:r>
            <a:endParaRPr sz="2000">
              <a:latin typeface="黑体"/>
              <a:cs typeface="黑体"/>
            </a:endParaRPr>
          </a:p>
        </p:txBody>
      </p:sp>
      <p:sp>
        <p:nvSpPr>
          <p:cNvPr id="10" name="object 10" descr=""/>
          <p:cNvSpPr txBox="1"/>
          <p:nvPr/>
        </p:nvSpPr>
        <p:spPr>
          <a:xfrm>
            <a:off x="1087627" y="5072253"/>
            <a:ext cx="10364470" cy="391160"/>
          </a:xfrm>
          <a:prstGeom prst="rect">
            <a:avLst/>
          </a:prstGeom>
        </p:spPr>
        <p:txBody>
          <a:bodyPr wrap="square" lIns="0" tIns="12700" rIns="0" bIns="0" rtlCol="0" vert="horz">
            <a:spAutoFit/>
          </a:bodyPr>
          <a:lstStyle/>
          <a:p>
            <a:pPr marL="12700">
              <a:lnSpc>
                <a:spcPct val="100000"/>
              </a:lnSpc>
              <a:spcBef>
                <a:spcPts val="100"/>
              </a:spcBef>
            </a:pPr>
            <a:r>
              <a:rPr dirty="0" sz="2400" spc="-25" b="1">
                <a:solidFill>
                  <a:srgbClr val="FF09FF"/>
                </a:solidFill>
                <a:latin typeface="宋体"/>
                <a:cs typeface="宋体"/>
              </a:rPr>
              <a:t>能否设计一种架构，既保留</a:t>
            </a:r>
            <a:r>
              <a:rPr dirty="0" sz="2400" spc="-25" b="1">
                <a:solidFill>
                  <a:srgbClr val="FF09FF"/>
                </a:solidFill>
                <a:latin typeface="Tahoma"/>
                <a:cs typeface="Tahoma"/>
              </a:rPr>
              <a:t>VLIW</a:t>
            </a:r>
            <a:r>
              <a:rPr dirty="0" sz="2400" spc="-25" b="1">
                <a:solidFill>
                  <a:srgbClr val="FF09FF"/>
                </a:solidFill>
                <a:latin typeface="宋体"/>
                <a:cs typeface="宋体"/>
              </a:rPr>
              <a:t>编译器主导并行又能协同硬件克服其缺点？</a:t>
            </a:r>
            <a:endParaRPr sz="2400">
              <a:latin typeface="宋体"/>
              <a:cs typeface="宋体"/>
            </a:endParaRPr>
          </a:p>
        </p:txBody>
      </p:sp>
      <p:sp>
        <p:nvSpPr>
          <p:cNvPr id="11" name="object 11"/>
          <p:cNvSpPr txBox="1">
            <a:spLocks noGrp="1"/>
          </p:cNvSpPr>
          <p:nvPr>
            <p:ph type="title"/>
          </p:nvPr>
        </p:nvSpPr>
        <p:spPr>
          <a:xfrm>
            <a:off x="1518666" y="36321"/>
            <a:ext cx="4907280" cy="513715"/>
          </a:xfrm>
          <a:prstGeom prst="rect"/>
        </p:spPr>
        <p:txBody>
          <a:bodyPr wrap="square" lIns="0" tIns="12700" rIns="0" bIns="0" rtlCol="0" vert="horz">
            <a:spAutoFit/>
          </a:bodyPr>
          <a:lstStyle/>
          <a:p>
            <a:pPr marL="12700">
              <a:lnSpc>
                <a:spcPct val="100000"/>
              </a:lnSpc>
              <a:spcBef>
                <a:spcPts val="100"/>
              </a:spcBef>
            </a:pPr>
            <a:r>
              <a:rPr dirty="0" u="none">
                <a:solidFill>
                  <a:srgbClr val="40458B"/>
                </a:solidFill>
              </a:rPr>
              <a:t>6.4</a:t>
            </a:r>
            <a:r>
              <a:rPr dirty="0" u="none" spc="-5">
                <a:solidFill>
                  <a:srgbClr val="40458B"/>
                </a:solidFill>
              </a:rPr>
              <a:t> 显示并行指令计算</a:t>
            </a:r>
            <a:r>
              <a:rPr dirty="0" u="none" spc="-20">
                <a:solidFill>
                  <a:srgbClr val="40458B"/>
                </a:solidFill>
              </a:rPr>
              <a:t>EPIC</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49/89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108000" y="946861"/>
            <a:ext cx="11967845" cy="3227705"/>
          </a:xfrm>
          <a:prstGeom prst="rect">
            <a:avLst/>
          </a:prstGeom>
        </p:spPr>
        <p:txBody>
          <a:bodyPr wrap="square" lIns="0" tIns="147955" rIns="0" bIns="0" rtlCol="0" vert="horz">
            <a:spAutoFit/>
          </a:bodyPr>
          <a:lstStyle/>
          <a:p>
            <a:pPr marL="524510">
              <a:lnSpc>
                <a:spcPct val="100000"/>
              </a:lnSpc>
              <a:spcBef>
                <a:spcPts val="1165"/>
              </a:spcBef>
            </a:pPr>
            <a:r>
              <a:rPr dirty="0" sz="2800" spc="-30" b="1">
                <a:solidFill>
                  <a:srgbClr val="FF09FF"/>
                </a:solidFill>
                <a:latin typeface="黑体"/>
                <a:cs typeface="黑体"/>
              </a:rPr>
              <a:t>能否设计一种架构，既保留</a:t>
            </a:r>
            <a:r>
              <a:rPr dirty="0" sz="2800" spc="-25" b="1">
                <a:solidFill>
                  <a:srgbClr val="FF09FF"/>
                </a:solidFill>
                <a:latin typeface="黑体"/>
                <a:cs typeface="黑体"/>
              </a:rPr>
              <a:t>VLIW</a:t>
            </a:r>
            <a:r>
              <a:rPr dirty="0" sz="2800" spc="-35" b="1">
                <a:solidFill>
                  <a:srgbClr val="FF09FF"/>
                </a:solidFill>
                <a:latin typeface="黑体"/>
                <a:cs typeface="黑体"/>
              </a:rPr>
              <a:t>编译器主导并行又能协同硬件克服其缺点</a:t>
            </a:r>
            <a:endParaRPr sz="2800">
              <a:latin typeface="黑体"/>
              <a:cs typeface="黑体"/>
            </a:endParaRPr>
          </a:p>
          <a:p>
            <a:pPr marL="467995" indent="-455295">
              <a:lnSpc>
                <a:spcPct val="100000"/>
              </a:lnSpc>
              <a:spcBef>
                <a:spcPts val="920"/>
              </a:spcBef>
              <a:buClr>
                <a:srgbClr val="40458B"/>
              </a:buClr>
              <a:buSzPct val="89583"/>
              <a:buFont typeface="Wingdings"/>
              <a:buChar char=""/>
              <a:tabLst>
                <a:tab pos="467995" algn="l"/>
              </a:tabLst>
            </a:pPr>
            <a:r>
              <a:rPr dirty="0" sz="2400" spc="-25">
                <a:solidFill>
                  <a:srgbClr val="E14B04"/>
                </a:solidFill>
                <a:latin typeface="Tahoma"/>
                <a:cs typeface="Tahoma"/>
              </a:rPr>
              <a:t>EPIC</a:t>
            </a:r>
            <a:r>
              <a:rPr dirty="0" sz="2400">
                <a:solidFill>
                  <a:srgbClr val="E14B04"/>
                </a:solidFill>
                <a:latin typeface="黑体"/>
                <a:cs typeface="黑体"/>
              </a:rPr>
              <a:t>技术在</a:t>
            </a:r>
            <a:r>
              <a:rPr dirty="0" sz="2400" spc="-20">
                <a:solidFill>
                  <a:srgbClr val="E14B04"/>
                </a:solidFill>
                <a:latin typeface="Tahoma"/>
                <a:cs typeface="Tahoma"/>
              </a:rPr>
              <a:t>VLIW</a:t>
            </a:r>
            <a:r>
              <a:rPr dirty="0" sz="2400" spc="-5">
                <a:solidFill>
                  <a:srgbClr val="E14B04"/>
                </a:solidFill>
                <a:latin typeface="黑体"/>
                <a:cs typeface="黑体"/>
              </a:rPr>
              <a:t>基础上融合了超标量的一些优点，解决上述不足</a:t>
            </a:r>
            <a:endParaRPr sz="2400">
              <a:latin typeface="黑体"/>
              <a:cs typeface="黑体"/>
            </a:endParaRPr>
          </a:p>
          <a:p>
            <a:pPr lvl="1" marL="781685" indent="-257175">
              <a:lnSpc>
                <a:spcPct val="100000"/>
              </a:lnSpc>
              <a:spcBef>
                <a:spcPts val="1480"/>
              </a:spcBef>
              <a:buClr>
                <a:srgbClr val="4668F5"/>
              </a:buClr>
              <a:buSzPct val="72500"/>
              <a:buFont typeface="Wingdings"/>
              <a:buChar char=""/>
              <a:tabLst>
                <a:tab pos="781685" algn="l"/>
              </a:tabLst>
            </a:pPr>
            <a:r>
              <a:rPr dirty="0" sz="2000" spc="-10" b="1">
                <a:solidFill>
                  <a:srgbClr val="0000CC"/>
                </a:solidFill>
                <a:latin typeface="宋体"/>
                <a:cs typeface="宋体"/>
              </a:rPr>
              <a:t>充分利用</a:t>
            </a:r>
            <a:r>
              <a:rPr dirty="0" sz="2000" spc="-20" b="1">
                <a:solidFill>
                  <a:srgbClr val="FF0000"/>
                </a:solidFill>
                <a:latin typeface="宋体"/>
                <a:cs typeface="宋体"/>
              </a:rPr>
              <a:t>编译器和流水线硬件的协同能力</a:t>
            </a:r>
            <a:r>
              <a:rPr dirty="0" sz="2000" spc="-25" b="1">
                <a:solidFill>
                  <a:srgbClr val="0000CC"/>
                </a:solidFill>
                <a:latin typeface="宋体"/>
                <a:cs typeface="宋体"/>
              </a:rPr>
              <a:t>开发更多的指令级并行</a:t>
            </a:r>
            <a:endParaRPr sz="2000">
              <a:latin typeface="宋体"/>
              <a:cs typeface="宋体"/>
            </a:endParaRPr>
          </a:p>
          <a:p>
            <a:pPr lvl="1" marL="779145" marR="160020" indent="-254635">
              <a:lnSpc>
                <a:spcPct val="140100"/>
              </a:lnSpc>
              <a:spcBef>
                <a:spcPts val="140"/>
              </a:spcBef>
              <a:buSzPct val="60000"/>
              <a:buFont typeface="Wingdings"/>
              <a:buChar char=""/>
              <a:tabLst>
                <a:tab pos="779145" algn="l"/>
                <a:tab pos="801370" algn="l"/>
              </a:tabLst>
            </a:pPr>
            <a:r>
              <a:rPr dirty="0" sz="2000">
                <a:solidFill>
                  <a:srgbClr val="4668F5"/>
                </a:solidFill>
                <a:latin typeface="宋体"/>
                <a:cs typeface="宋体"/>
              </a:rPr>
              <a:t>	</a:t>
            </a:r>
            <a:r>
              <a:rPr dirty="0" sz="2000" spc="-10" b="1">
                <a:solidFill>
                  <a:srgbClr val="0000CC"/>
                </a:solidFill>
                <a:latin typeface="宋体"/>
                <a:cs typeface="宋体"/>
              </a:rPr>
              <a:t>根据统计程序运行特征（</a:t>
            </a:r>
            <a:r>
              <a:rPr dirty="0" sz="2000" spc="-20" b="1">
                <a:solidFill>
                  <a:srgbClr val="0000CC"/>
                </a:solidFill>
                <a:latin typeface="宋体"/>
                <a:cs typeface="宋体"/>
              </a:rPr>
              <a:t>分支指令转移成功概率等</a:t>
            </a:r>
            <a:r>
              <a:rPr dirty="0" sz="2000" spc="-10" b="1">
                <a:solidFill>
                  <a:srgbClr val="0000CC"/>
                </a:solidFill>
                <a:latin typeface="宋体"/>
                <a:cs typeface="宋体"/>
              </a:rPr>
              <a:t>）</a:t>
            </a:r>
            <a:r>
              <a:rPr dirty="0" sz="2000" spc="-25" b="1">
                <a:solidFill>
                  <a:srgbClr val="0000CC"/>
                </a:solidFill>
                <a:latin typeface="宋体"/>
                <a:cs typeface="宋体"/>
              </a:rPr>
              <a:t>编译器通过踪迹调度、超块调度等带有极强猜</a:t>
            </a:r>
            <a:r>
              <a:rPr dirty="0" sz="2000" spc="-15" b="1">
                <a:solidFill>
                  <a:srgbClr val="0000CC"/>
                </a:solidFill>
                <a:latin typeface="宋体"/>
                <a:cs typeface="宋体"/>
              </a:rPr>
              <a:t>测性的优化技术尽可能多地挖掘指令级并行。</a:t>
            </a:r>
            <a:endParaRPr sz="2000">
              <a:latin typeface="宋体"/>
              <a:cs typeface="宋体"/>
            </a:endParaRPr>
          </a:p>
          <a:p>
            <a:pPr lvl="1" marL="524510" marR="160655" indent="213995">
              <a:lnSpc>
                <a:spcPct val="120000"/>
              </a:lnSpc>
              <a:spcBef>
                <a:spcPts val="480"/>
              </a:spcBef>
              <a:buClr>
                <a:srgbClr val="4668F5"/>
              </a:buClr>
              <a:buSzPct val="60000"/>
              <a:buFont typeface="Wingdings"/>
              <a:buChar char=""/>
              <a:tabLst>
                <a:tab pos="738505" algn="l"/>
              </a:tabLst>
            </a:pPr>
            <a:r>
              <a:rPr dirty="0" sz="2000" spc="-45" b="1">
                <a:solidFill>
                  <a:srgbClr val="0000CC"/>
                </a:solidFill>
                <a:latin typeface="宋体"/>
                <a:cs typeface="宋体"/>
              </a:rPr>
              <a:t>流水线硬件则提供丰富的计算资源实现这些指令级并行， 并通过专门的机制确保在程序执行过程中</a:t>
            </a:r>
            <a:r>
              <a:rPr dirty="0" sz="2000" spc="-20" b="1">
                <a:solidFill>
                  <a:srgbClr val="0000CC"/>
                </a:solidFill>
                <a:latin typeface="宋体"/>
                <a:cs typeface="宋体"/>
              </a:rPr>
              <a:t>出现预测错误时仍然能得到正确的运行结果，尽量减少由此引起的额外开销</a:t>
            </a:r>
            <a:r>
              <a:rPr dirty="0" sz="2000" spc="-10" b="1">
                <a:solidFill>
                  <a:srgbClr val="0000CC"/>
                </a:solidFill>
                <a:latin typeface="宋体"/>
                <a:cs typeface="宋体"/>
              </a:rPr>
              <a:t>（</a:t>
            </a:r>
            <a:r>
              <a:rPr dirty="0" sz="2000" spc="-20" b="1">
                <a:solidFill>
                  <a:srgbClr val="0000CC"/>
                </a:solidFill>
                <a:latin typeface="宋体"/>
                <a:cs typeface="宋体"/>
              </a:rPr>
              <a:t>例如指令复制</a:t>
            </a:r>
            <a:r>
              <a:rPr dirty="0" sz="2000" spc="-10" b="1">
                <a:solidFill>
                  <a:srgbClr val="0000CC"/>
                </a:solidFill>
                <a:latin typeface="宋体"/>
                <a:cs typeface="宋体"/>
              </a:rPr>
              <a:t>）</a:t>
            </a:r>
            <a:r>
              <a:rPr dirty="0" sz="2000" spc="-50" b="1">
                <a:solidFill>
                  <a:srgbClr val="0000CC"/>
                </a:solidFill>
                <a:latin typeface="宋体"/>
                <a:cs typeface="宋体"/>
              </a:rPr>
              <a:t>。</a:t>
            </a:r>
            <a:endParaRPr sz="2000">
              <a:latin typeface="宋体"/>
              <a:cs typeface="宋体"/>
            </a:endParaRPr>
          </a:p>
        </p:txBody>
      </p:sp>
      <p:sp>
        <p:nvSpPr>
          <p:cNvPr id="10" name="object 10"/>
          <p:cNvSpPr txBox="1">
            <a:spLocks noGrp="1"/>
          </p:cNvSpPr>
          <p:nvPr>
            <p:ph type="title"/>
          </p:nvPr>
        </p:nvSpPr>
        <p:spPr>
          <a:xfrm>
            <a:off x="1518666" y="36321"/>
            <a:ext cx="4907280" cy="513715"/>
          </a:xfrm>
          <a:prstGeom prst="rect"/>
        </p:spPr>
        <p:txBody>
          <a:bodyPr wrap="square" lIns="0" tIns="12700" rIns="0" bIns="0" rtlCol="0" vert="horz">
            <a:spAutoFit/>
          </a:bodyPr>
          <a:lstStyle/>
          <a:p>
            <a:pPr marL="12700">
              <a:lnSpc>
                <a:spcPct val="100000"/>
              </a:lnSpc>
              <a:spcBef>
                <a:spcPts val="100"/>
              </a:spcBef>
            </a:pPr>
            <a:r>
              <a:rPr dirty="0" u="none">
                <a:solidFill>
                  <a:srgbClr val="40458B"/>
                </a:solidFill>
              </a:rPr>
              <a:t>6.4</a:t>
            </a:r>
            <a:r>
              <a:rPr dirty="0" u="none" spc="-5">
                <a:solidFill>
                  <a:srgbClr val="40458B"/>
                </a:solidFill>
              </a:rPr>
              <a:t> 显示并行指令计算</a:t>
            </a:r>
            <a:r>
              <a:rPr dirty="0" u="none" spc="-20">
                <a:solidFill>
                  <a:srgbClr val="40458B"/>
                </a:solidFill>
              </a:rPr>
              <a:t>EPIC</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50/89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179628" y="1065987"/>
            <a:ext cx="11782425" cy="4831715"/>
          </a:xfrm>
          <a:prstGeom prst="rect">
            <a:avLst/>
          </a:prstGeom>
        </p:spPr>
        <p:txBody>
          <a:bodyPr wrap="square" lIns="0" tIns="12065" rIns="0" bIns="0" rtlCol="0" vert="horz">
            <a:spAutoFit/>
          </a:bodyPr>
          <a:lstStyle/>
          <a:p>
            <a:pPr marL="467995" indent="-455295">
              <a:lnSpc>
                <a:spcPct val="100000"/>
              </a:lnSpc>
              <a:spcBef>
                <a:spcPts val="95"/>
              </a:spcBef>
              <a:buClr>
                <a:srgbClr val="40458B"/>
              </a:buClr>
              <a:buSzPct val="89285"/>
              <a:buFont typeface="Wingdings"/>
              <a:buChar char=""/>
              <a:tabLst>
                <a:tab pos="467995" algn="l"/>
              </a:tabLst>
            </a:pPr>
            <a:r>
              <a:rPr dirty="0" sz="2800" spc="-30">
                <a:solidFill>
                  <a:srgbClr val="E14B04"/>
                </a:solidFill>
                <a:latin typeface="黑体"/>
                <a:cs typeface="黑体"/>
              </a:rPr>
              <a:t>什么是</a:t>
            </a:r>
            <a:r>
              <a:rPr dirty="0" sz="2800" spc="-10">
                <a:solidFill>
                  <a:srgbClr val="E14B04"/>
                </a:solidFill>
                <a:latin typeface="Tahoma"/>
                <a:cs typeface="Tahoma"/>
              </a:rPr>
              <a:t>EPIC</a:t>
            </a:r>
            <a:r>
              <a:rPr dirty="0" sz="2800" spc="-10">
                <a:solidFill>
                  <a:srgbClr val="E14B04"/>
                </a:solidFill>
                <a:latin typeface="黑体"/>
                <a:cs typeface="黑体"/>
              </a:rPr>
              <a:t>？</a:t>
            </a:r>
            <a:endParaRPr sz="2800">
              <a:latin typeface="黑体"/>
              <a:cs typeface="黑体"/>
            </a:endParaRPr>
          </a:p>
          <a:p>
            <a:pPr lvl="1" marL="524510" marR="286385" indent="213995">
              <a:lnSpc>
                <a:spcPct val="150000"/>
              </a:lnSpc>
              <a:spcBef>
                <a:spcPts val="680"/>
              </a:spcBef>
              <a:buClr>
                <a:srgbClr val="4668F5"/>
              </a:buClr>
              <a:buSzPct val="50000"/>
              <a:buFont typeface="Wingdings"/>
              <a:buChar char=""/>
              <a:tabLst>
                <a:tab pos="738505" algn="l"/>
              </a:tabLst>
            </a:pPr>
            <a:r>
              <a:rPr dirty="0" sz="2400" spc="-10" b="1">
                <a:solidFill>
                  <a:srgbClr val="0000CC"/>
                </a:solidFill>
                <a:latin typeface="Times New Roman"/>
                <a:cs typeface="Times New Roman"/>
              </a:rPr>
              <a:t>EPIC</a:t>
            </a:r>
            <a:r>
              <a:rPr dirty="0" sz="2400" spc="-10" b="1">
                <a:solidFill>
                  <a:srgbClr val="0000CC"/>
                </a:solidFill>
                <a:latin typeface="宋体"/>
                <a:cs typeface="宋体"/>
              </a:rPr>
              <a:t>（</a:t>
            </a:r>
            <a:r>
              <a:rPr dirty="0" sz="2400" spc="-10" b="1">
                <a:solidFill>
                  <a:srgbClr val="0000CC"/>
                </a:solidFill>
                <a:latin typeface="Times New Roman"/>
                <a:cs typeface="Times New Roman"/>
              </a:rPr>
              <a:t>Explicitly </a:t>
            </a:r>
            <a:r>
              <a:rPr dirty="0" sz="2400" b="1">
                <a:solidFill>
                  <a:srgbClr val="0000CC"/>
                </a:solidFill>
                <a:latin typeface="Times New Roman"/>
                <a:cs typeface="Times New Roman"/>
              </a:rPr>
              <a:t>Parallel</a:t>
            </a:r>
            <a:r>
              <a:rPr dirty="0" sz="2400" spc="-10" b="1">
                <a:solidFill>
                  <a:srgbClr val="0000CC"/>
                </a:solidFill>
                <a:latin typeface="Times New Roman"/>
                <a:cs typeface="Times New Roman"/>
              </a:rPr>
              <a:t> </a:t>
            </a:r>
            <a:r>
              <a:rPr dirty="0" sz="2400" b="1">
                <a:solidFill>
                  <a:srgbClr val="0000CC"/>
                </a:solidFill>
                <a:latin typeface="Times New Roman"/>
                <a:cs typeface="Times New Roman"/>
              </a:rPr>
              <a:t>Instruction </a:t>
            </a:r>
            <a:r>
              <a:rPr dirty="0" sz="2400" spc="-20" b="1">
                <a:solidFill>
                  <a:srgbClr val="0000CC"/>
                </a:solidFill>
                <a:latin typeface="Times New Roman"/>
                <a:cs typeface="Times New Roman"/>
              </a:rPr>
              <a:t>Computing</a:t>
            </a:r>
            <a:r>
              <a:rPr dirty="0" sz="2400" spc="-20" b="1">
                <a:solidFill>
                  <a:srgbClr val="0000CC"/>
                </a:solidFill>
                <a:latin typeface="宋体"/>
                <a:cs typeface="宋体"/>
              </a:rPr>
              <a:t>）技术是一种</a:t>
            </a:r>
            <a:r>
              <a:rPr dirty="0" sz="2400" spc="-25" b="1">
                <a:solidFill>
                  <a:srgbClr val="E14B04"/>
                </a:solidFill>
                <a:latin typeface="宋体"/>
                <a:cs typeface="宋体"/>
              </a:rPr>
              <a:t>显式并行指令计算</a:t>
            </a:r>
            <a:r>
              <a:rPr dirty="0" sz="2400" spc="-30" b="1">
                <a:solidFill>
                  <a:srgbClr val="0000CC"/>
                </a:solidFill>
                <a:latin typeface="宋体"/>
                <a:cs typeface="宋体"/>
              </a:rPr>
              <a:t>的技术。</a:t>
            </a:r>
            <a:endParaRPr sz="2400">
              <a:latin typeface="宋体"/>
              <a:cs typeface="宋体"/>
            </a:endParaRPr>
          </a:p>
          <a:p>
            <a:pPr lvl="1" marL="705485" indent="-193675">
              <a:lnSpc>
                <a:spcPct val="100000"/>
              </a:lnSpc>
              <a:spcBef>
                <a:spcPts val="2020"/>
              </a:spcBef>
              <a:buClr>
                <a:srgbClr val="4668F5"/>
              </a:buClr>
              <a:buSzPct val="56250"/>
              <a:buFont typeface="Wingdings"/>
              <a:buChar char=""/>
              <a:tabLst>
                <a:tab pos="705485" algn="l"/>
              </a:tabLst>
            </a:pPr>
            <a:r>
              <a:rPr dirty="0" sz="2400" spc="-30" b="1">
                <a:solidFill>
                  <a:srgbClr val="0000CC"/>
                </a:solidFill>
                <a:latin typeface="Times New Roman"/>
                <a:cs typeface="Times New Roman"/>
              </a:rPr>
              <a:t>EPIC</a:t>
            </a:r>
            <a:r>
              <a:rPr dirty="0" sz="2400" spc="-20" b="1">
                <a:solidFill>
                  <a:srgbClr val="0000CC"/>
                </a:solidFill>
                <a:latin typeface="宋体"/>
                <a:cs typeface="宋体"/>
              </a:rPr>
              <a:t>技术通过显式并行指令计算，将指令的</a:t>
            </a:r>
            <a:r>
              <a:rPr dirty="0" sz="2400" spc="-20" b="1">
                <a:solidFill>
                  <a:srgbClr val="FF0000"/>
                </a:solidFill>
                <a:latin typeface="宋体"/>
                <a:cs typeface="宋体"/>
              </a:rPr>
              <a:t>并行性</a:t>
            </a:r>
            <a:r>
              <a:rPr dirty="0" sz="2400" spc="-20" b="1">
                <a:solidFill>
                  <a:srgbClr val="0000CC"/>
                </a:solidFill>
                <a:latin typeface="宋体"/>
                <a:cs typeface="宋体"/>
              </a:rPr>
              <a:t>明确地表达在</a:t>
            </a:r>
            <a:r>
              <a:rPr dirty="0" sz="2400" spc="-25" b="1">
                <a:solidFill>
                  <a:srgbClr val="FF0000"/>
                </a:solidFill>
                <a:latin typeface="宋体"/>
                <a:cs typeface="宋体"/>
              </a:rPr>
              <a:t>编译器层面</a:t>
            </a:r>
            <a:r>
              <a:rPr dirty="0" sz="2400" spc="-35" b="1">
                <a:solidFill>
                  <a:srgbClr val="0000CC"/>
                </a:solidFill>
                <a:latin typeface="宋体"/>
                <a:cs typeface="宋体"/>
              </a:rPr>
              <a:t>，这</a:t>
            </a:r>
            <a:endParaRPr sz="2400">
              <a:latin typeface="宋体"/>
              <a:cs typeface="宋体"/>
            </a:endParaRPr>
          </a:p>
          <a:p>
            <a:pPr marL="524510">
              <a:lnSpc>
                <a:spcPct val="100000"/>
              </a:lnSpc>
              <a:spcBef>
                <a:spcPts val="1440"/>
              </a:spcBef>
            </a:pPr>
            <a:r>
              <a:rPr dirty="0" sz="2400" spc="-25" b="1">
                <a:solidFill>
                  <a:srgbClr val="0000CC"/>
                </a:solidFill>
                <a:latin typeface="宋体"/>
                <a:cs typeface="宋体"/>
              </a:rPr>
              <a:t>与传统体系结构中由硬件推测并行性的方式形成了鲜明对比。</a:t>
            </a:r>
            <a:endParaRPr sz="2400">
              <a:latin typeface="宋体"/>
              <a:cs typeface="宋体"/>
            </a:endParaRPr>
          </a:p>
          <a:p>
            <a:pPr lvl="2" marL="977900" indent="-132080">
              <a:lnSpc>
                <a:spcPct val="100000"/>
              </a:lnSpc>
              <a:spcBef>
                <a:spcPts val="1780"/>
              </a:spcBef>
              <a:buClr>
                <a:srgbClr val="FF09FF"/>
              </a:buClr>
              <a:buSzPct val="60000"/>
              <a:buFont typeface="Wingdings"/>
              <a:buChar char=""/>
              <a:tabLst>
                <a:tab pos="977900" algn="l"/>
              </a:tabLst>
            </a:pPr>
            <a:r>
              <a:rPr dirty="0" sz="2000" spc="-30" b="1">
                <a:solidFill>
                  <a:srgbClr val="0000CC"/>
                </a:solidFill>
                <a:latin typeface="宋体"/>
                <a:cs typeface="宋体"/>
              </a:rPr>
              <a:t>指令级并行主要由编译器负责开发，处理器为保证代码正确执行提供必要的硬件支持，只有在这</a:t>
            </a:r>
            <a:endParaRPr sz="2000">
              <a:latin typeface="宋体"/>
              <a:cs typeface="宋体"/>
            </a:endParaRPr>
          </a:p>
          <a:p>
            <a:pPr marL="848994">
              <a:lnSpc>
                <a:spcPct val="100000"/>
              </a:lnSpc>
              <a:spcBef>
                <a:spcPts val="1200"/>
              </a:spcBef>
            </a:pPr>
            <a:r>
              <a:rPr dirty="0" sz="2000" spc="-25" b="1">
                <a:solidFill>
                  <a:srgbClr val="0000CC"/>
                </a:solidFill>
                <a:latin typeface="宋体"/>
                <a:cs typeface="宋体"/>
              </a:rPr>
              <a:t>些硬件机制的辅助下这些优化技术才能高效完成。</a:t>
            </a:r>
            <a:endParaRPr sz="2000">
              <a:latin typeface="宋体"/>
              <a:cs typeface="宋体"/>
            </a:endParaRPr>
          </a:p>
          <a:p>
            <a:pPr lvl="2" marL="1042035" indent="-193040">
              <a:lnSpc>
                <a:spcPct val="100000"/>
              </a:lnSpc>
              <a:spcBef>
                <a:spcPts val="1680"/>
              </a:spcBef>
              <a:buClr>
                <a:srgbClr val="FF09FF"/>
              </a:buClr>
              <a:buSzPct val="60000"/>
              <a:buFont typeface="Wingdings"/>
              <a:buChar char=""/>
              <a:tabLst>
                <a:tab pos="1042035" algn="l"/>
              </a:tabLst>
            </a:pPr>
            <a:r>
              <a:rPr dirty="0" sz="2000" spc="-20" b="1">
                <a:solidFill>
                  <a:srgbClr val="0000CC"/>
                </a:solidFill>
                <a:latin typeface="宋体"/>
                <a:cs typeface="宋体"/>
              </a:rPr>
              <a:t>系统结构必须提供某种</a:t>
            </a:r>
            <a:r>
              <a:rPr dirty="0" sz="2000" spc="-15" b="1">
                <a:solidFill>
                  <a:srgbClr val="FF0000"/>
                </a:solidFill>
                <a:latin typeface="宋体"/>
                <a:cs typeface="宋体"/>
              </a:rPr>
              <a:t>通信机制</a:t>
            </a:r>
            <a:r>
              <a:rPr dirty="0" sz="2000" spc="-25" b="1">
                <a:solidFill>
                  <a:srgbClr val="0000CC"/>
                </a:solidFill>
                <a:latin typeface="宋体"/>
                <a:cs typeface="宋体"/>
              </a:rPr>
              <a:t>，使得流水线硬件能够了解编译器“安排”好的指令执行顺序。</a:t>
            </a:r>
            <a:endParaRPr sz="2000">
              <a:latin typeface="宋体"/>
              <a:cs typeface="宋体"/>
            </a:endParaRPr>
          </a:p>
          <a:p>
            <a:pPr lvl="2" marL="977900" indent="-131445">
              <a:lnSpc>
                <a:spcPct val="100000"/>
              </a:lnSpc>
              <a:spcBef>
                <a:spcPts val="1685"/>
              </a:spcBef>
              <a:buClr>
                <a:srgbClr val="FF09FF"/>
              </a:buClr>
              <a:buSzPct val="60000"/>
              <a:buFont typeface="Wingdings"/>
              <a:buChar char=""/>
              <a:tabLst>
                <a:tab pos="977900" algn="l"/>
              </a:tabLst>
            </a:pPr>
            <a:r>
              <a:rPr dirty="0" sz="2000" spc="-10" b="1">
                <a:solidFill>
                  <a:srgbClr val="0000CC"/>
                </a:solidFill>
                <a:latin typeface="Times New Roman"/>
                <a:cs typeface="Times New Roman"/>
              </a:rPr>
              <a:t>EPIC</a:t>
            </a:r>
            <a:r>
              <a:rPr dirty="0" sz="2000" spc="-10" b="1">
                <a:solidFill>
                  <a:srgbClr val="0000CC"/>
                </a:solidFill>
                <a:latin typeface="宋体"/>
                <a:cs typeface="宋体"/>
              </a:rPr>
              <a:t>技术利用了</a:t>
            </a:r>
            <a:r>
              <a:rPr dirty="0" sz="2000" b="1">
                <a:solidFill>
                  <a:srgbClr val="0000CC"/>
                </a:solidFill>
                <a:latin typeface="Times New Roman"/>
                <a:cs typeface="Times New Roman"/>
              </a:rPr>
              <a:t>VLIW</a:t>
            </a:r>
            <a:r>
              <a:rPr dirty="0" sz="2000" spc="-25" b="1">
                <a:solidFill>
                  <a:srgbClr val="0000CC"/>
                </a:solidFill>
                <a:latin typeface="宋体"/>
                <a:cs typeface="宋体"/>
              </a:rPr>
              <a:t>来实现指令的捆绑，格式相似</a:t>
            </a:r>
            <a:endParaRPr sz="2000">
              <a:latin typeface="宋体"/>
              <a:cs typeface="宋体"/>
            </a:endParaRPr>
          </a:p>
        </p:txBody>
      </p:sp>
      <p:sp>
        <p:nvSpPr>
          <p:cNvPr id="10" name="object 10"/>
          <p:cNvSpPr txBox="1">
            <a:spLocks noGrp="1"/>
          </p:cNvSpPr>
          <p:nvPr>
            <p:ph type="title"/>
          </p:nvPr>
        </p:nvSpPr>
        <p:spPr>
          <a:xfrm>
            <a:off x="1792604" y="36068"/>
            <a:ext cx="4904740" cy="513715"/>
          </a:xfrm>
          <a:prstGeom prst="rect"/>
        </p:spPr>
        <p:txBody>
          <a:bodyPr wrap="square" lIns="0" tIns="12700" rIns="0" bIns="0" rtlCol="0" vert="horz">
            <a:spAutoFit/>
          </a:bodyPr>
          <a:lstStyle/>
          <a:p>
            <a:pPr marL="12700">
              <a:lnSpc>
                <a:spcPct val="100000"/>
              </a:lnSpc>
              <a:spcBef>
                <a:spcPts val="100"/>
              </a:spcBef>
            </a:pPr>
            <a:r>
              <a:rPr dirty="0" u="none"/>
              <a:t>6.4</a:t>
            </a:r>
            <a:r>
              <a:rPr dirty="0" u="none" spc="-10"/>
              <a:t> 显示并行指令计算</a:t>
            </a:r>
            <a:r>
              <a:rPr dirty="0" u="none" spc="-20"/>
              <a:t>EPIC</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51/89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500278" y="789951"/>
            <a:ext cx="11472545" cy="5628005"/>
          </a:xfrm>
          <a:prstGeom prst="rect">
            <a:avLst/>
          </a:prstGeom>
        </p:spPr>
        <p:txBody>
          <a:bodyPr wrap="square" lIns="0" tIns="192405" rIns="0" bIns="0" rtlCol="0" vert="horz">
            <a:spAutoFit/>
          </a:bodyPr>
          <a:lstStyle/>
          <a:p>
            <a:pPr marL="467995" indent="-455295">
              <a:lnSpc>
                <a:spcPct val="100000"/>
              </a:lnSpc>
              <a:spcBef>
                <a:spcPts val="1515"/>
              </a:spcBef>
              <a:buClr>
                <a:srgbClr val="40458B"/>
              </a:buClr>
              <a:buSzPct val="89285"/>
              <a:buFont typeface="Wingdings"/>
              <a:buChar char=""/>
              <a:tabLst>
                <a:tab pos="467995" algn="l"/>
              </a:tabLst>
            </a:pPr>
            <a:r>
              <a:rPr dirty="0" sz="2800" spc="-25" b="1">
                <a:solidFill>
                  <a:srgbClr val="FF0000"/>
                </a:solidFill>
                <a:latin typeface="宋体"/>
                <a:cs typeface="宋体"/>
              </a:rPr>
              <a:t>编译器在</a:t>
            </a:r>
            <a:r>
              <a:rPr dirty="0" sz="2800" spc="-30" b="1">
                <a:solidFill>
                  <a:srgbClr val="FF0000"/>
                </a:solidFill>
                <a:latin typeface="Times New Roman"/>
                <a:cs typeface="Times New Roman"/>
              </a:rPr>
              <a:t>EPIC</a:t>
            </a:r>
            <a:r>
              <a:rPr dirty="0" sz="2800" spc="-35" b="1">
                <a:solidFill>
                  <a:srgbClr val="FF0000"/>
                </a:solidFill>
                <a:latin typeface="宋体"/>
                <a:cs typeface="宋体"/>
              </a:rPr>
              <a:t>技术中对代码进行优化，主要体现在以下几个方面：</a:t>
            </a:r>
            <a:endParaRPr sz="2800">
              <a:latin typeface="宋体"/>
              <a:cs typeface="宋体"/>
            </a:endParaRPr>
          </a:p>
          <a:p>
            <a:pPr lvl="1" marL="524510" marR="6350" indent="-12700">
              <a:lnSpc>
                <a:spcPct val="120000"/>
              </a:lnSpc>
              <a:spcBef>
                <a:spcPts val="640"/>
              </a:spcBef>
              <a:buClr>
                <a:srgbClr val="4668F5"/>
              </a:buClr>
              <a:buSzPct val="56250"/>
              <a:buFont typeface="Wingdings"/>
              <a:buChar char=""/>
              <a:tabLst>
                <a:tab pos="705485" algn="l"/>
              </a:tabLst>
            </a:pPr>
            <a:r>
              <a:rPr dirty="0" sz="2400" spc="-120" b="1">
                <a:solidFill>
                  <a:srgbClr val="FF5CFF"/>
                </a:solidFill>
                <a:latin typeface="宋体"/>
                <a:cs typeface="宋体"/>
              </a:rPr>
              <a:t>	</a:t>
            </a:r>
            <a:r>
              <a:rPr dirty="0" sz="2400" spc="-120" b="1">
                <a:solidFill>
                  <a:srgbClr val="FF5CFF"/>
                </a:solidFill>
                <a:latin typeface="宋体"/>
                <a:cs typeface="宋体"/>
              </a:rPr>
              <a:t>指令调度 ：</a:t>
            </a:r>
            <a:r>
              <a:rPr dirty="0" sz="2400" spc="-5">
                <a:solidFill>
                  <a:srgbClr val="0000CC"/>
                </a:solidFill>
                <a:latin typeface="宋体"/>
                <a:cs typeface="宋体"/>
              </a:rPr>
              <a:t>编译器会根据处理器的指令流水线特性，将代码中的指令进行重新排序，以减少指令间的依赖关系，实现指令的并行执行。</a:t>
            </a:r>
            <a:endParaRPr sz="2400">
              <a:latin typeface="宋体"/>
              <a:cs typeface="宋体"/>
            </a:endParaRPr>
          </a:p>
          <a:p>
            <a:pPr lvl="1" marL="705485" indent="-193675">
              <a:lnSpc>
                <a:spcPct val="100000"/>
              </a:lnSpc>
              <a:spcBef>
                <a:spcPts val="1155"/>
              </a:spcBef>
              <a:buClr>
                <a:srgbClr val="4668F5"/>
              </a:buClr>
              <a:buSzPct val="56250"/>
              <a:buFont typeface="Wingdings"/>
              <a:buChar char=""/>
              <a:tabLst>
                <a:tab pos="705485" algn="l"/>
              </a:tabLst>
            </a:pPr>
            <a:r>
              <a:rPr dirty="0" sz="2400" spc="-90" b="1">
                <a:solidFill>
                  <a:srgbClr val="FF5CFF"/>
                </a:solidFill>
                <a:latin typeface="宋体"/>
                <a:cs typeface="宋体"/>
              </a:rPr>
              <a:t>寄存器分配 ：</a:t>
            </a:r>
            <a:r>
              <a:rPr dirty="0" sz="2400" spc="-15">
                <a:solidFill>
                  <a:srgbClr val="0000CC"/>
                </a:solidFill>
                <a:latin typeface="宋体"/>
                <a:cs typeface="宋体"/>
              </a:rPr>
              <a:t>编译器将频繁使用的变量分配到处理器的寄存器中，减少了访问内</a:t>
            </a:r>
            <a:endParaRPr sz="2400">
              <a:latin typeface="宋体"/>
              <a:cs typeface="宋体"/>
            </a:endParaRPr>
          </a:p>
          <a:p>
            <a:pPr marL="524510">
              <a:lnSpc>
                <a:spcPct val="100000"/>
              </a:lnSpc>
              <a:spcBef>
                <a:spcPts val="575"/>
              </a:spcBef>
            </a:pPr>
            <a:r>
              <a:rPr dirty="0" sz="2400" spc="-5">
                <a:solidFill>
                  <a:srgbClr val="0000CC"/>
                </a:solidFill>
                <a:latin typeface="宋体"/>
                <a:cs typeface="宋体"/>
              </a:rPr>
              <a:t>存的次数，从而降低了延迟。</a:t>
            </a:r>
            <a:endParaRPr sz="2400">
              <a:latin typeface="宋体"/>
              <a:cs typeface="宋体"/>
            </a:endParaRPr>
          </a:p>
          <a:p>
            <a:pPr lvl="1" marL="524510" marR="6350" indent="-12700">
              <a:lnSpc>
                <a:spcPct val="120000"/>
              </a:lnSpc>
              <a:spcBef>
                <a:spcPts val="580"/>
              </a:spcBef>
              <a:buClr>
                <a:srgbClr val="4668F5"/>
              </a:buClr>
              <a:buSzPct val="56250"/>
              <a:buFont typeface="Wingdings"/>
              <a:buChar char=""/>
              <a:tabLst>
                <a:tab pos="705485" algn="l"/>
              </a:tabLst>
            </a:pPr>
            <a:r>
              <a:rPr dirty="0" sz="2400" spc="-120" b="1">
                <a:solidFill>
                  <a:srgbClr val="FF5CFF"/>
                </a:solidFill>
                <a:latin typeface="宋体"/>
                <a:cs typeface="宋体"/>
              </a:rPr>
              <a:t>	</a:t>
            </a:r>
            <a:r>
              <a:rPr dirty="0" sz="2400" spc="-120" b="1">
                <a:solidFill>
                  <a:srgbClr val="FF5CFF"/>
                </a:solidFill>
                <a:latin typeface="宋体"/>
                <a:cs typeface="宋体"/>
              </a:rPr>
              <a:t>循环优化 ：</a:t>
            </a:r>
            <a:r>
              <a:rPr dirty="0" sz="2400" spc="-5">
                <a:solidFill>
                  <a:srgbClr val="0000CC"/>
                </a:solidFill>
                <a:latin typeface="宋体"/>
                <a:cs typeface="宋体"/>
              </a:rPr>
              <a:t>编译器通过循环展开、循环分块等技术减少循环的开销，提高了处理</a:t>
            </a:r>
            <a:r>
              <a:rPr dirty="0" sz="2400" spc="-10">
                <a:solidFill>
                  <a:srgbClr val="0000CC"/>
                </a:solidFill>
                <a:latin typeface="宋体"/>
                <a:cs typeface="宋体"/>
              </a:rPr>
              <a:t>重复数据的能力</a:t>
            </a:r>
            <a:r>
              <a:rPr dirty="0" sz="2000" spc="-50">
                <a:solidFill>
                  <a:srgbClr val="0000CC"/>
                </a:solidFill>
                <a:latin typeface="宋体"/>
                <a:cs typeface="宋体"/>
              </a:rPr>
              <a:t>。</a:t>
            </a:r>
            <a:endParaRPr sz="2000">
              <a:latin typeface="宋体"/>
              <a:cs typeface="宋体"/>
            </a:endParaRPr>
          </a:p>
          <a:p>
            <a:pPr marL="467995" indent="-455295">
              <a:lnSpc>
                <a:spcPct val="100000"/>
              </a:lnSpc>
              <a:spcBef>
                <a:spcPts val="1280"/>
              </a:spcBef>
              <a:buClr>
                <a:srgbClr val="40458B"/>
              </a:buClr>
              <a:buSzPct val="89285"/>
              <a:buFont typeface="Wingdings"/>
              <a:buChar char=""/>
              <a:tabLst>
                <a:tab pos="467995" algn="l"/>
              </a:tabLst>
            </a:pPr>
            <a:r>
              <a:rPr dirty="0" sz="2800" spc="-25">
                <a:solidFill>
                  <a:srgbClr val="6600FF"/>
                </a:solidFill>
                <a:latin typeface="Tahoma"/>
                <a:cs typeface="Tahoma"/>
              </a:rPr>
              <a:t>EPIC</a:t>
            </a:r>
            <a:r>
              <a:rPr dirty="0" sz="2800" spc="-35">
                <a:solidFill>
                  <a:srgbClr val="0000CC"/>
                </a:solidFill>
                <a:latin typeface="黑体"/>
                <a:cs typeface="黑体"/>
              </a:rPr>
              <a:t>编译器的高级优化技术（重点解决分支延迟</a:t>
            </a:r>
            <a:r>
              <a:rPr dirty="0" sz="2800" spc="-50">
                <a:solidFill>
                  <a:srgbClr val="0000CC"/>
                </a:solidFill>
                <a:latin typeface="黑体"/>
                <a:cs typeface="黑体"/>
              </a:rPr>
              <a:t>）</a:t>
            </a:r>
            <a:endParaRPr sz="2800">
              <a:latin typeface="黑体"/>
              <a:cs typeface="黑体"/>
            </a:endParaRPr>
          </a:p>
          <a:p>
            <a:pPr lvl="1" marL="803275" indent="-278765">
              <a:lnSpc>
                <a:spcPct val="100000"/>
              </a:lnSpc>
              <a:spcBef>
                <a:spcPts val="1215"/>
              </a:spcBef>
              <a:buClr>
                <a:srgbClr val="4668F5"/>
              </a:buClr>
              <a:buSzPct val="50000"/>
              <a:buFont typeface="Wingdings"/>
              <a:buChar char=""/>
              <a:tabLst>
                <a:tab pos="803275" algn="l"/>
              </a:tabLst>
            </a:pPr>
            <a:r>
              <a:rPr dirty="0" sz="2400" spc="-30" b="1">
                <a:solidFill>
                  <a:srgbClr val="FF5CFF"/>
                </a:solidFill>
                <a:latin typeface="宋体"/>
                <a:cs typeface="宋体"/>
              </a:rPr>
              <a:t>非绑定分支</a:t>
            </a:r>
            <a:endParaRPr sz="2400">
              <a:latin typeface="宋体"/>
              <a:cs typeface="宋体"/>
            </a:endParaRPr>
          </a:p>
          <a:p>
            <a:pPr lvl="1" marL="859790" indent="-335280">
              <a:lnSpc>
                <a:spcPct val="100000"/>
              </a:lnSpc>
              <a:spcBef>
                <a:spcPts val="1155"/>
              </a:spcBef>
              <a:buClr>
                <a:srgbClr val="4668F5"/>
              </a:buClr>
              <a:buSzPct val="60416"/>
              <a:buFont typeface="Wingdings"/>
              <a:buChar char=""/>
              <a:tabLst>
                <a:tab pos="859790" algn="l"/>
              </a:tabLst>
            </a:pPr>
            <a:r>
              <a:rPr dirty="0" sz="2400" spc="-20" b="1">
                <a:solidFill>
                  <a:srgbClr val="FF5CFF"/>
                </a:solidFill>
                <a:latin typeface="宋体"/>
                <a:cs typeface="宋体"/>
              </a:rPr>
              <a:t>谓词执行</a:t>
            </a:r>
            <a:r>
              <a:rPr dirty="0" sz="2400" spc="-10" b="1">
                <a:solidFill>
                  <a:srgbClr val="FF5CFF"/>
                </a:solidFill>
                <a:latin typeface="宋体"/>
                <a:cs typeface="宋体"/>
              </a:rPr>
              <a:t>（</a:t>
            </a:r>
            <a:r>
              <a:rPr dirty="0" sz="1800" spc="-10" b="1">
                <a:solidFill>
                  <a:srgbClr val="006FC0"/>
                </a:solidFill>
                <a:latin typeface="宋体"/>
                <a:cs typeface="宋体"/>
              </a:rPr>
              <a:t>将</a:t>
            </a:r>
            <a:r>
              <a:rPr dirty="0" sz="1800" spc="-10" b="1">
                <a:solidFill>
                  <a:srgbClr val="006FC0"/>
                </a:solidFill>
                <a:latin typeface="黑体"/>
                <a:cs typeface="黑体"/>
              </a:rPr>
              <a:t>if-then-else</a:t>
            </a:r>
            <a:r>
              <a:rPr dirty="0" sz="1800" spc="-10" b="1">
                <a:solidFill>
                  <a:srgbClr val="006FC0"/>
                </a:solidFill>
                <a:latin typeface="宋体"/>
                <a:cs typeface="宋体"/>
              </a:rPr>
              <a:t>控制依赖转换为数据依赖，消除分支，扩大调度范围</a:t>
            </a:r>
            <a:r>
              <a:rPr dirty="0" sz="2400" spc="-50" b="1">
                <a:solidFill>
                  <a:srgbClr val="FF5CFF"/>
                </a:solidFill>
                <a:latin typeface="宋体"/>
                <a:cs typeface="宋体"/>
              </a:rPr>
              <a:t>）</a:t>
            </a:r>
            <a:endParaRPr sz="2400">
              <a:latin typeface="宋体"/>
              <a:cs typeface="宋体"/>
            </a:endParaRPr>
          </a:p>
          <a:p>
            <a:pPr lvl="1" marL="859790" indent="-335280">
              <a:lnSpc>
                <a:spcPct val="100000"/>
              </a:lnSpc>
              <a:spcBef>
                <a:spcPts val="1155"/>
              </a:spcBef>
              <a:buClr>
                <a:srgbClr val="4668F5"/>
              </a:buClr>
              <a:buSzPct val="60416"/>
              <a:buFont typeface="Wingdings"/>
              <a:buChar char=""/>
              <a:tabLst>
                <a:tab pos="859790" algn="l"/>
              </a:tabLst>
            </a:pPr>
            <a:r>
              <a:rPr dirty="0" sz="2400" spc="-30" b="1">
                <a:solidFill>
                  <a:srgbClr val="FF5CFF"/>
                </a:solidFill>
                <a:latin typeface="宋体"/>
                <a:cs typeface="宋体"/>
              </a:rPr>
              <a:t>前瞻执行</a:t>
            </a:r>
            <a:endParaRPr sz="2400">
              <a:latin typeface="宋体"/>
              <a:cs typeface="宋体"/>
            </a:endParaRPr>
          </a:p>
        </p:txBody>
      </p:sp>
      <p:sp>
        <p:nvSpPr>
          <p:cNvPr id="10" name="object 10"/>
          <p:cNvSpPr txBox="1">
            <a:spLocks noGrp="1"/>
          </p:cNvSpPr>
          <p:nvPr>
            <p:ph type="title"/>
          </p:nvPr>
        </p:nvSpPr>
        <p:spPr>
          <a:xfrm>
            <a:off x="1792604" y="36068"/>
            <a:ext cx="4904740" cy="513715"/>
          </a:xfrm>
          <a:prstGeom prst="rect"/>
        </p:spPr>
        <p:txBody>
          <a:bodyPr wrap="square" lIns="0" tIns="12700" rIns="0" bIns="0" rtlCol="0" vert="horz">
            <a:spAutoFit/>
          </a:bodyPr>
          <a:lstStyle/>
          <a:p>
            <a:pPr marL="12700">
              <a:lnSpc>
                <a:spcPct val="100000"/>
              </a:lnSpc>
              <a:spcBef>
                <a:spcPts val="100"/>
              </a:spcBef>
            </a:pPr>
            <a:r>
              <a:rPr dirty="0" u="none"/>
              <a:t>6.4</a:t>
            </a:r>
            <a:r>
              <a:rPr dirty="0" u="none" spc="-10"/>
              <a:t> 显示并行指令计算</a:t>
            </a:r>
            <a:r>
              <a:rPr dirty="0" u="none" spc="-20"/>
              <a:t>EPIC</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52/89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1061415" y="1136681"/>
            <a:ext cx="4907280" cy="2708910"/>
          </a:xfrm>
          <a:prstGeom prst="rect">
            <a:avLst/>
          </a:prstGeom>
        </p:spPr>
        <p:txBody>
          <a:bodyPr wrap="square" lIns="0" tIns="117475" rIns="0" bIns="0" rtlCol="0" vert="horz">
            <a:spAutoFit/>
          </a:bodyPr>
          <a:lstStyle/>
          <a:p>
            <a:pPr marL="12700">
              <a:lnSpc>
                <a:spcPct val="100000"/>
              </a:lnSpc>
              <a:spcBef>
                <a:spcPts val="925"/>
              </a:spcBef>
            </a:pPr>
            <a:r>
              <a:rPr dirty="0" sz="2400" spc="-5">
                <a:solidFill>
                  <a:srgbClr val="E14B04"/>
                </a:solidFill>
                <a:latin typeface="黑体"/>
                <a:cs typeface="黑体"/>
              </a:rPr>
              <a:t>分支指令在传统流水线上的执行过程</a:t>
            </a:r>
            <a:endParaRPr sz="2400">
              <a:latin typeface="黑体"/>
              <a:cs typeface="黑体"/>
            </a:endParaRPr>
          </a:p>
          <a:p>
            <a:pPr marL="1097915" indent="-455930">
              <a:lnSpc>
                <a:spcPct val="100000"/>
              </a:lnSpc>
              <a:spcBef>
                <a:spcPts val="955"/>
              </a:spcBef>
              <a:buClr>
                <a:srgbClr val="40458B"/>
              </a:buClr>
              <a:buSzPct val="89285"/>
              <a:buFont typeface="Wingdings"/>
              <a:buChar char=""/>
              <a:tabLst>
                <a:tab pos="1097915" algn="l"/>
              </a:tabLst>
            </a:pPr>
            <a:r>
              <a:rPr dirty="0" sz="2800" spc="-40">
                <a:solidFill>
                  <a:srgbClr val="0000CC"/>
                </a:solidFill>
                <a:latin typeface="黑体"/>
                <a:cs typeface="黑体"/>
              </a:rPr>
              <a:t>计算分支转移条件</a:t>
            </a:r>
            <a:endParaRPr sz="2800">
              <a:latin typeface="黑体"/>
              <a:cs typeface="黑体"/>
            </a:endParaRPr>
          </a:p>
          <a:p>
            <a:pPr marL="1097915" indent="-455930">
              <a:lnSpc>
                <a:spcPct val="100000"/>
              </a:lnSpc>
              <a:spcBef>
                <a:spcPts val="1010"/>
              </a:spcBef>
              <a:buClr>
                <a:srgbClr val="40458B"/>
              </a:buClr>
              <a:buSzPct val="89285"/>
              <a:buFont typeface="Wingdings"/>
              <a:buChar char=""/>
              <a:tabLst>
                <a:tab pos="1097915" algn="l"/>
              </a:tabLst>
            </a:pPr>
            <a:r>
              <a:rPr dirty="0" sz="2800" spc="-40">
                <a:solidFill>
                  <a:srgbClr val="0000CC"/>
                </a:solidFill>
                <a:latin typeface="黑体"/>
                <a:cs typeface="黑体"/>
              </a:rPr>
              <a:t>生成分支目标地址</a:t>
            </a:r>
            <a:endParaRPr sz="2800">
              <a:latin typeface="黑体"/>
              <a:cs typeface="黑体"/>
            </a:endParaRPr>
          </a:p>
          <a:p>
            <a:pPr marL="1097915" indent="-455930">
              <a:lnSpc>
                <a:spcPct val="100000"/>
              </a:lnSpc>
              <a:spcBef>
                <a:spcPts val="1010"/>
              </a:spcBef>
              <a:buClr>
                <a:srgbClr val="40458B"/>
              </a:buClr>
              <a:buSzPct val="89285"/>
              <a:buFont typeface="Wingdings"/>
              <a:buChar char=""/>
              <a:tabLst>
                <a:tab pos="1097915" algn="l"/>
              </a:tabLst>
            </a:pPr>
            <a:r>
              <a:rPr dirty="0" sz="2800" spc="-40">
                <a:solidFill>
                  <a:srgbClr val="0000CC"/>
                </a:solidFill>
                <a:latin typeface="黑体"/>
                <a:cs typeface="黑体"/>
              </a:rPr>
              <a:t>取下一条指令</a:t>
            </a:r>
            <a:endParaRPr sz="2800">
              <a:latin typeface="黑体"/>
              <a:cs typeface="黑体"/>
            </a:endParaRPr>
          </a:p>
          <a:p>
            <a:pPr marL="1097915" indent="-455930">
              <a:lnSpc>
                <a:spcPct val="100000"/>
              </a:lnSpc>
              <a:spcBef>
                <a:spcPts val="1010"/>
              </a:spcBef>
              <a:buClr>
                <a:srgbClr val="40458B"/>
              </a:buClr>
              <a:buSzPct val="89285"/>
              <a:buFont typeface="Wingdings"/>
              <a:buChar char=""/>
              <a:tabLst>
                <a:tab pos="1097915" algn="l"/>
              </a:tabLst>
            </a:pPr>
            <a:r>
              <a:rPr dirty="0" sz="2800" spc="-40">
                <a:solidFill>
                  <a:srgbClr val="0000CC"/>
                </a:solidFill>
                <a:latin typeface="黑体"/>
                <a:cs typeface="黑体"/>
              </a:rPr>
              <a:t>译码并流出下一条指令</a:t>
            </a:r>
            <a:endParaRPr sz="2800">
              <a:latin typeface="黑体"/>
              <a:cs typeface="黑体"/>
            </a:endParaRPr>
          </a:p>
        </p:txBody>
      </p:sp>
      <p:sp>
        <p:nvSpPr>
          <p:cNvPr id="10" name="object 10" descr=""/>
          <p:cNvSpPr txBox="1"/>
          <p:nvPr/>
        </p:nvSpPr>
        <p:spPr>
          <a:xfrm>
            <a:off x="8120633" y="74168"/>
            <a:ext cx="2669540"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6.4.1</a:t>
            </a:r>
            <a:r>
              <a:rPr dirty="0" sz="2600" spc="-15">
                <a:solidFill>
                  <a:srgbClr val="0000CC"/>
                </a:solidFill>
                <a:latin typeface="黑体"/>
                <a:cs typeface="黑体"/>
              </a:rPr>
              <a:t> 非绑定分支</a:t>
            </a:r>
            <a:endParaRPr sz="2600">
              <a:latin typeface="黑体"/>
              <a:cs typeface="黑体"/>
            </a:endParaRPr>
          </a:p>
        </p:txBody>
      </p:sp>
      <p:sp>
        <p:nvSpPr>
          <p:cNvPr id="11" name="object 11"/>
          <p:cNvSpPr txBox="1">
            <a:spLocks noGrp="1"/>
          </p:cNvSpPr>
          <p:nvPr>
            <p:ph type="title"/>
          </p:nvPr>
        </p:nvSpPr>
        <p:spPr>
          <a:xfrm>
            <a:off x="1863979" y="12319"/>
            <a:ext cx="4904740" cy="513715"/>
          </a:xfrm>
          <a:prstGeom prst="rect"/>
        </p:spPr>
        <p:txBody>
          <a:bodyPr wrap="square" lIns="0" tIns="12700" rIns="0" bIns="0" rtlCol="0" vert="horz">
            <a:spAutoFit/>
          </a:bodyPr>
          <a:lstStyle/>
          <a:p>
            <a:pPr marL="12700">
              <a:lnSpc>
                <a:spcPct val="100000"/>
              </a:lnSpc>
              <a:spcBef>
                <a:spcPts val="100"/>
              </a:spcBef>
            </a:pPr>
            <a:r>
              <a:rPr dirty="0" u="none"/>
              <a:t>6.4</a:t>
            </a:r>
            <a:r>
              <a:rPr dirty="0" u="none" spc="-15"/>
              <a:t> 显示并行指令计算</a:t>
            </a:r>
            <a:r>
              <a:rPr dirty="0" u="none" spc="-20"/>
              <a:t>EPIC</a:t>
            </a:r>
          </a:p>
        </p:txBody>
      </p:sp>
      <p:sp>
        <p:nvSpPr>
          <p:cNvPr id="12" name="object 12" descr=""/>
          <p:cNvSpPr txBox="1"/>
          <p:nvPr/>
        </p:nvSpPr>
        <p:spPr>
          <a:xfrm>
            <a:off x="623887" y="4149661"/>
            <a:ext cx="11247755" cy="2094230"/>
          </a:xfrm>
          <a:prstGeom prst="rect">
            <a:avLst/>
          </a:prstGeom>
          <a:ln w="9525">
            <a:solidFill>
              <a:srgbClr val="080808"/>
            </a:solidFill>
          </a:ln>
        </p:spPr>
        <p:txBody>
          <a:bodyPr wrap="square" lIns="0" tIns="6985" rIns="0" bIns="0" rtlCol="0" vert="horz">
            <a:spAutoFit/>
          </a:bodyPr>
          <a:lstStyle/>
          <a:p>
            <a:pPr marL="91440" marR="241300" indent="533400">
              <a:lnSpc>
                <a:spcPct val="110000"/>
              </a:lnSpc>
              <a:spcBef>
                <a:spcPts val="55"/>
              </a:spcBef>
            </a:pPr>
            <a:r>
              <a:rPr dirty="0" sz="2400" spc="-5">
                <a:solidFill>
                  <a:srgbClr val="0000CC"/>
                </a:solidFill>
                <a:latin typeface="微软雅黑"/>
                <a:cs typeface="微软雅黑"/>
              </a:rPr>
              <a:t>在传统流水线上，分支指令都具有“原子性”，即上述各操作被绑定在一起，</a:t>
            </a:r>
            <a:r>
              <a:rPr dirty="0" sz="2400" spc="-10">
                <a:solidFill>
                  <a:srgbClr val="0000CC"/>
                </a:solidFill>
                <a:latin typeface="微软雅黑"/>
                <a:cs typeface="微软雅黑"/>
              </a:rPr>
              <a:t>不能分开，</a:t>
            </a:r>
            <a:r>
              <a:rPr dirty="0" sz="2400" spc="-10">
                <a:solidFill>
                  <a:srgbClr val="FF09FF"/>
                </a:solidFill>
                <a:latin typeface="微软雅黑"/>
                <a:cs typeface="微软雅黑"/>
              </a:rPr>
              <a:t>例如</a:t>
            </a:r>
            <a:r>
              <a:rPr dirty="0" sz="2400" spc="-15">
                <a:solidFill>
                  <a:srgbClr val="0000CC"/>
                </a:solidFill>
                <a:latin typeface="微软雅黑"/>
                <a:cs typeface="微软雅黑"/>
              </a:rPr>
              <a:t>条件判断和生成目标地址这两个操作是同时或绑定一起的。</a:t>
            </a:r>
            <a:endParaRPr sz="2400">
              <a:latin typeface="微软雅黑"/>
              <a:cs typeface="微软雅黑"/>
            </a:endParaRPr>
          </a:p>
          <a:p>
            <a:pPr marL="91440" marR="344805" indent="457200">
              <a:lnSpc>
                <a:spcPct val="110000"/>
              </a:lnSpc>
              <a:spcBef>
                <a:spcPts val="5"/>
              </a:spcBef>
            </a:pPr>
            <a:r>
              <a:rPr dirty="0" sz="2400" spc="-5">
                <a:solidFill>
                  <a:srgbClr val="0000CC"/>
                </a:solidFill>
                <a:latin typeface="微软雅黑"/>
                <a:cs typeface="微软雅黑"/>
              </a:rPr>
              <a:t>例如处理器遇见一条分支指令，查找</a:t>
            </a:r>
            <a:r>
              <a:rPr dirty="0" sz="2400" spc="-10">
                <a:solidFill>
                  <a:srgbClr val="0000CC"/>
                </a:solidFill>
                <a:latin typeface="Times New Roman"/>
                <a:cs typeface="Times New Roman"/>
              </a:rPr>
              <a:t>BTB</a:t>
            </a:r>
            <a:r>
              <a:rPr dirty="0" sz="2400" spc="-5">
                <a:solidFill>
                  <a:srgbClr val="0000CC"/>
                </a:solidFill>
                <a:latin typeface="微软雅黑"/>
                <a:cs typeface="微软雅黑"/>
              </a:rPr>
              <a:t>同时两个操作：跳转否？若跳，目标</a:t>
            </a:r>
            <a:r>
              <a:rPr dirty="0" sz="2400" spc="-15">
                <a:solidFill>
                  <a:srgbClr val="0000CC"/>
                </a:solidFill>
                <a:latin typeface="微软雅黑"/>
                <a:cs typeface="微软雅黑"/>
              </a:rPr>
              <a:t>地址呢？</a:t>
            </a:r>
            <a:endParaRPr sz="2400">
              <a:latin typeface="微软雅黑"/>
              <a:cs typeface="微软雅黑"/>
            </a:endParaRPr>
          </a:p>
          <a:p>
            <a:pPr marL="548640">
              <a:lnSpc>
                <a:spcPct val="100000"/>
              </a:lnSpc>
              <a:spcBef>
                <a:spcPts val="285"/>
              </a:spcBef>
            </a:pPr>
            <a:r>
              <a:rPr dirty="0" sz="2400" spc="-5">
                <a:solidFill>
                  <a:srgbClr val="0000CC"/>
                </a:solidFill>
                <a:latin typeface="微软雅黑"/>
                <a:cs typeface="微软雅黑"/>
              </a:rPr>
              <a:t>若查不到，无法预测，流水线停顿</a:t>
            </a:r>
            <a:endParaRPr sz="2400">
              <a:latin typeface="微软雅黑"/>
              <a:cs typeface="微软雅黑"/>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53/89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270763" y="789951"/>
            <a:ext cx="11779250" cy="4270375"/>
          </a:xfrm>
          <a:prstGeom prst="rect">
            <a:avLst/>
          </a:prstGeom>
        </p:spPr>
        <p:txBody>
          <a:bodyPr wrap="square" lIns="0" tIns="192405" rIns="0" bIns="0" rtlCol="0" vert="horz">
            <a:spAutoFit/>
          </a:bodyPr>
          <a:lstStyle/>
          <a:p>
            <a:pPr marL="467359" indent="-454659">
              <a:lnSpc>
                <a:spcPct val="100000"/>
              </a:lnSpc>
              <a:spcBef>
                <a:spcPts val="1515"/>
              </a:spcBef>
              <a:buClr>
                <a:srgbClr val="40458B"/>
              </a:buClr>
              <a:buFont typeface="Tahoma"/>
              <a:buAutoNum type="arabicPeriod" startAt="2"/>
              <a:tabLst>
                <a:tab pos="467359" algn="l"/>
              </a:tabLst>
            </a:pPr>
            <a:r>
              <a:rPr dirty="0" sz="2800" spc="-40">
                <a:solidFill>
                  <a:srgbClr val="FF0000"/>
                </a:solidFill>
                <a:latin typeface="黑体"/>
                <a:cs typeface="黑体"/>
              </a:rPr>
              <a:t>非绑定分支技术</a:t>
            </a:r>
            <a:endParaRPr sz="2800">
              <a:latin typeface="黑体"/>
              <a:cs typeface="黑体"/>
            </a:endParaRPr>
          </a:p>
          <a:p>
            <a:pPr lvl="1" marL="1097915" indent="-455930">
              <a:lnSpc>
                <a:spcPct val="100000"/>
              </a:lnSpc>
              <a:spcBef>
                <a:spcPts val="1215"/>
              </a:spcBef>
              <a:buClr>
                <a:srgbClr val="40458B"/>
              </a:buClr>
              <a:buSzPct val="89583"/>
              <a:buFont typeface="Wingdings"/>
              <a:buChar char=""/>
              <a:tabLst>
                <a:tab pos="1097915" algn="l"/>
              </a:tabLst>
            </a:pPr>
            <a:r>
              <a:rPr dirty="0" sz="2400">
                <a:solidFill>
                  <a:srgbClr val="D50092"/>
                </a:solidFill>
                <a:latin typeface="黑体"/>
                <a:cs typeface="黑体"/>
              </a:rPr>
              <a:t>核心思想：</a:t>
            </a:r>
            <a:r>
              <a:rPr dirty="0" sz="2400" spc="-5">
                <a:solidFill>
                  <a:srgbClr val="0000CC"/>
                </a:solidFill>
                <a:latin typeface="黑体"/>
                <a:cs typeface="黑体"/>
              </a:rPr>
              <a:t>将分支指令划分为多条粒度</a:t>
            </a:r>
            <a:r>
              <a:rPr dirty="0" sz="2400">
                <a:solidFill>
                  <a:srgbClr val="FF09FF"/>
                </a:solidFill>
                <a:latin typeface="黑体"/>
                <a:cs typeface="黑体"/>
              </a:rPr>
              <a:t>更小的指令</a:t>
            </a:r>
            <a:r>
              <a:rPr dirty="0" sz="2400" spc="-10">
                <a:solidFill>
                  <a:srgbClr val="0000CC"/>
                </a:solidFill>
                <a:latin typeface="黑体"/>
                <a:cs typeface="黑体"/>
              </a:rPr>
              <a:t>，独立执行。</a:t>
            </a:r>
            <a:endParaRPr sz="2400">
              <a:latin typeface="黑体"/>
              <a:cs typeface="黑体"/>
            </a:endParaRPr>
          </a:p>
          <a:p>
            <a:pPr lvl="2" marL="1491615" indent="-213995">
              <a:lnSpc>
                <a:spcPct val="100000"/>
              </a:lnSpc>
              <a:spcBef>
                <a:spcPts val="1025"/>
              </a:spcBef>
              <a:buClr>
                <a:srgbClr val="4668F5"/>
              </a:buClr>
              <a:buSzPct val="60000"/>
              <a:buFont typeface="Wingdings"/>
              <a:buChar char=""/>
              <a:tabLst>
                <a:tab pos="1491615" algn="l"/>
              </a:tabLst>
            </a:pPr>
            <a:r>
              <a:rPr dirty="0" sz="2000" spc="-20" b="1">
                <a:solidFill>
                  <a:srgbClr val="FF5CFF"/>
                </a:solidFill>
                <a:latin typeface="宋体"/>
                <a:cs typeface="宋体"/>
              </a:rPr>
              <a:t>准备操作：计算分支目标地址</a:t>
            </a:r>
            <a:endParaRPr sz="2000">
              <a:latin typeface="宋体"/>
              <a:cs typeface="宋体"/>
            </a:endParaRPr>
          </a:p>
          <a:p>
            <a:pPr lvl="2" marL="1491615" indent="-213995">
              <a:lnSpc>
                <a:spcPct val="100000"/>
              </a:lnSpc>
              <a:spcBef>
                <a:spcPts val="960"/>
              </a:spcBef>
              <a:buClr>
                <a:srgbClr val="4668F5"/>
              </a:buClr>
              <a:buSzPct val="60000"/>
              <a:buFont typeface="Wingdings"/>
              <a:buChar char=""/>
              <a:tabLst>
                <a:tab pos="1491615" algn="l"/>
              </a:tabLst>
            </a:pPr>
            <a:r>
              <a:rPr dirty="0" sz="2000" spc="-20" b="1">
                <a:solidFill>
                  <a:srgbClr val="FF5CFF"/>
                </a:solidFill>
                <a:latin typeface="宋体"/>
                <a:cs typeface="宋体"/>
              </a:rPr>
              <a:t>比较操作：计算分支转移条件</a:t>
            </a:r>
            <a:endParaRPr sz="2000">
              <a:latin typeface="宋体"/>
              <a:cs typeface="宋体"/>
            </a:endParaRPr>
          </a:p>
          <a:p>
            <a:pPr lvl="2" marL="1491615" indent="-213995">
              <a:lnSpc>
                <a:spcPct val="100000"/>
              </a:lnSpc>
              <a:spcBef>
                <a:spcPts val="965"/>
              </a:spcBef>
              <a:buClr>
                <a:srgbClr val="4668F5"/>
              </a:buClr>
              <a:buSzPct val="60000"/>
              <a:buFont typeface="Wingdings"/>
              <a:buChar char=""/>
              <a:tabLst>
                <a:tab pos="1491615" algn="l"/>
              </a:tabLst>
            </a:pPr>
            <a:r>
              <a:rPr dirty="0" sz="2000" spc="-15" b="1">
                <a:solidFill>
                  <a:srgbClr val="FF5CFF"/>
                </a:solidFill>
                <a:latin typeface="宋体"/>
                <a:cs typeface="宋体"/>
              </a:rPr>
              <a:t>转移操作：根据分支转移条件是</a:t>
            </a:r>
            <a:r>
              <a:rPr dirty="0" sz="2000" spc="-10" b="1">
                <a:solidFill>
                  <a:srgbClr val="6600FF"/>
                </a:solidFill>
                <a:latin typeface="Times New Roman"/>
                <a:cs typeface="Times New Roman"/>
              </a:rPr>
              <a:t>true</a:t>
            </a:r>
            <a:r>
              <a:rPr dirty="0" sz="2000" spc="-10" b="1">
                <a:solidFill>
                  <a:srgbClr val="FF5CFF"/>
                </a:solidFill>
                <a:latin typeface="宋体"/>
                <a:cs typeface="宋体"/>
              </a:rPr>
              <a:t>还是</a:t>
            </a:r>
            <a:r>
              <a:rPr dirty="0" sz="2000" spc="-10" b="1">
                <a:solidFill>
                  <a:srgbClr val="6600FF"/>
                </a:solidFill>
                <a:latin typeface="Times New Roman"/>
                <a:cs typeface="Times New Roman"/>
              </a:rPr>
              <a:t>false</a:t>
            </a:r>
            <a:r>
              <a:rPr dirty="0" sz="2000" spc="-25" b="1">
                <a:solidFill>
                  <a:srgbClr val="FF5CFF"/>
                </a:solidFill>
                <a:latin typeface="宋体"/>
                <a:cs typeface="宋体"/>
              </a:rPr>
              <a:t>，改变控制流或执行顺序的下一条指令。</a:t>
            </a:r>
            <a:endParaRPr sz="2000">
              <a:latin typeface="宋体"/>
              <a:cs typeface="宋体"/>
            </a:endParaRPr>
          </a:p>
          <a:p>
            <a:pPr lvl="1" marL="1097915" marR="5080" indent="-455930">
              <a:lnSpc>
                <a:spcPct val="120000"/>
              </a:lnSpc>
              <a:spcBef>
                <a:spcPts val="509"/>
              </a:spcBef>
              <a:buClr>
                <a:srgbClr val="40458B"/>
              </a:buClr>
              <a:buSzPct val="89583"/>
              <a:buFont typeface="Wingdings"/>
              <a:buChar char=""/>
              <a:tabLst>
                <a:tab pos="1097915" algn="l"/>
              </a:tabLst>
            </a:pPr>
            <a:r>
              <a:rPr dirty="0" sz="2400" spc="-5">
                <a:solidFill>
                  <a:srgbClr val="0000CC"/>
                </a:solidFill>
                <a:latin typeface="黑体"/>
                <a:cs typeface="黑体"/>
              </a:rPr>
              <a:t>运行时，流水线硬件根据前两个操作的结果，动态地将第三个操作转换为空操作</a:t>
            </a:r>
            <a:r>
              <a:rPr dirty="0" sz="2400" spc="-10">
                <a:solidFill>
                  <a:srgbClr val="0000CC"/>
                </a:solidFill>
                <a:latin typeface="黑体"/>
                <a:cs typeface="黑体"/>
              </a:rPr>
              <a:t>或无条件转移。</a:t>
            </a:r>
            <a:endParaRPr sz="2400">
              <a:latin typeface="黑体"/>
              <a:cs typeface="黑体"/>
            </a:endParaRPr>
          </a:p>
          <a:p>
            <a:pPr lvl="2" marL="1383030" marR="184785" indent="-105410">
              <a:lnSpc>
                <a:spcPct val="126000"/>
              </a:lnSpc>
              <a:spcBef>
                <a:spcPts val="930"/>
              </a:spcBef>
              <a:buClr>
                <a:srgbClr val="4668F5"/>
              </a:buClr>
              <a:buSzPct val="72500"/>
              <a:buFont typeface="Wingdings"/>
              <a:buChar char=""/>
              <a:tabLst>
                <a:tab pos="1383030" algn="l"/>
                <a:tab pos="1612900" algn="l"/>
              </a:tabLst>
            </a:pPr>
            <a:r>
              <a:rPr dirty="0" sz="2000" spc="-25" b="1">
                <a:solidFill>
                  <a:srgbClr val="FF5CFF"/>
                </a:solidFill>
                <a:latin typeface="宋体"/>
                <a:cs typeface="宋体"/>
              </a:rPr>
              <a:t>	</a:t>
            </a:r>
            <a:r>
              <a:rPr dirty="0" sz="2000" spc="-25" b="1">
                <a:solidFill>
                  <a:srgbClr val="FF5CFF"/>
                </a:solidFill>
                <a:latin typeface="宋体"/>
                <a:cs typeface="宋体"/>
              </a:rPr>
              <a:t>前两个操作应尽早完成，为硬件改变控制流赢得时间，分支引起的流水线“空转”可能性</a:t>
            </a:r>
            <a:r>
              <a:rPr dirty="0" sz="2000" spc="-10" b="1">
                <a:solidFill>
                  <a:srgbClr val="FF5CFF"/>
                </a:solidFill>
                <a:latin typeface="宋体"/>
                <a:cs typeface="宋体"/>
              </a:rPr>
              <a:t>就越小（</a:t>
            </a:r>
            <a:r>
              <a:rPr dirty="0" sz="2000" spc="-20" b="1">
                <a:solidFill>
                  <a:srgbClr val="FF5CFF"/>
                </a:solidFill>
                <a:latin typeface="宋体"/>
                <a:cs typeface="宋体"/>
              </a:rPr>
              <a:t>例如根据分支预判提前取出目标指令；分支预判成功提前执行相应指令</a:t>
            </a:r>
            <a:r>
              <a:rPr dirty="0" sz="2000" spc="-50" b="1">
                <a:solidFill>
                  <a:srgbClr val="FF5CFF"/>
                </a:solidFill>
                <a:latin typeface="宋体"/>
                <a:cs typeface="宋体"/>
              </a:rPr>
              <a:t>）</a:t>
            </a:r>
            <a:endParaRPr sz="2000">
              <a:latin typeface="宋体"/>
              <a:cs typeface="宋体"/>
            </a:endParaRPr>
          </a:p>
        </p:txBody>
      </p:sp>
      <p:sp>
        <p:nvSpPr>
          <p:cNvPr id="10" name="object 10"/>
          <p:cNvSpPr txBox="1">
            <a:spLocks noGrp="1"/>
          </p:cNvSpPr>
          <p:nvPr>
            <p:ph type="title"/>
          </p:nvPr>
        </p:nvSpPr>
        <p:spPr>
          <a:xfrm>
            <a:off x="2630804" y="127838"/>
            <a:ext cx="4905375" cy="514350"/>
          </a:xfrm>
          <a:prstGeom prst="rect"/>
        </p:spPr>
        <p:txBody>
          <a:bodyPr wrap="square" lIns="0" tIns="13335" rIns="0" bIns="0" rtlCol="0" vert="horz">
            <a:spAutoFit/>
          </a:bodyPr>
          <a:lstStyle/>
          <a:p>
            <a:pPr marL="12700">
              <a:lnSpc>
                <a:spcPct val="100000"/>
              </a:lnSpc>
              <a:spcBef>
                <a:spcPts val="105"/>
              </a:spcBef>
            </a:pPr>
            <a:r>
              <a:rPr dirty="0" u="none"/>
              <a:t>6.4</a:t>
            </a:r>
            <a:r>
              <a:rPr dirty="0" u="none" spc="-20"/>
              <a:t> 显示并行指令计算EPIC</a:t>
            </a:r>
          </a:p>
        </p:txBody>
      </p:sp>
      <p:sp>
        <p:nvSpPr>
          <p:cNvPr id="11" name="object 11" descr=""/>
          <p:cNvSpPr txBox="1"/>
          <p:nvPr/>
        </p:nvSpPr>
        <p:spPr>
          <a:xfrm>
            <a:off x="8120633" y="74168"/>
            <a:ext cx="2669540"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6.4.1</a:t>
            </a:r>
            <a:r>
              <a:rPr dirty="0" sz="2600" spc="-15">
                <a:solidFill>
                  <a:srgbClr val="0000CC"/>
                </a:solidFill>
                <a:latin typeface="黑体"/>
                <a:cs typeface="黑体"/>
              </a:rPr>
              <a:t> 非绑定分支</a:t>
            </a:r>
            <a:endParaRPr sz="2600">
              <a:latin typeface="黑体"/>
              <a:cs typeface="黑体"/>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54/89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78739" y="662947"/>
            <a:ext cx="12012930" cy="5559425"/>
          </a:xfrm>
          <a:prstGeom prst="rect">
            <a:avLst/>
          </a:prstGeom>
        </p:spPr>
        <p:txBody>
          <a:bodyPr wrap="square" lIns="0" tIns="144145" rIns="0" bIns="0" rtlCol="0" vert="horz">
            <a:spAutoFit/>
          </a:bodyPr>
          <a:lstStyle/>
          <a:p>
            <a:pPr marL="12700">
              <a:lnSpc>
                <a:spcPct val="100000"/>
              </a:lnSpc>
              <a:spcBef>
                <a:spcPts val="1135"/>
              </a:spcBef>
            </a:pPr>
            <a:r>
              <a:rPr dirty="0" sz="2800" spc="-45">
                <a:solidFill>
                  <a:srgbClr val="E14B04"/>
                </a:solidFill>
                <a:latin typeface="黑体"/>
                <a:cs typeface="黑体"/>
              </a:rPr>
              <a:t>引入</a:t>
            </a:r>
            <a:endParaRPr sz="2800">
              <a:latin typeface="黑体"/>
              <a:cs typeface="黑体"/>
            </a:endParaRPr>
          </a:p>
          <a:p>
            <a:pPr marL="1099185" marR="5080" indent="-457834">
              <a:lnSpc>
                <a:spcPct val="110000"/>
              </a:lnSpc>
              <a:spcBef>
                <a:spcPts val="660"/>
              </a:spcBef>
              <a:buClr>
                <a:srgbClr val="40458B"/>
              </a:buClr>
              <a:buSzPct val="90384"/>
              <a:buFont typeface="Wingdings"/>
              <a:buChar char=""/>
              <a:tabLst>
                <a:tab pos="1099185" algn="l"/>
              </a:tabLst>
            </a:pPr>
            <a:r>
              <a:rPr dirty="0" sz="2600" spc="-20">
                <a:solidFill>
                  <a:srgbClr val="0000CC"/>
                </a:solidFill>
                <a:latin typeface="黑体"/>
                <a:cs typeface="黑体"/>
              </a:rPr>
              <a:t>循环展开和全局指令调度技术旨在扩大基本块体积，以便开发更多的指令级</a:t>
            </a:r>
            <a:r>
              <a:rPr dirty="0" sz="2600" spc="-25">
                <a:solidFill>
                  <a:srgbClr val="0000CC"/>
                </a:solidFill>
                <a:latin typeface="黑体"/>
                <a:cs typeface="黑体"/>
              </a:rPr>
              <a:t>并行</a:t>
            </a:r>
            <a:endParaRPr sz="2600">
              <a:latin typeface="黑体"/>
              <a:cs typeface="黑体"/>
            </a:endParaRPr>
          </a:p>
          <a:p>
            <a:pPr lvl="1" marL="1673860" indent="-457200">
              <a:lnSpc>
                <a:spcPct val="100000"/>
              </a:lnSpc>
              <a:spcBef>
                <a:spcPts val="844"/>
              </a:spcBef>
              <a:buClr>
                <a:srgbClr val="4668F5"/>
              </a:buClr>
              <a:buSzPct val="59090"/>
              <a:buFont typeface="Wingdings"/>
              <a:buChar char=""/>
              <a:tabLst>
                <a:tab pos="1673860" algn="l"/>
              </a:tabLst>
            </a:pPr>
            <a:r>
              <a:rPr dirty="0" sz="2200" spc="-30" b="1">
                <a:solidFill>
                  <a:srgbClr val="FF5CFF"/>
                </a:solidFill>
                <a:latin typeface="黑体"/>
                <a:cs typeface="黑体"/>
              </a:rPr>
              <a:t>使用场景：分支指令转移成功概率大于失败的概率</a:t>
            </a:r>
            <a:endParaRPr sz="2200">
              <a:latin typeface="黑体"/>
              <a:cs typeface="黑体"/>
            </a:endParaRPr>
          </a:p>
          <a:p>
            <a:pPr lvl="1" marL="1673860" marR="220345" indent="-457200">
              <a:lnSpc>
                <a:spcPct val="110000"/>
              </a:lnSpc>
              <a:spcBef>
                <a:spcPts val="530"/>
              </a:spcBef>
              <a:buClr>
                <a:srgbClr val="4668F5"/>
              </a:buClr>
              <a:buSzPct val="59090"/>
              <a:buFont typeface="Wingdings"/>
              <a:buChar char=""/>
              <a:tabLst>
                <a:tab pos="1673860" algn="l"/>
              </a:tabLst>
            </a:pPr>
            <a:r>
              <a:rPr dirty="0" sz="2200" spc="-25" b="1">
                <a:solidFill>
                  <a:srgbClr val="00AFEF"/>
                </a:solidFill>
                <a:latin typeface="黑体"/>
                <a:cs typeface="黑体"/>
              </a:rPr>
              <a:t>若二者概率相近或分支指令受输入集的影响</a:t>
            </a:r>
            <a:r>
              <a:rPr dirty="0" sz="2200" spc="-25" b="1">
                <a:solidFill>
                  <a:srgbClr val="FF5CFF"/>
                </a:solidFill>
                <a:latin typeface="黑体"/>
                <a:cs typeface="黑体"/>
              </a:rPr>
              <a:t>，上述优化技术已不能胜任（</a:t>
            </a:r>
            <a:r>
              <a:rPr dirty="0" sz="2200" spc="-35" b="1">
                <a:solidFill>
                  <a:srgbClr val="FF5CFF"/>
                </a:solidFill>
                <a:latin typeface="黑体"/>
                <a:cs typeface="黑体"/>
              </a:rPr>
              <a:t>无法很好</a:t>
            </a:r>
            <a:r>
              <a:rPr dirty="0" sz="2200" spc="-25" b="1">
                <a:solidFill>
                  <a:srgbClr val="FF5CFF"/>
                </a:solidFill>
                <a:latin typeface="黑体"/>
                <a:cs typeface="黑体"/>
              </a:rPr>
              <a:t>解决控制相关影响指令并行的情况</a:t>
            </a:r>
            <a:r>
              <a:rPr dirty="0" sz="2200" b="1">
                <a:solidFill>
                  <a:srgbClr val="FF5CFF"/>
                </a:solidFill>
                <a:latin typeface="黑体"/>
                <a:cs typeface="黑体"/>
              </a:rPr>
              <a:t>）</a:t>
            </a:r>
            <a:r>
              <a:rPr dirty="0" sz="2200" spc="-15" b="1">
                <a:solidFill>
                  <a:srgbClr val="FF5CFF"/>
                </a:solidFill>
                <a:latin typeface="黑体"/>
                <a:cs typeface="黑体"/>
              </a:rPr>
              <a:t>---引入</a:t>
            </a:r>
            <a:r>
              <a:rPr dirty="0" sz="2200" spc="-30" b="1">
                <a:solidFill>
                  <a:srgbClr val="FF0000"/>
                </a:solidFill>
                <a:latin typeface="黑体"/>
                <a:cs typeface="黑体"/>
              </a:rPr>
              <a:t>谓词执行技术</a:t>
            </a:r>
            <a:endParaRPr sz="2200">
              <a:latin typeface="黑体"/>
              <a:cs typeface="黑体"/>
            </a:endParaRPr>
          </a:p>
          <a:p>
            <a:pPr marL="241300">
              <a:lnSpc>
                <a:spcPct val="100000"/>
              </a:lnSpc>
              <a:spcBef>
                <a:spcPts val="1415"/>
              </a:spcBef>
            </a:pPr>
            <a:r>
              <a:rPr dirty="0" sz="2800" spc="-10">
                <a:solidFill>
                  <a:srgbClr val="E14B04"/>
                </a:solidFill>
                <a:latin typeface="Tahoma"/>
                <a:cs typeface="Tahoma"/>
              </a:rPr>
              <a:t>3</a:t>
            </a:r>
            <a:r>
              <a:rPr dirty="0" sz="2800" spc="-35">
                <a:solidFill>
                  <a:srgbClr val="E14B04"/>
                </a:solidFill>
                <a:latin typeface="黑体"/>
                <a:cs typeface="黑体"/>
              </a:rPr>
              <a:t>、条件执行机制</a:t>
            </a:r>
            <a:r>
              <a:rPr dirty="0" sz="2800" spc="-10">
                <a:solidFill>
                  <a:srgbClr val="E14B04"/>
                </a:solidFill>
                <a:latin typeface="Tahoma"/>
                <a:cs typeface="Tahoma"/>
              </a:rPr>
              <a:t>---</a:t>
            </a:r>
            <a:r>
              <a:rPr dirty="0" sz="2800" spc="-35">
                <a:solidFill>
                  <a:srgbClr val="E14B04"/>
                </a:solidFill>
                <a:latin typeface="黑体"/>
                <a:cs typeface="黑体"/>
              </a:rPr>
              <a:t>谓词执行</a:t>
            </a:r>
            <a:endParaRPr sz="2800">
              <a:latin typeface="黑体"/>
              <a:cs typeface="黑体"/>
            </a:endParaRPr>
          </a:p>
          <a:p>
            <a:pPr marL="1326515" indent="-455930">
              <a:lnSpc>
                <a:spcPct val="100000"/>
              </a:lnSpc>
              <a:spcBef>
                <a:spcPts val="915"/>
              </a:spcBef>
              <a:buClr>
                <a:srgbClr val="40458B"/>
              </a:buClr>
              <a:buSzPct val="89583"/>
              <a:buFont typeface="Wingdings"/>
              <a:buChar char=""/>
              <a:tabLst>
                <a:tab pos="1326515" algn="l"/>
              </a:tabLst>
            </a:pPr>
            <a:r>
              <a:rPr dirty="0" sz="2400" spc="-10">
                <a:solidFill>
                  <a:srgbClr val="0000CC"/>
                </a:solidFill>
                <a:latin typeface="黑体"/>
                <a:cs typeface="黑体"/>
              </a:rPr>
              <a:t>给指令集中的每条指令都增加一个执行条件，这个执行条件就叫做</a:t>
            </a:r>
            <a:r>
              <a:rPr dirty="0" sz="2400" spc="-30">
                <a:solidFill>
                  <a:srgbClr val="FF0000"/>
                </a:solidFill>
                <a:latin typeface="黑体"/>
                <a:cs typeface="黑体"/>
              </a:rPr>
              <a:t>谓词</a:t>
            </a:r>
            <a:endParaRPr sz="2400">
              <a:latin typeface="黑体"/>
              <a:cs typeface="黑体"/>
            </a:endParaRPr>
          </a:p>
          <a:p>
            <a:pPr marL="1326515">
              <a:lnSpc>
                <a:spcPct val="100000"/>
              </a:lnSpc>
              <a:spcBef>
                <a:spcPts val="290"/>
              </a:spcBef>
            </a:pPr>
            <a:r>
              <a:rPr dirty="0" sz="2400" spc="-10">
                <a:solidFill>
                  <a:srgbClr val="FF0000"/>
                </a:solidFill>
                <a:latin typeface="黑体"/>
                <a:cs typeface="黑体"/>
              </a:rPr>
              <a:t>（</a:t>
            </a:r>
            <a:r>
              <a:rPr dirty="0" sz="2400" spc="-10">
                <a:solidFill>
                  <a:srgbClr val="FF0000"/>
                </a:solidFill>
                <a:latin typeface="Tahoma"/>
                <a:cs typeface="Tahoma"/>
              </a:rPr>
              <a:t>predicate</a:t>
            </a:r>
            <a:r>
              <a:rPr dirty="0" sz="2400" spc="-10">
                <a:solidFill>
                  <a:srgbClr val="FF0000"/>
                </a:solidFill>
                <a:latin typeface="黑体"/>
                <a:cs typeface="黑体"/>
              </a:rPr>
              <a:t>）</a:t>
            </a:r>
            <a:r>
              <a:rPr dirty="0" sz="2400" spc="-5">
                <a:solidFill>
                  <a:srgbClr val="0000CC"/>
                </a:solidFill>
                <a:latin typeface="黑体"/>
                <a:cs typeface="黑体"/>
              </a:rPr>
              <a:t>。若谓词为真，指令正常执行，否则什么也不做。</a:t>
            </a:r>
            <a:endParaRPr sz="2400">
              <a:latin typeface="黑体"/>
              <a:cs typeface="黑体"/>
            </a:endParaRPr>
          </a:p>
          <a:p>
            <a:pPr marL="1326515" marR="10160" indent="-455930">
              <a:lnSpc>
                <a:spcPct val="110000"/>
              </a:lnSpc>
              <a:spcBef>
                <a:spcPts val="575"/>
              </a:spcBef>
              <a:buClr>
                <a:srgbClr val="40458B"/>
              </a:buClr>
              <a:buSzPct val="89583"/>
              <a:buFont typeface="Wingdings"/>
              <a:buChar char=""/>
              <a:tabLst>
                <a:tab pos="1326515" algn="l"/>
              </a:tabLst>
            </a:pPr>
            <a:r>
              <a:rPr dirty="0" sz="2400">
                <a:solidFill>
                  <a:srgbClr val="FF0000"/>
                </a:solidFill>
                <a:latin typeface="黑体"/>
                <a:cs typeface="黑体"/>
              </a:rPr>
              <a:t>条件执行</a:t>
            </a:r>
            <a:r>
              <a:rPr dirty="0" sz="2400" spc="-5">
                <a:solidFill>
                  <a:srgbClr val="0000CC"/>
                </a:solidFill>
                <a:latin typeface="黑体"/>
                <a:cs typeface="黑体"/>
              </a:rPr>
              <a:t>：指指令的执行依赖于一定的条件，当条件为真时指令将正常执行，否</a:t>
            </a:r>
            <a:r>
              <a:rPr dirty="0" sz="2400" spc="-20">
                <a:solidFill>
                  <a:srgbClr val="0000CC"/>
                </a:solidFill>
                <a:latin typeface="黑体"/>
                <a:cs typeface="黑体"/>
              </a:rPr>
              <a:t>则将什么也不做。</a:t>
            </a:r>
            <a:endParaRPr sz="2400">
              <a:latin typeface="黑体"/>
              <a:cs typeface="黑体"/>
            </a:endParaRPr>
          </a:p>
          <a:p>
            <a:pPr lvl="1" marL="1381760" indent="-226060">
              <a:lnSpc>
                <a:spcPct val="100000"/>
              </a:lnSpc>
              <a:spcBef>
                <a:spcPts val="775"/>
              </a:spcBef>
              <a:buClr>
                <a:srgbClr val="4668F5"/>
              </a:buClr>
              <a:buSzPct val="60000"/>
              <a:buFont typeface="Wingdings"/>
              <a:buChar char=""/>
              <a:tabLst>
                <a:tab pos="1381760" algn="l"/>
                <a:tab pos="3942079" algn="l"/>
              </a:tabLst>
            </a:pPr>
            <a:r>
              <a:rPr dirty="0" sz="2000" spc="-10" b="1">
                <a:solidFill>
                  <a:srgbClr val="FF5CFF"/>
                </a:solidFill>
                <a:latin typeface="宋体"/>
                <a:cs typeface="宋体"/>
              </a:rPr>
              <a:t>实例：条件传输指</a:t>
            </a:r>
            <a:r>
              <a:rPr dirty="0" sz="2000" spc="-50" b="1">
                <a:solidFill>
                  <a:srgbClr val="FF5CFF"/>
                </a:solidFill>
                <a:latin typeface="宋体"/>
                <a:cs typeface="宋体"/>
              </a:rPr>
              <a:t>令</a:t>
            </a:r>
            <a:r>
              <a:rPr dirty="0" sz="2000" b="1">
                <a:solidFill>
                  <a:srgbClr val="FF5CFF"/>
                </a:solidFill>
                <a:latin typeface="宋体"/>
                <a:cs typeface="宋体"/>
              </a:rPr>
              <a:t>	</a:t>
            </a:r>
            <a:r>
              <a:rPr dirty="0" sz="2000" spc="-10" b="1">
                <a:solidFill>
                  <a:srgbClr val="FF5CFF"/>
                </a:solidFill>
                <a:latin typeface="宋体"/>
                <a:cs typeface="宋体"/>
              </a:rPr>
              <a:t>如下</a:t>
            </a:r>
            <a:r>
              <a:rPr dirty="0" sz="2000" spc="-50" b="1">
                <a:solidFill>
                  <a:srgbClr val="FF5CFF"/>
                </a:solidFill>
                <a:latin typeface="宋体"/>
                <a:cs typeface="宋体"/>
              </a:rPr>
              <a:t>页</a:t>
            </a:r>
            <a:endParaRPr sz="2000">
              <a:latin typeface="宋体"/>
              <a:cs typeface="宋体"/>
            </a:endParaRPr>
          </a:p>
        </p:txBody>
      </p:sp>
      <p:sp>
        <p:nvSpPr>
          <p:cNvPr id="10" name="object 10" descr=""/>
          <p:cNvSpPr txBox="1"/>
          <p:nvPr/>
        </p:nvSpPr>
        <p:spPr>
          <a:xfrm>
            <a:off x="8480806" y="57734"/>
            <a:ext cx="2339340" cy="422909"/>
          </a:xfrm>
          <a:prstGeom prst="rect">
            <a:avLst/>
          </a:prstGeom>
        </p:spPr>
        <p:txBody>
          <a:bodyPr wrap="square" lIns="0" tIns="13335" rIns="0" bIns="0" rtlCol="0" vert="horz">
            <a:spAutoFit/>
          </a:bodyPr>
          <a:lstStyle/>
          <a:p>
            <a:pPr marL="12700">
              <a:lnSpc>
                <a:spcPct val="100000"/>
              </a:lnSpc>
              <a:spcBef>
                <a:spcPts val="105"/>
              </a:spcBef>
            </a:pPr>
            <a:r>
              <a:rPr dirty="0" sz="2600">
                <a:solidFill>
                  <a:srgbClr val="0000CC"/>
                </a:solidFill>
                <a:latin typeface="黑体"/>
                <a:cs typeface="黑体"/>
              </a:rPr>
              <a:t>6.4.2</a:t>
            </a:r>
            <a:r>
              <a:rPr dirty="0" sz="2600" spc="-30">
                <a:solidFill>
                  <a:srgbClr val="0000CC"/>
                </a:solidFill>
                <a:latin typeface="黑体"/>
                <a:cs typeface="黑体"/>
              </a:rPr>
              <a:t> 谓词执行</a:t>
            </a:r>
            <a:endParaRPr sz="2600">
              <a:latin typeface="黑体"/>
              <a:cs typeface="黑体"/>
            </a:endParaRPr>
          </a:p>
        </p:txBody>
      </p:sp>
      <p:sp>
        <p:nvSpPr>
          <p:cNvPr id="11" name="object 11"/>
          <p:cNvSpPr txBox="1">
            <a:spLocks noGrp="1"/>
          </p:cNvSpPr>
          <p:nvPr>
            <p:ph type="title"/>
          </p:nvPr>
        </p:nvSpPr>
        <p:spPr>
          <a:xfrm>
            <a:off x="1935607" y="-8686"/>
            <a:ext cx="4904740" cy="514350"/>
          </a:xfrm>
          <a:prstGeom prst="rect"/>
        </p:spPr>
        <p:txBody>
          <a:bodyPr wrap="square" lIns="0" tIns="13335" rIns="0" bIns="0" rtlCol="0" vert="horz">
            <a:spAutoFit/>
          </a:bodyPr>
          <a:lstStyle/>
          <a:p>
            <a:pPr marL="12700">
              <a:lnSpc>
                <a:spcPct val="100000"/>
              </a:lnSpc>
              <a:spcBef>
                <a:spcPts val="105"/>
              </a:spcBef>
            </a:pPr>
            <a:r>
              <a:rPr dirty="0" u="none"/>
              <a:t>6.4</a:t>
            </a:r>
            <a:r>
              <a:rPr dirty="0" u="none" spc="-20"/>
              <a:t> 显示并行指令计算EPIC</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55/89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189992" y="1024838"/>
            <a:ext cx="11538585" cy="4666615"/>
          </a:xfrm>
          <a:prstGeom prst="rect">
            <a:avLst/>
          </a:prstGeom>
        </p:spPr>
        <p:txBody>
          <a:bodyPr wrap="square" lIns="0" tIns="142875" rIns="0" bIns="0" rtlCol="0" vert="horz">
            <a:spAutoFit/>
          </a:bodyPr>
          <a:lstStyle/>
          <a:p>
            <a:pPr marL="52069">
              <a:lnSpc>
                <a:spcPct val="100000"/>
              </a:lnSpc>
              <a:spcBef>
                <a:spcPts val="1125"/>
              </a:spcBef>
            </a:pPr>
            <a:r>
              <a:rPr dirty="0" sz="2800" spc="-30">
                <a:solidFill>
                  <a:srgbClr val="E14B04"/>
                </a:solidFill>
                <a:latin typeface="黑体"/>
                <a:cs typeface="黑体"/>
              </a:rPr>
              <a:t>传统处理器：</a:t>
            </a:r>
            <a:endParaRPr sz="2800">
              <a:latin typeface="黑体"/>
              <a:cs typeface="黑体"/>
            </a:endParaRPr>
          </a:p>
          <a:p>
            <a:pPr marL="1138555" indent="-457200">
              <a:lnSpc>
                <a:spcPct val="100000"/>
              </a:lnSpc>
              <a:spcBef>
                <a:spcPts val="969"/>
              </a:spcBef>
              <a:buClr>
                <a:srgbClr val="40458B"/>
              </a:buClr>
              <a:buSzPct val="90384"/>
              <a:buFont typeface="Wingdings"/>
              <a:buChar char=""/>
              <a:tabLst>
                <a:tab pos="1138555" algn="l"/>
              </a:tabLst>
            </a:pPr>
            <a:r>
              <a:rPr dirty="0" sz="2600" spc="-5">
                <a:solidFill>
                  <a:srgbClr val="0000CC"/>
                </a:solidFill>
                <a:latin typeface="黑体"/>
                <a:cs typeface="黑体"/>
              </a:rPr>
              <a:t>指令执行由</a:t>
            </a:r>
            <a:r>
              <a:rPr dirty="0" sz="2600" spc="-10">
                <a:solidFill>
                  <a:srgbClr val="0000CC"/>
                </a:solidFill>
                <a:latin typeface="Tahoma"/>
                <a:cs typeface="Tahoma"/>
              </a:rPr>
              <a:t>PC</a:t>
            </a:r>
            <a:r>
              <a:rPr dirty="0" sz="2600" spc="-25">
                <a:solidFill>
                  <a:srgbClr val="0000CC"/>
                </a:solidFill>
                <a:latin typeface="黑体"/>
                <a:cs typeface="黑体"/>
              </a:rPr>
              <a:t>决定，遇到分支指令，程序会跳转到不同的地址</a:t>
            </a:r>
            <a:endParaRPr sz="2600">
              <a:latin typeface="黑体"/>
              <a:cs typeface="黑体"/>
            </a:endParaRPr>
          </a:p>
          <a:p>
            <a:pPr marL="1138555" indent="-457200">
              <a:lnSpc>
                <a:spcPct val="100000"/>
              </a:lnSpc>
              <a:spcBef>
                <a:spcPts val="940"/>
              </a:spcBef>
              <a:buClr>
                <a:srgbClr val="40458B"/>
              </a:buClr>
              <a:buSzPct val="90384"/>
              <a:buFont typeface="Wingdings"/>
              <a:buChar char=""/>
              <a:tabLst>
                <a:tab pos="1138555" algn="l"/>
              </a:tabLst>
            </a:pPr>
            <a:r>
              <a:rPr dirty="0" sz="2600">
                <a:solidFill>
                  <a:srgbClr val="FF5CFF"/>
                </a:solidFill>
                <a:latin typeface="黑体"/>
                <a:cs typeface="黑体"/>
              </a:rPr>
              <a:t>当</a:t>
            </a:r>
            <a:r>
              <a:rPr dirty="0" sz="2600" spc="-10">
                <a:solidFill>
                  <a:srgbClr val="FF5CFF"/>
                </a:solidFill>
                <a:latin typeface="Tahoma"/>
                <a:cs typeface="Tahoma"/>
              </a:rPr>
              <a:t>if-else</a:t>
            </a:r>
            <a:r>
              <a:rPr dirty="0" sz="2600" spc="-10">
                <a:solidFill>
                  <a:srgbClr val="FF5CFF"/>
                </a:solidFill>
                <a:latin typeface="黑体"/>
                <a:cs typeface="黑体"/>
              </a:rPr>
              <a:t>分支指令为真则</a:t>
            </a:r>
            <a:r>
              <a:rPr dirty="0" sz="2600" spc="-10">
                <a:solidFill>
                  <a:srgbClr val="FF5CFF"/>
                </a:solidFill>
                <a:latin typeface="Tahoma"/>
                <a:cs typeface="Tahoma"/>
              </a:rPr>
              <a:t>then</a:t>
            </a:r>
            <a:r>
              <a:rPr dirty="0" sz="2600" spc="-10">
                <a:solidFill>
                  <a:srgbClr val="FF5CFF"/>
                </a:solidFill>
                <a:latin typeface="黑体"/>
                <a:cs typeface="黑体"/>
              </a:rPr>
              <a:t>部分正常执行，</a:t>
            </a:r>
            <a:r>
              <a:rPr dirty="0" sz="2600" spc="-10">
                <a:solidFill>
                  <a:srgbClr val="FF5CFF"/>
                </a:solidFill>
                <a:latin typeface="Tahoma"/>
                <a:cs typeface="Tahoma"/>
              </a:rPr>
              <a:t>else</a:t>
            </a:r>
            <a:r>
              <a:rPr dirty="0" sz="2600" spc="-20">
                <a:solidFill>
                  <a:srgbClr val="FF5CFF"/>
                </a:solidFill>
                <a:latin typeface="黑体"/>
                <a:cs typeface="黑体"/>
              </a:rPr>
              <a:t>部分的指令则不会读出</a:t>
            </a:r>
            <a:endParaRPr sz="2600">
              <a:latin typeface="黑体"/>
              <a:cs typeface="黑体"/>
            </a:endParaRPr>
          </a:p>
          <a:p>
            <a:pPr marL="12700">
              <a:lnSpc>
                <a:spcPct val="100000"/>
              </a:lnSpc>
              <a:spcBef>
                <a:spcPts val="1530"/>
              </a:spcBef>
            </a:pPr>
            <a:r>
              <a:rPr dirty="0" sz="2800" spc="-35">
                <a:solidFill>
                  <a:srgbClr val="E14B04"/>
                </a:solidFill>
                <a:latin typeface="黑体"/>
                <a:cs typeface="黑体"/>
              </a:rPr>
              <a:t>条件执行机制</a:t>
            </a:r>
            <a:r>
              <a:rPr dirty="0" sz="2800" spc="-15">
                <a:solidFill>
                  <a:srgbClr val="E14B04"/>
                </a:solidFill>
                <a:latin typeface="Tahoma"/>
                <a:cs typeface="Tahoma"/>
              </a:rPr>
              <a:t>---</a:t>
            </a:r>
            <a:r>
              <a:rPr dirty="0" sz="2800" spc="-40">
                <a:solidFill>
                  <a:srgbClr val="E14B04"/>
                </a:solidFill>
                <a:latin typeface="黑体"/>
                <a:cs typeface="黑体"/>
              </a:rPr>
              <a:t>谓词执行</a:t>
            </a:r>
            <a:endParaRPr sz="2800">
              <a:latin typeface="黑体"/>
              <a:cs typeface="黑体"/>
            </a:endParaRPr>
          </a:p>
          <a:p>
            <a:pPr marL="986155" indent="-455295">
              <a:lnSpc>
                <a:spcPct val="100000"/>
              </a:lnSpc>
              <a:spcBef>
                <a:spcPts val="919"/>
              </a:spcBef>
              <a:buClr>
                <a:srgbClr val="40458B"/>
              </a:buClr>
              <a:buSzPct val="89583"/>
              <a:buFont typeface="Wingdings"/>
              <a:buChar char=""/>
              <a:tabLst>
                <a:tab pos="986155" algn="l"/>
              </a:tabLst>
            </a:pPr>
            <a:r>
              <a:rPr dirty="0" sz="2400" spc="-10">
                <a:solidFill>
                  <a:srgbClr val="0000CC"/>
                </a:solidFill>
                <a:latin typeface="黑体"/>
                <a:cs typeface="黑体"/>
              </a:rPr>
              <a:t>改变了传统执行机制</a:t>
            </a:r>
            <a:endParaRPr sz="2400">
              <a:latin typeface="黑体"/>
              <a:cs typeface="黑体"/>
            </a:endParaRPr>
          </a:p>
          <a:p>
            <a:pPr marL="1080770" indent="-549910">
              <a:lnSpc>
                <a:spcPct val="100000"/>
              </a:lnSpc>
              <a:spcBef>
                <a:spcPts val="865"/>
              </a:spcBef>
              <a:buClr>
                <a:srgbClr val="40458B"/>
              </a:buClr>
              <a:buSzPct val="89583"/>
              <a:buFont typeface="Wingdings"/>
              <a:buChar char=""/>
              <a:tabLst>
                <a:tab pos="1080770" algn="l"/>
              </a:tabLst>
            </a:pPr>
            <a:r>
              <a:rPr dirty="0" sz="2400">
                <a:solidFill>
                  <a:srgbClr val="FF0000"/>
                </a:solidFill>
                <a:latin typeface="黑体"/>
                <a:cs typeface="黑体"/>
              </a:rPr>
              <a:t>为几乎所有指令添加了一个额外的操作数</a:t>
            </a:r>
            <a:r>
              <a:rPr dirty="0" sz="2400" spc="-30">
                <a:solidFill>
                  <a:srgbClr val="FF0000"/>
                </a:solidFill>
                <a:latin typeface="Tahoma"/>
                <a:cs typeface="Tahoma"/>
              </a:rPr>
              <a:t>—</a:t>
            </a:r>
            <a:r>
              <a:rPr dirty="0" sz="2400" spc="-10">
                <a:solidFill>
                  <a:srgbClr val="FF0000"/>
                </a:solidFill>
                <a:latin typeface="黑体"/>
                <a:cs typeface="黑体"/>
              </a:rPr>
              <a:t>谓词寄存器</a:t>
            </a:r>
            <a:endParaRPr sz="2400">
              <a:latin typeface="黑体"/>
              <a:cs typeface="黑体"/>
            </a:endParaRPr>
          </a:p>
          <a:p>
            <a:pPr algn="just" lvl="1" marL="1042035" indent="-226695">
              <a:lnSpc>
                <a:spcPct val="100000"/>
              </a:lnSpc>
              <a:spcBef>
                <a:spcPts val="770"/>
              </a:spcBef>
              <a:buClr>
                <a:srgbClr val="4668F5"/>
              </a:buClr>
              <a:buSzPct val="60000"/>
              <a:buFont typeface="Wingdings"/>
              <a:buChar char=""/>
              <a:tabLst>
                <a:tab pos="1042035" algn="l"/>
              </a:tabLst>
            </a:pPr>
            <a:r>
              <a:rPr dirty="0" sz="2000" spc="-30" b="1">
                <a:solidFill>
                  <a:srgbClr val="FF5CFF"/>
                </a:solidFill>
                <a:latin typeface="宋体"/>
                <a:cs typeface="宋体"/>
              </a:rPr>
              <a:t>该指令只有当谓词寄存器的值为“真”时，才会被真正执行并写入结果。</a:t>
            </a:r>
            <a:endParaRPr sz="2000">
              <a:latin typeface="宋体"/>
              <a:cs typeface="宋体"/>
            </a:endParaRPr>
          </a:p>
          <a:p>
            <a:pPr algn="just" lvl="1" marL="1041400" marR="5080" indent="-226695">
              <a:lnSpc>
                <a:spcPct val="110000"/>
              </a:lnSpc>
              <a:spcBef>
                <a:spcPts val="484"/>
              </a:spcBef>
              <a:buClr>
                <a:srgbClr val="4668F5"/>
              </a:buClr>
              <a:buSzPct val="60000"/>
              <a:buFont typeface="Wingdings"/>
              <a:buChar char=""/>
              <a:tabLst>
                <a:tab pos="1042669" algn="l"/>
              </a:tabLst>
            </a:pPr>
            <a:r>
              <a:rPr dirty="0" sz="2000" spc="-25" b="1">
                <a:solidFill>
                  <a:srgbClr val="FF5CFF"/>
                </a:solidFill>
                <a:latin typeface="宋体"/>
                <a:cs typeface="宋体"/>
              </a:rPr>
              <a:t>如果谓词寄存器的值为“假”，则处理器会像执行空操作一样跳过该指令，不会产生任何副作</a:t>
            </a:r>
            <a:r>
              <a:rPr dirty="0" sz="2000" spc="-25" b="1">
                <a:solidFill>
                  <a:srgbClr val="FF5CFF"/>
                </a:solidFill>
                <a:latin typeface="宋体"/>
                <a:cs typeface="宋体"/>
              </a:rPr>
              <a:t>	</a:t>
            </a:r>
            <a:r>
              <a:rPr dirty="0" sz="2000" spc="-10" b="1">
                <a:solidFill>
                  <a:srgbClr val="FF5CFF"/>
                </a:solidFill>
                <a:latin typeface="宋体"/>
                <a:cs typeface="宋体"/>
              </a:rPr>
              <a:t>用（</a:t>
            </a:r>
            <a:r>
              <a:rPr dirty="0" sz="2000" spc="-15" b="1">
                <a:solidFill>
                  <a:srgbClr val="FF5CFF"/>
                </a:solidFill>
                <a:latin typeface="宋体"/>
                <a:cs typeface="宋体"/>
              </a:rPr>
              <a:t>如写入寄存器、触发异常</a:t>
            </a:r>
            <a:r>
              <a:rPr dirty="0" sz="2000" spc="-10" b="1">
                <a:solidFill>
                  <a:srgbClr val="FF5CFF"/>
                </a:solidFill>
                <a:latin typeface="宋体"/>
                <a:cs typeface="宋体"/>
              </a:rPr>
              <a:t>），</a:t>
            </a:r>
            <a:r>
              <a:rPr dirty="0" sz="2000" spc="-25" b="1">
                <a:solidFill>
                  <a:srgbClr val="FF5CFF"/>
                </a:solidFill>
                <a:latin typeface="宋体"/>
                <a:cs typeface="宋体"/>
              </a:rPr>
              <a:t>此时分支指令仍会被读出、译码、并执行，这是与传统中药</a:t>
            </a:r>
            <a:r>
              <a:rPr dirty="0" sz="2000" spc="-25" b="1">
                <a:solidFill>
                  <a:srgbClr val="FF5CFF"/>
                </a:solidFill>
                <a:latin typeface="宋体"/>
                <a:cs typeface="宋体"/>
              </a:rPr>
              <a:t>	</a:t>
            </a:r>
            <a:r>
              <a:rPr dirty="0" sz="2000" spc="-20" b="1">
                <a:solidFill>
                  <a:srgbClr val="FF5CFF"/>
                </a:solidFill>
                <a:latin typeface="宋体"/>
                <a:cs typeface="宋体"/>
              </a:rPr>
              <a:t>的区别。</a:t>
            </a:r>
            <a:endParaRPr sz="2000">
              <a:latin typeface="宋体"/>
              <a:cs typeface="宋体"/>
            </a:endParaRPr>
          </a:p>
        </p:txBody>
      </p:sp>
      <p:sp>
        <p:nvSpPr>
          <p:cNvPr id="10" name="object 10" descr=""/>
          <p:cNvSpPr txBox="1"/>
          <p:nvPr/>
        </p:nvSpPr>
        <p:spPr>
          <a:xfrm>
            <a:off x="8480806" y="57734"/>
            <a:ext cx="2339340" cy="422909"/>
          </a:xfrm>
          <a:prstGeom prst="rect">
            <a:avLst/>
          </a:prstGeom>
        </p:spPr>
        <p:txBody>
          <a:bodyPr wrap="square" lIns="0" tIns="13335" rIns="0" bIns="0" rtlCol="0" vert="horz">
            <a:spAutoFit/>
          </a:bodyPr>
          <a:lstStyle/>
          <a:p>
            <a:pPr marL="12700">
              <a:lnSpc>
                <a:spcPct val="100000"/>
              </a:lnSpc>
              <a:spcBef>
                <a:spcPts val="105"/>
              </a:spcBef>
            </a:pPr>
            <a:r>
              <a:rPr dirty="0" sz="2600">
                <a:solidFill>
                  <a:srgbClr val="0000CC"/>
                </a:solidFill>
                <a:latin typeface="黑体"/>
                <a:cs typeface="黑体"/>
              </a:rPr>
              <a:t>6.4.2</a:t>
            </a:r>
            <a:r>
              <a:rPr dirty="0" sz="2600" spc="-30">
                <a:solidFill>
                  <a:srgbClr val="0000CC"/>
                </a:solidFill>
                <a:latin typeface="黑体"/>
                <a:cs typeface="黑体"/>
              </a:rPr>
              <a:t> 谓词执行</a:t>
            </a:r>
            <a:endParaRPr sz="2600">
              <a:latin typeface="黑体"/>
              <a:cs typeface="黑体"/>
            </a:endParaRPr>
          </a:p>
        </p:txBody>
      </p:sp>
      <p:sp>
        <p:nvSpPr>
          <p:cNvPr id="11" name="object 11"/>
          <p:cNvSpPr txBox="1">
            <a:spLocks noGrp="1"/>
          </p:cNvSpPr>
          <p:nvPr>
            <p:ph type="title"/>
          </p:nvPr>
        </p:nvSpPr>
        <p:spPr>
          <a:xfrm>
            <a:off x="1935607" y="-8686"/>
            <a:ext cx="4904740" cy="514350"/>
          </a:xfrm>
          <a:prstGeom prst="rect"/>
        </p:spPr>
        <p:txBody>
          <a:bodyPr wrap="square" lIns="0" tIns="13335" rIns="0" bIns="0" rtlCol="0" vert="horz">
            <a:spAutoFit/>
          </a:bodyPr>
          <a:lstStyle/>
          <a:p>
            <a:pPr marL="12700">
              <a:lnSpc>
                <a:spcPct val="100000"/>
              </a:lnSpc>
              <a:spcBef>
                <a:spcPts val="105"/>
              </a:spcBef>
            </a:pPr>
            <a:r>
              <a:rPr dirty="0" u="none"/>
              <a:t>6.4</a:t>
            </a:r>
            <a:r>
              <a:rPr dirty="0" u="none" spc="-20"/>
              <a:t> 显示并行指令计算EPIC</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56/89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665480" y="399928"/>
            <a:ext cx="11229340" cy="1863725"/>
          </a:xfrm>
          <a:prstGeom prst="rect">
            <a:avLst/>
          </a:prstGeom>
        </p:spPr>
        <p:txBody>
          <a:bodyPr wrap="square" lIns="0" tIns="225425" rIns="0" bIns="0" rtlCol="0" vert="horz">
            <a:spAutoFit/>
          </a:bodyPr>
          <a:lstStyle/>
          <a:p>
            <a:pPr marL="12700">
              <a:lnSpc>
                <a:spcPct val="100000"/>
              </a:lnSpc>
              <a:spcBef>
                <a:spcPts val="1775"/>
              </a:spcBef>
            </a:pPr>
            <a:r>
              <a:rPr dirty="0" sz="2800" spc="-25" b="1">
                <a:solidFill>
                  <a:srgbClr val="E14B04"/>
                </a:solidFill>
                <a:latin typeface="宋体"/>
                <a:cs typeface="宋体"/>
              </a:rPr>
              <a:t>例</a:t>
            </a:r>
            <a:r>
              <a:rPr dirty="0" sz="2800" b="1">
                <a:solidFill>
                  <a:srgbClr val="E14B04"/>
                </a:solidFill>
                <a:latin typeface="Times New Roman"/>
                <a:cs typeface="Times New Roman"/>
              </a:rPr>
              <a:t>6.4</a:t>
            </a:r>
            <a:r>
              <a:rPr dirty="0" sz="2800" spc="25" b="1">
                <a:solidFill>
                  <a:srgbClr val="E14B04"/>
                </a:solidFill>
                <a:latin typeface="Times New Roman"/>
                <a:cs typeface="Times New Roman"/>
              </a:rPr>
              <a:t> </a:t>
            </a:r>
            <a:r>
              <a:rPr dirty="0" sz="2800" spc="-30" b="1">
                <a:latin typeface="宋体"/>
                <a:cs typeface="宋体"/>
              </a:rPr>
              <a:t>在下面的语句中，</a:t>
            </a:r>
            <a:endParaRPr sz="2800">
              <a:latin typeface="宋体"/>
              <a:cs typeface="宋体"/>
            </a:endParaRPr>
          </a:p>
          <a:p>
            <a:pPr marL="2501265">
              <a:lnSpc>
                <a:spcPct val="100000"/>
              </a:lnSpc>
              <a:spcBef>
                <a:spcPts val="1680"/>
              </a:spcBef>
            </a:pPr>
            <a:r>
              <a:rPr dirty="0" sz="2800" spc="-10" b="1">
                <a:solidFill>
                  <a:srgbClr val="6600FF"/>
                </a:solidFill>
                <a:latin typeface="Times New Roman"/>
                <a:cs typeface="Times New Roman"/>
              </a:rPr>
              <a:t>if</a:t>
            </a:r>
            <a:r>
              <a:rPr dirty="0" sz="2800" spc="-10" b="1">
                <a:solidFill>
                  <a:srgbClr val="6600FF"/>
                </a:solidFill>
                <a:latin typeface="宋体"/>
                <a:cs typeface="宋体"/>
              </a:rPr>
              <a:t>（</a:t>
            </a:r>
            <a:r>
              <a:rPr dirty="0" sz="2800" spc="-10" b="1">
                <a:solidFill>
                  <a:srgbClr val="6600FF"/>
                </a:solidFill>
                <a:latin typeface="Times New Roman"/>
                <a:cs typeface="Times New Roman"/>
              </a:rPr>
              <a:t>A==0</a:t>
            </a:r>
            <a:r>
              <a:rPr dirty="0" sz="2800" spc="-10" b="1">
                <a:solidFill>
                  <a:srgbClr val="6600FF"/>
                </a:solidFill>
                <a:latin typeface="宋体"/>
                <a:cs typeface="宋体"/>
              </a:rPr>
              <a:t>）</a:t>
            </a:r>
            <a:r>
              <a:rPr dirty="0" sz="2800" spc="-10" b="1">
                <a:solidFill>
                  <a:srgbClr val="6600FF"/>
                </a:solidFill>
                <a:latin typeface="Times New Roman"/>
                <a:cs typeface="Times New Roman"/>
              </a:rPr>
              <a:t>{S=T</a:t>
            </a:r>
            <a:r>
              <a:rPr dirty="0" sz="2800" spc="-10" b="1">
                <a:solidFill>
                  <a:srgbClr val="6600FF"/>
                </a:solidFill>
                <a:latin typeface="宋体"/>
                <a:cs typeface="宋体"/>
              </a:rPr>
              <a:t>；</a:t>
            </a:r>
            <a:r>
              <a:rPr dirty="0" sz="2800" spc="-10" b="1">
                <a:solidFill>
                  <a:srgbClr val="6600FF"/>
                </a:solidFill>
                <a:latin typeface="Times New Roman"/>
                <a:cs typeface="Times New Roman"/>
              </a:rPr>
              <a:t>}</a:t>
            </a:r>
            <a:endParaRPr sz="2800">
              <a:latin typeface="Times New Roman"/>
              <a:cs typeface="Times New Roman"/>
            </a:endParaRPr>
          </a:p>
          <a:p>
            <a:pPr marL="12700">
              <a:lnSpc>
                <a:spcPct val="100000"/>
              </a:lnSpc>
              <a:spcBef>
                <a:spcPts val="1520"/>
              </a:spcBef>
            </a:pPr>
            <a:r>
              <a:rPr dirty="0" sz="2400" spc="-20" b="1">
                <a:latin typeface="宋体"/>
                <a:cs typeface="宋体"/>
              </a:rPr>
              <a:t>假设变量</a:t>
            </a:r>
            <a:r>
              <a:rPr dirty="0" sz="2400" spc="-35" b="1">
                <a:solidFill>
                  <a:srgbClr val="6600FF"/>
                </a:solidFill>
                <a:latin typeface="Times New Roman"/>
                <a:cs typeface="Times New Roman"/>
              </a:rPr>
              <a:t>A</a:t>
            </a:r>
            <a:r>
              <a:rPr dirty="0" sz="2400" spc="-20" b="1">
                <a:solidFill>
                  <a:srgbClr val="6600FF"/>
                </a:solidFill>
                <a:latin typeface="宋体"/>
                <a:cs typeface="宋体"/>
              </a:rPr>
              <a:t>、</a:t>
            </a:r>
            <a:r>
              <a:rPr dirty="0" sz="2400" spc="-25" b="1">
                <a:solidFill>
                  <a:srgbClr val="6600FF"/>
                </a:solidFill>
                <a:latin typeface="Times New Roman"/>
                <a:cs typeface="Times New Roman"/>
              </a:rPr>
              <a:t>S</a:t>
            </a:r>
            <a:r>
              <a:rPr dirty="0" sz="2400" spc="-20" b="1">
                <a:solidFill>
                  <a:srgbClr val="6600FF"/>
                </a:solidFill>
                <a:latin typeface="宋体"/>
                <a:cs typeface="宋体"/>
              </a:rPr>
              <a:t>、</a:t>
            </a:r>
            <a:r>
              <a:rPr dirty="0" sz="2400" spc="-10" b="1">
                <a:solidFill>
                  <a:srgbClr val="6600FF"/>
                </a:solidFill>
                <a:latin typeface="Times New Roman"/>
                <a:cs typeface="Times New Roman"/>
              </a:rPr>
              <a:t>T</a:t>
            </a:r>
            <a:r>
              <a:rPr dirty="0" sz="2400" spc="-20" b="1">
                <a:latin typeface="宋体"/>
                <a:cs typeface="宋体"/>
              </a:rPr>
              <a:t>的值分别保存在寄存器</a:t>
            </a:r>
            <a:r>
              <a:rPr dirty="0" sz="2400" spc="-25" b="1">
                <a:solidFill>
                  <a:srgbClr val="6600FF"/>
                </a:solidFill>
                <a:latin typeface="Times New Roman"/>
                <a:cs typeface="Times New Roman"/>
              </a:rPr>
              <a:t>R1</a:t>
            </a:r>
            <a:r>
              <a:rPr dirty="0" sz="2400" spc="-20" b="1">
                <a:solidFill>
                  <a:srgbClr val="6600FF"/>
                </a:solidFill>
                <a:latin typeface="宋体"/>
                <a:cs typeface="宋体"/>
              </a:rPr>
              <a:t>、</a:t>
            </a:r>
            <a:r>
              <a:rPr dirty="0" sz="2400" spc="-25" b="1">
                <a:solidFill>
                  <a:srgbClr val="6600FF"/>
                </a:solidFill>
                <a:latin typeface="Times New Roman"/>
                <a:cs typeface="Times New Roman"/>
              </a:rPr>
              <a:t>R2</a:t>
            </a:r>
            <a:r>
              <a:rPr dirty="0" sz="2400" spc="-20" b="1">
                <a:latin typeface="宋体"/>
                <a:cs typeface="宋体"/>
              </a:rPr>
              <a:t>和</a:t>
            </a:r>
            <a:r>
              <a:rPr dirty="0" sz="2400" spc="-25" b="1">
                <a:solidFill>
                  <a:srgbClr val="6600FF"/>
                </a:solidFill>
                <a:latin typeface="Times New Roman"/>
                <a:cs typeface="Times New Roman"/>
              </a:rPr>
              <a:t>R3</a:t>
            </a:r>
            <a:r>
              <a:rPr dirty="0" sz="2400" spc="-25" b="1">
                <a:latin typeface="宋体"/>
                <a:cs typeface="宋体"/>
              </a:rPr>
              <a:t>内。请用分支指令和条件传输</a:t>
            </a:r>
            <a:endParaRPr sz="2400">
              <a:latin typeface="宋体"/>
              <a:cs typeface="宋体"/>
            </a:endParaRPr>
          </a:p>
        </p:txBody>
      </p:sp>
      <p:sp>
        <p:nvSpPr>
          <p:cNvPr id="10" name="object 10" descr=""/>
          <p:cNvSpPr txBox="1"/>
          <p:nvPr/>
        </p:nvSpPr>
        <p:spPr>
          <a:xfrm>
            <a:off x="1121155" y="2347976"/>
            <a:ext cx="4314190" cy="391160"/>
          </a:xfrm>
          <a:prstGeom prst="rect">
            <a:avLst/>
          </a:prstGeom>
        </p:spPr>
        <p:txBody>
          <a:bodyPr wrap="square" lIns="0" tIns="12700" rIns="0" bIns="0" rtlCol="0" vert="horz">
            <a:spAutoFit/>
          </a:bodyPr>
          <a:lstStyle/>
          <a:p>
            <a:pPr marL="12700">
              <a:lnSpc>
                <a:spcPct val="100000"/>
              </a:lnSpc>
              <a:spcBef>
                <a:spcPts val="100"/>
              </a:spcBef>
            </a:pPr>
            <a:r>
              <a:rPr dirty="0" sz="2400" spc="-25" b="1">
                <a:latin typeface="宋体"/>
                <a:cs typeface="宋体"/>
              </a:rPr>
              <a:t>指令编写功能相同的汇编代码。</a:t>
            </a:r>
            <a:endParaRPr sz="2400">
              <a:latin typeface="宋体"/>
              <a:cs typeface="宋体"/>
            </a:endParaRPr>
          </a:p>
        </p:txBody>
      </p:sp>
      <p:sp>
        <p:nvSpPr>
          <p:cNvPr id="11" name="object 11"/>
          <p:cNvSpPr txBox="1">
            <a:spLocks noGrp="1"/>
          </p:cNvSpPr>
          <p:nvPr>
            <p:ph type="title"/>
          </p:nvPr>
        </p:nvSpPr>
        <p:spPr>
          <a:xfrm>
            <a:off x="1863979" y="36068"/>
            <a:ext cx="4904740" cy="513715"/>
          </a:xfrm>
          <a:prstGeom prst="rect"/>
        </p:spPr>
        <p:txBody>
          <a:bodyPr wrap="square" lIns="0" tIns="12700" rIns="0" bIns="0" rtlCol="0" vert="horz">
            <a:spAutoFit/>
          </a:bodyPr>
          <a:lstStyle/>
          <a:p>
            <a:pPr marL="12700">
              <a:lnSpc>
                <a:spcPct val="100000"/>
              </a:lnSpc>
              <a:spcBef>
                <a:spcPts val="100"/>
              </a:spcBef>
            </a:pPr>
            <a:r>
              <a:rPr dirty="0" u="none"/>
              <a:t>6.4</a:t>
            </a:r>
            <a:r>
              <a:rPr dirty="0" u="none" spc="-15"/>
              <a:t> 显示并行指令计算</a:t>
            </a:r>
            <a:r>
              <a:rPr dirty="0" u="none" spc="-20"/>
              <a:t>EPIC</a:t>
            </a:r>
          </a:p>
        </p:txBody>
      </p:sp>
      <p:sp>
        <p:nvSpPr>
          <p:cNvPr id="12" name="object 12" descr=""/>
          <p:cNvSpPr txBox="1"/>
          <p:nvPr/>
        </p:nvSpPr>
        <p:spPr>
          <a:xfrm>
            <a:off x="74612" y="3160648"/>
            <a:ext cx="5389880" cy="1822450"/>
          </a:xfrm>
          <a:prstGeom prst="rect">
            <a:avLst/>
          </a:prstGeom>
          <a:ln w="9525">
            <a:solidFill>
              <a:srgbClr val="0000CC"/>
            </a:solidFill>
          </a:ln>
        </p:spPr>
        <p:txBody>
          <a:bodyPr wrap="square" lIns="0" tIns="70485" rIns="0" bIns="0" rtlCol="0" vert="horz">
            <a:spAutoFit/>
          </a:bodyPr>
          <a:lstStyle/>
          <a:p>
            <a:pPr marL="91440">
              <a:lnSpc>
                <a:spcPct val="100000"/>
              </a:lnSpc>
              <a:spcBef>
                <a:spcPts val="555"/>
              </a:spcBef>
            </a:pPr>
            <a:r>
              <a:rPr dirty="0" sz="2400" spc="-25" b="1">
                <a:solidFill>
                  <a:srgbClr val="E14B04"/>
                </a:solidFill>
                <a:latin typeface="宋体"/>
                <a:cs typeface="宋体"/>
              </a:rPr>
              <a:t>解：</a:t>
            </a:r>
            <a:r>
              <a:rPr dirty="0" sz="2400" spc="-25" b="1">
                <a:latin typeface="宋体"/>
                <a:cs typeface="宋体"/>
              </a:rPr>
              <a:t>包含分支指令的</a:t>
            </a:r>
            <a:r>
              <a:rPr dirty="0" sz="2400" spc="-10" b="1">
                <a:latin typeface="Times New Roman"/>
                <a:cs typeface="Times New Roman"/>
              </a:rPr>
              <a:t>MIPS</a:t>
            </a:r>
            <a:r>
              <a:rPr dirty="0" sz="2400" spc="-35" b="1">
                <a:latin typeface="宋体"/>
                <a:cs typeface="宋体"/>
              </a:rPr>
              <a:t>汇编代码</a:t>
            </a:r>
            <a:endParaRPr sz="2400">
              <a:latin typeface="宋体"/>
              <a:cs typeface="宋体"/>
            </a:endParaRPr>
          </a:p>
          <a:p>
            <a:pPr marL="1463040" marR="795655">
              <a:lnSpc>
                <a:spcPct val="120000"/>
              </a:lnSpc>
              <a:spcBef>
                <a:spcPts val="5"/>
              </a:spcBef>
              <a:tabLst>
                <a:tab pos="2910840" algn="l"/>
              </a:tabLst>
            </a:pPr>
            <a:r>
              <a:rPr dirty="0" sz="2400" spc="-20">
                <a:solidFill>
                  <a:srgbClr val="6600FF"/>
                </a:solidFill>
                <a:latin typeface="Times New Roman"/>
                <a:cs typeface="Times New Roman"/>
              </a:rPr>
              <a:t>BNEZ</a:t>
            </a:r>
            <a:r>
              <a:rPr dirty="0" sz="2400">
                <a:solidFill>
                  <a:srgbClr val="6600FF"/>
                </a:solidFill>
                <a:latin typeface="Times New Roman"/>
                <a:cs typeface="Times New Roman"/>
              </a:rPr>
              <a:t>	</a:t>
            </a:r>
            <a:r>
              <a:rPr dirty="0" sz="2400" spc="-20">
                <a:solidFill>
                  <a:srgbClr val="6600FF"/>
                </a:solidFill>
                <a:latin typeface="Times New Roman"/>
                <a:cs typeface="Times New Roman"/>
              </a:rPr>
              <a:t>R1</a:t>
            </a:r>
            <a:r>
              <a:rPr dirty="0" sz="2400" spc="-20">
                <a:solidFill>
                  <a:srgbClr val="6600FF"/>
                </a:solidFill>
                <a:latin typeface="宋体"/>
                <a:cs typeface="宋体"/>
              </a:rPr>
              <a:t>，</a:t>
            </a:r>
            <a:r>
              <a:rPr dirty="0" sz="2400" spc="-20">
                <a:solidFill>
                  <a:srgbClr val="6600FF"/>
                </a:solidFill>
                <a:latin typeface="Times New Roman"/>
                <a:cs typeface="Times New Roman"/>
              </a:rPr>
              <a:t>L ADDU</a:t>
            </a:r>
            <a:r>
              <a:rPr dirty="0" sz="2400">
                <a:solidFill>
                  <a:srgbClr val="6600FF"/>
                </a:solidFill>
                <a:latin typeface="Times New Roman"/>
                <a:cs typeface="Times New Roman"/>
              </a:rPr>
              <a:t>	</a:t>
            </a:r>
            <a:r>
              <a:rPr dirty="0" sz="2400" spc="-10">
                <a:solidFill>
                  <a:srgbClr val="6600FF"/>
                </a:solidFill>
                <a:latin typeface="Times New Roman"/>
                <a:cs typeface="Times New Roman"/>
              </a:rPr>
              <a:t>R2</a:t>
            </a:r>
            <a:r>
              <a:rPr dirty="0" sz="2400" spc="-10">
                <a:solidFill>
                  <a:srgbClr val="6600FF"/>
                </a:solidFill>
                <a:latin typeface="宋体"/>
                <a:cs typeface="宋体"/>
              </a:rPr>
              <a:t>，</a:t>
            </a:r>
            <a:r>
              <a:rPr dirty="0" sz="2400" spc="-10">
                <a:solidFill>
                  <a:srgbClr val="6600FF"/>
                </a:solidFill>
                <a:latin typeface="Times New Roman"/>
                <a:cs typeface="Times New Roman"/>
              </a:rPr>
              <a:t>R3</a:t>
            </a:r>
            <a:r>
              <a:rPr dirty="0" sz="2400" spc="-10">
                <a:solidFill>
                  <a:srgbClr val="6600FF"/>
                </a:solidFill>
                <a:latin typeface="宋体"/>
                <a:cs typeface="宋体"/>
              </a:rPr>
              <a:t>，</a:t>
            </a:r>
            <a:r>
              <a:rPr dirty="0" sz="2400" spc="-10">
                <a:solidFill>
                  <a:srgbClr val="6600FF"/>
                </a:solidFill>
                <a:latin typeface="Times New Roman"/>
                <a:cs typeface="Times New Roman"/>
              </a:rPr>
              <a:t>R0</a:t>
            </a:r>
            <a:endParaRPr sz="2400">
              <a:latin typeface="Times New Roman"/>
              <a:cs typeface="Times New Roman"/>
            </a:endParaRPr>
          </a:p>
          <a:p>
            <a:pPr marL="1920239">
              <a:lnSpc>
                <a:spcPct val="100000"/>
              </a:lnSpc>
              <a:spcBef>
                <a:spcPts val="575"/>
              </a:spcBef>
            </a:pPr>
            <a:r>
              <a:rPr dirty="0" sz="2400" spc="-25">
                <a:solidFill>
                  <a:srgbClr val="6600FF"/>
                </a:solidFill>
                <a:latin typeface="Times New Roman"/>
                <a:cs typeface="Times New Roman"/>
              </a:rPr>
              <a:t>L</a:t>
            </a:r>
            <a:r>
              <a:rPr dirty="0" sz="2400" spc="-25">
                <a:solidFill>
                  <a:srgbClr val="6600FF"/>
                </a:solidFill>
                <a:latin typeface="宋体"/>
                <a:cs typeface="宋体"/>
              </a:rPr>
              <a:t>：</a:t>
            </a:r>
            <a:endParaRPr sz="2400">
              <a:latin typeface="宋体"/>
              <a:cs typeface="宋体"/>
            </a:endParaRPr>
          </a:p>
        </p:txBody>
      </p:sp>
      <p:sp>
        <p:nvSpPr>
          <p:cNvPr id="13" name="object 13" descr=""/>
          <p:cNvSpPr txBox="1"/>
          <p:nvPr/>
        </p:nvSpPr>
        <p:spPr>
          <a:xfrm>
            <a:off x="8395207" y="828243"/>
            <a:ext cx="2585085" cy="391795"/>
          </a:xfrm>
          <a:prstGeom prst="rect">
            <a:avLst/>
          </a:prstGeom>
        </p:spPr>
        <p:txBody>
          <a:bodyPr wrap="square" lIns="0" tIns="12700" rIns="0" bIns="0" rtlCol="0" vert="horz">
            <a:spAutoFit/>
          </a:bodyPr>
          <a:lstStyle/>
          <a:p>
            <a:pPr marL="12700">
              <a:lnSpc>
                <a:spcPct val="100000"/>
              </a:lnSpc>
              <a:spcBef>
                <a:spcPts val="100"/>
              </a:spcBef>
              <a:tabLst>
                <a:tab pos="1134110" algn="l"/>
                <a:tab pos="1958339" algn="l"/>
              </a:tabLst>
            </a:pPr>
            <a:r>
              <a:rPr dirty="0" sz="2400">
                <a:solidFill>
                  <a:srgbClr val="0000CC"/>
                </a:solidFill>
                <a:latin typeface="Tahoma"/>
                <a:cs typeface="Tahoma"/>
              </a:rPr>
              <a:t>A</a:t>
            </a:r>
            <a:r>
              <a:rPr dirty="0" sz="2400">
                <a:solidFill>
                  <a:srgbClr val="FF0000"/>
                </a:solidFill>
                <a:latin typeface="Tahoma"/>
                <a:cs typeface="Tahoma"/>
              </a:rPr>
              <a:t>:</a:t>
            </a:r>
            <a:r>
              <a:rPr dirty="0" sz="2400" spc="-15">
                <a:solidFill>
                  <a:srgbClr val="FF0000"/>
                </a:solidFill>
                <a:latin typeface="Tahoma"/>
                <a:cs typeface="Tahoma"/>
              </a:rPr>
              <a:t> </a:t>
            </a:r>
            <a:r>
              <a:rPr dirty="0" sz="2400" spc="-25">
                <a:solidFill>
                  <a:srgbClr val="FF0000"/>
                </a:solidFill>
                <a:latin typeface="Tahoma"/>
                <a:cs typeface="Tahoma"/>
              </a:rPr>
              <a:t>R1</a:t>
            </a:r>
            <a:r>
              <a:rPr dirty="0" sz="2400">
                <a:solidFill>
                  <a:srgbClr val="FF0000"/>
                </a:solidFill>
                <a:latin typeface="Tahoma"/>
                <a:cs typeface="Tahoma"/>
              </a:rPr>
              <a:t>	</a:t>
            </a:r>
            <a:r>
              <a:rPr dirty="0" sz="2400" spc="-20">
                <a:solidFill>
                  <a:srgbClr val="0000CC"/>
                </a:solidFill>
                <a:latin typeface="Tahoma"/>
                <a:cs typeface="Tahoma"/>
              </a:rPr>
              <a:t>S</a:t>
            </a:r>
            <a:r>
              <a:rPr dirty="0" sz="2400" spc="-20">
                <a:solidFill>
                  <a:srgbClr val="FF0000"/>
                </a:solidFill>
                <a:latin typeface="Tahoma"/>
                <a:cs typeface="Tahoma"/>
              </a:rPr>
              <a:t>:R2</a:t>
            </a:r>
            <a:r>
              <a:rPr dirty="0" sz="2400">
                <a:solidFill>
                  <a:srgbClr val="FF0000"/>
                </a:solidFill>
                <a:latin typeface="Tahoma"/>
                <a:cs typeface="Tahoma"/>
              </a:rPr>
              <a:t>	</a:t>
            </a:r>
            <a:r>
              <a:rPr dirty="0" sz="2400" spc="-50">
                <a:solidFill>
                  <a:srgbClr val="0000CC"/>
                </a:solidFill>
                <a:latin typeface="Tahoma"/>
                <a:cs typeface="Tahoma"/>
              </a:rPr>
              <a:t>T</a:t>
            </a:r>
            <a:r>
              <a:rPr dirty="0" sz="2400" spc="-50">
                <a:solidFill>
                  <a:srgbClr val="FF0000"/>
                </a:solidFill>
                <a:latin typeface="Tahoma"/>
                <a:cs typeface="Tahoma"/>
              </a:rPr>
              <a:t>:R3</a:t>
            </a:r>
            <a:endParaRPr sz="2400">
              <a:latin typeface="Tahoma"/>
              <a:cs typeface="Tahoma"/>
            </a:endParaRPr>
          </a:p>
        </p:txBody>
      </p:sp>
      <p:sp>
        <p:nvSpPr>
          <p:cNvPr id="14" name="object 14" descr=""/>
          <p:cNvSpPr txBox="1"/>
          <p:nvPr/>
        </p:nvSpPr>
        <p:spPr>
          <a:xfrm>
            <a:off x="242417" y="5118557"/>
            <a:ext cx="5170170" cy="148971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00AFEF"/>
                </a:solidFill>
                <a:latin typeface="黑体"/>
                <a:cs typeface="黑体"/>
              </a:rPr>
              <a:t>传统方法方法</a:t>
            </a:r>
            <a:r>
              <a:rPr dirty="0" sz="2400" spc="-10">
                <a:solidFill>
                  <a:srgbClr val="00AFEF"/>
                </a:solidFill>
                <a:latin typeface="Tahoma"/>
                <a:cs typeface="Tahoma"/>
              </a:rPr>
              <a:t>1</a:t>
            </a:r>
            <a:r>
              <a:rPr dirty="0" sz="2400" spc="-15">
                <a:solidFill>
                  <a:srgbClr val="0000CC"/>
                </a:solidFill>
                <a:latin typeface="黑体"/>
                <a:cs typeface="黑体"/>
              </a:rPr>
              <a:t>：分支指令</a:t>
            </a:r>
            <a:endParaRPr sz="2400">
              <a:latin typeface="黑体"/>
              <a:cs typeface="黑体"/>
            </a:endParaRPr>
          </a:p>
          <a:p>
            <a:pPr marL="12700" marR="5080">
              <a:lnSpc>
                <a:spcPct val="100000"/>
              </a:lnSpc>
              <a:spcBef>
                <a:spcPts val="5"/>
              </a:spcBef>
            </a:pPr>
            <a:r>
              <a:rPr dirty="0" sz="2400" spc="-10">
                <a:solidFill>
                  <a:srgbClr val="0000CC"/>
                </a:solidFill>
                <a:latin typeface="Tahoma"/>
                <a:cs typeface="Tahoma"/>
              </a:rPr>
              <a:t>BNEZ</a:t>
            </a:r>
            <a:r>
              <a:rPr dirty="0" sz="2400">
                <a:solidFill>
                  <a:srgbClr val="0000CC"/>
                </a:solidFill>
                <a:latin typeface="黑体"/>
                <a:cs typeface="黑体"/>
              </a:rPr>
              <a:t>设置条件码，不等则跳转到</a:t>
            </a:r>
            <a:r>
              <a:rPr dirty="0" sz="2400" spc="-10">
                <a:solidFill>
                  <a:srgbClr val="0000CC"/>
                </a:solidFill>
                <a:latin typeface="Tahoma"/>
                <a:cs typeface="Tahoma"/>
              </a:rPr>
              <a:t>L</a:t>
            </a:r>
            <a:r>
              <a:rPr dirty="0" sz="2400" spc="-30">
                <a:solidFill>
                  <a:srgbClr val="0000CC"/>
                </a:solidFill>
                <a:latin typeface="黑体"/>
                <a:cs typeface="黑体"/>
              </a:rPr>
              <a:t>，同</a:t>
            </a:r>
            <a:r>
              <a:rPr dirty="0" sz="2400" spc="-5">
                <a:solidFill>
                  <a:srgbClr val="0000CC"/>
                </a:solidFill>
                <a:latin typeface="黑体"/>
                <a:cs typeface="黑体"/>
              </a:rPr>
              <a:t>时检查条件码并计算目标地址</a:t>
            </a:r>
            <a:endParaRPr sz="2400">
              <a:latin typeface="黑体"/>
              <a:cs typeface="黑体"/>
            </a:endParaRPr>
          </a:p>
          <a:p>
            <a:pPr marL="297180">
              <a:lnSpc>
                <a:spcPct val="100000"/>
              </a:lnSpc>
            </a:pPr>
            <a:r>
              <a:rPr dirty="0" sz="2400" spc="-15">
                <a:solidFill>
                  <a:srgbClr val="00AFEF"/>
                </a:solidFill>
                <a:latin typeface="黑体"/>
                <a:cs typeface="黑体"/>
              </a:rPr>
              <a:t>控制依赖</a:t>
            </a:r>
            <a:endParaRPr sz="2400">
              <a:latin typeface="黑体"/>
              <a:cs typeface="黑体"/>
            </a:endParaRPr>
          </a:p>
        </p:txBody>
      </p:sp>
      <p:sp>
        <p:nvSpPr>
          <p:cNvPr id="15" name="object 15" descr=""/>
          <p:cNvSpPr txBox="1"/>
          <p:nvPr/>
        </p:nvSpPr>
        <p:spPr>
          <a:xfrm>
            <a:off x="5664200" y="2421001"/>
            <a:ext cx="6336030" cy="3596004"/>
          </a:xfrm>
          <a:prstGeom prst="rect">
            <a:avLst/>
          </a:prstGeom>
          <a:ln w="9525">
            <a:solidFill>
              <a:srgbClr val="FF0000"/>
            </a:solidFill>
          </a:ln>
        </p:spPr>
        <p:txBody>
          <a:bodyPr wrap="square" lIns="0" tIns="70485" rIns="0" bIns="0" rtlCol="0" vert="horz">
            <a:spAutoFit/>
          </a:bodyPr>
          <a:lstStyle/>
          <a:p>
            <a:pPr marL="92075">
              <a:lnSpc>
                <a:spcPct val="100000"/>
              </a:lnSpc>
              <a:spcBef>
                <a:spcPts val="555"/>
              </a:spcBef>
            </a:pPr>
            <a:r>
              <a:rPr dirty="0" sz="2400" spc="-20" b="1">
                <a:latin typeface="宋体"/>
                <a:cs typeface="宋体"/>
              </a:rPr>
              <a:t>用条件传输指令</a:t>
            </a:r>
            <a:r>
              <a:rPr dirty="0" sz="2400" spc="-35" b="1">
                <a:latin typeface="Times New Roman"/>
                <a:cs typeface="Times New Roman"/>
              </a:rPr>
              <a:t>CMOVZ</a:t>
            </a:r>
            <a:r>
              <a:rPr dirty="0" sz="2400" spc="-25" b="1">
                <a:latin typeface="宋体"/>
                <a:cs typeface="宋体"/>
              </a:rPr>
              <a:t>时的汇编代码为：</a:t>
            </a:r>
            <a:endParaRPr sz="2400">
              <a:latin typeface="宋体"/>
              <a:cs typeface="宋体"/>
            </a:endParaRPr>
          </a:p>
          <a:p>
            <a:pPr marL="92075">
              <a:lnSpc>
                <a:spcPct val="100000"/>
              </a:lnSpc>
              <a:spcBef>
                <a:spcPts val="575"/>
              </a:spcBef>
              <a:tabLst>
                <a:tab pos="1345565" algn="l"/>
                <a:tab pos="3251200" algn="l"/>
              </a:tabLst>
            </a:pPr>
            <a:r>
              <a:rPr dirty="0" sz="2400" spc="-10">
                <a:solidFill>
                  <a:srgbClr val="6600FF"/>
                </a:solidFill>
                <a:latin typeface="Times New Roman"/>
                <a:cs typeface="Times New Roman"/>
              </a:rPr>
              <a:t>CMOVZ</a:t>
            </a:r>
            <a:r>
              <a:rPr dirty="0" sz="2400">
                <a:solidFill>
                  <a:srgbClr val="6600FF"/>
                </a:solidFill>
                <a:latin typeface="Times New Roman"/>
                <a:cs typeface="Times New Roman"/>
              </a:rPr>
              <a:t>	</a:t>
            </a:r>
            <a:r>
              <a:rPr dirty="0" sz="2400" spc="-10">
                <a:solidFill>
                  <a:srgbClr val="6600FF"/>
                </a:solidFill>
                <a:latin typeface="Times New Roman"/>
                <a:cs typeface="Times New Roman"/>
              </a:rPr>
              <a:t>R2</a:t>
            </a:r>
            <a:r>
              <a:rPr dirty="0" sz="2400" spc="-10">
                <a:solidFill>
                  <a:srgbClr val="6600FF"/>
                </a:solidFill>
                <a:latin typeface="宋体"/>
                <a:cs typeface="宋体"/>
              </a:rPr>
              <a:t>，</a:t>
            </a:r>
            <a:r>
              <a:rPr dirty="0" sz="2400" spc="-10">
                <a:solidFill>
                  <a:srgbClr val="6600FF"/>
                </a:solidFill>
                <a:latin typeface="Times New Roman"/>
                <a:cs typeface="Times New Roman"/>
              </a:rPr>
              <a:t>R3</a:t>
            </a:r>
            <a:r>
              <a:rPr dirty="0" sz="2400" spc="-10">
                <a:solidFill>
                  <a:srgbClr val="6600FF"/>
                </a:solidFill>
                <a:latin typeface="宋体"/>
                <a:cs typeface="宋体"/>
              </a:rPr>
              <a:t>，</a:t>
            </a:r>
            <a:r>
              <a:rPr dirty="0" sz="2400" spc="-10">
                <a:solidFill>
                  <a:srgbClr val="6600FF"/>
                </a:solidFill>
                <a:latin typeface="Times New Roman"/>
                <a:cs typeface="Times New Roman"/>
              </a:rPr>
              <a:t>R1</a:t>
            </a:r>
            <a:r>
              <a:rPr dirty="0" sz="2400">
                <a:solidFill>
                  <a:srgbClr val="6600FF"/>
                </a:solidFill>
                <a:latin typeface="Times New Roman"/>
                <a:cs typeface="Times New Roman"/>
              </a:rPr>
              <a:t>	//</a:t>
            </a:r>
            <a:r>
              <a:rPr dirty="0" sz="2400">
                <a:solidFill>
                  <a:srgbClr val="6600FF"/>
                </a:solidFill>
                <a:latin typeface="宋体"/>
                <a:cs typeface="宋体"/>
              </a:rPr>
              <a:t>满足</a:t>
            </a:r>
            <a:r>
              <a:rPr dirty="0" sz="2400" spc="-10">
                <a:solidFill>
                  <a:srgbClr val="6600FF"/>
                </a:solidFill>
                <a:latin typeface="Times New Roman"/>
                <a:cs typeface="Times New Roman"/>
              </a:rPr>
              <a:t>R1=0</a:t>
            </a:r>
            <a:r>
              <a:rPr dirty="0" sz="2400" spc="-20">
                <a:solidFill>
                  <a:srgbClr val="6600FF"/>
                </a:solidFill>
                <a:latin typeface="宋体"/>
                <a:cs typeface="宋体"/>
              </a:rPr>
              <a:t>时移动</a:t>
            </a:r>
            <a:endParaRPr sz="2400">
              <a:latin typeface="宋体"/>
              <a:cs typeface="宋体"/>
            </a:endParaRPr>
          </a:p>
          <a:p>
            <a:pPr>
              <a:lnSpc>
                <a:spcPct val="100000"/>
              </a:lnSpc>
              <a:spcBef>
                <a:spcPts val="340"/>
              </a:spcBef>
            </a:pPr>
            <a:endParaRPr sz="2400">
              <a:latin typeface="宋体"/>
              <a:cs typeface="宋体"/>
            </a:endParaRPr>
          </a:p>
          <a:p>
            <a:pPr marL="1178560" marR="116205" indent="-76200">
              <a:lnSpc>
                <a:spcPct val="120000"/>
              </a:lnSpc>
            </a:pPr>
            <a:r>
              <a:rPr dirty="0" sz="2400" spc="-20" b="1">
                <a:latin typeface="宋体"/>
                <a:cs typeface="宋体"/>
              </a:rPr>
              <a:t>指令</a:t>
            </a:r>
            <a:r>
              <a:rPr dirty="0" sz="2400" spc="-30" b="1">
                <a:latin typeface="Times New Roman"/>
                <a:cs typeface="Times New Roman"/>
              </a:rPr>
              <a:t>CMOVZ</a:t>
            </a:r>
            <a:r>
              <a:rPr dirty="0" sz="2400" spc="-30" b="1">
                <a:latin typeface="宋体"/>
                <a:cs typeface="宋体"/>
              </a:rPr>
              <a:t>：，</a:t>
            </a:r>
            <a:r>
              <a:rPr dirty="0" sz="2400" spc="-30" b="1">
                <a:latin typeface="Times New Roman"/>
                <a:cs typeface="Times New Roman"/>
              </a:rPr>
              <a:t>R2</a:t>
            </a:r>
            <a:r>
              <a:rPr dirty="0" sz="2400" spc="-25" b="1">
                <a:latin typeface="宋体"/>
                <a:cs typeface="宋体"/>
              </a:rPr>
              <a:t>为目的操作数，</a:t>
            </a:r>
            <a:r>
              <a:rPr dirty="0" sz="2400" spc="-50" b="1">
                <a:latin typeface="宋体"/>
                <a:cs typeface="宋体"/>
              </a:rPr>
              <a:t> </a:t>
            </a:r>
            <a:r>
              <a:rPr dirty="0" sz="2400" spc="-25" b="1">
                <a:latin typeface="Times New Roman"/>
                <a:cs typeface="Times New Roman"/>
              </a:rPr>
              <a:t>R1</a:t>
            </a:r>
            <a:r>
              <a:rPr dirty="0" sz="2400" spc="-20" b="1">
                <a:latin typeface="宋体"/>
                <a:cs typeface="宋体"/>
              </a:rPr>
              <a:t>和</a:t>
            </a:r>
            <a:r>
              <a:rPr dirty="0" sz="2400" spc="-25" b="1">
                <a:latin typeface="Times New Roman"/>
                <a:cs typeface="Times New Roman"/>
              </a:rPr>
              <a:t>R3</a:t>
            </a:r>
            <a:r>
              <a:rPr dirty="0" sz="2400" spc="-25" b="1">
                <a:latin typeface="宋体"/>
                <a:cs typeface="宋体"/>
              </a:rPr>
              <a:t>是源操作数，执行条件保存在</a:t>
            </a:r>
            <a:r>
              <a:rPr dirty="0" sz="2400" spc="-50" b="1">
                <a:latin typeface="宋体"/>
                <a:cs typeface="宋体"/>
              </a:rPr>
              <a:t> </a:t>
            </a:r>
            <a:r>
              <a:rPr dirty="0" sz="2400" spc="-30" b="1">
                <a:latin typeface="Times New Roman"/>
                <a:cs typeface="Times New Roman"/>
              </a:rPr>
              <a:t>R1</a:t>
            </a:r>
            <a:r>
              <a:rPr dirty="0" sz="2400" spc="-40" b="1">
                <a:latin typeface="宋体"/>
                <a:cs typeface="宋体"/>
              </a:rPr>
              <a:t>中。</a:t>
            </a:r>
            <a:endParaRPr sz="2400">
              <a:latin typeface="宋体"/>
              <a:cs typeface="宋体"/>
            </a:endParaRPr>
          </a:p>
          <a:p>
            <a:pPr marL="1178560" marR="1693545" indent="76200">
              <a:lnSpc>
                <a:spcPct val="120000"/>
              </a:lnSpc>
            </a:pPr>
            <a:r>
              <a:rPr dirty="0" sz="2400" spc="-20" b="1">
                <a:latin typeface="宋体"/>
                <a:cs typeface="宋体"/>
              </a:rPr>
              <a:t>当</a:t>
            </a:r>
            <a:r>
              <a:rPr dirty="0" sz="2400" spc="-10" b="1">
                <a:solidFill>
                  <a:srgbClr val="6600FF"/>
                </a:solidFill>
                <a:latin typeface="Times New Roman"/>
                <a:cs typeface="Times New Roman"/>
              </a:rPr>
              <a:t>R1=0</a:t>
            </a:r>
            <a:r>
              <a:rPr dirty="0" sz="2400" spc="-220" b="1">
                <a:latin typeface="宋体"/>
                <a:cs typeface="宋体"/>
              </a:rPr>
              <a:t>时， </a:t>
            </a:r>
            <a:r>
              <a:rPr dirty="0" sz="2400" b="1">
                <a:latin typeface="Times New Roman"/>
                <a:cs typeface="Times New Roman"/>
              </a:rPr>
              <a:t>R2 =R3 </a:t>
            </a:r>
            <a:r>
              <a:rPr dirty="0" sz="2400" spc="-35" b="1">
                <a:latin typeface="宋体"/>
                <a:cs typeface="宋体"/>
              </a:rPr>
              <a:t>赋值</a:t>
            </a:r>
            <a:r>
              <a:rPr dirty="0" sz="2400" spc="-20" b="1">
                <a:latin typeface="宋体"/>
                <a:cs typeface="宋体"/>
              </a:rPr>
              <a:t>否则</a:t>
            </a:r>
            <a:r>
              <a:rPr dirty="0" sz="2400" spc="-25" b="1">
                <a:latin typeface="Times New Roman"/>
                <a:cs typeface="Times New Roman"/>
              </a:rPr>
              <a:t>R2</a:t>
            </a:r>
            <a:r>
              <a:rPr dirty="0" sz="2400" spc="-25" b="1">
                <a:latin typeface="宋体"/>
                <a:cs typeface="宋体"/>
              </a:rPr>
              <a:t>的内容不变。</a:t>
            </a:r>
            <a:endParaRPr sz="2400">
              <a:latin typeface="宋体"/>
              <a:cs typeface="宋体"/>
            </a:endParaRPr>
          </a:p>
        </p:txBody>
      </p:sp>
      <p:sp>
        <p:nvSpPr>
          <p:cNvPr id="16" name="object 16" descr=""/>
          <p:cNvSpPr txBox="1"/>
          <p:nvPr/>
        </p:nvSpPr>
        <p:spPr>
          <a:xfrm>
            <a:off x="6823329" y="6095796"/>
            <a:ext cx="4631690" cy="391160"/>
          </a:xfrm>
          <a:prstGeom prst="rect">
            <a:avLst/>
          </a:prstGeom>
        </p:spPr>
        <p:txBody>
          <a:bodyPr wrap="square" lIns="0" tIns="12700" rIns="0" bIns="0" rtlCol="0" vert="horz">
            <a:spAutoFit/>
          </a:bodyPr>
          <a:lstStyle/>
          <a:p>
            <a:pPr marL="12700">
              <a:lnSpc>
                <a:spcPct val="100000"/>
              </a:lnSpc>
              <a:spcBef>
                <a:spcPts val="100"/>
              </a:spcBef>
              <a:tabLst>
                <a:tab pos="3399154" algn="l"/>
              </a:tabLst>
            </a:pPr>
            <a:r>
              <a:rPr dirty="0" sz="2400">
                <a:solidFill>
                  <a:srgbClr val="0000CC"/>
                </a:solidFill>
                <a:latin typeface="黑体"/>
                <a:cs typeface="黑体"/>
              </a:rPr>
              <a:t>方法</a:t>
            </a:r>
            <a:r>
              <a:rPr dirty="0" sz="2400" spc="-10">
                <a:solidFill>
                  <a:srgbClr val="0000CC"/>
                </a:solidFill>
                <a:latin typeface="Tahoma"/>
                <a:cs typeface="Tahoma"/>
              </a:rPr>
              <a:t>2</a:t>
            </a:r>
            <a:r>
              <a:rPr dirty="0" sz="2400" spc="-10">
                <a:solidFill>
                  <a:srgbClr val="0000CC"/>
                </a:solidFill>
                <a:latin typeface="黑体"/>
                <a:cs typeface="黑体"/>
              </a:rPr>
              <a:t>：</a:t>
            </a:r>
            <a:r>
              <a:rPr dirty="0" sz="2400">
                <a:solidFill>
                  <a:srgbClr val="0000CC"/>
                </a:solidFill>
                <a:latin typeface="黑体"/>
                <a:cs typeface="黑体"/>
              </a:rPr>
              <a:t>条件传输指</a:t>
            </a:r>
            <a:r>
              <a:rPr dirty="0" sz="2400" spc="-50">
                <a:solidFill>
                  <a:srgbClr val="0000CC"/>
                </a:solidFill>
                <a:latin typeface="黑体"/>
                <a:cs typeface="黑体"/>
              </a:rPr>
              <a:t>令</a:t>
            </a:r>
            <a:r>
              <a:rPr dirty="0" sz="2400">
                <a:solidFill>
                  <a:srgbClr val="0000CC"/>
                </a:solidFill>
                <a:latin typeface="黑体"/>
                <a:cs typeface="黑体"/>
              </a:rPr>
              <a:t>	</a:t>
            </a:r>
            <a:r>
              <a:rPr dirty="0" sz="2400">
                <a:solidFill>
                  <a:srgbClr val="00AFEF"/>
                </a:solidFill>
                <a:latin typeface="黑体"/>
                <a:cs typeface="黑体"/>
              </a:rPr>
              <a:t>数据依</a:t>
            </a:r>
            <a:r>
              <a:rPr dirty="0" sz="2400" spc="-50">
                <a:solidFill>
                  <a:srgbClr val="00AFEF"/>
                </a:solidFill>
                <a:latin typeface="黑体"/>
                <a:cs typeface="黑体"/>
              </a:rPr>
              <a:t>赖</a:t>
            </a:r>
            <a:endParaRPr sz="2400">
              <a:latin typeface="黑体"/>
              <a:cs typeface="黑体"/>
            </a:endParaRPr>
          </a:p>
        </p:txBody>
      </p:sp>
      <p:sp>
        <p:nvSpPr>
          <p:cNvPr id="17" name="object 17" descr=""/>
          <p:cNvSpPr txBox="1"/>
          <p:nvPr/>
        </p:nvSpPr>
        <p:spPr>
          <a:xfrm>
            <a:off x="8480806" y="57734"/>
            <a:ext cx="2339340" cy="422909"/>
          </a:xfrm>
          <a:prstGeom prst="rect">
            <a:avLst/>
          </a:prstGeom>
        </p:spPr>
        <p:txBody>
          <a:bodyPr wrap="square" lIns="0" tIns="13335" rIns="0" bIns="0" rtlCol="0" vert="horz">
            <a:spAutoFit/>
          </a:bodyPr>
          <a:lstStyle/>
          <a:p>
            <a:pPr marL="12700">
              <a:lnSpc>
                <a:spcPct val="100000"/>
              </a:lnSpc>
              <a:spcBef>
                <a:spcPts val="105"/>
              </a:spcBef>
            </a:pPr>
            <a:r>
              <a:rPr dirty="0" sz="2600">
                <a:solidFill>
                  <a:srgbClr val="0000CC"/>
                </a:solidFill>
                <a:latin typeface="黑体"/>
                <a:cs typeface="黑体"/>
              </a:rPr>
              <a:t>6.4.2</a:t>
            </a:r>
            <a:r>
              <a:rPr dirty="0" sz="2600" spc="-30">
                <a:solidFill>
                  <a:srgbClr val="0000CC"/>
                </a:solidFill>
                <a:latin typeface="黑体"/>
                <a:cs typeface="黑体"/>
              </a:rPr>
              <a:t> 谓词执行</a:t>
            </a:r>
            <a:endParaRPr sz="2600">
              <a:latin typeface="黑体"/>
              <a:cs typeface="黑体"/>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57/89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108000" y="1614922"/>
            <a:ext cx="11957050" cy="4166235"/>
          </a:xfrm>
          <a:prstGeom prst="rect">
            <a:avLst/>
          </a:prstGeom>
        </p:spPr>
        <p:txBody>
          <a:bodyPr wrap="square" lIns="0" tIns="147955" rIns="0" bIns="0" rtlCol="0" vert="horz">
            <a:spAutoFit/>
          </a:bodyPr>
          <a:lstStyle/>
          <a:p>
            <a:pPr marL="469900" indent="-457200">
              <a:lnSpc>
                <a:spcPct val="100000"/>
              </a:lnSpc>
              <a:spcBef>
                <a:spcPts val="1165"/>
              </a:spcBef>
              <a:buClr>
                <a:srgbClr val="40458B"/>
              </a:buClr>
              <a:buSzPct val="89285"/>
              <a:buFont typeface="Wingdings"/>
              <a:buChar char=""/>
              <a:tabLst>
                <a:tab pos="469900" algn="l"/>
              </a:tabLst>
            </a:pPr>
            <a:r>
              <a:rPr dirty="0" sz="2800" spc="-40">
                <a:solidFill>
                  <a:srgbClr val="FF0000"/>
                </a:solidFill>
                <a:latin typeface="黑体"/>
                <a:cs typeface="黑体"/>
              </a:rPr>
              <a:t>分析</a:t>
            </a:r>
            <a:endParaRPr sz="2800">
              <a:latin typeface="黑体"/>
              <a:cs typeface="黑体"/>
            </a:endParaRPr>
          </a:p>
          <a:p>
            <a:pPr lvl="1" marL="755015" marR="5080" indent="-457834">
              <a:lnSpc>
                <a:spcPct val="110000"/>
              </a:lnSpc>
              <a:spcBef>
                <a:spcPts val="625"/>
              </a:spcBef>
              <a:buClr>
                <a:srgbClr val="4668F5"/>
              </a:buClr>
              <a:buSzPct val="60416"/>
              <a:buFont typeface="Wingdings"/>
              <a:buChar char=""/>
              <a:tabLst>
                <a:tab pos="755015" algn="l"/>
              </a:tabLst>
            </a:pPr>
            <a:r>
              <a:rPr dirty="0" sz="2400" spc="-20" b="1">
                <a:solidFill>
                  <a:srgbClr val="0000CC"/>
                </a:solidFill>
                <a:latin typeface="宋体"/>
                <a:cs typeface="宋体"/>
              </a:rPr>
              <a:t>借助条件传输指令</a:t>
            </a:r>
            <a:r>
              <a:rPr dirty="0" sz="2400" spc="-30" b="1">
                <a:solidFill>
                  <a:srgbClr val="0000CC"/>
                </a:solidFill>
                <a:latin typeface="宋体"/>
                <a:cs typeface="宋体"/>
              </a:rPr>
              <a:t>（</a:t>
            </a:r>
            <a:r>
              <a:rPr dirty="0" sz="2400" spc="-580" b="1">
                <a:solidFill>
                  <a:srgbClr val="0000CC"/>
                </a:solidFill>
                <a:latin typeface="宋体"/>
                <a:cs typeface="宋体"/>
              </a:rPr>
              <a:t> </a:t>
            </a:r>
            <a:r>
              <a:rPr dirty="0" sz="2400" b="1">
                <a:solidFill>
                  <a:srgbClr val="FF0000"/>
                </a:solidFill>
                <a:latin typeface="Times New Roman"/>
                <a:cs typeface="Times New Roman"/>
              </a:rPr>
              <a:t>CMOVZ </a:t>
            </a:r>
            <a:r>
              <a:rPr dirty="0" sz="2400" spc="-20" b="1">
                <a:solidFill>
                  <a:srgbClr val="0000CC"/>
                </a:solidFill>
                <a:latin typeface="宋体"/>
                <a:cs typeface="宋体"/>
              </a:rPr>
              <a:t>）</a:t>
            </a:r>
            <a:r>
              <a:rPr dirty="0" sz="2400" spc="-25" b="1">
                <a:solidFill>
                  <a:srgbClr val="0000CC"/>
                </a:solidFill>
                <a:latin typeface="宋体"/>
                <a:cs typeface="宋体"/>
              </a:rPr>
              <a:t>将分支指令</a:t>
            </a:r>
            <a:r>
              <a:rPr dirty="0" sz="2400" spc="-30" b="1">
                <a:solidFill>
                  <a:srgbClr val="0000CC"/>
                </a:solidFill>
                <a:latin typeface="宋体"/>
                <a:cs typeface="宋体"/>
              </a:rPr>
              <a:t>（</a:t>
            </a:r>
            <a:r>
              <a:rPr dirty="0" sz="2400" spc="-580" b="1">
                <a:solidFill>
                  <a:srgbClr val="0000CC"/>
                </a:solidFill>
                <a:latin typeface="宋体"/>
                <a:cs typeface="宋体"/>
              </a:rPr>
              <a:t> </a:t>
            </a:r>
            <a:r>
              <a:rPr dirty="0" sz="2400" b="1">
                <a:solidFill>
                  <a:srgbClr val="FF0000"/>
                </a:solidFill>
                <a:latin typeface="Times New Roman"/>
                <a:cs typeface="Times New Roman"/>
              </a:rPr>
              <a:t>BNEZ </a:t>
            </a:r>
            <a:r>
              <a:rPr dirty="0" sz="2400" spc="-20" b="1">
                <a:solidFill>
                  <a:srgbClr val="0000CC"/>
                </a:solidFill>
                <a:latin typeface="宋体"/>
                <a:cs typeface="宋体"/>
              </a:rPr>
              <a:t>）</a:t>
            </a:r>
            <a:r>
              <a:rPr dirty="0" sz="2400" spc="-25" b="1">
                <a:solidFill>
                  <a:srgbClr val="0000CC"/>
                </a:solidFill>
                <a:latin typeface="宋体"/>
                <a:cs typeface="宋体"/>
              </a:rPr>
              <a:t>引起的控制相关转换为相对</a:t>
            </a:r>
            <a:r>
              <a:rPr dirty="0" sz="2400" spc="-20" b="1">
                <a:solidFill>
                  <a:srgbClr val="0000CC"/>
                </a:solidFill>
                <a:latin typeface="宋体"/>
                <a:cs typeface="宋体"/>
              </a:rPr>
              <a:t>于分支转移条件</a:t>
            </a:r>
            <a:r>
              <a:rPr dirty="0" sz="2400" spc="-25" b="1">
                <a:solidFill>
                  <a:srgbClr val="0000CC"/>
                </a:solidFill>
                <a:latin typeface="宋体"/>
                <a:cs typeface="宋体"/>
              </a:rPr>
              <a:t>（</a:t>
            </a:r>
            <a:r>
              <a:rPr dirty="0" sz="2400" spc="-25" b="1">
                <a:solidFill>
                  <a:srgbClr val="FF0000"/>
                </a:solidFill>
                <a:latin typeface="Times New Roman"/>
                <a:cs typeface="Times New Roman"/>
              </a:rPr>
              <a:t>R1</a:t>
            </a:r>
            <a:r>
              <a:rPr dirty="0" sz="2400" spc="-25" b="1">
                <a:solidFill>
                  <a:srgbClr val="0000CC"/>
                </a:solidFill>
                <a:latin typeface="宋体"/>
                <a:cs typeface="宋体"/>
              </a:rPr>
              <a:t>）的数据相关。</a:t>
            </a:r>
            <a:endParaRPr sz="2400">
              <a:latin typeface="宋体"/>
              <a:cs typeface="宋体"/>
            </a:endParaRPr>
          </a:p>
          <a:p>
            <a:pPr lvl="1" marL="755015" marR="238125" indent="-457834">
              <a:lnSpc>
                <a:spcPct val="110000"/>
              </a:lnSpc>
              <a:spcBef>
                <a:spcPts val="580"/>
              </a:spcBef>
              <a:buClr>
                <a:srgbClr val="4668F5"/>
              </a:buClr>
              <a:buSzPct val="60416"/>
              <a:buFont typeface="Wingdings"/>
              <a:buChar char=""/>
              <a:tabLst>
                <a:tab pos="755015" algn="l"/>
              </a:tabLst>
            </a:pPr>
            <a:r>
              <a:rPr dirty="0" sz="2400" spc="-20" b="1">
                <a:solidFill>
                  <a:srgbClr val="FF0000"/>
                </a:solidFill>
                <a:latin typeface="宋体"/>
                <a:cs typeface="宋体"/>
              </a:rPr>
              <a:t>转换的意义：</a:t>
            </a:r>
            <a:r>
              <a:rPr dirty="0" sz="2400" spc="-20" b="1">
                <a:solidFill>
                  <a:srgbClr val="0000CC"/>
                </a:solidFill>
                <a:latin typeface="宋体"/>
                <a:cs typeface="宋体"/>
              </a:rPr>
              <a:t>原来</a:t>
            </a:r>
            <a:r>
              <a:rPr dirty="0" sz="2400" spc="-25" b="1">
                <a:solidFill>
                  <a:srgbClr val="0000CC"/>
                </a:solidFill>
                <a:latin typeface="Times New Roman"/>
                <a:cs typeface="Times New Roman"/>
              </a:rPr>
              <a:t>ID</a:t>
            </a:r>
            <a:r>
              <a:rPr dirty="0" sz="2400" spc="-20" b="1">
                <a:solidFill>
                  <a:srgbClr val="0000CC"/>
                </a:solidFill>
                <a:latin typeface="宋体"/>
                <a:cs typeface="宋体"/>
              </a:rPr>
              <a:t>段处理的控制相关现在被推迟到</a:t>
            </a:r>
            <a:r>
              <a:rPr dirty="0" sz="2400" spc="-10" b="1">
                <a:solidFill>
                  <a:srgbClr val="0000CC"/>
                </a:solidFill>
                <a:latin typeface="Times New Roman"/>
                <a:cs typeface="Times New Roman"/>
              </a:rPr>
              <a:t>WB</a:t>
            </a:r>
            <a:r>
              <a:rPr dirty="0" sz="2400" spc="-25" b="1">
                <a:solidFill>
                  <a:srgbClr val="0000CC"/>
                </a:solidFill>
                <a:latin typeface="宋体"/>
                <a:cs typeface="宋体"/>
              </a:rPr>
              <a:t>段，为指令调度提供更大</a:t>
            </a:r>
            <a:r>
              <a:rPr dirty="0" sz="2400" spc="-35" b="1">
                <a:solidFill>
                  <a:srgbClr val="0000CC"/>
                </a:solidFill>
                <a:latin typeface="宋体"/>
                <a:cs typeface="宋体"/>
              </a:rPr>
              <a:t>的空间</a:t>
            </a:r>
            <a:endParaRPr sz="2400">
              <a:latin typeface="宋体"/>
              <a:cs typeface="宋体"/>
            </a:endParaRPr>
          </a:p>
          <a:p>
            <a:pPr lvl="2" marL="1079500" marR="147320" indent="-381000">
              <a:lnSpc>
                <a:spcPct val="110000"/>
              </a:lnSpc>
              <a:spcBef>
                <a:spcPts val="575"/>
              </a:spcBef>
              <a:buSzPct val="64583"/>
              <a:buFont typeface="Wingdings"/>
              <a:buChar char=""/>
              <a:tabLst>
                <a:tab pos="1079500" algn="l"/>
              </a:tabLst>
            </a:pPr>
            <a:r>
              <a:rPr dirty="0" sz="2400" spc="-25" b="1">
                <a:solidFill>
                  <a:srgbClr val="FF09FF"/>
                </a:solidFill>
                <a:latin typeface="宋体"/>
                <a:cs typeface="宋体"/>
              </a:rPr>
              <a:t>条件执行机制能够删除代码中那些行为难以预测的分支指令，提高分支预测准确</a:t>
            </a:r>
            <a:r>
              <a:rPr dirty="0" sz="2400" spc="-30" b="1">
                <a:solidFill>
                  <a:srgbClr val="FF09FF"/>
                </a:solidFill>
                <a:latin typeface="宋体"/>
                <a:cs typeface="宋体"/>
              </a:rPr>
              <a:t>率，并减少由于分支预测错误带来的性能损失。</a:t>
            </a:r>
            <a:endParaRPr sz="2400">
              <a:latin typeface="宋体"/>
              <a:cs typeface="宋体"/>
            </a:endParaRPr>
          </a:p>
          <a:p>
            <a:pPr lvl="1" marL="755015" marR="165735" indent="-457834">
              <a:lnSpc>
                <a:spcPct val="109900"/>
              </a:lnSpc>
              <a:spcBef>
                <a:spcPts val="580"/>
              </a:spcBef>
              <a:buClr>
                <a:srgbClr val="4668F5"/>
              </a:buClr>
              <a:buSzPct val="60416"/>
              <a:buFont typeface="Wingdings"/>
              <a:buChar char=""/>
              <a:tabLst>
                <a:tab pos="755015" algn="l"/>
              </a:tabLst>
            </a:pPr>
            <a:r>
              <a:rPr dirty="0" sz="2400" spc="-20" b="1">
                <a:solidFill>
                  <a:srgbClr val="0000CC"/>
                </a:solidFill>
                <a:latin typeface="宋体"/>
                <a:cs typeface="宋体"/>
              </a:rPr>
              <a:t>无论指令的执行条件是否为真，指令都将被读出、译码并执行（这也是其缺点）</a:t>
            </a:r>
            <a:r>
              <a:rPr dirty="0" sz="2400" spc="-50" b="1">
                <a:solidFill>
                  <a:srgbClr val="0000CC"/>
                </a:solidFill>
                <a:latin typeface="宋体"/>
                <a:cs typeface="宋体"/>
              </a:rPr>
              <a:t>。</a:t>
            </a:r>
            <a:r>
              <a:rPr dirty="0" sz="2400" spc="-20" b="1">
                <a:solidFill>
                  <a:srgbClr val="0000CC"/>
                </a:solidFill>
                <a:latin typeface="宋体"/>
                <a:cs typeface="宋体"/>
              </a:rPr>
              <a:t>这种编译优化技术叫做</a:t>
            </a:r>
            <a:r>
              <a:rPr dirty="0" sz="2400" spc="-20" b="1">
                <a:solidFill>
                  <a:srgbClr val="FF0000"/>
                </a:solidFill>
                <a:latin typeface="宋体"/>
                <a:cs typeface="宋体"/>
              </a:rPr>
              <a:t>条件转换</a:t>
            </a:r>
            <a:r>
              <a:rPr dirty="0" sz="2800" spc="-50" b="1">
                <a:solidFill>
                  <a:srgbClr val="0000CC"/>
                </a:solidFill>
                <a:latin typeface="宋体"/>
                <a:cs typeface="宋体"/>
              </a:rPr>
              <a:t>。</a:t>
            </a:r>
            <a:endParaRPr sz="2800">
              <a:latin typeface="宋体"/>
              <a:cs typeface="宋体"/>
            </a:endParaRPr>
          </a:p>
        </p:txBody>
      </p:sp>
      <p:sp>
        <p:nvSpPr>
          <p:cNvPr id="10" name="object 10"/>
          <p:cNvSpPr txBox="1">
            <a:spLocks noGrp="1"/>
          </p:cNvSpPr>
          <p:nvPr>
            <p:ph type="title"/>
          </p:nvPr>
        </p:nvSpPr>
        <p:spPr>
          <a:xfrm>
            <a:off x="1863979" y="36068"/>
            <a:ext cx="4904740" cy="513715"/>
          </a:xfrm>
          <a:prstGeom prst="rect"/>
        </p:spPr>
        <p:txBody>
          <a:bodyPr wrap="square" lIns="0" tIns="12700" rIns="0" bIns="0" rtlCol="0" vert="horz">
            <a:spAutoFit/>
          </a:bodyPr>
          <a:lstStyle/>
          <a:p>
            <a:pPr marL="12700">
              <a:lnSpc>
                <a:spcPct val="100000"/>
              </a:lnSpc>
              <a:spcBef>
                <a:spcPts val="100"/>
              </a:spcBef>
            </a:pPr>
            <a:r>
              <a:rPr dirty="0" u="none"/>
              <a:t>6.4</a:t>
            </a:r>
            <a:r>
              <a:rPr dirty="0" u="none" spc="-15"/>
              <a:t> 显示并行指令计算</a:t>
            </a:r>
            <a:r>
              <a:rPr dirty="0" u="none" spc="-20"/>
              <a:t>EPIC</a:t>
            </a:r>
          </a:p>
        </p:txBody>
      </p:sp>
      <p:sp>
        <p:nvSpPr>
          <p:cNvPr id="11" name="object 11" descr=""/>
          <p:cNvSpPr txBox="1"/>
          <p:nvPr/>
        </p:nvSpPr>
        <p:spPr>
          <a:xfrm>
            <a:off x="2208276" y="1165288"/>
            <a:ext cx="9504680" cy="462280"/>
          </a:xfrm>
          <a:prstGeom prst="rect">
            <a:avLst/>
          </a:prstGeom>
          <a:solidFill>
            <a:srgbClr val="D0D2EA"/>
          </a:solidFill>
        </p:spPr>
        <p:txBody>
          <a:bodyPr wrap="square" lIns="0" tIns="40005" rIns="0" bIns="0" rtlCol="0" vert="horz">
            <a:spAutoFit/>
          </a:bodyPr>
          <a:lstStyle/>
          <a:p>
            <a:pPr marL="91440">
              <a:lnSpc>
                <a:spcPct val="100000"/>
              </a:lnSpc>
              <a:spcBef>
                <a:spcPts val="315"/>
              </a:spcBef>
              <a:tabLst>
                <a:tab pos="2869565" algn="l"/>
                <a:tab pos="4773930" algn="l"/>
              </a:tabLst>
            </a:pPr>
            <a:r>
              <a:rPr dirty="0" sz="2400">
                <a:solidFill>
                  <a:srgbClr val="6600FF"/>
                </a:solidFill>
                <a:latin typeface="宋体"/>
                <a:cs typeface="宋体"/>
              </a:rPr>
              <a:t>条件传输</a:t>
            </a:r>
            <a:r>
              <a:rPr dirty="0" sz="2400" spc="-10">
                <a:solidFill>
                  <a:srgbClr val="6600FF"/>
                </a:solidFill>
                <a:latin typeface="宋体"/>
                <a:cs typeface="宋体"/>
              </a:rPr>
              <a:t>：</a:t>
            </a:r>
            <a:r>
              <a:rPr dirty="0" sz="2400" spc="-10">
                <a:solidFill>
                  <a:srgbClr val="6600FF"/>
                </a:solidFill>
                <a:latin typeface="Times New Roman"/>
                <a:cs typeface="Times New Roman"/>
              </a:rPr>
              <a:t>CMOVZ</a:t>
            </a:r>
            <a:r>
              <a:rPr dirty="0" sz="2400">
                <a:solidFill>
                  <a:srgbClr val="6600FF"/>
                </a:solidFill>
                <a:latin typeface="Times New Roman"/>
                <a:cs typeface="Times New Roman"/>
              </a:rPr>
              <a:t>	</a:t>
            </a:r>
            <a:r>
              <a:rPr dirty="0" sz="2400" spc="-10">
                <a:solidFill>
                  <a:srgbClr val="6600FF"/>
                </a:solidFill>
                <a:latin typeface="Times New Roman"/>
                <a:cs typeface="Times New Roman"/>
              </a:rPr>
              <a:t>R2</a:t>
            </a:r>
            <a:r>
              <a:rPr dirty="0" sz="2400" spc="-10">
                <a:solidFill>
                  <a:srgbClr val="6600FF"/>
                </a:solidFill>
                <a:latin typeface="宋体"/>
                <a:cs typeface="宋体"/>
              </a:rPr>
              <a:t>，</a:t>
            </a:r>
            <a:r>
              <a:rPr dirty="0" sz="2400" spc="-10">
                <a:solidFill>
                  <a:srgbClr val="6600FF"/>
                </a:solidFill>
                <a:latin typeface="Times New Roman"/>
                <a:cs typeface="Times New Roman"/>
              </a:rPr>
              <a:t>R3</a:t>
            </a:r>
            <a:r>
              <a:rPr dirty="0" sz="2400" spc="-10">
                <a:solidFill>
                  <a:srgbClr val="6600FF"/>
                </a:solidFill>
                <a:latin typeface="宋体"/>
                <a:cs typeface="宋体"/>
              </a:rPr>
              <a:t>，</a:t>
            </a:r>
            <a:r>
              <a:rPr dirty="0" sz="2400" spc="-10">
                <a:solidFill>
                  <a:srgbClr val="6600FF"/>
                </a:solidFill>
                <a:latin typeface="Times New Roman"/>
                <a:cs typeface="Times New Roman"/>
              </a:rPr>
              <a:t>R1</a:t>
            </a:r>
            <a:r>
              <a:rPr dirty="0" sz="2400">
                <a:solidFill>
                  <a:srgbClr val="6600FF"/>
                </a:solidFill>
                <a:latin typeface="Times New Roman"/>
                <a:cs typeface="Times New Roman"/>
              </a:rPr>
              <a:t>	//</a:t>
            </a:r>
            <a:r>
              <a:rPr dirty="0" sz="2400">
                <a:solidFill>
                  <a:srgbClr val="6600FF"/>
                </a:solidFill>
                <a:latin typeface="宋体"/>
                <a:cs typeface="宋体"/>
              </a:rPr>
              <a:t>满足是</a:t>
            </a:r>
            <a:r>
              <a:rPr dirty="0" sz="2400" spc="-10">
                <a:solidFill>
                  <a:srgbClr val="6600FF"/>
                </a:solidFill>
                <a:latin typeface="Times New Roman"/>
                <a:cs typeface="Times New Roman"/>
              </a:rPr>
              <a:t>R1=0</a:t>
            </a:r>
            <a:r>
              <a:rPr dirty="0" sz="2400">
                <a:solidFill>
                  <a:srgbClr val="6600FF"/>
                </a:solidFill>
                <a:latin typeface="宋体"/>
                <a:cs typeface="宋体"/>
              </a:rPr>
              <a:t>时移动</a:t>
            </a:r>
            <a:r>
              <a:rPr dirty="0" sz="2400" spc="-10">
                <a:solidFill>
                  <a:srgbClr val="6600FF"/>
                </a:solidFill>
                <a:latin typeface="宋体"/>
                <a:cs typeface="宋体"/>
              </a:rPr>
              <a:t>，</a:t>
            </a:r>
            <a:r>
              <a:rPr dirty="0" sz="2400" spc="-10">
                <a:solidFill>
                  <a:srgbClr val="6600FF"/>
                </a:solidFill>
                <a:latin typeface="Times New Roman"/>
                <a:cs typeface="Times New Roman"/>
              </a:rPr>
              <a:t>R2=R3</a:t>
            </a:r>
            <a:endParaRPr sz="2400">
              <a:latin typeface="Times New Roman"/>
              <a:cs typeface="Times New Roman"/>
            </a:endParaRPr>
          </a:p>
        </p:txBody>
      </p:sp>
      <p:sp>
        <p:nvSpPr>
          <p:cNvPr id="12" name="object 12" descr=""/>
          <p:cNvSpPr txBox="1"/>
          <p:nvPr/>
        </p:nvSpPr>
        <p:spPr>
          <a:xfrm>
            <a:off x="3638550" y="620712"/>
            <a:ext cx="4937125" cy="494030"/>
          </a:xfrm>
          <a:prstGeom prst="rect">
            <a:avLst/>
          </a:prstGeom>
          <a:solidFill>
            <a:srgbClr val="F7EECD"/>
          </a:solidFill>
        </p:spPr>
        <p:txBody>
          <a:bodyPr wrap="square" lIns="0" tIns="69850" rIns="0" bIns="0" rtlCol="0" vert="horz">
            <a:spAutoFit/>
          </a:bodyPr>
          <a:lstStyle/>
          <a:p>
            <a:pPr algn="ctr" marR="165100">
              <a:lnSpc>
                <a:spcPct val="100000"/>
              </a:lnSpc>
              <a:spcBef>
                <a:spcPts val="550"/>
              </a:spcBef>
              <a:tabLst>
                <a:tab pos="1905000" algn="l"/>
              </a:tabLst>
            </a:pPr>
            <a:r>
              <a:rPr dirty="0" sz="2400">
                <a:solidFill>
                  <a:srgbClr val="00AF50"/>
                </a:solidFill>
                <a:latin typeface="宋体"/>
                <a:cs typeface="宋体"/>
              </a:rPr>
              <a:t>分支</a:t>
            </a:r>
            <a:r>
              <a:rPr dirty="0" sz="2400" spc="-20">
                <a:solidFill>
                  <a:srgbClr val="00AF50"/>
                </a:solidFill>
                <a:latin typeface="宋体"/>
                <a:cs typeface="宋体"/>
              </a:rPr>
              <a:t>：</a:t>
            </a:r>
            <a:r>
              <a:rPr dirty="0" sz="2400" spc="-20">
                <a:solidFill>
                  <a:srgbClr val="00AF50"/>
                </a:solidFill>
                <a:latin typeface="Times New Roman"/>
                <a:cs typeface="Times New Roman"/>
              </a:rPr>
              <a:t>BNEZ</a:t>
            </a:r>
            <a:r>
              <a:rPr dirty="0" sz="2400">
                <a:solidFill>
                  <a:srgbClr val="00AF50"/>
                </a:solidFill>
                <a:latin typeface="Times New Roman"/>
                <a:cs typeface="Times New Roman"/>
              </a:rPr>
              <a:t>	</a:t>
            </a:r>
            <a:r>
              <a:rPr dirty="0" sz="2400" spc="-20">
                <a:solidFill>
                  <a:srgbClr val="00AF50"/>
                </a:solidFill>
                <a:latin typeface="Times New Roman"/>
                <a:cs typeface="Times New Roman"/>
              </a:rPr>
              <a:t>R1</a:t>
            </a:r>
            <a:r>
              <a:rPr dirty="0" sz="2400" spc="-20">
                <a:solidFill>
                  <a:srgbClr val="00AF50"/>
                </a:solidFill>
                <a:latin typeface="宋体"/>
                <a:cs typeface="宋体"/>
              </a:rPr>
              <a:t>，</a:t>
            </a:r>
            <a:r>
              <a:rPr dirty="0" sz="2400" spc="-20">
                <a:solidFill>
                  <a:srgbClr val="00AF50"/>
                </a:solidFill>
                <a:latin typeface="Times New Roman"/>
                <a:cs typeface="Times New Roman"/>
              </a:rPr>
              <a:t>L</a:t>
            </a:r>
            <a:endParaRPr sz="2400">
              <a:latin typeface="Times New Roman"/>
              <a:cs typeface="Times New Roman"/>
            </a:endParaRPr>
          </a:p>
        </p:txBody>
      </p:sp>
      <p:sp>
        <p:nvSpPr>
          <p:cNvPr id="13" name="object 13" descr=""/>
          <p:cNvSpPr txBox="1"/>
          <p:nvPr/>
        </p:nvSpPr>
        <p:spPr>
          <a:xfrm>
            <a:off x="8480806" y="57734"/>
            <a:ext cx="2339340" cy="422909"/>
          </a:xfrm>
          <a:prstGeom prst="rect">
            <a:avLst/>
          </a:prstGeom>
        </p:spPr>
        <p:txBody>
          <a:bodyPr wrap="square" lIns="0" tIns="13335" rIns="0" bIns="0" rtlCol="0" vert="horz">
            <a:spAutoFit/>
          </a:bodyPr>
          <a:lstStyle/>
          <a:p>
            <a:pPr marL="12700">
              <a:lnSpc>
                <a:spcPct val="100000"/>
              </a:lnSpc>
              <a:spcBef>
                <a:spcPts val="105"/>
              </a:spcBef>
            </a:pPr>
            <a:r>
              <a:rPr dirty="0" sz="2600">
                <a:solidFill>
                  <a:srgbClr val="0000CC"/>
                </a:solidFill>
                <a:latin typeface="黑体"/>
                <a:cs typeface="黑体"/>
              </a:rPr>
              <a:t>6.4.2</a:t>
            </a:r>
            <a:r>
              <a:rPr dirty="0" sz="2600" spc="-30">
                <a:solidFill>
                  <a:srgbClr val="0000CC"/>
                </a:solidFill>
                <a:latin typeface="黑体"/>
                <a:cs typeface="黑体"/>
              </a:rPr>
              <a:t> 谓词执行</a:t>
            </a:r>
            <a:endParaRPr sz="2600">
              <a:latin typeface="黑体"/>
              <a:cs typeface="黑体"/>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58/89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30944" y="702115"/>
            <a:ext cx="12084685" cy="2799715"/>
          </a:xfrm>
          <a:prstGeom prst="rect">
            <a:avLst/>
          </a:prstGeom>
        </p:spPr>
        <p:txBody>
          <a:bodyPr wrap="square" lIns="0" tIns="140335" rIns="0" bIns="0" rtlCol="0" vert="horz">
            <a:spAutoFit/>
          </a:bodyPr>
          <a:lstStyle/>
          <a:p>
            <a:pPr marL="12700">
              <a:lnSpc>
                <a:spcPct val="100000"/>
              </a:lnSpc>
              <a:spcBef>
                <a:spcPts val="1105"/>
              </a:spcBef>
            </a:pPr>
            <a:r>
              <a:rPr dirty="0" sz="2800" spc="225">
                <a:solidFill>
                  <a:srgbClr val="40458B"/>
                </a:solidFill>
                <a:latin typeface="Tahoma"/>
                <a:cs typeface="Tahoma"/>
              </a:rPr>
              <a:t>. </a:t>
            </a:r>
            <a:r>
              <a:rPr dirty="0" sz="2800" spc="-35">
                <a:solidFill>
                  <a:srgbClr val="E14B04"/>
                </a:solidFill>
                <a:latin typeface="黑体"/>
                <a:cs typeface="黑体"/>
              </a:rPr>
              <a:t>条件传输指令的应用</a:t>
            </a:r>
            <a:r>
              <a:rPr dirty="0" sz="2800" spc="-35">
                <a:solidFill>
                  <a:srgbClr val="E14B04"/>
                </a:solidFill>
                <a:latin typeface="Tahoma"/>
                <a:cs typeface="Tahoma"/>
              </a:rPr>
              <a:t>——</a:t>
            </a:r>
            <a:r>
              <a:rPr dirty="0" sz="2800" spc="-40">
                <a:solidFill>
                  <a:srgbClr val="E14B04"/>
                </a:solidFill>
                <a:latin typeface="黑体"/>
                <a:cs typeface="黑体"/>
              </a:rPr>
              <a:t>计算绝对值</a:t>
            </a:r>
            <a:endParaRPr sz="2800">
              <a:latin typeface="黑体"/>
              <a:cs typeface="黑体"/>
            </a:endParaRPr>
          </a:p>
          <a:p>
            <a:pPr marL="905510" indent="-457200">
              <a:lnSpc>
                <a:spcPct val="100000"/>
              </a:lnSpc>
              <a:spcBef>
                <a:spcPts val="1005"/>
              </a:spcBef>
              <a:buClr>
                <a:srgbClr val="40458B"/>
              </a:buClr>
              <a:buSzPct val="89285"/>
              <a:buFont typeface="Wingdings"/>
              <a:buChar char=""/>
              <a:tabLst>
                <a:tab pos="905510" algn="l"/>
              </a:tabLst>
            </a:pPr>
            <a:r>
              <a:rPr dirty="0" sz="2800" spc="-35">
                <a:solidFill>
                  <a:srgbClr val="0000CC"/>
                </a:solidFill>
                <a:latin typeface="黑体"/>
                <a:cs typeface="黑体"/>
              </a:rPr>
              <a:t>求绝对值的运算</a:t>
            </a:r>
            <a:r>
              <a:rPr dirty="0" sz="2800">
                <a:solidFill>
                  <a:srgbClr val="6600FF"/>
                </a:solidFill>
                <a:latin typeface="Times New Roman"/>
                <a:cs typeface="Times New Roman"/>
              </a:rPr>
              <a:t>A</a:t>
            </a:r>
            <a:r>
              <a:rPr dirty="0" sz="2800" spc="60">
                <a:solidFill>
                  <a:srgbClr val="6600FF"/>
                </a:solidFill>
                <a:latin typeface="Times New Roman"/>
                <a:cs typeface="Times New Roman"/>
              </a:rPr>
              <a:t> = </a:t>
            </a:r>
            <a:r>
              <a:rPr dirty="0" sz="2800" spc="-20">
                <a:solidFill>
                  <a:srgbClr val="6600FF"/>
                </a:solidFill>
                <a:latin typeface="Times New Roman"/>
                <a:cs typeface="Times New Roman"/>
              </a:rPr>
              <a:t>abs(B)</a:t>
            </a:r>
            <a:r>
              <a:rPr dirty="0" sz="2800" spc="-30">
                <a:solidFill>
                  <a:srgbClr val="0000CC"/>
                </a:solidFill>
                <a:latin typeface="黑体"/>
                <a:cs typeface="黑体"/>
              </a:rPr>
              <a:t>，对应的</a:t>
            </a:r>
            <a:r>
              <a:rPr dirty="0" sz="2800" spc="-10">
                <a:solidFill>
                  <a:srgbClr val="0000CC"/>
                </a:solidFill>
                <a:latin typeface="Times New Roman"/>
                <a:cs typeface="Times New Roman"/>
              </a:rPr>
              <a:t>C</a:t>
            </a:r>
            <a:r>
              <a:rPr dirty="0" sz="2800" spc="-35">
                <a:solidFill>
                  <a:srgbClr val="0000CC"/>
                </a:solidFill>
                <a:latin typeface="黑体"/>
                <a:cs typeface="黑体"/>
              </a:rPr>
              <a:t>语句为：</a:t>
            </a:r>
            <a:r>
              <a:rPr dirty="0" sz="2800" spc="-25">
                <a:latin typeface="Times New Roman"/>
                <a:cs typeface="Times New Roman"/>
              </a:rPr>
              <a:t>if</a:t>
            </a:r>
            <a:r>
              <a:rPr dirty="0" sz="2800" spc="-25">
                <a:latin typeface="黑体"/>
                <a:cs typeface="黑体"/>
              </a:rPr>
              <a:t>（</a:t>
            </a:r>
            <a:r>
              <a:rPr dirty="0" sz="2800" spc="-25">
                <a:latin typeface="Times New Roman"/>
                <a:cs typeface="Times New Roman"/>
              </a:rPr>
              <a:t>B&lt;0</a:t>
            </a:r>
            <a:r>
              <a:rPr dirty="0" sz="2800" spc="-25">
                <a:latin typeface="黑体"/>
                <a:cs typeface="黑体"/>
              </a:rPr>
              <a:t>）</a:t>
            </a:r>
            <a:r>
              <a:rPr dirty="0" sz="2800" spc="-25">
                <a:latin typeface="Times New Roman"/>
                <a:cs typeface="Times New Roman"/>
              </a:rPr>
              <a:t>{A=-B;}</a:t>
            </a:r>
            <a:endParaRPr sz="2800">
              <a:latin typeface="Times New Roman"/>
              <a:cs typeface="Times New Roman"/>
            </a:endParaRPr>
          </a:p>
          <a:p>
            <a:pPr marL="8095615">
              <a:lnSpc>
                <a:spcPct val="100000"/>
              </a:lnSpc>
              <a:spcBef>
                <a:spcPts val="1015"/>
              </a:spcBef>
              <a:tabLst>
                <a:tab pos="9444990" algn="l"/>
              </a:tabLst>
            </a:pPr>
            <a:r>
              <a:rPr dirty="0" sz="2800" spc="-20">
                <a:latin typeface="Times New Roman"/>
                <a:cs typeface="Times New Roman"/>
              </a:rPr>
              <a:t>else</a:t>
            </a:r>
            <a:r>
              <a:rPr dirty="0" sz="2800">
                <a:latin typeface="Times New Roman"/>
                <a:cs typeface="Times New Roman"/>
              </a:rPr>
              <a:t>	</a:t>
            </a:r>
            <a:r>
              <a:rPr dirty="0" sz="2800" spc="-10">
                <a:latin typeface="Times New Roman"/>
                <a:cs typeface="Times New Roman"/>
              </a:rPr>
              <a:t>{A=B;}</a:t>
            </a:r>
            <a:endParaRPr sz="2800">
              <a:latin typeface="Times New Roman"/>
              <a:cs typeface="Times New Roman"/>
            </a:endParaRPr>
          </a:p>
          <a:p>
            <a:pPr marL="905510" indent="-457200">
              <a:lnSpc>
                <a:spcPct val="100000"/>
              </a:lnSpc>
              <a:spcBef>
                <a:spcPts val="1005"/>
              </a:spcBef>
              <a:buClr>
                <a:srgbClr val="40458B"/>
              </a:buClr>
              <a:buSzPct val="89285"/>
              <a:buFont typeface="Wingdings"/>
              <a:buChar char=""/>
              <a:tabLst>
                <a:tab pos="905510" algn="l"/>
              </a:tabLst>
            </a:pPr>
            <a:r>
              <a:rPr dirty="0" sz="2800" spc="-35">
                <a:solidFill>
                  <a:srgbClr val="0000CC"/>
                </a:solidFill>
                <a:latin typeface="黑体"/>
                <a:cs typeface="黑体"/>
              </a:rPr>
              <a:t>使用条件传输指令后，代码段如下（</a:t>
            </a:r>
            <a:r>
              <a:rPr dirty="0" sz="2800" spc="-30">
                <a:solidFill>
                  <a:srgbClr val="0000CC"/>
                </a:solidFill>
                <a:latin typeface="黑体"/>
                <a:cs typeface="黑体"/>
              </a:rPr>
              <a:t>假设变量</a:t>
            </a:r>
            <a:r>
              <a:rPr dirty="0" sz="2800" spc="-35">
                <a:solidFill>
                  <a:srgbClr val="FF0000"/>
                </a:solidFill>
                <a:latin typeface="Times New Roman"/>
                <a:cs typeface="Times New Roman"/>
              </a:rPr>
              <a:t>A</a:t>
            </a:r>
            <a:r>
              <a:rPr dirty="0" sz="2800" spc="-25">
                <a:solidFill>
                  <a:srgbClr val="FF0000"/>
                </a:solidFill>
                <a:latin typeface="黑体"/>
                <a:cs typeface="黑体"/>
              </a:rPr>
              <a:t>和</a:t>
            </a:r>
            <a:r>
              <a:rPr dirty="0" sz="2800" spc="-10">
                <a:solidFill>
                  <a:srgbClr val="FF0000"/>
                </a:solidFill>
                <a:latin typeface="Times New Roman"/>
                <a:cs typeface="Times New Roman"/>
              </a:rPr>
              <a:t>B</a:t>
            </a:r>
            <a:r>
              <a:rPr dirty="0" sz="2800" spc="-40">
                <a:solidFill>
                  <a:srgbClr val="0000CC"/>
                </a:solidFill>
                <a:latin typeface="黑体"/>
                <a:cs typeface="黑体"/>
              </a:rPr>
              <a:t>分别被保存在寄存器</a:t>
            </a:r>
            <a:endParaRPr sz="2800">
              <a:latin typeface="黑体"/>
              <a:cs typeface="黑体"/>
            </a:endParaRPr>
          </a:p>
          <a:p>
            <a:pPr marL="448309">
              <a:lnSpc>
                <a:spcPct val="100000"/>
              </a:lnSpc>
              <a:spcBef>
                <a:spcPts val="1010"/>
              </a:spcBef>
            </a:pPr>
            <a:r>
              <a:rPr dirty="0" sz="2800">
                <a:solidFill>
                  <a:srgbClr val="FF0000"/>
                </a:solidFill>
                <a:latin typeface="Times New Roman"/>
                <a:cs typeface="Times New Roman"/>
              </a:rPr>
              <a:t>R1</a:t>
            </a:r>
            <a:r>
              <a:rPr dirty="0" sz="2800" spc="-25">
                <a:solidFill>
                  <a:srgbClr val="FF0000"/>
                </a:solidFill>
                <a:latin typeface="黑体"/>
                <a:cs typeface="黑体"/>
              </a:rPr>
              <a:t>和</a:t>
            </a:r>
            <a:r>
              <a:rPr dirty="0" sz="2800">
                <a:solidFill>
                  <a:srgbClr val="FF0000"/>
                </a:solidFill>
                <a:latin typeface="Times New Roman"/>
                <a:cs typeface="Times New Roman"/>
              </a:rPr>
              <a:t>R2</a:t>
            </a:r>
            <a:r>
              <a:rPr dirty="0" sz="2800" spc="-25">
                <a:solidFill>
                  <a:srgbClr val="0000CC"/>
                </a:solidFill>
                <a:latin typeface="黑体"/>
                <a:cs typeface="黑体"/>
              </a:rPr>
              <a:t>中）：</a:t>
            </a:r>
            <a:r>
              <a:rPr dirty="0" sz="2800" spc="-35">
                <a:solidFill>
                  <a:srgbClr val="0000CC"/>
                </a:solidFill>
                <a:latin typeface="黑体"/>
                <a:cs typeface="黑体"/>
              </a:rPr>
              <a:t>立即数</a:t>
            </a:r>
            <a:r>
              <a:rPr dirty="0" sz="2800" spc="-50">
                <a:solidFill>
                  <a:srgbClr val="0000CC"/>
                </a:solidFill>
                <a:latin typeface="Times New Roman"/>
                <a:cs typeface="Times New Roman"/>
              </a:rPr>
              <a:t>0</a:t>
            </a:r>
            <a:endParaRPr sz="2800">
              <a:latin typeface="Times New Roman"/>
              <a:cs typeface="Times New Roman"/>
            </a:endParaRPr>
          </a:p>
        </p:txBody>
      </p:sp>
      <p:sp>
        <p:nvSpPr>
          <p:cNvPr id="10" name="object 10" descr=""/>
          <p:cNvSpPr txBox="1"/>
          <p:nvPr/>
        </p:nvSpPr>
        <p:spPr>
          <a:xfrm>
            <a:off x="1209243" y="3483135"/>
            <a:ext cx="2498725" cy="976630"/>
          </a:xfrm>
          <a:prstGeom prst="rect">
            <a:avLst/>
          </a:prstGeom>
        </p:spPr>
        <p:txBody>
          <a:bodyPr wrap="square" lIns="0" tIns="12065" rIns="0" bIns="0" rtlCol="0" vert="horz">
            <a:spAutoFit/>
          </a:bodyPr>
          <a:lstStyle/>
          <a:p>
            <a:pPr marL="12700" marR="5080">
              <a:lnSpc>
                <a:spcPct val="130000"/>
              </a:lnSpc>
              <a:spcBef>
                <a:spcPts val="95"/>
              </a:spcBef>
              <a:tabLst>
                <a:tab pos="740410" algn="l"/>
              </a:tabLst>
            </a:pPr>
            <a:r>
              <a:rPr dirty="0" sz="2400" spc="-25" b="1">
                <a:solidFill>
                  <a:srgbClr val="FF5CFF"/>
                </a:solidFill>
                <a:latin typeface="Times New Roman"/>
                <a:cs typeface="Times New Roman"/>
              </a:rPr>
              <a:t>SUB</a:t>
            </a:r>
            <a:r>
              <a:rPr dirty="0" sz="2400" b="1">
                <a:solidFill>
                  <a:srgbClr val="FF5CFF"/>
                </a:solidFill>
                <a:latin typeface="Times New Roman"/>
                <a:cs typeface="Times New Roman"/>
              </a:rPr>
              <a:t>	</a:t>
            </a:r>
            <a:r>
              <a:rPr dirty="0" sz="2400" spc="-459" b="1">
                <a:solidFill>
                  <a:srgbClr val="FF5CFF"/>
                </a:solidFill>
                <a:latin typeface="Times New Roman"/>
                <a:cs typeface="Times New Roman"/>
              </a:rPr>
              <a:t> </a:t>
            </a:r>
            <a:r>
              <a:rPr dirty="0" sz="2400" spc="-10" b="1">
                <a:solidFill>
                  <a:srgbClr val="FF5CFF"/>
                </a:solidFill>
                <a:latin typeface="Times New Roman"/>
                <a:cs typeface="Times New Roman"/>
              </a:rPr>
              <a:t>R1</a:t>
            </a:r>
            <a:r>
              <a:rPr dirty="0" sz="2400" spc="-10" b="1">
                <a:solidFill>
                  <a:srgbClr val="FF5CFF"/>
                </a:solidFill>
                <a:latin typeface="微软雅黑"/>
                <a:cs typeface="微软雅黑"/>
              </a:rPr>
              <a:t>，</a:t>
            </a:r>
            <a:r>
              <a:rPr dirty="0" sz="2400" spc="-10" b="1">
                <a:solidFill>
                  <a:srgbClr val="FF5CFF"/>
                </a:solidFill>
                <a:latin typeface="Times New Roman"/>
                <a:cs typeface="Times New Roman"/>
              </a:rPr>
              <a:t>R0</a:t>
            </a:r>
            <a:r>
              <a:rPr dirty="0" sz="2400" spc="-10" b="1">
                <a:solidFill>
                  <a:srgbClr val="FF5CFF"/>
                </a:solidFill>
                <a:latin typeface="微软雅黑"/>
                <a:cs typeface="微软雅黑"/>
              </a:rPr>
              <a:t>，</a:t>
            </a:r>
            <a:r>
              <a:rPr dirty="0" sz="2400" spc="-10" b="1">
                <a:solidFill>
                  <a:srgbClr val="FF5CFF"/>
                </a:solidFill>
                <a:latin typeface="Times New Roman"/>
                <a:cs typeface="Times New Roman"/>
              </a:rPr>
              <a:t>R2 </a:t>
            </a:r>
            <a:r>
              <a:rPr dirty="0" sz="2400" spc="-25" b="1">
                <a:solidFill>
                  <a:srgbClr val="FF5CFF"/>
                </a:solidFill>
                <a:latin typeface="Times New Roman"/>
                <a:cs typeface="Times New Roman"/>
              </a:rPr>
              <a:t>SLT</a:t>
            </a:r>
            <a:r>
              <a:rPr dirty="0" sz="2400" b="1">
                <a:solidFill>
                  <a:srgbClr val="FF5CFF"/>
                </a:solidFill>
                <a:latin typeface="Times New Roman"/>
                <a:cs typeface="Times New Roman"/>
              </a:rPr>
              <a:t>	</a:t>
            </a:r>
            <a:r>
              <a:rPr dirty="0" sz="2400" spc="-10" b="1">
                <a:solidFill>
                  <a:srgbClr val="FF5CFF"/>
                </a:solidFill>
                <a:latin typeface="Times New Roman"/>
                <a:cs typeface="Times New Roman"/>
              </a:rPr>
              <a:t>R3</a:t>
            </a:r>
            <a:r>
              <a:rPr dirty="0" sz="2400" spc="-10" b="1">
                <a:solidFill>
                  <a:srgbClr val="FF5CFF"/>
                </a:solidFill>
                <a:latin typeface="微软雅黑"/>
                <a:cs typeface="微软雅黑"/>
              </a:rPr>
              <a:t>，</a:t>
            </a:r>
            <a:r>
              <a:rPr dirty="0" sz="2400" spc="-10" b="1">
                <a:solidFill>
                  <a:srgbClr val="FF5CFF"/>
                </a:solidFill>
                <a:latin typeface="Times New Roman"/>
                <a:cs typeface="Times New Roman"/>
              </a:rPr>
              <a:t>R2</a:t>
            </a:r>
            <a:r>
              <a:rPr dirty="0" sz="2400" spc="-10" b="1">
                <a:solidFill>
                  <a:srgbClr val="FF5CFF"/>
                </a:solidFill>
                <a:latin typeface="微软雅黑"/>
                <a:cs typeface="微软雅黑"/>
              </a:rPr>
              <a:t>，</a:t>
            </a:r>
            <a:r>
              <a:rPr dirty="0" sz="2400" spc="-10" b="1">
                <a:solidFill>
                  <a:srgbClr val="FF5CFF"/>
                </a:solidFill>
                <a:latin typeface="Times New Roman"/>
                <a:cs typeface="Times New Roman"/>
              </a:rPr>
              <a:t>R0</a:t>
            </a:r>
            <a:endParaRPr sz="2400">
              <a:latin typeface="Times New Roman"/>
              <a:cs typeface="Times New Roman"/>
            </a:endParaRPr>
          </a:p>
        </p:txBody>
      </p:sp>
      <p:sp>
        <p:nvSpPr>
          <p:cNvPr id="11" name="object 11" descr=""/>
          <p:cNvSpPr txBox="1"/>
          <p:nvPr/>
        </p:nvSpPr>
        <p:spPr>
          <a:xfrm>
            <a:off x="4217923" y="3642740"/>
            <a:ext cx="4357370" cy="330835"/>
          </a:xfrm>
          <a:prstGeom prst="rect">
            <a:avLst/>
          </a:prstGeom>
        </p:spPr>
        <p:txBody>
          <a:bodyPr wrap="square" lIns="0" tIns="12700" rIns="0" bIns="0" rtlCol="0" vert="horz">
            <a:spAutoFit/>
          </a:bodyPr>
          <a:lstStyle/>
          <a:p>
            <a:pPr marL="12700">
              <a:lnSpc>
                <a:spcPct val="100000"/>
              </a:lnSpc>
              <a:spcBef>
                <a:spcPts val="100"/>
              </a:spcBef>
            </a:pPr>
            <a:r>
              <a:rPr dirty="0" sz="2000" spc="-5" b="1">
                <a:solidFill>
                  <a:srgbClr val="40458B"/>
                </a:solidFill>
                <a:latin typeface="Times New Roman"/>
                <a:cs typeface="Times New Roman"/>
              </a:rPr>
              <a:t>// </a:t>
            </a:r>
            <a:r>
              <a:rPr dirty="0" sz="2000" b="1">
                <a:solidFill>
                  <a:srgbClr val="00AF50"/>
                </a:solidFill>
                <a:latin typeface="Times New Roman"/>
                <a:cs typeface="Times New Roman"/>
              </a:rPr>
              <a:t>A = -</a:t>
            </a:r>
            <a:r>
              <a:rPr dirty="0" sz="2000" spc="-10" b="1">
                <a:solidFill>
                  <a:srgbClr val="00AF50"/>
                </a:solidFill>
                <a:latin typeface="Times New Roman"/>
                <a:cs typeface="Times New Roman"/>
              </a:rPr>
              <a:t>B</a:t>
            </a:r>
            <a:r>
              <a:rPr dirty="0" sz="2000" spc="-10" b="1">
                <a:solidFill>
                  <a:srgbClr val="40458B"/>
                </a:solidFill>
                <a:latin typeface="微软雅黑"/>
                <a:cs typeface="微软雅黑"/>
              </a:rPr>
              <a:t>，</a:t>
            </a:r>
            <a:r>
              <a:rPr dirty="0" sz="2000" spc="-10" b="1">
                <a:solidFill>
                  <a:srgbClr val="40458B"/>
                </a:solidFill>
                <a:latin typeface="Times New Roman"/>
                <a:cs typeface="Times New Roman"/>
              </a:rPr>
              <a:t>R1=R0-R2=0-</a:t>
            </a:r>
            <a:r>
              <a:rPr dirty="0" sz="2000" b="1">
                <a:solidFill>
                  <a:srgbClr val="40458B"/>
                </a:solidFill>
                <a:latin typeface="Times New Roman"/>
                <a:cs typeface="Times New Roman"/>
              </a:rPr>
              <a:t>R2</a:t>
            </a:r>
            <a:r>
              <a:rPr dirty="0" sz="2000" spc="-30" b="1">
                <a:solidFill>
                  <a:srgbClr val="40458B"/>
                </a:solidFill>
                <a:latin typeface="Times New Roman"/>
                <a:cs typeface="Times New Roman"/>
              </a:rPr>
              <a:t> </a:t>
            </a:r>
            <a:r>
              <a:rPr dirty="0" sz="2000" spc="-10" b="1">
                <a:solidFill>
                  <a:srgbClr val="40458B"/>
                </a:solidFill>
                <a:latin typeface="微软雅黑"/>
                <a:cs typeface="微软雅黑"/>
              </a:rPr>
              <a:t>，完成赋值</a:t>
            </a:r>
            <a:endParaRPr sz="2000">
              <a:latin typeface="微软雅黑"/>
              <a:cs typeface="微软雅黑"/>
            </a:endParaRPr>
          </a:p>
        </p:txBody>
      </p:sp>
      <p:sp>
        <p:nvSpPr>
          <p:cNvPr id="12" name="object 12" descr=""/>
          <p:cNvSpPr txBox="1"/>
          <p:nvPr/>
        </p:nvSpPr>
        <p:spPr>
          <a:xfrm>
            <a:off x="4124959" y="4010253"/>
            <a:ext cx="2267585" cy="852169"/>
          </a:xfrm>
          <a:prstGeom prst="rect">
            <a:avLst/>
          </a:prstGeom>
        </p:spPr>
        <p:txBody>
          <a:bodyPr wrap="square" lIns="0" tIns="121285" rIns="0" bIns="0" rtlCol="0" vert="horz">
            <a:spAutoFit/>
          </a:bodyPr>
          <a:lstStyle/>
          <a:p>
            <a:pPr marL="12700">
              <a:lnSpc>
                <a:spcPct val="100000"/>
              </a:lnSpc>
              <a:spcBef>
                <a:spcPts val="955"/>
              </a:spcBef>
            </a:pPr>
            <a:r>
              <a:rPr dirty="0" sz="2000" spc="5" b="1">
                <a:solidFill>
                  <a:srgbClr val="40458B"/>
                </a:solidFill>
                <a:latin typeface="Times New Roman"/>
                <a:cs typeface="Times New Roman"/>
              </a:rPr>
              <a:t>// </a:t>
            </a:r>
            <a:r>
              <a:rPr dirty="0" sz="2000" b="1">
                <a:solidFill>
                  <a:srgbClr val="FF0000"/>
                </a:solidFill>
                <a:latin typeface="微软雅黑"/>
                <a:cs typeface="微软雅黑"/>
              </a:rPr>
              <a:t>若</a:t>
            </a:r>
            <a:r>
              <a:rPr dirty="0" sz="2000" spc="-10" b="1">
                <a:solidFill>
                  <a:srgbClr val="FF0000"/>
                </a:solidFill>
                <a:latin typeface="Times New Roman"/>
                <a:cs typeface="Times New Roman"/>
              </a:rPr>
              <a:t>B&lt;0</a:t>
            </a:r>
            <a:r>
              <a:rPr dirty="0" sz="2000" spc="-5" b="1">
                <a:solidFill>
                  <a:srgbClr val="FF0000"/>
                </a:solidFill>
                <a:latin typeface="微软雅黑"/>
                <a:cs typeface="微软雅黑"/>
              </a:rPr>
              <a:t>，即</a:t>
            </a:r>
            <a:r>
              <a:rPr dirty="0" sz="2000" spc="-10" b="1">
                <a:solidFill>
                  <a:srgbClr val="FF0000"/>
                </a:solidFill>
                <a:latin typeface="Times New Roman"/>
                <a:cs typeface="Times New Roman"/>
              </a:rPr>
              <a:t>R2&lt;R0</a:t>
            </a:r>
            <a:r>
              <a:rPr dirty="0" sz="2000" spc="-10" b="1">
                <a:solidFill>
                  <a:srgbClr val="40458B"/>
                </a:solidFill>
                <a:latin typeface="Times New Roman"/>
                <a:cs typeface="Times New Roman"/>
              </a:rPr>
              <a:t>,</a:t>
            </a:r>
            <a:endParaRPr sz="2000">
              <a:latin typeface="Times New Roman"/>
              <a:cs typeface="Times New Roman"/>
            </a:endParaRPr>
          </a:p>
          <a:p>
            <a:pPr marL="297180">
              <a:lnSpc>
                <a:spcPct val="100000"/>
              </a:lnSpc>
              <a:spcBef>
                <a:spcPts val="855"/>
              </a:spcBef>
            </a:pPr>
            <a:r>
              <a:rPr dirty="0" sz="2000" b="1">
                <a:solidFill>
                  <a:srgbClr val="40458B"/>
                </a:solidFill>
                <a:latin typeface="Times New Roman"/>
                <a:cs typeface="Times New Roman"/>
              </a:rPr>
              <a:t>//</a:t>
            </a:r>
            <a:r>
              <a:rPr dirty="0" sz="2000" b="1">
                <a:solidFill>
                  <a:srgbClr val="40458B"/>
                </a:solidFill>
                <a:latin typeface="微软雅黑"/>
                <a:cs typeface="微软雅黑"/>
              </a:rPr>
              <a:t>若</a:t>
            </a:r>
            <a:r>
              <a:rPr dirty="0" sz="2000" spc="-10" b="1">
                <a:solidFill>
                  <a:srgbClr val="FF5CFF"/>
                </a:solidFill>
                <a:latin typeface="黑体"/>
                <a:cs typeface="黑体"/>
              </a:rPr>
              <a:t>B&gt;=0</a:t>
            </a:r>
            <a:r>
              <a:rPr dirty="0" sz="2000" spc="-10" b="1">
                <a:solidFill>
                  <a:srgbClr val="40458B"/>
                </a:solidFill>
                <a:latin typeface="Times New Roman"/>
                <a:cs typeface="Times New Roman"/>
              </a:rPr>
              <a:t>,R3=0</a:t>
            </a:r>
            <a:endParaRPr sz="2000">
              <a:latin typeface="Times New Roman"/>
              <a:cs typeface="Times New Roman"/>
            </a:endParaRPr>
          </a:p>
        </p:txBody>
      </p:sp>
      <p:sp>
        <p:nvSpPr>
          <p:cNvPr id="13" name="object 13" descr=""/>
          <p:cNvSpPr txBox="1"/>
          <p:nvPr/>
        </p:nvSpPr>
        <p:spPr>
          <a:xfrm>
            <a:off x="6551421" y="4118228"/>
            <a:ext cx="5441315" cy="330835"/>
          </a:xfrm>
          <a:prstGeom prst="rect">
            <a:avLst/>
          </a:prstGeom>
        </p:spPr>
        <p:txBody>
          <a:bodyPr wrap="square" lIns="0" tIns="12700" rIns="0" bIns="0" rtlCol="0" vert="horz">
            <a:spAutoFit/>
          </a:bodyPr>
          <a:lstStyle/>
          <a:p>
            <a:pPr marL="12700">
              <a:lnSpc>
                <a:spcPct val="100000"/>
              </a:lnSpc>
              <a:spcBef>
                <a:spcPts val="100"/>
              </a:spcBef>
            </a:pPr>
            <a:r>
              <a:rPr dirty="0" sz="2000" spc="-10" b="1">
                <a:solidFill>
                  <a:srgbClr val="40458B"/>
                </a:solidFill>
                <a:latin typeface="Times New Roman"/>
                <a:cs typeface="Times New Roman"/>
              </a:rPr>
              <a:t>R3=1</a:t>
            </a:r>
            <a:r>
              <a:rPr dirty="0" sz="2000" spc="-15" b="1">
                <a:solidFill>
                  <a:srgbClr val="40458B"/>
                </a:solidFill>
                <a:latin typeface="微软雅黑"/>
                <a:cs typeface="微软雅黑"/>
              </a:rPr>
              <a:t>，两个源操作数比较，计算传输指令的</a:t>
            </a:r>
            <a:r>
              <a:rPr dirty="0" sz="2000" spc="-25" b="1">
                <a:solidFill>
                  <a:srgbClr val="FF0000"/>
                </a:solidFill>
                <a:latin typeface="微软雅黑"/>
                <a:cs typeface="微软雅黑"/>
              </a:rPr>
              <a:t>条件</a:t>
            </a:r>
            <a:endParaRPr sz="2000">
              <a:latin typeface="微软雅黑"/>
              <a:cs typeface="微软雅黑"/>
            </a:endParaRPr>
          </a:p>
        </p:txBody>
      </p:sp>
      <p:sp>
        <p:nvSpPr>
          <p:cNvPr id="14" name="object 14"/>
          <p:cNvSpPr txBox="1">
            <a:spLocks noGrp="1"/>
          </p:cNvSpPr>
          <p:nvPr>
            <p:ph type="title"/>
          </p:nvPr>
        </p:nvSpPr>
        <p:spPr>
          <a:xfrm>
            <a:off x="2008377" y="37287"/>
            <a:ext cx="4905375" cy="514350"/>
          </a:xfrm>
          <a:prstGeom prst="rect"/>
        </p:spPr>
        <p:txBody>
          <a:bodyPr wrap="square" lIns="0" tIns="13335" rIns="0" bIns="0" rtlCol="0" vert="horz">
            <a:spAutoFit/>
          </a:bodyPr>
          <a:lstStyle/>
          <a:p>
            <a:pPr marL="12700">
              <a:lnSpc>
                <a:spcPct val="100000"/>
              </a:lnSpc>
              <a:spcBef>
                <a:spcPts val="105"/>
              </a:spcBef>
            </a:pPr>
            <a:r>
              <a:rPr dirty="0" u="none"/>
              <a:t>6.4</a:t>
            </a:r>
            <a:r>
              <a:rPr dirty="0" u="none" spc="-20"/>
              <a:t> 显示并行指令计算EPIC</a:t>
            </a:r>
          </a:p>
        </p:txBody>
      </p:sp>
      <p:grpSp>
        <p:nvGrpSpPr>
          <p:cNvPr id="15" name="object 15" descr=""/>
          <p:cNvGrpSpPr/>
          <p:nvPr/>
        </p:nvGrpSpPr>
        <p:grpSpPr>
          <a:xfrm>
            <a:off x="2994850" y="5225986"/>
            <a:ext cx="179705" cy="370205"/>
            <a:chOff x="2994850" y="5225986"/>
            <a:chExt cx="179705" cy="370205"/>
          </a:xfrm>
        </p:grpSpPr>
        <p:sp>
          <p:nvSpPr>
            <p:cNvPr id="16" name="object 16" descr=""/>
            <p:cNvSpPr/>
            <p:nvPr/>
          </p:nvSpPr>
          <p:spPr>
            <a:xfrm>
              <a:off x="2999613" y="5230748"/>
              <a:ext cx="170180" cy="360680"/>
            </a:xfrm>
            <a:custGeom>
              <a:avLst/>
              <a:gdLst/>
              <a:ahLst/>
              <a:cxnLst/>
              <a:rect l="l" t="t" r="r" b="b"/>
              <a:pathLst>
                <a:path w="170180" h="360679">
                  <a:moveTo>
                    <a:pt x="127507" y="0"/>
                  </a:moveTo>
                  <a:lnTo>
                    <a:pt x="42544" y="0"/>
                  </a:lnTo>
                  <a:lnTo>
                    <a:pt x="42544" y="275716"/>
                  </a:lnTo>
                  <a:lnTo>
                    <a:pt x="0" y="275716"/>
                  </a:lnTo>
                  <a:lnTo>
                    <a:pt x="84962" y="360679"/>
                  </a:lnTo>
                  <a:lnTo>
                    <a:pt x="169925" y="275716"/>
                  </a:lnTo>
                  <a:lnTo>
                    <a:pt x="127507" y="275716"/>
                  </a:lnTo>
                  <a:lnTo>
                    <a:pt x="127507" y="0"/>
                  </a:lnTo>
                  <a:close/>
                </a:path>
              </a:pathLst>
            </a:custGeom>
            <a:solidFill>
              <a:srgbClr val="EBD782"/>
            </a:solidFill>
          </p:spPr>
          <p:txBody>
            <a:bodyPr wrap="square" lIns="0" tIns="0" rIns="0" bIns="0" rtlCol="0"/>
            <a:lstStyle/>
            <a:p/>
          </p:txBody>
        </p:sp>
        <p:sp>
          <p:nvSpPr>
            <p:cNvPr id="17" name="object 17" descr=""/>
            <p:cNvSpPr/>
            <p:nvPr/>
          </p:nvSpPr>
          <p:spPr>
            <a:xfrm>
              <a:off x="2999613" y="5230748"/>
              <a:ext cx="170180" cy="360680"/>
            </a:xfrm>
            <a:custGeom>
              <a:avLst/>
              <a:gdLst/>
              <a:ahLst/>
              <a:cxnLst/>
              <a:rect l="l" t="t" r="r" b="b"/>
              <a:pathLst>
                <a:path w="170180" h="360679">
                  <a:moveTo>
                    <a:pt x="0" y="275716"/>
                  </a:moveTo>
                  <a:lnTo>
                    <a:pt x="42544" y="275716"/>
                  </a:lnTo>
                  <a:lnTo>
                    <a:pt x="42544" y="0"/>
                  </a:lnTo>
                  <a:lnTo>
                    <a:pt x="127507" y="0"/>
                  </a:lnTo>
                  <a:lnTo>
                    <a:pt x="127507" y="275716"/>
                  </a:lnTo>
                  <a:lnTo>
                    <a:pt x="169925" y="275716"/>
                  </a:lnTo>
                  <a:lnTo>
                    <a:pt x="84962" y="360679"/>
                  </a:lnTo>
                  <a:lnTo>
                    <a:pt x="0" y="275716"/>
                  </a:lnTo>
                  <a:close/>
                </a:path>
              </a:pathLst>
            </a:custGeom>
            <a:ln w="9525">
              <a:solidFill>
                <a:srgbClr val="40458B"/>
              </a:solidFill>
            </a:ln>
          </p:spPr>
          <p:txBody>
            <a:bodyPr wrap="square" lIns="0" tIns="0" rIns="0" bIns="0" rtlCol="0"/>
            <a:lstStyle/>
            <a:p/>
          </p:txBody>
        </p:sp>
      </p:grpSp>
      <p:sp>
        <p:nvSpPr>
          <p:cNvPr id="18" name="object 18" descr=""/>
          <p:cNvSpPr txBox="1"/>
          <p:nvPr/>
        </p:nvSpPr>
        <p:spPr>
          <a:xfrm>
            <a:off x="558190" y="4927853"/>
            <a:ext cx="7628255" cy="1611630"/>
          </a:xfrm>
          <a:prstGeom prst="rect">
            <a:avLst/>
          </a:prstGeom>
        </p:spPr>
        <p:txBody>
          <a:bodyPr wrap="square" lIns="0" tIns="12700" rIns="0" bIns="0" rtlCol="0" vert="horz">
            <a:spAutoFit/>
          </a:bodyPr>
          <a:lstStyle/>
          <a:p>
            <a:pPr marL="663575">
              <a:lnSpc>
                <a:spcPct val="100000"/>
              </a:lnSpc>
              <a:spcBef>
                <a:spcPts val="100"/>
              </a:spcBef>
              <a:tabLst>
                <a:tab pos="3863975" algn="l"/>
                <a:tab pos="5911215" algn="l"/>
              </a:tabLst>
            </a:pPr>
            <a:r>
              <a:rPr dirty="0" sz="2000" b="1">
                <a:solidFill>
                  <a:srgbClr val="FF5CFF"/>
                </a:solidFill>
                <a:latin typeface="Times New Roman"/>
                <a:cs typeface="Times New Roman"/>
              </a:rPr>
              <a:t>CMOVZ</a:t>
            </a:r>
            <a:r>
              <a:rPr dirty="0" sz="2000" spc="484" b="1">
                <a:solidFill>
                  <a:srgbClr val="FF5CFF"/>
                </a:solidFill>
                <a:latin typeface="Times New Roman"/>
                <a:cs typeface="Times New Roman"/>
              </a:rPr>
              <a:t> </a:t>
            </a:r>
            <a:r>
              <a:rPr dirty="0" sz="2000" spc="-10" b="1">
                <a:solidFill>
                  <a:srgbClr val="FF5CFF"/>
                </a:solidFill>
                <a:latin typeface="Times New Roman"/>
                <a:cs typeface="Times New Roman"/>
              </a:rPr>
              <a:t>R1</a:t>
            </a:r>
            <a:r>
              <a:rPr dirty="0" sz="2000" spc="-10" b="1">
                <a:solidFill>
                  <a:srgbClr val="FF5CFF"/>
                </a:solidFill>
                <a:latin typeface="微软雅黑"/>
                <a:cs typeface="微软雅黑"/>
              </a:rPr>
              <a:t>，</a:t>
            </a:r>
            <a:r>
              <a:rPr dirty="0" sz="2000" spc="-10" b="1">
                <a:solidFill>
                  <a:srgbClr val="FF5CFF"/>
                </a:solidFill>
                <a:latin typeface="Times New Roman"/>
                <a:cs typeface="Times New Roman"/>
              </a:rPr>
              <a:t>R2</a:t>
            </a:r>
            <a:r>
              <a:rPr dirty="0" sz="2000" spc="-10" b="1">
                <a:solidFill>
                  <a:srgbClr val="FF5CFF"/>
                </a:solidFill>
                <a:latin typeface="微软雅黑"/>
                <a:cs typeface="微软雅黑"/>
              </a:rPr>
              <a:t>，</a:t>
            </a:r>
            <a:r>
              <a:rPr dirty="0" sz="2000" spc="-10" b="1">
                <a:solidFill>
                  <a:srgbClr val="FF5CFF"/>
                </a:solidFill>
                <a:latin typeface="Times New Roman"/>
                <a:cs typeface="Times New Roman"/>
              </a:rPr>
              <a:t>R3</a:t>
            </a:r>
            <a:r>
              <a:rPr dirty="0" sz="2000" b="1">
                <a:solidFill>
                  <a:srgbClr val="FF5CFF"/>
                </a:solidFill>
                <a:latin typeface="Times New Roman"/>
                <a:cs typeface="Times New Roman"/>
              </a:rPr>
              <a:t>	</a:t>
            </a:r>
            <a:r>
              <a:rPr dirty="0" sz="2000" b="1">
                <a:solidFill>
                  <a:srgbClr val="40458B"/>
                </a:solidFill>
                <a:latin typeface="Times New Roman"/>
                <a:cs typeface="Times New Roman"/>
              </a:rPr>
              <a:t>//</a:t>
            </a:r>
            <a:r>
              <a:rPr dirty="0" sz="2000" spc="-15" b="1">
                <a:solidFill>
                  <a:srgbClr val="40458B"/>
                </a:solidFill>
                <a:latin typeface="Times New Roman"/>
                <a:cs typeface="Times New Roman"/>
              </a:rPr>
              <a:t> </a:t>
            </a:r>
            <a:r>
              <a:rPr dirty="0" sz="2000" spc="-10" b="1">
                <a:solidFill>
                  <a:srgbClr val="40458B"/>
                </a:solidFill>
                <a:latin typeface="Times New Roman"/>
                <a:cs typeface="Times New Roman"/>
              </a:rPr>
              <a:t>R3=0</a:t>
            </a:r>
            <a:r>
              <a:rPr dirty="0" sz="2000" b="1">
                <a:solidFill>
                  <a:srgbClr val="40458B"/>
                </a:solidFill>
                <a:latin typeface="微软雅黑"/>
                <a:cs typeface="微软雅黑"/>
              </a:rPr>
              <a:t>时，</a:t>
            </a:r>
            <a:r>
              <a:rPr dirty="0" sz="2000" b="1">
                <a:solidFill>
                  <a:srgbClr val="00AF50"/>
                </a:solidFill>
                <a:latin typeface="Times New Roman"/>
                <a:cs typeface="Times New Roman"/>
              </a:rPr>
              <a:t>A</a:t>
            </a:r>
            <a:r>
              <a:rPr dirty="0" sz="2000" spc="-25" b="1">
                <a:solidFill>
                  <a:srgbClr val="00AF50"/>
                </a:solidFill>
                <a:latin typeface="Times New Roman"/>
                <a:cs typeface="Times New Roman"/>
              </a:rPr>
              <a:t> </a:t>
            </a:r>
            <a:r>
              <a:rPr dirty="0" sz="2000" b="1">
                <a:solidFill>
                  <a:srgbClr val="00AF50"/>
                </a:solidFill>
                <a:latin typeface="Times New Roman"/>
                <a:cs typeface="Times New Roman"/>
              </a:rPr>
              <a:t>=</a:t>
            </a:r>
            <a:r>
              <a:rPr dirty="0" sz="2000" spc="5" b="1">
                <a:solidFill>
                  <a:srgbClr val="00AF50"/>
                </a:solidFill>
                <a:latin typeface="Times New Roman"/>
                <a:cs typeface="Times New Roman"/>
              </a:rPr>
              <a:t> </a:t>
            </a:r>
            <a:r>
              <a:rPr dirty="0" sz="2000" spc="-50" b="1">
                <a:solidFill>
                  <a:srgbClr val="00AF50"/>
                </a:solidFill>
                <a:latin typeface="Times New Roman"/>
                <a:cs typeface="Times New Roman"/>
              </a:rPr>
              <a:t>B</a:t>
            </a:r>
            <a:r>
              <a:rPr dirty="0" sz="2000" b="1">
                <a:solidFill>
                  <a:srgbClr val="00AF50"/>
                </a:solidFill>
                <a:latin typeface="Times New Roman"/>
                <a:cs typeface="Times New Roman"/>
              </a:rPr>
              <a:t>	</a:t>
            </a:r>
            <a:r>
              <a:rPr dirty="0" sz="2000" b="1">
                <a:solidFill>
                  <a:srgbClr val="40458B"/>
                </a:solidFill>
                <a:latin typeface="微软雅黑"/>
                <a:cs typeface="微软雅黑"/>
              </a:rPr>
              <a:t>即</a:t>
            </a:r>
            <a:r>
              <a:rPr dirty="0" sz="2000" spc="-10" b="1">
                <a:solidFill>
                  <a:srgbClr val="40458B"/>
                </a:solidFill>
                <a:latin typeface="Times New Roman"/>
                <a:cs typeface="Times New Roman"/>
              </a:rPr>
              <a:t>(R1=R2)</a:t>
            </a:r>
            <a:endParaRPr sz="2000">
              <a:latin typeface="Times New Roman"/>
              <a:cs typeface="Times New Roman"/>
            </a:endParaRPr>
          </a:p>
          <a:p>
            <a:pPr>
              <a:lnSpc>
                <a:spcPct val="100000"/>
              </a:lnSpc>
              <a:spcBef>
                <a:spcPts val="190"/>
              </a:spcBef>
            </a:pPr>
            <a:endParaRPr sz="2000">
              <a:latin typeface="Times New Roman"/>
              <a:cs typeface="Times New Roman"/>
            </a:endParaRPr>
          </a:p>
          <a:p>
            <a:pPr marL="12700">
              <a:lnSpc>
                <a:spcPct val="100000"/>
              </a:lnSpc>
            </a:pPr>
            <a:r>
              <a:rPr dirty="0" sz="2400">
                <a:solidFill>
                  <a:srgbClr val="40458B"/>
                </a:solidFill>
                <a:latin typeface="黑体"/>
                <a:cs typeface="黑体"/>
              </a:rPr>
              <a:t>当</a:t>
            </a:r>
            <a:r>
              <a:rPr dirty="0" sz="2400" spc="-20">
                <a:solidFill>
                  <a:srgbClr val="40458B"/>
                </a:solidFill>
                <a:latin typeface="Tahoma"/>
                <a:cs typeface="Tahoma"/>
              </a:rPr>
              <a:t>R3=0</a:t>
            </a:r>
            <a:r>
              <a:rPr dirty="0" sz="2400" spc="-10">
                <a:solidFill>
                  <a:srgbClr val="40458B"/>
                </a:solidFill>
                <a:latin typeface="黑体"/>
                <a:cs typeface="黑体"/>
              </a:rPr>
              <a:t>时，</a:t>
            </a:r>
            <a:r>
              <a:rPr dirty="0" sz="2400" spc="-20">
                <a:solidFill>
                  <a:srgbClr val="40458B"/>
                </a:solidFill>
                <a:latin typeface="Tahoma"/>
                <a:cs typeface="Tahoma"/>
              </a:rPr>
              <a:t>R2</a:t>
            </a:r>
            <a:r>
              <a:rPr dirty="0" sz="2400">
                <a:solidFill>
                  <a:srgbClr val="40458B"/>
                </a:solidFill>
                <a:latin typeface="黑体"/>
                <a:cs typeface="黑体"/>
              </a:rPr>
              <a:t>的值被复制到</a:t>
            </a:r>
            <a:r>
              <a:rPr dirty="0" sz="2400" spc="-25">
                <a:solidFill>
                  <a:srgbClr val="40458B"/>
                </a:solidFill>
                <a:latin typeface="Tahoma"/>
                <a:cs typeface="Tahoma"/>
              </a:rPr>
              <a:t>R1</a:t>
            </a:r>
            <a:r>
              <a:rPr dirty="0" sz="2400">
                <a:solidFill>
                  <a:srgbClr val="40458B"/>
                </a:solidFill>
                <a:latin typeface="黑体"/>
                <a:cs typeface="黑体"/>
              </a:rPr>
              <a:t>中，否则</a:t>
            </a:r>
            <a:r>
              <a:rPr dirty="0" sz="2400" spc="-25">
                <a:solidFill>
                  <a:srgbClr val="40458B"/>
                </a:solidFill>
                <a:latin typeface="Tahoma"/>
                <a:cs typeface="Tahoma"/>
              </a:rPr>
              <a:t>R1</a:t>
            </a:r>
            <a:r>
              <a:rPr dirty="0" sz="2400" spc="-10">
                <a:solidFill>
                  <a:srgbClr val="40458B"/>
                </a:solidFill>
                <a:latin typeface="黑体"/>
                <a:cs typeface="黑体"/>
              </a:rPr>
              <a:t>的内容不变。</a:t>
            </a:r>
            <a:endParaRPr sz="2400">
              <a:latin typeface="黑体"/>
              <a:cs typeface="黑体"/>
            </a:endParaRPr>
          </a:p>
          <a:p>
            <a:pPr marL="584200">
              <a:lnSpc>
                <a:spcPct val="100000"/>
              </a:lnSpc>
              <a:spcBef>
                <a:spcPts val="1840"/>
              </a:spcBef>
              <a:tabLst>
                <a:tab pos="2612390" algn="l"/>
              </a:tabLst>
            </a:pPr>
            <a:r>
              <a:rPr dirty="0" sz="2400" spc="-20">
                <a:solidFill>
                  <a:srgbClr val="40458B"/>
                </a:solidFill>
                <a:latin typeface="Tahoma"/>
                <a:cs typeface="Tahoma"/>
              </a:rPr>
              <a:t>B&gt;=0</a:t>
            </a:r>
            <a:r>
              <a:rPr dirty="0" sz="2400">
                <a:solidFill>
                  <a:srgbClr val="40458B"/>
                </a:solidFill>
                <a:latin typeface="Tahoma"/>
                <a:cs typeface="Tahoma"/>
              </a:rPr>
              <a:t>	</a:t>
            </a:r>
            <a:r>
              <a:rPr dirty="0" sz="2400" spc="-25">
                <a:solidFill>
                  <a:srgbClr val="40458B"/>
                </a:solidFill>
                <a:latin typeface="Tahoma"/>
                <a:cs typeface="Tahoma"/>
              </a:rPr>
              <a:t>A=B</a:t>
            </a:r>
            <a:endParaRPr sz="2400">
              <a:latin typeface="Tahoma"/>
              <a:cs typeface="Tahoma"/>
            </a:endParaRPr>
          </a:p>
        </p:txBody>
      </p:sp>
      <p:grpSp>
        <p:nvGrpSpPr>
          <p:cNvPr id="19" name="object 19" descr=""/>
          <p:cNvGrpSpPr/>
          <p:nvPr/>
        </p:nvGrpSpPr>
        <p:grpSpPr>
          <a:xfrm>
            <a:off x="1266761" y="5838825"/>
            <a:ext cx="179705" cy="370205"/>
            <a:chOff x="1266761" y="5838825"/>
            <a:chExt cx="179705" cy="370205"/>
          </a:xfrm>
        </p:grpSpPr>
        <p:sp>
          <p:nvSpPr>
            <p:cNvPr id="20" name="object 20" descr=""/>
            <p:cNvSpPr/>
            <p:nvPr/>
          </p:nvSpPr>
          <p:spPr>
            <a:xfrm>
              <a:off x="1271524" y="5843587"/>
              <a:ext cx="170180" cy="360680"/>
            </a:xfrm>
            <a:custGeom>
              <a:avLst/>
              <a:gdLst/>
              <a:ahLst/>
              <a:cxnLst/>
              <a:rect l="l" t="t" r="r" b="b"/>
              <a:pathLst>
                <a:path w="170180" h="360679">
                  <a:moveTo>
                    <a:pt x="127507" y="0"/>
                  </a:moveTo>
                  <a:lnTo>
                    <a:pt x="42544" y="0"/>
                  </a:lnTo>
                  <a:lnTo>
                    <a:pt x="42544" y="275120"/>
                  </a:lnTo>
                  <a:lnTo>
                    <a:pt x="0" y="275120"/>
                  </a:lnTo>
                  <a:lnTo>
                    <a:pt x="84962" y="360083"/>
                  </a:lnTo>
                  <a:lnTo>
                    <a:pt x="169925" y="275120"/>
                  </a:lnTo>
                  <a:lnTo>
                    <a:pt x="127507" y="275120"/>
                  </a:lnTo>
                  <a:lnTo>
                    <a:pt x="127507" y="0"/>
                  </a:lnTo>
                  <a:close/>
                </a:path>
              </a:pathLst>
            </a:custGeom>
            <a:solidFill>
              <a:srgbClr val="EBD782"/>
            </a:solidFill>
          </p:spPr>
          <p:txBody>
            <a:bodyPr wrap="square" lIns="0" tIns="0" rIns="0" bIns="0" rtlCol="0"/>
            <a:lstStyle/>
            <a:p/>
          </p:txBody>
        </p:sp>
        <p:sp>
          <p:nvSpPr>
            <p:cNvPr id="21" name="object 21" descr=""/>
            <p:cNvSpPr/>
            <p:nvPr/>
          </p:nvSpPr>
          <p:spPr>
            <a:xfrm>
              <a:off x="1271524" y="5843587"/>
              <a:ext cx="170180" cy="360680"/>
            </a:xfrm>
            <a:custGeom>
              <a:avLst/>
              <a:gdLst/>
              <a:ahLst/>
              <a:cxnLst/>
              <a:rect l="l" t="t" r="r" b="b"/>
              <a:pathLst>
                <a:path w="170180" h="360679">
                  <a:moveTo>
                    <a:pt x="0" y="275120"/>
                  </a:moveTo>
                  <a:lnTo>
                    <a:pt x="42544" y="275120"/>
                  </a:lnTo>
                  <a:lnTo>
                    <a:pt x="42544" y="0"/>
                  </a:lnTo>
                  <a:lnTo>
                    <a:pt x="127507" y="0"/>
                  </a:lnTo>
                  <a:lnTo>
                    <a:pt x="127507" y="275120"/>
                  </a:lnTo>
                  <a:lnTo>
                    <a:pt x="169925" y="275120"/>
                  </a:lnTo>
                  <a:lnTo>
                    <a:pt x="84962" y="360083"/>
                  </a:lnTo>
                  <a:lnTo>
                    <a:pt x="0" y="275120"/>
                  </a:lnTo>
                  <a:close/>
                </a:path>
              </a:pathLst>
            </a:custGeom>
            <a:ln w="9525">
              <a:solidFill>
                <a:srgbClr val="40458B"/>
              </a:solidFill>
            </a:ln>
          </p:spPr>
          <p:txBody>
            <a:bodyPr wrap="square" lIns="0" tIns="0" rIns="0" bIns="0" rtlCol="0"/>
            <a:lstStyle/>
            <a:p/>
          </p:txBody>
        </p:sp>
      </p:grpSp>
      <p:grpSp>
        <p:nvGrpSpPr>
          <p:cNvPr id="22" name="object 22" descr=""/>
          <p:cNvGrpSpPr/>
          <p:nvPr/>
        </p:nvGrpSpPr>
        <p:grpSpPr>
          <a:xfrm>
            <a:off x="3447224" y="5838825"/>
            <a:ext cx="179705" cy="370205"/>
            <a:chOff x="3447224" y="5838825"/>
            <a:chExt cx="179705" cy="370205"/>
          </a:xfrm>
        </p:grpSpPr>
        <p:sp>
          <p:nvSpPr>
            <p:cNvPr id="23" name="object 23" descr=""/>
            <p:cNvSpPr/>
            <p:nvPr/>
          </p:nvSpPr>
          <p:spPr>
            <a:xfrm>
              <a:off x="3451986" y="5843587"/>
              <a:ext cx="170180" cy="360680"/>
            </a:xfrm>
            <a:custGeom>
              <a:avLst/>
              <a:gdLst/>
              <a:ahLst/>
              <a:cxnLst/>
              <a:rect l="l" t="t" r="r" b="b"/>
              <a:pathLst>
                <a:path w="170179" h="360679">
                  <a:moveTo>
                    <a:pt x="127380" y="0"/>
                  </a:moveTo>
                  <a:lnTo>
                    <a:pt x="42417" y="0"/>
                  </a:lnTo>
                  <a:lnTo>
                    <a:pt x="42417" y="275120"/>
                  </a:lnTo>
                  <a:lnTo>
                    <a:pt x="0" y="275120"/>
                  </a:lnTo>
                  <a:lnTo>
                    <a:pt x="84962" y="360083"/>
                  </a:lnTo>
                  <a:lnTo>
                    <a:pt x="169925" y="275120"/>
                  </a:lnTo>
                  <a:lnTo>
                    <a:pt x="127380" y="275120"/>
                  </a:lnTo>
                  <a:lnTo>
                    <a:pt x="127380" y="0"/>
                  </a:lnTo>
                  <a:close/>
                </a:path>
              </a:pathLst>
            </a:custGeom>
            <a:solidFill>
              <a:srgbClr val="EBD782"/>
            </a:solidFill>
          </p:spPr>
          <p:txBody>
            <a:bodyPr wrap="square" lIns="0" tIns="0" rIns="0" bIns="0" rtlCol="0"/>
            <a:lstStyle/>
            <a:p/>
          </p:txBody>
        </p:sp>
        <p:sp>
          <p:nvSpPr>
            <p:cNvPr id="24" name="object 24" descr=""/>
            <p:cNvSpPr/>
            <p:nvPr/>
          </p:nvSpPr>
          <p:spPr>
            <a:xfrm>
              <a:off x="3451986" y="5843587"/>
              <a:ext cx="170180" cy="360680"/>
            </a:xfrm>
            <a:custGeom>
              <a:avLst/>
              <a:gdLst/>
              <a:ahLst/>
              <a:cxnLst/>
              <a:rect l="l" t="t" r="r" b="b"/>
              <a:pathLst>
                <a:path w="170179" h="360679">
                  <a:moveTo>
                    <a:pt x="0" y="275120"/>
                  </a:moveTo>
                  <a:lnTo>
                    <a:pt x="42417" y="275120"/>
                  </a:lnTo>
                  <a:lnTo>
                    <a:pt x="42417" y="0"/>
                  </a:lnTo>
                  <a:lnTo>
                    <a:pt x="127380" y="0"/>
                  </a:lnTo>
                  <a:lnTo>
                    <a:pt x="127380" y="275120"/>
                  </a:lnTo>
                  <a:lnTo>
                    <a:pt x="169925" y="275120"/>
                  </a:lnTo>
                  <a:lnTo>
                    <a:pt x="84962" y="360083"/>
                  </a:lnTo>
                  <a:lnTo>
                    <a:pt x="0" y="275120"/>
                  </a:lnTo>
                  <a:close/>
                </a:path>
              </a:pathLst>
            </a:custGeom>
            <a:ln w="9525">
              <a:solidFill>
                <a:srgbClr val="40458B"/>
              </a:solidFill>
            </a:ln>
          </p:spPr>
          <p:txBody>
            <a:bodyPr wrap="square" lIns="0" tIns="0" rIns="0" bIns="0" rtlCol="0"/>
            <a:lstStyle/>
            <a:p/>
          </p:txBody>
        </p:sp>
      </p:grpSp>
      <p:sp>
        <p:nvSpPr>
          <p:cNvPr id="25" name="object 25" descr=""/>
          <p:cNvSpPr/>
          <p:nvPr/>
        </p:nvSpPr>
        <p:spPr>
          <a:xfrm>
            <a:off x="8688451" y="3484626"/>
            <a:ext cx="360045" cy="863600"/>
          </a:xfrm>
          <a:custGeom>
            <a:avLst/>
            <a:gdLst/>
            <a:ahLst/>
            <a:cxnLst/>
            <a:rect l="l" t="t" r="r" b="b"/>
            <a:pathLst>
              <a:path w="360045" h="863600">
                <a:moveTo>
                  <a:pt x="0" y="0"/>
                </a:moveTo>
                <a:lnTo>
                  <a:pt x="70016" y="2343"/>
                </a:lnTo>
                <a:lnTo>
                  <a:pt x="127222" y="8747"/>
                </a:lnTo>
                <a:lnTo>
                  <a:pt x="165806" y="18270"/>
                </a:lnTo>
                <a:lnTo>
                  <a:pt x="179958" y="29972"/>
                </a:lnTo>
                <a:lnTo>
                  <a:pt x="179958" y="401700"/>
                </a:lnTo>
                <a:lnTo>
                  <a:pt x="194093" y="413422"/>
                </a:lnTo>
                <a:lnTo>
                  <a:pt x="232648" y="422989"/>
                </a:lnTo>
                <a:lnTo>
                  <a:pt x="289847" y="429436"/>
                </a:lnTo>
                <a:lnTo>
                  <a:pt x="359918" y="431800"/>
                </a:lnTo>
                <a:lnTo>
                  <a:pt x="289847" y="434143"/>
                </a:lnTo>
                <a:lnTo>
                  <a:pt x="232648" y="440547"/>
                </a:lnTo>
                <a:lnTo>
                  <a:pt x="194093" y="450070"/>
                </a:lnTo>
                <a:lnTo>
                  <a:pt x="179958" y="461772"/>
                </a:lnTo>
                <a:lnTo>
                  <a:pt x="179958" y="833501"/>
                </a:lnTo>
                <a:lnTo>
                  <a:pt x="165806" y="845222"/>
                </a:lnTo>
                <a:lnTo>
                  <a:pt x="127222" y="854789"/>
                </a:lnTo>
                <a:lnTo>
                  <a:pt x="70016" y="861236"/>
                </a:lnTo>
                <a:lnTo>
                  <a:pt x="0" y="863600"/>
                </a:lnTo>
              </a:path>
            </a:pathLst>
          </a:custGeom>
          <a:ln w="15875">
            <a:solidFill>
              <a:srgbClr val="FF0000"/>
            </a:solidFill>
          </a:ln>
        </p:spPr>
        <p:txBody>
          <a:bodyPr wrap="square" lIns="0" tIns="0" rIns="0" bIns="0" rtlCol="0"/>
          <a:lstStyle/>
          <a:p/>
        </p:txBody>
      </p:sp>
      <p:sp>
        <p:nvSpPr>
          <p:cNvPr id="26" name="object 26" descr=""/>
          <p:cNvSpPr txBox="1"/>
          <p:nvPr/>
        </p:nvSpPr>
        <p:spPr>
          <a:xfrm>
            <a:off x="9128252" y="3695192"/>
            <a:ext cx="1244600" cy="391160"/>
          </a:xfrm>
          <a:prstGeom prst="rect">
            <a:avLst/>
          </a:prstGeom>
        </p:spPr>
        <p:txBody>
          <a:bodyPr wrap="square" lIns="0" tIns="12700" rIns="0" bIns="0" rtlCol="0" vert="horz">
            <a:spAutoFit/>
          </a:bodyPr>
          <a:lstStyle/>
          <a:p>
            <a:pPr marL="12700">
              <a:lnSpc>
                <a:spcPct val="100000"/>
              </a:lnSpc>
              <a:spcBef>
                <a:spcPts val="100"/>
              </a:spcBef>
            </a:pPr>
            <a:r>
              <a:rPr dirty="0" sz="2400" spc="-15">
                <a:solidFill>
                  <a:srgbClr val="FF0000"/>
                </a:solidFill>
                <a:latin typeface="黑体"/>
                <a:cs typeface="黑体"/>
              </a:rPr>
              <a:t>可以并行</a:t>
            </a:r>
            <a:endParaRPr sz="2400">
              <a:latin typeface="黑体"/>
              <a:cs typeface="黑体"/>
            </a:endParaRPr>
          </a:p>
        </p:txBody>
      </p:sp>
      <p:sp>
        <p:nvSpPr>
          <p:cNvPr id="27" name="object 27" descr=""/>
          <p:cNvSpPr txBox="1"/>
          <p:nvPr/>
        </p:nvSpPr>
        <p:spPr>
          <a:xfrm>
            <a:off x="9696450" y="5084762"/>
            <a:ext cx="2298700" cy="830580"/>
          </a:xfrm>
          <a:prstGeom prst="rect">
            <a:avLst/>
          </a:prstGeom>
          <a:ln w="9525">
            <a:solidFill>
              <a:srgbClr val="FF0000"/>
            </a:solidFill>
          </a:ln>
        </p:spPr>
        <p:txBody>
          <a:bodyPr wrap="square" lIns="0" tIns="55880" rIns="0" bIns="0" rtlCol="0" vert="horz">
            <a:spAutoFit/>
          </a:bodyPr>
          <a:lstStyle/>
          <a:p>
            <a:pPr marL="92075">
              <a:lnSpc>
                <a:spcPts val="2845"/>
              </a:lnSpc>
              <a:spcBef>
                <a:spcPts val="440"/>
              </a:spcBef>
            </a:pPr>
            <a:r>
              <a:rPr dirty="0" sz="2400" spc="-10">
                <a:solidFill>
                  <a:srgbClr val="40458B"/>
                </a:solidFill>
                <a:latin typeface="黑体"/>
                <a:cs typeface="黑体"/>
              </a:rPr>
              <a:t>通过条件转换</a:t>
            </a:r>
            <a:endParaRPr sz="2400">
              <a:latin typeface="黑体"/>
              <a:cs typeface="黑体"/>
            </a:endParaRPr>
          </a:p>
          <a:p>
            <a:pPr marL="92075">
              <a:lnSpc>
                <a:spcPts val="2845"/>
              </a:lnSpc>
            </a:pPr>
            <a:r>
              <a:rPr dirty="0" sz="2400" spc="-10">
                <a:solidFill>
                  <a:srgbClr val="40458B"/>
                </a:solidFill>
                <a:latin typeface="黑体"/>
                <a:cs typeface="黑体"/>
              </a:rPr>
              <a:t>消除分支指令</a:t>
            </a:r>
            <a:endParaRPr sz="2400">
              <a:latin typeface="黑体"/>
              <a:cs typeface="黑体"/>
            </a:endParaRPr>
          </a:p>
        </p:txBody>
      </p:sp>
      <p:sp>
        <p:nvSpPr>
          <p:cNvPr id="28" name="object 28" descr=""/>
          <p:cNvSpPr txBox="1"/>
          <p:nvPr/>
        </p:nvSpPr>
        <p:spPr>
          <a:xfrm>
            <a:off x="8480806" y="57734"/>
            <a:ext cx="2339340" cy="422909"/>
          </a:xfrm>
          <a:prstGeom prst="rect">
            <a:avLst/>
          </a:prstGeom>
        </p:spPr>
        <p:txBody>
          <a:bodyPr wrap="square" lIns="0" tIns="13335" rIns="0" bIns="0" rtlCol="0" vert="horz">
            <a:spAutoFit/>
          </a:bodyPr>
          <a:lstStyle/>
          <a:p>
            <a:pPr marL="12700">
              <a:lnSpc>
                <a:spcPct val="100000"/>
              </a:lnSpc>
              <a:spcBef>
                <a:spcPts val="105"/>
              </a:spcBef>
            </a:pPr>
            <a:r>
              <a:rPr dirty="0" sz="2600">
                <a:solidFill>
                  <a:srgbClr val="0000CC"/>
                </a:solidFill>
                <a:latin typeface="黑体"/>
                <a:cs typeface="黑体"/>
              </a:rPr>
              <a:t>6.4.2</a:t>
            </a:r>
            <a:r>
              <a:rPr dirty="0" sz="2600" spc="-30">
                <a:solidFill>
                  <a:srgbClr val="0000CC"/>
                </a:solidFill>
                <a:latin typeface="黑体"/>
                <a:cs typeface="黑体"/>
              </a:rPr>
              <a:t> 谓词执行</a:t>
            </a:r>
            <a:endParaRPr sz="2600">
              <a:latin typeface="黑体"/>
              <a:cs typeface="黑体"/>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59/89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556666" y="590939"/>
            <a:ext cx="11129645" cy="2713355"/>
          </a:xfrm>
          <a:prstGeom prst="rect">
            <a:avLst/>
          </a:prstGeom>
        </p:spPr>
        <p:txBody>
          <a:bodyPr wrap="square" lIns="0" tIns="143510" rIns="0" bIns="0" rtlCol="0" vert="horz">
            <a:spAutoFit/>
          </a:bodyPr>
          <a:lstStyle/>
          <a:p>
            <a:pPr marL="12700">
              <a:lnSpc>
                <a:spcPct val="100000"/>
              </a:lnSpc>
              <a:spcBef>
                <a:spcPts val="1130"/>
              </a:spcBef>
            </a:pPr>
            <a:r>
              <a:rPr dirty="0" sz="2800" spc="-40">
                <a:solidFill>
                  <a:srgbClr val="E14B04"/>
                </a:solidFill>
                <a:latin typeface="黑体"/>
                <a:cs typeface="黑体"/>
              </a:rPr>
              <a:t>总结</a:t>
            </a:r>
            <a:endParaRPr sz="2800">
              <a:latin typeface="黑体"/>
              <a:cs typeface="黑体"/>
            </a:endParaRPr>
          </a:p>
          <a:p>
            <a:pPr marL="1099185" indent="-457200">
              <a:lnSpc>
                <a:spcPct val="100000"/>
              </a:lnSpc>
              <a:spcBef>
                <a:spcPts val="970"/>
              </a:spcBef>
              <a:buClr>
                <a:srgbClr val="40458B"/>
              </a:buClr>
              <a:buSzPct val="90384"/>
              <a:buFont typeface="Wingdings"/>
              <a:buChar char=""/>
              <a:tabLst>
                <a:tab pos="1099185" algn="l"/>
              </a:tabLst>
            </a:pPr>
            <a:r>
              <a:rPr dirty="0" sz="2600" spc="-5">
                <a:solidFill>
                  <a:srgbClr val="0000CC"/>
                </a:solidFill>
                <a:latin typeface="黑体"/>
                <a:cs typeface="黑体"/>
              </a:rPr>
              <a:t>条件传输机制适合分支简单的场景</a:t>
            </a:r>
            <a:endParaRPr sz="2600">
              <a:latin typeface="黑体"/>
              <a:cs typeface="黑体"/>
            </a:endParaRPr>
          </a:p>
          <a:p>
            <a:pPr marL="1029335" indent="-457200">
              <a:lnSpc>
                <a:spcPct val="100000"/>
              </a:lnSpc>
              <a:spcBef>
                <a:spcPts val="1764"/>
              </a:spcBef>
              <a:buClr>
                <a:srgbClr val="40458B"/>
              </a:buClr>
              <a:buSzPct val="89285"/>
              <a:buFont typeface="Wingdings"/>
              <a:buChar char=""/>
              <a:tabLst>
                <a:tab pos="1029335" algn="l"/>
              </a:tabLst>
            </a:pPr>
            <a:r>
              <a:rPr dirty="0" sz="2800" spc="-40">
                <a:solidFill>
                  <a:srgbClr val="0000CC"/>
                </a:solidFill>
                <a:latin typeface="黑体"/>
                <a:cs typeface="黑体"/>
              </a:rPr>
              <a:t>条件传输指令的性能问题</a:t>
            </a:r>
            <a:endParaRPr sz="2800">
              <a:latin typeface="黑体"/>
              <a:cs typeface="黑体"/>
            </a:endParaRPr>
          </a:p>
          <a:p>
            <a:pPr lvl="1" marL="1314450" indent="-457200">
              <a:lnSpc>
                <a:spcPct val="100000"/>
              </a:lnSpc>
              <a:spcBef>
                <a:spcPts val="1215"/>
              </a:spcBef>
              <a:buClr>
                <a:srgbClr val="4668F5"/>
              </a:buClr>
              <a:buSzPct val="60416"/>
              <a:buFont typeface="Wingdings"/>
              <a:buChar char=""/>
              <a:tabLst>
                <a:tab pos="1314450" algn="l"/>
              </a:tabLst>
            </a:pPr>
            <a:r>
              <a:rPr dirty="0" sz="2400" spc="-30" b="1">
                <a:solidFill>
                  <a:srgbClr val="FF5CFF"/>
                </a:solidFill>
                <a:latin typeface="宋体"/>
                <a:cs typeface="宋体"/>
              </a:rPr>
              <a:t>随着指令数的增加，经过条件转换得到的条件传输指令和条件计算指令的</a:t>
            </a:r>
            <a:endParaRPr sz="2400">
              <a:latin typeface="宋体"/>
              <a:cs typeface="宋体"/>
            </a:endParaRPr>
          </a:p>
          <a:p>
            <a:pPr marL="1314450">
              <a:lnSpc>
                <a:spcPct val="100000"/>
              </a:lnSpc>
              <a:spcBef>
                <a:spcPts val="580"/>
              </a:spcBef>
            </a:pPr>
            <a:r>
              <a:rPr dirty="0" sz="2400" spc="-25" b="1">
                <a:solidFill>
                  <a:srgbClr val="FF5CFF"/>
                </a:solidFill>
                <a:latin typeface="宋体"/>
                <a:cs typeface="宋体"/>
              </a:rPr>
              <a:t>数量也将增加，这会大大降低目标代码的效率。</a:t>
            </a:r>
            <a:endParaRPr sz="2400">
              <a:latin typeface="宋体"/>
              <a:cs typeface="宋体"/>
            </a:endParaRPr>
          </a:p>
        </p:txBody>
      </p:sp>
      <p:sp>
        <p:nvSpPr>
          <p:cNvPr id="10" name="object 10"/>
          <p:cNvSpPr txBox="1">
            <a:spLocks noGrp="1"/>
          </p:cNvSpPr>
          <p:nvPr>
            <p:ph type="title"/>
          </p:nvPr>
        </p:nvSpPr>
        <p:spPr>
          <a:xfrm>
            <a:off x="1935607" y="5842"/>
            <a:ext cx="4904105" cy="513715"/>
          </a:xfrm>
          <a:prstGeom prst="rect"/>
        </p:spPr>
        <p:txBody>
          <a:bodyPr wrap="square" lIns="0" tIns="12700" rIns="0" bIns="0" rtlCol="0" vert="horz">
            <a:spAutoFit/>
          </a:bodyPr>
          <a:lstStyle/>
          <a:p>
            <a:pPr marL="12700">
              <a:lnSpc>
                <a:spcPct val="100000"/>
              </a:lnSpc>
              <a:spcBef>
                <a:spcPts val="100"/>
              </a:spcBef>
            </a:pPr>
            <a:r>
              <a:rPr dirty="0" u="none"/>
              <a:t>6.4</a:t>
            </a:r>
            <a:r>
              <a:rPr dirty="0" u="none" spc="-15"/>
              <a:t> 显示并行指令计算</a:t>
            </a:r>
            <a:r>
              <a:rPr dirty="0" u="none" spc="-20"/>
              <a:t>EPIC</a:t>
            </a:r>
          </a:p>
        </p:txBody>
      </p:sp>
      <p:sp>
        <p:nvSpPr>
          <p:cNvPr id="11" name="object 11" descr=""/>
          <p:cNvSpPr txBox="1"/>
          <p:nvPr/>
        </p:nvSpPr>
        <p:spPr>
          <a:xfrm>
            <a:off x="8480806" y="57734"/>
            <a:ext cx="2339340" cy="422909"/>
          </a:xfrm>
          <a:prstGeom prst="rect">
            <a:avLst/>
          </a:prstGeom>
        </p:spPr>
        <p:txBody>
          <a:bodyPr wrap="square" lIns="0" tIns="13335" rIns="0" bIns="0" rtlCol="0" vert="horz">
            <a:spAutoFit/>
          </a:bodyPr>
          <a:lstStyle/>
          <a:p>
            <a:pPr marL="12700">
              <a:lnSpc>
                <a:spcPct val="100000"/>
              </a:lnSpc>
              <a:spcBef>
                <a:spcPts val="105"/>
              </a:spcBef>
            </a:pPr>
            <a:r>
              <a:rPr dirty="0" sz="2600">
                <a:solidFill>
                  <a:srgbClr val="0000CC"/>
                </a:solidFill>
                <a:latin typeface="黑体"/>
                <a:cs typeface="黑体"/>
              </a:rPr>
              <a:t>6.4.2</a:t>
            </a:r>
            <a:r>
              <a:rPr dirty="0" sz="2600" spc="-30">
                <a:solidFill>
                  <a:srgbClr val="0000CC"/>
                </a:solidFill>
                <a:latin typeface="黑体"/>
                <a:cs typeface="黑体"/>
              </a:rPr>
              <a:t> 谓词执行</a:t>
            </a:r>
            <a:endParaRPr sz="2600">
              <a:latin typeface="黑体"/>
              <a:cs typeface="黑体"/>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60/89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2630804" y="127838"/>
            <a:ext cx="4905375" cy="514350"/>
          </a:xfrm>
          <a:prstGeom prst="rect"/>
        </p:spPr>
        <p:txBody>
          <a:bodyPr wrap="square" lIns="0" tIns="13335" rIns="0" bIns="0" rtlCol="0" vert="horz">
            <a:spAutoFit/>
          </a:bodyPr>
          <a:lstStyle/>
          <a:p>
            <a:pPr marL="12700">
              <a:lnSpc>
                <a:spcPct val="100000"/>
              </a:lnSpc>
              <a:spcBef>
                <a:spcPts val="105"/>
              </a:spcBef>
            </a:pPr>
            <a:r>
              <a:rPr dirty="0" u="none"/>
              <a:t>6.4</a:t>
            </a:r>
            <a:r>
              <a:rPr dirty="0" u="none" spc="-20"/>
              <a:t> 显示并行指令计算EPIC</a:t>
            </a:r>
          </a:p>
        </p:txBody>
      </p:sp>
      <p:sp>
        <p:nvSpPr>
          <p:cNvPr id="10" name="object 10" descr=""/>
          <p:cNvSpPr/>
          <p:nvPr/>
        </p:nvSpPr>
        <p:spPr>
          <a:xfrm>
            <a:off x="1847850" y="3714750"/>
            <a:ext cx="1008380" cy="1946275"/>
          </a:xfrm>
          <a:custGeom>
            <a:avLst/>
            <a:gdLst/>
            <a:ahLst/>
            <a:cxnLst/>
            <a:rect l="l" t="t" r="r" b="b"/>
            <a:pathLst>
              <a:path w="1008380" h="1946275">
                <a:moveTo>
                  <a:pt x="1008126" y="1946275"/>
                </a:moveTo>
                <a:lnTo>
                  <a:pt x="933639" y="1945365"/>
                </a:lnTo>
                <a:lnTo>
                  <a:pt x="862546" y="1942723"/>
                </a:lnTo>
                <a:lnTo>
                  <a:pt x="795626" y="1938477"/>
                </a:lnTo>
                <a:lnTo>
                  <a:pt x="733659" y="1932758"/>
                </a:lnTo>
                <a:lnTo>
                  <a:pt x="677424" y="1925694"/>
                </a:lnTo>
                <a:lnTo>
                  <a:pt x="627701" y="1917415"/>
                </a:lnTo>
                <a:lnTo>
                  <a:pt x="585271" y="1908051"/>
                </a:lnTo>
                <a:lnTo>
                  <a:pt x="525404" y="1886584"/>
                </a:lnTo>
                <a:lnTo>
                  <a:pt x="504063" y="1862327"/>
                </a:lnTo>
                <a:lnTo>
                  <a:pt x="504063" y="1057020"/>
                </a:lnTo>
                <a:lnTo>
                  <a:pt x="498597" y="1044617"/>
                </a:lnTo>
                <a:lnTo>
                  <a:pt x="457213" y="1021634"/>
                </a:lnTo>
                <a:lnTo>
                  <a:pt x="380424" y="1001948"/>
                </a:lnTo>
                <a:lnTo>
                  <a:pt x="330701" y="993667"/>
                </a:lnTo>
                <a:lnTo>
                  <a:pt x="274466" y="986600"/>
                </a:lnTo>
                <a:lnTo>
                  <a:pt x="212499" y="980877"/>
                </a:lnTo>
                <a:lnTo>
                  <a:pt x="145579" y="976628"/>
                </a:lnTo>
                <a:lnTo>
                  <a:pt x="74486" y="973984"/>
                </a:lnTo>
                <a:lnTo>
                  <a:pt x="0" y="973074"/>
                </a:lnTo>
                <a:lnTo>
                  <a:pt x="74486" y="972166"/>
                </a:lnTo>
                <a:lnTo>
                  <a:pt x="145579" y="969530"/>
                </a:lnTo>
                <a:lnTo>
                  <a:pt x="212499" y="965293"/>
                </a:lnTo>
                <a:lnTo>
                  <a:pt x="274466" y="959585"/>
                </a:lnTo>
                <a:lnTo>
                  <a:pt x="330701" y="952535"/>
                </a:lnTo>
                <a:lnTo>
                  <a:pt x="380424" y="944271"/>
                </a:lnTo>
                <a:lnTo>
                  <a:pt x="422854" y="934922"/>
                </a:lnTo>
                <a:lnTo>
                  <a:pt x="482721" y="913485"/>
                </a:lnTo>
                <a:lnTo>
                  <a:pt x="504063" y="889254"/>
                </a:lnTo>
                <a:lnTo>
                  <a:pt x="504063" y="83947"/>
                </a:lnTo>
                <a:lnTo>
                  <a:pt x="509528" y="71543"/>
                </a:lnTo>
                <a:lnTo>
                  <a:pt x="550912" y="48560"/>
                </a:lnTo>
                <a:lnTo>
                  <a:pt x="627701" y="28874"/>
                </a:lnTo>
                <a:lnTo>
                  <a:pt x="677424" y="20593"/>
                </a:lnTo>
                <a:lnTo>
                  <a:pt x="733659" y="13526"/>
                </a:lnTo>
                <a:lnTo>
                  <a:pt x="795626" y="7803"/>
                </a:lnTo>
                <a:lnTo>
                  <a:pt x="862546" y="3554"/>
                </a:lnTo>
                <a:lnTo>
                  <a:pt x="933639" y="910"/>
                </a:lnTo>
                <a:lnTo>
                  <a:pt x="1008126" y="0"/>
                </a:lnTo>
              </a:path>
            </a:pathLst>
          </a:custGeom>
          <a:ln w="15875">
            <a:solidFill>
              <a:srgbClr val="FF0000"/>
            </a:solidFill>
          </a:ln>
        </p:spPr>
        <p:txBody>
          <a:bodyPr wrap="square" lIns="0" tIns="0" rIns="0" bIns="0" rtlCol="0"/>
          <a:lstStyle/>
          <a:p/>
        </p:txBody>
      </p:sp>
      <p:sp>
        <p:nvSpPr>
          <p:cNvPr id="11" name="object 11" descr=""/>
          <p:cNvSpPr txBox="1"/>
          <p:nvPr/>
        </p:nvSpPr>
        <p:spPr>
          <a:xfrm>
            <a:off x="827328" y="544249"/>
            <a:ext cx="10751185" cy="4194810"/>
          </a:xfrm>
          <a:prstGeom prst="rect">
            <a:avLst/>
          </a:prstGeom>
        </p:spPr>
        <p:txBody>
          <a:bodyPr wrap="square" lIns="0" tIns="191770" rIns="0" bIns="0" rtlCol="0" vert="horz">
            <a:spAutoFit/>
          </a:bodyPr>
          <a:lstStyle/>
          <a:p>
            <a:pPr marL="469265" indent="-456565">
              <a:lnSpc>
                <a:spcPct val="100000"/>
              </a:lnSpc>
              <a:spcBef>
                <a:spcPts val="1510"/>
              </a:spcBef>
              <a:buClr>
                <a:srgbClr val="40458B"/>
              </a:buClr>
              <a:buSzPct val="89285"/>
              <a:buFont typeface="Wingdings"/>
              <a:buChar char=""/>
              <a:tabLst>
                <a:tab pos="469265" algn="l"/>
              </a:tabLst>
            </a:pPr>
            <a:r>
              <a:rPr dirty="0" sz="2800" spc="-40">
                <a:solidFill>
                  <a:srgbClr val="FF0000"/>
                </a:solidFill>
                <a:latin typeface="黑体"/>
                <a:cs typeface="黑体"/>
              </a:rPr>
              <a:t>谓词执行机制</a:t>
            </a:r>
            <a:endParaRPr sz="2800">
              <a:latin typeface="黑体"/>
              <a:cs typeface="黑体"/>
            </a:endParaRPr>
          </a:p>
          <a:p>
            <a:pPr marL="469265" marR="5080" indent="-457200">
              <a:lnSpc>
                <a:spcPct val="120000"/>
              </a:lnSpc>
              <a:spcBef>
                <a:spcPts val="640"/>
              </a:spcBef>
              <a:buClr>
                <a:srgbClr val="40458B"/>
              </a:buClr>
              <a:buSzPct val="89583"/>
              <a:buFont typeface="Wingdings"/>
              <a:buChar char=""/>
              <a:tabLst>
                <a:tab pos="469265" algn="l"/>
              </a:tabLst>
            </a:pPr>
            <a:r>
              <a:rPr dirty="0" sz="2400">
                <a:solidFill>
                  <a:srgbClr val="0000CC"/>
                </a:solidFill>
                <a:latin typeface="宋体"/>
                <a:cs typeface="宋体"/>
              </a:rPr>
              <a:t>对二分支结构，</a:t>
            </a:r>
            <a:r>
              <a:rPr dirty="0" sz="2400">
                <a:solidFill>
                  <a:srgbClr val="0000CC"/>
                </a:solidFill>
                <a:latin typeface="Tahoma"/>
                <a:cs typeface="Tahoma"/>
              </a:rPr>
              <a:t>then</a:t>
            </a:r>
            <a:r>
              <a:rPr dirty="0" sz="2400">
                <a:solidFill>
                  <a:srgbClr val="0000CC"/>
                </a:solidFill>
                <a:latin typeface="宋体"/>
                <a:cs typeface="宋体"/>
              </a:rPr>
              <a:t>和</a:t>
            </a:r>
            <a:r>
              <a:rPr dirty="0" sz="2400" spc="-25">
                <a:solidFill>
                  <a:srgbClr val="0000CC"/>
                </a:solidFill>
                <a:latin typeface="Tahoma"/>
                <a:cs typeface="Tahoma"/>
              </a:rPr>
              <a:t>else</a:t>
            </a:r>
            <a:r>
              <a:rPr dirty="0" sz="2400">
                <a:solidFill>
                  <a:srgbClr val="0000CC"/>
                </a:solidFill>
                <a:latin typeface="宋体"/>
                <a:cs typeface="宋体"/>
              </a:rPr>
              <a:t>部分中的指令都可以转换为谓词指令，</a:t>
            </a:r>
            <a:r>
              <a:rPr dirty="0" sz="2400">
                <a:solidFill>
                  <a:srgbClr val="0000CC"/>
                </a:solidFill>
                <a:latin typeface="Tahoma"/>
                <a:cs typeface="Tahoma"/>
              </a:rPr>
              <a:t>then</a:t>
            </a:r>
            <a:r>
              <a:rPr dirty="0" sz="2400" spc="-20">
                <a:solidFill>
                  <a:srgbClr val="0000CC"/>
                </a:solidFill>
                <a:latin typeface="宋体"/>
                <a:cs typeface="宋体"/>
              </a:rPr>
              <a:t>部分中</a:t>
            </a:r>
            <a:r>
              <a:rPr dirty="0" sz="2400" spc="-10">
                <a:solidFill>
                  <a:srgbClr val="0000CC"/>
                </a:solidFill>
                <a:latin typeface="宋体"/>
                <a:cs typeface="宋体"/>
              </a:rPr>
              <a:t>所有指令的谓词就是转移条件，</a:t>
            </a:r>
            <a:r>
              <a:rPr dirty="0" sz="2400" spc="-10">
                <a:solidFill>
                  <a:srgbClr val="0000CC"/>
                </a:solidFill>
                <a:latin typeface="Tahoma"/>
                <a:cs typeface="Tahoma"/>
              </a:rPr>
              <a:t>else</a:t>
            </a:r>
            <a:r>
              <a:rPr dirty="0" sz="2400" spc="-15">
                <a:solidFill>
                  <a:srgbClr val="0000CC"/>
                </a:solidFill>
                <a:latin typeface="宋体"/>
                <a:cs typeface="宋体"/>
              </a:rPr>
              <a:t>部分中指令的谓词与之相反</a:t>
            </a:r>
            <a:endParaRPr sz="2400">
              <a:latin typeface="宋体"/>
              <a:cs typeface="宋体"/>
            </a:endParaRPr>
          </a:p>
          <a:p>
            <a:pPr marL="469265" marR="213360" indent="-457200">
              <a:lnSpc>
                <a:spcPct val="120000"/>
              </a:lnSpc>
              <a:spcBef>
                <a:spcPts val="580"/>
              </a:spcBef>
              <a:buClr>
                <a:srgbClr val="40458B"/>
              </a:buClr>
              <a:buSzPct val="89583"/>
              <a:buFont typeface="Wingdings"/>
              <a:buChar char=""/>
              <a:tabLst>
                <a:tab pos="469265" algn="l"/>
              </a:tabLst>
            </a:pPr>
            <a:r>
              <a:rPr dirty="0" sz="2400">
                <a:solidFill>
                  <a:srgbClr val="0000CC"/>
                </a:solidFill>
                <a:latin typeface="宋体"/>
                <a:cs typeface="宋体"/>
              </a:rPr>
              <a:t>谓词执行机制可提高全局指令调度效果（</a:t>
            </a:r>
            <a:r>
              <a:rPr dirty="0" sz="2400" spc="-5">
                <a:solidFill>
                  <a:srgbClr val="FF0000"/>
                </a:solidFill>
                <a:latin typeface="宋体"/>
                <a:cs typeface="宋体"/>
              </a:rPr>
              <a:t>控制相关</a:t>
            </a:r>
            <a:r>
              <a:rPr dirty="0" sz="2400">
                <a:solidFill>
                  <a:srgbClr val="0000CC"/>
                </a:solidFill>
                <a:latin typeface="宋体"/>
                <a:cs typeface="宋体"/>
              </a:rPr>
              <a:t>是全局指令调度的</a:t>
            </a:r>
            <a:r>
              <a:rPr dirty="0" sz="2400">
                <a:solidFill>
                  <a:srgbClr val="FF0000"/>
                </a:solidFill>
                <a:latin typeface="宋体"/>
                <a:cs typeface="宋体"/>
              </a:rPr>
              <a:t>障碍</a:t>
            </a:r>
            <a:r>
              <a:rPr dirty="0" sz="2400" spc="-50">
                <a:solidFill>
                  <a:srgbClr val="0000CC"/>
                </a:solidFill>
                <a:latin typeface="宋体"/>
                <a:cs typeface="宋体"/>
              </a:rPr>
              <a:t>，</a:t>
            </a:r>
            <a:r>
              <a:rPr dirty="0" sz="2400">
                <a:solidFill>
                  <a:srgbClr val="0000CC"/>
                </a:solidFill>
                <a:latin typeface="宋体"/>
                <a:cs typeface="宋体"/>
              </a:rPr>
              <a:t>而谓词执行通过</a:t>
            </a:r>
            <a:r>
              <a:rPr dirty="0" sz="2400">
                <a:solidFill>
                  <a:srgbClr val="0000CC"/>
                </a:solidFill>
                <a:latin typeface="Tahoma"/>
                <a:cs typeface="Tahoma"/>
              </a:rPr>
              <a:t>if</a:t>
            </a:r>
            <a:r>
              <a:rPr dirty="0" sz="2400">
                <a:solidFill>
                  <a:srgbClr val="0000CC"/>
                </a:solidFill>
                <a:latin typeface="宋体"/>
                <a:cs typeface="宋体"/>
              </a:rPr>
              <a:t>转换可以</a:t>
            </a:r>
            <a:r>
              <a:rPr dirty="0" sz="2400">
                <a:solidFill>
                  <a:srgbClr val="FF0000"/>
                </a:solidFill>
                <a:latin typeface="宋体"/>
                <a:cs typeface="宋体"/>
              </a:rPr>
              <a:t>删除</a:t>
            </a:r>
            <a:r>
              <a:rPr dirty="0" sz="2400">
                <a:solidFill>
                  <a:srgbClr val="0000CC"/>
                </a:solidFill>
                <a:latin typeface="宋体"/>
                <a:cs typeface="宋体"/>
              </a:rPr>
              <a:t>那些</a:t>
            </a:r>
            <a:r>
              <a:rPr dirty="0" sz="2400">
                <a:solidFill>
                  <a:srgbClr val="FF0000"/>
                </a:solidFill>
                <a:latin typeface="宋体"/>
                <a:cs typeface="宋体"/>
              </a:rPr>
              <a:t>不构成循环</a:t>
            </a:r>
            <a:r>
              <a:rPr dirty="0" sz="2400">
                <a:solidFill>
                  <a:srgbClr val="0000CC"/>
                </a:solidFill>
                <a:latin typeface="宋体"/>
                <a:cs typeface="宋体"/>
              </a:rPr>
              <a:t>的分支指令</a:t>
            </a:r>
            <a:r>
              <a:rPr dirty="0" sz="2400" spc="-50">
                <a:solidFill>
                  <a:srgbClr val="0000CC"/>
                </a:solidFill>
                <a:latin typeface="宋体"/>
                <a:cs typeface="宋体"/>
              </a:rPr>
              <a:t>）</a:t>
            </a:r>
            <a:endParaRPr sz="2400">
              <a:latin typeface="宋体"/>
              <a:cs typeface="宋体"/>
            </a:endParaRPr>
          </a:p>
          <a:p>
            <a:pPr marL="535305">
              <a:lnSpc>
                <a:spcPts val="2540"/>
              </a:lnSpc>
              <a:spcBef>
                <a:spcPts val="2280"/>
              </a:spcBef>
            </a:pPr>
            <a:r>
              <a:rPr dirty="0" sz="2400">
                <a:solidFill>
                  <a:srgbClr val="40458B"/>
                </a:solidFill>
                <a:latin typeface="Tahoma"/>
                <a:cs typeface="Tahoma"/>
              </a:rPr>
              <a:t>Then</a:t>
            </a:r>
            <a:r>
              <a:rPr dirty="0" sz="2400" spc="-15">
                <a:solidFill>
                  <a:srgbClr val="40458B"/>
                </a:solidFill>
                <a:latin typeface="黑体"/>
                <a:cs typeface="黑体"/>
              </a:rPr>
              <a:t>部分指令</a:t>
            </a:r>
            <a:endParaRPr sz="2400">
              <a:latin typeface="黑体"/>
              <a:cs typeface="黑体"/>
            </a:endParaRPr>
          </a:p>
          <a:p>
            <a:pPr marL="2581910">
              <a:lnSpc>
                <a:spcPts val="2540"/>
              </a:lnSpc>
            </a:pPr>
            <a:r>
              <a:rPr dirty="0" sz="2400" spc="-10">
                <a:solidFill>
                  <a:srgbClr val="40458B"/>
                </a:solidFill>
                <a:latin typeface="黑体"/>
                <a:cs typeface="黑体"/>
              </a:rPr>
              <a:t>谓词：执行条件</a:t>
            </a:r>
            <a:endParaRPr sz="2400">
              <a:latin typeface="黑体"/>
              <a:cs typeface="黑体"/>
            </a:endParaRPr>
          </a:p>
          <a:p>
            <a:pPr marL="464184">
              <a:lnSpc>
                <a:spcPct val="100000"/>
              </a:lnSpc>
              <a:spcBef>
                <a:spcPts val="1330"/>
              </a:spcBef>
            </a:pPr>
            <a:r>
              <a:rPr dirty="0" sz="3600" spc="-25">
                <a:solidFill>
                  <a:srgbClr val="40458B"/>
                </a:solidFill>
                <a:latin typeface="Tahoma"/>
                <a:cs typeface="Tahoma"/>
              </a:rPr>
              <a:t>if</a:t>
            </a:r>
            <a:endParaRPr sz="3600">
              <a:latin typeface="Tahoma"/>
              <a:cs typeface="Tahoma"/>
            </a:endParaRPr>
          </a:p>
        </p:txBody>
      </p:sp>
      <p:sp>
        <p:nvSpPr>
          <p:cNvPr id="12" name="object 12" descr=""/>
          <p:cNvSpPr txBox="1"/>
          <p:nvPr/>
        </p:nvSpPr>
        <p:spPr>
          <a:xfrm>
            <a:off x="3511422" y="5282590"/>
            <a:ext cx="2159000"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40458B"/>
                </a:solidFill>
                <a:latin typeface="黑体"/>
                <a:cs typeface="黑体"/>
              </a:rPr>
              <a:t>谓词：与之相反</a:t>
            </a:r>
            <a:endParaRPr sz="2400">
              <a:latin typeface="黑体"/>
              <a:cs typeface="黑体"/>
            </a:endParaRPr>
          </a:p>
        </p:txBody>
      </p:sp>
      <p:sp>
        <p:nvSpPr>
          <p:cNvPr id="13" name="object 13" descr=""/>
          <p:cNvSpPr txBox="1"/>
          <p:nvPr/>
        </p:nvSpPr>
        <p:spPr>
          <a:xfrm>
            <a:off x="1307719" y="5282590"/>
            <a:ext cx="1781175" cy="39116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40458B"/>
                </a:solidFill>
                <a:latin typeface="Tahoma"/>
                <a:cs typeface="Tahoma"/>
              </a:rPr>
              <a:t>Else</a:t>
            </a:r>
            <a:r>
              <a:rPr dirty="0" sz="2400" spc="-15">
                <a:solidFill>
                  <a:srgbClr val="40458B"/>
                </a:solidFill>
                <a:latin typeface="黑体"/>
                <a:cs typeface="黑体"/>
              </a:rPr>
              <a:t>部分指令</a:t>
            </a:r>
            <a:endParaRPr sz="2400">
              <a:latin typeface="黑体"/>
              <a:cs typeface="黑体"/>
            </a:endParaRPr>
          </a:p>
        </p:txBody>
      </p:sp>
      <p:sp>
        <p:nvSpPr>
          <p:cNvPr id="14" name="object 14" descr=""/>
          <p:cNvSpPr txBox="1"/>
          <p:nvPr/>
        </p:nvSpPr>
        <p:spPr>
          <a:xfrm>
            <a:off x="8480806" y="57734"/>
            <a:ext cx="2339340" cy="422909"/>
          </a:xfrm>
          <a:prstGeom prst="rect">
            <a:avLst/>
          </a:prstGeom>
        </p:spPr>
        <p:txBody>
          <a:bodyPr wrap="square" lIns="0" tIns="13335" rIns="0" bIns="0" rtlCol="0" vert="horz">
            <a:spAutoFit/>
          </a:bodyPr>
          <a:lstStyle/>
          <a:p>
            <a:pPr marL="12700">
              <a:lnSpc>
                <a:spcPct val="100000"/>
              </a:lnSpc>
              <a:spcBef>
                <a:spcPts val="105"/>
              </a:spcBef>
            </a:pPr>
            <a:r>
              <a:rPr dirty="0" sz="2600">
                <a:solidFill>
                  <a:srgbClr val="0000CC"/>
                </a:solidFill>
                <a:latin typeface="黑体"/>
                <a:cs typeface="黑体"/>
              </a:rPr>
              <a:t>6.4.2</a:t>
            </a:r>
            <a:r>
              <a:rPr dirty="0" sz="2600" spc="-30">
                <a:solidFill>
                  <a:srgbClr val="0000CC"/>
                </a:solidFill>
                <a:latin typeface="黑体"/>
                <a:cs typeface="黑体"/>
              </a:rPr>
              <a:t> 谓词执行</a:t>
            </a:r>
            <a:endParaRPr sz="2600">
              <a:latin typeface="黑体"/>
              <a:cs typeface="黑体"/>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61/89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802030" y="4780915"/>
            <a:ext cx="1938020" cy="391160"/>
          </a:xfrm>
          <a:prstGeom prst="rect">
            <a:avLst/>
          </a:prstGeom>
        </p:spPr>
        <p:txBody>
          <a:bodyPr wrap="square" lIns="0" tIns="12700" rIns="0" bIns="0" rtlCol="0" vert="horz">
            <a:spAutoFit/>
          </a:bodyPr>
          <a:lstStyle/>
          <a:p>
            <a:pPr marL="12700">
              <a:lnSpc>
                <a:spcPct val="100000"/>
              </a:lnSpc>
              <a:spcBef>
                <a:spcPts val="100"/>
              </a:spcBef>
            </a:pPr>
            <a:r>
              <a:rPr dirty="0" sz="2400" spc="-20" b="1">
                <a:latin typeface="宋体"/>
                <a:cs typeface="宋体"/>
              </a:rPr>
              <a:t>例</a:t>
            </a:r>
            <a:r>
              <a:rPr dirty="0" sz="2400" spc="-10" b="1">
                <a:latin typeface="Times New Roman"/>
                <a:cs typeface="Times New Roman"/>
              </a:rPr>
              <a:t>6.5</a:t>
            </a:r>
            <a:r>
              <a:rPr dirty="0" sz="2400" spc="-30" b="1">
                <a:latin typeface="宋体"/>
                <a:cs typeface="宋体"/>
              </a:rPr>
              <a:t>的代码段</a:t>
            </a:r>
            <a:endParaRPr sz="2400">
              <a:latin typeface="宋体"/>
              <a:cs typeface="宋体"/>
            </a:endParaRPr>
          </a:p>
        </p:txBody>
      </p:sp>
      <p:sp>
        <p:nvSpPr>
          <p:cNvPr id="10" name="object 10"/>
          <p:cNvSpPr txBox="1">
            <a:spLocks noGrp="1"/>
          </p:cNvSpPr>
          <p:nvPr>
            <p:ph type="title"/>
          </p:nvPr>
        </p:nvSpPr>
        <p:spPr>
          <a:xfrm>
            <a:off x="2035555" y="-19430"/>
            <a:ext cx="4904740" cy="513715"/>
          </a:xfrm>
          <a:prstGeom prst="rect"/>
        </p:spPr>
        <p:txBody>
          <a:bodyPr wrap="square" lIns="0" tIns="12700" rIns="0" bIns="0" rtlCol="0" vert="horz">
            <a:spAutoFit/>
          </a:bodyPr>
          <a:lstStyle/>
          <a:p>
            <a:pPr marL="12700">
              <a:lnSpc>
                <a:spcPct val="100000"/>
              </a:lnSpc>
              <a:spcBef>
                <a:spcPts val="100"/>
              </a:spcBef>
            </a:pPr>
            <a:r>
              <a:rPr dirty="0" u="none"/>
              <a:t>6.4</a:t>
            </a:r>
            <a:r>
              <a:rPr dirty="0" u="none" spc="-10"/>
              <a:t> 显示并行指令计算</a:t>
            </a:r>
            <a:r>
              <a:rPr dirty="0" u="none" spc="-20"/>
              <a:t>EPIC</a:t>
            </a:r>
          </a:p>
        </p:txBody>
      </p:sp>
      <p:graphicFrame>
        <p:nvGraphicFramePr>
          <p:cNvPr id="11" name="object 11" descr=""/>
          <p:cNvGraphicFramePr>
            <a:graphicFrameLocks noGrp="1"/>
          </p:cNvGraphicFramePr>
          <p:nvPr/>
        </p:nvGraphicFramePr>
        <p:xfrm>
          <a:off x="3136900" y="3783076"/>
          <a:ext cx="6283325" cy="2614295"/>
        </p:xfrm>
        <a:graphic>
          <a:graphicData uri="http://schemas.openxmlformats.org/drawingml/2006/table">
            <a:tbl>
              <a:tblPr firstRow="1" bandRow="1">
                <a:tableStyleId>{2D5ABB26-0587-4C30-8999-92F81FD0307C}</a:tableStyleId>
              </a:tblPr>
              <a:tblGrid>
                <a:gridCol w="1019810"/>
                <a:gridCol w="2550794"/>
                <a:gridCol w="2623185"/>
              </a:tblGrid>
              <a:tr h="407034">
                <a:tc>
                  <a:txBody>
                    <a:bodyPr/>
                    <a:lstStyle/>
                    <a:p>
                      <a:pPr algn="ctr">
                        <a:lnSpc>
                          <a:spcPct val="100000"/>
                        </a:lnSpc>
                        <a:spcBef>
                          <a:spcPts val="430"/>
                        </a:spcBef>
                      </a:pPr>
                      <a:r>
                        <a:rPr dirty="0" sz="2000" spc="-30" b="1">
                          <a:solidFill>
                            <a:srgbClr val="E14B04"/>
                          </a:solidFill>
                          <a:latin typeface="宋体"/>
                          <a:cs typeface="宋体"/>
                        </a:rPr>
                        <a:t>周期</a:t>
                      </a:r>
                      <a:endParaRPr sz="2000">
                        <a:latin typeface="宋体"/>
                        <a:cs typeface="宋体"/>
                      </a:endParaRPr>
                    </a:p>
                  </a:txBody>
                  <a:tcPr marL="0" marR="0" marB="0" marT="546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30"/>
                        </a:spcBef>
                      </a:pPr>
                      <a:r>
                        <a:rPr dirty="0" sz="2000" spc="-10" b="1">
                          <a:solidFill>
                            <a:srgbClr val="E14B04"/>
                          </a:solidFill>
                          <a:latin typeface="宋体"/>
                          <a:cs typeface="宋体"/>
                        </a:rPr>
                        <a:t>指令</a:t>
                      </a:r>
                      <a:r>
                        <a:rPr dirty="0" sz="2000" spc="-50" b="1">
                          <a:solidFill>
                            <a:srgbClr val="E14B04"/>
                          </a:solidFill>
                          <a:latin typeface="宋体"/>
                          <a:cs typeface="宋体"/>
                        </a:rPr>
                        <a:t>1</a:t>
                      </a:r>
                      <a:endParaRPr sz="2000">
                        <a:latin typeface="宋体"/>
                        <a:cs typeface="宋体"/>
                      </a:endParaRPr>
                    </a:p>
                  </a:txBody>
                  <a:tcPr marL="0" marR="0" marB="0" marT="546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30"/>
                        </a:spcBef>
                      </a:pPr>
                      <a:r>
                        <a:rPr dirty="0" sz="2000" spc="-10" b="1">
                          <a:solidFill>
                            <a:srgbClr val="E14B04"/>
                          </a:solidFill>
                          <a:latin typeface="宋体"/>
                          <a:cs typeface="宋体"/>
                        </a:rPr>
                        <a:t>指令</a:t>
                      </a:r>
                      <a:r>
                        <a:rPr dirty="0" sz="2000" spc="-50" b="1">
                          <a:solidFill>
                            <a:srgbClr val="E14B04"/>
                          </a:solidFill>
                          <a:latin typeface="宋体"/>
                          <a:cs typeface="宋体"/>
                        </a:rPr>
                        <a:t>2</a:t>
                      </a:r>
                      <a:endParaRPr sz="2000">
                        <a:latin typeface="宋体"/>
                        <a:cs typeface="宋体"/>
                      </a:endParaRPr>
                    </a:p>
                  </a:txBody>
                  <a:tcPr marL="0" marR="0" marB="0" marT="546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72440">
                <a:tc>
                  <a:txBody>
                    <a:bodyPr/>
                    <a:lstStyle/>
                    <a:p>
                      <a:pPr algn="ctr">
                        <a:lnSpc>
                          <a:spcPct val="100000"/>
                        </a:lnSpc>
                        <a:spcBef>
                          <a:spcPts val="430"/>
                        </a:spcBef>
                      </a:pPr>
                      <a:r>
                        <a:rPr dirty="0" sz="2000" spc="-50" b="1">
                          <a:solidFill>
                            <a:srgbClr val="006600"/>
                          </a:solidFill>
                          <a:latin typeface="宋体"/>
                          <a:cs typeface="宋体"/>
                        </a:rPr>
                        <a:t>1</a:t>
                      </a:r>
                      <a:endParaRPr sz="2000">
                        <a:latin typeface="宋体"/>
                        <a:cs typeface="宋体"/>
                      </a:endParaRPr>
                    </a:p>
                  </a:txBody>
                  <a:tcPr marL="0" marR="0" marB="0" marT="54610">
                    <a:lnL w="12700">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430"/>
                        </a:spcBef>
                        <a:tabLst>
                          <a:tab pos="605790" algn="l"/>
                        </a:tabLst>
                      </a:pPr>
                      <a:r>
                        <a:rPr dirty="0" sz="2000" spc="-25" b="1">
                          <a:solidFill>
                            <a:srgbClr val="40458B"/>
                          </a:solidFill>
                          <a:latin typeface="宋体"/>
                          <a:cs typeface="宋体"/>
                        </a:rPr>
                        <a:t>LW</a:t>
                      </a:r>
                      <a:r>
                        <a:rPr dirty="0" sz="2000" b="1">
                          <a:solidFill>
                            <a:srgbClr val="40458B"/>
                          </a:solidFill>
                          <a:latin typeface="宋体"/>
                          <a:cs typeface="宋体"/>
                        </a:rPr>
                        <a:t>	</a:t>
                      </a:r>
                      <a:r>
                        <a:rPr dirty="0" sz="2000" spc="-10" b="1">
                          <a:solidFill>
                            <a:srgbClr val="40458B"/>
                          </a:solidFill>
                          <a:latin typeface="宋体"/>
                          <a:cs typeface="宋体"/>
                        </a:rPr>
                        <a:t>R1，40（R2）</a:t>
                      </a:r>
                      <a:endParaRPr sz="2000">
                        <a:latin typeface="宋体"/>
                        <a:cs typeface="宋体"/>
                      </a:endParaRPr>
                    </a:p>
                  </a:txBody>
                  <a:tcPr marL="0" marR="0" marB="0" marT="54610">
                    <a:lnL w="9525">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430"/>
                        </a:spcBef>
                        <a:tabLst>
                          <a:tab pos="734060" algn="l"/>
                        </a:tabLst>
                      </a:pPr>
                      <a:r>
                        <a:rPr dirty="0" sz="2000" spc="-25" b="1">
                          <a:solidFill>
                            <a:srgbClr val="40458B"/>
                          </a:solidFill>
                          <a:latin typeface="宋体"/>
                          <a:cs typeface="宋体"/>
                        </a:rPr>
                        <a:t>ADD</a:t>
                      </a:r>
                      <a:r>
                        <a:rPr dirty="0" sz="2000" b="1">
                          <a:solidFill>
                            <a:srgbClr val="40458B"/>
                          </a:solidFill>
                          <a:latin typeface="宋体"/>
                          <a:cs typeface="宋体"/>
                        </a:rPr>
                        <a:t>	</a:t>
                      </a:r>
                      <a:r>
                        <a:rPr dirty="0" sz="2000" spc="-10" b="1">
                          <a:solidFill>
                            <a:srgbClr val="40458B"/>
                          </a:solidFill>
                          <a:latin typeface="宋体"/>
                          <a:cs typeface="宋体"/>
                        </a:rPr>
                        <a:t>R3，R4，R5</a:t>
                      </a:r>
                      <a:endParaRPr sz="2000">
                        <a:latin typeface="宋体"/>
                        <a:cs typeface="宋体"/>
                      </a:endParaRPr>
                    </a:p>
                  </a:txBody>
                  <a:tcPr marL="0" marR="0" marB="0" marT="54610">
                    <a:lnL w="952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35609">
                <a:tc>
                  <a:txBody>
                    <a:bodyPr/>
                    <a:lstStyle/>
                    <a:p>
                      <a:pPr algn="ctr">
                        <a:lnSpc>
                          <a:spcPct val="100000"/>
                        </a:lnSpc>
                        <a:spcBef>
                          <a:spcPts val="434"/>
                        </a:spcBef>
                      </a:pPr>
                      <a:r>
                        <a:rPr dirty="0" sz="2000" spc="-50" b="1">
                          <a:solidFill>
                            <a:srgbClr val="006600"/>
                          </a:solidFill>
                          <a:latin typeface="宋体"/>
                          <a:cs typeface="宋体"/>
                        </a:rPr>
                        <a:t>2</a:t>
                      </a:r>
                      <a:endParaRPr sz="2000">
                        <a:latin typeface="宋体"/>
                        <a:cs typeface="宋体"/>
                      </a:endParaRPr>
                    </a:p>
                  </a:txBody>
                  <a:tcPr marL="0" marR="0" marB="0" marT="55244">
                    <a:lnL w="12700">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9525">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434"/>
                        </a:spcBef>
                        <a:tabLst>
                          <a:tab pos="734060" algn="l"/>
                        </a:tabLst>
                      </a:pPr>
                      <a:r>
                        <a:rPr dirty="0" sz="2000" spc="-25" b="1">
                          <a:solidFill>
                            <a:srgbClr val="40458B"/>
                          </a:solidFill>
                          <a:latin typeface="宋体"/>
                          <a:cs typeface="宋体"/>
                        </a:rPr>
                        <a:t>ADD</a:t>
                      </a:r>
                      <a:r>
                        <a:rPr dirty="0" sz="2000" b="1">
                          <a:solidFill>
                            <a:srgbClr val="40458B"/>
                          </a:solidFill>
                          <a:latin typeface="宋体"/>
                          <a:cs typeface="宋体"/>
                        </a:rPr>
                        <a:t>	</a:t>
                      </a:r>
                      <a:r>
                        <a:rPr dirty="0" sz="2000" spc="-10" b="1">
                          <a:solidFill>
                            <a:srgbClr val="40458B"/>
                          </a:solidFill>
                          <a:latin typeface="宋体"/>
                          <a:cs typeface="宋体"/>
                        </a:rPr>
                        <a:t>R6，R3，R7</a:t>
                      </a:r>
                      <a:endParaRPr sz="2000">
                        <a:latin typeface="宋体"/>
                        <a:cs typeface="宋体"/>
                      </a:endParaRPr>
                    </a:p>
                  </a:txBody>
                  <a:tcPr marL="0" marR="0" marB="0" marT="55244">
                    <a:lnL w="952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33070">
                <a:tc>
                  <a:txBody>
                    <a:bodyPr/>
                    <a:lstStyle/>
                    <a:p>
                      <a:pPr algn="ctr">
                        <a:lnSpc>
                          <a:spcPct val="100000"/>
                        </a:lnSpc>
                        <a:spcBef>
                          <a:spcPts val="434"/>
                        </a:spcBef>
                      </a:pPr>
                      <a:r>
                        <a:rPr dirty="0" sz="2000" spc="-50" b="1">
                          <a:solidFill>
                            <a:srgbClr val="006600"/>
                          </a:solidFill>
                          <a:latin typeface="宋体"/>
                          <a:cs typeface="宋体"/>
                        </a:rPr>
                        <a:t>3</a:t>
                      </a:r>
                      <a:endParaRPr sz="2000">
                        <a:latin typeface="宋体"/>
                        <a:cs typeface="宋体"/>
                      </a:endParaRPr>
                    </a:p>
                  </a:txBody>
                  <a:tcPr marL="0" marR="0" marB="0" marT="55244">
                    <a:lnL w="12700">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434"/>
                        </a:spcBef>
                        <a:tabLst>
                          <a:tab pos="862965" algn="l"/>
                        </a:tabLst>
                      </a:pPr>
                      <a:r>
                        <a:rPr dirty="0" sz="2000" spc="-20" b="1">
                          <a:solidFill>
                            <a:srgbClr val="40458B"/>
                          </a:solidFill>
                          <a:latin typeface="宋体"/>
                          <a:cs typeface="宋体"/>
                        </a:rPr>
                        <a:t>BEQZ</a:t>
                      </a:r>
                      <a:r>
                        <a:rPr dirty="0" sz="2000" b="1">
                          <a:solidFill>
                            <a:srgbClr val="40458B"/>
                          </a:solidFill>
                          <a:latin typeface="宋体"/>
                          <a:cs typeface="宋体"/>
                        </a:rPr>
                        <a:t>	</a:t>
                      </a:r>
                      <a:r>
                        <a:rPr dirty="0" sz="2000" spc="-10" b="1">
                          <a:solidFill>
                            <a:srgbClr val="40458B"/>
                          </a:solidFill>
                          <a:latin typeface="宋体"/>
                          <a:cs typeface="宋体"/>
                        </a:rPr>
                        <a:t>R10，L</a:t>
                      </a:r>
                      <a:endParaRPr sz="2000">
                        <a:latin typeface="宋体"/>
                        <a:cs typeface="宋体"/>
                      </a:endParaRPr>
                    </a:p>
                  </a:txBody>
                  <a:tcPr marL="0" marR="0" marB="0" marT="55244">
                    <a:lnL w="9525">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952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33070">
                <a:tc>
                  <a:txBody>
                    <a:bodyPr/>
                    <a:lstStyle/>
                    <a:p>
                      <a:pPr algn="ctr">
                        <a:lnSpc>
                          <a:spcPct val="100000"/>
                        </a:lnSpc>
                        <a:spcBef>
                          <a:spcPts val="434"/>
                        </a:spcBef>
                      </a:pPr>
                      <a:r>
                        <a:rPr dirty="0" sz="2000" spc="-50" b="1">
                          <a:solidFill>
                            <a:srgbClr val="006600"/>
                          </a:solidFill>
                          <a:latin typeface="宋体"/>
                          <a:cs typeface="宋体"/>
                        </a:rPr>
                        <a:t>4</a:t>
                      </a:r>
                      <a:endParaRPr sz="2000">
                        <a:latin typeface="宋体"/>
                        <a:cs typeface="宋体"/>
                      </a:endParaRPr>
                    </a:p>
                  </a:txBody>
                  <a:tcPr marL="0" marR="0" marB="0" marT="55244">
                    <a:lnL w="12700">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434"/>
                        </a:spcBef>
                        <a:tabLst>
                          <a:tab pos="605790" algn="l"/>
                        </a:tabLst>
                      </a:pPr>
                      <a:r>
                        <a:rPr dirty="0" sz="2000" spc="-25" b="1">
                          <a:solidFill>
                            <a:srgbClr val="40458B"/>
                          </a:solidFill>
                          <a:latin typeface="宋体"/>
                          <a:cs typeface="宋体"/>
                        </a:rPr>
                        <a:t>LW</a:t>
                      </a:r>
                      <a:r>
                        <a:rPr dirty="0" sz="2000" b="1">
                          <a:solidFill>
                            <a:srgbClr val="40458B"/>
                          </a:solidFill>
                          <a:latin typeface="宋体"/>
                          <a:cs typeface="宋体"/>
                        </a:rPr>
                        <a:t>	</a:t>
                      </a:r>
                      <a:r>
                        <a:rPr dirty="0" sz="2000" spc="-10" b="1">
                          <a:solidFill>
                            <a:srgbClr val="40458B"/>
                          </a:solidFill>
                          <a:latin typeface="宋体"/>
                          <a:cs typeface="宋体"/>
                        </a:rPr>
                        <a:t>R8，20（R10）</a:t>
                      </a:r>
                      <a:endParaRPr sz="2000">
                        <a:latin typeface="宋体"/>
                        <a:cs typeface="宋体"/>
                      </a:endParaRPr>
                    </a:p>
                  </a:txBody>
                  <a:tcPr marL="0" marR="0" marB="0" marT="55244">
                    <a:lnL w="9525">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952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33070">
                <a:tc>
                  <a:txBody>
                    <a:bodyPr/>
                    <a:lstStyle/>
                    <a:p>
                      <a:pPr algn="ctr">
                        <a:lnSpc>
                          <a:spcPct val="100000"/>
                        </a:lnSpc>
                        <a:spcBef>
                          <a:spcPts val="434"/>
                        </a:spcBef>
                      </a:pPr>
                      <a:r>
                        <a:rPr dirty="0" sz="2000" spc="-50" b="1">
                          <a:solidFill>
                            <a:srgbClr val="006600"/>
                          </a:solidFill>
                          <a:latin typeface="宋体"/>
                          <a:cs typeface="宋体"/>
                        </a:rPr>
                        <a:t>5</a:t>
                      </a:r>
                      <a:endParaRPr sz="2000">
                        <a:latin typeface="宋体"/>
                        <a:cs typeface="宋体"/>
                      </a:endParaRPr>
                    </a:p>
                  </a:txBody>
                  <a:tcPr marL="0" marR="0" marB="0" marT="55244">
                    <a:lnL w="12700">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434"/>
                        </a:spcBef>
                        <a:tabLst>
                          <a:tab pos="605790" algn="l"/>
                        </a:tabLst>
                      </a:pPr>
                      <a:r>
                        <a:rPr dirty="0" sz="2000" spc="-25" b="1">
                          <a:solidFill>
                            <a:srgbClr val="40458B"/>
                          </a:solidFill>
                          <a:latin typeface="宋体"/>
                          <a:cs typeface="宋体"/>
                        </a:rPr>
                        <a:t>LW</a:t>
                      </a:r>
                      <a:r>
                        <a:rPr dirty="0" sz="2000" b="1">
                          <a:solidFill>
                            <a:srgbClr val="40458B"/>
                          </a:solidFill>
                          <a:latin typeface="宋体"/>
                          <a:cs typeface="宋体"/>
                        </a:rPr>
                        <a:t>	</a:t>
                      </a:r>
                      <a:r>
                        <a:rPr dirty="0" sz="2000" spc="-10" b="1">
                          <a:solidFill>
                            <a:srgbClr val="40458B"/>
                          </a:solidFill>
                          <a:latin typeface="宋体"/>
                          <a:cs typeface="宋体"/>
                        </a:rPr>
                        <a:t>R9，0（R8）</a:t>
                      </a:r>
                      <a:endParaRPr sz="2000">
                        <a:latin typeface="宋体"/>
                        <a:cs typeface="宋体"/>
                      </a:endParaRPr>
                    </a:p>
                  </a:txBody>
                  <a:tcPr marL="0" marR="0" marB="0" marT="55244">
                    <a:lnL w="9525">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952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2" name="object 12" descr=""/>
          <p:cNvSpPr txBox="1"/>
          <p:nvPr/>
        </p:nvSpPr>
        <p:spPr>
          <a:xfrm>
            <a:off x="197916" y="736853"/>
            <a:ext cx="11539855" cy="2806065"/>
          </a:xfrm>
          <a:prstGeom prst="rect">
            <a:avLst/>
          </a:prstGeom>
        </p:spPr>
        <p:txBody>
          <a:bodyPr wrap="square" lIns="0" tIns="12700" rIns="0" bIns="0" rtlCol="0" vert="horz">
            <a:spAutoFit/>
          </a:bodyPr>
          <a:lstStyle/>
          <a:p>
            <a:pPr marL="469900" marR="5080" indent="228600">
              <a:lnSpc>
                <a:spcPct val="100000"/>
              </a:lnSpc>
              <a:spcBef>
                <a:spcPts val="100"/>
              </a:spcBef>
            </a:pPr>
            <a:r>
              <a:rPr dirty="0" sz="2400" spc="-20" b="1">
                <a:solidFill>
                  <a:srgbClr val="E14B04"/>
                </a:solidFill>
                <a:latin typeface="宋体"/>
                <a:cs typeface="宋体"/>
              </a:rPr>
              <a:t>例</a:t>
            </a:r>
            <a:r>
              <a:rPr dirty="0" sz="2400" b="1">
                <a:solidFill>
                  <a:srgbClr val="E14B04"/>
                </a:solidFill>
                <a:latin typeface="Times New Roman"/>
                <a:cs typeface="Times New Roman"/>
              </a:rPr>
              <a:t>6.5</a:t>
            </a:r>
            <a:r>
              <a:rPr dirty="0" sz="2400" spc="185" b="1">
                <a:solidFill>
                  <a:srgbClr val="E14B04"/>
                </a:solidFill>
                <a:latin typeface="Times New Roman"/>
                <a:cs typeface="Times New Roman"/>
              </a:rPr>
              <a:t> </a:t>
            </a:r>
            <a:r>
              <a:rPr dirty="0" sz="2400" spc="-20" b="1">
                <a:solidFill>
                  <a:srgbClr val="0000CC"/>
                </a:solidFill>
                <a:latin typeface="宋体"/>
                <a:cs typeface="宋体"/>
              </a:rPr>
              <a:t>假设在一个周期内，某双流出的超标量处理器可以同时执行一个</a:t>
            </a:r>
            <a:r>
              <a:rPr dirty="0" sz="2400" spc="-20" b="1">
                <a:solidFill>
                  <a:srgbClr val="FF0000"/>
                </a:solidFill>
                <a:latin typeface="宋体"/>
                <a:cs typeface="宋体"/>
              </a:rPr>
              <a:t>访存</a:t>
            </a:r>
            <a:r>
              <a:rPr dirty="0" sz="2400" spc="-35" b="1">
                <a:solidFill>
                  <a:srgbClr val="0000CC"/>
                </a:solidFill>
                <a:latin typeface="宋体"/>
                <a:cs typeface="宋体"/>
              </a:rPr>
              <a:t>操作</a:t>
            </a:r>
            <a:r>
              <a:rPr dirty="0" sz="2400" spc="-50" b="1">
                <a:solidFill>
                  <a:srgbClr val="0000CC"/>
                </a:solidFill>
                <a:latin typeface="宋体"/>
                <a:cs typeface="宋体"/>
              </a:rPr>
              <a:t> </a:t>
            </a:r>
            <a:r>
              <a:rPr dirty="0" sz="2400" spc="-20" b="1">
                <a:solidFill>
                  <a:srgbClr val="0000CC"/>
                </a:solidFill>
                <a:latin typeface="宋体"/>
                <a:cs typeface="宋体"/>
              </a:rPr>
              <a:t>和一个</a:t>
            </a:r>
            <a:r>
              <a:rPr dirty="0" sz="2400" spc="-35" b="1">
                <a:solidFill>
                  <a:srgbClr val="FF0000"/>
                </a:solidFill>
                <a:latin typeface="Times New Roman"/>
                <a:cs typeface="Times New Roman"/>
              </a:rPr>
              <a:t>ALU</a:t>
            </a:r>
            <a:r>
              <a:rPr dirty="0" sz="2400" spc="-20" b="1">
                <a:solidFill>
                  <a:srgbClr val="0000CC"/>
                </a:solidFill>
                <a:latin typeface="宋体"/>
                <a:cs typeface="宋体"/>
              </a:rPr>
              <a:t>操作，或者仅执行一个</a:t>
            </a:r>
            <a:r>
              <a:rPr dirty="0" sz="2400" spc="-20" b="1">
                <a:solidFill>
                  <a:srgbClr val="FF0000"/>
                </a:solidFill>
                <a:latin typeface="宋体"/>
                <a:cs typeface="宋体"/>
              </a:rPr>
              <a:t>分支</a:t>
            </a:r>
            <a:r>
              <a:rPr dirty="0" sz="2400" spc="-25" b="1">
                <a:solidFill>
                  <a:srgbClr val="0000CC"/>
                </a:solidFill>
                <a:latin typeface="宋体"/>
                <a:cs typeface="宋体"/>
              </a:rPr>
              <a:t>操作。受此限制，下面这段汇编代码的执行</a:t>
            </a:r>
            <a:r>
              <a:rPr dirty="0" sz="2400" spc="-30" b="1">
                <a:solidFill>
                  <a:srgbClr val="0000CC"/>
                </a:solidFill>
                <a:latin typeface="宋体"/>
                <a:cs typeface="宋体"/>
              </a:rPr>
              <a:t>效率并不高，表现在：</a:t>
            </a:r>
            <a:endParaRPr sz="2400">
              <a:latin typeface="宋体"/>
              <a:cs typeface="宋体"/>
            </a:endParaRPr>
          </a:p>
          <a:p>
            <a:pPr marL="1231265" indent="-761365">
              <a:lnSpc>
                <a:spcPct val="100000"/>
              </a:lnSpc>
              <a:spcBef>
                <a:spcPts val="575"/>
              </a:spcBef>
              <a:buSzPct val="95833"/>
              <a:buAutoNum type="arabicPlain"/>
              <a:tabLst>
                <a:tab pos="1231265" algn="l"/>
              </a:tabLst>
            </a:pPr>
            <a:r>
              <a:rPr dirty="0" sz="2400" spc="-20" b="1">
                <a:solidFill>
                  <a:srgbClr val="0000CC"/>
                </a:solidFill>
                <a:latin typeface="宋体"/>
                <a:cs typeface="宋体"/>
              </a:rPr>
              <a:t>第二个周期只能流出一条</a:t>
            </a:r>
            <a:r>
              <a:rPr dirty="0" sz="2400" spc="-35" b="1">
                <a:solidFill>
                  <a:srgbClr val="FF0000"/>
                </a:solidFill>
                <a:latin typeface="Times New Roman"/>
                <a:cs typeface="Times New Roman"/>
              </a:rPr>
              <a:t>ALU</a:t>
            </a:r>
            <a:r>
              <a:rPr dirty="0" sz="2400" spc="-25" b="1">
                <a:solidFill>
                  <a:srgbClr val="0000CC"/>
                </a:solidFill>
                <a:latin typeface="宋体"/>
                <a:cs typeface="宋体"/>
              </a:rPr>
              <a:t>指令，访存单元空闲；</a:t>
            </a:r>
            <a:endParaRPr sz="2400">
              <a:latin typeface="宋体"/>
              <a:cs typeface="宋体"/>
            </a:endParaRPr>
          </a:p>
          <a:p>
            <a:pPr marL="469900" marR="89535" indent="761365">
              <a:lnSpc>
                <a:spcPct val="100000"/>
              </a:lnSpc>
              <a:spcBef>
                <a:spcPts val="580"/>
              </a:spcBef>
              <a:buSzPct val="95833"/>
              <a:buAutoNum type="arabicPlain"/>
              <a:tabLst>
                <a:tab pos="1231265" algn="l"/>
              </a:tabLst>
            </a:pPr>
            <a:r>
              <a:rPr dirty="0" sz="2400" spc="-20" b="1">
                <a:solidFill>
                  <a:srgbClr val="0000CC"/>
                </a:solidFill>
                <a:latin typeface="宋体"/>
                <a:cs typeface="宋体"/>
              </a:rPr>
              <a:t>当分支转移不成功时，</a:t>
            </a:r>
            <a:r>
              <a:rPr dirty="0" sz="2400" spc="-10" b="1">
                <a:solidFill>
                  <a:srgbClr val="FF0000"/>
                </a:solidFill>
                <a:latin typeface="Times New Roman"/>
                <a:cs typeface="Times New Roman"/>
              </a:rPr>
              <a:t>BEQZ</a:t>
            </a:r>
            <a:r>
              <a:rPr dirty="0" sz="2400" spc="-20" b="1">
                <a:solidFill>
                  <a:srgbClr val="0000CC"/>
                </a:solidFill>
                <a:latin typeface="宋体"/>
                <a:cs typeface="宋体"/>
              </a:rPr>
              <a:t>指令后的两条</a:t>
            </a:r>
            <a:r>
              <a:rPr dirty="0" sz="2400" spc="-120" b="1">
                <a:solidFill>
                  <a:srgbClr val="FF0000"/>
                </a:solidFill>
                <a:latin typeface="Times New Roman"/>
                <a:cs typeface="Times New Roman"/>
              </a:rPr>
              <a:t>LW</a:t>
            </a:r>
            <a:r>
              <a:rPr dirty="0" sz="2400" spc="-25" b="1">
                <a:solidFill>
                  <a:srgbClr val="0000CC"/>
                </a:solidFill>
                <a:latin typeface="宋体"/>
                <a:cs typeface="宋体"/>
              </a:rPr>
              <a:t>指令之间存在的数据相关将引</a:t>
            </a:r>
            <a:r>
              <a:rPr dirty="0" sz="2400" spc="-30" b="1">
                <a:solidFill>
                  <a:srgbClr val="0000CC"/>
                </a:solidFill>
                <a:latin typeface="宋体"/>
                <a:cs typeface="宋体"/>
              </a:rPr>
              <a:t>起流水线暂停。</a:t>
            </a:r>
            <a:endParaRPr sz="2400">
              <a:latin typeface="宋体"/>
              <a:cs typeface="宋体"/>
            </a:endParaRPr>
          </a:p>
          <a:p>
            <a:pPr marL="12700">
              <a:lnSpc>
                <a:spcPct val="100000"/>
              </a:lnSpc>
              <a:spcBef>
                <a:spcPts val="575"/>
              </a:spcBef>
            </a:pPr>
            <a:r>
              <a:rPr dirty="0" sz="2400" spc="-25" b="1">
                <a:solidFill>
                  <a:srgbClr val="0000CC"/>
                </a:solidFill>
                <a:latin typeface="宋体"/>
                <a:cs typeface="宋体"/>
              </a:rPr>
              <a:t>试通过谓词执行机制解决这两个问题，减少此段代码的执行开销。</a:t>
            </a:r>
            <a:endParaRPr sz="2400">
              <a:latin typeface="宋体"/>
              <a:cs typeface="宋体"/>
            </a:endParaRPr>
          </a:p>
        </p:txBody>
      </p:sp>
      <p:sp>
        <p:nvSpPr>
          <p:cNvPr id="13" name="object 13" descr=""/>
          <p:cNvSpPr txBox="1"/>
          <p:nvPr/>
        </p:nvSpPr>
        <p:spPr>
          <a:xfrm>
            <a:off x="8480806" y="57734"/>
            <a:ext cx="2339340" cy="422909"/>
          </a:xfrm>
          <a:prstGeom prst="rect">
            <a:avLst/>
          </a:prstGeom>
        </p:spPr>
        <p:txBody>
          <a:bodyPr wrap="square" lIns="0" tIns="13335" rIns="0" bIns="0" rtlCol="0" vert="horz">
            <a:spAutoFit/>
          </a:bodyPr>
          <a:lstStyle/>
          <a:p>
            <a:pPr marL="12700">
              <a:lnSpc>
                <a:spcPct val="100000"/>
              </a:lnSpc>
              <a:spcBef>
                <a:spcPts val="105"/>
              </a:spcBef>
            </a:pPr>
            <a:r>
              <a:rPr dirty="0" sz="2600">
                <a:solidFill>
                  <a:srgbClr val="0000CC"/>
                </a:solidFill>
                <a:latin typeface="黑体"/>
                <a:cs typeface="黑体"/>
              </a:rPr>
              <a:t>6.4.2</a:t>
            </a:r>
            <a:r>
              <a:rPr dirty="0" sz="2600" spc="-30">
                <a:solidFill>
                  <a:srgbClr val="0000CC"/>
                </a:solidFill>
                <a:latin typeface="黑体"/>
                <a:cs typeface="黑体"/>
              </a:rPr>
              <a:t> 谓词执行</a:t>
            </a:r>
            <a:endParaRPr sz="2600">
              <a:latin typeface="黑体"/>
              <a:cs typeface="黑体"/>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62/89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366166" y="864589"/>
            <a:ext cx="11904345" cy="1233805"/>
          </a:xfrm>
          <a:prstGeom prst="rect">
            <a:avLst/>
          </a:prstGeom>
        </p:spPr>
        <p:txBody>
          <a:bodyPr wrap="square" lIns="0" tIns="13335" rIns="0" bIns="0" rtlCol="0" vert="horz">
            <a:spAutoFit/>
          </a:bodyPr>
          <a:lstStyle/>
          <a:p>
            <a:pPr marL="12700" marR="5080" indent="229870">
              <a:lnSpc>
                <a:spcPct val="110000"/>
              </a:lnSpc>
              <a:spcBef>
                <a:spcPts val="105"/>
              </a:spcBef>
            </a:pPr>
            <a:r>
              <a:rPr dirty="0" sz="2400" spc="-210" b="1">
                <a:solidFill>
                  <a:srgbClr val="E14B04"/>
                </a:solidFill>
                <a:latin typeface="宋体"/>
                <a:cs typeface="宋体"/>
              </a:rPr>
              <a:t>解 </a:t>
            </a:r>
            <a:r>
              <a:rPr dirty="0" sz="2400" spc="-25" b="1">
                <a:latin typeface="宋体"/>
                <a:cs typeface="宋体"/>
              </a:rPr>
              <a:t>我们用</a:t>
            </a:r>
            <a:r>
              <a:rPr dirty="0" sz="2400" spc="-20" b="1">
                <a:solidFill>
                  <a:srgbClr val="6600FF"/>
                </a:solidFill>
                <a:latin typeface="Times New Roman"/>
                <a:cs typeface="Times New Roman"/>
              </a:rPr>
              <a:t>LWC</a:t>
            </a:r>
            <a:r>
              <a:rPr dirty="0" sz="2400" spc="-25" b="1">
                <a:latin typeface="宋体"/>
                <a:cs typeface="宋体"/>
              </a:rPr>
              <a:t>表示带谓词的</a:t>
            </a:r>
            <a:r>
              <a:rPr dirty="0" sz="2400" spc="-10" b="1">
                <a:solidFill>
                  <a:srgbClr val="6600FF"/>
                </a:solidFill>
                <a:latin typeface="Times New Roman"/>
                <a:cs typeface="Times New Roman"/>
              </a:rPr>
              <a:t>LW</a:t>
            </a:r>
            <a:r>
              <a:rPr dirty="0" sz="2400" spc="-25" b="1">
                <a:latin typeface="宋体"/>
                <a:cs typeface="宋体"/>
              </a:rPr>
              <a:t>指令，并假设该指令的执行条件为</a:t>
            </a:r>
            <a:r>
              <a:rPr dirty="0" sz="2400" spc="-25" b="1">
                <a:solidFill>
                  <a:srgbClr val="FF0000"/>
                </a:solidFill>
                <a:latin typeface="宋体"/>
                <a:cs typeface="宋体"/>
              </a:rPr>
              <a:t>谓词不等于</a:t>
            </a:r>
            <a:r>
              <a:rPr dirty="0" sz="2400" spc="-10" b="1">
                <a:solidFill>
                  <a:srgbClr val="FF0000"/>
                </a:solidFill>
                <a:latin typeface="Times New Roman"/>
                <a:cs typeface="Times New Roman"/>
              </a:rPr>
              <a:t>0</a:t>
            </a:r>
            <a:r>
              <a:rPr dirty="0" sz="2400" spc="-35" b="1">
                <a:latin typeface="宋体"/>
                <a:cs typeface="宋体"/>
              </a:rPr>
              <a:t>。这</a:t>
            </a:r>
            <a:r>
              <a:rPr dirty="0" sz="2400" spc="-50" b="1">
                <a:latin typeface="宋体"/>
                <a:cs typeface="宋体"/>
              </a:rPr>
              <a:t>  </a:t>
            </a:r>
            <a:r>
              <a:rPr dirty="0" sz="2400" spc="-20" b="1">
                <a:latin typeface="宋体"/>
                <a:cs typeface="宋体"/>
              </a:rPr>
              <a:t>样，</a:t>
            </a:r>
            <a:r>
              <a:rPr dirty="0" sz="2400" spc="-10" b="1">
                <a:solidFill>
                  <a:srgbClr val="6600FF"/>
                </a:solidFill>
                <a:latin typeface="Times New Roman"/>
                <a:cs typeface="Times New Roman"/>
              </a:rPr>
              <a:t>BEQZ</a:t>
            </a:r>
            <a:r>
              <a:rPr dirty="0" sz="2400" spc="-20" b="1">
                <a:latin typeface="宋体"/>
                <a:cs typeface="宋体"/>
              </a:rPr>
              <a:t>后的第一条</a:t>
            </a:r>
            <a:r>
              <a:rPr dirty="0" sz="2400" spc="-10" b="1">
                <a:solidFill>
                  <a:srgbClr val="6600FF"/>
                </a:solidFill>
                <a:latin typeface="Times New Roman"/>
                <a:cs typeface="Times New Roman"/>
              </a:rPr>
              <a:t>LW</a:t>
            </a:r>
            <a:r>
              <a:rPr dirty="0" sz="2400" spc="-20" b="1">
                <a:latin typeface="宋体"/>
                <a:cs typeface="宋体"/>
              </a:rPr>
              <a:t>指令就可以被转换为</a:t>
            </a:r>
            <a:r>
              <a:rPr dirty="0" sz="2400" spc="-35" b="1">
                <a:solidFill>
                  <a:srgbClr val="6600FF"/>
                </a:solidFill>
                <a:latin typeface="Times New Roman"/>
                <a:cs typeface="Times New Roman"/>
              </a:rPr>
              <a:t>LWC</a:t>
            </a:r>
            <a:r>
              <a:rPr dirty="0" sz="2400" spc="-30" b="1">
                <a:latin typeface="宋体"/>
                <a:cs typeface="宋体"/>
              </a:rPr>
              <a:t>指令，并被调度到第二个周期执行，如下所示：</a:t>
            </a:r>
            <a:endParaRPr sz="2400">
              <a:latin typeface="宋体"/>
              <a:cs typeface="宋体"/>
            </a:endParaRPr>
          </a:p>
        </p:txBody>
      </p:sp>
      <p:sp>
        <p:nvSpPr>
          <p:cNvPr id="10" name="object 10" descr=""/>
          <p:cNvSpPr txBox="1"/>
          <p:nvPr/>
        </p:nvSpPr>
        <p:spPr>
          <a:xfrm>
            <a:off x="2630804" y="127838"/>
            <a:ext cx="4905375" cy="514350"/>
          </a:xfrm>
          <a:prstGeom prst="rect">
            <a:avLst/>
          </a:prstGeom>
        </p:spPr>
        <p:txBody>
          <a:bodyPr wrap="square" lIns="0" tIns="13335" rIns="0" bIns="0" rtlCol="0" vert="horz">
            <a:spAutoFit/>
          </a:bodyPr>
          <a:lstStyle/>
          <a:p>
            <a:pPr marL="12700">
              <a:lnSpc>
                <a:spcPct val="100000"/>
              </a:lnSpc>
              <a:spcBef>
                <a:spcPts val="105"/>
              </a:spcBef>
            </a:pPr>
            <a:r>
              <a:rPr dirty="0" sz="3200">
                <a:solidFill>
                  <a:srgbClr val="4F55AC"/>
                </a:solidFill>
                <a:latin typeface="黑体"/>
                <a:cs typeface="黑体"/>
              </a:rPr>
              <a:t>6.4</a:t>
            </a:r>
            <a:r>
              <a:rPr dirty="0" sz="3200" spc="-20">
                <a:solidFill>
                  <a:srgbClr val="4F55AC"/>
                </a:solidFill>
                <a:latin typeface="黑体"/>
                <a:cs typeface="黑体"/>
              </a:rPr>
              <a:t> 显示并行指令计算EPIC</a:t>
            </a:r>
            <a:endParaRPr sz="3200">
              <a:latin typeface="黑体"/>
              <a:cs typeface="黑体"/>
            </a:endParaRPr>
          </a:p>
        </p:txBody>
      </p:sp>
      <p:graphicFrame>
        <p:nvGraphicFramePr>
          <p:cNvPr id="11" name="object 11" descr=""/>
          <p:cNvGraphicFramePr>
            <a:graphicFrameLocks noGrp="1"/>
          </p:cNvGraphicFramePr>
          <p:nvPr/>
        </p:nvGraphicFramePr>
        <p:xfrm>
          <a:off x="4913376" y="2586101"/>
          <a:ext cx="7219950" cy="2063750"/>
        </p:xfrm>
        <a:graphic>
          <a:graphicData uri="http://schemas.openxmlformats.org/drawingml/2006/table">
            <a:tbl>
              <a:tblPr firstRow="1" bandRow="1">
                <a:tableStyleId>{2D5ABB26-0587-4C30-8999-92F81FD0307C}</a:tableStyleId>
              </a:tblPr>
              <a:tblGrid>
                <a:gridCol w="1411605"/>
                <a:gridCol w="3126740"/>
                <a:gridCol w="2593339"/>
              </a:tblGrid>
              <a:tr h="395605">
                <a:tc>
                  <a:txBody>
                    <a:bodyPr/>
                    <a:lstStyle/>
                    <a:p>
                      <a:pPr algn="ctr">
                        <a:lnSpc>
                          <a:spcPct val="100000"/>
                        </a:lnSpc>
                        <a:spcBef>
                          <a:spcPts val="425"/>
                        </a:spcBef>
                      </a:pPr>
                      <a:r>
                        <a:rPr dirty="0" sz="2000" spc="-35" b="1">
                          <a:solidFill>
                            <a:srgbClr val="E14B04"/>
                          </a:solidFill>
                          <a:latin typeface="宋体"/>
                          <a:cs typeface="宋体"/>
                        </a:rPr>
                        <a:t>周期</a:t>
                      </a:r>
                      <a:endParaRPr sz="2000">
                        <a:latin typeface="宋体"/>
                        <a:cs typeface="宋体"/>
                      </a:endParaRPr>
                    </a:p>
                  </a:txBody>
                  <a:tcPr marL="0" marR="0" marB="0" marT="539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25"/>
                        </a:spcBef>
                      </a:pPr>
                      <a:r>
                        <a:rPr dirty="0" sz="2000" spc="-15" b="1">
                          <a:solidFill>
                            <a:srgbClr val="E14B04"/>
                          </a:solidFill>
                          <a:latin typeface="宋体"/>
                          <a:cs typeface="宋体"/>
                        </a:rPr>
                        <a:t>指令</a:t>
                      </a:r>
                      <a:r>
                        <a:rPr dirty="0" sz="2000" spc="-50" b="1">
                          <a:solidFill>
                            <a:srgbClr val="E14B04"/>
                          </a:solidFill>
                          <a:latin typeface="宋体"/>
                          <a:cs typeface="宋体"/>
                        </a:rPr>
                        <a:t>1</a:t>
                      </a:r>
                      <a:endParaRPr sz="2000">
                        <a:latin typeface="宋体"/>
                        <a:cs typeface="宋体"/>
                      </a:endParaRPr>
                    </a:p>
                  </a:txBody>
                  <a:tcPr marL="0" marR="0" marB="0" marT="539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25"/>
                        </a:spcBef>
                      </a:pPr>
                      <a:r>
                        <a:rPr dirty="0" sz="2000" spc="-15" b="1">
                          <a:solidFill>
                            <a:srgbClr val="E14B04"/>
                          </a:solidFill>
                          <a:latin typeface="宋体"/>
                          <a:cs typeface="宋体"/>
                        </a:rPr>
                        <a:t>指令</a:t>
                      </a:r>
                      <a:r>
                        <a:rPr dirty="0" sz="2000" spc="-50" b="1">
                          <a:solidFill>
                            <a:srgbClr val="E14B04"/>
                          </a:solidFill>
                          <a:latin typeface="宋体"/>
                          <a:cs typeface="宋体"/>
                        </a:rPr>
                        <a:t>2</a:t>
                      </a:r>
                      <a:endParaRPr sz="2000">
                        <a:latin typeface="宋体"/>
                        <a:cs typeface="宋体"/>
                      </a:endParaRPr>
                    </a:p>
                  </a:txBody>
                  <a:tcPr marL="0" marR="0" marB="0" marT="539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96240">
                <a:tc>
                  <a:txBody>
                    <a:bodyPr/>
                    <a:lstStyle/>
                    <a:p>
                      <a:pPr algn="ctr">
                        <a:lnSpc>
                          <a:spcPct val="100000"/>
                        </a:lnSpc>
                        <a:spcBef>
                          <a:spcPts val="430"/>
                        </a:spcBef>
                      </a:pPr>
                      <a:r>
                        <a:rPr dirty="0" sz="2000" spc="-50" b="1">
                          <a:solidFill>
                            <a:srgbClr val="006600"/>
                          </a:solidFill>
                          <a:latin typeface="宋体"/>
                          <a:cs typeface="宋体"/>
                        </a:rPr>
                        <a:t>1</a:t>
                      </a:r>
                      <a:endParaRPr sz="2000">
                        <a:latin typeface="宋体"/>
                        <a:cs typeface="宋体"/>
                      </a:endParaRPr>
                    </a:p>
                  </a:txBody>
                  <a:tcPr marL="0" marR="0" marB="0" marT="54610">
                    <a:lnL w="12700">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430"/>
                        </a:spcBef>
                        <a:tabLst>
                          <a:tab pos="606425" algn="l"/>
                        </a:tabLst>
                      </a:pPr>
                      <a:r>
                        <a:rPr dirty="0" sz="2000" spc="-25" b="1">
                          <a:solidFill>
                            <a:srgbClr val="40458B"/>
                          </a:solidFill>
                          <a:latin typeface="宋体"/>
                          <a:cs typeface="宋体"/>
                        </a:rPr>
                        <a:t>LW</a:t>
                      </a:r>
                      <a:r>
                        <a:rPr dirty="0" sz="2000" b="1">
                          <a:solidFill>
                            <a:srgbClr val="40458B"/>
                          </a:solidFill>
                          <a:latin typeface="宋体"/>
                          <a:cs typeface="宋体"/>
                        </a:rPr>
                        <a:t>	</a:t>
                      </a:r>
                      <a:r>
                        <a:rPr dirty="0" sz="2000" spc="-10" b="1">
                          <a:solidFill>
                            <a:srgbClr val="40458B"/>
                          </a:solidFill>
                          <a:latin typeface="宋体"/>
                          <a:cs typeface="宋体"/>
                        </a:rPr>
                        <a:t>R1，40（R2）</a:t>
                      </a:r>
                      <a:endParaRPr sz="2000">
                        <a:latin typeface="宋体"/>
                        <a:cs typeface="宋体"/>
                      </a:endParaRPr>
                    </a:p>
                  </a:txBody>
                  <a:tcPr marL="0" marR="0" marB="0" marT="54610">
                    <a:lnL w="9525">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430"/>
                        </a:spcBef>
                        <a:tabLst>
                          <a:tab pos="734060" algn="l"/>
                        </a:tabLst>
                      </a:pPr>
                      <a:r>
                        <a:rPr dirty="0" sz="2000" spc="-25" b="1">
                          <a:solidFill>
                            <a:srgbClr val="40458B"/>
                          </a:solidFill>
                          <a:latin typeface="宋体"/>
                          <a:cs typeface="宋体"/>
                        </a:rPr>
                        <a:t>ADD</a:t>
                      </a:r>
                      <a:r>
                        <a:rPr dirty="0" sz="2000" b="1">
                          <a:solidFill>
                            <a:srgbClr val="40458B"/>
                          </a:solidFill>
                          <a:latin typeface="宋体"/>
                          <a:cs typeface="宋体"/>
                        </a:rPr>
                        <a:t>	</a:t>
                      </a:r>
                      <a:r>
                        <a:rPr dirty="0" sz="2000" spc="-10" b="1">
                          <a:solidFill>
                            <a:srgbClr val="40458B"/>
                          </a:solidFill>
                          <a:latin typeface="宋体"/>
                          <a:cs typeface="宋体"/>
                        </a:rPr>
                        <a:t>R3，R4，R5</a:t>
                      </a:r>
                      <a:endParaRPr sz="2000">
                        <a:latin typeface="宋体"/>
                        <a:cs typeface="宋体"/>
                      </a:endParaRPr>
                    </a:p>
                  </a:txBody>
                  <a:tcPr marL="0" marR="0" marB="0" marT="54610">
                    <a:lnL w="952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96240">
                <a:tc>
                  <a:txBody>
                    <a:bodyPr/>
                    <a:lstStyle/>
                    <a:p>
                      <a:pPr algn="ctr">
                        <a:lnSpc>
                          <a:spcPct val="100000"/>
                        </a:lnSpc>
                        <a:spcBef>
                          <a:spcPts val="430"/>
                        </a:spcBef>
                      </a:pPr>
                      <a:r>
                        <a:rPr dirty="0" sz="2000" spc="-50" b="1">
                          <a:solidFill>
                            <a:srgbClr val="006600"/>
                          </a:solidFill>
                          <a:latin typeface="宋体"/>
                          <a:cs typeface="宋体"/>
                        </a:rPr>
                        <a:t>2</a:t>
                      </a:r>
                      <a:endParaRPr sz="2000">
                        <a:latin typeface="宋体"/>
                        <a:cs typeface="宋体"/>
                      </a:endParaRPr>
                    </a:p>
                  </a:txBody>
                  <a:tcPr marL="0" marR="0" marB="0" marT="54610">
                    <a:lnL w="12700">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430"/>
                        </a:spcBef>
                      </a:pPr>
                      <a:r>
                        <a:rPr dirty="0" sz="2000" b="1">
                          <a:solidFill>
                            <a:srgbClr val="FF0000"/>
                          </a:solidFill>
                          <a:latin typeface="宋体"/>
                          <a:cs typeface="宋体"/>
                        </a:rPr>
                        <a:t>LWC</a:t>
                      </a:r>
                      <a:r>
                        <a:rPr dirty="0" sz="2000" spc="-50" b="1">
                          <a:solidFill>
                            <a:srgbClr val="FF0000"/>
                          </a:solidFill>
                          <a:latin typeface="宋体"/>
                          <a:cs typeface="宋体"/>
                        </a:rPr>
                        <a:t> </a:t>
                      </a:r>
                      <a:r>
                        <a:rPr dirty="0" sz="2000" spc="-10" b="1">
                          <a:solidFill>
                            <a:srgbClr val="FF0000"/>
                          </a:solidFill>
                          <a:latin typeface="宋体"/>
                          <a:cs typeface="宋体"/>
                        </a:rPr>
                        <a:t>R8，20（R10），R10</a:t>
                      </a:r>
                      <a:endParaRPr sz="2000">
                        <a:latin typeface="宋体"/>
                        <a:cs typeface="宋体"/>
                      </a:endParaRPr>
                    </a:p>
                  </a:txBody>
                  <a:tcPr marL="0" marR="0" marB="0" marT="54610">
                    <a:lnL w="9525">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430"/>
                        </a:spcBef>
                        <a:tabLst>
                          <a:tab pos="734060" algn="l"/>
                        </a:tabLst>
                      </a:pPr>
                      <a:r>
                        <a:rPr dirty="0" sz="2000" spc="-25" b="1">
                          <a:solidFill>
                            <a:srgbClr val="40458B"/>
                          </a:solidFill>
                          <a:latin typeface="宋体"/>
                          <a:cs typeface="宋体"/>
                        </a:rPr>
                        <a:t>ADD</a:t>
                      </a:r>
                      <a:r>
                        <a:rPr dirty="0" sz="2000" b="1">
                          <a:solidFill>
                            <a:srgbClr val="40458B"/>
                          </a:solidFill>
                          <a:latin typeface="宋体"/>
                          <a:cs typeface="宋体"/>
                        </a:rPr>
                        <a:t>	</a:t>
                      </a:r>
                      <a:r>
                        <a:rPr dirty="0" sz="2000" spc="-10" b="1">
                          <a:solidFill>
                            <a:srgbClr val="40458B"/>
                          </a:solidFill>
                          <a:latin typeface="宋体"/>
                          <a:cs typeface="宋体"/>
                        </a:rPr>
                        <a:t>R6，R3，R7</a:t>
                      </a:r>
                      <a:endParaRPr sz="2000">
                        <a:latin typeface="宋体"/>
                        <a:cs typeface="宋体"/>
                      </a:endParaRPr>
                    </a:p>
                  </a:txBody>
                  <a:tcPr marL="0" marR="0" marB="0" marT="54610">
                    <a:lnL w="952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26720">
                <a:tc>
                  <a:txBody>
                    <a:bodyPr/>
                    <a:lstStyle/>
                    <a:p>
                      <a:pPr algn="ctr">
                        <a:lnSpc>
                          <a:spcPct val="100000"/>
                        </a:lnSpc>
                        <a:spcBef>
                          <a:spcPts val="430"/>
                        </a:spcBef>
                      </a:pPr>
                      <a:r>
                        <a:rPr dirty="0" sz="2000" spc="-50" b="1">
                          <a:solidFill>
                            <a:srgbClr val="006600"/>
                          </a:solidFill>
                          <a:latin typeface="宋体"/>
                          <a:cs typeface="宋体"/>
                        </a:rPr>
                        <a:t>3</a:t>
                      </a:r>
                      <a:endParaRPr sz="2000">
                        <a:latin typeface="宋体"/>
                        <a:cs typeface="宋体"/>
                      </a:endParaRPr>
                    </a:p>
                  </a:txBody>
                  <a:tcPr marL="0" marR="0" marB="0" marT="54610">
                    <a:lnL w="12700">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430"/>
                        </a:spcBef>
                        <a:tabLst>
                          <a:tab pos="863600" algn="l"/>
                        </a:tabLst>
                      </a:pPr>
                      <a:r>
                        <a:rPr dirty="0" sz="2000" spc="-20" b="1">
                          <a:solidFill>
                            <a:srgbClr val="40458B"/>
                          </a:solidFill>
                          <a:latin typeface="宋体"/>
                          <a:cs typeface="宋体"/>
                        </a:rPr>
                        <a:t>BEQZ</a:t>
                      </a:r>
                      <a:r>
                        <a:rPr dirty="0" sz="2000" b="1">
                          <a:solidFill>
                            <a:srgbClr val="40458B"/>
                          </a:solidFill>
                          <a:latin typeface="宋体"/>
                          <a:cs typeface="宋体"/>
                        </a:rPr>
                        <a:t>	</a:t>
                      </a:r>
                      <a:r>
                        <a:rPr dirty="0" sz="2000" spc="-10" b="1">
                          <a:solidFill>
                            <a:srgbClr val="40458B"/>
                          </a:solidFill>
                          <a:latin typeface="宋体"/>
                          <a:cs typeface="宋体"/>
                        </a:rPr>
                        <a:t>R10，L</a:t>
                      </a:r>
                      <a:endParaRPr sz="2000">
                        <a:latin typeface="宋体"/>
                        <a:cs typeface="宋体"/>
                      </a:endParaRPr>
                    </a:p>
                  </a:txBody>
                  <a:tcPr marL="0" marR="0" marB="0" marT="54610">
                    <a:lnL w="9525">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B="0" marT="0">
                    <a:lnL w="952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48945">
                <a:tc>
                  <a:txBody>
                    <a:bodyPr/>
                    <a:lstStyle/>
                    <a:p>
                      <a:pPr algn="ctr">
                        <a:lnSpc>
                          <a:spcPct val="100000"/>
                        </a:lnSpc>
                        <a:spcBef>
                          <a:spcPts val="430"/>
                        </a:spcBef>
                      </a:pPr>
                      <a:r>
                        <a:rPr dirty="0" sz="2000" spc="-50" b="1">
                          <a:solidFill>
                            <a:srgbClr val="006600"/>
                          </a:solidFill>
                          <a:latin typeface="宋体"/>
                          <a:cs typeface="宋体"/>
                        </a:rPr>
                        <a:t>4</a:t>
                      </a:r>
                      <a:endParaRPr sz="2000">
                        <a:latin typeface="宋体"/>
                        <a:cs typeface="宋体"/>
                      </a:endParaRPr>
                    </a:p>
                  </a:txBody>
                  <a:tcPr marL="0" marR="0" marB="0" marT="54610">
                    <a:lnL w="12700">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430"/>
                        </a:spcBef>
                        <a:tabLst>
                          <a:tab pos="606425" algn="l"/>
                        </a:tabLst>
                      </a:pPr>
                      <a:r>
                        <a:rPr dirty="0" sz="2000" spc="-25" b="1">
                          <a:solidFill>
                            <a:srgbClr val="40458B"/>
                          </a:solidFill>
                          <a:latin typeface="宋体"/>
                          <a:cs typeface="宋体"/>
                        </a:rPr>
                        <a:t>LW</a:t>
                      </a:r>
                      <a:r>
                        <a:rPr dirty="0" sz="2000" b="1">
                          <a:solidFill>
                            <a:srgbClr val="40458B"/>
                          </a:solidFill>
                          <a:latin typeface="宋体"/>
                          <a:cs typeface="宋体"/>
                        </a:rPr>
                        <a:t>	</a:t>
                      </a:r>
                      <a:r>
                        <a:rPr dirty="0" sz="2000" spc="-10" b="1">
                          <a:solidFill>
                            <a:srgbClr val="40458B"/>
                          </a:solidFill>
                          <a:latin typeface="宋体"/>
                          <a:cs typeface="宋体"/>
                        </a:rPr>
                        <a:t>R9，0（R8）</a:t>
                      </a:r>
                      <a:endParaRPr sz="2000">
                        <a:latin typeface="宋体"/>
                        <a:cs typeface="宋体"/>
                      </a:endParaRPr>
                    </a:p>
                  </a:txBody>
                  <a:tcPr marL="0" marR="0" marB="0" marT="54610">
                    <a:lnL w="9525">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B="0" marT="0">
                    <a:lnL w="952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grpSp>
        <p:nvGrpSpPr>
          <p:cNvPr id="12" name="object 12" descr=""/>
          <p:cNvGrpSpPr/>
          <p:nvPr/>
        </p:nvGrpSpPr>
        <p:grpSpPr>
          <a:xfrm>
            <a:off x="4291012" y="3352736"/>
            <a:ext cx="514350" cy="297180"/>
            <a:chOff x="4291012" y="3352736"/>
            <a:chExt cx="514350" cy="297180"/>
          </a:xfrm>
        </p:grpSpPr>
        <p:sp>
          <p:nvSpPr>
            <p:cNvPr id="13" name="object 13" descr=""/>
            <p:cNvSpPr/>
            <p:nvPr/>
          </p:nvSpPr>
          <p:spPr>
            <a:xfrm>
              <a:off x="4295775" y="3357498"/>
              <a:ext cx="504825" cy="287655"/>
            </a:xfrm>
            <a:custGeom>
              <a:avLst/>
              <a:gdLst/>
              <a:ahLst/>
              <a:cxnLst/>
              <a:rect l="l" t="t" r="r" b="b"/>
              <a:pathLst>
                <a:path w="504825" h="287654">
                  <a:moveTo>
                    <a:pt x="360552" y="0"/>
                  </a:moveTo>
                  <a:lnTo>
                    <a:pt x="360552" y="71881"/>
                  </a:lnTo>
                  <a:lnTo>
                    <a:pt x="0" y="71881"/>
                  </a:lnTo>
                  <a:lnTo>
                    <a:pt x="0" y="215518"/>
                  </a:lnTo>
                  <a:lnTo>
                    <a:pt x="360552" y="215518"/>
                  </a:lnTo>
                  <a:lnTo>
                    <a:pt x="360552" y="287400"/>
                  </a:lnTo>
                  <a:lnTo>
                    <a:pt x="504825" y="143763"/>
                  </a:lnTo>
                  <a:lnTo>
                    <a:pt x="360552" y="0"/>
                  </a:lnTo>
                  <a:close/>
                </a:path>
              </a:pathLst>
            </a:custGeom>
            <a:solidFill>
              <a:srgbClr val="EBD782"/>
            </a:solidFill>
          </p:spPr>
          <p:txBody>
            <a:bodyPr wrap="square" lIns="0" tIns="0" rIns="0" bIns="0" rtlCol="0"/>
            <a:lstStyle/>
            <a:p/>
          </p:txBody>
        </p:sp>
        <p:sp>
          <p:nvSpPr>
            <p:cNvPr id="14" name="object 14" descr=""/>
            <p:cNvSpPr/>
            <p:nvPr/>
          </p:nvSpPr>
          <p:spPr>
            <a:xfrm>
              <a:off x="4295775" y="3357498"/>
              <a:ext cx="504825" cy="287655"/>
            </a:xfrm>
            <a:custGeom>
              <a:avLst/>
              <a:gdLst/>
              <a:ahLst/>
              <a:cxnLst/>
              <a:rect l="l" t="t" r="r" b="b"/>
              <a:pathLst>
                <a:path w="504825" h="287654">
                  <a:moveTo>
                    <a:pt x="0" y="71881"/>
                  </a:moveTo>
                  <a:lnTo>
                    <a:pt x="360552" y="71881"/>
                  </a:lnTo>
                  <a:lnTo>
                    <a:pt x="360552" y="0"/>
                  </a:lnTo>
                  <a:lnTo>
                    <a:pt x="504825" y="143763"/>
                  </a:lnTo>
                  <a:lnTo>
                    <a:pt x="360552" y="287400"/>
                  </a:lnTo>
                  <a:lnTo>
                    <a:pt x="360552" y="215518"/>
                  </a:lnTo>
                  <a:lnTo>
                    <a:pt x="0" y="215518"/>
                  </a:lnTo>
                  <a:lnTo>
                    <a:pt x="0" y="71881"/>
                  </a:lnTo>
                  <a:close/>
                </a:path>
              </a:pathLst>
            </a:custGeom>
            <a:ln w="9524">
              <a:solidFill>
                <a:srgbClr val="40458B"/>
              </a:solidFill>
            </a:ln>
          </p:spPr>
          <p:txBody>
            <a:bodyPr wrap="square" lIns="0" tIns="0" rIns="0" bIns="0" rtlCol="0"/>
            <a:lstStyle/>
            <a:p/>
          </p:txBody>
        </p:sp>
      </p:grpSp>
      <p:pic>
        <p:nvPicPr>
          <p:cNvPr id="15" name="object 15" descr=""/>
          <p:cNvPicPr/>
          <p:nvPr/>
        </p:nvPicPr>
        <p:blipFill>
          <a:blip r:embed="rId3" cstate="print"/>
          <a:stretch>
            <a:fillRect/>
          </a:stretch>
        </p:blipFill>
        <p:spPr>
          <a:xfrm>
            <a:off x="175645" y="2133600"/>
            <a:ext cx="4010174" cy="2334976"/>
          </a:xfrm>
          <a:prstGeom prst="rect">
            <a:avLst/>
          </a:prstGeom>
        </p:spPr>
      </p:pic>
      <p:sp>
        <p:nvSpPr>
          <p:cNvPr id="16" name="object 16" descr=""/>
          <p:cNvSpPr txBox="1"/>
          <p:nvPr/>
        </p:nvSpPr>
        <p:spPr>
          <a:xfrm>
            <a:off x="2711957" y="3718686"/>
            <a:ext cx="1363980" cy="330835"/>
          </a:xfrm>
          <a:prstGeom prst="rect">
            <a:avLst/>
          </a:prstGeom>
        </p:spPr>
        <p:txBody>
          <a:bodyPr wrap="square" lIns="0" tIns="12700" rIns="0" bIns="0" rtlCol="0" vert="horz">
            <a:spAutoFit/>
          </a:bodyPr>
          <a:lstStyle/>
          <a:p>
            <a:pPr marL="12700">
              <a:lnSpc>
                <a:spcPct val="100000"/>
              </a:lnSpc>
              <a:spcBef>
                <a:spcPts val="100"/>
              </a:spcBef>
            </a:pPr>
            <a:r>
              <a:rPr dirty="0" sz="2000" spc="-10">
                <a:solidFill>
                  <a:srgbClr val="FF0000"/>
                </a:solidFill>
                <a:latin typeface="Tahoma"/>
                <a:cs typeface="Tahoma"/>
              </a:rPr>
              <a:t>R10</a:t>
            </a:r>
            <a:r>
              <a:rPr dirty="0" sz="2000" spc="-5">
                <a:solidFill>
                  <a:srgbClr val="FF0000"/>
                </a:solidFill>
                <a:latin typeface="黑体"/>
                <a:cs typeface="黑体"/>
              </a:rPr>
              <a:t>不等于</a:t>
            </a:r>
            <a:r>
              <a:rPr dirty="0" sz="2000" spc="-50">
                <a:solidFill>
                  <a:srgbClr val="FF0000"/>
                </a:solidFill>
                <a:latin typeface="Tahoma"/>
                <a:cs typeface="Tahoma"/>
              </a:rPr>
              <a:t>0</a:t>
            </a:r>
            <a:endParaRPr sz="2000">
              <a:latin typeface="Tahoma"/>
              <a:cs typeface="Tahoma"/>
            </a:endParaRPr>
          </a:p>
        </p:txBody>
      </p:sp>
      <p:pic>
        <p:nvPicPr>
          <p:cNvPr id="17" name="object 17" descr=""/>
          <p:cNvPicPr/>
          <p:nvPr/>
        </p:nvPicPr>
        <p:blipFill>
          <a:blip r:embed="rId4" cstate="print"/>
          <a:stretch>
            <a:fillRect/>
          </a:stretch>
        </p:blipFill>
        <p:spPr>
          <a:xfrm>
            <a:off x="2352738" y="3807650"/>
            <a:ext cx="225298" cy="153924"/>
          </a:xfrm>
          <a:prstGeom prst="rect">
            <a:avLst/>
          </a:prstGeom>
        </p:spPr>
      </p:pic>
      <p:sp>
        <p:nvSpPr>
          <p:cNvPr id="18" name="object 18"/>
          <p:cNvSpPr txBox="1">
            <a:spLocks noGrp="1"/>
          </p:cNvSpPr>
          <p:nvPr>
            <p:ph type="title"/>
          </p:nvPr>
        </p:nvSpPr>
        <p:spPr>
          <a:xfrm>
            <a:off x="8480806" y="57734"/>
            <a:ext cx="2339340" cy="422909"/>
          </a:xfrm>
          <a:prstGeom prst="rect"/>
        </p:spPr>
        <p:txBody>
          <a:bodyPr wrap="square" lIns="0" tIns="13335" rIns="0" bIns="0" rtlCol="0" vert="horz">
            <a:spAutoFit/>
          </a:bodyPr>
          <a:lstStyle/>
          <a:p>
            <a:pPr marL="12700">
              <a:lnSpc>
                <a:spcPct val="100000"/>
              </a:lnSpc>
              <a:spcBef>
                <a:spcPts val="105"/>
              </a:spcBef>
            </a:pPr>
            <a:r>
              <a:rPr dirty="0" u="none" sz="2600">
                <a:solidFill>
                  <a:srgbClr val="0000CC"/>
                </a:solidFill>
              </a:rPr>
              <a:t>6.4.2</a:t>
            </a:r>
            <a:r>
              <a:rPr dirty="0" u="none" sz="2600" spc="-30">
                <a:solidFill>
                  <a:srgbClr val="0000CC"/>
                </a:solidFill>
              </a:rPr>
              <a:t> 谓词执行</a:t>
            </a:r>
            <a:endParaRPr sz="26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63/89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35153" y="548362"/>
            <a:ext cx="11340465" cy="1799589"/>
          </a:xfrm>
          <a:prstGeom prst="rect">
            <a:avLst/>
          </a:prstGeom>
        </p:spPr>
        <p:txBody>
          <a:bodyPr wrap="square" lIns="0" tIns="157480" rIns="0" bIns="0" rtlCol="0" vert="horz">
            <a:spAutoFit/>
          </a:bodyPr>
          <a:lstStyle/>
          <a:p>
            <a:pPr marL="467995" indent="-455295">
              <a:lnSpc>
                <a:spcPct val="100000"/>
              </a:lnSpc>
              <a:spcBef>
                <a:spcPts val="1240"/>
              </a:spcBef>
              <a:buClr>
                <a:srgbClr val="40458B"/>
              </a:buClr>
              <a:buSzPct val="89285"/>
              <a:buFont typeface="Wingdings"/>
              <a:buChar char=""/>
              <a:tabLst>
                <a:tab pos="467995" algn="l"/>
              </a:tabLst>
            </a:pPr>
            <a:r>
              <a:rPr dirty="0" sz="2800" spc="-40">
                <a:solidFill>
                  <a:srgbClr val="0000CC"/>
                </a:solidFill>
                <a:latin typeface="黑体"/>
                <a:cs typeface="黑体"/>
              </a:rPr>
              <a:t>分析</a:t>
            </a:r>
            <a:endParaRPr sz="2800">
              <a:latin typeface="黑体"/>
              <a:cs typeface="黑体"/>
            </a:endParaRPr>
          </a:p>
          <a:p>
            <a:pPr lvl="1" marL="753110" indent="-455930">
              <a:lnSpc>
                <a:spcPct val="100000"/>
              </a:lnSpc>
              <a:spcBef>
                <a:spcPts val="825"/>
              </a:spcBef>
              <a:buClr>
                <a:srgbClr val="4668F5"/>
              </a:buClr>
              <a:buSzPct val="60000"/>
              <a:buFont typeface="Wingdings"/>
              <a:buChar char=""/>
              <a:tabLst>
                <a:tab pos="753110" algn="l"/>
              </a:tabLst>
            </a:pPr>
            <a:r>
              <a:rPr dirty="0" sz="2000" spc="-20" b="1">
                <a:solidFill>
                  <a:srgbClr val="FF5CFF"/>
                </a:solidFill>
                <a:latin typeface="宋体"/>
                <a:cs typeface="宋体"/>
              </a:rPr>
              <a:t>调度后代码的执行时间缩短了。</a:t>
            </a:r>
            <a:endParaRPr sz="2000">
              <a:latin typeface="宋体"/>
              <a:cs typeface="宋体"/>
            </a:endParaRPr>
          </a:p>
          <a:p>
            <a:pPr lvl="1" marL="753110" indent="-455930">
              <a:lnSpc>
                <a:spcPct val="100000"/>
              </a:lnSpc>
              <a:spcBef>
                <a:spcPts val="720"/>
              </a:spcBef>
              <a:buClr>
                <a:srgbClr val="4668F5"/>
              </a:buClr>
              <a:buSzPct val="60000"/>
              <a:buFont typeface="Wingdings"/>
              <a:buChar char=""/>
              <a:tabLst>
                <a:tab pos="753110" algn="l"/>
              </a:tabLst>
            </a:pPr>
            <a:r>
              <a:rPr dirty="0" sz="2000" spc="-10" b="1">
                <a:solidFill>
                  <a:srgbClr val="FF5CFF"/>
                </a:solidFill>
                <a:latin typeface="宋体"/>
                <a:cs typeface="宋体"/>
              </a:rPr>
              <a:t>若分支转移成功，</a:t>
            </a:r>
            <a:r>
              <a:rPr dirty="0" sz="2000" spc="-10" b="1">
                <a:solidFill>
                  <a:srgbClr val="6600FF"/>
                </a:solidFill>
                <a:latin typeface="Times New Roman"/>
                <a:cs typeface="Times New Roman"/>
              </a:rPr>
              <a:t>LWC</a:t>
            </a:r>
            <a:r>
              <a:rPr dirty="0" sz="2000" spc="-25" b="1">
                <a:solidFill>
                  <a:srgbClr val="FF5CFF"/>
                </a:solidFill>
                <a:latin typeface="宋体"/>
                <a:cs typeface="宋体"/>
              </a:rPr>
              <a:t>将被转换为空操作，这不影响结果的正确性，但也不会缩短执行时间。</a:t>
            </a:r>
            <a:endParaRPr sz="2000">
              <a:latin typeface="宋体"/>
              <a:cs typeface="宋体"/>
            </a:endParaRPr>
          </a:p>
          <a:p>
            <a:pPr lvl="1" marL="753110" indent="-455930">
              <a:lnSpc>
                <a:spcPct val="100000"/>
              </a:lnSpc>
              <a:spcBef>
                <a:spcPts val="720"/>
              </a:spcBef>
              <a:buClr>
                <a:srgbClr val="4668F5"/>
              </a:buClr>
              <a:buSzPct val="60000"/>
              <a:buFont typeface="Wingdings"/>
              <a:buChar char=""/>
              <a:tabLst>
                <a:tab pos="753110" algn="l"/>
              </a:tabLst>
            </a:pPr>
            <a:r>
              <a:rPr dirty="0" sz="2000" spc="-10" b="1">
                <a:solidFill>
                  <a:srgbClr val="FF5CFF"/>
                </a:solidFill>
                <a:latin typeface="宋体"/>
                <a:cs typeface="宋体"/>
              </a:rPr>
              <a:t>周期</a:t>
            </a:r>
            <a:r>
              <a:rPr dirty="0" sz="2000" b="1">
                <a:solidFill>
                  <a:srgbClr val="6600FF"/>
                </a:solidFill>
                <a:latin typeface="Times New Roman"/>
                <a:cs typeface="Times New Roman"/>
              </a:rPr>
              <a:t>4</a:t>
            </a:r>
            <a:r>
              <a:rPr dirty="0" sz="2000" spc="-10" b="1">
                <a:solidFill>
                  <a:srgbClr val="FF5CFF"/>
                </a:solidFill>
                <a:latin typeface="宋体"/>
                <a:cs typeface="宋体"/>
              </a:rPr>
              <a:t>中的</a:t>
            </a:r>
            <a:r>
              <a:rPr dirty="0" sz="2000" spc="-10" b="1">
                <a:solidFill>
                  <a:srgbClr val="6600FF"/>
                </a:solidFill>
                <a:latin typeface="Times New Roman"/>
                <a:cs typeface="Times New Roman"/>
              </a:rPr>
              <a:t>LW</a:t>
            </a:r>
            <a:r>
              <a:rPr dirty="0" sz="2000" spc="-10" b="1">
                <a:solidFill>
                  <a:srgbClr val="FF5CFF"/>
                </a:solidFill>
                <a:latin typeface="宋体"/>
                <a:cs typeface="宋体"/>
              </a:rPr>
              <a:t>指令转换为</a:t>
            </a:r>
            <a:r>
              <a:rPr dirty="0" sz="2000" spc="-10" b="1">
                <a:solidFill>
                  <a:srgbClr val="6600FF"/>
                </a:solidFill>
                <a:latin typeface="Times New Roman"/>
                <a:cs typeface="Times New Roman"/>
              </a:rPr>
              <a:t>LWC</a:t>
            </a:r>
            <a:r>
              <a:rPr dirty="0" sz="2000" spc="-25" b="1">
                <a:solidFill>
                  <a:srgbClr val="FF5CFF"/>
                </a:solidFill>
                <a:latin typeface="宋体"/>
                <a:cs typeface="宋体"/>
              </a:rPr>
              <a:t>，结果如何？</a:t>
            </a:r>
            <a:endParaRPr sz="2000">
              <a:latin typeface="宋体"/>
              <a:cs typeface="宋体"/>
            </a:endParaRPr>
          </a:p>
        </p:txBody>
      </p:sp>
      <p:sp>
        <p:nvSpPr>
          <p:cNvPr id="10" name="object 10"/>
          <p:cNvSpPr txBox="1">
            <a:spLocks noGrp="1"/>
          </p:cNvSpPr>
          <p:nvPr>
            <p:ph type="title"/>
          </p:nvPr>
        </p:nvSpPr>
        <p:spPr>
          <a:xfrm>
            <a:off x="1503680" y="51638"/>
            <a:ext cx="4905375" cy="514350"/>
          </a:xfrm>
          <a:prstGeom prst="rect"/>
        </p:spPr>
        <p:txBody>
          <a:bodyPr wrap="square" lIns="0" tIns="13335" rIns="0" bIns="0" rtlCol="0" vert="horz">
            <a:spAutoFit/>
          </a:bodyPr>
          <a:lstStyle/>
          <a:p>
            <a:pPr marL="12700">
              <a:lnSpc>
                <a:spcPct val="100000"/>
              </a:lnSpc>
              <a:spcBef>
                <a:spcPts val="105"/>
              </a:spcBef>
            </a:pPr>
            <a:r>
              <a:rPr dirty="0" u="none"/>
              <a:t>6.4</a:t>
            </a:r>
            <a:r>
              <a:rPr dirty="0" u="none" spc="-15"/>
              <a:t> 显示并行指令计算</a:t>
            </a:r>
            <a:r>
              <a:rPr dirty="0" u="none" spc="-20"/>
              <a:t>EPIC</a:t>
            </a:r>
          </a:p>
        </p:txBody>
      </p:sp>
      <p:graphicFrame>
        <p:nvGraphicFramePr>
          <p:cNvPr id="11" name="object 11" descr=""/>
          <p:cNvGraphicFramePr>
            <a:graphicFrameLocks noGrp="1"/>
          </p:cNvGraphicFramePr>
          <p:nvPr/>
        </p:nvGraphicFramePr>
        <p:xfrm>
          <a:off x="4597400" y="2894076"/>
          <a:ext cx="7218680" cy="2038984"/>
        </p:xfrm>
        <a:graphic>
          <a:graphicData uri="http://schemas.openxmlformats.org/drawingml/2006/table">
            <a:tbl>
              <a:tblPr firstRow="1" bandRow="1">
                <a:tableStyleId>{2D5ABB26-0587-4C30-8999-92F81FD0307C}</a:tableStyleId>
              </a:tblPr>
              <a:tblGrid>
                <a:gridCol w="1410970"/>
                <a:gridCol w="3270250"/>
                <a:gridCol w="2447925"/>
              </a:tblGrid>
              <a:tr h="395605">
                <a:tc>
                  <a:txBody>
                    <a:bodyPr/>
                    <a:lstStyle/>
                    <a:p>
                      <a:pPr algn="ctr">
                        <a:lnSpc>
                          <a:spcPct val="100000"/>
                        </a:lnSpc>
                        <a:spcBef>
                          <a:spcPts val="430"/>
                        </a:spcBef>
                      </a:pPr>
                      <a:r>
                        <a:rPr dirty="0" sz="2000" spc="-30" b="1">
                          <a:solidFill>
                            <a:srgbClr val="E14B04"/>
                          </a:solidFill>
                          <a:latin typeface="宋体"/>
                          <a:cs typeface="宋体"/>
                        </a:rPr>
                        <a:t>周期</a:t>
                      </a:r>
                      <a:endParaRPr sz="2000">
                        <a:latin typeface="宋体"/>
                        <a:cs typeface="宋体"/>
                      </a:endParaRPr>
                    </a:p>
                  </a:txBody>
                  <a:tcPr marL="0" marR="0" marB="0" marT="546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30"/>
                        </a:spcBef>
                      </a:pPr>
                      <a:r>
                        <a:rPr dirty="0" sz="2000" spc="-10" b="1">
                          <a:solidFill>
                            <a:srgbClr val="E14B04"/>
                          </a:solidFill>
                          <a:latin typeface="宋体"/>
                          <a:cs typeface="宋体"/>
                        </a:rPr>
                        <a:t>指令</a:t>
                      </a:r>
                      <a:r>
                        <a:rPr dirty="0" sz="2000" spc="-50" b="1">
                          <a:solidFill>
                            <a:srgbClr val="E14B04"/>
                          </a:solidFill>
                          <a:latin typeface="宋体"/>
                          <a:cs typeface="宋体"/>
                        </a:rPr>
                        <a:t>1</a:t>
                      </a:r>
                      <a:endParaRPr sz="2000">
                        <a:latin typeface="宋体"/>
                        <a:cs typeface="宋体"/>
                      </a:endParaRPr>
                    </a:p>
                  </a:txBody>
                  <a:tcPr marL="0" marR="0" marB="0" marT="546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30"/>
                        </a:spcBef>
                      </a:pPr>
                      <a:r>
                        <a:rPr dirty="0" sz="2000" spc="-10" b="1">
                          <a:solidFill>
                            <a:srgbClr val="E14B04"/>
                          </a:solidFill>
                          <a:latin typeface="宋体"/>
                          <a:cs typeface="宋体"/>
                        </a:rPr>
                        <a:t>指令</a:t>
                      </a:r>
                      <a:r>
                        <a:rPr dirty="0" sz="2000" spc="-50" b="1">
                          <a:solidFill>
                            <a:srgbClr val="E14B04"/>
                          </a:solidFill>
                          <a:latin typeface="宋体"/>
                          <a:cs typeface="宋体"/>
                        </a:rPr>
                        <a:t>2</a:t>
                      </a:r>
                      <a:endParaRPr sz="2000">
                        <a:latin typeface="宋体"/>
                        <a:cs typeface="宋体"/>
                      </a:endParaRPr>
                    </a:p>
                  </a:txBody>
                  <a:tcPr marL="0" marR="0" marB="0" marT="546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95605">
                <a:tc>
                  <a:txBody>
                    <a:bodyPr/>
                    <a:lstStyle/>
                    <a:p>
                      <a:pPr algn="ctr">
                        <a:lnSpc>
                          <a:spcPct val="100000"/>
                        </a:lnSpc>
                        <a:spcBef>
                          <a:spcPts val="430"/>
                        </a:spcBef>
                      </a:pPr>
                      <a:r>
                        <a:rPr dirty="0" sz="2000" spc="-50" b="1">
                          <a:solidFill>
                            <a:srgbClr val="006600"/>
                          </a:solidFill>
                          <a:latin typeface="宋体"/>
                          <a:cs typeface="宋体"/>
                        </a:rPr>
                        <a:t>1</a:t>
                      </a:r>
                      <a:endParaRPr sz="2000">
                        <a:latin typeface="宋体"/>
                        <a:cs typeface="宋体"/>
                      </a:endParaRPr>
                    </a:p>
                  </a:txBody>
                  <a:tcPr marL="0" marR="0" marB="0" marT="54610">
                    <a:lnL w="12700">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430"/>
                        </a:spcBef>
                        <a:tabLst>
                          <a:tab pos="606425" algn="l"/>
                        </a:tabLst>
                      </a:pPr>
                      <a:r>
                        <a:rPr dirty="0" sz="2000" spc="-25" b="1">
                          <a:solidFill>
                            <a:srgbClr val="40458B"/>
                          </a:solidFill>
                          <a:latin typeface="宋体"/>
                          <a:cs typeface="宋体"/>
                        </a:rPr>
                        <a:t>LW</a:t>
                      </a:r>
                      <a:r>
                        <a:rPr dirty="0" sz="2000" b="1">
                          <a:solidFill>
                            <a:srgbClr val="40458B"/>
                          </a:solidFill>
                          <a:latin typeface="宋体"/>
                          <a:cs typeface="宋体"/>
                        </a:rPr>
                        <a:t>	</a:t>
                      </a:r>
                      <a:r>
                        <a:rPr dirty="0" sz="2000" spc="-10" b="1">
                          <a:solidFill>
                            <a:srgbClr val="40458B"/>
                          </a:solidFill>
                          <a:latin typeface="宋体"/>
                          <a:cs typeface="宋体"/>
                        </a:rPr>
                        <a:t>R1，40（R2）</a:t>
                      </a:r>
                      <a:endParaRPr sz="2000">
                        <a:latin typeface="宋体"/>
                        <a:cs typeface="宋体"/>
                      </a:endParaRPr>
                    </a:p>
                  </a:txBody>
                  <a:tcPr marL="0" marR="0" marB="0" marT="54610">
                    <a:lnL w="9525">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430"/>
                        </a:spcBef>
                        <a:tabLst>
                          <a:tab pos="734060" algn="l"/>
                        </a:tabLst>
                      </a:pPr>
                      <a:r>
                        <a:rPr dirty="0" sz="2000" spc="-25" b="1">
                          <a:solidFill>
                            <a:srgbClr val="40458B"/>
                          </a:solidFill>
                          <a:latin typeface="宋体"/>
                          <a:cs typeface="宋体"/>
                        </a:rPr>
                        <a:t>ADD</a:t>
                      </a:r>
                      <a:r>
                        <a:rPr dirty="0" sz="2000" b="1">
                          <a:solidFill>
                            <a:srgbClr val="40458B"/>
                          </a:solidFill>
                          <a:latin typeface="宋体"/>
                          <a:cs typeface="宋体"/>
                        </a:rPr>
                        <a:t>	</a:t>
                      </a:r>
                      <a:r>
                        <a:rPr dirty="0" sz="2000" spc="-10" b="1">
                          <a:solidFill>
                            <a:srgbClr val="40458B"/>
                          </a:solidFill>
                          <a:latin typeface="宋体"/>
                          <a:cs typeface="宋体"/>
                        </a:rPr>
                        <a:t>R3，R4，R5</a:t>
                      </a:r>
                      <a:endParaRPr sz="2000">
                        <a:latin typeface="宋体"/>
                        <a:cs typeface="宋体"/>
                      </a:endParaRPr>
                    </a:p>
                  </a:txBody>
                  <a:tcPr marL="0" marR="0" marB="0" marT="54610">
                    <a:lnL w="952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95605">
                <a:tc>
                  <a:txBody>
                    <a:bodyPr/>
                    <a:lstStyle/>
                    <a:p>
                      <a:pPr algn="ctr">
                        <a:lnSpc>
                          <a:spcPct val="100000"/>
                        </a:lnSpc>
                        <a:spcBef>
                          <a:spcPts val="430"/>
                        </a:spcBef>
                      </a:pPr>
                      <a:r>
                        <a:rPr dirty="0" sz="2000" spc="-50" b="1">
                          <a:solidFill>
                            <a:srgbClr val="006600"/>
                          </a:solidFill>
                          <a:latin typeface="宋体"/>
                          <a:cs typeface="宋体"/>
                        </a:rPr>
                        <a:t>2</a:t>
                      </a:r>
                      <a:endParaRPr sz="2000">
                        <a:latin typeface="宋体"/>
                        <a:cs typeface="宋体"/>
                      </a:endParaRPr>
                    </a:p>
                  </a:txBody>
                  <a:tcPr marL="0" marR="0" marB="0" marT="54610">
                    <a:lnL w="12700">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430"/>
                        </a:spcBef>
                      </a:pPr>
                      <a:r>
                        <a:rPr dirty="0" sz="2000" b="1">
                          <a:solidFill>
                            <a:srgbClr val="FF0000"/>
                          </a:solidFill>
                          <a:latin typeface="宋体"/>
                          <a:cs typeface="宋体"/>
                        </a:rPr>
                        <a:t>LWC</a:t>
                      </a:r>
                      <a:r>
                        <a:rPr dirty="0" sz="2000" spc="-50" b="1">
                          <a:solidFill>
                            <a:srgbClr val="FF0000"/>
                          </a:solidFill>
                          <a:latin typeface="宋体"/>
                          <a:cs typeface="宋体"/>
                        </a:rPr>
                        <a:t> </a:t>
                      </a:r>
                      <a:r>
                        <a:rPr dirty="0" sz="2000" spc="-10" b="1">
                          <a:solidFill>
                            <a:srgbClr val="FF0000"/>
                          </a:solidFill>
                          <a:latin typeface="宋体"/>
                          <a:cs typeface="宋体"/>
                        </a:rPr>
                        <a:t>R8，20（R10），R10</a:t>
                      </a:r>
                      <a:endParaRPr sz="2000">
                        <a:latin typeface="宋体"/>
                        <a:cs typeface="宋体"/>
                      </a:endParaRPr>
                    </a:p>
                  </a:txBody>
                  <a:tcPr marL="0" marR="0" marB="0" marT="54610">
                    <a:lnL w="9525">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430"/>
                        </a:spcBef>
                        <a:tabLst>
                          <a:tab pos="734060" algn="l"/>
                        </a:tabLst>
                      </a:pPr>
                      <a:r>
                        <a:rPr dirty="0" sz="2000" spc="-25" b="1">
                          <a:solidFill>
                            <a:srgbClr val="40458B"/>
                          </a:solidFill>
                          <a:latin typeface="宋体"/>
                          <a:cs typeface="宋体"/>
                        </a:rPr>
                        <a:t>ADD</a:t>
                      </a:r>
                      <a:r>
                        <a:rPr dirty="0" sz="2000" b="1">
                          <a:solidFill>
                            <a:srgbClr val="40458B"/>
                          </a:solidFill>
                          <a:latin typeface="宋体"/>
                          <a:cs typeface="宋体"/>
                        </a:rPr>
                        <a:t>	</a:t>
                      </a:r>
                      <a:r>
                        <a:rPr dirty="0" sz="2000" spc="-10" b="1">
                          <a:solidFill>
                            <a:srgbClr val="40458B"/>
                          </a:solidFill>
                          <a:latin typeface="宋体"/>
                          <a:cs typeface="宋体"/>
                        </a:rPr>
                        <a:t>R6，R3，R7</a:t>
                      </a:r>
                      <a:endParaRPr sz="2000">
                        <a:latin typeface="宋体"/>
                        <a:cs typeface="宋体"/>
                      </a:endParaRPr>
                    </a:p>
                  </a:txBody>
                  <a:tcPr marL="0" marR="0" marB="0" marT="54610">
                    <a:lnL w="952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26084">
                <a:tc>
                  <a:txBody>
                    <a:bodyPr/>
                    <a:lstStyle/>
                    <a:p>
                      <a:pPr algn="ctr">
                        <a:lnSpc>
                          <a:spcPct val="100000"/>
                        </a:lnSpc>
                        <a:spcBef>
                          <a:spcPts val="430"/>
                        </a:spcBef>
                      </a:pPr>
                      <a:r>
                        <a:rPr dirty="0" sz="2000" spc="-50" b="1">
                          <a:solidFill>
                            <a:srgbClr val="006600"/>
                          </a:solidFill>
                          <a:latin typeface="宋体"/>
                          <a:cs typeface="宋体"/>
                        </a:rPr>
                        <a:t>3</a:t>
                      </a:r>
                      <a:endParaRPr sz="2000">
                        <a:latin typeface="宋体"/>
                        <a:cs typeface="宋体"/>
                      </a:endParaRPr>
                    </a:p>
                  </a:txBody>
                  <a:tcPr marL="0" marR="0" marB="0" marT="54610">
                    <a:lnL w="12700">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430"/>
                        </a:spcBef>
                        <a:tabLst>
                          <a:tab pos="863600" algn="l"/>
                        </a:tabLst>
                      </a:pPr>
                      <a:r>
                        <a:rPr dirty="0" sz="2000" spc="-20" b="1">
                          <a:solidFill>
                            <a:srgbClr val="40458B"/>
                          </a:solidFill>
                          <a:latin typeface="宋体"/>
                          <a:cs typeface="宋体"/>
                        </a:rPr>
                        <a:t>BEQZ</a:t>
                      </a:r>
                      <a:r>
                        <a:rPr dirty="0" sz="2000" b="1">
                          <a:solidFill>
                            <a:srgbClr val="40458B"/>
                          </a:solidFill>
                          <a:latin typeface="宋体"/>
                          <a:cs typeface="宋体"/>
                        </a:rPr>
                        <a:t>	</a:t>
                      </a:r>
                      <a:r>
                        <a:rPr dirty="0" sz="2000" spc="-10" b="1">
                          <a:solidFill>
                            <a:srgbClr val="40458B"/>
                          </a:solidFill>
                          <a:latin typeface="宋体"/>
                          <a:cs typeface="宋体"/>
                        </a:rPr>
                        <a:t>R10，L</a:t>
                      </a:r>
                      <a:endParaRPr sz="2000">
                        <a:latin typeface="宋体"/>
                        <a:cs typeface="宋体"/>
                      </a:endParaRPr>
                    </a:p>
                  </a:txBody>
                  <a:tcPr marL="0" marR="0" marB="0" marT="54610">
                    <a:lnL w="9525">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B="0" marT="0">
                    <a:lnL w="952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26084">
                <a:tc>
                  <a:txBody>
                    <a:bodyPr/>
                    <a:lstStyle/>
                    <a:p>
                      <a:pPr algn="ctr">
                        <a:lnSpc>
                          <a:spcPct val="100000"/>
                        </a:lnSpc>
                        <a:spcBef>
                          <a:spcPts val="430"/>
                        </a:spcBef>
                      </a:pPr>
                      <a:r>
                        <a:rPr dirty="0" sz="2000" spc="-50" b="1">
                          <a:solidFill>
                            <a:srgbClr val="006600"/>
                          </a:solidFill>
                          <a:latin typeface="宋体"/>
                          <a:cs typeface="宋体"/>
                        </a:rPr>
                        <a:t>4</a:t>
                      </a:r>
                      <a:endParaRPr sz="2000">
                        <a:latin typeface="宋体"/>
                        <a:cs typeface="宋体"/>
                      </a:endParaRPr>
                    </a:p>
                  </a:txBody>
                  <a:tcPr marL="0" marR="0" marB="0" marT="54610">
                    <a:lnL w="12700">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430"/>
                        </a:spcBef>
                        <a:tabLst>
                          <a:tab pos="606425" algn="l"/>
                        </a:tabLst>
                      </a:pPr>
                      <a:r>
                        <a:rPr dirty="0" sz="2000" spc="-25" b="1">
                          <a:solidFill>
                            <a:srgbClr val="40458B"/>
                          </a:solidFill>
                          <a:latin typeface="宋体"/>
                          <a:cs typeface="宋体"/>
                        </a:rPr>
                        <a:t>LW</a:t>
                      </a:r>
                      <a:r>
                        <a:rPr dirty="0" sz="2000" b="1">
                          <a:solidFill>
                            <a:srgbClr val="40458B"/>
                          </a:solidFill>
                          <a:latin typeface="宋体"/>
                          <a:cs typeface="宋体"/>
                        </a:rPr>
                        <a:t>	</a:t>
                      </a:r>
                      <a:r>
                        <a:rPr dirty="0" sz="2000" spc="-10" b="1">
                          <a:solidFill>
                            <a:srgbClr val="40458B"/>
                          </a:solidFill>
                          <a:latin typeface="宋体"/>
                          <a:cs typeface="宋体"/>
                        </a:rPr>
                        <a:t>R9，0（R8）</a:t>
                      </a:r>
                      <a:endParaRPr sz="2000">
                        <a:latin typeface="宋体"/>
                        <a:cs typeface="宋体"/>
                      </a:endParaRPr>
                    </a:p>
                  </a:txBody>
                  <a:tcPr marL="0" marR="0" marB="0" marT="54610">
                    <a:lnL w="9525">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B="0" marT="0">
                    <a:lnL w="952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grpSp>
        <p:nvGrpSpPr>
          <p:cNvPr id="12" name="object 12" descr=""/>
          <p:cNvGrpSpPr/>
          <p:nvPr/>
        </p:nvGrpSpPr>
        <p:grpSpPr>
          <a:xfrm>
            <a:off x="112145" y="3284601"/>
            <a:ext cx="4472940" cy="2154555"/>
            <a:chOff x="112145" y="3284601"/>
            <a:chExt cx="4472940" cy="2154555"/>
          </a:xfrm>
        </p:grpSpPr>
        <p:pic>
          <p:nvPicPr>
            <p:cNvPr id="13" name="object 13" descr=""/>
            <p:cNvPicPr/>
            <p:nvPr/>
          </p:nvPicPr>
          <p:blipFill>
            <a:blip r:embed="rId3" cstate="print"/>
            <a:stretch>
              <a:fillRect/>
            </a:stretch>
          </p:blipFill>
          <p:spPr>
            <a:xfrm>
              <a:off x="112145" y="3284601"/>
              <a:ext cx="4010174" cy="2154505"/>
            </a:xfrm>
            <a:prstGeom prst="rect">
              <a:avLst/>
            </a:prstGeom>
          </p:spPr>
        </p:pic>
        <p:sp>
          <p:nvSpPr>
            <p:cNvPr id="14" name="object 14" descr=""/>
            <p:cNvSpPr/>
            <p:nvPr/>
          </p:nvSpPr>
          <p:spPr>
            <a:xfrm>
              <a:off x="4075176" y="3921125"/>
              <a:ext cx="504825" cy="287655"/>
            </a:xfrm>
            <a:custGeom>
              <a:avLst/>
              <a:gdLst/>
              <a:ahLst/>
              <a:cxnLst/>
              <a:rect l="l" t="t" r="r" b="b"/>
              <a:pathLst>
                <a:path w="504825" h="287654">
                  <a:moveTo>
                    <a:pt x="360552" y="0"/>
                  </a:moveTo>
                  <a:lnTo>
                    <a:pt x="360552" y="71881"/>
                  </a:lnTo>
                  <a:lnTo>
                    <a:pt x="0" y="71881"/>
                  </a:lnTo>
                  <a:lnTo>
                    <a:pt x="0" y="215519"/>
                  </a:lnTo>
                  <a:lnTo>
                    <a:pt x="360552" y="215519"/>
                  </a:lnTo>
                  <a:lnTo>
                    <a:pt x="360552" y="287274"/>
                  </a:lnTo>
                  <a:lnTo>
                    <a:pt x="504825" y="143637"/>
                  </a:lnTo>
                  <a:lnTo>
                    <a:pt x="360552" y="0"/>
                  </a:lnTo>
                  <a:close/>
                </a:path>
              </a:pathLst>
            </a:custGeom>
            <a:solidFill>
              <a:srgbClr val="EBD782"/>
            </a:solidFill>
          </p:spPr>
          <p:txBody>
            <a:bodyPr wrap="square" lIns="0" tIns="0" rIns="0" bIns="0" rtlCol="0"/>
            <a:lstStyle/>
            <a:p/>
          </p:txBody>
        </p:sp>
        <p:sp>
          <p:nvSpPr>
            <p:cNvPr id="15" name="object 15" descr=""/>
            <p:cNvSpPr/>
            <p:nvPr/>
          </p:nvSpPr>
          <p:spPr>
            <a:xfrm>
              <a:off x="4075176" y="3921125"/>
              <a:ext cx="504825" cy="287655"/>
            </a:xfrm>
            <a:custGeom>
              <a:avLst/>
              <a:gdLst/>
              <a:ahLst/>
              <a:cxnLst/>
              <a:rect l="l" t="t" r="r" b="b"/>
              <a:pathLst>
                <a:path w="504825" h="287654">
                  <a:moveTo>
                    <a:pt x="0" y="71881"/>
                  </a:moveTo>
                  <a:lnTo>
                    <a:pt x="360552" y="71881"/>
                  </a:lnTo>
                  <a:lnTo>
                    <a:pt x="360552" y="0"/>
                  </a:lnTo>
                  <a:lnTo>
                    <a:pt x="504825" y="143637"/>
                  </a:lnTo>
                  <a:lnTo>
                    <a:pt x="360552" y="287274"/>
                  </a:lnTo>
                  <a:lnTo>
                    <a:pt x="360552" y="215519"/>
                  </a:lnTo>
                  <a:lnTo>
                    <a:pt x="0" y="215519"/>
                  </a:lnTo>
                  <a:lnTo>
                    <a:pt x="0" y="71881"/>
                  </a:lnTo>
                  <a:close/>
                </a:path>
              </a:pathLst>
            </a:custGeom>
            <a:ln w="9525">
              <a:solidFill>
                <a:srgbClr val="40458B"/>
              </a:solidFill>
            </a:ln>
          </p:spPr>
          <p:txBody>
            <a:bodyPr wrap="square" lIns="0" tIns="0" rIns="0" bIns="0" rtlCol="0"/>
            <a:lstStyle/>
            <a:p/>
          </p:txBody>
        </p:sp>
      </p:grpSp>
      <p:grpSp>
        <p:nvGrpSpPr>
          <p:cNvPr id="16" name="object 16" descr=""/>
          <p:cNvGrpSpPr/>
          <p:nvPr/>
        </p:nvGrpSpPr>
        <p:grpSpPr>
          <a:xfrm>
            <a:off x="5911913" y="4910137"/>
            <a:ext cx="297180" cy="514350"/>
            <a:chOff x="5911913" y="4910137"/>
            <a:chExt cx="297180" cy="514350"/>
          </a:xfrm>
        </p:grpSpPr>
        <p:sp>
          <p:nvSpPr>
            <p:cNvPr id="17" name="object 17" descr=""/>
            <p:cNvSpPr/>
            <p:nvPr/>
          </p:nvSpPr>
          <p:spPr>
            <a:xfrm>
              <a:off x="5916676" y="4914900"/>
              <a:ext cx="287655" cy="504825"/>
            </a:xfrm>
            <a:custGeom>
              <a:avLst/>
              <a:gdLst/>
              <a:ahLst/>
              <a:cxnLst/>
              <a:rect l="l" t="t" r="r" b="b"/>
              <a:pathLst>
                <a:path w="287654" h="504825">
                  <a:moveTo>
                    <a:pt x="215391" y="0"/>
                  </a:moveTo>
                  <a:lnTo>
                    <a:pt x="71754" y="0"/>
                  </a:lnTo>
                  <a:lnTo>
                    <a:pt x="71754" y="360553"/>
                  </a:lnTo>
                  <a:lnTo>
                    <a:pt x="0" y="360553"/>
                  </a:lnTo>
                  <a:lnTo>
                    <a:pt x="143637" y="504825"/>
                  </a:lnTo>
                  <a:lnTo>
                    <a:pt x="287274" y="360553"/>
                  </a:lnTo>
                  <a:lnTo>
                    <a:pt x="215391" y="360553"/>
                  </a:lnTo>
                  <a:lnTo>
                    <a:pt x="215391" y="0"/>
                  </a:lnTo>
                  <a:close/>
                </a:path>
              </a:pathLst>
            </a:custGeom>
            <a:solidFill>
              <a:srgbClr val="EBD782"/>
            </a:solidFill>
          </p:spPr>
          <p:txBody>
            <a:bodyPr wrap="square" lIns="0" tIns="0" rIns="0" bIns="0" rtlCol="0"/>
            <a:lstStyle/>
            <a:p/>
          </p:txBody>
        </p:sp>
        <p:sp>
          <p:nvSpPr>
            <p:cNvPr id="18" name="object 18" descr=""/>
            <p:cNvSpPr/>
            <p:nvPr/>
          </p:nvSpPr>
          <p:spPr>
            <a:xfrm>
              <a:off x="5916676" y="4914900"/>
              <a:ext cx="287655" cy="504825"/>
            </a:xfrm>
            <a:custGeom>
              <a:avLst/>
              <a:gdLst/>
              <a:ahLst/>
              <a:cxnLst/>
              <a:rect l="l" t="t" r="r" b="b"/>
              <a:pathLst>
                <a:path w="287654" h="504825">
                  <a:moveTo>
                    <a:pt x="215391" y="0"/>
                  </a:moveTo>
                  <a:lnTo>
                    <a:pt x="215391" y="360553"/>
                  </a:lnTo>
                  <a:lnTo>
                    <a:pt x="287274" y="360553"/>
                  </a:lnTo>
                  <a:lnTo>
                    <a:pt x="143637" y="504825"/>
                  </a:lnTo>
                  <a:lnTo>
                    <a:pt x="0" y="360553"/>
                  </a:lnTo>
                  <a:lnTo>
                    <a:pt x="71754" y="360553"/>
                  </a:lnTo>
                  <a:lnTo>
                    <a:pt x="71754" y="0"/>
                  </a:lnTo>
                  <a:lnTo>
                    <a:pt x="215391" y="0"/>
                  </a:lnTo>
                  <a:close/>
                </a:path>
              </a:pathLst>
            </a:custGeom>
            <a:ln w="9525">
              <a:solidFill>
                <a:srgbClr val="40458B"/>
              </a:solidFill>
            </a:ln>
          </p:spPr>
          <p:txBody>
            <a:bodyPr wrap="square" lIns="0" tIns="0" rIns="0" bIns="0" rtlCol="0"/>
            <a:lstStyle/>
            <a:p/>
          </p:txBody>
        </p:sp>
      </p:grpSp>
      <p:sp>
        <p:nvSpPr>
          <p:cNvPr id="19" name="object 19" descr=""/>
          <p:cNvSpPr txBox="1"/>
          <p:nvPr/>
        </p:nvSpPr>
        <p:spPr>
          <a:xfrm>
            <a:off x="162864" y="4753736"/>
            <a:ext cx="11766550" cy="1372870"/>
          </a:xfrm>
          <a:prstGeom prst="rect">
            <a:avLst/>
          </a:prstGeom>
        </p:spPr>
        <p:txBody>
          <a:bodyPr wrap="square" lIns="0" tIns="12700" rIns="0" bIns="0" rtlCol="0" vert="horz">
            <a:spAutoFit/>
          </a:bodyPr>
          <a:lstStyle/>
          <a:p>
            <a:pPr marL="2555240">
              <a:lnSpc>
                <a:spcPct val="100000"/>
              </a:lnSpc>
              <a:spcBef>
                <a:spcPts val="100"/>
              </a:spcBef>
            </a:pPr>
            <a:r>
              <a:rPr dirty="0" sz="2000" spc="-10">
                <a:solidFill>
                  <a:srgbClr val="FF0000"/>
                </a:solidFill>
                <a:latin typeface="Tahoma"/>
                <a:cs typeface="Tahoma"/>
              </a:rPr>
              <a:t>R10</a:t>
            </a:r>
            <a:r>
              <a:rPr dirty="0" sz="2000" spc="-5">
                <a:solidFill>
                  <a:srgbClr val="FF0000"/>
                </a:solidFill>
                <a:latin typeface="黑体"/>
                <a:cs typeface="黑体"/>
              </a:rPr>
              <a:t>不等于</a:t>
            </a:r>
            <a:r>
              <a:rPr dirty="0" sz="2000" spc="-50">
                <a:solidFill>
                  <a:srgbClr val="FF0000"/>
                </a:solidFill>
                <a:latin typeface="Tahoma"/>
                <a:cs typeface="Tahoma"/>
              </a:rPr>
              <a:t>0</a:t>
            </a:r>
            <a:endParaRPr sz="2000">
              <a:latin typeface="Tahoma"/>
              <a:cs typeface="Tahoma"/>
            </a:endParaRPr>
          </a:p>
          <a:p>
            <a:pPr>
              <a:lnSpc>
                <a:spcPct val="100000"/>
              </a:lnSpc>
              <a:spcBef>
                <a:spcPts val="990"/>
              </a:spcBef>
            </a:pPr>
            <a:endParaRPr sz="2000">
              <a:latin typeface="Tahoma"/>
              <a:cs typeface="Tahoma"/>
            </a:endParaRPr>
          </a:p>
          <a:p>
            <a:pPr marL="12700">
              <a:lnSpc>
                <a:spcPct val="100000"/>
              </a:lnSpc>
            </a:pPr>
            <a:r>
              <a:rPr dirty="0" sz="2000" spc="-10">
                <a:solidFill>
                  <a:srgbClr val="FF0000"/>
                </a:solidFill>
                <a:latin typeface="Tahoma"/>
                <a:cs typeface="Tahoma"/>
              </a:rPr>
              <a:t>R10</a:t>
            </a:r>
            <a:r>
              <a:rPr dirty="0" sz="2000" spc="-10">
                <a:solidFill>
                  <a:srgbClr val="FF0000"/>
                </a:solidFill>
                <a:latin typeface="黑体"/>
                <a:cs typeface="黑体"/>
              </a:rPr>
              <a:t>无论是否为</a:t>
            </a:r>
            <a:r>
              <a:rPr dirty="0" sz="2000" spc="-40">
                <a:solidFill>
                  <a:srgbClr val="FF0000"/>
                </a:solidFill>
                <a:latin typeface="Tahoma"/>
                <a:cs typeface="Tahoma"/>
              </a:rPr>
              <a:t>0</a:t>
            </a:r>
            <a:r>
              <a:rPr dirty="0" sz="2000" spc="-40">
                <a:solidFill>
                  <a:srgbClr val="FF0000"/>
                </a:solidFill>
                <a:latin typeface="黑体"/>
                <a:cs typeface="黑体"/>
              </a:rPr>
              <a:t>，</a:t>
            </a:r>
            <a:r>
              <a:rPr dirty="0" sz="2000" spc="-40">
                <a:solidFill>
                  <a:srgbClr val="FF0000"/>
                </a:solidFill>
                <a:latin typeface="Tahoma"/>
                <a:cs typeface="Tahoma"/>
              </a:rPr>
              <a:t>LWC</a:t>
            </a:r>
            <a:r>
              <a:rPr dirty="0" sz="2000" spc="-30">
                <a:solidFill>
                  <a:srgbClr val="FF0000"/>
                </a:solidFill>
                <a:latin typeface="黑体"/>
                <a:cs typeface="黑体"/>
              </a:rPr>
              <a:t>指令都要执行，可能该指令会引发额外的异常，根据谓词决定是否处理这个异常？</a:t>
            </a:r>
            <a:endParaRPr sz="2000">
              <a:latin typeface="黑体"/>
              <a:cs typeface="黑体"/>
            </a:endParaRPr>
          </a:p>
          <a:p>
            <a:pPr marL="12700">
              <a:lnSpc>
                <a:spcPct val="100000"/>
              </a:lnSpc>
            </a:pPr>
            <a:r>
              <a:rPr dirty="0" sz="2000" spc="-15">
                <a:solidFill>
                  <a:srgbClr val="40458B"/>
                </a:solidFill>
                <a:latin typeface="黑体"/>
                <a:cs typeface="黑体"/>
              </a:rPr>
              <a:t>处理异常机制很复杂，而执行条件失败时将谓词指令转为空操作的时机选择更复杂</a:t>
            </a:r>
            <a:r>
              <a:rPr dirty="0" sz="2000" spc="-10">
                <a:solidFill>
                  <a:srgbClr val="FF0000"/>
                </a:solidFill>
                <a:latin typeface="黑体"/>
                <a:cs typeface="黑体"/>
              </a:rPr>
              <a:t>：流出段</a:t>
            </a:r>
            <a:r>
              <a:rPr dirty="0" sz="2000" spc="-25">
                <a:solidFill>
                  <a:srgbClr val="FF0000"/>
                </a:solidFill>
                <a:latin typeface="Tahoma"/>
                <a:cs typeface="Tahoma"/>
              </a:rPr>
              <a:t>or</a:t>
            </a:r>
            <a:r>
              <a:rPr dirty="0" sz="2000" spc="-15">
                <a:solidFill>
                  <a:srgbClr val="FF0000"/>
                </a:solidFill>
                <a:latin typeface="黑体"/>
                <a:cs typeface="黑体"/>
              </a:rPr>
              <a:t>写结果段？</a:t>
            </a:r>
            <a:endParaRPr sz="2000">
              <a:latin typeface="黑体"/>
              <a:cs typeface="黑体"/>
            </a:endParaRPr>
          </a:p>
        </p:txBody>
      </p:sp>
      <p:sp>
        <p:nvSpPr>
          <p:cNvPr id="20" name="object 20" descr=""/>
          <p:cNvSpPr txBox="1"/>
          <p:nvPr/>
        </p:nvSpPr>
        <p:spPr>
          <a:xfrm>
            <a:off x="8480806" y="57734"/>
            <a:ext cx="2339340" cy="422909"/>
          </a:xfrm>
          <a:prstGeom prst="rect">
            <a:avLst/>
          </a:prstGeom>
        </p:spPr>
        <p:txBody>
          <a:bodyPr wrap="square" lIns="0" tIns="13335" rIns="0" bIns="0" rtlCol="0" vert="horz">
            <a:spAutoFit/>
          </a:bodyPr>
          <a:lstStyle/>
          <a:p>
            <a:pPr marL="12700">
              <a:lnSpc>
                <a:spcPct val="100000"/>
              </a:lnSpc>
              <a:spcBef>
                <a:spcPts val="105"/>
              </a:spcBef>
            </a:pPr>
            <a:r>
              <a:rPr dirty="0" sz="2600">
                <a:solidFill>
                  <a:srgbClr val="0000CC"/>
                </a:solidFill>
                <a:latin typeface="黑体"/>
                <a:cs typeface="黑体"/>
              </a:rPr>
              <a:t>6.4.2</a:t>
            </a:r>
            <a:r>
              <a:rPr dirty="0" sz="2600" spc="-30">
                <a:solidFill>
                  <a:srgbClr val="0000CC"/>
                </a:solidFill>
                <a:latin typeface="黑体"/>
                <a:cs typeface="黑体"/>
              </a:rPr>
              <a:t> 谓词执行</a:t>
            </a:r>
            <a:endParaRPr sz="2600">
              <a:latin typeface="黑体"/>
              <a:cs typeface="黑体"/>
            </a:endParaRPr>
          </a:p>
        </p:txBody>
      </p:sp>
      <p:pic>
        <p:nvPicPr>
          <p:cNvPr id="21" name="object 21" descr=""/>
          <p:cNvPicPr/>
          <p:nvPr/>
        </p:nvPicPr>
        <p:blipFill>
          <a:blip r:embed="rId4" cstate="print"/>
          <a:stretch>
            <a:fillRect/>
          </a:stretch>
        </p:blipFill>
        <p:spPr>
          <a:xfrm>
            <a:off x="2346388" y="4842700"/>
            <a:ext cx="225425" cy="153924"/>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64/89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78739" y="1027743"/>
            <a:ext cx="11414760" cy="4603750"/>
          </a:xfrm>
          <a:prstGeom prst="rect">
            <a:avLst/>
          </a:prstGeom>
        </p:spPr>
        <p:txBody>
          <a:bodyPr wrap="square" lIns="0" tIns="140335" rIns="0" bIns="0" rtlCol="0" vert="horz">
            <a:spAutoFit/>
          </a:bodyPr>
          <a:lstStyle/>
          <a:p>
            <a:pPr marL="467359" indent="-454659">
              <a:lnSpc>
                <a:spcPct val="100000"/>
              </a:lnSpc>
              <a:spcBef>
                <a:spcPts val="1105"/>
              </a:spcBef>
              <a:buClr>
                <a:srgbClr val="40458B"/>
              </a:buClr>
              <a:buFont typeface="Tahoma"/>
              <a:buAutoNum type="arabicPeriod" startAt="6"/>
              <a:tabLst>
                <a:tab pos="467359" algn="l"/>
              </a:tabLst>
            </a:pPr>
            <a:r>
              <a:rPr dirty="0" sz="2800" spc="-40">
                <a:solidFill>
                  <a:srgbClr val="E14B04"/>
                </a:solidFill>
                <a:latin typeface="黑体"/>
                <a:cs typeface="黑体"/>
              </a:rPr>
              <a:t>如何将谓词为假的指令转换为空操作？</a:t>
            </a:r>
            <a:endParaRPr sz="2800">
              <a:latin typeface="黑体"/>
              <a:cs typeface="黑体"/>
            </a:endParaRPr>
          </a:p>
          <a:p>
            <a:pPr lvl="1" marL="1097915" indent="-455930">
              <a:lnSpc>
                <a:spcPct val="100000"/>
              </a:lnSpc>
              <a:spcBef>
                <a:spcPts val="1005"/>
              </a:spcBef>
              <a:buClr>
                <a:srgbClr val="40458B"/>
              </a:buClr>
              <a:buSzPct val="89285"/>
              <a:buFont typeface="Wingdings"/>
              <a:buChar char=""/>
              <a:tabLst>
                <a:tab pos="1097915" algn="l"/>
              </a:tabLst>
            </a:pPr>
            <a:r>
              <a:rPr dirty="0" sz="2800" spc="-40">
                <a:solidFill>
                  <a:srgbClr val="0000CC"/>
                </a:solidFill>
                <a:latin typeface="黑体"/>
                <a:cs typeface="黑体"/>
              </a:rPr>
              <a:t>两种方法</a:t>
            </a:r>
            <a:endParaRPr sz="2800">
              <a:latin typeface="黑体"/>
              <a:cs typeface="黑体"/>
            </a:endParaRPr>
          </a:p>
          <a:p>
            <a:pPr lvl="2" marL="1382395" marR="6985" indent="-105410">
              <a:lnSpc>
                <a:spcPct val="125000"/>
              </a:lnSpc>
              <a:spcBef>
                <a:spcPts val="505"/>
              </a:spcBef>
              <a:buClr>
                <a:srgbClr val="4668F5"/>
              </a:buClr>
              <a:buSzPct val="60000"/>
              <a:buFont typeface="Wingdings"/>
              <a:buChar char=""/>
              <a:tabLst>
                <a:tab pos="1382395" algn="l"/>
                <a:tab pos="1556385" algn="l"/>
              </a:tabLst>
            </a:pPr>
            <a:r>
              <a:rPr dirty="0" sz="2000" spc="-10" b="1">
                <a:solidFill>
                  <a:srgbClr val="FF5CFF"/>
                </a:solidFill>
                <a:latin typeface="黑体"/>
                <a:cs typeface="黑体"/>
              </a:rPr>
              <a:t>	</a:t>
            </a:r>
            <a:r>
              <a:rPr dirty="0" sz="2000" spc="-10" b="1">
                <a:solidFill>
                  <a:srgbClr val="FF5CFF"/>
                </a:solidFill>
                <a:latin typeface="黑体"/>
                <a:cs typeface="黑体"/>
              </a:rPr>
              <a:t>1</a:t>
            </a:r>
            <a:r>
              <a:rPr dirty="0" sz="2000" spc="-15" b="1">
                <a:solidFill>
                  <a:srgbClr val="FF5CFF"/>
                </a:solidFill>
                <a:latin typeface="宋体"/>
                <a:cs typeface="宋体"/>
              </a:rPr>
              <a:t>、流水线前端指令流出时</a:t>
            </a:r>
            <a:r>
              <a:rPr dirty="0" sz="2000" spc="-15" b="1">
                <a:solidFill>
                  <a:srgbClr val="FF5CFF"/>
                </a:solidFill>
                <a:latin typeface="黑体"/>
                <a:cs typeface="黑体"/>
              </a:rPr>
              <a:t>—--</a:t>
            </a:r>
            <a:r>
              <a:rPr dirty="0" sz="2000" spc="-20" b="1">
                <a:solidFill>
                  <a:srgbClr val="FF5CFF"/>
                </a:solidFill>
                <a:latin typeface="宋体"/>
                <a:cs typeface="宋体"/>
              </a:rPr>
              <a:t>尽早知道谓词的值（分支转移条件的值</a:t>
            </a:r>
            <a:r>
              <a:rPr dirty="0" sz="2000" spc="-15" b="1">
                <a:solidFill>
                  <a:srgbClr val="FF5CFF"/>
                </a:solidFill>
                <a:latin typeface="宋体"/>
                <a:cs typeface="宋体"/>
              </a:rPr>
              <a:t>）</a:t>
            </a:r>
            <a:r>
              <a:rPr dirty="0" sz="2000" spc="-25" b="1">
                <a:solidFill>
                  <a:srgbClr val="FF5CFF"/>
                </a:solidFill>
                <a:latin typeface="宋体"/>
                <a:cs typeface="宋体"/>
              </a:rPr>
              <a:t>，但很难预测，若谓词指令与紧邻的分支指令存在相关，可能引起“空转”</a:t>
            </a:r>
            <a:endParaRPr sz="2000">
              <a:latin typeface="宋体"/>
              <a:cs typeface="宋体"/>
            </a:endParaRPr>
          </a:p>
          <a:p>
            <a:pPr lvl="2" marL="1382395" marR="8890" indent="-105410">
              <a:lnSpc>
                <a:spcPct val="125099"/>
              </a:lnSpc>
              <a:spcBef>
                <a:spcPts val="475"/>
              </a:spcBef>
              <a:buClr>
                <a:srgbClr val="4668F5"/>
              </a:buClr>
              <a:buSzPct val="60000"/>
              <a:buFont typeface="Wingdings"/>
              <a:buChar char=""/>
              <a:tabLst>
                <a:tab pos="1382395" algn="l"/>
                <a:tab pos="1556385" algn="l"/>
              </a:tabLst>
            </a:pPr>
            <a:r>
              <a:rPr dirty="0" sz="2000" spc="-10" b="1">
                <a:solidFill>
                  <a:srgbClr val="FF5CFF"/>
                </a:solidFill>
                <a:latin typeface="黑体"/>
                <a:cs typeface="黑体"/>
              </a:rPr>
              <a:t>	</a:t>
            </a:r>
            <a:r>
              <a:rPr dirty="0" sz="2000" spc="-10" b="1">
                <a:solidFill>
                  <a:srgbClr val="FF5CFF"/>
                </a:solidFill>
                <a:latin typeface="黑体"/>
                <a:cs typeface="黑体"/>
              </a:rPr>
              <a:t>2</a:t>
            </a:r>
            <a:r>
              <a:rPr dirty="0" sz="2000" spc="-15" b="1">
                <a:solidFill>
                  <a:srgbClr val="FF5CFF"/>
                </a:solidFill>
                <a:latin typeface="宋体"/>
                <a:cs typeface="宋体"/>
              </a:rPr>
              <a:t>、流水线后端结果确认时</a:t>
            </a:r>
            <a:r>
              <a:rPr dirty="0" sz="2000" spc="-10" b="1">
                <a:solidFill>
                  <a:srgbClr val="FF5CFF"/>
                </a:solidFill>
                <a:latin typeface="黑体"/>
                <a:cs typeface="黑体"/>
              </a:rPr>
              <a:t>—</a:t>
            </a:r>
            <a:r>
              <a:rPr dirty="0" sz="2000" spc="-25" b="1">
                <a:solidFill>
                  <a:srgbClr val="FF5CFF"/>
                </a:solidFill>
                <a:latin typeface="宋体"/>
                <a:cs typeface="宋体"/>
              </a:rPr>
              <a:t>决定是否在谓词为假时转换为空操作，降低了功能单元的利</a:t>
            </a:r>
            <a:r>
              <a:rPr dirty="0" sz="2000" spc="-10" b="1">
                <a:solidFill>
                  <a:srgbClr val="FF5CFF"/>
                </a:solidFill>
                <a:latin typeface="宋体"/>
                <a:cs typeface="宋体"/>
              </a:rPr>
              <a:t>用率（</a:t>
            </a:r>
            <a:r>
              <a:rPr dirty="0" sz="2000" spc="-20" b="1">
                <a:solidFill>
                  <a:srgbClr val="FF5CFF"/>
                </a:solidFill>
                <a:latin typeface="宋体"/>
                <a:cs typeface="宋体"/>
              </a:rPr>
              <a:t>结果未被写回，功能单元做了无用功</a:t>
            </a:r>
            <a:r>
              <a:rPr dirty="0" sz="2000" spc="-50" b="1">
                <a:solidFill>
                  <a:srgbClr val="FF5CFF"/>
                </a:solidFill>
                <a:latin typeface="宋体"/>
                <a:cs typeface="宋体"/>
              </a:rPr>
              <a:t>）</a:t>
            </a:r>
            <a:endParaRPr sz="2000">
              <a:latin typeface="宋体"/>
              <a:cs typeface="宋体"/>
            </a:endParaRPr>
          </a:p>
          <a:p>
            <a:pPr lvl="1" marL="1097915" indent="-455930">
              <a:lnSpc>
                <a:spcPct val="100000"/>
              </a:lnSpc>
              <a:spcBef>
                <a:spcPts val="990"/>
              </a:spcBef>
              <a:buClr>
                <a:srgbClr val="40458B"/>
              </a:buClr>
              <a:buSzPct val="89285"/>
              <a:buFont typeface="Wingdings"/>
              <a:buChar char=""/>
              <a:tabLst>
                <a:tab pos="1097915" algn="l"/>
              </a:tabLst>
            </a:pPr>
            <a:r>
              <a:rPr dirty="0" sz="2800" spc="-40">
                <a:solidFill>
                  <a:srgbClr val="0000CC"/>
                </a:solidFill>
                <a:latin typeface="黑体"/>
                <a:cs typeface="黑体"/>
              </a:rPr>
              <a:t>一般采用第二种方法</a:t>
            </a:r>
            <a:endParaRPr sz="2800">
              <a:latin typeface="黑体"/>
              <a:cs typeface="黑体"/>
            </a:endParaRPr>
          </a:p>
          <a:p>
            <a:pPr lvl="2" marL="1556385" indent="-278765">
              <a:lnSpc>
                <a:spcPct val="100000"/>
              </a:lnSpc>
              <a:spcBef>
                <a:spcPts val="1100"/>
              </a:spcBef>
              <a:buClr>
                <a:srgbClr val="4668F5"/>
              </a:buClr>
              <a:buSzPct val="60000"/>
              <a:buFont typeface="Wingdings"/>
              <a:buChar char=""/>
              <a:tabLst>
                <a:tab pos="1556385" algn="l"/>
              </a:tabLst>
            </a:pPr>
            <a:r>
              <a:rPr dirty="0" sz="2000" spc="-20" b="1">
                <a:solidFill>
                  <a:srgbClr val="FF5CFF"/>
                </a:solidFill>
                <a:latin typeface="宋体"/>
                <a:cs typeface="宋体"/>
              </a:rPr>
              <a:t>为什么？</a:t>
            </a:r>
            <a:endParaRPr sz="2000">
              <a:latin typeface="宋体"/>
              <a:cs typeface="宋体"/>
            </a:endParaRPr>
          </a:p>
          <a:p>
            <a:pPr lvl="2" marL="1427480" indent="-163195">
              <a:lnSpc>
                <a:spcPct val="100000"/>
              </a:lnSpc>
              <a:spcBef>
                <a:spcPts val="1085"/>
              </a:spcBef>
              <a:buClr>
                <a:srgbClr val="4668F5"/>
              </a:buClr>
              <a:buSzPct val="60000"/>
              <a:buFont typeface="Wingdings"/>
              <a:buChar char=""/>
              <a:tabLst>
                <a:tab pos="1427480" algn="l"/>
              </a:tabLst>
            </a:pPr>
            <a:r>
              <a:rPr dirty="0" sz="2000" spc="-25" b="1">
                <a:solidFill>
                  <a:srgbClr val="FF5CFF"/>
                </a:solidFill>
                <a:latin typeface="宋体"/>
                <a:cs typeface="宋体"/>
              </a:rPr>
              <a:t>流水线后端在条件不成立时，结果尚未写回，而功能部件做了无用功，但在多流出处理器</a:t>
            </a:r>
            <a:endParaRPr sz="2000">
              <a:latin typeface="宋体"/>
              <a:cs typeface="宋体"/>
            </a:endParaRPr>
          </a:p>
          <a:p>
            <a:pPr marL="1382395">
              <a:lnSpc>
                <a:spcPct val="100000"/>
              </a:lnSpc>
              <a:spcBef>
                <a:spcPts val="600"/>
              </a:spcBef>
            </a:pPr>
            <a:r>
              <a:rPr dirty="0" sz="2000" spc="-25" b="1">
                <a:solidFill>
                  <a:srgbClr val="FF5CFF"/>
                </a:solidFill>
                <a:latin typeface="宋体"/>
                <a:cs typeface="宋体"/>
              </a:rPr>
              <a:t>中，功能部件在不执行谓词指令时也可能处于空闲状态，因此对流水线性能影响尚能容忍</a:t>
            </a:r>
            <a:endParaRPr sz="2000">
              <a:latin typeface="宋体"/>
              <a:cs typeface="宋体"/>
            </a:endParaRPr>
          </a:p>
        </p:txBody>
      </p:sp>
      <p:sp>
        <p:nvSpPr>
          <p:cNvPr id="10" name="object 10"/>
          <p:cNvSpPr txBox="1">
            <a:spLocks noGrp="1"/>
          </p:cNvSpPr>
          <p:nvPr>
            <p:ph type="title"/>
          </p:nvPr>
        </p:nvSpPr>
        <p:spPr>
          <a:xfrm>
            <a:off x="2630804" y="127838"/>
            <a:ext cx="4905375" cy="514350"/>
          </a:xfrm>
          <a:prstGeom prst="rect"/>
        </p:spPr>
        <p:txBody>
          <a:bodyPr wrap="square" lIns="0" tIns="13335" rIns="0" bIns="0" rtlCol="0" vert="horz">
            <a:spAutoFit/>
          </a:bodyPr>
          <a:lstStyle/>
          <a:p>
            <a:pPr marL="12700">
              <a:lnSpc>
                <a:spcPct val="100000"/>
              </a:lnSpc>
              <a:spcBef>
                <a:spcPts val="105"/>
              </a:spcBef>
            </a:pPr>
            <a:r>
              <a:rPr dirty="0" u="none"/>
              <a:t>6.4</a:t>
            </a:r>
            <a:r>
              <a:rPr dirty="0" u="none" spc="-20"/>
              <a:t> 显示并行指令计算EPIC</a:t>
            </a:r>
          </a:p>
        </p:txBody>
      </p:sp>
      <p:sp>
        <p:nvSpPr>
          <p:cNvPr id="11" name="object 11" descr=""/>
          <p:cNvSpPr txBox="1"/>
          <p:nvPr/>
        </p:nvSpPr>
        <p:spPr>
          <a:xfrm>
            <a:off x="8480806" y="57734"/>
            <a:ext cx="2339340" cy="422909"/>
          </a:xfrm>
          <a:prstGeom prst="rect">
            <a:avLst/>
          </a:prstGeom>
        </p:spPr>
        <p:txBody>
          <a:bodyPr wrap="square" lIns="0" tIns="13335" rIns="0" bIns="0" rtlCol="0" vert="horz">
            <a:spAutoFit/>
          </a:bodyPr>
          <a:lstStyle/>
          <a:p>
            <a:pPr marL="12700">
              <a:lnSpc>
                <a:spcPct val="100000"/>
              </a:lnSpc>
              <a:spcBef>
                <a:spcPts val="105"/>
              </a:spcBef>
            </a:pPr>
            <a:r>
              <a:rPr dirty="0" sz="2600">
                <a:solidFill>
                  <a:srgbClr val="0000CC"/>
                </a:solidFill>
                <a:latin typeface="黑体"/>
                <a:cs typeface="黑体"/>
              </a:rPr>
              <a:t>6.4.2</a:t>
            </a:r>
            <a:r>
              <a:rPr dirty="0" sz="2600" spc="-30">
                <a:solidFill>
                  <a:srgbClr val="0000CC"/>
                </a:solidFill>
                <a:latin typeface="黑体"/>
                <a:cs typeface="黑体"/>
              </a:rPr>
              <a:t> 谓词执行</a:t>
            </a:r>
            <a:endParaRPr sz="2600">
              <a:latin typeface="黑体"/>
              <a:cs typeface="黑体"/>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65/89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629818" y="894788"/>
            <a:ext cx="8579485" cy="2406015"/>
          </a:xfrm>
          <a:prstGeom prst="rect">
            <a:avLst/>
          </a:prstGeom>
        </p:spPr>
        <p:txBody>
          <a:bodyPr wrap="square" lIns="0" tIns="118110" rIns="0" bIns="0" rtlCol="0" vert="horz">
            <a:spAutoFit/>
          </a:bodyPr>
          <a:lstStyle/>
          <a:p>
            <a:pPr marL="467995" indent="-455295">
              <a:lnSpc>
                <a:spcPct val="100000"/>
              </a:lnSpc>
              <a:spcBef>
                <a:spcPts val="930"/>
              </a:spcBef>
              <a:buClr>
                <a:srgbClr val="40458B"/>
              </a:buClr>
              <a:buFont typeface="Tahoma"/>
              <a:buAutoNum type="arabicPeriod" startAt="5"/>
              <a:tabLst>
                <a:tab pos="467995" algn="l"/>
              </a:tabLst>
            </a:pPr>
            <a:r>
              <a:rPr dirty="0" sz="2400" spc="-10">
                <a:solidFill>
                  <a:srgbClr val="E14B04"/>
                </a:solidFill>
                <a:latin typeface="黑体"/>
                <a:cs typeface="黑体"/>
              </a:rPr>
              <a:t>谓词执行机制</a:t>
            </a:r>
            <a:r>
              <a:rPr dirty="0" sz="2400" spc="-30">
                <a:solidFill>
                  <a:srgbClr val="E14B04"/>
                </a:solidFill>
                <a:latin typeface="Tahoma"/>
                <a:cs typeface="Tahoma"/>
              </a:rPr>
              <a:t>——</a:t>
            </a:r>
            <a:r>
              <a:rPr dirty="0" sz="2400" spc="-20">
                <a:solidFill>
                  <a:srgbClr val="E14B04"/>
                </a:solidFill>
                <a:latin typeface="黑体"/>
                <a:cs typeface="黑体"/>
              </a:rPr>
              <a:t>异常处理</a:t>
            </a:r>
            <a:endParaRPr sz="2400">
              <a:latin typeface="黑体"/>
              <a:cs typeface="黑体"/>
            </a:endParaRPr>
          </a:p>
          <a:p>
            <a:pPr lvl="1" marL="1097280" indent="-455295">
              <a:lnSpc>
                <a:spcPct val="100000"/>
              </a:lnSpc>
              <a:spcBef>
                <a:spcPts val="955"/>
              </a:spcBef>
              <a:buClr>
                <a:srgbClr val="40458B"/>
              </a:buClr>
              <a:buSzPct val="89285"/>
              <a:buFont typeface="Wingdings"/>
              <a:buChar char=""/>
              <a:tabLst>
                <a:tab pos="1097280" algn="l"/>
              </a:tabLst>
            </a:pPr>
            <a:r>
              <a:rPr dirty="0" sz="2800" spc="-40">
                <a:solidFill>
                  <a:srgbClr val="0000CC"/>
                </a:solidFill>
                <a:latin typeface="黑体"/>
                <a:cs typeface="黑体"/>
              </a:rPr>
              <a:t>谓词执行增加了异常处理的复杂度</a:t>
            </a:r>
            <a:endParaRPr sz="2800">
              <a:latin typeface="黑体"/>
              <a:cs typeface="黑体"/>
            </a:endParaRPr>
          </a:p>
          <a:p>
            <a:pPr lvl="1" marL="1097280" indent="-455295">
              <a:lnSpc>
                <a:spcPct val="100000"/>
              </a:lnSpc>
              <a:spcBef>
                <a:spcPts val="1010"/>
              </a:spcBef>
              <a:buClr>
                <a:srgbClr val="40458B"/>
              </a:buClr>
              <a:buSzPct val="89285"/>
              <a:buFont typeface="Wingdings"/>
              <a:buChar char=""/>
              <a:tabLst>
                <a:tab pos="1097280" algn="l"/>
              </a:tabLst>
            </a:pPr>
            <a:r>
              <a:rPr dirty="0" sz="2800" spc="-25">
                <a:solidFill>
                  <a:srgbClr val="0000CC"/>
                </a:solidFill>
                <a:latin typeface="黑体"/>
                <a:cs typeface="黑体"/>
              </a:rPr>
              <a:t>例若</a:t>
            </a:r>
            <a:r>
              <a:rPr dirty="0" sz="2800" spc="-25">
                <a:solidFill>
                  <a:srgbClr val="6600FF"/>
                </a:solidFill>
                <a:latin typeface="Tahoma"/>
                <a:cs typeface="Tahoma"/>
              </a:rPr>
              <a:t>LWC</a:t>
            </a:r>
            <a:r>
              <a:rPr dirty="0" sz="2800" spc="-40">
                <a:solidFill>
                  <a:srgbClr val="0000CC"/>
                </a:solidFill>
                <a:latin typeface="黑体"/>
                <a:cs typeface="黑体"/>
              </a:rPr>
              <a:t>指令执行时发生缺页中断，如何处理？</a:t>
            </a:r>
            <a:endParaRPr sz="2800">
              <a:latin typeface="黑体"/>
              <a:cs typeface="黑体"/>
            </a:endParaRPr>
          </a:p>
          <a:p>
            <a:pPr lvl="2" marL="1382395" indent="-455930">
              <a:lnSpc>
                <a:spcPct val="100000"/>
              </a:lnSpc>
              <a:spcBef>
                <a:spcPts val="825"/>
              </a:spcBef>
              <a:buClr>
                <a:srgbClr val="4668F5"/>
              </a:buClr>
              <a:buSzPct val="60000"/>
              <a:buFont typeface="Wingdings"/>
              <a:buChar char=""/>
              <a:tabLst>
                <a:tab pos="1382395" algn="l"/>
              </a:tabLst>
            </a:pPr>
            <a:r>
              <a:rPr dirty="0" sz="2000" spc="-10" b="1">
                <a:solidFill>
                  <a:srgbClr val="FF5CFF"/>
                </a:solidFill>
                <a:latin typeface="Times New Roman"/>
                <a:cs typeface="Times New Roman"/>
              </a:rPr>
              <a:t>LWC</a:t>
            </a:r>
            <a:r>
              <a:rPr dirty="0" sz="2000" spc="-15" b="1">
                <a:solidFill>
                  <a:srgbClr val="FF5CFF"/>
                </a:solidFill>
                <a:latin typeface="宋体"/>
                <a:cs typeface="宋体"/>
              </a:rPr>
              <a:t>的谓词为</a:t>
            </a:r>
            <a:r>
              <a:rPr dirty="0" sz="2000" spc="-10" b="1">
                <a:solidFill>
                  <a:srgbClr val="6600FF"/>
                </a:solidFill>
                <a:latin typeface="Times New Roman"/>
                <a:cs typeface="Times New Roman"/>
              </a:rPr>
              <a:t>true</a:t>
            </a:r>
            <a:r>
              <a:rPr dirty="0" sz="2000" spc="-25" b="1">
                <a:solidFill>
                  <a:srgbClr val="FF5CFF"/>
                </a:solidFill>
                <a:latin typeface="宋体"/>
                <a:cs typeface="宋体"/>
              </a:rPr>
              <a:t>，中断本应发生；</a:t>
            </a:r>
            <a:endParaRPr sz="2000">
              <a:latin typeface="宋体"/>
              <a:cs typeface="宋体"/>
            </a:endParaRPr>
          </a:p>
          <a:p>
            <a:pPr lvl="2" marL="1382395" indent="-455930">
              <a:lnSpc>
                <a:spcPct val="100000"/>
              </a:lnSpc>
              <a:spcBef>
                <a:spcPts val="720"/>
              </a:spcBef>
              <a:buClr>
                <a:srgbClr val="4668F5"/>
              </a:buClr>
              <a:buSzPct val="60000"/>
              <a:buFont typeface="Wingdings"/>
              <a:buChar char=""/>
              <a:tabLst>
                <a:tab pos="1382395" algn="l"/>
              </a:tabLst>
            </a:pPr>
            <a:r>
              <a:rPr dirty="0" sz="2000" spc="-10" b="1">
                <a:solidFill>
                  <a:srgbClr val="FF5CFF"/>
                </a:solidFill>
                <a:latin typeface="Times New Roman"/>
                <a:cs typeface="Times New Roman"/>
              </a:rPr>
              <a:t>LWC</a:t>
            </a:r>
            <a:r>
              <a:rPr dirty="0" sz="2000" spc="-15" b="1">
                <a:solidFill>
                  <a:srgbClr val="FF5CFF"/>
                </a:solidFill>
                <a:latin typeface="宋体"/>
                <a:cs typeface="宋体"/>
              </a:rPr>
              <a:t>的谓词为</a:t>
            </a:r>
            <a:r>
              <a:rPr dirty="0" sz="2000" spc="-10" b="1">
                <a:solidFill>
                  <a:srgbClr val="6600FF"/>
                </a:solidFill>
                <a:latin typeface="Times New Roman"/>
                <a:cs typeface="Times New Roman"/>
              </a:rPr>
              <a:t>false</a:t>
            </a:r>
            <a:r>
              <a:rPr dirty="0" sz="2000" spc="-20" b="1">
                <a:solidFill>
                  <a:srgbClr val="FF5CFF"/>
                </a:solidFill>
                <a:latin typeface="宋体"/>
                <a:cs typeface="宋体"/>
              </a:rPr>
              <a:t>，中断不应发生。</a:t>
            </a:r>
            <a:endParaRPr sz="2000">
              <a:latin typeface="宋体"/>
              <a:cs typeface="宋体"/>
            </a:endParaRPr>
          </a:p>
        </p:txBody>
      </p:sp>
      <p:sp>
        <p:nvSpPr>
          <p:cNvPr id="10" name="object 10"/>
          <p:cNvSpPr txBox="1">
            <a:spLocks noGrp="1"/>
          </p:cNvSpPr>
          <p:nvPr>
            <p:ph type="title"/>
          </p:nvPr>
        </p:nvSpPr>
        <p:spPr>
          <a:xfrm>
            <a:off x="1863979" y="40894"/>
            <a:ext cx="4904740" cy="513715"/>
          </a:xfrm>
          <a:prstGeom prst="rect"/>
        </p:spPr>
        <p:txBody>
          <a:bodyPr wrap="square" lIns="0" tIns="12700" rIns="0" bIns="0" rtlCol="0" vert="horz">
            <a:spAutoFit/>
          </a:bodyPr>
          <a:lstStyle/>
          <a:p>
            <a:pPr marL="12700">
              <a:lnSpc>
                <a:spcPct val="100000"/>
              </a:lnSpc>
              <a:spcBef>
                <a:spcPts val="100"/>
              </a:spcBef>
            </a:pPr>
            <a:r>
              <a:rPr dirty="0" u="none"/>
              <a:t>6.4</a:t>
            </a:r>
            <a:r>
              <a:rPr dirty="0" u="none" spc="-15"/>
              <a:t> 显示并行指令计算</a:t>
            </a:r>
            <a:r>
              <a:rPr dirty="0" u="none" spc="-20"/>
              <a:t>EPIC</a:t>
            </a:r>
          </a:p>
        </p:txBody>
      </p:sp>
      <p:graphicFrame>
        <p:nvGraphicFramePr>
          <p:cNvPr id="11" name="object 11" descr=""/>
          <p:cNvGraphicFramePr>
            <a:graphicFrameLocks noGrp="1"/>
          </p:cNvGraphicFramePr>
          <p:nvPr/>
        </p:nvGraphicFramePr>
        <p:xfrm>
          <a:off x="2776601" y="3854450"/>
          <a:ext cx="7146925" cy="2039620"/>
        </p:xfrm>
        <a:graphic>
          <a:graphicData uri="http://schemas.openxmlformats.org/drawingml/2006/table">
            <a:tbl>
              <a:tblPr firstRow="1" bandRow="1">
                <a:tableStyleId>{2D5ABB26-0587-4C30-8999-92F81FD0307C}</a:tableStyleId>
              </a:tblPr>
              <a:tblGrid>
                <a:gridCol w="1410970"/>
                <a:gridCol w="3270250"/>
                <a:gridCol w="2376804"/>
              </a:tblGrid>
              <a:tr h="395605">
                <a:tc>
                  <a:txBody>
                    <a:bodyPr/>
                    <a:lstStyle/>
                    <a:p>
                      <a:pPr algn="ctr">
                        <a:lnSpc>
                          <a:spcPct val="100000"/>
                        </a:lnSpc>
                        <a:spcBef>
                          <a:spcPts val="430"/>
                        </a:spcBef>
                      </a:pPr>
                      <a:r>
                        <a:rPr dirty="0" sz="2000" spc="-30" b="1">
                          <a:solidFill>
                            <a:srgbClr val="E14B04"/>
                          </a:solidFill>
                          <a:latin typeface="宋体"/>
                          <a:cs typeface="宋体"/>
                        </a:rPr>
                        <a:t>周期</a:t>
                      </a:r>
                      <a:endParaRPr sz="2000">
                        <a:latin typeface="宋体"/>
                        <a:cs typeface="宋体"/>
                      </a:endParaRPr>
                    </a:p>
                  </a:txBody>
                  <a:tcPr marL="0" marR="0" marB="0" marT="546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30"/>
                        </a:spcBef>
                      </a:pPr>
                      <a:r>
                        <a:rPr dirty="0" sz="2000" spc="-10" b="1">
                          <a:solidFill>
                            <a:srgbClr val="E14B04"/>
                          </a:solidFill>
                          <a:latin typeface="宋体"/>
                          <a:cs typeface="宋体"/>
                        </a:rPr>
                        <a:t>指令</a:t>
                      </a:r>
                      <a:r>
                        <a:rPr dirty="0" sz="2000" spc="-50" b="1">
                          <a:solidFill>
                            <a:srgbClr val="E14B04"/>
                          </a:solidFill>
                          <a:latin typeface="宋体"/>
                          <a:cs typeface="宋体"/>
                        </a:rPr>
                        <a:t>1</a:t>
                      </a:r>
                      <a:endParaRPr sz="2000">
                        <a:latin typeface="宋体"/>
                        <a:cs typeface="宋体"/>
                      </a:endParaRPr>
                    </a:p>
                  </a:txBody>
                  <a:tcPr marL="0" marR="0" marB="0" marT="546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30"/>
                        </a:spcBef>
                      </a:pPr>
                      <a:r>
                        <a:rPr dirty="0" sz="2000" spc="-10" b="1">
                          <a:solidFill>
                            <a:srgbClr val="E14B04"/>
                          </a:solidFill>
                          <a:latin typeface="宋体"/>
                          <a:cs typeface="宋体"/>
                        </a:rPr>
                        <a:t>指令</a:t>
                      </a:r>
                      <a:r>
                        <a:rPr dirty="0" sz="2000" spc="-50" b="1">
                          <a:solidFill>
                            <a:srgbClr val="E14B04"/>
                          </a:solidFill>
                          <a:latin typeface="宋体"/>
                          <a:cs typeface="宋体"/>
                        </a:rPr>
                        <a:t>2</a:t>
                      </a:r>
                      <a:endParaRPr sz="2000">
                        <a:latin typeface="宋体"/>
                        <a:cs typeface="宋体"/>
                      </a:endParaRPr>
                    </a:p>
                  </a:txBody>
                  <a:tcPr marL="0" marR="0" marB="0" marT="546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95605">
                <a:tc>
                  <a:txBody>
                    <a:bodyPr/>
                    <a:lstStyle/>
                    <a:p>
                      <a:pPr algn="ctr">
                        <a:lnSpc>
                          <a:spcPct val="100000"/>
                        </a:lnSpc>
                        <a:spcBef>
                          <a:spcPts val="430"/>
                        </a:spcBef>
                      </a:pPr>
                      <a:r>
                        <a:rPr dirty="0" sz="2000" spc="-50" b="1">
                          <a:solidFill>
                            <a:srgbClr val="006600"/>
                          </a:solidFill>
                          <a:latin typeface="宋体"/>
                          <a:cs typeface="宋体"/>
                        </a:rPr>
                        <a:t>1</a:t>
                      </a:r>
                      <a:endParaRPr sz="2000">
                        <a:latin typeface="宋体"/>
                        <a:cs typeface="宋体"/>
                      </a:endParaRPr>
                    </a:p>
                  </a:txBody>
                  <a:tcPr marL="0" marR="0" marB="0" marT="54610">
                    <a:lnL w="12700">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430"/>
                        </a:spcBef>
                        <a:tabLst>
                          <a:tab pos="605790" algn="l"/>
                        </a:tabLst>
                      </a:pPr>
                      <a:r>
                        <a:rPr dirty="0" sz="2000" spc="-25" b="1">
                          <a:solidFill>
                            <a:srgbClr val="40458B"/>
                          </a:solidFill>
                          <a:latin typeface="宋体"/>
                          <a:cs typeface="宋体"/>
                        </a:rPr>
                        <a:t>LW</a:t>
                      </a:r>
                      <a:r>
                        <a:rPr dirty="0" sz="2000" b="1">
                          <a:solidFill>
                            <a:srgbClr val="40458B"/>
                          </a:solidFill>
                          <a:latin typeface="宋体"/>
                          <a:cs typeface="宋体"/>
                        </a:rPr>
                        <a:t>	</a:t>
                      </a:r>
                      <a:r>
                        <a:rPr dirty="0" sz="2000" spc="-10" b="1">
                          <a:solidFill>
                            <a:srgbClr val="40458B"/>
                          </a:solidFill>
                          <a:latin typeface="宋体"/>
                          <a:cs typeface="宋体"/>
                        </a:rPr>
                        <a:t>R1，40（R2）</a:t>
                      </a:r>
                      <a:endParaRPr sz="2000">
                        <a:latin typeface="宋体"/>
                        <a:cs typeface="宋体"/>
                      </a:endParaRPr>
                    </a:p>
                  </a:txBody>
                  <a:tcPr marL="0" marR="0" marB="0" marT="54610">
                    <a:lnL w="9525">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430"/>
                        </a:spcBef>
                        <a:tabLst>
                          <a:tab pos="734060" algn="l"/>
                        </a:tabLst>
                      </a:pPr>
                      <a:r>
                        <a:rPr dirty="0" sz="2000" spc="-25" b="1">
                          <a:solidFill>
                            <a:srgbClr val="40458B"/>
                          </a:solidFill>
                          <a:latin typeface="宋体"/>
                          <a:cs typeface="宋体"/>
                        </a:rPr>
                        <a:t>ADD</a:t>
                      </a:r>
                      <a:r>
                        <a:rPr dirty="0" sz="2000" b="1">
                          <a:solidFill>
                            <a:srgbClr val="40458B"/>
                          </a:solidFill>
                          <a:latin typeface="宋体"/>
                          <a:cs typeface="宋体"/>
                        </a:rPr>
                        <a:t>	</a:t>
                      </a:r>
                      <a:r>
                        <a:rPr dirty="0" sz="2000" spc="-10" b="1">
                          <a:solidFill>
                            <a:srgbClr val="40458B"/>
                          </a:solidFill>
                          <a:latin typeface="宋体"/>
                          <a:cs typeface="宋体"/>
                        </a:rPr>
                        <a:t>R3，R4，R5</a:t>
                      </a:r>
                      <a:endParaRPr sz="2000">
                        <a:latin typeface="宋体"/>
                        <a:cs typeface="宋体"/>
                      </a:endParaRPr>
                    </a:p>
                  </a:txBody>
                  <a:tcPr marL="0" marR="0" marB="0" marT="54610">
                    <a:lnL w="952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96240">
                <a:tc>
                  <a:txBody>
                    <a:bodyPr/>
                    <a:lstStyle/>
                    <a:p>
                      <a:pPr algn="ctr">
                        <a:lnSpc>
                          <a:spcPct val="100000"/>
                        </a:lnSpc>
                        <a:spcBef>
                          <a:spcPts val="434"/>
                        </a:spcBef>
                      </a:pPr>
                      <a:r>
                        <a:rPr dirty="0" sz="2000" spc="-50" b="1">
                          <a:solidFill>
                            <a:srgbClr val="006600"/>
                          </a:solidFill>
                          <a:latin typeface="宋体"/>
                          <a:cs typeface="宋体"/>
                        </a:rPr>
                        <a:t>2</a:t>
                      </a:r>
                      <a:endParaRPr sz="2000">
                        <a:latin typeface="宋体"/>
                        <a:cs typeface="宋体"/>
                      </a:endParaRPr>
                    </a:p>
                  </a:txBody>
                  <a:tcPr marL="0" marR="0" marB="0" marT="55244">
                    <a:lnL w="12700">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434"/>
                        </a:spcBef>
                      </a:pPr>
                      <a:r>
                        <a:rPr dirty="0" sz="2000" b="1">
                          <a:solidFill>
                            <a:srgbClr val="FF3300"/>
                          </a:solidFill>
                          <a:latin typeface="宋体"/>
                          <a:cs typeface="宋体"/>
                        </a:rPr>
                        <a:t>LWC</a:t>
                      </a:r>
                      <a:r>
                        <a:rPr dirty="0" sz="2000" spc="-50" b="1">
                          <a:solidFill>
                            <a:srgbClr val="FF3300"/>
                          </a:solidFill>
                          <a:latin typeface="宋体"/>
                          <a:cs typeface="宋体"/>
                        </a:rPr>
                        <a:t> </a:t>
                      </a:r>
                      <a:r>
                        <a:rPr dirty="0" sz="2000" spc="-10" b="1">
                          <a:solidFill>
                            <a:srgbClr val="FF3300"/>
                          </a:solidFill>
                          <a:latin typeface="宋体"/>
                          <a:cs typeface="宋体"/>
                        </a:rPr>
                        <a:t>R8，20（R10），R10</a:t>
                      </a:r>
                      <a:endParaRPr sz="2000">
                        <a:latin typeface="宋体"/>
                        <a:cs typeface="宋体"/>
                      </a:endParaRPr>
                    </a:p>
                  </a:txBody>
                  <a:tcPr marL="0" marR="0" marB="0" marT="55244">
                    <a:lnL w="9525">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434"/>
                        </a:spcBef>
                        <a:tabLst>
                          <a:tab pos="734060" algn="l"/>
                        </a:tabLst>
                      </a:pPr>
                      <a:r>
                        <a:rPr dirty="0" sz="2000" spc="-25" b="1">
                          <a:solidFill>
                            <a:srgbClr val="40458B"/>
                          </a:solidFill>
                          <a:latin typeface="宋体"/>
                          <a:cs typeface="宋体"/>
                        </a:rPr>
                        <a:t>ADD</a:t>
                      </a:r>
                      <a:r>
                        <a:rPr dirty="0" sz="2000" b="1">
                          <a:solidFill>
                            <a:srgbClr val="40458B"/>
                          </a:solidFill>
                          <a:latin typeface="宋体"/>
                          <a:cs typeface="宋体"/>
                        </a:rPr>
                        <a:t>	</a:t>
                      </a:r>
                      <a:r>
                        <a:rPr dirty="0" sz="2000" spc="-10" b="1">
                          <a:solidFill>
                            <a:srgbClr val="40458B"/>
                          </a:solidFill>
                          <a:latin typeface="宋体"/>
                          <a:cs typeface="宋体"/>
                        </a:rPr>
                        <a:t>R6，R3，R7</a:t>
                      </a:r>
                      <a:endParaRPr sz="2000">
                        <a:latin typeface="宋体"/>
                        <a:cs typeface="宋体"/>
                      </a:endParaRPr>
                    </a:p>
                  </a:txBody>
                  <a:tcPr marL="0" marR="0" marB="0" marT="55244">
                    <a:lnL w="952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26084">
                <a:tc>
                  <a:txBody>
                    <a:bodyPr/>
                    <a:lstStyle/>
                    <a:p>
                      <a:pPr algn="ctr">
                        <a:lnSpc>
                          <a:spcPct val="100000"/>
                        </a:lnSpc>
                        <a:spcBef>
                          <a:spcPts val="430"/>
                        </a:spcBef>
                      </a:pPr>
                      <a:r>
                        <a:rPr dirty="0" sz="2000" spc="-50" b="1">
                          <a:solidFill>
                            <a:srgbClr val="006600"/>
                          </a:solidFill>
                          <a:latin typeface="宋体"/>
                          <a:cs typeface="宋体"/>
                        </a:rPr>
                        <a:t>3</a:t>
                      </a:r>
                      <a:endParaRPr sz="2000">
                        <a:latin typeface="宋体"/>
                        <a:cs typeface="宋体"/>
                      </a:endParaRPr>
                    </a:p>
                  </a:txBody>
                  <a:tcPr marL="0" marR="0" marB="0" marT="54610">
                    <a:lnL w="12700">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430"/>
                        </a:spcBef>
                        <a:tabLst>
                          <a:tab pos="862965" algn="l"/>
                        </a:tabLst>
                      </a:pPr>
                      <a:r>
                        <a:rPr dirty="0" sz="2000" spc="-20" b="1">
                          <a:solidFill>
                            <a:srgbClr val="40458B"/>
                          </a:solidFill>
                          <a:latin typeface="宋体"/>
                          <a:cs typeface="宋体"/>
                        </a:rPr>
                        <a:t>BEQZ</a:t>
                      </a:r>
                      <a:r>
                        <a:rPr dirty="0" sz="2000" b="1">
                          <a:solidFill>
                            <a:srgbClr val="40458B"/>
                          </a:solidFill>
                          <a:latin typeface="宋体"/>
                          <a:cs typeface="宋体"/>
                        </a:rPr>
                        <a:t>	</a:t>
                      </a:r>
                      <a:r>
                        <a:rPr dirty="0" sz="2000" spc="-10" b="1">
                          <a:solidFill>
                            <a:srgbClr val="40458B"/>
                          </a:solidFill>
                          <a:latin typeface="宋体"/>
                          <a:cs typeface="宋体"/>
                        </a:rPr>
                        <a:t>R10，L</a:t>
                      </a:r>
                      <a:endParaRPr sz="2000">
                        <a:latin typeface="宋体"/>
                        <a:cs typeface="宋体"/>
                      </a:endParaRPr>
                    </a:p>
                  </a:txBody>
                  <a:tcPr marL="0" marR="0" marB="0" marT="54610">
                    <a:lnL w="9525">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B="0" marT="0">
                    <a:lnL w="952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26084">
                <a:tc>
                  <a:txBody>
                    <a:bodyPr/>
                    <a:lstStyle/>
                    <a:p>
                      <a:pPr algn="ctr">
                        <a:lnSpc>
                          <a:spcPct val="100000"/>
                        </a:lnSpc>
                        <a:spcBef>
                          <a:spcPts val="430"/>
                        </a:spcBef>
                      </a:pPr>
                      <a:r>
                        <a:rPr dirty="0" sz="2000" spc="-50" b="1">
                          <a:solidFill>
                            <a:srgbClr val="006600"/>
                          </a:solidFill>
                          <a:latin typeface="宋体"/>
                          <a:cs typeface="宋体"/>
                        </a:rPr>
                        <a:t>4</a:t>
                      </a:r>
                      <a:endParaRPr sz="2000">
                        <a:latin typeface="宋体"/>
                        <a:cs typeface="宋体"/>
                      </a:endParaRPr>
                    </a:p>
                  </a:txBody>
                  <a:tcPr marL="0" marR="0" marB="0" marT="54610">
                    <a:lnL w="12700">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430"/>
                        </a:spcBef>
                        <a:tabLst>
                          <a:tab pos="605790" algn="l"/>
                        </a:tabLst>
                      </a:pPr>
                      <a:r>
                        <a:rPr dirty="0" sz="2000" spc="-25" b="1">
                          <a:solidFill>
                            <a:srgbClr val="40458B"/>
                          </a:solidFill>
                          <a:latin typeface="宋体"/>
                          <a:cs typeface="宋体"/>
                        </a:rPr>
                        <a:t>LW</a:t>
                      </a:r>
                      <a:r>
                        <a:rPr dirty="0" sz="2000" b="1">
                          <a:solidFill>
                            <a:srgbClr val="40458B"/>
                          </a:solidFill>
                          <a:latin typeface="宋体"/>
                          <a:cs typeface="宋体"/>
                        </a:rPr>
                        <a:t>	</a:t>
                      </a:r>
                      <a:r>
                        <a:rPr dirty="0" sz="2000" spc="-10" b="1">
                          <a:solidFill>
                            <a:srgbClr val="40458B"/>
                          </a:solidFill>
                          <a:latin typeface="宋体"/>
                          <a:cs typeface="宋体"/>
                        </a:rPr>
                        <a:t>R9，0（R8）</a:t>
                      </a:r>
                      <a:endParaRPr sz="2000">
                        <a:latin typeface="宋体"/>
                        <a:cs typeface="宋体"/>
                      </a:endParaRPr>
                    </a:p>
                  </a:txBody>
                  <a:tcPr marL="0" marR="0" marB="0" marT="54610">
                    <a:lnL w="9525">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B="0" marT="0">
                    <a:lnL w="952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2" name="object 12" descr=""/>
          <p:cNvSpPr txBox="1"/>
          <p:nvPr/>
        </p:nvSpPr>
        <p:spPr>
          <a:xfrm>
            <a:off x="8480806" y="57734"/>
            <a:ext cx="2339340" cy="422909"/>
          </a:xfrm>
          <a:prstGeom prst="rect">
            <a:avLst/>
          </a:prstGeom>
        </p:spPr>
        <p:txBody>
          <a:bodyPr wrap="square" lIns="0" tIns="13335" rIns="0" bIns="0" rtlCol="0" vert="horz">
            <a:spAutoFit/>
          </a:bodyPr>
          <a:lstStyle/>
          <a:p>
            <a:pPr marL="12700">
              <a:lnSpc>
                <a:spcPct val="100000"/>
              </a:lnSpc>
              <a:spcBef>
                <a:spcPts val="105"/>
              </a:spcBef>
            </a:pPr>
            <a:r>
              <a:rPr dirty="0" sz="2600">
                <a:solidFill>
                  <a:srgbClr val="0000CC"/>
                </a:solidFill>
                <a:latin typeface="黑体"/>
                <a:cs typeface="黑体"/>
              </a:rPr>
              <a:t>6.4.2</a:t>
            </a:r>
            <a:r>
              <a:rPr dirty="0" sz="2600" spc="-30">
                <a:solidFill>
                  <a:srgbClr val="0000CC"/>
                </a:solidFill>
                <a:latin typeface="黑体"/>
                <a:cs typeface="黑体"/>
              </a:rPr>
              <a:t> 谓词执行</a:t>
            </a:r>
            <a:endParaRPr sz="2600">
              <a:latin typeface="黑体"/>
              <a:cs typeface="黑体"/>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66/89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78739" y="713200"/>
            <a:ext cx="12073255" cy="5718810"/>
          </a:xfrm>
          <a:prstGeom prst="rect">
            <a:avLst/>
          </a:prstGeom>
        </p:spPr>
        <p:txBody>
          <a:bodyPr wrap="square" lIns="0" tIns="90805" rIns="0" bIns="0" rtlCol="0" vert="horz">
            <a:spAutoFit/>
          </a:bodyPr>
          <a:lstStyle/>
          <a:p>
            <a:pPr marL="12700">
              <a:lnSpc>
                <a:spcPct val="100000"/>
              </a:lnSpc>
              <a:spcBef>
                <a:spcPts val="715"/>
              </a:spcBef>
            </a:pPr>
            <a:r>
              <a:rPr dirty="0" sz="2800" spc="-45">
                <a:solidFill>
                  <a:srgbClr val="E14B04"/>
                </a:solidFill>
                <a:latin typeface="黑体"/>
                <a:cs typeface="黑体"/>
              </a:rPr>
              <a:t>概述</a:t>
            </a:r>
            <a:endParaRPr sz="2800">
              <a:latin typeface="黑体"/>
              <a:cs typeface="黑体"/>
            </a:endParaRPr>
          </a:p>
          <a:p>
            <a:pPr marL="876300" indent="-455295">
              <a:lnSpc>
                <a:spcPct val="100000"/>
              </a:lnSpc>
              <a:spcBef>
                <a:spcPts val="615"/>
              </a:spcBef>
              <a:buClr>
                <a:srgbClr val="40458B"/>
              </a:buClr>
              <a:buSzPct val="89285"/>
              <a:buFont typeface="Wingdings"/>
              <a:buChar char=""/>
              <a:tabLst>
                <a:tab pos="876300" algn="l"/>
              </a:tabLst>
            </a:pPr>
            <a:r>
              <a:rPr dirty="0" sz="2800" spc="-35">
                <a:solidFill>
                  <a:srgbClr val="0000CC"/>
                </a:solidFill>
                <a:latin typeface="黑体"/>
                <a:cs typeface="黑体"/>
              </a:rPr>
              <a:t>谓词执行与全局指令调度的不足之处</a:t>
            </a:r>
            <a:r>
              <a:rPr dirty="0" sz="2800" spc="-20">
                <a:solidFill>
                  <a:srgbClr val="0000CC"/>
                </a:solidFill>
                <a:latin typeface="黑体"/>
                <a:cs typeface="黑体"/>
              </a:rPr>
              <a:t>（</a:t>
            </a:r>
            <a:r>
              <a:rPr dirty="0" sz="2800" spc="-35">
                <a:solidFill>
                  <a:srgbClr val="0000CC"/>
                </a:solidFill>
                <a:latin typeface="黑体"/>
                <a:cs typeface="黑体"/>
              </a:rPr>
              <a:t>控制依赖</a:t>
            </a:r>
            <a:r>
              <a:rPr dirty="0" sz="2800" spc="-35">
                <a:solidFill>
                  <a:srgbClr val="0000CC"/>
                </a:solidFill>
                <a:latin typeface="Tahoma"/>
                <a:cs typeface="Tahoma"/>
              </a:rPr>
              <a:t>—</a:t>
            </a:r>
            <a:r>
              <a:rPr dirty="0" sz="2800" spc="-35">
                <a:solidFill>
                  <a:srgbClr val="0000CC"/>
                </a:solidFill>
                <a:latin typeface="黑体"/>
                <a:cs typeface="黑体"/>
              </a:rPr>
              <a:t>数据依赖</a:t>
            </a:r>
            <a:r>
              <a:rPr dirty="0" sz="2800" spc="-50">
                <a:solidFill>
                  <a:srgbClr val="0000CC"/>
                </a:solidFill>
                <a:latin typeface="黑体"/>
                <a:cs typeface="黑体"/>
              </a:rPr>
              <a:t>）</a:t>
            </a:r>
            <a:endParaRPr sz="2800">
              <a:latin typeface="黑体"/>
              <a:cs typeface="黑体"/>
            </a:endParaRPr>
          </a:p>
          <a:p>
            <a:pPr lvl="1" marL="1320165" indent="-335280">
              <a:lnSpc>
                <a:spcPct val="100000"/>
              </a:lnSpc>
              <a:spcBef>
                <a:spcPts val="640"/>
              </a:spcBef>
              <a:buClr>
                <a:srgbClr val="4668F5"/>
              </a:buClr>
              <a:buSzPct val="60416"/>
              <a:buFont typeface="Wingdings"/>
              <a:buChar char=""/>
              <a:tabLst>
                <a:tab pos="1320165" algn="l"/>
              </a:tabLst>
            </a:pPr>
            <a:r>
              <a:rPr dirty="0" sz="2400" spc="-20" b="1">
                <a:solidFill>
                  <a:srgbClr val="FF5CFF"/>
                </a:solidFill>
                <a:latin typeface="宋体"/>
                <a:cs typeface="宋体"/>
              </a:rPr>
              <a:t>仅有少量结构全面实现谓词执行，借助全局指令技术</a:t>
            </a:r>
            <a:r>
              <a:rPr dirty="0" sz="2400" spc="-25" b="1">
                <a:solidFill>
                  <a:srgbClr val="FF0000"/>
                </a:solidFill>
                <a:latin typeface="宋体"/>
                <a:cs typeface="宋体"/>
              </a:rPr>
              <a:t>跨越条件分支</a:t>
            </a:r>
            <a:r>
              <a:rPr dirty="0" sz="2400" spc="-25" b="1">
                <a:solidFill>
                  <a:srgbClr val="FF5CFF"/>
                </a:solidFill>
                <a:latin typeface="宋体"/>
                <a:cs typeface="宋体"/>
              </a:rPr>
              <a:t>进行指令调度</a:t>
            </a:r>
            <a:endParaRPr sz="2400">
              <a:latin typeface="宋体"/>
              <a:cs typeface="宋体"/>
            </a:endParaRPr>
          </a:p>
          <a:p>
            <a:pPr lvl="1" marL="1320165" indent="-335280">
              <a:lnSpc>
                <a:spcPct val="100000"/>
              </a:lnSpc>
              <a:spcBef>
                <a:spcPts val="1000"/>
              </a:spcBef>
              <a:buClr>
                <a:srgbClr val="4668F5"/>
              </a:buClr>
              <a:buSzPct val="60416"/>
              <a:buFont typeface="Wingdings"/>
              <a:buChar char=""/>
              <a:tabLst>
                <a:tab pos="1320165" algn="l"/>
              </a:tabLst>
            </a:pPr>
            <a:r>
              <a:rPr dirty="0" sz="2400" spc="-30" b="1">
                <a:solidFill>
                  <a:srgbClr val="FF5CFF"/>
                </a:solidFill>
                <a:latin typeface="宋体"/>
                <a:cs typeface="宋体"/>
              </a:rPr>
              <a:t>全局指令调度在分支指令之前再猜测执行，为了确保结果正确，往往需要补偿代</a:t>
            </a:r>
            <a:endParaRPr sz="2400">
              <a:latin typeface="宋体"/>
              <a:cs typeface="宋体"/>
            </a:endParaRPr>
          </a:p>
          <a:p>
            <a:pPr marL="984885">
              <a:lnSpc>
                <a:spcPct val="100000"/>
              </a:lnSpc>
              <a:spcBef>
                <a:spcPts val="420"/>
              </a:spcBef>
            </a:pPr>
            <a:r>
              <a:rPr dirty="0" sz="2400" spc="-25" b="1">
                <a:solidFill>
                  <a:srgbClr val="FF5CFF"/>
                </a:solidFill>
                <a:latin typeface="宋体"/>
                <a:cs typeface="宋体"/>
              </a:rPr>
              <a:t>码，降低了猜测执行的性能</a:t>
            </a:r>
            <a:endParaRPr sz="2400">
              <a:latin typeface="宋体"/>
              <a:cs typeface="宋体"/>
            </a:endParaRPr>
          </a:p>
          <a:p>
            <a:pPr marL="1097915" indent="-455930">
              <a:lnSpc>
                <a:spcPct val="100000"/>
              </a:lnSpc>
              <a:spcBef>
                <a:spcPts val="970"/>
              </a:spcBef>
              <a:buClr>
                <a:srgbClr val="40458B"/>
              </a:buClr>
              <a:buSzPct val="89285"/>
              <a:buFont typeface="Wingdings"/>
              <a:buChar char=""/>
              <a:tabLst>
                <a:tab pos="1097915" algn="l"/>
              </a:tabLst>
            </a:pPr>
            <a:r>
              <a:rPr dirty="0" sz="2800" spc="-25">
                <a:solidFill>
                  <a:srgbClr val="0000CC"/>
                </a:solidFill>
                <a:latin typeface="Tahoma"/>
                <a:cs typeface="Tahoma"/>
              </a:rPr>
              <a:t>EPIC</a:t>
            </a:r>
            <a:r>
              <a:rPr dirty="0" sz="2800" spc="-40">
                <a:solidFill>
                  <a:srgbClr val="0000CC"/>
                </a:solidFill>
                <a:latin typeface="黑体"/>
                <a:cs typeface="黑体"/>
              </a:rPr>
              <a:t>结构通过前瞻执行提高猜测执行的效果</a:t>
            </a:r>
            <a:endParaRPr sz="2800">
              <a:latin typeface="黑体"/>
              <a:cs typeface="黑体"/>
            </a:endParaRPr>
          </a:p>
          <a:p>
            <a:pPr marL="1097915" indent="-455930">
              <a:lnSpc>
                <a:spcPct val="100000"/>
              </a:lnSpc>
              <a:spcBef>
                <a:spcPts val="610"/>
              </a:spcBef>
              <a:buClr>
                <a:srgbClr val="40458B"/>
              </a:buClr>
              <a:buSzPct val="89285"/>
              <a:buFont typeface="Wingdings"/>
              <a:buChar char=""/>
              <a:tabLst>
                <a:tab pos="1097915" algn="l"/>
              </a:tabLst>
            </a:pPr>
            <a:r>
              <a:rPr dirty="0" sz="2800" spc="-40">
                <a:solidFill>
                  <a:srgbClr val="0000CC"/>
                </a:solidFill>
                <a:latin typeface="黑体"/>
                <a:cs typeface="黑体"/>
              </a:rPr>
              <a:t>什么是前瞻执行？</a:t>
            </a:r>
            <a:endParaRPr sz="2800">
              <a:latin typeface="黑体"/>
              <a:cs typeface="黑体"/>
            </a:endParaRPr>
          </a:p>
          <a:p>
            <a:pPr lvl="1" marL="1154430" marR="160655" indent="334645">
              <a:lnSpc>
                <a:spcPct val="114599"/>
              </a:lnSpc>
              <a:spcBef>
                <a:spcPts val="220"/>
              </a:spcBef>
              <a:buClr>
                <a:srgbClr val="4668F5"/>
              </a:buClr>
              <a:buSzPct val="60416"/>
              <a:buFont typeface="Wingdings"/>
              <a:buChar char=""/>
              <a:tabLst>
                <a:tab pos="1489075" algn="l"/>
              </a:tabLst>
            </a:pPr>
            <a:r>
              <a:rPr dirty="0" sz="2400" spc="-20" b="1">
                <a:solidFill>
                  <a:srgbClr val="FF5CFF"/>
                </a:solidFill>
                <a:latin typeface="宋体"/>
                <a:cs typeface="宋体"/>
              </a:rPr>
              <a:t>在数据相关或控制相关尚未消除时，将指令调度到相关指令前猜测执行。</a:t>
            </a:r>
            <a:r>
              <a:rPr dirty="0" sz="2400" spc="-10" b="1">
                <a:solidFill>
                  <a:srgbClr val="FF5CFF"/>
                </a:solidFill>
                <a:latin typeface="宋体"/>
                <a:cs typeface="宋体"/>
              </a:rPr>
              <a:t>（</a:t>
            </a:r>
            <a:r>
              <a:rPr dirty="0" sz="2400" spc="-50">
                <a:solidFill>
                  <a:srgbClr val="FF5CFF"/>
                </a:solidFill>
                <a:latin typeface="黑体"/>
                <a:cs typeface="黑体"/>
              </a:rPr>
              <a:t>如</a:t>
            </a:r>
            <a:r>
              <a:rPr dirty="0" sz="2400">
                <a:solidFill>
                  <a:srgbClr val="FF5CFF"/>
                </a:solidFill>
                <a:latin typeface="黑体"/>
                <a:cs typeface="黑体"/>
              </a:rPr>
              <a:t>何突破传统的数据依赖和控制依赖限制</a:t>
            </a:r>
            <a:r>
              <a:rPr dirty="0" sz="2400" spc="-50" b="1">
                <a:solidFill>
                  <a:srgbClr val="FF5CFF"/>
                </a:solidFill>
                <a:latin typeface="宋体"/>
                <a:cs typeface="宋体"/>
              </a:rPr>
              <a:t>）</a:t>
            </a:r>
            <a:endParaRPr sz="2400">
              <a:latin typeface="宋体"/>
              <a:cs typeface="宋体"/>
            </a:endParaRPr>
          </a:p>
          <a:p>
            <a:pPr lvl="1" marL="1489075" indent="-334645">
              <a:lnSpc>
                <a:spcPct val="100000"/>
              </a:lnSpc>
              <a:spcBef>
                <a:spcPts val="1000"/>
              </a:spcBef>
              <a:buClr>
                <a:srgbClr val="4668F5"/>
              </a:buClr>
              <a:buSzPct val="60416"/>
              <a:buFont typeface="Wingdings"/>
              <a:buChar char=""/>
              <a:tabLst>
                <a:tab pos="1489075" algn="l"/>
              </a:tabLst>
            </a:pPr>
            <a:r>
              <a:rPr dirty="0" sz="2400" spc="-30" b="1">
                <a:solidFill>
                  <a:srgbClr val="FF5CFF"/>
                </a:solidFill>
                <a:latin typeface="宋体"/>
                <a:cs typeface="宋体"/>
              </a:rPr>
              <a:t>通过硬件机制完成异常处理，确保正确性。</a:t>
            </a:r>
            <a:endParaRPr sz="2400">
              <a:latin typeface="宋体"/>
              <a:cs typeface="宋体"/>
            </a:endParaRPr>
          </a:p>
          <a:p>
            <a:pPr lvl="1" marL="1335405" indent="-193675">
              <a:lnSpc>
                <a:spcPct val="100000"/>
              </a:lnSpc>
              <a:spcBef>
                <a:spcPts val="994"/>
              </a:spcBef>
              <a:buClr>
                <a:srgbClr val="4668F5"/>
              </a:buClr>
              <a:buSzPct val="60416"/>
              <a:buFont typeface="Wingdings"/>
              <a:buChar char=""/>
              <a:tabLst>
                <a:tab pos="1335405" algn="l"/>
              </a:tabLst>
            </a:pPr>
            <a:r>
              <a:rPr dirty="0" sz="2400" spc="-20" b="1">
                <a:solidFill>
                  <a:srgbClr val="FF5CFF"/>
                </a:solidFill>
                <a:latin typeface="宋体"/>
                <a:cs typeface="宋体"/>
              </a:rPr>
              <a:t>让EPIC“聪明”去冒险，从而挖掘更深层次的指令级并行（</a:t>
            </a:r>
            <a:r>
              <a:rPr dirty="0" sz="2400" spc="-25" b="1">
                <a:solidFill>
                  <a:srgbClr val="FF5CFF"/>
                </a:solidFill>
                <a:latin typeface="宋体"/>
                <a:cs typeface="宋体"/>
              </a:rPr>
              <a:t>是编译器静态发起的</a:t>
            </a:r>
            <a:endParaRPr sz="2400">
              <a:latin typeface="宋体"/>
              <a:cs typeface="宋体"/>
            </a:endParaRPr>
          </a:p>
          <a:p>
            <a:pPr marL="1154430">
              <a:lnSpc>
                <a:spcPct val="100000"/>
              </a:lnSpc>
              <a:spcBef>
                <a:spcPts val="420"/>
              </a:spcBef>
            </a:pPr>
            <a:r>
              <a:rPr dirty="0" sz="2400" spc="-20" b="1">
                <a:solidFill>
                  <a:srgbClr val="FF5CFF"/>
                </a:solidFill>
                <a:latin typeface="宋体"/>
                <a:cs typeface="宋体"/>
              </a:rPr>
              <a:t>显式的冒险行为</a:t>
            </a:r>
            <a:r>
              <a:rPr dirty="0" sz="2400" spc="-50" b="1">
                <a:solidFill>
                  <a:srgbClr val="FF5CFF"/>
                </a:solidFill>
                <a:latin typeface="宋体"/>
                <a:cs typeface="宋体"/>
              </a:rPr>
              <a:t>）</a:t>
            </a:r>
            <a:endParaRPr sz="2400">
              <a:latin typeface="宋体"/>
              <a:cs typeface="宋体"/>
            </a:endParaRPr>
          </a:p>
        </p:txBody>
      </p:sp>
      <p:sp>
        <p:nvSpPr>
          <p:cNvPr id="10" name="object 10" descr=""/>
          <p:cNvSpPr txBox="1"/>
          <p:nvPr/>
        </p:nvSpPr>
        <p:spPr>
          <a:xfrm>
            <a:off x="8565006" y="158242"/>
            <a:ext cx="2340610"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6.4.3</a:t>
            </a:r>
            <a:r>
              <a:rPr dirty="0" sz="2600" spc="-15">
                <a:solidFill>
                  <a:srgbClr val="0000CC"/>
                </a:solidFill>
                <a:latin typeface="黑体"/>
                <a:cs typeface="黑体"/>
              </a:rPr>
              <a:t> 前瞻执行</a:t>
            </a:r>
            <a:endParaRPr sz="2600">
              <a:latin typeface="黑体"/>
              <a:cs typeface="黑体"/>
            </a:endParaRPr>
          </a:p>
        </p:txBody>
      </p:sp>
      <p:sp>
        <p:nvSpPr>
          <p:cNvPr id="11" name="object 11"/>
          <p:cNvSpPr txBox="1">
            <a:spLocks noGrp="1"/>
          </p:cNvSpPr>
          <p:nvPr>
            <p:ph type="title"/>
          </p:nvPr>
        </p:nvSpPr>
        <p:spPr>
          <a:xfrm>
            <a:off x="2152904" y="85470"/>
            <a:ext cx="4904740" cy="513715"/>
          </a:xfrm>
          <a:prstGeom prst="rect"/>
        </p:spPr>
        <p:txBody>
          <a:bodyPr wrap="square" lIns="0" tIns="12700" rIns="0" bIns="0" rtlCol="0" vert="horz">
            <a:spAutoFit/>
          </a:bodyPr>
          <a:lstStyle/>
          <a:p>
            <a:pPr marL="12700">
              <a:lnSpc>
                <a:spcPct val="100000"/>
              </a:lnSpc>
              <a:spcBef>
                <a:spcPts val="100"/>
              </a:spcBef>
            </a:pPr>
            <a:r>
              <a:rPr dirty="0" u="none"/>
              <a:t>6.4</a:t>
            </a:r>
            <a:r>
              <a:rPr dirty="0" u="none" spc="-15"/>
              <a:t> 显示并行指令计算</a:t>
            </a:r>
            <a:r>
              <a:rPr dirty="0" u="none" spc="-20"/>
              <a:t>EPIC</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67/89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935607" y="61721"/>
            <a:ext cx="4904105" cy="513715"/>
          </a:xfrm>
          <a:prstGeom prst="rect"/>
        </p:spPr>
        <p:txBody>
          <a:bodyPr wrap="square" lIns="0" tIns="12700" rIns="0" bIns="0" rtlCol="0" vert="horz">
            <a:spAutoFit/>
          </a:bodyPr>
          <a:lstStyle/>
          <a:p>
            <a:pPr marL="12700">
              <a:lnSpc>
                <a:spcPct val="100000"/>
              </a:lnSpc>
              <a:spcBef>
                <a:spcPts val="100"/>
              </a:spcBef>
            </a:pPr>
            <a:r>
              <a:rPr dirty="0" u="none"/>
              <a:t>6.4</a:t>
            </a:r>
            <a:r>
              <a:rPr dirty="0" u="none" spc="-15"/>
              <a:t> 显示并行指令计算</a:t>
            </a:r>
            <a:r>
              <a:rPr dirty="0" u="none" spc="-20"/>
              <a:t>EPIC</a:t>
            </a:r>
          </a:p>
        </p:txBody>
      </p:sp>
      <p:sp>
        <p:nvSpPr>
          <p:cNvPr id="10" name="object 10" descr=""/>
          <p:cNvSpPr txBox="1"/>
          <p:nvPr/>
        </p:nvSpPr>
        <p:spPr>
          <a:xfrm>
            <a:off x="311302" y="560378"/>
            <a:ext cx="11901170" cy="4512310"/>
          </a:xfrm>
          <a:prstGeom prst="rect">
            <a:avLst/>
          </a:prstGeom>
        </p:spPr>
        <p:txBody>
          <a:bodyPr wrap="square" lIns="0" tIns="191770" rIns="0" bIns="0" rtlCol="0" vert="horz">
            <a:spAutoFit/>
          </a:bodyPr>
          <a:lstStyle/>
          <a:p>
            <a:pPr marL="467995" indent="-455295">
              <a:lnSpc>
                <a:spcPct val="100000"/>
              </a:lnSpc>
              <a:spcBef>
                <a:spcPts val="1510"/>
              </a:spcBef>
              <a:buClr>
                <a:srgbClr val="40458B"/>
              </a:buClr>
              <a:buSzPct val="89285"/>
              <a:buFont typeface="Wingdings"/>
              <a:buChar char=""/>
              <a:tabLst>
                <a:tab pos="467995" algn="l"/>
              </a:tabLst>
            </a:pPr>
            <a:r>
              <a:rPr dirty="0" sz="2800" spc="-35">
                <a:solidFill>
                  <a:srgbClr val="0000CC"/>
                </a:solidFill>
                <a:latin typeface="黑体"/>
                <a:cs typeface="黑体"/>
              </a:rPr>
              <a:t>影响前瞻执行效果的</a:t>
            </a:r>
            <a:r>
              <a:rPr dirty="0" sz="2800" spc="-45">
                <a:solidFill>
                  <a:srgbClr val="D50092"/>
                </a:solidFill>
                <a:latin typeface="黑体"/>
                <a:cs typeface="黑体"/>
              </a:rPr>
              <a:t>因素</a:t>
            </a:r>
            <a:endParaRPr sz="2800">
              <a:latin typeface="黑体"/>
              <a:cs typeface="黑体"/>
            </a:endParaRPr>
          </a:p>
          <a:p>
            <a:pPr lvl="1" marL="859790" indent="-335280">
              <a:lnSpc>
                <a:spcPct val="100000"/>
              </a:lnSpc>
              <a:spcBef>
                <a:spcPts val="1220"/>
              </a:spcBef>
              <a:buClr>
                <a:srgbClr val="4668F5"/>
              </a:buClr>
              <a:buSzPct val="60416"/>
              <a:buFont typeface="Wingdings"/>
              <a:buChar char=""/>
              <a:tabLst>
                <a:tab pos="859790" algn="l"/>
              </a:tabLst>
            </a:pPr>
            <a:r>
              <a:rPr dirty="0" sz="2400" spc="-25" b="1">
                <a:solidFill>
                  <a:srgbClr val="0000CC"/>
                </a:solidFill>
                <a:latin typeface="宋体"/>
                <a:cs typeface="宋体"/>
              </a:rPr>
              <a:t>编译器能力的高低</a:t>
            </a:r>
            <a:r>
              <a:rPr dirty="0" sz="2400" spc="-25" b="1">
                <a:solidFill>
                  <a:srgbClr val="FF5CFF"/>
                </a:solidFill>
                <a:latin typeface="宋体"/>
                <a:cs typeface="宋体"/>
              </a:rPr>
              <a:t>：能否准确识别出可以被前瞻执行的指令。</a:t>
            </a:r>
            <a:r>
              <a:rPr dirty="0" sz="2400" spc="-20" b="1">
                <a:solidFill>
                  <a:srgbClr val="0000CC"/>
                </a:solidFill>
                <a:latin typeface="宋体"/>
                <a:cs typeface="宋体"/>
              </a:rPr>
              <a:t>例如图</a:t>
            </a:r>
            <a:r>
              <a:rPr dirty="0" sz="2400" spc="-25" b="1">
                <a:solidFill>
                  <a:srgbClr val="0000CC"/>
                </a:solidFill>
                <a:latin typeface="宋体"/>
                <a:cs typeface="宋体"/>
              </a:rPr>
              <a:t>6.3</a:t>
            </a:r>
            <a:endParaRPr sz="2400">
              <a:latin typeface="宋体"/>
              <a:cs typeface="宋体"/>
            </a:endParaRPr>
          </a:p>
          <a:p>
            <a:pPr lvl="1" marL="524510" marR="5080" indent="335280">
              <a:lnSpc>
                <a:spcPct val="120000"/>
              </a:lnSpc>
              <a:spcBef>
                <a:spcPts val="575"/>
              </a:spcBef>
              <a:buClr>
                <a:srgbClr val="4668F5"/>
              </a:buClr>
              <a:buSzPct val="60416"/>
              <a:buFont typeface="Wingdings"/>
              <a:buChar char=""/>
              <a:tabLst>
                <a:tab pos="859790" algn="l"/>
              </a:tabLst>
            </a:pPr>
            <a:r>
              <a:rPr dirty="0" sz="2400" spc="-25" b="1">
                <a:solidFill>
                  <a:srgbClr val="0000CC"/>
                </a:solidFill>
                <a:latin typeface="宋体"/>
                <a:cs typeface="宋体"/>
              </a:rPr>
              <a:t>异常处理机制</a:t>
            </a:r>
            <a:r>
              <a:rPr dirty="0" sz="2400" spc="-25" b="1">
                <a:solidFill>
                  <a:srgbClr val="FF5CFF"/>
                </a:solidFill>
                <a:latin typeface="宋体"/>
                <a:cs typeface="宋体"/>
              </a:rPr>
              <a:t>：能否推迟处理由被前瞻执行的指令引起的异常，直到确定前瞻指令确实被执行后。例如谓词执行。</a:t>
            </a:r>
            <a:endParaRPr sz="2400">
              <a:latin typeface="宋体"/>
              <a:cs typeface="宋体"/>
            </a:endParaRPr>
          </a:p>
          <a:p>
            <a:pPr lvl="1" marL="859790" indent="-335280">
              <a:lnSpc>
                <a:spcPct val="100000"/>
              </a:lnSpc>
              <a:spcBef>
                <a:spcPts val="1155"/>
              </a:spcBef>
              <a:buClr>
                <a:srgbClr val="4668F5"/>
              </a:buClr>
              <a:buSzPct val="60416"/>
              <a:buFont typeface="Wingdings"/>
              <a:buChar char=""/>
              <a:tabLst>
                <a:tab pos="859790" algn="l"/>
              </a:tabLst>
            </a:pPr>
            <a:r>
              <a:rPr dirty="0" sz="2400" spc="-20" b="1">
                <a:solidFill>
                  <a:srgbClr val="0000CC"/>
                </a:solidFill>
                <a:latin typeface="宋体"/>
                <a:cs typeface="宋体"/>
              </a:rPr>
              <a:t>如何避免前瞻引起的错误（数据前瞻或控制前瞻</a:t>
            </a:r>
            <a:r>
              <a:rPr dirty="0" sz="2400" spc="-25" b="1">
                <a:solidFill>
                  <a:srgbClr val="0000CC"/>
                </a:solidFill>
                <a:latin typeface="宋体"/>
                <a:cs typeface="宋体"/>
              </a:rPr>
              <a:t>）</a:t>
            </a:r>
            <a:r>
              <a:rPr dirty="0" sz="2400" spc="-25" b="1">
                <a:solidFill>
                  <a:srgbClr val="FF5CFF"/>
                </a:solidFill>
                <a:latin typeface="宋体"/>
                <a:cs typeface="宋体"/>
              </a:rPr>
              <a:t>？</a:t>
            </a:r>
            <a:endParaRPr sz="2400">
              <a:latin typeface="宋体"/>
              <a:cs typeface="宋体"/>
            </a:endParaRPr>
          </a:p>
          <a:p>
            <a:pPr lvl="1">
              <a:lnSpc>
                <a:spcPct val="100000"/>
              </a:lnSpc>
              <a:spcBef>
                <a:spcPts val="425"/>
              </a:spcBef>
              <a:buClr>
                <a:srgbClr val="4668F5"/>
              </a:buClr>
              <a:buFont typeface="Wingdings"/>
              <a:buChar char=""/>
            </a:pPr>
            <a:endParaRPr sz="2400">
              <a:latin typeface="宋体"/>
              <a:cs typeface="宋体"/>
            </a:endParaRPr>
          </a:p>
          <a:p>
            <a:pPr algn="r" marR="9145270">
              <a:lnSpc>
                <a:spcPct val="100000"/>
              </a:lnSpc>
            </a:pPr>
            <a:r>
              <a:rPr dirty="0" sz="2800" spc="-40">
                <a:solidFill>
                  <a:srgbClr val="E14B04"/>
                </a:solidFill>
                <a:latin typeface="黑体"/>
                <a:cs typeface="黑体"/>
              </a:rPr>
              <a:t>两种类型的前瞻</a:t>
            </a:r>
            <a:endParaRPr sz="2800">
              <a:latin typeface="黑体"/>
              <a:cs typeface="黑体"/>
            </a:endParaRPr>
          </a:p>
          <a:p>
            <a:pPr algn="r" lvl="2" marL="567055" marR="9230995" indent="-567055">
              <a:lnSpc>
                <a:spcPct val="100000"/>
              </a:lnSpc>
              <a:spcBef>
                <a:spcPts val="615"/>
              </a:spcBef>
              <a:buClr>
                <a:srgbClr val="40458B"/>
              </a:buClr>
              <a:buSzPct val="89285"/>
              <a:buFont typeface="Wingdings"/>
              <a:buChar char=""/>
              <a:tabLst>
                <a:tab pos="567055" algn="l"/>
              </a:tabLst>
            </a:pPr>
            <a:r>
              <a:rPr dirty="0" sz="2800" spc="-35">
                <a:solidFill>
                  <a:srgbClr val="0000CC"/>
                </a:solidFill>
                <a:latin typeface="黑体"/>
                <a:cs typeface="黑体"/>
              </a:rPr>
              <a:t>控制前瞻</a:t>
            </a:r>
            <a:endParaRPr sz="2800">
              <a:latin typeface="黑体"/>
              <a:cs typeface="黑体"/>
            </a:endParaRPr>
          </a:p>
          <a:p>
            <a:pPr lvl="2" marL="1301750" indent="-635635">
              <a:lnSpc>
                <a:spcPct val="100000"/>
              </a:lnSpc>
              <a:spcBef>
                <a:spcPts val="695"/>
              </a:spcBef>
              <a:buClr>
                <a:srgbClr val="40458B"/>
              </a:buClr>
              <a:buSzPct val="89285"/>
              <a:buFont typeface="Wingdings"/>
              <a:buChar char=""/>
              <a:tabLst>
                <a:tab pos="1301750" algn="l"/>
              </a:tabLst>
            </a:pPr>
            <a:r>
              <a:rPr dirty="0" sz="2800" spc="-40">
                <a:solidFill>
                  <a:srgbClr val="0000CC"/>
                </a:solidFill>
                <a:latin typeface="宋体"/>
                <a:cs typeface="宋体"/>
              </a:rPr>
              <a:t>数据前瞻</a:t>
            </a:r>
            <a:endParaRPr sz="2800">
              <a:latin typeface="宋体"/>
              <a:cs typeface="宋体"/>
            </a:endParaRPr>
          </a:p>
        </p:txBody>
      </p:sp>
      <p:sp>
        <p:nvSpPr>
          <p:cNvPr id="11" name="object 11" descr=""/>
          <p:cNvSpPr txBox="1"/>
          <p:nvPr/>
        </p:nvSpPr>
        <p:spPr>
          <a:xfrm>
            <a:off x="8565006" y="158242"/>
            <a:ext cx="2340610"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6.4.3</a:t>
            </a:r>
            <a:r>
              <a:rPr dirty="0" sz="2600" spc="-15">
                <a:solidFill>
                  <a:srgbClr val="0000CC"/>
                </a:solidFill>
                <a:latin typeface="黑体"/>
                <a:cs typeface="黑体"/>
              </a:rPr>
              <a:t> 前瞻执行</a:t>
            </a:r>
            <a:endParaRPr sz="2600">
              <a:latin typeface="黑体"/>
              <a:cs typeface="黑体"/>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68/89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78739" y="713200"/>
            <a:ext cx="12141200" cy="5560695"/>
          </a:xfrm>
          <a:prstGeom prst="rect">
            <a:avLst/>
          </a:prstGeom>
        </p:spPr>
        <p:txBody>
          <a:bodyPr wrap="square" lIns="0" tIns="90805" rIns="0" bIns="0" rtlCol="0" vert="horz">
            <a:spAutoFit/>
          </a:bodyPr>
          <a:lstStyle/>
          <a:p>
            <a:pPr marL="12700">
              <a:lnSpc>
                <a:spcPct val="100000"/>
              </a:lnSpc>
              <a:spcBef>
                <a:spcPts val="715"/>
              </a:spcBef>
            </a:pPr>
            <a:r>
              <a:rPr dirty="0" sz="2800" spc="-40">
                <a:solidFill>
                  <a:srgbClr val="E14B04"/>
                </a:solidFill>
                <a:latin typeface="黑体"/>
                <a:cs typeface="黑体"/>
              </a:rPr>
              <a:t>两种类型的前瞻</a:t>
            </a:r>
            <a:endParaRPr sz="2800">
              <a:latin typeface="黑体"/>
              <a:cs typeface="黑体"/>
            </a:endParaRPr>
          </a:p>
          <a:p>
            <a:pPr marL="876300" marR="5080" indent="-455930">
              <a:lnSpc>
                <a:spcPts val="3300"/>
              </a:lnSpc>
              <a:spcBef>
                <a:spcPts val="775"/>
              </a:spcBef>
              <a:buFont typeface="Wingdings"/>
              <a:buChar char=""/>
              <a:tabLst>
                <a:tab pos="876300" algn="l"/>
                <a:tab pos="987425" algn="l"/>
              </a:tabLst>
            </a:pPr>
            <a:r>
              <a:rPr dirty="0" sz="2500">
                <a:solidFill>
                  <a:srgbClr val="40458B"/>
                </a:solidFill>
                <a:latin typeface="Times New Roman"/>
                <a:cs typeface="Times New Roman"/>
              </a:rPr>
              <a:t>	</a:t>
            </a:r>
            <a:r>
              <a:rPr dirty="0" sz="2800" spc="-50">
                <a:solidFill>
                  <a:srgbClr val="0000CC"/>
                </a:solidFill>
                <a:latin typeface="黑体"/>
                <a:cs typeface="黑体"/>
              </a:rPr>
              <a:t>控制前瞻：在确定分支方向之前，提前执行分支路径中的指令 ，无论是</a:t>
            </a:r>
            <a:r>
              <a:rPr dirty="0" sz="2800" spc="-40">
                <a:solidFill>
                  <a:srgbClr val="0000CC"/>
                </a:solidFill>
                <a:latin typeface="黑体"/>
                <a:cs typeface="黑体"/>
              </a:rPr>
              <a:t>成功分支还是失败分支的路径上的。</a:t>
            </a:r>
            <a:endParaRPr sz="2800">
              <a:latin typeface="黑体"/>
              <a:cs typeface="黑体"/>
            </a:endParaRPr>
          </a:p>
          <a:p>
            <a:pPr algn="just" lvl="1" marL="1452880" marR="265430" indent="-455930">
              <a:lnSpc>
                <a:spcPct val="114599"/>
              </a:lnSpc>
              <a:spcBef>
                <a:spcPts val="120"/>
              </a:spcBef>
              <a:buClr>
                <a:srgbClr val="4668F5"/>
              </a:buClr>
              <a:buSzPct val="60416"/>
              <a:buFont typeface="Wingdings"/>
              <a:buChar char=""/>
              <a:tabLst>
                <a:tab pos="1452880" algn="l"/>
              </a:tabLst>
            </a:pPr>
            <a:r>
              <a:rPr dirty="0" sz="2400" spc="-25" b="1">
                <a:solidFill>
                  <a:srgbClr val="FF5CFF"/>
                </a:solidFill>
                <a:latin typeface="宋体"/>
                <a:cs typeface="宋体"/>
              </a:rPr>
              <a:t>要解决的问题：当</a:t>
            </a:r>
            <a:r>
              <a:rPr dirty="0" sz="2400" spc="-30" b="1">
                <a:solidFill>
                  <a:srgbClr val="00AFEF"/>
                </a:solidFill>
                <a:latin typeface="宋体"/>
                <a:cs typeface="宋体"/>
              </a:rPr>
              <a:t>借助全局指令调度跨越分支条件进行指令调度，将部分指令</a:t>
            </a:r>
            <a:r>
              <a:rPr dirty="0" sz="2400" spc="-25" b="1">
                <a:solidFill>
                  <a:srgbClr val="00AFEF"/>
                </a:solidFill>
                <a:latin typeface="宋体"/>
                <a:cs typeface="宋体"/>
              </a:rPr>
              <a:t>调度到分支指令前执行确实能挖掘指令级并行，但有时为了确保结果正确，必须增加补偿代码 ，但降低了猜测执行的性能。</a:t>
            </a:r>
            <a:endParaRPr sz="2400">
              <a:latin typeface="宋体"/>
              <a:cs typeface="宋体"/>
            </a:endParaRPr>
          </a:p>
          <a:p>
            <a:pPr algn="just" lvl="1" marL="1452245" indent="-455295">
              <a:lnSpc>
                <a:spcPct val="100000"/>
              </a:lnSpc>
              <a:spcBef>
                <a:spcPts val="994"/>
              </a:spcBef>
              <a:buClr>
                <a:srgbClr val="4668F5"/>
              </a:buClr>
              <a:buSzPct val="60416"/>
              <a:buFont typeface="Wingdings"/>
              <a:buChar char=""/>
              <a:tabLst>
                <a:tab pos="1452245" algn="l"/>
              </a:tabLst>
            </a:pPr>
            <a:r>
              <a:rPr dirty="0" sz="2400" spc="-25" b="1">
                <a:solidFill>
                  <a:srgbClr val="FF5CFF"/>
                </a:solidFill>
                <a:latin typeface="宋体"/>
                <a:cs typeface="宋体"/>
              </a:rPr>
              <a:t>解决方法：</a:t>
            </a:r>
            <a:r>
              <a:rPr dirty="0" sz="2400" spc="-30" b="1">
                <a:solidFill>
                  <a:srgbClr val="00AFEF"/>
                </a:solidFill>
                <a:latin typeface="宋体"/>
                <a:cs typeface="宋体"/>
              </a:rPr>
              <a:t>将指令提前调度到执行分支指令前执行，改变了原有的控制相关，</a:t>
            </a:r>
            <a:endParaRPr sz="2400">
              <a:latin typeface="宋体"/>
              <a:cs typeface="宋体"/>
            </a:endParaRPr>
          </a:p>
          <a:p>
            <a:pPr marL="1452880">
              <a:lnSpc>
                <a:spcPct val="100000"/>
              </a:lnSpc>
              <a:spcBef>
                <a:spcPts val="425"/>
              </a:spcBef>
            </a:pPr>
            <a:r>
              <a:rPr dirty="0" sz="2400" spc="-20" b="1">
                <a:solidFill>
                  <a:srgbClr val="00AFEF"/>
                </a:solidFill>
                <a:latin typeface="宋体"/>
                <a:cs typeface="宋体"/>
              </a:rPr>
              <a:t>但延迟异常检查（即进行其他指令）</a:t>
            </a:r>
            <a:r>
              <a:rPr dirty="0" sz="2400" spc="-50" b="1">
                <a:solidFill>
                  <a:srgbClr val="00AFEF"/>
                </a:solidFill>
                <a:latin typeface="宋体"/>
                <a:cs typeface="宋体"/>
              </a:rPr>
              <a:t>。</a:t>
            </a:r>
            <a:endParaRPr sz="2400">
              <a:latin typeface="宋体"/>
              <a:cs typeface="宋体"/>
            </a:endParaRPr>
          </a:p>
          <a:p>
            <a:pPr marL="876300" indent="-457200">
              <a:lnSpc>
                <a:spcPct val="100000"/>
              </a:lnSpc>
              <a:spcBef>
                <a:spcPts val="1050"/>
              </a:spcBef>
              <a:buClr>
                <a:srgbClr val="40458B"/>
              </a:buClr>
              <a:buSzPct val="89285"/>
              <a:buFont typeface="Wingdings"/>
              <a:buChar char=""/>
              <a:tabLst>
                <a:tab pos="876300" algn="l"/>
              </a:tabLst>
            </a:pPr>
            <a:r>
              <a:rPr dirty="0" sz="2800" spc="-40">
                <a:solidFill>
                  <a:srgbClr val="0000CC"/>
                </a:solidFill>
                <a:latin typeface="宋体"/>
                <a:cs typeface="宋体"/>
              </a:rPr>
              <a:t>数据前瞻</a:t>
            </a:r>
            <a:endParaRPr sz="2800">
              <a:latin typeface="宋体"/>
              <a:cs typeface="宋体"/>
            </a:endParaRPr>
          </a:p>
          <a:p>
            <a:pPr algn="just" lvl="1" marL="1452245" indent="-455295">
              <a:lnSpc>
                <a:spcPct val="100000"/>
              </a:lnSpc>
              <a:spcBef>
                <a:spcPts val="560"/>
              </a:spcBef>
              <a:buClr>
                <a:srgbClr val="4668F5"/>
              </a:buClr>
              <a:buSzPct val="60416"/>
              <a:buFont typeface="Wingdings"/>
              <a:buChar char=""/>
              <a:tabLst>
                <a:tab pos="1452245" algn="l"/>
              </a:tabLst>
            </a:pPr>
            <a:r>
              <a:rPr dirty="0" sz="2400" spc="-25" b="1">
                <a:solidFill>
                  <a:srgbClr val="FF5CFF"/>
                </a:solidFill>
                <a:latin typeface="宋体"/>
                <a:cs typeface="宋体"/>
              </a:rPr>
              <a:t>要解决的问题：</a:t>
            </a:r>
            <a:r>
              <a:rPr dirty="0" sz="2400" spc="-25" b="1">
                <a:solidFill>
                  <a:srgbClr val="00AFEF"/>
                </a:solidFill>
                <a:latin typeface="宋体"/>
                <a:cs typeface="宋体"/>
              </a:rPr>
              <a:t>存储-加载依赖导致的停顿（例如对例</a:t>
            </a:r>
            <a:r>
              <a:rPr dirty="0" sz="2400" spc="-10" b="1">
                <a:solidFill>
                  <a:srgbClr val="00AFEF"/>
                </a:solidFill>
                <a:latin typeface="宋体"/>
                <a:cs typeface="宋体"/>
              </a:rPr>
              <a:t>6.1</a:t>
            </a:r>
            <a:r>
              <a:rPr dirty="0" sz="2400" spc="-25" b="1">
                <a:solidFill>
                  <a:srgbClr val="00AFEF"/>
                </a:solidFill>
                <a:latin typeface="宋体"/>
                <a:cs typeface="宋体"/>
              </a:rPr>
              <a:t>的循环展开，</a:t>
            </a:r>
            <a:r>
              <a:rPr dirty="0" sz="2400" spc="-10" b="1">
                <a:solidFill>
                  <a:srgbClr val="00AFEF"/>
                </a:solidFill>
                <a:latin typeface="宋体"/>
                <a:cs typeface="宋体"/>
              </a:rPr>
              <a:t>L.D</a:t>
            </a:r>
            <a:r>
              <a:rPr dirty="0" sz="2400" spc="-40" b="1">
                <a:solidFill>
                  <a:srgbClr val="00AFEF"/>
                </a:solidFill>
                <a:latin typeface="宋体"/>
                <a:cs typeface="宋体"/>
              </a:rPr>
              <a:t>以及</a:t>
            </a:r>
            <a:endParaRPr sz="2400">
              <a:latin typeface="宋体"/>
              <a:cs typeface="宋体"/>
            </a:endParaRPr>
          </a:p>
          <a:p>
            <a:pPr marL="1452880">
              <a:lnSpc>
                <a:spcPct val="100000"/>
              </a:lnSpc>
              <a:spcBef>
                <a:spcPts val="420"/>
              </a:spcBef>
            </a:pPr>
            <a:r>
              <a:rPr dirty="0" sz="2400" spc="-20" b="1">
                <a:solidFill>
                  <a:srgbClr val="00AFEF"/>
                </a:solidFill>
                <a:latin typeface="宋体"/>
                <a:cs typeface="宋体"/>
              </a:rPr>
              <a:t>S.D指令</a:t>
            </a:r>
            <a:r>
              <a:rPr dirty="0" sz="2400" spc="-50" b="1">
                <a:solidFill>
                  <a:srgbClr val="00AFEF"/>
                </a:solidFill>
                <a:latin typeface="宋体"/>
                <a:cs typeface="宋体"/>
              </a:rPr>
              <a:t>）</a:t>
            </a:r>
            <a:endParaRPr sz="2400">
              <a:latin typeface="宋体"/>
              <a:cs typeface="宋体"/>
            </a:endParaRPr>
          </a:p>
          <a:p>
            <a:pPr algn="just" marL="1452245" indent="-455295">
              <a:lnSpc>
                <a:spcPct val="100000"/>
              </a:lnSpc>
              <a:spcBef>
                <a:spcPts val="994"/>
              </a:spcBef>
              <a:buClr>
                <a:srgbClr val="4668F5"/>
              </a:buClr>
              <a:buSzPct val="60416"/>
              <a:buFont typeface="Wingdings"/>
              <a:buChar char=""/>
              <a:tabLst>
                <a:tab pos="1452245" algn="l"/>
              </a:tabLst>
            </a:pPr>
            <a:r>
              <a:rPr dirty="0" sz="2400" spc="-20" b="1">
                <a:solidFill>
                  <a:srgbClr val="FF5CFF"/>
                </a:solidFill>
                <a:latin typeface="宋体"/>
                <a:cs typeface="宋体"/>
              </a:rPr>
              <a:t>解决方法：</a:t>
            </a:r>
            <a:r>
              <a:rPr dirty="0" sz="2400" spc="-25" b="1">
                <a:solidFill>
                  <a:srgbClr val="00AFEF"/>
                </a:solidFill>
                <a:latin typeface="宋体"/>
                <a:cs typeface="宋体"/>
              </a:rPr>
              <a:t>流水线硬件检测冲突。</a:t>
            </a:r>
            <a:endParaRPr sz="2400">
              <a:latin typeface="宋体"/>
              <a:cs typeface="宋体"/>
            </a:endParaRPr>
          </a:p>
        </p:txBody>
      </p:sp>
      <p:sp>
        <p:nvSpPr>
          <p:cNvPr id="10" name="object 10" descr=""/>
          <p:cNvSpPr txBox="1"/>
          <p:nvPr/>
        </p:nvSpPr>
        <p:spPr>
          <a:xfrm>
            <a:off x="8565006" y="158242"/>
            <a:ext cx="2340610"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6.4.3</a:t>
            </a:r>
            <a:r>
              <a:rPr dirty="0" sz="2600" spc="-15">
                <a:solidFill>
                  <a:srgbClr val="0000CC"/>
                </a:solidFill>
                <a:latin typeface="黑体"/>
                <a:cs typeface="黑体"/>
              </a:rPr>
              <a:t> 前瞻执行</a:t>
            </a:r>
            <a:endParaRPr sz="2600">
              <a:latin typeface="黑体"/>
              <a:cs typeface="黑体"/>
            </a:endParaRPr>
          </a:p>
        </p:txBody>
      </p:sp>
      <p:sp>
        <p:nvSpPr>
          <p:cNvPr id="11" name="object 11"/>
          <p:cNvSpPr txBox="1">
            <a:spLocks noGrp="1"/>
          </p:cNvSpPr>
          <p:nvPr>
            <p:ph type="title"/>
          </p:nvPr>
        </p:nvSpPr>
        <p:spPr>
          <a:xfrm>
            <a:off x="2152904" y="85470"/>
            <a:ext cx="4904740" cy="513715"/>
          </a:xfrm>
          <a:prstGeom prst="rect"/>
        </p:spPr>
        <p:txBody>
          <a:bodyPr wrap="square" lIns="0" tIns="12700" rIns="0" bIns="0" rtlCol="0" vert="horz">
            <a:spAutoFit/>
          </a:bodyPr>
          <a:lstStyle/>
          <a:p>
            <a:pPr marL="12700">
              <a:lnSpc>
                <a:spcPct val="100000"/>
              </a:lnSpc>
              <a:spcBef>
                <a:spcPts val="100"/>
              </a:spcBef>
            </a:pPr>
            <a:r>
              <a:rPr dirty="0" u="none"/>
              <a:t>6.4</a:t>
            </a:r>
            <a:r>
              <a:rPr dirty="0" u="none" spc="-15"/>
              <a:t> 显示并行指令计算</a:t>
            </a:r>
            <a:r>
              <a:rPr dirty="0" u="none" spc="-20"/>
              <a:t>EPIC</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69/89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223215" y="569722"/>
            <a:ext cx="11856720" cy="1953260"/>
          </a:xfrm>
          <a:prstGeom prst="rect">
            <a:avLst/>
          </a:prstGeom>
        </p:spPr>
        <p:txBody>
          <a:bodyPr wrap="square" lIns="0" tIns="135255" rIns="0" bIns="0" rtlCol="0" vert="horz">
            <a:spAutoFit/>
          </a:bodyPr>
          <a:lstStyle/>
          <a:p>
            <a:pPr marL="850900">
              <a:lnSpc>
                <a:spcPct val="100000"/>
              </a:lnSpc>
              <a:spcBef>
                <a:spcPts val="1065"/>
              </a:spcBef>
              <a:tabLst>
                <a:tab pos="1306195" algn="l"/>
              </a:tabLst>
            </a:pPr>
            <a:r>
              <a:rPr dirty="0" sz="2400" spc="-25">
                <a:solidFill>
                  <a:srgbClr val="40458B"/>
                </a:solidFill>
                <a:latin typeface="Tahoma"/>
                <a:cs typeface="Tahoma"/>
              </a:rPr>
              <a:t>2.</a:t>
            </a:r>
            <a:r>
              <a:rPr dirty="0" sz="2400">
                <a:solidFill>
                  <a:srgbClr val="40458B"/>
                </a:solidFill>
                <a:latin typeface="Tahoma"/>
                <a:cs typeface="Tahoma"/>
              </a:rPr>
              <a:t>	</a:t>
            </a:r>
            <a:r>
              <a:rPr dirty="0" sz="2400">
                <a:solidFill>
                  <a:srgbClr val="E14B04"/>
                </a:solidFill>
                <a:latin typeface="黑体"/>
                <a:cs typeface="黑体"/>
              </a:rPr>
              <a:t>实例分析（控制前瞻</a:t>
            </a:r>
            <a:r>
              <a:rPr dirty="0" sz="2400" spc="-50">
                <a:solidFill>
                  <a:srgbClr val="E14B04"/>
                </a:solidFill>
                <a:latin typeface="黑体"/>
                <a:cs typeface="黑体"/>
              </a:rPr>
              <a:t>）</a:t>
            </a:r>
            <a:endParaRPr sz="2400">
              <a:latin typeface="黑体"/>
              <a:cs typeface="黑体"/>
            </a:endParaRPr>
          </a:p>
          <a:p>
            <a:pPr algn="just" marL="12700" marR="5080" indent="152400">
              <a:lnSpc>
                <a:spcPct val="130000"/>
              </a:lnSpc>
              <a:spcBef>
                <a:spcPts val="100"/>
              </a:spcBef>
            </a:pPr>
            <a:r>
              <a:rPr dirty="0" sz="2400" spc="-20" b="1">
                <a:solidFill>
                  <a:srgbClr val="E14B04"/>
                </a:solidFill>
                <a:latin typeface="宋体"/>
                <a:cs typeface="宋体"/>
              </a:rPr>
              <a:t>例</a:t>
            </a:r>
            <a:r>
              <a:rPr dirty="0" sz="2400" b="1">
                <a:solidFill>
                  <a:srgbClr val="E14B04"/>
                </a:solidFill>
                <a:latin typeface="Times New Roman"/>
                <a:cs typeface="Times New Roman"/>
              </a:rPr>
              <a:t>6.6</a:t>
            </a:r>
            <a:r>
              <a:rPr dirty="0" sz="2400" spc="285" b="1">
                <a:solidFill>
                  <a:srgbClr val="E14B04"/>
                </a:solidFill>
                <a:latin typeface="Times New Roman"/>
                <a:cs typeface="Times New Roman"/>
              </a:rPr>
              <a:t> </a:t>
            </a:r>
            <a:r>
              <a:rPr dirty="0" sz="2400" spc="-25" b="1">
                <a:latin typeface="宋体"/>
                <a:cs typeface="宋体"/>
              </a:rPr>
              <a:t>下面是一个</a:t>
            </a:r>
            <a:r>
              <a:rPr dirty="0" sz="2400" spc="-10" b="1">
                <a:solidFill>
                  <a:srgbClr val="6600FF"/>
                </a:solidFill>
                <a:latin typeface="Times New Roman"/>
                <a:cs typeface="Times New Roman"/>
              </a:rPr>
              <a:t>if-</a:t>
            </a:r>
            <a:r>
              <a:rPr dirty="0" sz="2400" spc="-20" b="1">
                <a:solidFill>
                  <a:srgbClr val="6600FF"/>
                </a:solidFill>
                <a:latin typeface="Times New Roman"/>
                <a:cs typeface="Times New Roman"/>
              </a:rPr>
              <a:t>then-</a:t>
            </a:r>
            <a:r>
              <a:rPr dirty="0" sz="2400" spc="-10" b="1">
                <a:solidFill>
                  <a:srgbClr val="6600FF"/>
                </a:solidFill>
                <a:latin typeface="Times New Roman"/>
                <a:cs typeface="Times New Roman"/>
              </a:rPr>
              <a:t>else</a:t>
            </a:r>
            <a:r>
              <a:rPr dirty="0" sz="2400" spc="-20" b="1">
                <a:latin typeface="宋体"/>
                <a:cs typeface="宋体"/>
              </a:rPr>
              <a:t>结构的</a:t>
            </a:r>
            <a:r>
              <a:rPr dirty="0" sz="2400" spc="-35" b="1">
                <a:latin typeface="Times New Roman"/>
                <a:cs typeface="Times New Roman"/>
              </a:rPr>
              <a:t>C</a:t>
            </a:r>
            <a:r>
              <a:rPr dirty="0" sz="2400" spc="-20" b="1">
                <a:latin typeface="宋体"/>
                <a:cs typeface="宋体"/>
              </a:rPr>
              <a:t>程序段以及相应的</a:t>
            </a:r>
            <a:r>
              <a:rPr dirty="0" sz="2400" spc="-10" b="1">
                <a:latin typeface="Times New Roman"/>
                <a:cs typeface="Times New Roman"/>
              </a:rPr>
              <a:t>MIPS</a:t>
            </a:r>
            <a:r>
              <a:rPr dirty="0" sz="2400" spc="-25" b="1">
                <a:latin typeface="宋体"/>
                <a:cs typeface="宋体"/>
              </a:rPr>
              <a:t>汇编代码段，其中变量</a:t>
            </a:r>
            <a:r>
              <a:rPr dirty="0" sz="2400" spc="-35" b="1">
                <a:solidFill>
                  <a:srgbClr val="6600FF"/>
                </a:solidFill>
                <a:latin typeface="Times New Roman"/>
                <a:cs typeface="Times New Roman"/>
              </a:rPr>
              <a:t>A</a:t>
            </a:r>
            <a:r>
              <a:rPr dirty="0" sz="2400" spc="-50" b="1">
                <a:latin typeface="宋体"/>
                <a:cs typeface="宋体"/>
              </a:rPr>
              <a:t>和 </a:t>
            </a:r>
            <a:r>
              <a:rPr dirty="0" sz="2400" spc="-10" b="1">
                <a:solidFill>
                  <a:srgbClr val="6600FF"/>
                </a:solidFill>
                <a:latin typeface="Times New Roman"/>
                <a:cs typeface="Times New Roman"/>
              </a:rPr>
              <a:t>B</a:t>
            </a:r>
            <a:r>
              <a:rPr dirty="0" sz="2400" spc="-20" b="1">
                <a:latin typeface="宋体"/>
                <a:cs typeface="宋体"/>
              </a:rPr>
              <a:t>分别被保存在地址为</a:t>
            </a:r>
            <a:r>
              <a:rPr dirty="0" sz="2400" spc="-20" b="1">
                <a:solidFill>
                  <a:srgbClr val="6600FF"/>
                </a:solidFill>
                <a:latin typeface="Times New Roman"/>
                <a:cs typeface="Times New Roman"/>
              </a:rPr>
              <a:t>0(R3)</a:t>
            </a:r>
            <a:r>
              <a:rPr dirty="0" sz="2400" spc="-20" b="1">
                <a:latin typeface="宋体"/>
                <a:cs typeface="宋体"/>
              </a:rPr>
              <a:t>和</a:t>
            </a:r>
            <a:r>
              <a:rPr dirty="0" sz="2400" spc="-20" b="1">
                <a:solidFill>
                  <a:srgbClr val="6600FF"/>
                </a:solidFill>
                <a:latin typeface="Times New Roman"/>
                <a:cs typeface="Times New Roman"/>
              </a:rPr>
              <a:t>0(R2)</a:t>
            </a:r>
            <a:r>
              <a:rPr dirty="0" sz="2400" spc="-25" b="1">
                <a:latin typeface="宋体"/>
                <a:cs typeface="宋体"/>
              </a:rPr>
              <a:t>的存储单元中。若分支转移不成功的概率很大，请利</a:t>
            </a:r>
            <a:r>
              <a:rPr dirty="0" sz="2400" spc="-20" b="1">
                <a:latin typeface="宋体"/>
                <a:cs typeface="宋体"/>
              </a:rPr>
              <a:t>用前瞻执行技术将第二条</a:t>
            </a:r>
            <a:r>
              <a:rPr dirty="0" sz="2400" spc="-30" b="1">
                <a:solidFill>
                  <a:srgbClr val="6600FF"/>
                </a:solidFill>
                <a:latin typeface="Times New Roman"/>
                <a:cs typeface="Times New Roman"/>
              </a:rPr>
              <a:t>LD</a:t>
            </a:r>
            <a:r>
              <a:rPr dirty="0" sz="2400" spc="-20" b="1">
                <a:latin typeface="宋体"/>
                <a:cs typeface="宋体"/>
              </a:rPr>
              <a:t>指令调度到分支指令</a:t>
            </a:r>
            <a:r>
              <a:rPr dirty="0" sz="2400" spc="-25" b="1">
                <a:latin typeface="Times New Roman"/>
                <a:cs typeface="Times New Roman"/>
              </a:rPr>
              <a:t>BNEZ</a:t>
            </a:r>
            <a:r>
              <a:rPr dirty="0" sz="2400" spc="-20" b="1">
                <a:latin typeface="宋体"/>
                <a:cs typeface="宋体"/>
              </a:rPr>
              <a:t>前执行。假设寄存器</a:t>
            </a:r>
            <a:r>
              <a:rPr dirty="0" sz="2400" spc="-25" b="1">
                <a:solidFill>
                  <a:srgbClr val="6600FF"/>
                </a:solidFill>
                <a:latin typeface="Times New Roman"/>
                <a:cs typeface="Times New Roman"/>
              </a:rPr>
              <a:t>R14</a:t>
            </a:r>
            <a:r>
              <a:rPr dirty="0" sz="2400" spc="-30" b="1">
                <a:latin typeface="宋体"/>
                <a:cs typeface="宋体"/>
              </a:rPr>
              <a:t>空闲。</a:t>
            </a:r>
            <a:endParaRPr sz="2400">
              <a:latin typeface="宋体"/>
              <a:cs typeface="宋体"/>
            </a:endParaRPr>
          </a:p>
        </p:txBody>
      </p:sp>
      <p:sp>
        <p:nvSpPr>
          <p:cNvPr id="10" name="object 10"/>
          <p:cNvSpPr txBox="1">
            <a:spLocks noGrp="1"/>
          </p:cNvSpPr>
          <p:nvPr>
            <p:ph type="title"/>
          </p:nvPr>
        </p:nvSpPr>
        <p:spPr>
          <a:xfrm>
            <a:off x="1648205" y="-16687"/>
            <a:ext cx="4905375" cy="514350"/>
          </a:xfrm>
          <a:prstGeom prst="rect"/>
        </p:spPr>
        <p:txBody>
          <a:bodyPr wrap="square" lIns="0" tIns="13335" rIns="0" bIns="0" rtlCol="0" vert="horz">
            <a:spAutoFit/>
          </a:bodyPr>
          <a:lstStyle/>
          <a:p>
            <a:pPr marL="12700">
              <a:lnSpc>
                <a:spcPct val="100000"/>
              </a:lnSpc>
              <a:spcBef>
                <a:spcPts val="105"/>
              </a:spcBef>
            </a:pPr>
            <a:r>
              <a:rPr dirty="0" u="none"/>
              <a:t>6.4</a:t>
            </a:r>
            <a:r>
              <a:rPr dirty="0" u="none" spc="-15"/>
              <a:t> 显示并行指令计算</a:t>
            </a:r>
            <a:r>
              <a:rPr dirty="0" u="none" spc="-20"/>
              <a:t>EPIC</a:t>
            </a:r>
          </a:p>
        </p:txBody>
      </p:sp>
      <p:sp>
        <p:nvSpPr>
          <p:cNvPr id="11" name="object 11" descr=""/>
          <p:cNvSpPr txBox="1"/>
          <p:nvPr/>
        </p:nvSpPr>
        <p:spPr>
          <a:xfrm>
            <a:off x="1645157" y="2520364"/>
            <a:ext cx="1557020" cy="1009650"/>
          </a:xfrm>
          <a:prstGeom prst="rect">
            <a:avLst/>
          </a:prstGeom>
        </p:spPr>
        <p:txBody>
          <a:bodyPr wrap="square" lIns="0" tIns="12065" rIns="0" bIns="0" rtlCol="0" vert="horz">
            <a:spAutoFit/>
          </a:bodyPr>
          <a:lstStyle/>
          <a:p>
            <a:pPr marL="12700" marR="5080">
              <a:lnSpc>
                <a:spcPct val="134600"/>
              </a:lnSpc>
              <a:spcBef>
                <a:spcPts val="95"/>
              </a:spcBef>
            </a:pPr>
            <a:r>
              <a:rPr dirty="0" sz="2400" spc="-20" b="1">
                <a:solidFill>
                  <a:srgbClr val="FF0000"/>
                </a:solidFill>
                <a:latin typeface="宋体"/>
                <a:cs typeface="宋体"/>
              </a:rPr>
              <a:t>C</a:t>
            </a:r>
            <a:r>
              <a:rPr dirty="0" sz="2400" spc="-35" b="1">
                <a:solidFill>
                  <a:srgbClr val="FF0000"/>
                </a:solidFill>
                <a:latin typeface="宋体"/>
                <a:cs typeface="宋体"/>
              </a:rPr>
              <a:t>语句：</a:t>
            </a:r>
            <a:r>
              <a:rPr dirty="0" sz="2400" spc="600" b="1">
                <a:solidFill>
                  <a:srgbClr val="FF0000"/>
                </a:solidFill>
                <a:latin typeface="宋体"/>
                <a:cs typeface="宋体"/>
              </a:rPr>
              <a:t> </a:t>
            </a:r>
            <a:r>
              <a:rPr dirty="0" sz="2400" spc="-30" b="1">
                <a:solidFill>
                  <a:srgbClr val="FF0000"/>
                </a:solidFill>
                <a:latin typeface="宋体"/>
                <a:cs typeface="宋体"/>
              </a:rPr>
              <a:t>汇编指令：</a:t>
            </a:r>
            <a:endParaRPr sz="2400">
              <a:latin typeface="宋体"/>
              <a:cs typeface="宋体"/>
            </a:endParaRPr>
          </a:p>
        </p:txBody>
      </p:sp>
      <p:sp>
        <p:nvSpPr>
          <p:cNvPr id="12" name="object 12" descr=""/>
          <p:cNvSpPr txBox="1"/>
          <p:nvPr/>
        </p:nvSpPr>
        <p:spPr>
          <a:xfrm>
            <a:off x="3609594" y="2596133"/>
            <a:ext cx="5219700" cy="452120"/>
          </a:xfrm>
          <a:prstGeom prst="rect">
            <a:avLst/>
          </a:prstGeom>
        </p:spPr>
        <p:txBody>
          <a:bodyPr wrap="square" lIns="0" tIns="12065" rIns="0" bIns="0" rtlCol="0" vert="horz">
            <a:spAutoFit/>
          </a:bodyPr>
          <a:lstStyle/>
          <a:p>
            <a:pPr marL="12700">
              <a:lnSpc>
                <a:spcPct val="100000"/>
              </a:lnSpc>
              <a:spcBef>
                <a:spcPts val="95"/>
              </a:spcBef>
              <a:tabLst>
                <a:tab pos="4309745" algn="l"/>
              </a:tabLst>
            </a:pPr>
            <a:r>
              <a:rPr dirty="0" sz="2800" b="1">
                <a:solidFill>
                  <a:srgbClr val="0000CC"/>
                </a:solidFill>
                <a:latin typeface="宋体"/>
                <a:cs typeface="宋体"/>
              </a:rPr>
              <a:t>if</a:t>
            </a:r>
            <a:r>
              <a:rPr dirty="0" sz="2800" spc="-35" b="1">
                <a:solidFill>
                  <a:srgbClr val="0000CC"/>
                </a:solidFill>
                <a:latin typeface="宋体"/>
                <a:cs typeface="宋体"/>
              </a:rPr>
              <a:t> </a:t>
            </a:r>
            <a:r>
              <a:rPr dirty="0" sz="2800" spc="-10" b="1">
                <a:solidFill>
                  <a:srgbClr val="0000CC"/>
                </a:solidFill>
                <a:latin typeface="宋体"/>
                <a:cs typeface="宋体"/>
              </a:rPr>
              <a:t>（A≠0）A=A+4；else</a:t>
            </a:r>
            <a:r>
              <a:rPr dirty="0" sz="2800" b="1">
                <a:solidFill>
                  <a:srgbClr val="0000CC"/>
                </a:solidFill>
                <a:latin typeface="宋体"/>
                <a:cs typeface="宋体"/>
              </a:rPr>
              <a:t>	</a:t>
            </a:r>
            <a:r>
              <a:rPr dirty="0" sz="2800" spc="-20" b="1">
                <a:solidFill>
                  <a:srgbClr val="0000CC"/>
                </a:solidFill>
                <a:latin typeface="宋体"/>
                <a:cs typeface="宋体"/>
              </a:rPr>
              <a:t>A=B；</a:t>
            </a:r>
            <a:endParaRPr sz="2800">
              <a:latin typeface="宋体"/>
              <a:cs typeface="宋体"/>
            </a:endParaRPr>
          </a:p>
        </p:txBody>
      </p:sp>
      <p:sp>
        <p:nvSpPr>
          <p:cNvPr id="13" name="object 13" descr=""/>
          <p:cNvSpPr txBox="1"/>
          <p:nvPr/>
        </p:nvSpPr>
        <p:spPr>
          <a:xfrm>
            <a:off x="1803654" y="3504692"/>
            <a:ext cx="3211195" cy="2879090"/>
          </a:xfrm>
          <a:prstGeom prst="rect">
            <a:avLst/>
          </a:prstGeom>
        </p:spPr>
        <p:txBody>
          <a:bodyPr wrap="square" lIns="0" tIns="12700" rIns="0" bIns="0" rtlCol="0" vert="horz">
            <a:spAutoFit/>
          </a:bodyPr>
          <a:lstStyle/>
          <a:p>
            <a:pPr marL="161925" marR="770255">
              <a:lnSpc>
                <a:spcPct val="130000"/>
              </a:lnSpc>
              <a:spcBef>
                <a:spcPts val="100"/>
              </a:spcBef>
              <a:tabLst>
                <a:tab pos="596265" algn="l"/>
                <a:tab pos="1510665" algn="l"/>
              </a:tabLst>
            </a:pPr>
            <a:r>
              <a:rPr dirty="0" sz="2400" b="1">
                <a:solidFill>
                  <a:srgbClr val="0000CC"/>
                </a:solidFill>
                <a:latin typeface="宋体"/>
                <a:cs typeface="宋体"/>
              </a:rPr>
              <a:t>LD</a:t>
            </a:r>
            <a:r>
              <a:rPr dirty="0" sz="2400" spc="-245" b="1">
                <a:solidFill>
                  <a:srgbClr val="0000CC"/>
                </a:solidFill>
                <a:latin typeface="宋体"/>
                <a:cs typeface="宋体"/>
              </a:rPr>
              <a:t> </a:t>
            </a:r>
            <a:r>
              <a:rPr dirty="0" sz="2400" spc="-10" b="1">
                <a:solidFill>
                  <a:srgbClr val="0000CC"/>
                </a:solidFill>
                <a:latin typeface="宋体"/>
                <a:cs typeface="宋体"/>
              </a:rPr>
              <a:t>R1，0（R3） </a:t>
            </a:r>
            <a:r>
              <a:rPr dirty="0" sz="2400" spc="-20" b="1">
                <a:solidFill>
                  <a:srgbClr val="0000CC"/>
                </a:solidFill>
                <a:latin typeface="宋体"/>
                <a:cs typeface="宋体"/>
              </a:rPr>
              <a:t>BNEZ</a:t>
            </a:r>
            <a:r>
              <a:rPr dirty="0" sz="2400" b="1">
                <a:solidFill>
                  <a:srgbClr val="0000CC"/>
                </a:solidFill>
                <a:latin typeface="宋体"/>
                <a:cs typeface="宋体"/>
              </a:rPr>
              <a:t>	</a:t>
            </a:r>
            <a:r>
              <a:rPr dirty="0" sz="2400" spc="-20" b="1">
                <a:solidFill>
                  <a:srgbClr val="0000CC"/>
                </a:solidFill>
                <a:latin typeface="宋体"/>
                <a:cs typeface="宋体"/>
              </a:rPr>
              <a:t>R1，L1 </a:t>
            </a:r>
            <a:r>
              <a:rPr dirty="0" sz="2400" b="1">
                <a:solidFill>
                  <a:srgbClr val="0000CC"/>
                </a:solidFill>
                <a:latin typeface="宋体"/>
                <a:cs typeface="宋体"/>
              </a:rPr>
              <a:t>LD</a:t>
            </a:r>
            <a:r>
              <a:rPr dirty="0" sz="2400" spc="-220" b="1">
                <a:solidFill>
                  <a:srgbClr val="0000CC"/>
                </a:solidFill>
                <a:latin typeface="宋体"/>
                <a:cs typeface="宋体"/>
              </a:rPr>
              <a:t> </a:t>
            </a:r>
            <a:r>
              <a:rPr dirty="0" sz="2400" spc="-10" b="1">
                <a:solidFill>
                  <a:srgbClr val="0000CC"/>
                </a:solidFill>
                <a:latin typeface="宋体"/>
                <a:cs typeface="宋体"/>
              </a:rPr>
              <a:t>R1，0（R2） </a:t>
            </a:r>
            <a:r>
              <a:rPr dirty="0" sz="2400" spc="-50" b="1">
                <a:solidFill>
                  <a:srgbClr val="0000CC"/>
                </a:solidFill>
                <a:latin typeface="宋体"/>
                <a:cs typeface="宋体"/>
              </a:rPr>
              <a:t>J</a:t>
            </a:r>
            <a:r>
              <a:rPr dirty="0" sz="2400" b="1">
                <a:solidFill>
                  <a:srgbClr val="0000CC"/>
                </a:solidFill>
                <a:latin typeface="宋体"/>
                <a:cs typeface="宋体"/>
              </a:rPr>
              <a:t>	</a:t>
            </a:r>
            <a:r>
              <a:rPr dirty="0" sz="2400" spc="-25" b="1">
                <a:solidFill>
                  <a:srgbClr val="0000CC"/>
                </a:solidFill>
                <a:latin typeface="宋体"/>
                <a:cs typeface="宋体"/>
              </a:rPr>
              <a:t>L2</a:t>
            </a:r>
            <a:endParaRPr sz="2400">
              <a:latin typeface="宋体"/>
              <a:cs typeface="宋体"/>
            </a:endParaRPr>
          </a:p>
          <a:p>
            <a:pPr marL="12700">
              <a:lnSpc>
                <a:spcPct val="100000"/>
              </a:lnSpc>
              <a:spcBef>
                <a:spcPts val="865"/>
              </a:spcBef>
            </a:pPr>
            <a:r>
              <a:rPr dirty="0" sz="2400" spc="-25" b="1">
                <a:solidFill>
                  <a:srgbClr val="0000CC"/>
                </a:solidFill>
                <a:latin typeface="宋体"/>
                <a:cs typeface="宋体"/>
              </a:rPr>
              <a:t>L1：DADDI</a:t>
            </a:r>
            <a:r>
              <a:rPr dirty="0" sz="2400" spc="-225" b="1">
                <a:solidFill>
                  <a:srgbClr val="0000CC"/>
                </a:solidFill>
                <a:latin typeface="宋体"/>
                <a:cs typeface="宋体"/>
              </a:rPr>
              <a:t> </a:t>
            </a:r>
            <a:r>
              <a:rPr dirty="0" sz="2400" spc="-10" b="1">
                <a:solidFill>
                  <a:srgbClr val="0000CC"/>
                </a:solidFill>
                <a:latin typeface="宋体"/>
                <a:cs typeface="宋体"/>
              </a:rPr>
              <a:t>R1，R1，#4</a:t>
            </a:r>
            <a:endParaRPr sz="2400">
              <a:latin typeface="宋体"/>
              <a:cs typeface="宋体"/>
            </a:endParaRPr>
          </a:p>
          <a:p>
            <a:pPr marL="12700">
              <a:lnSpc>
                <a:spcPct val="100000"/>
              </a:lnSpc>
              <a:spcBef>
                <a:spcPts val="860"/>
              </a:spcBef>
              <a:tabLst>
                <a:tab pos="1510665" algn="l"/>
              </a:tabLst>
            </a:pPr>
            <a:r>
              <a:rPr dirty="0" sz="2400" spc="-10" b="1">
                <a:solidFill>
                  <a:srgbClr val="0000CC"/>
                </a:solidFill>
                <a:latin typeface="宋体"/>
                <a:cs typeface="宋体"/>
              </a:rPr>
              <a:t>L2：SD</a:t>
            </a:r>
            <a:r>
              <a:rPr dirty="0" sz="2400" b="1">
                <a:solidFill>
                  <a:srgbClr val="0000CC"/>
                </a:solidFill>
                <a:latin typeface="宋体"/>
                <a:cs typeface="宋体"/>
              </a:rPr>
              <a:t>	</a:t>
            </a:r>
            <a:r>
              <a:rPr dirty="0" sz="2400" spc="-10" b="1">
                <a:solidFill>
                  <a:srgbClr val="0000CC"/>
                </a:solidFill>
                <a:latin typeface="宋体"/>
                <a:cs typeface="宋体"/>
              </a:rPr>
              <a:t>R1，0（R3）</a:t>
            </a:r>
            <a:endParaRPr sz="2400">
              <a:latin typeface="宋体"/>
              <a:cs typeface="宋体"/>
            </a:endParaRPr>
          </a:p>
        </p:txBody>
      </p:sp>
      <p:sp>
        <p:nvSpPr>
          <p:cNvPr id="14" name="object 14" descr=""/>
          <p:cNvSpPr txBox="1"/>
          <p:nvPr/>
        </p:nvSpPr>
        <p:spPr>
          <a:xfrm>
            <a:off x="5293867" y="3504692"/>
            <a:ext cx="2790190" cy="1452245"/>
          </a:xfrm>
          <a:prstGeom prst="rect">
            <a:avLst/>
          </a:prstGeom>
        </p:spPr>
        <p:txBody>
          <a:bodyPr wrap="square" lIns="0" tIns="121920" rIns="0" bIns="0" rtlCol="0" vert="horz">
            <a:spAutoFit/>
          </a:bodyPr>
          <a:lstStyle/>
          <a:p>
            <a:pPr marL="166370">
              <a:lnSpc>
                <a:spcPct val="100000"/>
              </a:lnSpc>
              <a:spcBef>
                <a:spcPts val="960"/>
              </a:spcBef>
            </a:pPr>
            <a:r>
              <a:rPr dirty="0" sz="2400" spc="-15" b="1">
                <a:latin typeface="宋体"/>
                <a:cs typeface="宋体"/>
              </a:rPr>
              <a:t>// 取</a:t>
            </a:r>
            <a:r>
              <a:rPr dirty="0" sz="2400" spc="-50" b="1">
                <a:latin typeface="宋体"/>
                <a:cs typeface="宋体"/>
              </a:rPr>
              <a:t>A</a:t>
            </a:r>
            <a:endParaRPr sz="2400">
              <a:latin typeface="宋体"/>
              <a:cs typeface="宋体"/>
            </a:endParaRPr>
          </a:p>
          <a:p>
            <a:pPr marL="157480">
              <a:lnSpc>
                <a:spcPct val="100000"/>
              </a:lnSpc>
              <a:spcBef>
                <a:spcPts val="865"/>
              </a:spcBef>
            </a:pPr>
            <a:r>
              <a:rPr dirty="0" sz="2400" spc="-10" b="1">
                <a:latin typeface="宋体"/>
                <a:cs typeface="宋体"/>
              </a:rPr>
              <a:t>//（A≠0）?</a:t>
            </a:r>
            <a:endParaRPr sz="2400">
              <a:latin typeface="宋体"/>
              <a:cs typeface="宋体"/>
            </a:endParaRPr>
          </a:p>
          <a:p>
            <a:pPr marL="12700">
              <a:lnSpc>
                <a:spcPct val="100000"/>
              </a:lnSpc>
              <a:spcBef>
                <a:spcPts val="865"/>
              </a:spcBef>
            </a:pPr>
            <a:r>
              <a:rPr dirty="0" sz="2400" spc="15" b="1">
                <a:latin typeface="宋体"/>
                <a:cs typeface="宋体"/>
              </a:rPr>
              <a:t>// </a:t>
            </a:r>
            <a:r>
              <a:rPr dirty="0" sz="2400" spc="-10" b="1">
                <a:latin typeface="宋体"/>
                <a:cs typeface="宋体"/>
              </a:rPr>
              <a:t>A=B（else</a:t>
            </a:r>
            <a:r>
              <a:rPr dirty="0" sz="2400" spc="-25" b="1">
                <a:latin typeface="宋体"/>
                <a:cs typeface="宋体"/>
              </a:rPr>
              <a:t>部分</a:t>
            </a:r>
            <a:r>
              <a:rPr dirty="0" sz="2400" spc="-50" b="1">
                <a:latin typeface="宋体"/>
                <a:cs typeface="宋体"/>
              </a:rPr>
              <a:t>）</a:t>
            </a:r>
            <a:endParaRPr sz="2400">
              <a:latin typeface="宋体"/>
              <a:cs typeface="宋体"/>
            </a:endParaRPr>
          </a:p>
        </p:txBody>
      </p:sp>
      <p:sp>
        <p:nvSpPr>
          <p:cNvPr id="15" name="object 15" descr=""/>
          <p:cNvSpPr txBox="1"/>
          <p:nvPr/>
        </p:nvSpPr>
        <p:spPr>
          <a:xfrm>
            <a:off x="5455411" y="5407362"/>
            <a:ext cx="2792095" cy="976630"/>
          </a:xfrm>
          <a:prstGeom prst="rect">
            <a:avLst/>
          </a:prstGeom>
        </p:spPr>
        <p:txBody>
          <a:bodyPr wrap="square" lIns="0" tIns="121920" rIns="0" bIns="0" rtlCol="0" vert="horz">
            <a:spAutoFit/>
          </a:bodyPr>
          <a:lstStyle/>
          <a:p>
            <a:pPr marL="12700">
              <a:lnSpc>
                <a:spcPct val="100000"/>
              </a:lnSpc>
              <a:spcBef>
                <a:spcPts val="960"/>
              </a:spcBef>
            </a:pPr>
            <a:r>
              <a:rPr dirty="0" sz="2400" spc="10" b="1">
                <a:latin typeface="宋体"/>
                <a:cs typeface="宋体"/>
              </a:rPr>
              <a:t>// </a:t>
            </a:r>
            <a:r>
              <a:rPr dirty="0" sz="2400" spc="-20" b="1">
                <a:latin typeface="宋体"/>
                <a:cs typeface="宋体"/>
              </a:rPr>
              <a:t>A=A+4(then</a:t>
            </a:r>
            <a:r>
              <a:rPr dirty="0" sz="2400" spc="-30" b="1">
                <a:latin typeface="宋体"/>
                <a:cs typeface="宋体"/>
              </a:rPr>
              <a:t>部分)</a:t>
            </a:r>
            <a:endParaRPr sz="2400">
              <a:latin typeface="宋体"/>
              <a:cs typeface="宋体"/>
            </a:endParaRPr>
          </a:p>
          <a:p>
            <a:pPr marL="457200">
              <a:lnSpc>
                <a:spcPct val="100000"/>
              </a:lnSpc>
              <a:spcBef>
                <a:spcPts val="865"/>
              </a:spcBef>
            </a:pPr>
            <a:r>
              <a:rPr dirty="0" sz="2400" spc="-10" b="1">
                <a:latin typeface="宋体"/>
                <a:cs typeface="宋体"/>
              </a:rPr>
              <a:t>// 存</a:t>
            </a:r>
            <a:r>
              <a:rPr dirty="0" sz="2400" spc="-50" b="1">
                <a:latin typeface="宋体"/>
                <a:cs typeface="宋体"/>
              </a:rPr>
              <a:t>A</a:t>
            </a:r>
            <a:endParaRPr sz="2400">
              <a:latin typeface="宋体"/>
              <a:cs typeface="宋体"/>
            </a:endParaRPr>
          </a:p>
        </p:txBody>
      </p:sp>
      <p:sp>
        <p:nvSpPr>
          <p:cNvPr id="16" name="object 16" descr=""/>
          <p:cNvSpPr txBox="1"/>
          <p:nvPr/>
        </p:nvSpPr>
        <p:spPr>
          <a:xfrm>
            <a:off x="8565006" y="158242"/>
            <a:ext cx="2340610"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6.4.3</a:t>
            </a:r>
            <a:r>
              <a:rPr dirty="0" sz="2600" spc="-15">
                <a:solidFill>
                  <a:srgbClr val="0000CC"/>
                </a:solidFill>
                <a:latin typeface="黑体"/>
                <a:cs typeface="黑体"/>
              </a:rPr>
              <a:t> 前瞻执行</a:t>
            </a:r>
            <a:endParaRPr sz="2600">
              <a:latin typeface="黑体"/>
              <a:cs typeface="黑体"/>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70/89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grpSp>
        <p:nvGrpSpPr>
          <p:cNvPr id="9" name="object 9" descr=""/>
          <p:cNvGrpSpPr/>
          <p:nvPr/>
        </p:nvGrpSpPr>
        <p:grpSpPr>
          <a:xfrm>
            <a:off x="4914836" y="529526"/>
            <a:ext cx="7211059" cy="3124835"/>
            <a:chOff x="4914836" y="529526"/>
            <a:chExt cx="7211059" cy="3124835"/>
          </a:xfrm>
        </p:grpSpPr>
        <p:sp>
          <p:nvSpPr>
            <p:cNvPr id="10" name="object 10" descr=""/>
            <p:cNvSpPr/>
            <p:nvPr/>
          </p:nvSpPr>
          <p:spPr>
            <a:xfrm>
              <a:off x="4919598" y="534288"/>
              <a:ext cx="7201534" cy="3115310"/>
            </a:xfrm>
            <a:custGeom>
              <a:avLst/>
              <a:gdLst/>
              <a:ahLst/>
              <a:cxnLst/>
              <a:rect l="l" t="t" r="r" b="b"/>
              <a:pathLst>
                <a:path w="7201534" h="3115310">
                  <a:moveTo>
                    <a:pt x="0" y="3115182"/>
                  </a:moveTo>
                  <a:lnTo>
                    <a:pt x="7201027" y="3115182"/>
                  </a:lnTo>
                  <a:lnTo>
                    <a:pt x="7201027" y="0"/>
                  </a:lnTo>
                  <a:lnTo>
                    <a:pt x="0" y="0"/>
                  </a:lnTo>
                  <a:lnTo>
                    <a:pt x="0" y="3115182"/>
                  </a:lnTo>
                  <a:close/>
                </a:path>
              </a:pathLst>
            </a:custGeom>
            <a:ln w="9524">
              <a:solidFill>
                <a:srgbClr val="0000CC"/>
              </a:solidFill>
            </a:ln>
          </p:spPr>
          <p:txBody>
            <a:bodyPr wrap="square" lIns="0" tIns="0" rIns="0" bIns="0" rtlCol="0"/>
            <a:lstStyle/>
            <a:p/>
          </p:txBody>
        </p:sp>
        <p:sp>
          <p:nvSpPr>
            <p:cNvPr id="11" name="object 11" descr=""/>
            <p:cNvSpPr/>
            <p:nvPr/>
          </p:nvSpPr>
          <p:spPr>
            <a:xfrm>
              <a:off x="5625210" y="628776"/>
              <a:ext cx="1838325" cy="304800"/>
            </a:xfrm>
            <a:custGeom>
              <a:avLst/>
              <a:gdLst/>
              <a:ahLst/>
              <a:cxnLst/>
              <a:rect l="l" t="t" r="r" b="b"/>
              <a:pathLst>
                <a:path w="1838325" h="304800">
                  <a:moveTo>
                    <a:pt x="1837943" y="0"/>
                  </a:moveTo>
                  <a:lnTo>
                    <a:pt x="0" y="0"/>
                  </a:lnTo>
                  <a:lnTo>
                    <a:pt x="0" y="304800"/>
                  </a:lnTo>
                  <a:lnTo>
                    <a:pt x="1837943" y="304800"/>
                  </a:lnTo>
                  <a:lnTo>
                    <a:pt x="1837943" y="0"/>
                  </a:lnTo>
                  <a:close/>
                </a:path>
              </a:pathLst>
            </a:custGeom>
            <a:solidFill>
              <a:srgbClr val="FFFF00"/>
            </a:solidFill>
          </p:spPr>
          <p:txBody>
            <a:bodyPr wrap="square" lIns="0" tIns="0" rIns="0" bIns="0" rtlCol="0"/>
            <a:lstStyle/>
            <a:p/>
          </p:txBody>
        </p:sp>
      </p:grpSp>
      <p:sp>
        <p:nvSpPr>
          <p:cNvPr id="12" name="object 12" descr=""/>
          <p:cNvSpPr txBox="1"/>
          <p:nvPr/>
        </p:nvSpPr>
        <p:spPr>
          <a:xfrm>
            <a:off x="5628513" y="930816"/>
            <a:ext cx="5093335" cy="1452245"/>
          </a:xfrm>
          <a:prstGeom prst="rect">
            <a:avLst/>
          </a:prstGeom>
        </p:spPr>
        <p:txBody>
          <a:bodyPr wrap="square" lIns="0" tIns="121920" rIns="0" bIns="0" rtlCol="0" vert="horz">
            <a:spAutoFit/>
          </a:bodyPr>
          <a:lstStyle/>
          <a:p>
            <a:pPr marL="12700">
              <a:lnSpc>
                <a:spcPct val="100000"/>
              </a:lnSpc>
              <a:spcBef>
                <a:spcPts val="960"/>
              </a:spcBef>
              <a:tabLst>
                <a:tab pos="3041015" algn="l"/>
              </a:tabLst>
            </a:pPr>
            <a:r>
              <a:rPr dirty="0" sz="2400" b="1">
                <a:solidFill>
                  <a:srgbClr val="0000CC"/>
                </a:solidFill>
                <a:latin typeface="宋体"/>
                <a:cs typeface="宋体"/>
              </a:rPr>
              <a:t>LD</a:t>
            </a:r>
            <a:r>
              <a:rPr dirty="0" sz="2400" spc="-65" b="1">
                <a:solidFill>
                  <a:srgbClr val="0000CC"/>
                </a:solidFill>
                <a:latin typeface="宋体"/>
                <a:cs typeface="宋体"/>
              </a:rPr>
              <a:t> </a:t>
            </a:r>
            <a:r>
              <a:rPr dirty="0" sz="2400" spc="-10" b="1">
                <a:solidFill>
                  <a:srgbClr val="0000CC"/>
                </a:solidFill>
                <a:latin typeface="宋体"/>
                <a:cs typeface="宋体"/>
              </a:rPr>
              <a:t>R1，0（R3）</a:t>
            </a:r>
            <a:r>
              <a:rPr dirty="0" sz="2400" b="1">
                <a:solidFill>
                  <a:srgbClr val="0000CC"/>
                </a:solidFill>
                <a:latin typeface="宋体"/>
                <a:cs typeface="宋体"/>
              </a:rPr>
              <a:t>	</a:t>
            </a:r>
            <a:r>
              <a:rPr dirty="0" sz="2400" spc="-15" b="1">
                <a:latin typeface="宋体"/>
                <a:cs typeface="宋体"/>
              </a:rPr>
              <a:t>// 取</a:t>
            </a:r>
            <a:r>
              <a:rPr dirty="0" sz="2400" spc="-50" b="1">
                <a:latin typeface="宋体"/>
                <a:cs typeface="宋体"/>
              </a:rPr>
              <a:t>A</a:t>
            </a:r>
            <a:endParaRPr sz="2400">
              <a:latin typeface="宋体"/>
              <a:cs typeface="宋体"/>
            </a:endParaRPr>
          </a:p>
          <a:p>
            <a:pPr marL="12700">
              <a:lnSpc>
                <a:spcPct val="100000"/>
              </a:lnSpc>
              <a:spcBef>
                <a:spcPts val="865"/>
              </a:spcBef>
            </a:pPr>
            <a:r>
              <a:rPr dirty="0" sz="2400" b="1">
                <a:solidFill>
                  <a:srgbClr val="FF3300"/>
                </a:solidFill>
                <a:latin typeface="宋体"/>
                <a:cs typeface="宋体"/>
              </a:rPr>
              <a:t>sLD</a:t>
            </a:r>
            <a:r>
              <a:rPr dirty="0" sz="2400" spc="-15" b="1">
                <a:solidFill>
                  <a:srgbClr val="FF3300"/>
                </a:solidFill>
                <a:latin typeface="宋体"/>
                <a:cs typeface="宋体"/>
              </a:rPr>
              <a:t> </a:t>
            </a:r>
            <a:r>
              <a:rPr dirty="0" sz="2400" b="1">
                <a:solidFill>
                  <a:srgbClr val="0000CC"/>
                </a:solidFill>
                <a:latin typeface="宋体"/>
                <a:cs typeface="宋体"/>
              </a:rPr>
              <a:t>R14，0（R2）</a:t>
            </a:r>
            <a:r>
              <a:rPr dirty="0" sz="2400" spc="5" b="1">
                <a:solidFill>
                  <a:srgbClr val="0000CC"/>
                </a:solidFill>
                <a:latin typeface="宋体"/>
                <a:cs typeface="宋体"/>
              </a:rPr>
              <a:t> </a:t>
            </a:r>
            <a:r>
              <a:rPr dirty="0" sz="2400" spc="-10" b="1">
                <a:latin typeface="宋体"/>
                <a:cs typeface="宋体"/>
              </a:rPr>
              <a:t>// 取</a:t>
            </a:r>
            <a:r>
              <a:rPr dirty="0" sz="2400" spc="-20" b="1">
                <a:latin typeface="宋体"/>
                <a:cs typeface="宋体"/>
              </a:rPr>
              <a:t>B</a:t>
            </a:r>
            <a:r>
              <a:rPr dirty="0" sz="2400" spc="-30" b="1">
                <a:latin typeface="宋体"/>
                <a:cs typeface="宋体"/>
              </a:rPr>
              <a:t>，前瞻执行</a:t>
            </a:r>
            <a:endParaRPr sz="2400">
              <a:latin typeface="宋体"/>
              <a:cs typeface="宋体"/>
            </a:endParaRPr>
          </a:p>
          <a:p>
            <a:pPr marL="12700">
              <a:lnSpc>
                <a:spcPct val="100000"/>
              </a:lnSpc>
              <a:spcBef>
                <a:spcPts val="865"/>
              </a:spcBef>
              <a:tabLst>
                <a:tab pos="1211580" algn="l"/>
              </a:tabLst>
            </a:pPr>
            <a:r>
              <a:rPr dirty="0" sz="2400" spc="-20" b="1">
                <a:solidFill>
                  <a:srgbClr val="0000CC"/>
                </a:solidFill>
                <a:latin typeface="宋体"/>
                <a:cs typeface="宋体"/>
              </a:rPr>
              <a:t>BEQZ</a:t>
            </a:r>
            <a:r>
              <a:rPr dirty="0" sz="2400" b="1">
                <a:solidFill>
                  <a:srgbClr val="0000CC"/>
                </a:solidFill>
                <a:latin typeface="宋体"/>
                <a:cs typeface="宋体"/>
              </a:rPr>
              <a:t>	</a:t>
            </a:r>
            <a:r>
              <a:rPr dirty="0" sz="2400" spc="-10" b="1">
                <a:solidFill>
                  <a:srgbClr val="0000CC"/>
                </a:solidFill>
                <a:latin typeface="宋体"/>
                <a:cs typeface="宋体"/>
              </a:rPr>
              <a:t>R1，L3</a:t>
            </a:r>
            <a:endParaRPr sz="2400">
              <a:latin typeface="宋体"/>
              <a:cs typeface="宋体"/>
            </a:endParaRPr>
          </a:p>
        </p:txBody>
      </p:sp>
      <p:sp>
        <p:nvSpPr>
          <p:cNvPr id="13" name="object 13" descr=""/>
          <p:cNvSpPr txBox="1"/>
          <p:nvPr/>
        </p:nvSpPr>
        <p:spPr>
          <a:xfrm>
            <a:off x="5628513" y="2357534"/>
            <a:ext cx="4593590" cy="976630"/>
          </a:xfrm>
          <a:prstGeom prst="rect">
            <a:avLst/>
          </a:prstGeom>
        </p:spPr>
        <p:txBody>
          <a:bodyPr wrap="square" lIns="0" tIns="121920" rIns="0" bIns="0" rtlCol="0" vert="horz">
            <a:spAutoFit/>
          </a:bodyPr>
          <a:lstStyle/>
          <a:p>
            <a:pPr marL="12700">
              <a:lnSpc>
                <a:spcPct val="100000"/>
              </a:lnSpc>
              <a:spcBef>
                <a:spcPts val="960"/>
              </a:spcBef>
              <a:tabLst>
                <a:tab pos="3348990" algn="l"/>
              </a:tabLst>
            </a:pPr>
            <a:r>
              <a:rPr dirty="0" sz="2400" b="1">
                <a:solidFill>
                  <a:srgbClr val="0000CC"/>
                </a:solidFill>
                <a:latin typeface="宋体"/>
                <a:cs typeface="宋体"/>
              </a:rPr>
              <a:t>DADDI</a:t>
            </a:r>
            <a:r>
              <a:rPr dirty="0" sz="2400" spc="-70" b="1">
                <a:solidFill>
                  <a:srgbClr val="0000CC"/>
                </a:solidFill>
                <a:latin typeface="宋体"/>
                <a:cs typeface="宋体"/>
              </a:rPr>
              <a:t> </a:t>
            </a:r>
            <a:r>
              <a:rPr dirty="0" sz="2400" spc="-10" b="1">
                <a:solidFill>
                  <a:srgbClr val="0000CC"/>
                </a:solidFill>
                <a:latin typeface="宋体"/>
                <a:cs typeface="宋体"/>
              </a:rPr>
              <a:t>R14，R1，#4</a:t>
            </a:r>
            <a:r>
              <a:rPr dirty="0" sz="2400" b="1">
                <a:solidFill>
                  <a:srgbClr val="0000CC"/>
                </a:solidFill>
                <a:latin typeface="宋体"/>
                <a:cs typeface="宋体"/>
              </a:rPr>
              <a:t>	</a:t>
            </a:r>
            <a:r>
              <a:rPr dirty="0" sz="2400" b="1">
                <a:latin typeface="宋体"/>
                <a:cs typeface="宋体"/>
              </a:rPr>
              <a:t>//</a:t>
            </a:r>
            <a:r>
              <a:rPr dirty="0" sz="2400" spc="-30" b="1">
                <a:latin typeface="宋体"/>
                <a:cs typeface="宋体"/>
              </a:rPr>
              <a:t> </a:t>
            </a:r>
            <a:r>
              <a:rPr dirty="0" sz="2400" spc="-10" b="1">
                <a:latin typeface="宋体"/>
                <a:cs typeface="宋体"/>
              </a:rPr>
              <a:t>A=A+4</a:t>
            </a:r>
            <a:endParaRPr sz="2400">
              <a:latin typeface="宋体"/>
              <a:cs typeface="宋体"/>
            </a:endParaRPr>
          </a:p>
          <a:p>
            <a:pPr marL="12700">
              <a:lnSpc>
                <a:spcPct val="100000"/>
              </a:lnSpc>
              <a:spcBef>
                <a:spcPts val="865"/>
              </a:spcBef>
              <a:tabLst>
                <a:tab pos="1211580" algn="l"/>
                <a:tab pos="3362325" algn="l"/>
              </a:tabLst>
            </a:pPr>
            <a:r>
              <a:rPr dirty="0" sz="2400" spc="-10" b="1">
                <a:solidFill>
                  <a:srgbClr val="0000CC"/>
                </a:solidFill>
                <a:latin typeface="宋体"/>
                <a:cs typeface="宋体"/>
              </a:rPr>
              <a:t>L3：SD</a:t>
            </a:r>
            <a:r>
              <a:rPr dirty="0" sz="2400" b="1">
                <a:solidFill>
                  <a:srgbClr val="0000CC"/>
                </a:solidFill>
                <a:latin typeface="宋体"/>
                <a:cs typeface="宋体"/>
              </a:rPr>
              <a:t>	</a:t>
            </a:r>
            <a:r>
              <a:rPr dirty="0" sz="2400" spc="-10" b="1">
                <a:solidFill>
                  <a:srgbClr val="0000CC"/>
                </a:solidFill>
                <a:latin typeface="宋体"/>
                <a:cs typeface="宋体"/>
              </a:rPr>
              <a:t>R14，0（R3）</a:t>
            </a:r>
            <a:r>
              <a:rPr dirty="0" sz="2400" b="1">
                <a:solidFill>
                  <a:srgbClr val="0000CC"/>
                </a:solidFill>
                <a:latin typeface="宋体"/>
                <a:cs typeface="宋体"/>
              </a:rPr>
              <a:t>	</a:t>
            </a:r>
            <a:r>
              <a:rPr dirty="0" sz="2400" spc="-10" b="1">
                <a:latin typeface="宋体"/>
                <a:cs typeface="宋体"/>
              </a:rPr>
              <a:t>// 存</a:t>
            </a:r>
            <a:r>
              <a:rPr dirty="0" sz="2400" spc="-50" b="1">
                <a:latin typeface="宋体"/>
                <a:cs typeface="宋体"/>
              </a:rPr>
              <a:t>A</a:t>
            </a:r>
            <a:endParaRPr sz="2400">
              <a:latin typeface="宋体"/>
              <a:cs typeface="宋体"/>
            </a:endParaRPr>
          </a:p>
        </p:txBody>
      </p:sp>
      <p:sp>
        <p:nvSpPr>
          <p:cNvPr id="14" name="object 14"/>
          <p:cNvSpPr txBox="1">
            <a:spLocks noGrp="1"/>
          </p:cNvSpPr>
          <p:nvPr>
            <p:ph type="title"/>
          </p:nvPr>
        </p:nvSpPr>
        <p:spPr>
          <a:xfrm>
            <a:off x="1870329" y="-24561"/>
            <a:ext cx="4905375" cy="514350"/>
          </a:xfrm>
          <a:prstGeom prst="rect"/>
        </p:spPr>
        <p:txBody>
          <a:bodyPr wrap="square" lIns="0" tIns="13335" rIns="0" bIns="0" rtlCol="0" vert="horz">
            <a:spAutoFit/>
          </a:bodyPr>
          <a:lstStyle/>
          <a:p>
            <a:pPr marL="12700">
              <a:lnSpc>
                <a:spcPct val="100000"/>
              </a:lnSpc>
              <a:spcBef>
                <a:spcPts val="105"/>
              </a:spcBef>
            </a:pPr>
            <a:r>
              <a:rPr dirty="0" u="none"/>
              <a:t>6.4</a:t>
            </a:r>
            <a:r>
              <a:rPr dirty="0" u="none" spc="-20"/>
              <a:t> 显示并行指令计算EPIC</a:t>
            </a:r>
          </a:p>
        </p:txBody>
      </p:sp>
      <p:grpSp>
        <p:nvGrpSpPr>
          <p:cNvPr id="15" name="object 15" descr=""/>
          <p:cNvGrpSpPr/>
          <p:nvPr/>
        </p:nvGrpSpPr>
        <p:grpSpPr>
          <a:xfrm>
            <a:off x="109537" y="693798"/>
            <a:ext cx="11823700" cy="4133850"/>
            <a:chOff x="109537" y="693798"/>
            <a:chExt cx="11823700" cy="4133850"/>
          </a:xfrm>
        </p:grpSpPr>
        <p:pic>
          <p:nvPicPr>
            <p:cNvPr id="16" name="object 16" descr=""/>
            <p:cNvPicPr/>
            <p:nvPr/>
          </p:nvPicPr>
          <p:blipFill>
            <a:blip r:embed="rId3" cstate="print"/>
            <a:stretch>
              <a:fillRect/>
            </a:stretch>
          </p:blipFill>
          <p:spPr>
            <a:xfrm>
              <a:off x="202074" y="1793875"/>
              <a:ext cx="4182822" cy="3024124"/>
            </a:xfrm>
            <a:prstGeom prst="rect">
              <a:avLst/>
            </a:prstGeom>
          </p:spPr>
        </p:pic>
        <p:sp>
          <p:nvSpPr>
            <p:cNvPr id="17" name="object 17" descr=""/>
            <p:cNvSpPr/>
            <p:nvPr/>
          </p:nvSpPr>
          <p:spPr>
            <a:xfrm>
              <a:off x="114300" y="1789176"/>
              <a:ext cx="4330700" cy="3034030"/>
            </a:xfrm>
            <a:custGeom>
              <a:avLst/>
              <a:gdLst/>
              <a:ahLst/>
              <a:cxnLst/>
              <a:rect l="l" t="t" r="r" b="b"/>
              <a:pathLst>
                <a:path w="4330700" h="3034029">
                  <a:moveTo>
                    <a:pt x="0" y="3033649"/>
                  </a:moveTo>
                  <a:lnTo>
                    <a:pt x="4330700" y="3033649"/>
                  </a:lnTo>
                  <a:lnTo>
                    <a:pt x="4330700" y="0"/>
                  </a:lnTo>
                  <a:lnTo>
                    <a:pt x="0" y="0"/>
                  </a:lnTo>
                  <a:lnTo>
                    <a:pt x="0" y="3033649"/>
                  </a:lnTo>
                  <a:close/>
                </a:path>
              </a:pathLst>
            </a:custGeom>
            <a:ln w="9525">
              <a:solidFill>
                <a:srgbClr val="FF0000"/>
              </a:solidFill>
            </a:ln>
          </p:spPr>
          <p:txBody>
            <a:bodyPr wrap="square" lIns="0" tIns="0" rIns="0" bIns="0" rtlCol="0"/>
            <a:lstStyle/>
            <a:p/>
          </p:txBody>
        </p:sp>
        <p:sp>
          <p:nvSpPr>
            <p:cNvPr id="18" name="object 18" descr=""/>
            <p:cNvSpPr/>
            <p:nvPr/>
          </p:nvSpPr>
          <p:spPr>
            <a:xfrm>
              <a:off x="4319651" y="2765425"/>
              <a:ext cx="576580" cy="287655"/>
            </a:xfrm>
            <a:custGeom>
              <a:avLst/>
              <a:gdLst/>
              <a:ahLst/>
              <a:cxnLst/>
              <a:rect l="l" t="t" r="r" b="b"/>
              <a:pathLst>
                <a:path w="576579" h="287655">
                  <a:moveTo>
                    <a:pt x="432181" y="0"/>
                  </a:moveTo>
                  <a:lnTo>
                    <a:pt x="432181" y="71882"/>
                  </a:lnTo>
                  <a:lnTo>
                    <a:pt x="0" y="71882"/>
                  </a:lnTo>
                  <a:lnTo>
                    <a:pt x="0" y="215519"/>
                  </a:lnTo>
                  <a:lnTo>
                    <a:pt x="432181" y="215519"/>
                  </a:lnTo>
                  <a:lnTo>
                    <a:pt x="432181" y="287400"/>
                  </a:lnTo>
                  <a:lnTo>
                    <a:pt x="576199" y="143637"/>
                  </a:lnTo>
                  <a:lnTo>
                    <a:pt x="432181" y="0"/>
                  </a:lnTo>
                  <a:close/>
                </a:path>
              </a:pathLst>
            </a:custGeom>
            <a:solidFill>
              <a:srgbClr val="EBD782"/>
            </a:solidFill>
          </p:spPr>
          <p:txBody>
            <a:bodyPr wrap="square" lIns="0" tIns="0" rIns="0" bIns="0" rtlCol="0"/>
            <a:lstStyle/>
            <a:p/>
          </p:txBody>
        </p:sp>
        <p:sp>
          <p:nvSpPr>
            <p:cNvPr id="19" name="object 19" descr=""/>
            <p:cNvSpPr/>
            <p:nvPr/>
          </p:nvSpPr>
          <p:spPr>
            <a:xfrm>
              <a:off x="4319651" y="2765425"/>
              <a:ext cx="576580" cy="287655"/>
            </a:xfrm>
            <a:custGeom>
              <a:avLst/>
              <a:gdLst/>
              <a:ahLst/>
              <a:cxnLst/>
              <a:rect l="l" t="t" r="r" b="b"/>
              <a:pathLst>
                <a:path w="576579" h="287655">
                  <a:moveTo>
                    <a:pt x="0" y="71882"/>
                  </a:moveTo>
                  <a:lnTo>
                    <a:pt x="432181" y="71882"/>
                  </a:lnTo>
                  <a:lnTo>
                    <a:pt x="432181" y="0"/>
                  </a:lnTo>
                  <a:lnTo>
                    <a:pt x="576199" y="143637"/>
                  </a:lnTo>
                  <a:lnTo>
                    <a:pt x="432181" y="287400"/>
                  </a:lnTo>
                  <a:lnTo>
                    <a:pt x="432181" y="215519"/>
                  </a:lnTo>
                  <a:lnTo>
                    <a:pt x="0" y="215519"/>
                  </a:lnTo>
                  <a:lnTo>
                    <a:pt x="0" y="71882"/>
                  </a:lnTo>
                  <a:close/>
                </a:path>
              </a:pathLst>
            </a:custGeom>
            <a:ln w="9525">
              <a:solidFill>
                <a:srgbClr val="40458B"/>
              </a:solidFill>
            </a:ln>
          </p:spPr>
          <p:txBody>
            <a:bodyPr wrap="square" lIns="0" tIns="0" rIns="0" bIns="0" rtlCol="0"/>
            <a:lstStyle/>
            <a:p/>
          </p:txBody>
        </p:sp>
        <p:pic>
          <p:nvPicPr>
            <p:cNvPr id="20" name="object 20" descr=""/>
            <p:cNvPicPr/>
            <p:nvPr/>
          </p:nvPicPr>
          <p:blipFill>
            <a:blip r:embed="rId4" cstate="print"/>
            <a:stretch>
              <a:fillRect/>
            </a:stretch>
          </p:blipFill>
          <p:spPr>
            <a:xfrm>
              <a:off x="198367" y="693798"/>
              <a:ext cx="3945295" cy="533275"/>
            </a:xfrm>
            <a:prstGeom prst="rect">
              <a:avLst/>
            </a:prstGeom>
          </p:spPr>
        </p:pic>
        <p:sp>
          <p:nvSpPr>
            <p:cNvPr id="21" name="object 21" descr=""/>
            <p:cNvSpPr/>
            <p:nvPr/>
          </p:nvSpPr>
          <p:spPr>
            <a:xfrm>
              <a:off x="11209273" y="1900301"/>
              <a:ext cx="719455" cy="1152525"/>
            </a:xfrm>
            <a:custGeom>
              <a:avLst/>
              <a:gdLst/>
              <a:ahLst/>
              <a:cxnLst/>
              <a:rect l="l" t="t" r="r" b="b"/>
              <a:pathLst>
                <a:path w="719454" h="1152525">
                  <a:moveTo>
                    <a:pt x="0" y="1152525"/>
                  </a:moveTo>
                  <a:lnTo>
                    <a:pt x="719137" y="1152525"/>
                  </a:lnTo>
                  <a:lnTo>
                    <a:pt x="719137" y="0"/>
                  </a:lnTo>
                  <a:lnTo>
                    <a:pt x="0" y="0"/>
                  </a:lnTo>
                  <a:lnTo>
                    <a:pt x="0" y="1152525"/>
                  </a:lnTo>
                  <a:close/>
                </a:path>
              </a:pathLst>
            </a:custGeom>
            <a:ln w="9525">
              <a:solidFill>
                <a:srgbClr val="006FC0"/>
              </a:solidFill>
            </a:ln>
          </p:spPr>
          <p:txBody>
            <a:bodyPr wrap="square" lIns="0" tIns="0" rIns="0" bIns="0" rtlCol="0"/>
            <a:lstStyle/>
            <a:p/>
          </p:txBody>
        </p:sp>
        <p:sp>
          <p:nvSpPr>
            <p:cNvPr id="22" name="object 22" descr=""/>
            <p:cNvSpPr/>
            <p:nvPr/>
          </p:nvSpPr>
          <p:spPr>
            <a:xfrm>
              <a:off x="11209273" y="2476500"/>
              <a:ext cx="719455" cy="0"/>
            </a:xfrm>
            <a:custGeom>
              <a:avLst/>
              <a:gdLst/>
              <a:ahLst/>
              <a:cxnLst/>
              <a:rect l="l" t="t" r="r" b="b"/>
              <a:pathLst>
                <a:path w="719454" h="0">
                  <a:moveTo>
                    <a:pt x="0" y="0"/>
                  </a:moveTo>
                  <a:lnTo>
                    <a:pt x="719201" y="0"/>
                  </a:lnTo>
                </a:path>
              </a:pathLst>
            </a:custGeom>
            <a:ln w="9525">
              <a:solidFill>
                <a:srgbClr val="40458B"/>
              </a:solidFill>
            </a:ln>
          </p:spPr>
          <p:txBody>
            <a:bodyPr wrap="square" lIns="0" tIns="0" rIns="0" bIns="0" rtlCol="0"/>
            <a:lstStyle/>
            <a:p/>
          </p:txBody>
        </p:sp>
      </p:grpSp>
      <p:sp>
        <p:nvSpPr>
          <p:cNvPr id="23" name="object 23" descr=""/>
          <p:cNvSpPr txBox="1"/>
          <p:nvPr/>
        </p:nvSpPr>
        <p:spPr>
          <a:xfrm>
            <a:off x="4870450" y="3707384"/>
            <a:ext cx="7173595" cy="2160270"/>
          </a:xfrm>
          <a:prstGeom prst="rect">
            <a:avLst/>
          </a:prstGeom>
        </p:spPr>
        <p:txBody>
          <a:bodyPr wrap="square" lIns="0" tIns="12700" rIns="0" bIns="0" rtlCol="0" vert="horz">
            <a:spAutoFit/>
          </a:bodyPr>
          <a:lstStyle/>
          <a:p>
            <a:pPr marL="12700">
              <a:lnSpc>
                <a:spcPct val="100000"/>
              </a:lnSpc>
              <a:spcBef>
                <a:spcPts val="100"/>
              </a:spcBef>
            </a:pPr>
            <a:r>
              <a:rPr dirty="0" sz="2000" spc="-10">
                <a:solidFill>
                  <a:srgbClr val="FF0000"/>
                </a:solidFill>
                <a:latin typeface="Tahoma"/>
                <a:cs typeface="Tahoma"/>
              </a:rPr>
              <a:t>BEQZ</a:t>
            </a:r>
            <a:r>
              <a:rPr dirty="0" sz="2000" spc="-20">
                <a:solidFill>
                  <a:srgbClr val="FF0000"/>
                </a:solidFill>
                <a:latin typeface="黑体"/>
                <a:cs typeface="黑体"/>
              </a:rPr>
              <a:t>指令根据分支条件确定前瞻执行是否确保了结果的正确性</a:t>
            </a:r>
            <a:endParaRPr sz="2000">
              <a:latin typeface="黑体"/>
              <a:cs typeface="黑体"/>
            </a:endParaRPr>
          </a:p>
          <a:p>
            <a:pPr marL="12700" marR="69215">
              <a:lnSpc>
                <a:spcPct val="100000"/>
              </a:lnSpc>
            </a:pPr>
            <a:r>
              <a:rPr dirty="0" sz="2000" spc="-10">
                <a:solidFill>
                  <a:srgbClr val="FF0000"/>
                </a:solidFill>
                <a:latin typeface="Tahoma"/>
                <a:cs typeface="Tahoma"/>
              </a:rPr>
              <a:t>**</a:t>
            </a:r>
            <a:r>
              <a:rPr dirty="0" sz="2000" spc="-10">
                <a:solidFill>
                  <a:srgbClr val="40458B"/>
                </a:solidFill>
                <a:latin typeface="黑体"/>
                <a:cs typeface="黑体"/>
              </a:rPr>
              <a:t>当分支转移失败时，</a:t>
            </a:r>
            <a:r>
              <a:rPr dirty="0" sz="2000" spc="-10">
                <a:solidFill>
                  <a:srgbClr val="40458B"/>
                </a:solidFill>
                <a:latin typeface="Tahoma"/>
                <a:cs typeface="Tahoma"/>
              </a:rPr>
              <a:t>R14=R1+4,</a:t>
            </a:r>
            <a:r>
              <a:rPr dirty="0" sz="2000" spc="-10">
                <a:solidFill>
                  <a:srgbClr val="40458B"/>
                </a:solidFill>
                <a:latin typeface="黑体"/>
                <a:cs typeface="黑体"/>
              </a:rPr>
              <a:t>此时</a:t>
            </a:r>
            <a:r>
              <a:rPr dirty="0" sz="2000" spc="-10">
                <a:solidFill>
                  <a:srgbClr val="40458B"/>
                </a:solidFill>
                <a:latin typeface="Tahoma"/>
                <a:cs typeface="Tahoma"/>
              </a:rPr>
              <a:t>sLD</a:t>
            </a:r>
            <a:r>
              <a:rPr dirty="0" sz="2000" spc="-15">
                <a:solidFill>
                  <a:srgbClr val="40458B"/>
                </a:solidFill>
                <a:latin typeface="黑体"/>
                <a:cs typeface="黑体"/>
              </a:rPr>
              <a:t>前瞻无效，所以就会</a:t>
            </a:r>
            <a:r>
              <a:rPr dirty="0" sz="2000">
                <a:solidFill>
                  <a:srgbClr val="40458B"/>
                </a:solidFill>
                <a:latin typeface="黑体"/>
                <a:cs typeface="黑体"/>
              </a:rPr>
              <a:t>把</a:t>
            </a:r>
            <a:r>
              <a:rPr dirty="0" sz="2000" spc="-10">
                <a:solidFill>
                  <a:srgbClr val="40458B"/>
                </a:solidFill>
                <a:latin typeface="Tahoma"/>
                <a:cs typeface="Tahoma"/>
              </a:rPr>
              <a:t>R1+4</a:t>
            </a:r>
            <a:r>
              <a:rPr dirty="0" sz="2000">
                <a:solidFill>
                  <a:srgbClr val="40458B"/>
                </a:solidFill>
                <a:latin typeface="黑体"/>
                <a:cs typeface="黑体"/>
              </a:rPr>
              <a:t>即</a:t>
            </a:r>
            <a:r>
              <a:rPr dirty="0" sz="2000" spc="-10">
                <a:solidFill>
                  <a:srgbClr val="40458B"/>
                </a:solidFill>
                <a:latin typeface="Tahoma"/>
                <a:cs typeface="Tahoma"/>
              </a:rPr>
              <a:t>A+4</a:t>
            </a:r>
            <a:r>
              <a:rPr dirty="0" sz="2000" spc="-10">
                <a:solidFill>
                  <a:srgbClr val="40458B"/>
                </a:solidFill>
                <a:latin typeface="黑体"/>
                <a:cs typeface="黑体"/>
              </a:rPr>
              <a:t>存入</a:t>
            </a:r>
            <a:r>
              <a:rPr dirty="0" sz="2000" spc="-20">
                <a:solidFill>
                  <a:srgbClr val="40458B"/>
                </a:solidFill>
                <a:latin typeface="Tahoma"/>
                <a:cs typeface="Tahoma"/>
              </a:rPr>
              <a:t>0</a:t>
            </a:r>
            <a:r>
              <a:rPr dirty="0" sz="2000" spc="-20">
                <a:solidFill>
                  <a:srgbClr val="40458B"/>
                </a:solidFill>
                <a:latin typeface="黑体"/>
                <a:cs typeface="黑体"/>
              </a:rPr>
              <a:t>（</a:t>
            </a:r>
            <a:r>
              <a:rPr dirty="0" sz="2000" spc="-20">
                <a:solidFill>
                  <a:srgbClr val="40458B"/>
                </a:solidFill>
                <a:latin typeface="Tahoma"/>
                <a:cs typeface="Tahoma"/>
              </a:rPr>
              <a:t>R3</a:t>
            </a:r>
            <a:r>
              <a:rPr dirty="0" sz="2000" spc="-20">
                <a:solidFill>
                  <a:srgbClr val="40458B"/>
                </a:solidFill>
                <a:latin typeface="黑体"/>
                <a:cs typeface="黑体"/>
              </a:rPr>
              <a:t>）</a:t>
            </a:r>
            <a:endParaRPr sz="2000">
              <a:latin typeface="黑体"/>
              <a:cs typeface="黑体"/>
            </a:endParaRPr>
          </a:p>
          <a:p>
            <a:pPr marL="12700" marR="5080">
              <a:lnSpc>
                <a:spcPct val="100000"/>
              </a:lnSpc>
              <a:spcBef>
                <a:spcPts val="5"/>
              </a:spcBef>
            </a:pPr>
            <a:r>
              <a:rPr dirty="0" sz="2000" spc="-10">
                <a:solidFill>
                  <a:srgbClr val="FF0000"/>
                </a:solidFill>
                <a:latin typeface="Tahoma"/>
                <a:cs typeface="Tahoma"/>
              </a:rPr>
              <a:t>**</a:t>
            </a:r>
            <a:r>
              <a:rPr dirty="0" sz="2000" spc="-15">
                <a:solidFill>
                  <a:srgbClr val="40458B"/>
                </a:solidFill>
                <a:latin typeface="黑体"/>
                <a:cs typeface="黑体"/>
              </a:rPr>
              <a:t>而当分支转移成功时，</a:t>
            </a:r>
            <a:r>
              <a:rPr dirty="0" sz="2000" spc="-20">
                <a:solidFill>
                  <a:srgbClr val="40458B"/>
                </a:solidFill>
                <a:latin typeface="Tahoma"/>
                <a:cs typeface="Tahoma"/>
              </a:rPr>
              <a:t>SLD</a:t>
            </a:r>
            <a:r>
              <a:rPr dirty="0" sz="2000" spc="-5">
                <a:solidFill>
                  <a:srgbClr val="40458B"/>
                </a:solidFill>
                <a:latin typeface="黑体"/>
                <a:cs typeface="黑体"/>
              </a:rPr>
              <a:t>成功，</a:t>
            </a:r>
            <a:r>
              <a:rPr dirty="0" sz="2000" spc="-10">
                <a:solidFill>
                  <a:srgbClr val="40458B"/>
                </a:solidFill>
                <a:latin typeface="Tahoma"/>
                <a:cs typeface="Tahoma"/>
              </a:rPr>
              <a:t>R14</a:t>
            </a:r>
            <a:r>
              <a:rPr dirty="0" sz="2000" spc="-10">
                <a:solidFill>
                  <a:srgbClr val="40458B"/>
                </a:solidFill>
                <a:latin typeface="黑体"/>
                <a:cs typeface="黑体"/>
              </a:rPr>
              <a:t>的值为</a:t>
            </a:r>
            <a:r>
              <a:rPr dirty="0" sz="2000" spc="-10">
                <a:solidFill>
                  <a:srgbClr val="40458B"/>
                </a:solidFill>
                <a:latin typeface="Tahoma"/>
                <a:cs typeface="Tahoma"/>
              </a:rPr>
              <a:t>B</a:t>
            </a:r>
            <a:r>
              <a:rPr dirty="0" sz="2000" spc="-20">
                <a:solidFill>
                  <a:srgbClr val="40458B"/>
                </a:solidFill>
                <a:latin typeface="黑体"/>
                <a:cs typeface="黑体"/>
              </a:rPr>
              <a:t>，接下来就会把</a:t>
            </a:r>
            <a:r>
              <a:rPr dirty="0" sz="2000" spc="-50">
                <a:solidFill>
                  <a:srgbClr val="40458B"/>
                </a:solidFill>
                <a:latin typeface="黑体"/>
                <a:cs typeface="黑体"/>
              </a:rPr>
              <a:t> </a:t>
            </a:r>
            <a:r>
              <a:rPr dirty="0" sz="2000" spc="-10">
                <a:solidFill>
                  <a:srgbClr val="40458B"/>
                </a:solidFill>
                <a:latin typeface="Tahoma"/>
                <a:cs typeface="Tahoma"/>
              </a:rPr>
              <a:t>B</a:t>
            </a:r>
            <a:r>
              <a:rPr dirty="0" sz="2000">
                <a:solidFill>
                  <a:srgbClr val="40458B"/>
                </a:solidFill>
                <a:latin typeface="黑体"/>
                <a:cs typeface="黑体"/>
              </a:rPr>
              <a:t>存入</a:t>
            </a:r>
            <a:r>
              <a:rPr dirty="0" sz="2000" spc="-10">
                <a:solidFill>
                  <a:srgbClr val="40458B"/>
                </a:solidFill>
                <a:latin typeface="Tahoma"/>
                <a:cs typeface="Tahoma"/>
              </a:rPr>
              <a:t>0</a:t>
            </a:r>
            <a:r>
              <a:rPr dirty="0" sz="2000" spc="-10">
                <a:solidFill>
                  <a:srgbClr val="40458B"/>
                </a:solidFill>
                <a:latin typeface="黑体"/>
                <a:cs typeface="黑体"/>
              </a:rPr>
              <a:t>（</a:t>
            </a:r>
            <a:r>
              <a:rPr dirty="0" sz="2000" spc="-10">
                <a:solidFill>
                  <a:srgbClr val="40458B"/>
                </a:solidFill>
                <a:latin typeface="Tahoma"/>
                <a:cs typeface="Tahoma"/>
              </a:rPr>
              <a:t>R3</a:t>
            </a:r>
            <a:r>
              <a:rPr dirty="0" sz="2000" spc="-10">
                <a:solidFill>
                  <a:srgbClr val="40458B"/>
                </a:solidFill>
                <a:latin typeface="黑体"/>
                <a:cs typeface="黑体"/>
              </a:rPr>
              <a:t>）</a:t>
            </a:r>
            <a:endParaRPr sz="2000">
              <a:latin typeface="黑体"/>
              <a:cs typeface="黑体"/>
            </a:endParaRPr>
          </a:p>
          <a:p>
            <a:pPr marL="12700">
              <a:lnSpc>
                <a:spcPct val="100000"/>
              </a:lnSpc>
            </a:pPr>
            <a:r>
              <a:rPr dirty="0" sz="2000">
                <a:solidFill>
                  <a:srgbClr val="FF0000"/>
                </a:solidFill>
                <a:latin typeface="Tahoma"/>
                <a:cs typeface="Tahoma"/>
              </a:rPr>
              <a:t>→→</a:t>
            </a:r>
            <a:r>
              <a:rPr dirty="0" sz="2000" spc="-5">
                <a:solidFill>
                  <a:srgbClr val="FF0000"/>
                </a:solidFill>
                <a:latin typeface="黑体"/>
                <a:cs typeface="黑体"/>
              </a:rPr>
              <a:t>本例调度目的</a:t>
            </a:r>
            <a:r>
              <a:rPr dirty="0" sz="2000" spc="-20">
                <a:solidFill>
                  <a:srgbClr val="40458B"/>
                </a:solidFill>
                <a:latin typeface="黑体"/>
                <a:cs typeface="黑体"/>
              </a:rPr>
              <a:t>：通过分支指令将控制流转移到前瞻成功或失</a:t>
            </a:r>
            <a:endParaRPr sz="2000">
              <a:latin typeface="黑体"/>
              <a:cs typeface="黑体"/>
            </a:endParaRPr>
          </a:p>
          <a:p>
            <a:pPr marL="12700">
              <a:lnSpc>
                <a:spcPct val="100000"/>
              </a:lnSpc>
            </a:pPr>
            <a:r>
              <a:rPr dirty="0" sz="2000" spc="-25">
                <a:solidFill>
                  <a:srgbClr val="40458B"/>
                </a:solidFill>
                <a:latin typeface="黑体"/>
                <a:cs typeface="黑体"/>
              </a:rPr>
              <a:t>败的处理代码中，确保了结果的正确。</a:t>
            </a:r>
            <a:endParaRPr sz="2000">
              <a:latin typeface="黑体"/>
              <a:cs typeface="黑体"/>
            </a:endParaRPr>
          </a:p>
        </p:txBody>
      </p:sp>
      <p:sp>
        <p:nvSpPr>
          <p:cNvPr id="24" name="object 24" descr=""/>
          <p:cNvSpPr txBox="1"/>
          <p:nvPr/>
        </p:nvSpPr>
        <p:spPr>
          <a:xfrm>
            <a:off x="466140" y="6136944"/>
            <a:ext cx="9665970" cy="391160"/>
          </a:xfrm>
          <a:prstGeom prst="rect">
            <a:avLst/>
          </a:prstGeom>
        </p:spPr>
        <p:txBody>
          <a:bodyPr wrap="square" lIns="0" tIns="12700" rIns="0" bIns="0" rtlCol="0" vert="horz">
            <a:spAutoFit/>
          </a:bodyPr>
          <a:lstStyle/>
          <a:p>
            <a:pPr marL="12700">
              <a:lnSpc>
                <a:spcPct val="100000"/>
              </a:lnSpc>
              <a:spcBef>
                <a:spcPts val="100"/>
              </a:spcBef>
            </a:pPr>
            <a:r>
              <a:rPr dirty="0" sz="2400" spc="-20">
                <a:solidFill>
                  <a:srgbClr val="FF0000"/>
                </a:solidFill>
                <a:latin typeface="Tahoma"/>
                <a:cs typeface="Tahoma"/>
              </a:rPr>
              <a:t>sLD</a:t>
            </a:r>
            <a:r>
              <a:rPr dirty="0" sz="2400">
                <a:solidFill>
                  <a:srgbClr val="40458B"/>
                </a:solidFill>
                <a:latin typeface="黑体"/>
                <a:cs typeface="黑体"/>
              </a:rPr>
              <a:t>若执行时发生异常怎么办</a:t>
            </a:r>
            <a:r>
              <a:rPr dirty="0" sz="2400" spc="-10">
                <a:solidFill>
                  <a:srgbClr val="40458B"/>
                </a:solidFill>
                <a:latin typeface="Tahoma"/>
                <a:cs typeface="Tahoma"/>
              </a:rPr>
              <a:t>(l</a:t>
            </a:r>
            <a:r>
              <a:rPr dirty="0" sz="2400">
                <a:solidFill>
                  <a:srgbClr val="40458B"/>
                </a:solidFill>
                <a:latin typeface="黑体"/>
                <a:cs typeface="黑体"/>
              </a:rPr>
              <a:t>例如缺页，例如访问受保护的内存区域</a:t>
            </a:r>
            <a:r>
              <a:rPr dirty="0" sz="2400" spc="-25">
                <a:solidFill>
                  <a:srgbClr val="40458B"/>
                </a:solidFill>
                <a:latin typeface="Tahoma"/>
                <a:cs typeface="Tahoma"/>
              </a:rPr>
              <a:t>)</a:t>
            </a:r>
            <a:r>
              <a:rPr dirty="0" sz="2400" spc="-25">
                <a:solidFill>
                  <a:srgbClr val="40458B"/>
                </a:solidFill>
                <a:latin typeface="黑体"/>
                <a:cs typeface="黑体"/>
              </a:rPr>
              <a:t>？</a:t>
            </a:r>
            <a:endParaRPr sz="2400">
              <a:latin typeface="黑体"/>
              <a:cs typeface="黑体"/>
            </a:endParaRPr>
          </a:p>
        </p:txBody>
      </p:sp>
      <p:sp>
        <p:nvSpPr>
          <p:cNvPr id="25" name="object 25" descr=""/>
          <p:cNvSpPr txBox="1"/>
          <p:nvPr/>
        </p:nvSpPr>
        <p:spPr>
          <a:xfrm>
            <a:off x="270763" y="5196966"/>
            <a:ext cx="1550035"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00AFEF"/>
                </a:solidFill>
                <a:latin typeface="黑体"/>
                <a:cs typeface="黑体"/>
              </a:rPr>
              <a:t>控制前瞻</a:t>
            </a:r>
            <a:r>
              <a:rPr dirty="0" sz="2400" spc="-50">
                <a:solidFill>
                  <a:srgbClr val="40458B"/>
                </a:solidFill>
                <a:latin typeface="黑体"/>
                <a:cs typeface="黑体"/>
              </a:rPr>
              <a:t>：</a:t>
            </a:r>
            <a:endParaRPr sz="2400">
              <a:latin typeface="黑体"/>
              <a:cs typeface="黑体"/>
            </a:endParaRPr>
          </a:p>
        </p:txBody>
      </p:sp>
      <p:sp>
        <p:nvSpPr>
          <p:cNvPr id="26" name="object 26" descr=""/>
          <p:cNvSpPr txBox="1"/>
          <p:nvPr/>
        </p:nvSpPr>
        <p:spPr>
          <a:xfrm>
            <a:off x="7759954" y="161670"/>
            <a:ext cx="3791585" cy="330835"/>
          </a:xfrm>
          <a:prstGeom prst="rect">
            <a:avLst/>
          </a:prstGeom>
        </p:spPr>
        <p:txBody>
          <a:bodyPr wrap="square" lIns="0" tIns="12700" rIns="0" bIns="0" rtlCol="0" vert="horz">
            <a:spAutoFit/>
          </a:bodyPr>
          <a:lstStyle/>
          <a:p>
            <a:pPr marL="12700">
              <a:lnSpc>
                <a:spcPct val="100000"/>
              </a:lnSpc>
              <a:spcBef>
                <a:spcPts val="100"/>
              </a:spcBef>
            </a:pPr>
            <a:r>
              <a:rPr dirty="0" sz="2000" spc="-20">
                <a:solidFill>
                  <a:srgbClr val="40458B"/>
                </a:solidFill>
                <a:latin typeface="Tahoma"/>
                <a:cs typeface="Tahoma"/>
              </a:rPr>
              <a:t>sLD</a:t>
            </a:r>
            <a:r>
              <a:rPr dirty="0" sz="2000" spc="-10">
                <a:solidFill>
                  <a:srgbClr val="40458B"/>
                </a:solidFill>
                <a:latin typeface="黑体"/>
                <a:cs typeface="黑体"/>
              </a:rPr>
              <a:t>在表示上区别与第一条</a:t>
            </a:r>
            <a:r>
              <a:rPr dirty="0" sz="2000" spc="-25">
                <a:solidFill>
                  <a:srgbClr val="40458B"/>
                </a:solidFill>
                <a:latin typeface="Tahoma"/>
                <a:cs typeface="Tahoma"/>
              </a:rPr>
              <a:t>LD</a:t>
            </a:r>
            <a:r>
              <a:rPr dirty="0" sz="2000" spc="-25">
                <a:solidFill>
                  <a:srgbClr val="40458B"/>
                </a:solidFill>
                <a:latin typeface="黑体"/>
                <a:cs typeface="黑体"/>
              </a:rPr>
              <a:t>指令</a:t>
            </a:r>
            <a:endParaRPr sz="2000">
              <a:latin typeface="黑体"/>
              <a:cs typeface="黑体"/>
            </a:endParaRPr>
          </a:p>
        </p:txBody>
      </p:sp>
      <p:sp>
        <p:nvSpPr>
          <p:cNvPr id="27" name="object 27" descr=""/>
          <p:cNvSpPr txBox="1"/>
          <p:nvPr/>
        </p:nvSpPr>
        <p:spPr>
          <a:xfrm>
            <a:off x="5127371" y="416178"/>
            <a:ext cx="5722620" cy="391160"/>
          </a:xfrm>
          <a:prstGeom prst="rect">
            <a:avLst/>
          </a:prstGeom>
        </p:spPr>
        <p:txBody>
          <a:bodyPr wrap="square" lIns="0" tIns="12700" rIns="0" bIns="0" rtlCol="0" vert="horz">
            <a:spAutoFit/>
          </a:bodyPr>
          <a:lstStyle/>
          <a:p>
            <a:pPr marL="38100">
              <a:lnSpc>
                <a:spcPct val="100000"/>
              </a:lnSpc>
              <a:spcBef>
                <a:spcPts val="100"/>
              </a:spcBef>
            </a:pPr>
            <a:r>
              <a:rPr dirty="0" baseline="-26620" sz="3600" spc="89" b="1">
                <a:solidFill>
                  <a:srgbClr val="E14B04"/>
                </a:solidFill>
                <a:latin typeface="宋体"/>
                <a:cs typeface="宋体"/>
              </a:rPr>
              <a:t>解 </a:t>
            </a:r>
            <a:r>
              <a:rPr dirty="0" baseline="-26620" sz="3600" spc="-30" b="1">
                <a:latin typeface="宋体"/>
                <a:cs typeface="宋体"/>
              </a:rPr>
              <a:t>调度结果如下：</a:t>
            </a:r>
            <a:r>
              <a:rPr dirty="0" sz="2000" spc="-10">
                <a:solidFill>
                  <a:srgbClr val="FF0000"/>
                </a:solidFill>
                <a:latin typeface="Tahoma"/>
                <a:cs typeface="Tahoma"/>
              </a:rPr>
              <a:t>sLD</a:t>
            </a:r>
            <a:r>
              <a:rPr dirty="0" sz="2000">
                <a:solidFill>
                  <a:srgbClr val="40458B"/>
                </a:solidFill>
                <a:latin typeface="黑体"/>
                <a:cs typeface="黑体"/>
              </a:rPr>
              <a:t>实现</a:t>
            </a:r>
            <a:r>
              <a:rPr dirty="0" sz="2000" spc="-20">
                <a:solidFill>
                  <a:srgbClr val="40458B"/>
                </a:solidFill>
                <a:latin typeface="Tahoma"/>
                <a:cs typeface="Tahoma"/>
              </a:rPr>
              <a:t>R14=B,</a:t>
            </a:r>
            <a:r>
              <a:rPr dirty="0" sz="2000" spc="-20">
                <a:solidFill>
                  <a:srgbClr val="40458B"/>
                </a:solidFill>
                <a:latin typeface="黑体"/>
                <a:cs typeface="黑体"/>
              </a:rPr>
              <a:t>且前瞻执行</a:t>
            </a:r>
            <a:endParaRPr sz="2000">
              <a:latin typeface="黑体"/>
              <a:cs typeface="黑体"/>
            </a:endParaRPr>
          </a:p>
        </p:txBody>
      </p:sp>
      <p:sp>
        <p:nvSpPr>
          <p:cNvPr id="28" name="object 28" descr=""/>
          <p:cNvSpPr txBox="1"/>
          <p:nvPr/>
        </p:nvSpPr>
        <p:spPr>
          <a:xfrm>
            <a:off x="10713211" y="2048002"/>
            <a:ext cx="1257300" cy="391160"/>
          </a:xfrm>
          <a:prstGeom prst="rect">
            <a:avLst/>
          </a:prstGeom>
        </p:spPr>
        <p:txBody>
          <a:bodyPr wrap="square" lIns="0" tIns="12700" rIns="0" bIns="0" rtlCol="0" vert="horz">
            <a:spAutoFit/>
          </a:bodyPr>
          <a:lstStyle/>
          <a:p>
            <a:pPr marL="12700">
              <a:lnSpc>
                <a:spcPct val="100000"/>
              </a:lnSpc>
              <a:spcBef>
                <a:spcPts val="100"/>
              </a:spcBef>
              <a:tabLst>
                <a:tab pos="474345" algn="l"/>
              </a:tabLst>
            </a:pPr>
            <a:r>
              <a:rPr dirty="0" sz="2400" spc="-50" b="1">
                <a:latin typeface="宋体"/>
                <a:cs typeface="宋体"/>
              </a:rPr>
              <a:t>A</a:t>
            </a:r>
            <a:r>
              <a:rPr dirty="0" sz="2400" b="1">
                <a:latin typeface="宋体"/>
                <a:cs typeface="宋体"/>
              </a:rPr>
              <a:t>	</a:t>
            </a:r>
            <a:r>
              <a:rPr dirty="0" sz="2400" spc="-10" b="1">
                <a:latin typeface="宋体"/>
                <a:cs typeface="宋体"/>
              </a:rPr>
              <a:t>0(R3)</a:t>
            </a:r>
            <a:endParaRPr sz="2400">
              <a:latin typeface="宋体"/>
              <a:cs typeface="宋体"/>
            </a:endParaRPr>
          </a:p>
        </p:txBody>
      </p:sp>
      <p:sp>
        <p:nvSpPr>
          <p:cNvPr id="29" name="object 29" descr=""/>
          <p:cNvSpPr txBox="1"/>
          <p:nvPr/>
        </p:nvSpPr>
        <p:spPr>
          <a:xfrm>
            <a:off x="10713211" y="2711958"/>
            <a:ext cx="1257300" cy="391160"/>
          </a:xfrm>
          <a:prstGeom prst="rect">
            <a:avLst/>
          </a:prstGeom>
        </p:spPr>
        <p:txBody>
          <a:bodyPr wrap="square" lIns="0" tIns="12700" rIns="0" bIns="0" rtlCol="0" vert="horz">
            <a:spAutoFit/>
          </a:bodyPr>
          <a:lstStyle/>
          <a:p>
            <a:pPr marL="12700">
              <a:lnSpc>
                <a:spcPct val="100000"/>
              </a:lnSpc>
              <a:spcBef>
                <a:spcPts val="100"/>
              </a:spcBef>
              <a:tabLst>
                <a:tab pos="474345" algn="l"/>
              </a:tabLst>
            </a:pPr>
            <a:r>
              <a:rPr dirty="0" sz="2400" spc="-50" b="1">
                <a:latin typeface="宋体"/>
                <a:cs typeface="宋体"/>
              </a:rPr>
              <a:t>B</a:t>
            </a:r>
            <a:r>
              <a:rPr dirty="0" sz="2400" b="1">
                <a:latin typeface="宋体"/>
                <a:cs typeface="宋体"/>
              </a:rPr>
              <a:t>	</a:t>
            </a:r>
            <a:r>
              <a:rPr dirty="0" sz="2400" spc="-10" b="1">
                <a:latin typeface="宋体"/>
                <a:cs typeface="宋体"/>
              </a:rPr>
              <a:t>0(R2)</a:t>
            </a:r>
            <a:endParaRPr sz="2400">
              <a:latin typeface="宋体"/>
              <a:cs typeface="宋体"/>
            </a:endParaRPr>
          </a:p>
        </p:txBody>
      </p:sp>
      <p:sp>
        <p:nvSpPr>
          <p:cNvPr id="30" name="object 30" descr=""/>
          <p:cNvSpPr txBox="1"/>
          <p:nvPr/>
        </p:nvSpPr>
        <p:spPr>
          <a:xfrm>
            <a:off x="1782317" y="1258569"/>
            <a:ext cx="3520440" cy="505459"/>
          </a:xfrm>
          <a:prstGeom prst="rect">
            <a:avLst/>
          </a:prstGeom>
        </p:spPr>
        <p:txBody>
          <a:bodyPr wrap="square" lIns="0" tIns="26034" rIns="0" bIns="0" rtlCol="0" vert="horz">
            <a:spAutoFit/>
          </a:bodyPr>
          <a:lstStyle/>
          <a:p>
            <a:pPr marL="12700" marR="5080">
              <a:lnSpc>
                <a:spcPts val="1860"/>
              </a:lnSpc>
              <a:spcBef>
                <a:spcPts val="204"/>
              </a:spcBef>
            </a:pPr>
            <a:r>
              <a:rPr dirty="0" sz="1600" spc="-30">
                <a:solidFill>
                  <a:srgbClr val="FF0000"/>
                </a:solidFill>
                <a:latin typeface="黑体"/>
                <a:cs typeface="黑体"/>
              </a:rPr>
              <a:t>既然分支转移失败率较高，所有就选择</a:t>
            </a:r>
            <a:r>
              <a:rPr dirty="0" sz="1600" spc="-20">
                <a:solidFill>
                  <a:srgbClr val="FF0000"/>
                </a:solidFill>
                <a:latin typeface="黑体"/>
                <a:cs typeface="黑体"/>
              </a:rPr>
              <a:t>失败分支要执行的</a:t>
            </a:r>
            <a:r>
              <a:rPr dirty="0" sz="1600" spc="-20">
                <a:solidFill>
                  <a:srgbClr val="FF0000"/>
                </a:solidFill>
                <a:latin typeface="Tahoma"/>
                <a:cs typeface="Tahoma"/>
              </a:rPr>
              <a:t>LD</a:t>
            </a:r>
            <a:r>
              <a:rPr dirty="0" sz="1600" spc="-30">
                <a:solidFill>
                  <a:srgbClr val="FF0000"/>
                </a:solidFill>
                <a:latin typeface="黑体"/>
                <a:cs typeface="黑体"/>
              </a:rPr>
              <a:t>指令往前调度，即</a:t>
            </a:r>
            <a:endParaRPr sz="1600">
              <a:latin typeface="黑体"/>
              <a:cs typeface="黑体"/>
            </a:endParaRPr>
          </a:p>
        </p:txBody>
      </p:sp>
      <p:sp>
        <p:nvSpPr>
          <p:cNvPr id="31" name="object 31" descr=""/>
          <p:cNvSpPr txBox="1"/>
          <p:nvPr/>
        </p:nvSpPr>
        <p:spPr>
          <a:xfrm>
            <a:off x="1782317" y="1738629"/>
            <a:ext cx="1170940" cy="269240"/>
          </a:xfrm>
          <a:prstGeom prst="rect">
            <a:avLst/>
          </a:prstGeom>
        </p:spPr>
        <p:txBody>
          <a:bodyPr wrap="square" lIns="0" tIns="12065" rIns="0" bIns="0" rtlCol="0" vert="horz">
            <a:spAutoFit/>
          </a:bodyPr>
          <a:lstStyle/>
          <a:p>
            <a:pPr marL="12700">
              <a:lnSpc>
                <a:spcPct val="100000"/>
              </a:lnSpc>
              <a:spcBef>
                <a:spcPts val="95"/>
              </a:spcBef>
            </a:pPr>
            <a:r>
              <a:rPr dirty="0" sz="1600" spc="-10">
                <a:solidFill>
                  <a:srgbClr val="FF0000"/>
                </a:solidFill>
                <a:latin typeface="黑体"/>
                <a:cs typeface="黑体"/>
              </a:rPr>
              <a:t>前瞻执行</a:t>
            </a:r>
            <a:r>
              <a:rPr dirty="0" sz="1600" spc="-25">
                <a:solidFill>
                  <a:srgbClr val="FF0000"/>
                </a:solidFill>
                <a:latin typeface="Tahoma"/>
                <a:cs typeface="Tahoma"/>
              </a:rPr>
              <a:t>sLD</a:t>
            </a:r>
            <a:endParaRPr sz="1600">
              <a:latin typeface="Tahoma"/>
              <a:cs typeface="Tahoma"/>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71/89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grpSp>
        <p:nvGrpSpPr>
          <p:cNvPr id="9" name="object 9" descr=""/>
          <p:cNvGrpSpPr/>
          <p:nvPr/>
        </p:nvGrpSpPr>
        <p:grpSpPr>
          <a:xfrm>
            <a:off x="330593" y="816292"/>
            <a:ext cx="7211059" cy="3124835"/>
            <a:chOff x="330593" y="816292"/>
            <a:chExt cx="7211059" cy="3124835"/>
          </a:xfrm>
        </p:grpSpPr>
        <p:sp>
          <p:nvSpPr>
            <p:cNvPr id="10" name="object 10" descr=""/>
            <p:cNvSpPr/>
            <p:nvPr/>
          </p:nvSpPr>
          <p:spPr>
            <a:xfrm>
              <a:off x="335356" y="821055"/>
              <a:ext cx="7201534" cy="3115310"/>
            </a:xfrm>
            <a:custGeom>
              <a:avLst/>
              <a:gdLst/>
              <a:ahLst/>
              <a:cxnLst/>
              <a:rect l="l" t="t" r="r" b="b"/>
              <a:pathLst>
                <a:path w="7201534" h="3115310">
                  <a:moveTo>
                    <a:pt x="0" y="3115183"/>
                  </a:moveTo>
                  <a:lnTo>
                    <a:pt x="7201027" y="3115183"/>
                  </a:lnTo>
                  <a:lnTo>
                    <a:pt x="7201027" y="0"/>
                  </a:lnTo>
                  <a:lnTo>
                    <a:pt x="0" y="0"/>
                  </a:lnTo>
                  <a:lnTo>
                    <a:pt x="0" y="3115183"/>
                  </a:lnTo>
                  <a:close/>
                </a:path>
              </a:pathLst>
            </a:custGeom>
            <a:ln w="9525">
              <a:solidFill>
                <a:srgbClr val="0000CC"/>
              </a:solidFill>
            </a:ln>
          </p:spPr>
          <p:txBody>
            <a:bodyPr wrap="square" lIns="0" tIns="0" rIns="0" bIns="0" rtlCol="0"/>
            <a:lstStyle/>
            <a:p/>
          </p:txBody>
        </p:sp>
        <p:sp>
          <p:nvSpPr>
            <p:cNvPr id="11" name="object 11" descr=""/>
            <p:cNvSpPr/>
            <p:nvPr/>
          </p:nvSpPr>
          <p:spPr>
            <a:xfrm>
              <a:off x="1040968" y="915543"/>
              <a:ext cx="1838325" cy="304800"/>
            </a:xfrm>
            <a:custGeom>
              <a:avLst/>
              <a:gdLst/>
              <a:ahLst/>
              <a:cxnLst/>
              <a:rect l="l" t="t" r="r" b="b"/>
              <a:pathLst>
                <a:path w="1838325" h="304800">
                  <a:moveTo>
                    <a:pt x="1837943" y="0"/>
                  </a:moveTo>
                  <a:lnTo>
                    <a:pt x="0" y="0"/>
                  </a:lnTo>
                  <a:lnTo>
                    <a:pt x="0" y="304800"/>
                  </a:lnTo>
                  <a:lnTo>
                    <a:pt x="1837943" y="304800"/>
                  </a:lnTo>
                  <a:lnTo>
                    <a:pt x="1837943" y="0"/>
                  </a:lnTo>
                  <a:close/>
                </a:path>
              </a:pathLst>
            </a:custGeom>
            <a:solidFill>
              <a:srgbClr val="FFFF00"/>
            </a:solidFill>
          </p:spPr>
          <p:txBody>
            <a:bodyPr wrap="square" lIns="0" tIns="0" rIns="0" bIns="0" rtlCol="0"/>
            <a:lstStyle/>
            <a:p/>
          </p:txBody>
        </p:sp>
      </p:grpSp>
      <p:sp>
        <p:nvSpPr>
          <p:cNvPr id="12" name="object 12" descr=""/>
          <p:cNvSpPr txBox="1"/>
          <p:nvPr/>
        </p:nvSpPr>
        <p:spPr>
          <a:xfrm>
            <a:off x="568248" y="741680"/>
            <a:ext cx="5568950" cy="1927860"/>
          </a:xfrm>
          <a:prstGeom prst="rect">
            <a:avLst/>
          </a:prstGeom>
        </p:spPr>
        <p:txBody>
          <a:bodyPr wrap="square" lIns="0" tIns="122555" rIns="0" bIns="0" rtlCol="0" vert="horz">
            <a:spAutoFit/>
          </a:bodyPr>
          <a:lstStyle/>
          <a:p>
            <a:pPr marL="12700">
              <a:lnSpc>
                <a:spcPct val="100000"/>
              </a:lnSpc>
              <a:spcBef>
                <a:spcPts val="965"/>
              </a:spcBef>
            </a:pPr>
            <a:r>
              <a:rPr dirty="0" sz="2400" spc="10" b="1">
                <a:solidFill>
                  <a:srgbClr val="E14B04"/>
                </a:solidFill>
                <a:latin typeface="宋体"/>
                <a:cs typeface="宋体"/>
              </a:rPr>
              <a:t>解 </a:t>
            </a:r>
            <a:r>
              <a:rPr dirty="0" sz="2400" spc="-25" b="1">
                <a:latin typeface="宋体"/>
                <a:cs typeface="宋体"/>
              </a:rPr>
              <a:t>调度结果如下：</a:t>
            </a:r>
            <a:endParaRPr sz="2400">
              <a:latin typeface="宋体"/>
              <a:cs typeface="宋体"/>
            </a:endParaRPr>
          </a:p>
          <a:p>
            <a:pPr marL="487680">
              <a:lnSpc>
                <a:spcPct val="100000"/>
              </a:lnSpc>
              <a:spcBef>
                <a:spcPts val="860"/>
              </a:spcBef>
              <a:tabLst>
                <a:tab pos="3516629" algn="l"/>
              </a:tabLst>
            </a:pPr>
            <a:r>
              <a:rPr dirty="0" sz="2400" b="1">
                <a:solidFill>
                  <a:srgbClr val="0000CC"/>
                </a:solidFill>
                <a:latin typeface="宋体"/>
                <a:cs typeface="宋体"/>
              </a:rPr>
              <a:t>LD</a:t>
            </a:r>
            <a:r>
              <a:rPr dirty="0" sz="2400" spc="-65" b="1">
                <a:solidFill>
                  <a:srgbClr val="0000CC"/>
                </a:solidFill>
                <a:latin typeface="宋体"/>
                <a:cs typeface="宋体"/>
              </a:rPr>
              <a:t> </a:t>
            </a:r>
            <a:r>
              <a:rPr dirty="0" sz="2400" spc="-10" b="1">
                <a:solidFill>
                  <a:srgbClr val="0000CC"/>
                </a:solidFill>
                <a:latin typeface="宋体"/>
                <a:cs typeface="宋体"/>
              </a:rPr>
              <a:t>R1，0（R3）</a:t>
            </a:r>
            <a:r>
              <a:rPr dirty="0" sz="2400" b="1">
                <a:solidFill>
                  <a:srgbClr val="0000CC"/>
                </a:solidFill>
                <a:latin typeface="宋体"/>
                <a:cs typeface="宋体"/>
              </a:rPr>
              <a:t>	</a:t>
            </a:r>
            <a:r>
              <a:rPr dirty="0" sz="2400" spc="-15" b="1">
                <a:latin typeface="宋体"/>
                <a:cs typeface="宋体"/>
              </a:rPr>
              <a:t>// 取</a:t>
            </a:r>
            <a:r>
              <a:rPr dirty="0" sz="2400" spc="-50" b="1">
                <a:latin typeface="宋体"/>
                <a:cs typeface="宋体"/>
              </a:rPr>
              <a:t>A</a:t>
            </a:r>
            <a:endParaRPr sz="2400">
              <a:latin typeface="宋体"/>
              <a:cs typeface="宋体"/>
            </a:endParaRPr>
          </a:p>
          <a:p>
            <a:pPr marL="487680">
              <a:lnSpc>
                <a:spcPct val="100000"/>
              </a:lnSpc>
              <a:spcBef>
                <a:spcPts val="865"/>
              </a:spcBef>
            </a:pPr>
            <a:r>
              <a:rPr dirty="0" sz="2400" b="1">
                <a:solidFill>
                  <a:srgbClr val="FF3300"/>
                </a:solidFill>
                <a:latin typeface="宋体"/>
                <a:cs typeface="宋体"/>
              </a:rPr>
              <a:t>sLD</a:t>
            </a:r>
            <a:r>
              <a:rPr dirty="0" sz="2400" spc="-15" b="1">
                <a:solidFill>
                  <a:srgbClr val="FF3300"/>
                </a:solidFill>
                <a:latin typeface="宋体"/>
                <a:cs typeface="宋体"/>
              </a:rPr>
              <a:t> </a:t>
            </a:r>
            <a:r>
              <a:rPr dirty="0" sz="2400" b="1">
                <a:solidFill>
                  <a:srgbClr val="0000CC"/>
                </a:solidFill>
                <a:latin typeface="宋体"/>
                <a:cs typeface="宋体"/>
              </a:rPr>
              <a:t>R14，0（R2） </a:t>
            </a:r>
            <a:r>
              <a:rPr dirty="0" sz="2400" spc="-10" b="1">
                <a:latin typeface="宋体"/>
                <a:cs typeface="宋体"/>
              </a:rPr>
              <a:t>// 取</a:t>
            </a:r>
            <a:r>
              <a:rPr dirty="0" sz="2400" spc="-20" b="1">
                <a:latin typeface="宋体"/>
                <a:cs typeface="宋体"/>
              </a:rPr>
              <a:t>B</a:t>
            </a:r>
            <a:r>
              <a:rPr dirty="0" sz="2400" spc="-30" b="1">
                <a:latin typeface="宋体"/>
                <a:cs typeface="宋体"/>
              </a:rPr>
              <a:t>，前瞻执行</a:t>
            </a:r>
            <a:endParaRPr sz="2400">
              <a:latin typeface="宋体"/>
              <a:cs typeface="宋体"/>
            </a:endParaRPr>
          </a:p>
          <a:p>
            <a:pPr marL="487680">
              <a:lnSpc>
                <a:spcPct val="100000"/>
              </a:lnSpc>
              <a:spcBef>
                <a:spcPts val="865"/>
              </a:spcBef>
              <a:tabLst>
                <a:tab pos="1687195" algn="l"/>
              </a:tabLst>
            </a:pPr>
            <a:r>
              <a:rPr dirty="0" sz="2400" spc="-20" b="1">
                <a:solidFill>
                  <a:srgbClr val="0000CC"/>
                </a:solidFill>
                <a:latin typeface="宋体"/>
                <a:cs typeface="宋体"/>
              </a:rPr>
              <a:t>BEQZ</a:t>
            </a:r>
            <a:r>
              <a:rPr dirty="0" sz="2400" b="1">
                <a:solidFill>
                  <a:srgbClr val="0000CC"/>
                </a:solidFill>
                <a:latin typeface="宋体"/>
                <a:cs typeface="宋体"/>
              </a:rPr>
              <a:t>	</a:t>
            </a:r>
            <a:r>
              <a:rPr dirty="0" sz="2400" spc="-10" b="1">
                <a:solidFill>
                  <a:srgbClr val="0000CC"/>
                </a:solidFill>
                <a:latin typeface="宋体"/>
                <a:cs typeface="宋体"/>
              </a:rPr>
              <a:t>R1，L3</a:t>
            </a:r>
            <a:endParaRPr sz="2400">
              <a:latin typeface="宋体"/>
              <a:cs typeface="宋体"/>
            </a:endParaRPr>
          </a:p>
        </p:txBody>
      </p:sp>
      <p:sp>
        <p:nvSpPr>
          <p:cNvPr id="13" name="object 13" descr=""/>
          <p:cNvSpPr txBox="1"/>
          <p:nvPr/>
        </p:nvSpPr>
        <p:spPr>
          <a:xfrm>
            <a:off x="4703190" y="2644300"/>
            <a:ext cx="1551305" cy="976630"/>
          </a:xfrm>
          <a:prstGeom prst="rect">
            <a:avLst/>
          </a:prstGeom>
        </p:spPr>
        <p:txBody>
          <a:bodyPr wrap="square" lIns="0" tIns="121920" rIns="0" bIns="0" rtlCol="0" vert="horz">
            <a:spAutoFit/>
          </a:bodyPr>
          <a:lstStyle/>
          <a:p>
            <a:pPr marL="304800">
              <a:lnSpc>
                <a:spcPct val="100000"/>
              </a:lnSpc>
              <a:spcBef>
                <a:spcPts val="960"/>
              </a:spcBef>
            </a:pPr>
            <a:r>
              <a:rPr dirty="0" sz="2400" b="1">
                <a:latin typeface="宋体"/>
                <a:cs typeface="宋体"/>
              </a:rPr>
              <a:t>//</a:t>
            </a:r>
            <a:r>
              <a:rPr dirty="0" sz="2400" spc="-30" b="1">
                <a:latin typeface="宋体"/>
                <a:cs typeface="宋体"/>
              </a:rPr>
              <a:t> </a:t>
            </a:r>
            <a:r>
              <a:rPr dirty="0" sz="2400" spc="-10" b="1">
                <a:latin typeface="宋体"/>
                <a:cs typeface="宋体"/>
              </a:rPr>
              <a:t>A=A+4</a:t>
            </a:r>
            <a:endParaRPr sz="2400">
              <a:latin typeface="宋体"/>
              <a:cs typeface="宋体"/>
            </a:endParaRPr>
          </a:p>
          <a:p>
            <a:pPr marL="12700">
              <a:lnSpc>
                <a:spcPct val="100000"/>
              </a:lnSpc>
              <a:spcBef>
                <a:spcPts val="865"/>
              </a:spcBef>
            </a:pPr>
            <a:r>
              <a:rPr dirty="0" sz="2400" b="1">
                <a:latin typeface="宋体"/>
                <a:cs typeface="宋体"/>
              </a:rPr>
              <a:t>//</a:t>
            </a:r>
            <a:r>
              <a:rPr dirty="0" sz="2400" spc="-5" b="1">
                <a:latin typeface="宋体"/>
                <a:cs typeface="宋体"/>
              </a:rPr>
              <a:t> </a:t>
            </a:r>
            <a:r>
              <a:rPr dirty="0" sz="2400" spc="-25" b="1">
                <a:latin typeface="宋体"/>
                <a:cs typeface="宋体"/>
              </a:rPr>
              <a:t>A=B</a:t>
            </a:r>
            <a:endParaRPr sz="2400">
              <a:latin typeface="宋体"/>
              <a:cs typeface="宋体"/>
            </a:endParaRPr>
          </a:p>
        </p:txBody>
      </p:sp>
      <p:sp>
        <p:nvSpPr>
          <p:cNvPr id="14" name="object 14"/>
          <p:cNvSpPr txBox="1">
            <a:spLocks noGrp="1"/>
          </p:cNvSpPr>
          <p:nvPr>
            <p:ph type="title"/>
          </p:nvPr>
        </p:nvSpPr>
        <p:spPr>
          <a:xfrm>
            <a:off x="2630804" y="127838"/>
            <a:ext cx="4905375" cy="514350"/>
          </a:xfrm>
          <a:prstGeom prst="rect"/>
        </p:spPr>
        <p:txBody>
          <a:bodyPr wrap="square" lIns="0" tIns="13335" rIns="0" bIns="0" rtlCol="0" vert="horz">
            <a:spAutoFit/>
          </a:bodyPr>
          <a:lstStyle/>
          <a:p>
            <a:pPr marL="12700">
              <a:lnSpc>
                <a:spcPct val="100000"/>
              </a:lnSpc>
              <a:spcBef>
                <a:spcPts val="105"/>
              </a:spcBef>
            </a:pPr>
            <a:r>
              <a:rPr dirty="0" u="none"/>
              <a:t>6.4</a:t>
            </a:r>
            <a:r>
              <a:rPr dirty="0" u="none" spc="-20"/>
              <a:t> 显示并行指令计算EPIC</a:t>
            </a:r>
          </a:p>
        </p:txBody>
      </p:sp>
      <p:sp>
        <p:nvSpPr>
          <p:cNvPr id="15" name="object 15" descr=""/>
          <p:cNvSpPr txBox="1"/>
          <p:nvPr/>
        </p:nvSpPr>
        <p:spPr>
          <a:xfrm>
            <a:off x="7183628" y="1314145"/>
            <a:ext cx="3792220" cy="636270"/>
          </a:xfrm>
          <a:prstGeom prst="rect">
            <a:avLst/>
          </a:prstGeom>
        </p:spPr>
        <p:txBody>
          <a:bodyPr wrap="square" lIns="0" tIns="13335" rIns="0" bIns="0" rtlCol="0" vert="horz">
            <a:spAutoFit/>
          </a:bodyPr>
          <a:lstStyle/>
          <a:p>
            <a:pPr marL="12700">
              <a:lnSpc>
                <a:spcPct val="100000"/>
              </a:lnSpc>
              <a:spcBef>
                <a:spcPts val="105"/>
              </a:spcBef>
            </a:pPr>
            <a:r>
              <a:rPr dirty="0" sz="2000" spc="-10">
                <a:solidFill>
                  <a:srgbClr val="FF0000"/>
                </a:solidFill>
                <a:latin typeface="Tahoma"/>
                <a:cs typeface="Tahoma"/>
              </a:rPr>
              <a:t>sLD</a:t>
            </a:r>
            <a:r>
              <a:rPr dirty="0" sz="2000" spc="-15">
                <a:solidFill>
                  <a:srgbClr val="FF0000"/>
                </a:solidFill>
                <a:latin typeface="黑体"/>
                <a:cs typeface="黑体"/>
              </a:rPr>
              <a:t>在表示上区别与第一条</a:t>
            </a:r>
            <a:r>
              <a:rPr dirty="0" sz="2000" spc="-25">
                <a:solidFill>
                  <a:srgbClr val="FF0000"/>
                </a:solidFill>
                <a:latin typeface="Tahoma"/>
                <a:cs typeface="Tahoma"/>
              </a:rPr>
              <a:t>LD</a:t>
            </a:r>
            <a:r>
              <a:rPr dirty="0" sz="2000" spc="-30">
                <a:solidFill>
                  <a:srgbClr val="FF0000"/>
                </a:solidFill>
                <a:latin typeface="黑体"/>
                <a:cs typeface="黑体"/>
              </a:rPr>
              <a:t>指令</a:t>
            </a:r>
            <a:endParaRPr sz="2000">
              <a:latin typeface="黑体"/>
              <a:cs typeface="黑体"/>
            </a:endParaRPr>
          </a:p>
          <a:p>
            <a:pPr marL="12700">
              <a:lnSpc>
                <a:spcPct val="100000"/>
              </a:lnSpc>
            </a:pPr>
            <a:r>
              <a:rPr dirty="0" sz="2000" spc="-20">
                <a:solidFill>
                  <a:srgbClr val="FF0000"/>
                </a:solidFill>
                <a:latin typeface="Tahoma"/>
                <a:cs typeface="Tahoma"/>
              </a:rPr>
              <a:t>sLD</a:t>
            </a:r>
            <a:r>
              <a:rPr dirty="0" sz="2000">
                <a:solidFill>
                  <a:srgbClr val="40458B"/>
                </a:solidFill>
                <a:latin typeface="黑体"/>
                <a:cs typeface="黑体"/>
              </a:rPr>
              <a:t>实现</a:t>
            </a:r>
            <a:r>
              <a:rPr dirty="0" sz="2000" spc="-10">
                <a:solidFill>
                  <a:srgbClr val="40458B"/>
                </a:solidFill>
                <a:latin typeface="Tahoma"/>
                <a:cs typeface="Tahoma"/>
              </a:rPr>
              <a:t>R14=B,</a:t>
            </a:r>
            <a:r>
              <a:rPr dirty="0" sz="2000" spc="-20">
                <a:solidFill>
                  <a:srgbClr val="40458B"/>
                </a:solidFill>
                <a:latin typeface="黑体"/>
                <a:cs typeface="黑体"/>
              </a:rPr>
              <a:t>且前瞻执行</a:t>
            </a:r>
            <a:endParaRPr sz="2000">
              <a:latin typeface="黑体"/>
              <a:cs typeface="黑体"/>
            </a:endParaRPr>
          </a:p>
        </p:txBody>
      </p:sp>
      <p:sp>
        <p:nvSpPr>
          <p:cNvPr id="16" name="object 16" descr=""/>
          <p:cNvSpPr txBox="1"/>
          <p:nvPr/>
        </p:nvSpPr>
        <p:spPr>
          <a:xfrm>
            <a:off x="7183628" y="2229104"/>
            <a:ext cx="4716145" cy="330835"/>
          </a:xfrm>
          <a:prstGeom prst="rect">
            <a:avLst/>
          </a:prstGeom>
        </p:spPr>
        <p:txBody>
          <a:bodyPr wrap="square" lIns="0" tIns="13335" rIns="0" bIns="0" rtlCol="0" vert="horz">
            <a:spAutoFit/>
          </a:bodyPr>
          <a:lstStyle/>
          <a:p>
            <a:pPr marL="12700">
              <a:lnSpc>
                <a:spcPct val="100000"/>
              </a:lnSpc>
              <a:spcBef>
                <a:spcPts val="105"/>
              </a:spcBef>
            </a:pPr>
            <a:r>
              <a:rPr dirty="0" sz="2000" spc="-10">
                <a:solidFill>
                  <a:srgbClr val="40458B"/>
                </a:solidFill>
                <a:latin typeface="Tahoma"/>
                <a:cs typeface="Tahoma"/>
              </a:rPr>
              <a:t>R1=0</a:t>
            </a:r>
            <a:r>
              <a:rPr dirty="0" sz="2000" spc="-15">
                <a:solidFill>
                  <a:srgbClr val="40458B"/>
                </a:solidFill>
                <a:latin typeface="黑体"/>
                <a:cs typeface="黑体"/>
              </a:rPr>
              <a:t>时证明了前瞻执行确保结果的正确性</a:t>
            </a:r>
            <a:endParaRPr sz="2000">
              <a:latin typeface="黑体"/>
              <a:cs typeface="黑体"/>
            </a:endParaRPr>
          </a:p>
        </p:txBody>
      </p:sp>
      <p:sp>
        <p:nvSpPr>
          <p:cNvPr id="17" name="object 17" descr=""/>
          <p:cNvSpPr txBox="1"/>
          <p:nvPr/>
        </p:nvSpPr>
        <p:spPr>
          <a:xfrm>
            <a:off x="7248906" y="4065854"/>
            <a:ext cx="4178300" cy="391795"/>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FF0000"/>
                </a:solidFill>
                <a:latin typeface="Tahoma"/>
                <a:cs typeface="Tahoma"/>
              </a:rPr>
              <a:t>sLD</a:t>
            </a:r>
            <a:r>
              <a:rPr dirty="0" sz="2400" spc="-15">
                <a:solidFill>
                  <a:srgbClr val="40458B"/>
                </a:solidFill>
                <a:latin typeface="黑体"/>
                <a:cs typeface="黑体"/>
              </a:rPr>
              <a:t>若执行时发生异常怎么办？</a:t>
            </a:r>
            <a:endParaRPr sz="2400">
              <a:latin typeface="黑体"/>
              <a:cs typeface="黑体"/>
            </a:endParaRPr>
          </a:p>
        </p:txBody>
      </p:sp>
      <p:sp>
        <p:nvSpPr>
          <p:cNvPr id="18" name="object 18" descr=""/>
          <p:cNvSpPr txBox="1"/>
          <p:nvPr/>
        </p:nvSpPr>
        <p:spPr>
          <a:xfrm>
            <a:off x="157162" y="4564062"/>
            <a:ext cx="12001500" cy="830580"/>
          </a:xfrm>
          <a:prstGeom prst="rect">
            <a:avLst/>
          </a:prstGeom>
          <a:solidFill>
            <a:srgbClr val="F7EECD"/>
          </a:solidFill>
        </p:spPr>
        <p:txBody>
          <a:bodyPr wrap="square" lIns="0" tIns="46990" rIns="0" bIns="0" rtlCol="0" vert="horz">
            <a:spAutoFit/>
          </a:bodyPr>
          <a:lstStyle/>
          <a:p>
            <a:pPr marL="91440" marR="153670">
              <a:lnSpc>
                <a:spcPct val="100000"/>
              </a:lnSpc>
              <a:spcBef>
                <a:spcPts val="370"/>
              </a:spcBef>
            </a:pPr>
            <a:r>
              <a:rPr dirty="0" sz="2400">
                <a:solidFill>
                  <a:srgbClr val="FF0000"/>
                </a:solidFill>
                <a:latin typeface="黑体"/>
                <a:cs typeface="黑体"/>
              </a:rPr>
              <a:t>异常</a:t>
            </a:r>
            <a:r>
              <a:rPr dirty="0" sz="2400" spc="-20">
                <a:solidFill>
                  <a:srgbClr val="FF0000"/>
                </a:solidFill>
                <a:latin typeface="Tahoma"/>
                <a:cs typeface="Tahoma"/>
              </a:rPr>
              <a:t>1</a:t>
            </a:r>
            <a:r>
              <a:rPr dirty="0" sz="2400" spc="-20">
                <a:solidFill>
                  <a:srgbClr val="FF0000"/>
                </a:solidFill>
                <a:latin typeface="黑体"/>
                <a:cs typeface="黑体"/>
              </a:rPr>
              <a:t>：</a:t>
            </a:r>
            <a:r>
              <a:rPr dirty="0" sz="2400" spc="-5">
                <a:solidFill>
                  <a:srgbClr val="0000CC"/>
                </a:solidFill>
                <a:latin typeface="黑体"/>
                <a:cs typeface="黑体"/>
              </a:rPr>
              <a:t>异常发生时程序将被迫终止，例如违反存储保护权限异常，例如缓冲区溢出，通常称为“终止性异常”。</a:t>
            </a:r>
            <a:endParaRPr sz="2400">
              <a:latin typeface="黑体"/>
              <a:cs typeface="黑体"/>
            </a:endParaRPr>
          </a:p>
        </p:txBody>
      </p:sp>
      <p:sp>
        <p:nvSpPr>
          <p:cNvPr id="19" name="object 19" descr=""/>
          <p:cNvSpPr txBox="1"/>
          <p:nvPr/>
        </p:nvSpPr>
        <p:spPr>
          <a:xfrm>
            <a:off x="176212" y="5635625"/>
            <a:ext cx="11896725" cy="462280"/>
          </a:xfrm>
          <a:prstGeom prst="rect">
            <a:avLst/>
          </a:prstGeom>
          <a:solidFill>
            <a:srgbClr val="CCEAF8"/>
          </a:solidFill>
        </p:spPr>
        <p:txBody>
          <a:bodyPr wrap="square" lIns="0" tIns="46990" rIns="0" bIns="0" rtlCol="0" vert="horz">
            <a:spAutoFit/>
          </a:bodyPr>
          <a:lstStyle/>
          <a:p>
            <a:pPr marL="90805">
              <a:lnSpc>
                <a:spcPct val="100000"/>
              </a:lnSpc>
              <a:spcBef>
                <a:spcPts val="370"/>
              </a:spcBef>
            </a:pPr>
            <a:r>
              <a:rPr dirty="0" sz="2400">
                <a:solidFill>
                  <a:srgbClr val="FF0000"/>
                </a:solidFill>
                <a:latin typeface="黑体"/>
                <a:cs typeface="黑体"/>
              </a:rPr>
              <a:t>异常</a:t>
            </a:r>
            <a:r>
              <a:rPr dirty="0" sz="2400" spc="-10">
                <a:solidFill>
                  <a:srgbClr val="FF0000"/>
                </a:solidFill>
                <a:latin typeface="Tahoma"/>
                <a:cs typeface="Tahoma"/>
              </a:rPr>
              <a:t>2</a:t>
            </a:r>
            <a:r>
              <a:rPr dirty="0" sz="2400" spc="-10">
                <a:solidFill>
                  <a:srgbClr val="FF0000"/>
                </a:solidFill>
                <a:latin typeface="黑体"/>
                <a:cs typeface="黑体"/>
              </a:rPr>
              <a:t>：</a:t>
            </a:r>
            <a:r>
              <a:rPr dirty="0" sz="2400" spc="-5">
                <a:solidFill>
                  <a:srgbClr val="0000CC"/>
                </a:solidFill>
                <a:latin typeface="黑体"/>
                <a:cs typeface="黑体"/>
              </a:rPr>
              <a:t>发生异常被处理后程序仍然可继续执行，如缺页，通常称为“可继续异常”。</a:t>
            </a:r>
            <a:endParaRPr sz="2400">
              <a:latin typeface="黑体"/>
              <a:cs typeface="黑体"/>
            </a:endParaRPr>
          </a:p>
        </p:txBody>
      </p:sp>
      <p:pic>
        <p:nvPicPr>
          <p:cNvPr id="20" name="object 20" descr=""/>
          <p:cNvPicPr/>
          <p:nvPr/>
        </p:nvPicPr>
        <p:blipFill>
          <a:blip r:embed="rId3" cstate="print"/>
          <a:stretch>
            <a:fillRect/>
          </a:stretch>
        </p:blipFill>
        <p:spPr>
          <a:xfrm>
            <a:off x="7562850" y="806450"/>
            <a:ext cx="4327525" cy="542925"/>
          </a:xfrm>
          <a:prstGeom prst="rect">
            <a:avLst/>
          </a:prstGeom>
        </p:spPr>
      </p:pic>
      <p:sp>
        <p:nvSpPr>
          <p:cNvPr id="21" name="object 21" descr=""/>
          <p:cNvSpPr txBox="1"/>
          <p:nvPr/>
        </p:nvSpPr>
        <p:spPr>
          <a:xfrm>
            <a:off x="413715" y="2644300"/>
            <a:ext cx="3696970" cy="1848485"/>
          </a:xfrm>
          <a:prstGeom prst="rect">
            <a:avLst/>
          </a:prstGeom>
        </p:spPr>
        <p:txBody>
          <a:bodyPr wrap="square" lIns="0" tIns="12065" rIns="0" bIns="0" rtlCol="0" vert="horz">
            <a:spAutoFit/>
          </a:bodyPr>
          <a:lstStyle/>
          <a:p>
            <a:pPr marL="642620" marR="5080">
              <a:lnSpc>
                <a:spcPct val="130000"/>
              </a:lnSpc>
              <a:spcBef>
                <a:spcPts val="95"/>
              </a:spcBef>
              <a:tabLst>
                <a:tab pos="1841500" algn="l"/>
              </a:tabLst>
            </a:pPr>
            <a:r>
              <a:rPr dirty="0" sz="2400" b="1">
                <a:solidFill>
                  <a:srgbClr val="0000CC"/>
                </a:solidFill>
                <a:latin typeface="宋体"/>
                <a:cs typeface="宋体"/>
              </a:rPr>
              <a:t>DADDI</a:t>
            </a:r>
            <a:r>
              <a:rPr dirty="0" sz="2400" spc="-70" b="1">
                <a:solidFill>
                  <a:srgbClr val="0000CC"/>
                </a:solidFill>
                <a:latin typeface="宋体"/>
                <a:cs typeface="宋体"/>
              </a:rPr>
              <a:t> </a:t>
            </a:r>
            <a:r>
              <a:rPr dirty="0" sz="2400" spc="-10" b="1">
                <a:solidFill>
                  <a:srgbClr val="0000CC"/>
                </a:solidFill>
                <a:latin typeface="宋体"/>
                <a:cs typeface="宋体"/>
              </a:rPr>
              <a:t>R14，R1，#4 L3：SD</a:t>
            </a:r>
            <a:r>
              <a:rPr dirty="0" sz="2400" b="1">
                <a:solidFill>
                  <a:srgbClr val="0000CC"/>
                </a:solidFill>
                <a:latin typeface="宋体"/>
                <a:cs typeface="宋体"/>
              </a:rPr>
              <a:t>	</a:t>
            </a:r>
            <a:r>
              <a:rPr dirty="0" sz="2400" spc="-10" b="1">
                <a:solidFill>
                  <a:srgbClr val="0000CC"/>
                </a:solidFill>
                <a:latin typeface="宋体"/>
                <a:cs typeface="宋体"/>
              </a:rPr>
              <a:t>R14，0（R3）</a:t>
            </a:r>
            <a:endParaRPr sz="2400">
              <a:latin typeface="宋体"/>
              <a:cs typeface="宋体"/>
            </a:endParaRPr>
          </a:p>
          <a:p>
            <a:pPr>
              <a:lnSpc>
                <a:spcPct val="100000"/>
              </a:lnSpc>
              <a:spcBef>
                <a:spcPts val="865"/>
              </a:spcBef>
            </a:pPr>
            <a:endParaRPr sz="2400">
              <a:latin typeface="宋体"/>
              <a:cs typeface="宋体"/>
            </a:endParaRPr>
          </a:p>
          <a:p>
            <a:pPr marL="12700">
              <a:lnSpc>
                <a:spcPct val="100000"/>
              </a:lnSpc>
            </a:pPr>
            <a:r>
              <a:rPr dirty="0" sz="2400" spc="-15">
                <a:solidFill>
                  <a:srgbClr val="40458B"/>
                </a:solidFill>
                <a:latin typeface="黑体"/>
                <a:cs typeface="黑体"/>
              </a:rPr>
              <a:t>异常分类</a:t>
            </a:r>
            <a:endParaRPr sz="2400">
              <a:latin typeface="黑体"/>
              <a:cs typeface="黑体"/>
            </a:endParaRPr>
          </a:p>
        </p:txBody>
      </p:sp>
      <p:sp>
        <p:nvSpPr>
          <p:cNvPr id="22" name="object 22" descr=""/>
          <p:cNvSpPr txBox="1"/>
          <p:nvPr/>
        </p:nvSpPr>
        <p:spPr>
          <a:xfrm>
            <a:off x="8565006" y="158242"/>
            <a:ext cx="2340610"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6.4.3</a:t>
            </a:r>
            <a:r>
              <a:rPr dirty="0" sz="2600" spc="-15">
                <a:solidFill>
                  <a:srgbClr val="0000CC"/>
                </a:solidFill>
                <a:latin typeface="黑体"/>
                <a:cs typeface="黑体"/>
              </a:rPr>
              <a:t> 前瞻执行</a:t>
            </a:r>
            <a:endParaRPr sz="2600">
              <a:latin typeface="黑体"/>
              <a:cs typeface="黑体"/>
            </a:endParaRPr>
          </a:p>
        </p:txBody>
      </p:sp>
      <p:sp>
        <p:nvSpPr>
          <p:cNvPr id="23" name="object 23" descr=""/>
          <p:cNvSpPr txBox="1"/>
          <p:nvPr/>
        </p:nvSpPr>
        <p:spPr>
          <a:xfrm>
            <a:off x="7167753" y="2946653"/>
            <a:ext cx="4597400" cy="748030"/>
          </a:xfrm>
          <a:prstGeom prst="rect">
            <a:avLst/>
          </a:prstGeom>
        </p:spPr>
        <p:txBody>
          <a:bodyPr wrap="square" lIns="0" tIns="31750" rIns="0" bIns="0" rtlCol="0" vert="horz">
            <a:spAutoFit/>
          </a:bodyPr>
          <a:lstStyle/>
          <a:p>
            <a:pPr marL="12700" marR="5080">
              <a:lnSpc>
                <a:spcPts val="2810"/>
              </a:lnSpc>
              <a:spcBef>
                <a:spcPts val="250"/>
              </a:spcBef>
            </a:pPr>
            <a:r>
              <a:rPr dirty="0" sz="2400" spc="-5">
                <a:solidFill>
                  <a:srgbClr val="00AFEF"/>
                </a:solidFill>
                <a:latin typeface="宋体"/>
                <a:cs typeface="宋体"/>
              </a:rPr>
              <a:t>改变了原有的控制相关：即分支条件成功时，执行的语句顺序已不同</a:t>
            </a:r>
            <a:endParaRPr sz="2400">
              <a:latin typeface="宋体"/>
              <a:cs typeface="宋体"/>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72/89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78739" y="809396"/>
            <a:ext cx="12142470" cy="4477385"/>
          </a:xfrm>
          <a:prstGeom prst="rect">
            <a:avLst/>
          </a:prstGeom>
        </p:spPr>
        <p:txBody>
          <a:bodyPr wrap="square" lIns="0" tIns="140970" rIns="0" bIns="0" rtlCol="0" vert="horz">
            <a:spAutoFit/>
          </a:bodyPr>
          <a:lstStyle/>
          <a:p>
            <a:pPr marL="467359" indent="-454659">
              <a:lnSpc>
                <a:spcPct val="100000"/>
              </a:lnSpc>
              <a:spcBef>
                <a:spcPts val="1110"/>
              </a:spcBef>
              <a:buClr>
                <a:srgbClr val="40458B"/>
              </a:buClr>
              <a:buFont typeface="Tahoma"/>
              <a:buAutoNum type="arabicPeriod" startAt="3"/>
              <a:tabLst>
                <a:tab pos="467359" algn="l"/>
              </a:tabLst>
            </a:pPr>
            <a:r>
              <a:rPr dirty="0" sz="2800" spc="-25">
                <a:solidFill>
                  <a:srgbClr val="E14B04"/>
                </a:solidFill>
                <a:latin typeface="黑体"/>
                <a:cs typeface="黑体"/>
              </a:rPr>
              <a:t>前瞻执行</a:t>
            </a:r>
            <a:r>
              <a:rPr dirty="0" sz="2800" spc="-35">
                <a:solidFill>
                  <a:srgbClr val="E14B04"/>
                </a:solidFill>
                <a:latin typeface="Tahoma"/>
                <a:cs typeface="Tahoma"/>
              </a:rPr>
              <a:t>——</a:t>
            </a:r>
            <a:r>
              <a:rPr dirty="0" sz="2800" spc="-40">
                <a:solidFill>
                  <a:srgbClr val="E14B04"/>
                </a:solidFill>
                <a:latin typeface="黑体"/>
                <a:cs typeface="黑体"/>
              </a:rPr>
              <a:t>异常处理机制</a:t>
            </a:r>
            <a:endParaRPr sz="2800">
              <a:latin typeface="黑体"/>
              <a:cs typeface="黑体"/>
            </a:endParaRPr>
          </a:p>
          <a:p>
            <a:pPr marL="641985">
              <a:lnSpc>
                <a:spcPct val="100000"/>
              </a:lnSpc>
              <a:spcBef>
                <a:spcPts val="1010"/>
              </a:spcBef>
            </a:pPr>
            <a:r>
              <a:rPr dirty="0" sz="2800" spc="-25">
                <a:solidFill>
                  <a:srgbClr val="D50092"/>
                </a:solidFill>
                <a:latin typeface="黑体"/>
                <a:cs typeface="黑体"/>
              </a:rPr>
              <a:t>问题：</a:t>
            </a:r>
            <a:r>
              <a:rPr dirty="0" sz="2800" spc="-30">
                <a:solidFill>
                  <a:srgbClr val="0000CC"/>
                </a:solidFill>
                <a:latin typeface="黑体"/>
                <a:cs typeface="黑体"/>
              </a:rPr>
              <a:t>若执行</a:t>
            </a:r>
            <a:r>
              <a:rPr dirty="0" sz="2800" spc="-30">
                <a:solidFill>
                  <a:srgbClr val="6600FF"/>
                </a:solidFill>
                <a:latin typeface="Times New Roman"/>
                <a:cs typeface="Times New Roman"/>
              </a:rPr>
              <a:t>sLD</a:t>
            </a:r>
            <a:r>
              <a:rPr dirty="0" sz="2800" spc="-40">
                <a:solidFill>
                  <a:srgbClr val="0000CC"/>
                </a:solidFill>
                <a:latin typeface="黑体"/>
                <a:cs typeface="黑体"/>
              </a:rPr>
              <a:t>时发生异常应该如何处理？</a:t>
            </a:r>
            <a:endParaRPr sz="2800">
              <a:latin typeface="黑体"/>
              <a:cs typeface="黑体"/>
            </a:endParaRPr>
          </a:p>
          <a:p>
            <a:pPr lvl="1" marL="1534795" indent="-257175">
              <a:lnSpc>
                <a:spcPct val="100000"/>
              </a:lnSpc>
              <a:spcBef>
                <a:spcPts val="915"/>
              </a:spcBef>
              <a:buClr>
                <a:srgbClr val="4668F5"/>
              </a:buClr>
              <a:buSzPct val="60416"/>
              <a:buFont typeface="Wingdings"/>
              <a:buChar char=""/>
              <a:tabLst>
                <a:tab pos="1534795" algn="l"/>
              </a:tabLst>
            </a:pPr>
            <a:r>
              <a:rPr dirty="0" sz="2400" spc="-30" b="1">
                <a:solidFill>
                  <a:srgbClr val="FF5CFF"/>
                </a:solidFill>
                <a:latin typeface="宋体"/>
                <a:cs typeface="宋体"/>
              </a:rPr>
              <a:t>有四种方法</a:t>
            </a:r>
            <a:endParaRPr sz="2400">
              <a:latin typeface="宋体"/>
              <a:cs typeface="宋体"/>
            </a:endParaRPr>
          </a:p>
          <a:p>
            <a:pPr lvl="1" marL="1534795" indent="-257175">
              <a:lnSpc>
                <a:spcPct val="100000"/>
              </a:lnSpc>
              <a:spcBef>
                <a:spcPts val="865"/>
              </a:spcBef>
              <a:buClr>
                <a:srgbClr val="4668F5"/>
              </a:buClr>
              <a:buSzPct val="60416"/>
              <a:buFont typeface="Wingdings"/>
              <a:buChar char=""/>
              <a:tabLst>
                <a:tab pos="1534795" algn="l"/>
                <a:tab pos="5328920" algn="l"/>
              </a:tabLst>
            </a:pPr>
            <a:r>
              <a:rPr dirty="0" sz="2400" spc="-25" b="1">
                <a:solidFill>
                  <a:srgbClr val="FF5CFF"/>
                </a:solidFill>
                <a:latin typeface="宋体"/>
                <a:cs typeface="宋体"/>
              </a:rPr>
              <a:t>终止性异</a:t>
            </a:r>
            <a:r>
              <a:rPr dirty="0" sz="2400" spc="-30" b="1">
                <a:solidFill>
                  <a:srgbClr val="FF5CFF"/>
                </a:solidFill>
                <a:latin typeface="宋体"/>
                <a:cs typeface="宋体"/>
              </a:rPr>
              <a:t>常</a:t>
            </a:r>
            <a:r>
              <a:rPr dirty="0" sz="2400" spc="-590" b="1">
                <a:solidFill>
                  <a:srgbClr val="FF5CFF"/>
                </a:solidFill>
                <a:latin typeface="宋体"/>
                <a:cs typeface="宋体"/>
              </a:rPr>
              <a:t> </a:t>
            </a:r>
            <a:r>
              <a:rPr dirty="0" sz="2400" b="1">
                <a:solidFill>
                  <a:srgbClr val="FF5CFF"/>
                </a:solidFill>
                <a:latin typeface="Times New Roman"/>
                <a:cs typeface="Times New Roman"/>
              </a:rPr>
              <a:t>vs</a:t>
            </a:r>
            <a:r>
              <a:rPr dirty="0" sz="2400" spc="15" b="1">
                <a:solidFill>
                  <a:srgbClr val="FF5CFF"/>
                </a:solidFill>
                <a:latin typeface="Times New Roman"/>
                <a:cs typeface="Times New Roman"/>
              </a:rPr>
              <a:t> </a:t>
            </a:r>
            <a:r>
              <a:rPr dirty="0" sz="2400" spc="-20" b="1">
                <a:solidFill>
                  <a:srgbClr val="FF5CFF"/>
                </a:solidFill>
                <a:latin typeface="宋体"/>
                <a:cs typeface="宋体"/>
              </a:rPr>
              <a:t>可继续异</a:t>
            </a:r>
            <a:r>
              <a:rPr dirty="0" sz="2400" spc="-50" b="1">
                <a:solidFill>
                  <a:srgbClr val="FF5CFF"/>
                </a:solidFill>
                <a:latin typeface="宋体"/>
                <a:cs typeface="宋体"/>
              </a:rPr>
              <a:t>常</a:t>
            </a:r>
            <a:r>
              <a:rPr dirty="0" sz="2400" b="1">
                <a:solidFill>
                  <a:srgbClr val="FF5CFF"/>
                </a:solidFill>
                <a:latin typeface="宋体"/>
                <a:cs typeface="宋体"/>
              </a:rPr>
              <a:t>	</a:t>
            </a:r>
            <a:r>
              <a:rPr dirty="0" sz="2400" spc="-25" b="1">
                <a:solidFill>
                  <a:srgbClr val="FF5CFF"/>
                </a:solidFill>
                <a:latin typeface="宋体"/>
                <a:cs typeface="宋体"/>
              </a:rPr>
              <a:t>（</a:t>
            </a:r>
            <a:r>
              <a:rPr dirty="0" sz="2400" spc="-25" b="1">
                <a:solidFill>
                  <a:srgbClr val="0000CC"/>
                </a:solidFill>
                <a:latin typeface="宋体"/>
                <a:cs typeface="宋体"/>
              </a:rPr>
              <a:t>重点解决终止性异</a:t>
            </a:r>
            <a:r>
              <a:rPr dirty="0" sz="2400" spc="-20" b="1">
                <a:solidFill>
                  <a:srgbClr val="0000CC"/>
                </a:solidFill>
                <a:latin typeface="宋体"/>
                <a:cs typeface="宋体"/>
              </a:rPr>
              <a:t>常</a:t>
            </a:r>
            <a:r>
              <a:rPr dirty="0" sz="2400" b="1">
                <a:solidFill>
                  <a:srgbClr val="0000CC"/>
                </a:solidFill>
                <a:latin typeface="Times New Roman"/>
                <a:cs typeface="Times New Roman"/>
              </a:rPr>
              <a:t>----</a:t>
            </a:r>
            <a:r>
              <a:rPr dirty="0" sz="2400" spc="-10" b="1">
                <a:solidFill>
                  <a:srgbClr val="0000CC"/>
                </a:solidFill>
                <a:latin typeface="Times New Roman"/>
                <a:cs typeface="Times New Roman"/>
              </a:rPr>
              <a:t>4</a:t>
            </a:r>
            <a:r>
              <a:rPr dirty="0" sz="2400" spc="-25" b="1">
                <a:solidFill>
                  <a:srgbClr val="0000CC"/>
                </a:solidFill>
                <a:latin typeface="宋体"/>
                <a:cs typeface="宋体"/>
              </a:rPr>
              <a:t>种方法</a:t>
            </a:r>
            <a:r>
              <a:rPr dirty="0" sz="2400" spc="-50" b="1">
                <a:solidFill>
                  <a:srgbClr val="FF5CFF"/>
                </a:solidFill>
                <a:latin typeface="宋体"/>
                <a:cs typeface="宋体"/>
              </a:rPr>
              <a:t>）</a:t>
            </a:r>
            <a:endParaRPr sz="2400">
              <a:latin typeface="宋体"/>
              <a:cs typeface="宋体"/>
            </a:endParaRPr>
          </a:p>
          <a:p>
            <a:pPr marL="876300" indent="-455295">
              <a:lnSpc>
                <a:spcPct val="100000"/>
              </a:lnSpc>
              <a:spcBef>
                <a:spcPts val="960"/>
              </a:spcBef>
              <a:buClr>
                <a:srgbClr val="40458B"/>
              </a:buClr>
              <a:buSzPct val="89285"/>
              <a:buFont typeface="Wingdings"/>
              <a:buChar char=""/>
              <a:tabLst>
                <a:tab pos="876300" algn="l"/>
              </a:tabLst>
            </a:pPr>
            <a:r>
              <a:rPr dirty="0" sz="2800" spc="-130">
                <a:solidFill>
                  <a:srgbClr val="D50092"/>
                </a:solidFill>
                <a:latin typeface="黑体"/>
                <a:cs typeface="黑体"/>
              </a:rPr>
              <a:t>方法一： </a:t>
            </a:r>
            <a:r>
              <a:rPr dirty="0" sz="2800" spc="-25">
                <a:solidFill>
                  <a:srgbClr val="0000CC"/>
                </a:solidFill>
                <a:latin typeface="黑体"/>
                <a:cs typeface="黑体"/>
              </a:rPr>
              <a:t>立即处理</a:t>
            </a:r>
            <a:r>
              <a:rPr dirty="0" sz="2800" spc="-35">
                <a:solidFill>
                  <a:srgbClr val="0000CC"/>
                </a:solidFill>
                <a:latin typeface="黑体"/>
                <a:cs typeface="黑体"/>
              </a:rPr>
              <a:t>（不管异常是否由前瞻引起，若是解决方法如下</a:t>
            </a:r>
            <a:r>
              <a:rPr dirty="0" sz="2800" spc="-50">
                <a:solidFill>
                  <a:srgbClr val="0000CC"/>
                </a:solidFill>
                <a:latin typeface="黑体"/>
                <a:cs typeface="黑体"/>
              </a:rPr>
              <a:t>）</a:t>
            </a:r>
            <a:endParaRPr sz="2800">
              <a:latin typeface="黑体"/>
              <a:cs typeface="黑体"/>
            </a:endParaRPr>
          </a:p>
          <a:p>
            <a:pPr lvl="1" marL="948055" marR="5080" indent="-105410">
              <a:lnSpc>
                <a:spcPct val="110000"/>
              </a:lnSpc>
              <a:spcBef>
                <a:spcPts val="625"/>
              </a:spcBef>
              <a:buClr>
                <a:srgbClr val="4668F5"/>
              </a:buClr>
              <a:buSzPct val="60416"/>
              <a:buFont typeface="Wingdings"/>
              <a:buChar char=""/>
              <a:tabLst>
                <a:tab pos="948055" algn="l"/>
                <a:tab pos="1100455" algn="l"/>
              </a:tabLst>
            </a:pPr>
            <a:r>
              <a:rPr dirty="0" sz="2400" spc="-25" b="1">
                <a:solidFill>
                  <a:srgbClr val="FF5CFF"/>
                </a:solidFill>
                <a:latin typeface="宋体"/>
                <a:cs typeface="宋体"/>
              </a:rPr>
              <a:t>	</a:t>
            </a:r>
            <a:r>
              <a:rPr dirty="0" sz="2400" spc="-25" b="1">
                <a:solidFill>
                  <a:srgbClr val="FF5CFF"/>
                </a:solidFill>
                <a:latin typeface="宋体"/>
                <a:cs typeface="宋体"/>
              </a:rPr>
              <a:t>终止性异常若造成程序执行结束，该类前瞻指令引起的异常只是简单地返回一个未</a:t>
            </a:r>
            <a:r>
              <a:rPr dirty="0" sz="2400" spc="-75" b="1">
                <a:solidFill>
                  <a:srgbClr val="FF5CFF"/>
                </a:solidFill>
                <a:latin typeface="宋体"/>
                <a:cs typeface="宋体"/>
              </a:rPr>
              <a:t>定义值即可 ，而不是立即结束程序的运行。</a:t>
            </a:r>
            <a:endParaRPr sz="2400">
              <a:latin typeface="宋体"/>
              <a:cs typeface="宋体"/>
            </a:endParaRPr>
          </a:p>
          <a:p>
            <a:pPr lvl="1" marL="1100455" indent="-257810">
              <a:lnSpc>
                <a:spcPct val="100000"/>
              </a:lnSpc>
              <a:spcBef>
                <a:spcPts val="865"/>
              </a:spcBef>
              <a:buClr>
                <a:srgbClr val="4668F5"/>
              </a:buClr>
              <a:buSzPct val="60416"/>
              <a:buFont typeface="Wingdings"/>
              <a:buChar char=""/>
              <a:tabLst>
                <a:tab pos="1100455" algn="l"/>
              </a:tabLst>
            </a:pPr>
            <a:r>
              <a:rPr dirty="0" sz="2400" spc="-25" b="1">
                <a:solidFill>
                  <a:srgbClr val="FF5CFF"/>
                </a:solidFill>
                <a:latin typeface="宋体"/>
                <a:cs typeface="宋体"/>
              </a:rPr>
              <a:t>但这样前瞻正确时，正在执行的程序不会被终止，但它的执行结果肯定是错误的。</a:t>
            </a:r>
            <a:endParaRPr sz="2400">
              <a:latin typeface="宋体"/>
              <a:cs typeface="宋体"/>
            </a:endParaRPr>
          </a:p>
          <a:p>
            <a:pPr lvl="1" marL="1100455" indent="-257810">
              <a:lnSpc>
                <a:spcPct val="100000"/>
              </a:lnSpc>
              <a:spcBef>
                <a:spcPts val="865"/>
              </a:spcBef>
              <a:buClr>
                <a:srgbClr val="4668F5"/>
              </a:buClr>
              <a:buSzPct val="60416"/>
              <a:buFont typeface="Wingdings"/>
              <a:buChar char=""/>
              <a:tabLst>
                <a:tab pos="1100455" algn="l"/>
              </a:tabLst>
            </a:pPr>
            <a:r>
              <a:rPr dirty="0" sz="2400" spc="-25" b="1">
                <a:solidFill>
                  <a:srgbClr val="FF5CFF"/>
                </a:solidFill>
                <a:latin typeface="宋体"/>
                <a:cs typeface="宋体"/>
              </a:rPr>
              <a:t>前瞻错误时，程序也将继续执行下去，只是处理该异常的返回值不会被使用。</a:t>
            </a:r>
            <a:endParaRPr sz="2400">
              <a:latin typeface="宋体"/>
              <a:cs typeface="宋体"/>
            </a:endParaRPr>
          </a:p>
        </p:txBody>
      </p:sp>
      <p:sp>
        <p:nvSpPr>
          <p:cNvPr id="10" name="object 10"/>
          <p:cNvSpPr txBox="1">
            <a:spLocks noGrp="1"/>
          </p:cNvSpPr>
          <p:nvPr>
            <p:ph type="title"/>
          </p:nvPr>
        </p:nvSpPr>
        <p:spPr>
          <a:xfrm>
            <a:off x="2630804" y="127838"/>
            <a:ext cx="4905375" cy="514350"/>
          </a:xfrm>
          <a:prstGeom prst="rect"/>
        </p:spPr>
        <p:txBody>
          <a:bodyPr wrap="square" lIns="0" tIns="13335" rIns="0" bIns="0" rtlCol="0" vert="horz">
            <a:spAutoFit/>
          </a:bodyPr>
          <a:lstStyle/>
          <a:p>
            <a:pPr marL="12700">
              <a:lnSpc>
                <a:spcPct val="100000"/>
              </a:lnSpc>
              <a:spcBef>
                <a:spcPts val="105"/>
              </a:spcBef>
            </a:pPr>
            <a:r>
              <a:rPr dirty="0" u="none"/>
              <a:t>6.4</a:t>
            </a:r>
            <a:r>
              <a:rPr dirty="0" u="none" spc="-20"/>
              <a:t> 显示并行指令计算EPIC</a:t>
            </a:r>
          </a:p>
        </p:txBody>
      </p:sp>
      <p:sp>
        <p:nvSpPr>
          <p:cNvPr id="11" name="object 11" descr=""/>
          <p:cNvSpPr txBox="1"/>
          <p:nvPr/>
        </p:nvSpPr>
        <p:spPr>
          <a:xfrm>
            <a:off x="8565006" y="158242"/>
            <a:ext cx="2340610"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6.4.3</a:t>
            </a:r>
            <a:r>
              <a:rPr dirty="0" sz="2600" spc="-15">
                <a:solidFill>
                  <a:srgbClr val="0000CC"/>
                </a:solidFill>
                <a:latin typeface="黑体"/>
                <a:cs typeface="黑体"/>
              </a:rPr>
              <a:t> 前瞻执行</a:t>
            </a:r>
            <a:endParaRPr sz="2600">
              <a:latin typeface="黑体"/>
              <a:cs typeface="黑体"/>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73/89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324104" y="758393"/>
            <a:ext cx="11146790" cy="452120"/>
          </a:xfrm>
          <a:prstGeom prst="rect">
            <a:avLst/>
          </a:prstGeom>
        </p:spPr>
        <p:txBody>
          <a:bodyPr wrap="square" lIns="0" tIns="12065" rIns="0" bIns="0" rtlCol="0" vert="horz">
            <a:spAutoFit/>
          </a:bodyPr>
          <a:lstStyle/>
          <a:p>
            <a:pPr marL="467995" indent="-455295">
              <a:lnSpc>
                <a:spcPct val="100000"/>
              </a:lnSpc>
              <a:spcBef>
                <a:spcPts val="95"/>
              </a:spcBef>
              <a:buClr>
                <a:srgbClr val="40458B"/>
              </a:buClr>
              <a:buSzPct val="89285"/>
              <a:buFont typeface="Wingdings"/>
              <a:buChar char=""/>
              <a:tabLst>
                <a:tab pos="467995" algn="l"/>
              </a:tabLst>
            </a:pPr>
            <a:r>
              <a:rPr dirty="0" sz="2800" spc="-40">
                <a:solidFill>
                  <a:srgbClr val="D50092"/>
                </a:solidFill>
                <a:latin typeface="黑体"/>
                <a:cs typeface="黑体"/>
              </a:rPr>
              <a:t>方法二：</a:t>
            </a:r>
            <a:r>
              <a:rPr dirty="0" sz="2800" spc="-35">
                <a:solidFill>
                  <a:srgbClr val="0000CC"/>
                </a:solidFill>
                <a:latin typeface="黑体"/>
                <a:cs typeface="黑体"/>
              </a:rPr>
              <a:t>借助</a:t>
            </a:r>
            <a:r>
              <a:rPr dirty="0" sz="2800" spc="-35">
                <a:solidFill>
                  <a:srgbClr val="E14B04"/>
                </a:solidFill>
                <a:latin typeface="黑体"/>
                <a:cs typeface="黑体"/>
              </a:rPr>
              <a:t>专门的检测指令</a:t>
            </a:r>
            <a:r>
              <a:rPr dirty="0" sz="2800" spc="-35">
                <a:solidFill>
                  <a:srgbClr val="0000CC"/>
                </a:solidFill>
                <a:latin typeface="黑体"/>
                <a:cs typeface="黑体"/>
              </a:rPr>
              <a:t>判断是否需要处理（面对终止性异常</a:t>
            </a:r>
            <a:r>
              <a:rPr dirty="0" sz="2800" spc="-50">
                <a:solidFill>
                  <a:srgbClr val="0000CC"/>
                </a:solidFill>
                <a:latin typeface="黑体"/>
                <a:cs typeface="黑体"/>
              </a:rPr>
              <a:t>）</a:t>
            </a:r>
            <a:endParaRPr sz="2800">
              <a:latin typeface="黑体"/>
              <a:cs typeface="黑体"/>
            </a:endParaRPr>
          </a:p>
        </p:txBody>
      </p:sp>
      <p:sp>
        <p:nvSpPr>
          <p:cNvPr id="10" name="object 10" descr=""/>
          <p:cNvSpPr txBox="1"/>
          <p:nvPr/>
        </p:nvSpPr>
        <p:spPr>
          <a:xfrm>
            <a:off x="609091" y="1191894"/>
            <a:ext cx="1706880" cy="2403475"/>
          </a:xfrm>
          <a:prstGeom prst="rect">
            <a:avLst/>
          </a:prstGeom>
        </p:spPr>
        <p:txBody>
          <a:bodyPr wrap="square" lIns="0" tIns="122555" rIns="0" bIns="0" rtlCol="0" vert="horz">
            <a:spAutoFit/>
          </a:bodyPr>
          <a:lstStyle/>
          <a:p>
            <a:pPr marL="467995" indent="-455295">
              <a:lnSpc>
                <a:spcPct val="100000"/>
              </a:lnSpc>
              <a:spcBef>
                <a:spcPts val="965"/>
              </a:spcBef>
              <a:buClr>
                <a:srgbClr val="4668F5"/>
              </a:buClr>
              <a:buSzPct val="60416"/>
              <a:buFont typeface="Wingdings"/>
              <a:buChar char=""/>
              <a:tabLst>
                <a:tab pos="467995" algn="l"/>
              </a:tabLst>
            </a:pPr>
            <a:r>
              <a:rPr dirty="0" sz="2400" spc="-30" b="1">
                <a:solidFill>
                  <a:srgbClr val="FF5CFF"/>
                </a:solidFill>
                <a:latin typeface="宋体"/>
                <a:cs typeface="宋体"/>
              </a:rPr>
              <a:t>代码实例</a:t>
            </a:r>
            <a:endParaRPr sz="2400">
              <a:latin typeface="宋体"/>
              <a:cs typeface="宋体"/>
            </a:endParaRPr>
          </a:p>
          <a:p>
            <a:pPr marL="467995">
              <a:lnSpc>
                <a:spcPct val="100000"/>
              </a:lnSpc>
              <a:spcBef>
                <a:spcPts val="860"/>
              </a:spcBef>
            </a:pPr>
            <a:r>
              <a:rPr dirty="0" sz="2400" spc="-25" b="1">
                <a:solidFill>
                  <a:srgbClr val="40458B"/>
                </a:solidFill>
                <a:latin typeface="宋体"/>
                <a:cs typeface="宋体"/>
              </a:rPr>
              <a:t>LD</a:t>
            </a:r>
            <a:endParaRPr sz="2400">
              <a:latin typeface="宋体"/>
              <a:cs typeface="宋体"/>
            </a:endParaRPr>
          </a:p>
          <a:p>
            <a:pPr marL="467995" marR="306705">
              <a:lnSpc>
                <a:spcPct val="130000"/>
              </a:lnSpc>
              <a:spcBef>
                <a:spcPts val="5"/>
              </a:spcBef>
            </a:pPr>
            <a:r>
              <a:rPr dirty="0" sz="2400" spc="-25" b="1">
                <a:solidFill>
                  <a:srgbClr val="40458B"/>
                </a:solidFill>
                <a:latin typeface="宋体"/>
                <a:cs typeface="宋体"/>
              </a:rPr>
              <a:t>sLD </a:t>
            </a:r>
            <a:r>
              <a:rPr dirty="0" sz="2400" spc="-20" b="1">
                <a:solidFill>
                  <a:srgbClr val="40458B"/>
                </a:solidFill>
                <a:latin typeface="宋体"/>
                <a:cs typeface="宋体"/>
              </a:rPr>
              <a:t>BEQZ </a:t>
            </a:r>
            <a:r>
              <a:rPr dirty="0" sz="2400" spc="-10" b="1">
                <a:solidFill>
                  <a:srgbClr val="FF3300"/>
                </a:solidFill>
                <a:latin typeface="宋体"/>
                <a:cs typeface="宋体"/>
              </a:rPr>
              <a:t>SPECCK</a:t>
            </a:r>
            <a:endParaRPr sz="2400">
              <a:latin typeface="宋体"/>
              <a:cs typeface="宋体"/>
            </a:endParaRPr>
          </a:p>
        </p:txBody>
      </p:sp>
      <p:sp>
        <p:nvSpPr>
          <p:cNvPr id="11" name="object 11" descr=""/>
          <p:cNvSpPr txBox="1"/>
          <p:nvPr/>
        </p:nvSpPr>
        <p:spPr>
          <a:xfrm>
            <a:off x="2438145" y="1667128"/>
            <a:ext cx="1866900" cy="1452880"/>
          </a:xfrm>
          <a:prstGeom prst="rect">
            <a:avLst/>
          </a:prstGeom>
        </p:spPr>
        <p:txBody>
          <a:bodyPr wrap="square" lIns="0" tIns="12700" rIns="0" bIns="0" rtlCol="0" vert="horz">
            <a:spAutoFit/>
          </a:bodyPr>
          <a:lstStyle/>
          <a:p>
            <a:pPr marL="12700" marR="5080">
              <a:lnSpc>
                <a:spcPct val="130000"/>
              </a:lnSpc>
              <a:spcBef>
                <a:spcPts val="100"/>
              </a:spcBef>
            </a:pPr>
            <a:r>
              <a:rPr dirty="0" sz="2400" spc="-10" b="1">
                <a:solidFill>
                  <a:srgbClr val="40458B"/>
                </a:solidFill>
                <a:latin typeface="宋体"/>
                <a:cs typeface="宋体"/>
              </a:rPr>
              <a:t>R1，0（R3） R14，0（R2） R1，L1</a:t>
            </a:r>
            <a:endParaRPr sz="2400">
              <a:latin typeface="宋体"/>
              <a:cs typeface="宋体"/>
            </a:endParaRPr>
          </a:p>
        </p:txBody>
      </p:sp>
      <p:sp>
        <p:nvSpPr>
          <p:cNvPr id="12" name="object 12" descr=""/>
          <p:cNvSpPr txBox="1"/>
          <p:nvPr/>
        </p:nvSpPr>
        <p:spPr>
          <a:xfrm>
            <a:off x="4883022" y="1667128"/>
            <a:ext cx="2494280" cy="977265"/>
          </a:xfrm>
          <a:prstGeom prst="rect">
            <a:avLst/>
          </a:prstGeom>
        </p:spPr>
        <p:txBody>
          <a:bodyPr wrap="square" lIns="0" tIns="122555" rIns="0" bIns="0" rtlCol="0" vert="horz">
            <a:spAutoFit/>
          </a:bodyPr>
          <a:lstStyle/>
          <a:p>
            <a:pPr marL="12700">
              <a:lnSpc>
                <a:spcPct val="100000"/>
              </a:lnSpc>
              <a:spcBef>
                <a:spcPts val="965"/>
              </a:spcBef>
            </a:pPr>
            <a:r>
              <a:rPr dirty="0" sz="2400" spc="-15" b="1">
                <a:solidFill>
                  <a:srgbClr val="FF5CFF"/>
                </a:solidFill>
                <a:latin typeface="宋体"/>
                <a:cs typeface="宋体"/>
              </a:rPr>
              <a:t>// 取</a:t>
            </a:r>
            <a:r>
              <a:rPr dirty="0" sz="2400" spc="-50" b="1">
                <a:solidFill>
                  <a:srgbClr val="FF5CFF"/>
                </a:solidFill>
                <a:latin typeface="宋体"/>
                <a:cs typeface="宋体"/>
              </a:rPr>
              <a:t>A</a:t>
            </a:r>
            <a:endParaRPr sz="2400">
              <a:latin typeface="宋体"/>
              <a:cs typeface="宋体"/>
            </a:endParaRPr>
          </a:p>
          <a:p>
            <a:pPr marL="27305">
              <a:lnSpc>
                <a:spcPct val="100000"/>
              </a:lnSpc>
              <a:spcBef>
                <a:spcPts val="865"/>
              </a:spcBef>
            </a:pPr>
            <a:r>
              <a:rPr dirty="0" sz="2400" spc="-5" b="1">
                <a:solidFill>
                  <a:srgbClr val="FF5CFF"/>
                </a:solidFill>
                <a:latin typeface="宋体"/>
                <a:cs typeface="宋体"/>
              </a:rPr>
              <a:t>// 取</a:t>
            </a:r>
            <a:r>
              <a:rPr dirty="0" sz="2400" spc="-20" b="1">
                <a:solidFill>
                  <a:srgbClr val="FF5CFF"/>
                </a:solidFill>
                <a:latin typeface="宋体"/>
                <a:cs typeface="宋体"/>
              </a:rPr>
              <a:t>B</a:t>
            </a:r>
            <a:r>
              <a:rPr dirty="0" sz="2400" spc="-30" b="1">
                <a:solidFill>
                  <a:srgbClr val="FF5CFF"/>
                </a:solidFill>
                <a:latin typeface="宋体"/>
                <a:cs typeface="宋体"/>
              </a:rPr>
              <a:t>，前瞻执行</a:t>
            </a:r>
            <a:endParaRPr sz="2400">
              <a:latin typeface="宋体"/>
              <a:cs typeface="宋体"/>
            </a:endParaRPr>
          </a:p>
        </p:txBody>
      </p:sp>
      <p:sp>
        <p:nvSpPr>
          <p:cNvPr id="13" name="object 13" descr=""/>
          <p:cNvSpPr txBox="1"/>
          <p:nvPr/>
        </p:nvSpPr>
        <p:spPr>
          <a:xfrm>
            <a:off x="2438145" y="3093365"/>
            <a:ext cx="5107305" cy="1453515"/>
          </a:xfrm>
          <a:prstGeom prst="rect">
            <a:avLst/>
          </a:prstGeom>
        </p:spPr>
        <p:txBody>
          <a:bodyPr wrap="square" lIns="0" tIns="123190" rIns="0" bIns="0" rtlCol="0" vert="horz">
            <a:spAutoFit/>
          </a:bodyPr>
          <a:lstStyle/>
          <a:p>
            <a:pPr marL="12700">
              <a:lnSpc>
                <a:spcPct val="100000"/>
              </a:lnSpc>
              <a:spcBef>
                <a:spcPts val="970"/>
              </a:spcBef>
            </a:pPr>
            <a:r>
              <a:rPr dirty="0" sz="2400" b="1">
                <a:solidFill>
                  <a:srgbClr val="40458B"/>
                </a:solidFill>
                <a:latin typeface="宋体"/>
                <a:cs typeface="宋体"/>
              </a:rPr>
              <a:t>0（R2）</a:t>
            </a:r>
            <a:r>
              <a:rPr dirty="0" sz="2400" spc="45" b="1">
                <a:solidFill>
                  <a:srgbClr val="40458B"/>
                </a:solidFill>
                <a:latin typeface="宋体"/>
                <a:cs typeface="宋体"/>
              </a:rPr>
              <a:t> </a:t>
            </a:r>
            <a:r>
              <a:rPr dirty="0" sz="2400" spc="-10" b="1">
                <a:solidFill>
                  <a:srgbClr val="FF5CFF"/>
                </a:solidFill>
                <a:latin typeface="宋体"/>
                <a:cs typeface="宋体"/>
              </a:rPr>
              <a:t>//</a:t>
            </a:r>
            <a:r>
              <a:rPr dirty="0" sz="2400" spc="-25" b="1">
                <a:solidFill>
                  <a:srgbClr val="FF0000"/>
                </a:solidFill>
                <a:latin typeface="宋体"/>
                <a:cs typeface="宋体"/>
              </a:rPr>
              <a:t>分支失败即</a:t>
            </a:r>
            <a:r>
              <a:rPr dirty="0" sz="2400" spc="-10" b="1">
                <a:solidFill>
                  <a:srgbClr val="FF0000"/>
                </a:solidFill>
                <a:latin typeface="宋体"/>
                <a:cs typeface="宋体"/>
              </a:rPr>
              <a:t>sLD</a:t>
            </a:r>
            <a:r>
              <a:rPr dirty="0" sz="2400" spc="-35" b="1">
                <a:solidFill>
                  <a:srgbClr val="FF0000"/>
                </a:solidFill>
                <a:latin typeface="宋体"/>
                <a:cs typeface="宋体"/>
              </a:rPr>
              <a:t>应被执行</a:t>
            </a:r>
            <a:endParaRPr sz="2400">
              <a:latin typeface="宋体"/>
              <a:cs typeface="宋体"/>
            </a:endParaRPr>
          </a:p>
          <a:p>
            <a:pPr marL="1263650">
              <a:lnSpc>
                <a:spcPct val="100000"/>
              </a:lnSpc>
              <a:spcBef>
                <a:spcPts val="865"/>
              </a:spcBef>
            </a:pPr>
            <a:r>
              <a:rPr dirty="0" sz="2400" spc="-20" b="1">
                <a:solidFill>
                  <a:srgbClr val="FF0000"/>
                </a:solidFill>
                <a:latin typeface="宋体"/>
                <a:cs typeface="宋体"/>
              </a:rPr>
              <a:t>此时检测sLD</a:t>
            </a:r>
            <a:r>
              <a:rPr dirty="0" sz="2400" spc="-25" b="1">
                <a:solidFill>
                  <a:srgbClr val="FF0000"/>
                </a:solidFill>
                <a:latin typeface="宋体"/>
                <a:cs typeface="宋体"/>
              </a:rPr>
              <a:t>是否产生异常，</a:t>
            </a:r>
            <a:endParaRPr sz="2400">
              <a:latin typeface="宋体"/>
              <a:cs typeface="宋体"/>
            </a:endParaRPr>
          </a:p>
          <a:p>
            <a:pPr marL="12700">
              <a:lnSpc>
                <a:spcPct val="100000"/>
              </a:lnSpc>
              <a:spcBef>
                <a:spcPts val="865"/>
              </a:spcBef>
            </a:pPr>
            <a:r>
              <a:rPr dirty="0" sz="2400" spc="-25" b="1">
                <a:solidFill>
                  <a:srgbClr val="40458B"/>
                </a:solidFill>
                <a:latin typeface="宋体"/>
                <a:cs typeface="宋体"/>
              </a:rPr>
              <a:t>L2</a:t>
            </a:r>
            <a:endParaRPr sz="2400">
              <a:latin typeface="宋体"/>
              <a:cs typeface="宋体"/>
            </a:endParaRPr>
          </a:p>
        </p:txBody>
      </p:sp>
      <p:sp>
        <p:nvSpPr>
          <p:cNvPr id="14" name="object 14" descr=""/>
          <p:cNvSpPr txBox="1"/>
          <p:nvPr/>
        </p:nvSpPr>
        <p:spPr>
          <a:xfrm>
            <a:off x="609091" y="4045872"/>
            <a:ext cx="1409700" cy="1452245"/>
          </a:xfrm>
          <a:prstGeom prst="rect">
            <a:avLst/>
          </a:prstGeom>
        </p:spPr>
        <p:txBody>
          <a:bodyPr wrap="square" lIns="0" tIns="12065" rIns="0" bIns="0" rtlCol="0" vert="horz">
            <a:spAutoFit/>
          </a:bodyPr>
          <a:lstStyle/>
          <a:p>
            <a:pPr marL="12700" marR="5080" indent="455295">
              <a:lnSpc>
                <a:spcPct val="130000"/>
              </a:lnSpc>
              <a:spcBef>
                <a:spcPts val="95"/>
              </a:spcBef>
            </a:pPr>
            <a:r>
              <a:rPr dirty="0" sz="2400" spc="-50" b="1">
                <a:solidFill>
                  <a:srgbClr val="40458B"/>
                </a:solidFill>
                <a:latin typeface="宋体"/>
                <a:cs typeface="宋体"/>
              </a:rPr>
              <a:t>J </a:t>
            </a:r>
            <a:r>
              <a:rPr dirty="0" sz="2400" spc="-10" b="1">
                <a:solidFill>
                  <a:srgbClr val="40458B"/>
                </a:solidFill>
                <a:latin typeface="宋体"/>
                <a:cs typeface="宋体"/>
              </a:rPr>
              <a:t>L1：DADDI L2：SD</a:t>
            </a:r>
            <a:endParaRPr sz="2400">
              <a:latin typeface="宋体"/>
              <a:cs typeface="宋体"/>
            </a:endParaRPr>
          </a:p>
        </p:txBody>
      </p:sp>
      <p:sp>
        <p:nvSpPr>
          <p:cNvPr id="15" name="object 15" descr=""/>
          <p:cNvSpPr txBox="1"/>
          <p:nvPr/>
        </p:nvSpPr>
        <p:spPr>
          <a:xfrm>
            <a:off x="2438145" y="4520338"/>
            <a:ext cx="1866900" cy="977265"/>
          </a:xfrm>
          <a:prstGeom prst="rect">
            <a:avLst/>
          </a:prstGeom>
        </p:spPr>
        <p:txBody>
          <a:bodyPr wrap="square" lIns="0" tIns="122555" rIns="0" bIns="0" rtlCol="0" vert="horz">
            <a:spAutoFit/>
          </a:bodyPr>
          <a:lstStyle/>
          <a:p>
            <a:pPr marL="12700">
              <a:lnSpc>
                <a:spcPct val="100000"/>
              </a:lnSpc>
              <a:spcBef>
                <a:spcPts val="965"/>
              </a:spcBef>
            </a:pPr>
            <a:r>
              <a:rPr dirty="0" sz="2400" spc="-10" b="1">
                <a:solidFill>
                  <a:srgbClr val="40458B"/>
                </a:solidFill>
                <a:latin typeface="宋体"/>
                <a:cs typeface="宋体"/>
              </a:rPr>
              <a:t>R14，R1，#4</a:t>
            </a:r>
            <a:endParaRPr sz="2400">
              <a:latin typeface="宋体"/>
              <a:cs typeface="宋体"/>
            </a:endParaRPr>
          </a:p>
          <a:p>
            <a:pPr marL="12700">
              <a:lnSpc>
                <a:spcPct val="100000"/>
              </a:lnSpc>
              <a:spcBef>
                <a:spcPts val="870"/>
              </a:spcBef>
            </a:pPr>
            <a:r>
              <a:rPr dirty="0" sz="2400" spc="-10" b="1">
                <a:solidFill>
                  <a:srgbClr val="40458B"/>
                </a:solidFill>
                <a:latin typeface="宋体"/>
                <a:cs typeface="宋体"/>
              </a:rPr>
              <a:t>R14，0（R3）</a:t>
            </a:r>
            <a:endParaRPr sz="2400">
              <a:latin typeface="宋体"/>
              <a:cs typeface="宋体"/>
            </a:endParaRPr>
          </a:p>
        </p:txBody>
      </p:sp>
      <p:sp>
        <p:nvSpPr>
          <p:cNvPr id="16" name="object 16" descr=""/>
          <p:cNvSpPr txBox="1"/>
          <p:nvPr/>
        </p:nvSpPr>
        <p:spPr>
          <a:xfrm>
            <a:off x="4574794" y="4520338"/>
            <a:ext cx="1259840" cy="977265"/>
          </a:xfrm>
          <a:prstGeom prst="rect">
            <a:avLst/>
          </a:prstGeom>
        </p:spPr>
        <p:txBody>
          <a:bodyPr wrap="square" lIns="0" tIns="122555" rIns="0" bIns="0" rtlCol="0" vert="horz">
            <a:spAutoFit/>
          </a:bodyPr>
          <a:lstStyle/>
          <a:p>
            <a:pPr marL="12700">
              <a:lnSpc>
                <a:spcPct val="100000"/>
              </a:lnSpc>
              <a:spcBef>
                <a:spcPts val="965"/>
              </a:spcBef>
            </a:pPr>
            <a:r>
              <a:rPr dirty="0" sz="2400" b="1">
                <a:solidFill>
                  <a:srgbClr val="FF5CFF"/>
                </a:solidFill>
                <a:latin typeface="宋体"/>
                <a:cs typeface="宋体"/>
              </a:rPr>
              <a:t>// </a:t>
            </a:r>
            <a:r>
              <a:rPr dirty="0" sz="2400" spc="-10" b="1">
                <a:solidFill>
                  <a:srgbClr val="FF5CFF"/>
                </a:solidFill>
                <a:latin typeface="宋体"/>
                <a:cs typeface="宋体"/>
              </a:rPr>
              <a:t>A=A+4</a:t>
            </a:r>
            <a:endParaRPr sz="2400">
              <a:latin typeface="宋体"/>
              <a:cs typeface="宋体"/>
            </a:endParaRPr>
          </a:p>
          <a:p>
            <a:pPr marL="26034">
              <a:lnSpc>
                <a:spcPct val="100000"/>
              </a:lnSpc>
              <a:spcBef>
                <a:spcPts val="870"/>
              </a:spcBef>
            </a:pPr>
            <a:r>
              <a:rPr dirty="0" sz="2400" b="1">
                <a:solidFill>
                  <a:srgbClr val="FF5CFF"/>
                </a:solidFill>
                <a:latin typeface="宋体"/>
                <a:cs typeface="宋体"/>
              </a:rPr>
              <a:t>//</a:t>
            </a:r>
            <a:r>
              <a:rPr dirty="0" sz="2400" spc="-15" b="1">
                <a:solidFill>
                  <a:srgbClr val="FF5CFF"/>
                </a:solidFill>
                <a:latin typeface="宋体"/>
                <a:cs typeface="宋体"/>
              </a:rPr>
              <a:t> </a:t>
            </a:r>
            <a:r>
              <a:rPr dirty="0" sz="2400" spc="-25" b="1">
                <a:solidFill>
                  <a:srgbClr val="FF5CFF"/>
                </a:solidFill>
                <a:latin typeface="宋体"/>
                <a:cs typeface="宋体"/>
              </a:rPr>
              <a:t>A=B</a:t>
            </a:r>
            <a:endParaRPr sz="2400">
              <a:latin typeface="宋体"/>
              <a:cs typeface="宋体"/>
            </a:endParaRPr>
          </a:p>
        </p:txBody>
      </p:sp>
      <p:sp>
        <p:nvSpPr>
          <p:cNvPr id="17" name="object 17" descr=""/>
          <p:cNvSpPr txBox="1"/>
          <p:nvPr/>
        </p:nvSpPr>
        <p:spPr>
          <a:xfrm>
            <a:off x="609091" y="5510099"/>
            <a:ext cx="11161395" cy="930910"/>
          </a:xfrm>
          <a:prstGeom prst="rect">
            <a:avLst/>
          </a:prstGeom>
        </p:spPr>
        <p:txBody>
          <a:bodyPr wrap="square" lIns="0" tIns="129539" rIns="0" bIns="0" rtlCol="0" vert="horz">
            <a:spAutoFit/>
          </a:bodyPr>
          <a:lstStyle/>
          <a:p>
            <a:pPr marL="467995" indent="-455295">
              <a:lnSpc>
                <a:spcPct val="100000"/>
              </a:lnSpc>
              <a:spcBef>
                <a:spcPts val="1019"/>
              </a:spcBef>
              <a:buClr>
                <a:srgbClr val="4668F5"/>
              </a:buClr>
              <a:buSzPct val="59090"/>
              <a:buFont typeface="Wingdings"/>
              <a:buChar char=""/>
              <a:tabLst>
                <a:tab pos="467995" algn="l"/>
              </a:tabLst>
            </a:pPr>
            <a:r>
              <a:rPr dirty="0" sz="2200" spc="-25" b="1">
                <a:solidFill>
                  <a:srgbClr val="FF5CFF"/>
                </a:solidFill>
                <a:latin typeface="Times New Roman"/>
                <a:cs typeface="Times New Roman"/>
              </a:rPr>
              <a:t>SPECCK</a:t>
            </a:r>
            <a:r>
              <a:rPr dirty="0" sz="2200" spc="-25" b="1">
                <a:solidFill>
                  <a:srgbClr val="FF5CFF"/>
                </a:solidFill>
                <a:latin typeface="宋体"/>
                <a:cs typeface="宋体"/>
              </a:rPr>
              <a:t>的执行条件与</a:t>
            </a:r>
            <a:r>
              <a:rPr dirty="0" sz="2200" spc="-10" b="1">
                <a:solidFill>
                  <a:srgbClr val="FF5CFF"/>
                </a:solidFill>
                <a:latin typeface="Times New Roman"/>
                <a:cs typeface="Times New Roman"/>
              </a:rPr>
              <a:t>sLD</a:t>
            </a:r>
            <a:r>
              <a:rPr dirty="0" sz="2200" spc="-25" b="1">
                <a:solidFill>
                  <a:srgbClr val="FF5CFF"/>
                </a:solidFill>
                <a:latin typeface="宋体"/>
                <a:cs typeface="宋体"/>
              </a:rPr>
              <a:t>指令相同（分支转移失败</a:t>
            </a:r>
            <a:r>
              <a:rPr dirty="0" sz="2200" spc="-50" b="1">
                <a:solidFill>
                  <a:srgbClr val="FF5CFF"/>
                </a:solidFill>
                <a:latin typeface="宋体"/>
                <a:cs typeface="宋体"/>
              </a:rPr>
              <a:t>）</a:t>
            </a:r>
            <a:endParaRPr sz="2200">
              <a:latin typeface="宋体"/>
              <a:cs typeface="宋体"/>
            </a:endParaRPr>
          </a:p>
          <a:p>
            <a:pPr marL="467995" indent="-455295">
              <a:lnSpc>
                <a:spcPct val="100000"/>
              </a:lnSpc>
              <a:spcBef>
                <a:spcPts val="925"/>
              </a:spcBef>
              <a:buClr>
                <a:srgbClr val="4668F5"/>
              </a:buClr>
              <a:buSzPct val="59090"/>
              <a:buFont typeface="Wingdings"/>
              <a:buChar char=""/>
              <a:tabLst>
                <a:tab pos="467995" algn="l"/>
              </a:tabLst>
            </a:pPr>
            <a:r>
              <a:rPr dirty="0" sz="2200" spc="-25" b="1">
                <a:solidFill>
                  <a:srgbClr val="D50092"/>
                </a:solidFill>
                <a:latin typeface="宋体"/>
                <a:cs typeface="宋体"/>
              </a:rPr>
              <a:t>基本思想：</a:t>
            </a:r>
            <a:r>
              <a:rPr dirty="0" sz="2200" spc="-25" b="1">
                <a:solidFill>
                  <a:srgbClr val="FF5CFF"/>
                </a:solidFill>
                <a:latin typeface="宋体"/>
                <a:cs typeface="宋体"/>
              </a:rPr>
              <a:t>推迟处理由前瞻指令</a:t>
            </a:r>
            <a:r>
              <a:rPr dirty="0" sz="2200" spc="-10" b="1">
                <a:solidFill>
                  <a:srgbClr val="FF5CFF"/>
                </a:solidFill>
                <a:latin typeface="Times New Roman"/>
                <a:cs typeface="Times New Roman"/>
              </a:rPr>
              <a:t>sLD</a:t>
            </a:r>
            <a:r>
              <a:rPr dirty="0" sz="2200" spc="-45" b="1">
                <a:solidFill>
                  <a:srgbClr val="FF5CFF"/>
                </a:solidFill>
                <a:latin typeface="宋体"/>
                <a:cs typeface="宋体"/>
              </a:rPr>
              <a:t>引发的异常，直到已确定该指令确实应该被执行 。</a:t>
            </a:r>
            <a:endParaRPr sz="2200">
              <a:latin typeface="宋体"/>
              <a:cs typeface="宋体"/>
            </a:endParaRPr>
          </a:p>
        </p:txBody>
      </p:sp>
      <p:sp>
        <p:nvSpPr>
          <p:cNvPr id="18" name="object 18"/>
          <p:cNvSpPr txBox="1">
            <a:spLocks noGrp="1"/>
          </p:cNvSpPr>
          <p:nvPr>
            <p:ph type="title"/>
          </p:nvPr>
        </p:nvSpPr>
        <p:spPr>
          <a:xfrm>
            <a:off x="2630804" y="127838"/>
            <a:ext cx="4905375" cy="514350"/>
          </a:xfrm>
          <a:prstGeom prst="rect"/>
        </p:spPr>
        <p:txBody>
          <a:bodyPr wrap="square" lIns="0" tIns="13335" rIns="0" bIns="0" rtlCol="0" vert="horz">
            <a:spAutoFit/>
          </a:bodyPr>
          <a:lstStyle/>
          <a:p>
            <a:pPr marL="12700">
              <a:lnSpc>
                <a:spcPct val="100000"/>
              </a:lnSpc>
              <a:spcBef>
                <a:spcPts val="105"/>
              </a:spcBef>
            </a:pPr>
            <a:r>
              <a:rPr dirty="0" u="none"/>
              <a:t>6.4</a:t>
            </a:r>
            <a:r>
              <a:rPr dirty="0" u="none" spc="-20"/>
              <a:t> 显示并行指令计算EPIC</a:t>
            </a:r>
          </a:p>
        </p:txBody>
      </p:sp>
      <p:grpSp>
        <p:nvGrpSpPr>
          <p:cNvPr id="19" name="object 19" descr=""/>
          <p:cNvGrpSpPr/>
          <p:nvPr/>
        </p:nvGrpSpPr>
        <p:grpSpPr>
          <a:xfrm>
            <a:off x="8031162" y="1301686"/>
            <a:ext cx="4051300" cy="3073400"/>
            <a:chOff x="8031162" y="1301686"/>
            <a:chExt cx="4051300" cy="3073400"/>
          </a:xfrm>
        </p:grpSpPr>
        <p:pic>
          <p:nvPicPr>
            <p:cNvPr id="20" name="object 20" descr=""/>
            <p:cNvPicPr/>
            <p:nvPr/>
          </p:nvPicPr>
          <p:blipFill>
            <a:blip r:embed="rId3" cstate="print"/>
            <a:stretch>
              <a:fillRect/>
            </a:stretch>
          </p:blipFill>
          <p:spPr>
            <a:xfrm>
              <a:off x="8118209" y="1311275"/>
              <a:ext cx="3903026" cy="3054350"/>
            </a:xfrm>
            <a:prstGeom prst="rect">
              <a:avLst/>
            </a:prstGeom>
          </p:spPr>
        </p:pic>
        <p:sp>
          <p:nvSpPr>
            <p:cNvPr id="21" name="object 21" descr=""/>
            <p:cNvSpPr/>
            <p:nvPr/>
          </p:nvSpPr>
          <p:spPr>
            <a:xfrm>
              <a:off x="8035925" y="1306449"/>
              <a:ext cx="4041775" cy="3063875"/>
            </a:xfrm>
            <a:custGeom>
              <a:avLst/>
              <a:gdLst/>
              <a:ahLst/>
              <a:cxnLst/>
              <a:rect l="l" t="t" r="r" b="b"/>
              <a:pathLst>
                <a:path w="4041775" h="3063875">
                  <a:moveTo>
                    <a:pt x="0" y="3063875"/>
                  </a:moveTo>
                  <a:lnTo>
                    <a:pt x="4041775" y="3063875"/>
                  </a:lnTo>
                  <a:lnTo>
                    <a:pt x="4041775" y="0"/>
                  </a:lnTo>
                  <a:lnTo>
                    <a:pt x="0" y="0"/>
                  </a:lnTo>
                  <a:lnTo>
                    <a:pt x="0" y="3063875"/>
                  </a:lnTo>
                  <a:close/>
                </a:path>
              </a:pathLst>
            </a:custGeom>
            <a:ln w="9525">
              <a:solidFill>
                <a:srgbClr val="FF0000"/>
              </a:solidFill>
            </a:ln>
          </p:spPr>
          <p:txBody>
            <a:bodyPr wrap="square" lIns="0" tIns="0" rIns="0" bIns="0" rtlCol="0"/>
            <a:lstStyle/>
            <a:p/>
          </p:txBody>
        </p:sp>
      </p:grpSp>
      <p:sp>
        <p:nvSpPr>
          <p:cNvPr id="22" name="object 22" descr=""/>
          <p:cNvSpPr txBox="1"/>
          <p:nvPr/>
        </p:nvSpPr>
        <p:spPr>
          <a:xfrm>
            <a:off x="8565006" y="158242"/>
            <a:ext cx="2340610"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6.4.3</a:t>
            </a:r>
            <a:r>
              <a:rPr dirty="0" sz="2600" spc="-15">
                <a:solidFill>
                  <a:srgbClr val="0000CC"/>
                </a:solidFill>
                <a:latin typeface="黑体"/>
                <a:cs typeface="黑体"/>
              </a:rPr>
              <a:t> 前瞻执行</a:t>
            </a:r>
            <a:endParaRPr sz="2600">
              <a:latin typeface="黑体"/>
              <a:cs typeface="黑体"/>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74/89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395427" y="791921"/>
            <a:ext cx="11487785" cy="5531485"/>
          </a:xfrm>
          <a:prstGeom prst="rect">
            <a:avLst/>
          </a:prstGeom>
        </p:spPr>
        <p:txBody>
          <a:bodyPr wrap="square" lIns="0" tIns="12700" rIns="0" bIns="0" rtlCol="0" vert="horz">
            <a:spAutoFit/>
          </a:bodyPr>
          <a:lstStyle/>
          <a:p>
            <a:pPr marL="444500">
              <a:lnSpc>
                <a:spcPct val="100000"/>
              </a:lnSpc>
              <a:spcBef>
                <a:spcPts val="100"/>
              </a:spcBef>
            </a:pPr>
            <a:r>
              <a:rPr dirty="0" sz="2400" spc="-10">
                <a:solidFill>
                  <a:srgbClr val="40458B"/>
                </a:solidFill>
                <a:latin typeface="黑体"/>
                <a:cs typeface="黑体"/>
              </a:rPr>
              <a:t>若执行</a:t>
            </a:r>
            <a:r>
              <a:rPr dirty="0" sz="2400" spc="-30">
                <a:solidFill>
                  <a:srgbClr val="6600FF"/>
                </a:solidFill>
                <a:latin typeface="Times New Roman"/>
                <a:cs typeface="Times New Roman"/>
              </a:rPr>
              <a:t>sLD</a:t>
            </a:r>
            <a:r>
              <a:rPr dirty="0" sz="2400" spc="-15">
                <a:solidFill>
                  <a:srgbClr val="40458B"/>
                </a:solidFill>
                <a:latin typeface="黑体"/>
                <a:cs typeface="黑体"/>
              </a:rPr>
              <a:t>时发生异常应该如何处理？</a:t>
            </a:r>
            <a:endParaRPr sz="2400">
              <a:latin typeface="黑体"/>
              <a:cs typeface="黑体"/>
            </a:endParaRPr>
          </a:p>
          <a:p>
            <a:pPr marL="467995" indent="-455295">
              <a:lnSpc>
                <a:spcPct val="100000"/>
              </a:lnSpc>
              <a:spcBef>
                <a:spcPts val="3025"/>
              </a:spcBef>
              <a:buClr>
                <a:srgbClr val="40458B"/>
              </a:buClr>
              <a:buSzPct val="89583"/>
              <a:buFont typeface="Wingdings"/>
              <a:buChar char=""/>
              <a:tabLst>
                <a:tab pos="467995" algn="l"/>
              </a:tabLst>
            </a:pPr>
            <a:r>
              <a:rPr dirty="0" sz="2400">
                <a:solidFill>
                  <a:srgbClr val="D50092"/>
                </a:solidFill>
                <a:latin typeface="黑体"/>
                <a:cs typeface="黑体"/>
              </a:rPr>
              <a:t>方法三：</a:t>
            </a:r>
            <a:r>
              <a:rPr dirty="0" sz="2400">
                <a:solidFill>
                  <a:srgbClr val="0000CC"/>
                </a:solidFill>
                <a:latin typeface="黑体"/>
                <a:cs typeface="黑体"/>
              </a:rPr>
              <a:t>借助</a:t>
            </a:r>
            <a:r>
              <a:rPr dirty="0" sz="2400">
                <a:solidFill>
                  <a:srgbClr val="E14B04"/>
                </a:solidFill>
                <a:latin typeface="黑体"/>
                <a:cs typeface="黑体"/>
              </a:rPr>
              <a:t>寄存器状态位</a:t>
            </a:r>
            <a:r>
              <a:rPr dirty="0" sz="2400" spc="-10">
                <a:solidFill>
                  <a:srgbClr val="0000CC"/>
                </a:solidFill>
                <a:latin typeface="黑体"/>
                <a:cs typeface="黑体"/>
              </a:rPr>
              <a:t>判断是否需要处理</a:t>
            </a:r>
            <a:endParaRPr sz="2400">
              <a:latin typeface="黑体"/>
              <a:cs typeface="黑体"/>
            </a:endParaRPr>
          </a:p>
          <a:p>
            <a:pPr marL="467995" indent="-455295">
              <a:lnSpc>
                <a:spcPct val="100000"/>
              </a:lnSpc>
              <a:spcBef>
                <a:spcPts val="1155"/>
              </a:spcBef>
              <a:buClr>
                <a:srgbClr val="40458B"/>
              </a:buClr>
              <a:buSzPct val="89583"/>
              <a:buFont typeface="Wingdings"/>
              <a:buChar char=""/>
              <a:tabLst>
                <a:tab pos="467995" algn="l"/>
              </a:tabLst>
            </a:pPr>
            <a:r>
              <a:rPr dirty="0" sz="2400">
                <a:solidFill>
                  <a:srgbClr val="0000CC"/>
                </a:solidFill>
                <a:latin typeface="黑体"/>
                <a:cs typeface="黑体"/>
              </a:rPr>
              <a:t>引入该方法原因：方法二可能会影响代码效率（加入检测</a:t>
            </a:r>
            <a:r>
              <a:rPr dirty="0" sz="2400" spc="-50">
                <a:solidFill>
                  <a:srgbClr val="0000CC"/>
                </a:solidFill>
                <a:latin typeface="黑体"/>
                <a:cs typeface="黑体"/>
              </a:rPr>
              <a:t>）</a:t>
            </a:r>
            <a:endParaRPr sz="2400">
              <a:latin typeface="黑体"/>
              <a:cs typeface="黑体"/>
            </a:endParaRPr>
          </a:p>
          <a:p>
            <a:pPr lvl="1" marL="753110" indent="-455930">
              <a:lnSpc>
                <a:spcPct val="100000"/>
              </a:lnSpc>
              <a:spcBef>
                <a:spcPts val="1150"/>
              </a:spcBef>
              <a:buClr>
                <a:srgbClr val="4668F5"/>
              </a:buClr>
              <a:buSzPct val="60416"/>
              <a:buFont typeface="Wingdings"/>
              <a:buChar char=""/>
              <a:tabLst>
                <a:tab pos="753110" algn="l"/>
              </a:tabLst>
            </a:pPr>
            <a:r>
              <a:rPr dirty="0" sz="2400" spc="-25" b="1">
                <a:solidFill>
                  <a:srgbClr val="FF5CFF"/>
                </a:solidFill>
                <a:latin typeface="宋体"/>
                <a:cs typeface="宋体"/>
              </a:rPr>
              <a:t>为每个通用寄存器增加一个特殊的状态标志位：“</a:t>
            </a:r>
            <a:r>
              <a:rPr dirty="0" sz="2400" spc="-25" b="1">
                <a:solidFill>
                  <a:srgbClr val="6600FF"/>
                </a:solidFill>
                <a:latin typeface="Times New Roman"/>
                <a:cs typeface="Times New Roman"/>
              </a:rPr>
              <a:t>poison</a:t>
            </a:r>
            <a:r>
              <a:rPr dirty="0" sz="2400" spc="-25" b="1">
                <a:solidFill>
                  <a:srgbClr val="FF5CFF"/>
                </a:solidFill>
                <a:latin typeface="Times New Roman"/>
                <a:cs typeface="Times New Roman"/>
              </a:rPr>
              <a:t>”</a:t>
            </a:r>
            <a:r>
              <a:rPr dirty="0" sz="2400" spc="-50" b="1">
                <a:solidFill>
                  <a:srgbClr val="FF5CFF"/>
                </a:solidFill>
                <a:latin typeface="宋体"/>
                <a:cs typeface="宋体"/>
              </a:rPr>
              <a:t>位</a:t>
            </a:r>
            <a:endParaRPr sz="2400">
              <a:latin typeface="宋体"/>
              <a:cs typeface="宋体"/>
            </a:endParaRPr>
          </a:p>
          <a:p>
            <a:pPr lvl="1" marL="753110" indent="-455930">
              <a:lnSpc>
                <a:spcPct val="100000"/>
              </a:lnSpc>
              <a:spcBef>
                <a:spcPts val="1155"/>
              </a:spcBef>
              <a:buClr>
                <a:srgbClr val="4668F5"/>
              </a:buClr>
              <a:buSzPct val="60416"/>
              <a:buFont typeface="Wingdings"/>
              <a:buChar char=""/>
              <a:tabLst>
                <a:tab pos="753110" algn="l"/>
              </a:tabLst>
            </a:pPr>
            <a:r>
              <a:rPr dirty="0" sz="2400" spc="-25" b="1">
                <a:solidFill>
                  <a:srgbClr val="FF5CFF"/>
                </a:solidFill>
                <a:latin typeface="宋体"/>
                <a:cs typeface="宋体"/>
              </a:rPr>
              <a:t>前瞻指令引发的可继续异常都将被立即处理。</a:t>
            </a:r>
            <a:endParaRPr sz="2400">
              <a:latin typeface="宋体"/>
              <a:cs typeface="宋体"/>
            </a:endParaRPr>
          </a:p>
          <a:p>
            <a:pPr lvl="1" marL="753110" marR="10160" indent="-455930">
              <a:lnSpc>
                <a:spcPct val="120000"/>
              </a:lnSpc>
              <a:spcBef>
                <a:spcPts val="575"/>
              </a:spcBef>
              <a:buClr>
                <a:srgbClr val="4668F5"/>
              </a:buClr>
              <a:buSzPct val="60416"/>
              <a:buFont typeface="Wingdings"/>
              <a:buChar char=""/>
              <a:tabLst>
                <a:tab pos="753110" algn="l"/>
              </a:tabLst>
            </a:pPr>
            <a:r>
              <a:rPr dirty="0" sz="2400" spc="-25" b="1">
                <a:solidFill>
                  <a:srgbClr val="FF5CFF"/>
                </a:solidFill>
                <a:latin typeface="宋体"/>
                <a:cs typeface="宋体"/>
              </a:rPr>
              <a:t>前瞻指令引发终止性异常时，其目的寄存器</a:t>
            </a:r>
            <a:r>
              <a:rPr dirty="0" sz="2400" spc="-35" b="1">
                <a:solidFill>
                  <a:srgbClr val="FF5CFF"/>
                </a:solidFill>
                <a:latin typeface="Times New Roman"/>
                <a:cs typeface="Times New Roman"/>
              </a:rPr>
              <a:t>R</a:t>
            </a:r>
            <a:r>
              <a:rPr dirty="0" sz="2400" spc="-20" b="1">
                <a:solidFill>
                  <a:srgbClr val="FF5CFF"/>
                </a:solidFill>
                <a:latin typeface="宋体"/>
                <a:cs typeface="宋体"/>
              </a:rPr>
              <a:t>的</a:t>
            </a:r>
            <a:r>
              <a:rPr dirty="0" sz="2400" spc="-25" b="1">
                <a:solidFill>
                  <a:srgbClr val="6600FF"/>
                </a:solidFill>
                <a:latin typeface="Times New Roman"/>
                <a:cs typeface="Times New Roman"/>
              </a:rPr>
              <a:t>poison</a:t>
            </a:r>
            <a:r>
              <a:rPr dirty="0" sz="2400" spc="-20" b="1">
                <a:solidFill>
                  <a:srgbClr val="FF5CFF"/>
                </a:solidFill>
                <a:latin typeface="宋体"/>
                <a:cs typeface="宋体"/>
              </a:rPr>
              <a:t>位将被置</a:t>
            </a:r>
            <a:r>
              <a:rPr dirty="0" sz="2400" spc="-10" b="1">
                <a:solidFill>
                  <a:srgbClr val="6600FF"/>
                </a:solidFill>
                <a:latin typeface="Times New Roman"/>
                <a:cs typeface="Times New Roman"/>
              </a:rPr>
              <a:t>1</a:t>
            </a:r>
            <a:r>
              <a:rPr dirty="0" sz="2400" spc="-25" b="1">
                <a:solidFill>
                  <a:srgbClr val="FF5CFF"/>
                </a:solidFill>
                <a:latin typeface="宋体"/>
                <a:cs typeface="宋体"/>
              </a:rPr>
              <a:t>，否则该位将被</a:t>
            </a:r>
            <a:r>
              <a:rPr dirty="0" sz="2400" spc="-20" b="1">
                <a:solidFill>
                  <a:srgbClr val="FF5CFF"/>
                </a:solidFill>
                <a:latin typeface="宋体"/>
                <a:cs typeface="宋体"/>
              </a:rPr>
              <a:t>清</a:t>
            </a:r>
            <a:r>
              <a:rPr dirty="0" sz="2400" b="1">
                <a:solidFill>
                  <a:srgbClr val="6600FF"/>
                </a:solidFill>
                <a:latin typeface="Times New Roman"/>
                <a:cs typeface="Times New Roman"/>
              </a:rPr>
              <a:t>0</a:t>
            </a:r>
            <a:r>
              <a:rPr dirty="0" sz="2400" spc="-50" b="1">
                <a:solidFill>
                  <a:srgbClr val="FF5CFF"/>
                </a:solidFill>
                <a:latin typeface="宋体"/>
                <a:cs typeface="宋体"/>
              </a:rPr>
              <a:t>。</a:t>
            </a:r>
            <a:endParaRPr sz="2400">
              <a:latin typeface="宋体"/>
              <a:cs typeface="宋体"/>
            </a:endParaRPr>
          </a:p>
          <a:p>
            <a:pPr lvl="1" marL="753110" indent="-455930">
              <a:lnSpc>
                <a:spcPct val="100000"/>
              </a:lnSpc>
              <a:spcBef>
                <a:spcPts val="1155"/>
              </a:spcBef>
              <a:buClr>
                <a:srgbClr val="4668F5"/>
              </a:buClr>
              <a:buSzPct val="60416"/>
              <a:buFont typeface="Wingdings"/>
              <a:buChar char=""/>
              <a:tabLst>
                <a:tab pos="753110" algn="l"/>
              </a:tabLst>
            </a:pPr>
            <a:r>
              <a:rPr dirty="0" sz="2400" spc="-25" b="1">
                <a:solidFill>
                  <a:srgbClr val="FF5CFF"/>
                </a:solidFill>
                <a:latin typeface="宋体"/>
                <a:cs typeface="宋体"/>
              </a:rPr>
              <a:t>当前瞻指令之后的另一条指令访问</a:t>
            </a:r>
            <a:r>
              <a:rPr dirty="0" sz="2400" spc="-35" b="1">
                <a:solidFill>
                  <a:srgbClr val="FF5CFF"/>
                </a:solidFill>
                <a:latin typeface="Times New Roman"/>
                <a:cs typeface="Times New Roman"/>
              </a:rPr>
              <a:t>R</a:t>
            </a:r>
            <a:r>
              <a:rPr dirty="0" sz="2400" spc="-25" b="1">
                <a:solidFill>
                  <a:srgbClr val="FF5CFF"/>
                </a:solidFill>
                <a:latin typeface="宋体"/>
                <a:cs typeface="宋体"/>
              </a:rPr>
              <a:t>时，若</a:t>
            </a:r>
            <a:r>
              <a:rPr dirty="0" sz="2400" spc="-35" b="1">
                <a:solidFill>
                  <a:srgbClr val="FF5CFF"/>
                </a:solidFill>
                <a:latin typeface="Times New Roman"/>
                <a:cs typeface="Times New Roman"/>
              </a:rPr>
              <a:t>R</a:t>
            </a:r>
            <a:r>
              <a:rPr dirty="0" sz="2400" spc="-25" b="1">
                <a:solidFill>
                  <a:srgbClr val="FF5CFF"/>
                </a:solidFill>
                <a:latin typeface="宋体"/>
                <a:cs typeface="宋体"/>
              </a:rPr>
              <a:t>的</a:t>
            </a:r>
            <a:r>
              <a:rPr dirty="0" sz="2400" spc="-10" b="1">
                <a:solidFill>
                  <a:srgbClr val="6600FF"/>
                </a:solidFill>
                <a:latin typeface="Times New Roman"/>
                <a:cs typeface="Times New Roman"/>
              </a:rPr>
              <a:t>poison</a:t>
            </a:r>
            <a:r>
              <a:rPr dirty="0" sz="2400" spc="-25" b="1">
                <a:solidFill>
                  <a:srgbClr val="FF5CFF"/>
                </a:solidFill>
                <a:latin typeface="宋体"/>
                <a:cs typeface="宋体"/>
              </a:rPr>
              <a:t>位为</a:t>
            </a:r>
            <a:r>
              <a:rPr dirty="0" sz="2400" spc="-10" b="1">
                <a:solidFill>
                  <a:srgbClr val="6600FF"/>
                </a:solidFill>
                <a:latin typeface="Times New Roman"/>
                <a:cs typeface="Times New Roman"/>
              </a:rPr>
              <a:t>1</a:t>
            </a:r>
            <a:r>
              <a:rPr dirty="0" sz="2400" spc="-30" b="1">
                <a:solidFill>
                  <a:srgbClr val="FF5CFF"/>
                </a:solidFill>
                <a:latin typeface="宋体"/>
                <a:cs typeface="宋体"/>
              </a:rPr>
              <a:t>将触发一个终止性异</a:t>
            </a:r>
            <a:endParaRPr sz="2400">
              <a:latin typeface="宋体"/>
              <a:cs typeface="宋体"/>
            </a:endParaRPr>
          </a:p>
          <a:p>
            <a:pPr marL="753110">
              <a:lnSpc>
                <a:spcPct val="100000"/>
              </a:lnSpc>
              <a:spcBef>
                <a:spcPts val="580"/>
              </a:spcBef>
            </a:pPr>
            <a:r>
              <a:rPr dirty="0" sz="2400" spc="-35" b="1">
                <a:solidFill>
                  <a:srgbClr val="FF5CFF"/>
                </a:solidFill>
                <a:latin typeface="宋体"/>
                <a:cs typeface="宋体"/>
              </a:rPr>
              <a:t>常。</a:t>
            </a:r>
            <a:endParaRPr sz="2400">
              <a:latin typeface="宋体"/>
              <a:cs typeface="宋体"/>
            </a:endParaRPr>
          </a:p>
          <a:p>
            <a:pPr marL="753110" marR="5080" indent="-455930">
              <a:lnSpc>
                <a:spcPct val="120000"/>
              </a:lnSpc>
              <a:spcBef>
                <a:spcPts val="575"/>
              </a:spcBef>
              <a:buClr>
                <a:srgbClr val="4668F5"/>
              </a:buClr>
              <a:buSzPct val="60416"/>
              <a:buFont typeface="Wingdings"/>
              <a:buChar char=""/>
              <a:tabLst>
                <a:tab pos="753110" algn="l"/>
              </a:tabLst>
            </a:pPr>
            <a:r>
              <a:rPr dirty="0" sz="2400" spc="-25" b="1">
                <a:solidFill>
                  <a:srgbClr val="FF0000"/>
                </a:solidFill>
                <a:latin typeface="宋体"/>
                <a:cs typeface="宋体"/>
              </a:rPr>
              <a:t>基本思想：</a:t>
            </a:r>
            <a:r>
              <a:rPr dirty="0" sz="2400" spc="-25" b="1">
                <a:solidFill>
                  <a:srgbClr val="FF5CFF"/>
                </a:solidFill>
                <a:latin typeface="宋体"/>
                <a:cs typeface="宋体"/>
              </a:rPr>
              <a:t>将前瞻指令引起异常的处理推迟到另一条指令访问前瞻指令的目的寄存器</a:t>
            </a:r>
            <a:r>
              <a:rPr dirty="0" sz="2000" spc="-35" b="1">
                <a:solidFill>
                  <a:srgbClr val="FF5CFF"/>
                </a:solidFill>
                <a:latin typeface="宋体"/>
                <a:cs typeface="宋体"/>
              </a:rPr>
              <a:t>时。</a:t>
            </a:r>
            <a:endParaRPr sz="2000">
              <a:latin typeface="宋体"/>
              <a:cs typeface="宋体"/>
            </a:endParaRPr>
          </a:p>
        </p:txBody>
      </p:sp>
      <p:sp>
        <p:nvSpPr>
          <p:cNvPr id="10" name="object 10"/>
          <p:cNvSpPr txBox="1">
            <a:spLocks noGrp="1"/>
          </p:cNvSpPr>
          <p:nvPr>
            <p:ph type="title"/>
          </p:nvPr>
        </p:nvSpPr>
        <p:spPr>
          <a:xfrm>
            <a:off x="2080005" y="-36829"/>
            <a:ext cx="4904105" cy="513715"/>
          </a:xfrm>
          <a:prstGeom prst="rect"/>
        </p:spPr>
        <p:txBody>
          <a:bodyPr wrap="square" lIns="0" tIns="12700" rIns="0" bIns="0" rtlCol="0" vert="horz">
            <a:spAutoFit/>
          </a:bodyPr>
          <a:lstStyle/>
          <a:p>
            <a:pPr marL="12700">
              <a:lnSpc>
                <a:spcPct val="100000"/>
              </a:lnSpc>
              <a:spcBef>
                <a:spcPts val="100"/>
              </a:spcBef>
            </a:pPr>
            <a:r>
              <a:rPr dirty="0" u="none"/>
              <a:t>6.4</a:t>
            </a:r>
            <a:r>
              <a:rPr dirty="0" u="none" spc="-15"/>
              <a:t> 显示并行指令计算</a:t>
            </a:r>
            <a:r>
              <a:rPr dirty="0" u="none" spc="-20"/>
              <a:t>EPIC</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75/89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179628" y="581265"/>
            <a:ext cx="11411585" cy="3696970"/>
          </a:xfrm>
          <a:prstGeom prst="rect">
            <a:avLst/>
          </a:prstGeom>
        </p:spPr>
        <p:txBody>
          <a:bodyPr wrap="square" lIns="0" tIns="223520" rIns="0" bIns="0" rtlCol="0" vert="horz">
            <a:spAutoFit/>
          </a:bodyPr>
          <a:lstStyle/>
          <a:p>
            <a:pPr marL="408940">
              <a:lnSpc>
                <a:spcPct val="100000"/>
              </a:lnSpc>
              <a:spcBef>
                <a:spcPts val="1760"/>
              </a:spcBef>
            </a:pPr>
            <a:r>
              <a:rPr dirty="0" sz="2400" spc="-10">
                <a:solidFill>
                  <a:srgbClr val="40458B"/>
                </a:solidFill>
                <a:latin typeface="黑体"/>
                <a:cs typeface="黑体"/>
              </a:rPr>
              <a:t>若执行</a:t>
            </a:r>
            <a:r>
              <a:rPr dirty="0" sz="2400" spc="-30">
                <a:solidFill>
                  <a:srgbClr val="6600FF"/>
                </a:solidFill>
                <a:latin typeface="Times New Roman"/>
                <a:cs typeface="Times New Roman"/>
              </a:rPr>
              <a:t>sLD</a:t>
            </a:r>
            <a:r>
              <a:rPr dirty="0" sz="2400" spc="-15">
                <a:solidFill>
                  <a:srgbClr val="40458B"/>
                </a:solidFill>
                <a:latin typeface="黑体"/>
                <a:cs typeface="黑体"/>
              </a:rPr>
              <a:t>时发生异常应该如何处理？</a:t>
            </a:r>
            <a:endParaRPr sz="2400">
              <a:latin typeface="黑体"/>
              <a:cs typeface="黑体"/>
            </a:endParaRPr>
          </a:p>
          <a:p>
            <a:pPr marL="467995" indent="-455295">
              <a:lnSpc>
                <a:spcPct val="100000"/>
              </a:lnSpc>
              <a:spcBef>
                <a:spcPts val="1930"/>
              </a:spcBef>
              <a:buClr>
                <a:srgbClr val="40458B"/>
              </a:buClr>
              <a:buSzPct val="89285"/>
              <a:buFont typeface="Wingdings"/>
              <a:buChar char=""/>
              <a:tabLst>
                <a:tab pos="467995" algn="l"/>
              </a:tabLst>
            </a:pPr>
            <a:r>
              <a:rPr dirty="0" sz="2800" spc="-40">
                <a:solidFill>
                  <a:srgbClr val="D50092"/>
                </a:solidFill>
                <a:latin typeface="黑体"/>
                <a:cs typeface="黑体"/>
              </a:rPr>
              <a:t>方法四：</a:t>
            </a:r>
            <a:r>
              <a:rPr dirty="0" sz="2800" spc="-35">
                <a:solidFill>
                  <a:srgbClr val="0000CC"/>
                </a:solidFill>
                <a:latin typeface="黑体"/>
                <a:cs typeface="黑体"/>
              </a:rPr>
              <a:t>借助</a:t>
            </a:r>
            <a:r>
              <a:rPr dirty="0" sz="2800" spc="-40">
                <a:solidFill>
                  <a:srgbClr val="E14B04"/>
                </a:solidFill>
                <a:latin typeface="黑体"/>
                <a:cs typeface="黑体"/>
              </a:rPr>
              <a:t>再定序缓冲器</a:t>
            </a:r>
            <a:r>
              <a:rPr dirty="0" sz="2800" spc="-40">
                <a:solidFill>
                  <a:srgbClr val="0000CC"/>
                </a:solidFill>
                <a:latin typeface="黑体"/>
                <a:cs typeface="黑体"/>
              </a:rPr>
              <a:t>完成</a:t>
            </a:r>
            <a:endParaRPr sz="2800">
              <a:latin typeface="黑体"/>
              <a:cs typeface="黑体"/>
            </a:endParaRPr>
          </a:p>
          <a:p>
            <a:pPr lvl="1" marL="926465" indent="-278765">
              <a:lnSpc>
                <a:spcPct val="100000"/>
              </a:lnSpc>
              <a:spcBef>
                <a:spcPts val="1220"/>
              </a:spcBef>
              <a:buClr>
                <a:srgbClr val="4668F5"/>
              </a:buClr>
              <a:buSzPct val="50000"/>
              <a:buFont typeface="Wingdings"/>
              <a:buChar char=""/>
              <a:tabLst>
                <a:tab pos="926465" algn="l"/>
              </a:tabLst>
            </a:pPr>
            <a:r>
              <a:rPr dirty="0" sz="2400" spc="-25" b="1">
                <a:solidFill>
                  <a:srgbClr val="FF5CFF"/>
                </a:solidFill>
                <a:latin typeface="宋体"/>
                <a:cs typeface="宋体"/>
              </a:rPr>
              <a:t>将指令的执行结果保存在再定序缓冲器内，并按指令流出的顺序依次确认。</a:t>
            </a:r>
            <a:endParaRPr sz="2400">
              <a:latin typeface="宋体"/>
              <a:cs typeface="宋体"/>
            </a:endParaRPr>
          </a:p>
          <a:p>
            <a:pPr lvl="1" marL="982980" indent="-335280">
              <a:lnSpc>
                <a:spcPct val="100000"/>
              </a:lnSpc>
              <a:spcBef>
                <a:spcPts val="1150"/>
              </a:spcBef>
              <a:buClr>
                <a:srgbClr val="4668F5"/>
              </a:buClr>
              <a:buSzPct val="60416"/>
              <a:buFont typeface="Wingdings"/>
              <a:buChar char=""/>
              <a:tabLst>
                <a:tab pos="982980" algn="l"/>
              </a:tabLst>
            </a:pPr>
            <a:r>
              <a:rPr dirty="0" sz="2400" spc="-20" b="1">
                <a:solidFill>
                  <a:srgbClr val="FF5CFF"/>
                </a:solidFill>
                <a:latin typeface="宋体"/>
                <a:cs typeface="宋体"/>
              </a:rPr>
              <a:t>前瞻指令的确认时机被推迟，直至能够确定该指令的前瞻执行是正确（</a:t>
            </a:r>
            <a:r>
              <a:rPr dirty="0" sz="2400" spc="-35" b="1">
                <a:solidFill>
                  <a:srgbClr val="FF5CFF"/>
                </a:solidFill>
                <a:latin typeface="宋体"/>
                <a:cs typeface="宋体"/>
              </a:rPr>
              <a:t>或错误</a:t>
            </a:r>
            <a:endParaRPr sz="2400">
              <a:latin typeface="宋体"/>
              <a:cs typeface="宋体"/>
            </a:endParaRPr>
          </a:p>
          <a:p>
            <a:pPr marL="753110">
              <a:lnSpc>
                <a:spcPct val="100000"/>
              </a:lnSpc>
              <a:spcBef>
                <a:spcPts val="575"/>
              </a:spcBef>
            </a:pPr>
            <a:r>
              <a:rPr dirty="0" sz="2400" spc="-25" b="1">
                <a:solidFill>
                  <a:srgbClr val="FF5CFF"/>
                </a:solidFill>
                <a:latin typeface="宋体"/>
                <a:cs typeface="宋体"/>
              </a:rPr>
              <a:t>）</a:t>
            </a:r>
            <a:r>
              <a:rPr dirty="0" sz="2400" spc="-40" b="1">
                <a:solidFill>
                  <a:srgbClr val="FF5CFF"/>
                </a:solidFill>
                <a:latin typeface="宋体"/>
                <a:cs typeface="宋体"/>
              </a:rPr>
              <a:t>的。</a:t>
            </a:r>
            <a:endParaRPr sz="2400">
              <a:latin typeface="宋体"/>
              <a:cs typeface="宋体"/>
            </a:endParaRPr>
          </a:p>
          <a:p>
            <a:pPr lvl="1" marL="753110" marR="5080" indent="-105410">
              <a:lnSpc>
                <a:spcPct val="120000"/>
              </a:lnSpc>
              <a:spcBef>
                <a:spcPts val="580"/>
              </a:spcBef>
              <a:buClr>
                <a:srgbClr val="4668F5"/>
              </a:buClr>
              <a:buSzPct val="60416"/>
              <a:buFont typeface="Wingdings"/>
              <a:buChar char=""/>
              <a:tabLst>
                <a:tab pos="753110" algn="l"/>
                <a:tab pos="982980" algn="l"/>
              </a:tabLst>
            </a:pPr>
            <a:r>
              <a:rPr dirty="0" sz="2400" spc="-25" b="1">
                <a:solidFill>
                  <a:srgbClr val="FF5CFF"/>
                </a:solidFill>
                <a:latin typeface="宋体"/>
                <a:cs typeface="宋体"/>
              </a:rPr>
              <a:t>	</a:t>
            </a:r>
            <a:r>
              <a:rPr dirty="0" sz="2400" spc="-25" b="1">
                <a:solidFill>
                  <a:srgbClr val="FF5CFF"/>
                </a:solidFill>
                <a:latin typeface="宋体"/>
                <a:cs typeface="宋体"/>
              </a:rPr>
              <a:t>除了需要再定序缓冲器等硬件机制的支持外，也需要在编译时标出所有被前瞻的指令，以及这些指令所跨越的条件分支。</a:t>
            </a:r>
            <a:endParaRPr sz="2400">
              <a:latin typeface="宋体"/>
              <a:cs typeface="宋体"/>
            </a:endParaRPr>
          </a:p>
        </p:txBody>
      </p:sp>
      <p:sp>
        <p:nvSpPr>
          <p:cNvPr id="10" name="object 10"/>
          <p:cNvSpPr txBox="1">
            <a:spLocks noGrp="1"/>
          </p:cNvSpPr>
          <p:nvPr>
            <p:ph type="title"/>
          </p:nvPr>
        </p:nvSpPr>
        <p:spPr>
          <a:xfrm>
            <a:off x="2008377" y="36068"/>
            <a:ext cx="4904740" cy="513715"/>
          </a:xfrm>
          <a:prstGeom prst="rect"/>
        </p:spPr>
        <p:txBody>
          <a:bodyPr wrap="square" lIns="0" tIns="12700" rIns="0" bIns="0" rtlCol="0" vert="horz">
            <a:spAutoFit/>
          </a:bodyPr>
          <a:lstStyle/>
          <a:p>
            <a:pPr marL="12700">
              <a:lnSpc>
                <a:spcPct val="100000"/>
              </a:lnSpc>
              <a:spcBef>
                <a:spcPts val="100"/>
              </a:spcBef>
            </a:pPr>
            <a:r>
              <a:rPr dirty="0" u="none"/>
              <a:t>6.4</a:t>
            </a:r>
            <a:r>
              <a:rPr dirty="0" u="none" spc="-15"/>
              <a:t> 显示并行指令计算</a:t>
            </a:r>
            <a:r>
              <a:rPr dirty="0" u="none" spc="-20"/>
              <a:t>EPIC</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76/89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78739" y="579736"/>
            <a:ext cx="12084050" cy="5756910"/>
          </a:xfrm>
          <a:prstGeom prst="rect">
            <a:avLst/>
          </a:prstGeom>
        </p:spPr>
        <p:txBody>
          <a:bodyPr wrap="square" lIns="0" tIns="152400" rIns="0" bIns="0" rtlCol="0" vert="horz">
            <a:spAutoFit/>
          </a:bodyPr>
          <a:lstStyle/>
          <a:p>
            <a:pPr marL="467995" indent="-455295">
              <a:lnSpc>
                <a:spcPct val="100000"/>
              </a:lnSpc>
              <a:spcBef>
                <a:spcPts val="1200"/>
              </a:spcBef>
              <a:buClr>
                <a:srgbClr val="40458B"/>
              </a:buClr>
              <a:buFont typeface="Tahoma"/>
              <a:buAutoNum type="arabicPeriod" startAt="4"/>
              <a:tabLst>
                <a:tab pos="467995" algn="l"/>
              </a:tabLst>
            </a:pPr>
            <a:r>
              <a:rPr dirty="0" sz="2400" spc="-15">
                <a:solidFill>
                  <a:srgbClr val="E14B04"/>
                </a:solidFill>
                <a:latin typeface="黑体"/>
                <a:cs typeface="黑体"/>
              </a:rPr>
              <a:t>数据前瞻</a:t>
            </a:r>
            <a:endParaRPr sz="2400">
              <a:latin typeface="黑体"/>
              <a:cs typeface="黑体"/>
            </a:endParaRPr>
          </a:p>
          <a:p>
            <a:pPr lvl="1" marL="481965" indent="-457200">
              <a:lnSpc>
                <a:spcPct val="100000"/>
              </a:lnSpc>
              <a:spcBef>
                <a:spcPts val="1280"/>
              </a:spcBef>
              <a:buClr>
                <a:srgbClr val="40458B"/>
              </a:buClr>
              <a:buSzPct val="89285"/>
              <a:buFont typeface="Wingdings"/>
              <a:buChar char=""/>
              <a:tabLst>
                <a:tab pos="481965" algn="l"/>
              </a:tabLst>
            </a:pPr>
            <a:r>
              <a:rPr dirty="0" sz="2800" spc="-25">
                <a:solidFill>
                  <a:srgbClr val="0000CC"/>
                </a:solidFill>
                <a:latin typeface="黑体"/>
                <a:cs typeface="黑体"/>
              </a:rPr>
              <a:t>将</a:t>
            </a:r>
            <a:r>
              <a:rPr dirty="0" sz="2800" spc="-10">
                <a:solidFill>
                  <a:srgbClr val="6600FF"/>
                </a:solidFill>
                <a:latin typeface="Times New Roman"/>
                <a:cs typeface="Times New Roman"/>
              </a:rPr>
              <a:t>load</a:t>
            </a:r>
            <a:r>
              <a:rPr dirty="0" sz="2800" spc="-30">
                <a:solidFill>
                  <a:srgbClr val="0000CC"/>
                </a:solidFill>
                <a:latin typeface="黑体"/>
                <a:cs typeface="黑体"/>
              </a:rPr>
              <a:t>调度到</a:t>
            </a:r>
            <a:r>
              <a:rPr dirty="0" sz="2800" spc="-20">
                <a:solidFill>
                  <a:srgbClr val="6600FF"/>
                </a:solidFill>
                <a:latin typeface="Times New Roman"/>
                <a:cs typeface="Times New Roman"/>
              </a:rPr>
              <a:t>store</a:t>
            </a:r>
            <a:r>
              <a:rPr dirty="0" sz="2800" spc="-40">
                <a:solidFill>
                  <a:srgbClr val="0000CC"/>
                </a:solidFill>
                <a:latin typeface="黑体"/>
                <a:cs typeface="黑体"/>
              </a:rPr>
              <a:t>之前前瞻执行最常见的数据前瞻</a:t>
            </a:r>
            <a:endParaRPr sz="2800">
              <a:latin typeface="黑体"/>
              <a:cs typeface="黑体"/>
            </a:endParaRPr>
          </a:p>
          <a:p>
            <a:pPr lvl="2" marL="733425" marR="6350" indent="-457200">
              <a:lnSpc>
                <a:spcPct val="130000"/>
              </a:lnSpc>
              <a:spcBef>
                <a:spcPts val="570"/>
              </a:spcBef>
              <a:buClr>
                <a:srgbClr val="4668F5"/>
              </a:buClr>
              <a:buSzPct val="60416"/>
              <a:buFont typeface="Wingdings"/>
              <a:buChar char=""/>
              <a:tabLst>
                <a:tab pos="733425" algn="l"/>
              </a:tabLst>
            </a:pPr>
            <a:r>
              <a:rPr dirty="0" sz="2400" spc="-20" b="1">
                <a:solidFill>
                  <a:srgbClr val="FF5CFF"/>
                </a:solidFill>
                <a:latin typeface="宋体"/>
                <a:cs typeface="宋体"/>
              </a:rPr>
              <a:t>为保证正确性，编译器总是会选择保守的调度方法（由于缺乏运行时足够信息）</a:t>
            </a:r>
            <a:r>
              <a:rPr dirty="0" sz="2400" spc="-35" b="1">
                <a:solidFill>
                  <a:srgbClr val="FF5CFF"/>
                </a:solidFill>
                <a:latin typeface="宋体"/>
                <a:cs typeface="宋体"/>
              </a:rPr>
              <a:t>，认</a:t>
            </a:r>
            <a:r>
              <a:rPr dirty="0" sz="2400" spc="-20" b="1">
                <a:solidFill>
                  <a:srgbClr val="FF5CFF"/>
                </a:solidFill>
                <a:latin typeface="宋体"/>
                <a:cs typeface="宋体"/>
              </a:rPr>
              <a:t>为相邻的</a:t>
            </a:r>
            <a:r>
              <a:rPr dirty="0" sz="2400" spc="-10" b="1">
                <a:solidFill>
                  <a:srgbClr val="FF5CFF"/>
                </a:solidFill>
                <a:latin typeface="Times New Roman"/>
                <a:cs typeface="Times New Roman"/>
              </a:rPr>
              <a:t>store</a:t>
            </a:r>
            <a:r>
              <a:rPr dirty="0" sz="2400" spc="-20" b="1">
                <a:solidFill>
                  <a:srgbClr val="FF5CFF"/>
                </a:solidFill>
                <a:latin typeface="宋体"/>
                <a:cs typeface="宋体"/>
              </a:rPr>
              <a:t>与</a:t>
            </a:r>
            <a:r>
              <a:rPr dirty="0" sz="2400" spc="-10" b="1">
                <a:solidFill>
                  <a:srgbClr val="FF5CFF"/>
                </a:solidFill>
                <a:latin typeface="Times New Roman"/>
                <a:cs typeface="Times New Roman"/>
              </a:rPr>
              <a:t>load</a:t>
            </a:r>
            <a:r>
              <a:rPr dirty="0" sz="2400" spc="-25" b="1">
                <a:solidFill>
                  <a:srgbClr val="FF5CFF"/>
                </a:solidFill>
                <a:latin typeface="宋体"/>
                <a:cs typeface="宋体"/>
              </a:rPr>
              <a:t>间存在地址冲突，但在很多情况下，地址并不冲突。</a:t>
            </a:r>
            <a:endParaRPr sz="2400">
              <a:latin typeface="宋体"/>
              <a:cs typeface="宋体"/>
            </a:endParaRPr>
          </a:p>
          <a:p>
            <a:pPr lvl="2" marL="733425" indent="-457200">
              <a:lnSpc>
                <a:spcPct val="100000"/>
              </a:lnSpc>
              <a:spcBef>
                <a:spcPts val="1440"/>
              </a:spcBef>
              <a:buClr>
                <a:srgbClr val="4668F5"/>
              </a:buClr>
              <a:buSzPct val="60416"/>
              <a:buFont typeface="Wingdings"/>
              <a:buChar char=""/>
              <a:tabLst>
                <a:tab pos="733425" algn="l"/>
              </a:tabLst>
            </a:pPr>
            <a:r>
              <a:rPr dirty="0" sz="2400" spc="-25" b="1">
                <a:solidFill>
                  <a:srgbClr val="FF5CFF"/>
                </a:solidFill>
                <a:latin typeface="宋体"/>
                <a:cs typeface="宋体"/>
              </a:rPr>
              <a:t>尽早完成</a:t>
            </a:r>
            <a:r>
              <a:rPr dirty="0" sz="2400" spc="-10" b="1">
                <a:solidFill>
                  <a:srgbClr val="FF5CFF"/>
                </a:solidFill>
                <a:latin typeface="Times New Roman"/>
                <a:cs typeface="Times New Roman"/>
              </a:rPr>
              <a:t>load</a:t>
            </a:r>
            <a:r>
              <a:rPr dirty="0" sz="2400" spc="-30" b="1">
                <a:solidFill>
                  <a:srgbClr val="FF5CFF"/>
                </a:solidFill>
                <a:latin typeface="宋体"/>
                <a:cs typeface="宋体"/>
              </a:rPr>
              <a:t>指令有助于缩短关键路径的长度。</a:t>
            </a:r>
            <a:endParaRPr sz="2400">
              <a:latin typeface="宋体"/>
              <a:cs typeface="宋体"/>
            </a:endParaRPr>
          </a:p>
          <a:p>
            <a:pPr marL="12700">
              <a:lnSpc>
                <a:spcPct val="100000"/>
              </a:lnSpc>
              <a:spcBef>
                <a:spcPts val="1610"/>
              </a:spcBef>
            </a:pPr>
            <a:r>
              <a:rPr dirty="0" sz="2800" spc="-40">
                <a:solidFill>
                  <a:srgbClr val="0000CC"/>
                </a:solidFill>
                <a:latin typeface="黑体"/>
                <a:cs typeface="黑体"/>
              </a:rPr>
              <a:t>硬件地址冲突检测机制</a:t>
            </a:r>
            <a:endParaRPr sz="2800">
              <a:latin typeface="黑体"/>
              <a:cs typeface="黑体"/>
            </a:endParaRPr>
          </a:p>
          <a:p>
            <a:pPr lvl="2" marL="733425" indent="-457200">
              <a:lnSpc>
                <a:spcPct val="100000"/>
              </a:lnSpc>
              <a:spcBef>
                <a:spcPts val="1300"/>
              </a:spcBef>
              <a:buClr>
                <a:srgbClr val="4668F5"/>
              </a:buClr>
              <a:buSzPct val="60416"/>
              <a:buFont typeface="Wingdings"/>
              <a:buChar char=""/>
              <a:tabLst>
                <a:tab pos="733425" algn="l"/>
              </a:tabLst>
            </a:pPr>
            <a:r>
              <a:rPr dirty="0" sz="2400" spc="-20" b="1">
                <a:solidFill>
                  <a:srgbClr val="FF5CFF"/>
                </a:solidFill>
                <a:latin typeface="宋体"/>
                <a:cs typeface="宋体"/>
              </a:rPr>
              <a:t>当</a:t>
            </a:r>
            <a:r>
              <a:rPr dirty="0" sz="2400" spc="-25" b="1">
                <a:solidFill>
                  <a:srgbClr val="6600FF"/>
                </a:solidFill>
                <a:latin typeface="宋体"/>
                <a:cs typeface="宋体"/>
              </a:rPr>
              <a:t>load</a:t>
            </a:r>
            <a:r>
              <a:rPr dirty="0" sz="2400" spc="-25" b="1">
                <a:solidFill>
                  <a:srgbClr val="FF5CFF"/>
                </a:solidFill>
                <a:latin typeface="宋体"/>
                <a:cs typeface="宋体"/>
              </a:rPr>
              <a:t>指令前瞻执行时，流水线硬件会将它访存的地址记录在一个特殊的地址表中。</a:t>
            </a:r>
            <a:endParaRPr sz="2400">
              <a:latin typeface="宋体"/>
              <a:cs typeface="宋体"/>
            </a:endParaRPr>
          </a:p>
          <a:p>
            <a:pPr lvl="2" marL="733425" marR="157480" indent="-457200">
              <a:lnSpc>
                <a:spcPct val="120000"/>
              </a:lnSpc>
              <a:spcBef>
                <a:spcPts val="575"/>
              </a:spcBef>
              <a:buClr>
                <a:srgbClr val="4668F5"/>
              </a:buClr>
              <a:buSzPct val="60416"/>
              <a:buFont typeface="Wingdings"/>
              <a:buChar char=""/>
              <a:tabLst>
                <a:tab pos="733425" algn="l"/>
              </a:tabLst>
            </a:pPr>
            <a:r>
              <a:rPr dirty="0" sz="2400" spc="-20" b="1">
                <a:solidFill>
                  <a:srgbClr val="FF5CFF"/>
                </a:solidFill>
                <a:latin typeface="宋体"/>
                <a:cs typeface="宋体"/>
              </a:rPr>
              <a:t>每执行一条store</a:t>
            </a:r>
            <a:r>
              <a:rPr dirty="0" sz="2400" spc="-25" b="1">
                <a:solidFill>
                  <a:srgbClr val="FF5CFF"/>
                </a:solidFill>
                <a:latin typeface="宋体"/>
                <a:cs typeface="宋体"/>
              </a:rPr>
              <a:t>指令，流水线硬件将该指令的访存地址与地址表中的各有效项进行匹配，命中则说明出现地址冲突，前瞻失败。</a:t>
            </a:r>
            <a:endParaRPr sz="2400">
              <a:latin typeface="宋体"/>
              <a:cs typeface="宋体"/>
            </a:endParaRPr>
          </a:p>
          <a:p>
            <a:pPr lvl="2" marL="733425" indent="-457200">
              <a:lnSpc>
                <a:spcPct val="100000"/>
              </a:lnSpc>
              <a:spcBef>
                <a:spcPts val="1155"/>
              </a:spcBef>
              <a:buClr>
                <a:srgbClr val="4668F5"/>
              </a:buClr>
              <a:buSzPct val="60416"/>
              <a:buFont typeface="Wingdings"/>
              <a:buChar char=""/>
              <a:tabLst>
                <a:tab pos="733425" algn="l"/>
              </a:tabLst>
            </a:pPr>
            <a:r>
              <a:rPr dirty="0" sz="2400" spc="-20" b="1">
                <a:solidFill>
                  <a:srgbClr val="FF5CFF"/>
                </a:solidFill>
                <a:latin typeface="宋体"/>
                <a:cs typeface="宋体"/>
              </a:rPr>
              <a:t>若控制流抵达load指令原来所在的位置时未出现冲突（</a:t>
            </a:r>
            <a:r>
              <a:rPr dirty="0" sz="2400" spc="-25" b="1">
                <a:solidFill>
                  <a:srgbClr val="FF5CFF"/>
                </a:solidFill>
                <a:latin typeface="宋体"/>
                <a:cs typeface="宋体"/>
              </a:rPr>
              <a:t>编译时在此位置放置检测指令</a:t>
            </a:r>
            <a:endParaRPr sz="2400">
              <a:latin typeface="宋体"/>
              <a:cs typeface="宋体"/>
            </a:endParaRPr>
          </a:p>
          <a:p>
            <a:pPr marL="733425">
              <a:lnSpc>
                <a:spcPct val="100000"/>
              </a:lnSpc>
              <a:spcBef>
                <a:spcPts val="575"/>
              </a:spcBef>
            </a:pPr>
            <a:r>
              <a:rPr dirty="0" sz="2400" spc="-20" b="1">
                <a:solidFill>
                  <a:srgbClr val="FF5CFF"/>
                </a:solidFill>
                <a:latin typeface="宋体"/>
                <a:cs typeface="宋体"/>
              </a:rPr>
              <a:t>），</a:t>
            </a:r>
            <a:r>
              <a:rPr dirty="0" sz="2400" spc="-25" b="1">
                <a:solidFill>
                  <a:srgbClr val="FF5CFF"/>
                </a:solidFill>
                <a:latin typeface="宋体"/>
                <a:cs typeface="宋体"/>
              </a:rPr>
              <a:t>说明前瞻成功，流水线硬件从地址表中删除对应的项。</a:t>
            </a:r>
            <a:endParaRPr sz="2400">
              <a:latin typeface="宋体"/>
              <a:cs typeface="宋体"/>
            </a:endParaRPr>
          </a:p>
        </p:txBody>
      </p:sp>
      <p:sp>
        <p:nvSpPr>
          <p:cNvPr id="9" name="object 9"/>
          <p:cNvSpPr txBox="1">
            <a:spLocks noGrp="1"/>
          </p:cNvSpPr>
          <p:nvPr>
            <p:ph type="title"/>
          </p:nvPr>
        </p:nvSpPr>
        <p:spPr>
          <a:xfrm>
            <a:off x="1403350" y="127838"/>
            <a:ext cx="10801350" cy="514350"/>
          </a:xfrm>
          <a:prstGeom prst="rect"/>
        </p:spPr>
        <p:txBody>
          <a:bodyPr wrap="square" lIns="0" tIns="13335" rIns="0" bIns="0" rtlCol="0" vert="horz">
            <a:spAutoFit/>
          </a:bodyPr>
          <a:lstStyle/>
          <a:p>
            <a:pPr marL="12700">
              <a:lnSpc>
                <a:spcPct val="100000"/>
              </a:lnSpc>
              <a:spcBef>
                <a:spcPts val="105"/>
              </a:spcBef>
              <a:tabLst>
                <a:tab pos="1239520" algn="l"/>
                <a:tab pos="10788015" algn="l"/>
              </a:tabLst>
            </a:pPr>
            <a:r>
              <a:rPr dirty="0"/>
              <a:t>	6.4</a:t>
            </a:r>
            <a:r>
              <a:rPr dirty="0" spc="-15"/>
              <a:t> </a:t>
            </a:r>
            <a:r>
              <a:rPr dirty="0"/>
              <a:t>显示并</a:t>
            </a:r>
            <a:r>
              <a:rPr dirty="0" spc="-25"/>
              <a:t>行</a:t>
            </a:r>
            <a:r>
              <a:rPr dirty="0"/>
              <a:t>指令</a:t>
            </a:r>
            <a:r>
              <a:rPr dirty="0" spc="-20"/>
              <a:t>计</a:t>
            </a:r>
            <a:r>
              <a:rPr dirty="0"/>
              <a:t>算</a:t>
            </a:r>
            <a:r>
              <a:rPr dirty="0" spc="-20"/>
              <a:t>EPIC</a:t>
            </a:r>
            <a:r>
              <a:rPr dirty="0"/>
              <a:t>	</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77/89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grpSp>
        <p:nvGrpSpPr>
          <p:cNvPr id="7" name="object 7" descr=""/>
          <p:cNvGrpSpPr/>
          <p:nvPr/>
        </p:nvGrpSpPr>
        <p:grpSpPr>
          <a:xfrm>
            <a:off x="6350" y="3141726"/>
            <a:ext cx="12185650" cy="3717925"/>
            <a:chOff x="6350" y="3141726"/>
            <a:chExt cx="12185650" cy="3717925"/>
          </a:xfrm>
        </p:grpSpPr>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pic>
          <p:nvPicPr>
            <p:cNvPr id="9" name="object 9" descr=""/>
            <p:cNvPicPr/>
            <p:nvPr/>
          </p:nvPicPr>
          <p:blipFill>
            <a:blip r:embed="rId3" cstate="print"/>
            <a:stretch>
              <a:fillRect/>
            </a:stretch>
          </p:blipFill>
          <p:spPr>
            <a:xfrm>
              <a:off x="695325" y="3151249"/>
              <a:ext cx="4105275" cy="3627374"/>
            </a:xfrm>
            <a:prstGeom prst="rect">
              <a:avLst/>
            </a:prstGeom>
          </p:spPr>
        </p:pic>
        <p:sp>
          <p:nvSpPr>
            <p:cNvPr id="10" name="object 10" descr=""/>
            <p:cNvSpPr/>
            <p:nvPr/>
          </p:nvSpPr>
          <p:spPr>
            <a:xfrm>
              <a:off x="690562" y="3146488"/>
              <a:ext cx="4114800" cy="3637279"/>
            </a:xfrm>
            <a:custGeom>
              <a:avLst/>
              <a:gdLst/>
              <a:ahLst/>
              <a:cxnLst/>
              <a:rect l="l" t="t" r="r" b="b"/>
              <a:pathLst>
                <a:path w="4114800" h="3637279">
                  <a:moveTo>
                    <a:pt x="0" y="3636899"/>
                  </a:moveTo>
                  <a:lnTo>
                    <a:pt x="4114800" y="3636899"/>
                  </a:lnTo>
                  <a:lnTo>
                    <a:pt x="4114800" y="0"/>
                  </a:lnTo>
                  <a:lnTo>
                    <a:pt x="0" y="0"/>
                  </a:lnTo>
                  <a:lnTo>
                    <a:pt x="0" y="3636899"/>
                  </a:lnTo>
                  <a:close/>
                </a:path>
              </a:pathLst>
            </a:custGeom>
            <a:ln w="9525">
              <a:solidFill>
                <a:srgbClr val="FF0000"/>
              </a:solidFill>
            </a:ln>
          </p:spPr>
          <p:txBody>
            <a:bodyPr wrap="square" lIns="0" tIns="0" rIns="0" bIns="0" rtlCol="0"/>
            <a:lstStyle/>
            <a:p/>
          </p:txBody>
        </p:sp>
      </p:grpSp>
      <p:sp>
        <p:nvSpPr>
          <p:cNvPr id="11" name="object 11" descr=""/>
          <p:cNvSpPr txBox="1"/>
          <p:nvPr/>
        </p:nvSpPr>
        <p:spPr>
          <a:xfrm>
            <a:off x="35153" y="735644"/>
            <a:ext cx="12172950" cy="4489450"/>
          </a:xfrm>
          <a:prstGeom prst="rect">
            <a:avLst/>
          </a:prstGeom>
        </p:spPr>
        <p:txBody>
          <a:bodyPr wrap="square" lIns="0" tIns="204470" rIns="0" bIns="0" rtlCol="0" vert="horz">
            <a:spAutoFit/>
          </a:bodyPr>
          <a:lstStyle/>
          <a:p>
            <a:pPr marL="467995" indent="-455295">
              <a:lnSpc>
                <a:spcPct val="100000"/>
              </a:lnSpc>
              <a:spcBef>
                <a:spcPts val="1610"/>
              </a:spcBef>
              <a:buClr>
                <a:srgbClr val="40458B"/>
              </a:buClr>
              <a:buSzPct val="89285"/>
              <a:buFont typeface="Wingdings"/>
              <a:buChar char=""/>
              <a:tabLst>
                <a:tab pos="467995" algn="l"/>
              </a:tabLst>
            </a:pPr>
            <a:r>
              <a:rPr dirty="0" sz="2800" spc="-25">
                <a:solidFill>
                  <a:srgbClr val="0000CC"/>
                </a:solidFill>
                <a:latin typeface="黑体"/>
                <a:cs typeface="黑体"/>
              </a:rPr>
              <a:t>前瞻执行</a:t>
            </a:r>
            <a:r>
              <a:rPr dirty="0" sz="2800" spc="-10">
                <a:solidFill>
                  <a:srgbClr val="0000CC"/>
                </a:solidFill>
                <a:latin typeface="Tahoma"/>
                <a:cs typeface="Tahoma"/>
              </a:rPr>
              <a:t>----</a:t>
            </a:r>
            <a:r>
              <a:rPr dirty="0" sz="2800" spc="-45">
                <a:solidFill>
                  <a:srgbClr val="0000CC"/>
                </a:solidFill>
                <a:latin typeface="黑体"/>
                <a:cs typeface="黑体"/>
              </a:rPr>
              <a:t>数据前瞻</a:t>
            </a:r>
            <a:endParaRPr sz="2800">
              <a:latin typeface="黑体"/>
              <a:cs typeface="黑体"/>
            </a:endParaRPr>
          </a:p>
          <a:p>
            <a:pPr marL="524510" marR="1408430">
              <a:lnSpc>
                <a:spcPct val="140000"/>
              </a:lnSpc>
              <a:spcBef>
                <a:spcPts val="125"/>
              </a:spcBef>
            </a:pPr>
            <a:r>
              <a:rPr dirty="0" sz="2000" spc="-10" b="1">
                <a:solidFill>
                  <a:srgbClr val="00AFEF"/>
                </a:solidFill>
                <a:latin typeface="宋体"/>
                <a:cs typeface="宋体"/>
              </a:rPr>
              <a:t>数据前瞻</a:t>
            </a:r>
            <a:r>
              <a:rPr dirty="0" sz="2000" spc="-20" b="1">
                <a:solidFill>
                  <a:srgbClr val="FF5CFF"/>
                </a:solidFill>
                <a:latin typeface="宋体"/>
                <a:cs typeface="宋体"/>
              </a:rPr>
              <a:t>可能引起的错误，例如 为了减少流水线“空转”，</a:t>
            </a:r>
            <a:r>
              <a:rPr dirty="0" sz="2000" spc="-25" b="1">
                <a:solidFill>
                  <a:srgbClr val="FF5CFF"/>
                </a:solidFill>
                <a:latin typeface="宋体"/>
                <a:cs typeface="宋体"/>
              </a:rPr>
              <a:t>（LD</a:t>
            </a:r>
            <a:r>
              <a:rPr dirty="0" sz="2000" spc="-10" b="1">
                <a:solidFill>
                  <a:srgbClr val="FF5CFF"/>
                </a:solidFill>
                <a:latin typeface="宋体"/>
                <a:cs typeface="宋体"/>
              </a:rPr>
              <a:t>和</a:t>
            </a:r>
            <a:r>
              <a:rPr dirty="0" sz="2000" spc="-20" b="1">
                <a:solidFill>
                  <a:srgbClr val="FF5CFF"/>
                </a:solidFill>
                <a:latin typeface="宋体"/>
                <a:cs typeface="宋体"/>
              </a:rPr>
              <a:t>S.D可能存在内存相关</a:t>
            </a:r>
            <a:r>
              <a:rPr dirty="0" sz="2000" spc="-50" b="1">
                <a:solidFill>
                  <a:srgbClr val="FF5CFF"/>
                </a:solidFill>
                <a:latin typeface="宋体"/>
                <a:cs typeface="宋体"/>
              </a:rPr>
              <a:t>）</a:t>
            </a:r>
            <a:r>
              <a:rPr dirty="0" sz="2000" spc="-20" b="1">
                <a:solidFill>
                  <a:srgbClr val="00AFEF"/>
                </a:solidFill>
                <a:latin typeface="宋体"/>
                <a:cs typeface="宋体"/>
              </a:rPr>
              <a:t>解决方法：</a:t>
            </a:r>
            <a:endParaRPr sz="2000">
              <a:latin typeface="宋体"/>
              <a:cs typeface="宋体"/>
            </a:endParaRPr>
          </a:p>
          <a:p>
            <a:pPr marL="524510" marR="6898005">
              <a:lnSpc>
                <a:spcPct val="140000"/>
              </a:lnSpc>
              <a:spcBef>
                <a:spcPts val="5"/>
              </a:spcBef>
            </a:pPr>
            <a:r>
              <a:rPr dirty="0" sz="2000" spc="-10" b="1">
                <a:solidFill>
                  <a:srgbClr val="FF5CFF"/>
                </a:solidFill>
                <a:latin typeface="宋体"/>
                <a:cs typeface="宋体"/>
              </a:rPr>
              <a:t>编译器调度访存指令Load</a:t>
            </a:r>
            <a:r>
              <a:rPr dirty="0" sz="2000" spc="-20" b="1">
                <a:solidFill>
                  <a:srgbClr val="FF5CFF"/>
                </a:solidFill>
                <a:latin typeface="宋体"/>
                <a:cs typeface="宋体"/>
              </a:rPr>
              <a:t>指令在</a:t>
            </a:r>
            <a:r>
              <a:rPr dirty="0" sz="2000" spc="-10" b="1">
                <a:solidFill>
                  <a:srgbClr val="FF5CFF"/>
                </a:solidFill>
                <a:latin typeface="宋体"/>
                <a:cs typeface="宋体"/>
              </a:rPr>
              <a:t>Store</a:t>
            </a:r>
            <a:r>
              <a:rPr dirty="0" sz="2000" spc="-30" b="1">
                <a:solidFill>
                  <a:srgbClr val="FF5CFF"/>
                </a:solidFill>
                <a:latin typeface="宋体"/>
                <a:cs typeface="宋体"/>
              </a:rPr>
              <a:t>之前</a:t>
            </a:r>
            <a:r>
              <a:rPr dirty="0" sz="2000" spc="-10" b="1">
                <a:solidFill>
                  <a:srgbClr val="FF5CFF"/>
                </a:solidFill>
                <a:latin typeface="宋体"/>
                <a:cs typeface="宋体"/>
              </a:rPr>
              <a:t>以防止地址重复，</a:t>
            </a:r>
            <a:r>
              <a:rPr dirty="0" sz="2000" spc="-10" b="1">
                <a:solidFill>
                  <a:srgbClr val="0000CC"/>
                </a:solidFill>
                <a:latin typeface="宋体"/>
                <a:cs typeface="宋体"/>
              </a:rPr>
              <a:t>如例</a:t>
            </a:r>
            <a:r>
              <a:rPr dirty="0" sz="2000" spc="-20" b="1">
                <a:solidFill>
                  <a:srgbClr val="0000CC"/>
                </a:solidFill>
                <a:latin typeface="宋体"/>
                <a:cs typeface="宋体"/>
              </a:rPr>
              <a:t>6.1</a:t>
            </a:r>
            <a:r>
              <a:rPr dirty="0" sz="2000" spc="-25" b="1">
                <a:solidFill>
                  <a:srgbClr val="0000CC"/>
                </a:solidFill>
                <a:latin typeface="宋体"/>
                <a:cs typeface="宋体"/>
              </a:rPr>
              <a:t>循环展开</a:t>
            </a:r>
            <a:endParaRPr sz="2000">
              <a:latin typeface="宋体"/>
              <a:cs typeface="宋体"/>
            </a:endParaRPr>
          </a:p>
          <a:p>
            <a:pPr lvl="1" marL="6663055" indent="-457200">
              <a:lnSpc>
                <a:spcPts val="3215"/>
              </a:lnSpc>
              <a:buClr>
                <a:srgbClr val="40458B"/>
              </a:buClr>
              <a:buSzPct val="89285"/>
              <a:buFont typeface="Wingdings"/>
              <a:buChar char=""/>
              <a:tabLst>
                <a:tab pos="6663055" algn="l"/>
              </a:tabLst>
            </a:pPr>
            <a:r>
              <a:rPr dirty="0" sz="2800" spc="-40">
                <a:solidFill>
                  <a:srgbClr val="0000CC"/>
                </a:solidFill>
                <a:latin typeface="黑体"/>
                <a:cs typeface="黑体"/>
              </a:rPr>
              <a:t>数据前瞻失败时的处理</a:t>
            </a:r>
            <a:endParaRPr sz="2800">
              <a:latin typeface="黑体"/>
              <a:cs typeface="黑体"/>
            </a:endParaRPr>
          </a:p>
          <a:p>
            <a:pPr lvl="2" marL="6948170" indent="-457200">
              <a:lnSpc>
                <a:spcPct val="100000"/>
              </a:lnSpc>
              <a:spcBef>
                <a:spcPts val="1000"/>
              </a:spcBef>
              <a:buClr>
                <a:srgbClr val="4668F5"/>
              </a:buClr>
              <a:buSzPct val="60000"/>
              <a:buFont typeface="Wingdings"/>
              <a:buChar char=""/>
              <a:tabLst>
                <a:tab pos="6948170" algn="l"/>
              </a:tabLst>
            </a:pPr>
            <a:r>
              <a:rPr dirty="0" sz="2000" spc="-10" b="1">
                <a:solidFill>
                  <a:srgbClr val="00AFEF"/>
                </a:solidFill>
                <a:latin typeface="宋体"/>
                <a:cs typeface="宋体"/>
              </a:rPr>
              <a:t>仅</a:t>
            </a:r>
            <a:r>
              <a:rPr dirty="0" sz="2400" spc="-10" b="1">
                <a:solidFill>
                  <a:srgbClr val="6600FF"/>
                </a:solidFill>
                <a:latin typeface="Times New Roman"/>
                <a:cs typeface="Times New Roman"/>
              </a:rPr>
              <a:t>load</a:t>
            </a:r>
            <a:r>
              <a:rPr dirty="0" sz="2000" spc="-25" b="1">
                <a:solidFill>
                  <a:srgbClr val="00AFEF"/>
                </a:solidFill>
                <a:latin typeface="宋体"/>
                <a:cs typeface="宋体"/>
              </a:rPr>
              <a:t>指令被前瞻执行：由检测指令重新执行</a:t>
            </a:r>
            <a:endParaRPr sz="2000">
              <a:latin typeface="宋体"/>
              <a:cs typeface="宋体"/>
            </a:endParaRPr>
          </a:p>
          <a:p>
            <a:pPr marL="6948170">
              <a:lnSpc>
                <a:spcPct val="100000"/>
              </a:lnSpc>
              <a:spcBef>
                <a:spcPts val="290"/>
              </a:spcBef>
            </a:pPr>
            <a:r>
              <a:rPr dirty="0" sz="2400" spc="-10" b="1">
                <a:solidFill>
                  <a:srgbClr val="6600FF"/>
                </a:solidFill>
                <a:latin typeface="Times New Roman"/>
                <a:cs typeface="Times New Roman"/>
              </a:rPr>
              <a:t>load</a:t>
            </a:r>
            <a:r>
              <a:rPr dirty="0" sz="2000" spc="-20" b="1">
                <a:solidFill>
                  <a:srgbClr val="00AFEF"/>
                </a:solidFill>
                <a:latin typeface="宋体"/>
                <a:cs typeface="宋体"/>
              </a:rPr>
              <a:t>指令即可</a:t>
            </a:r>
            <a:endParaRPr sz="2000">
              <a:latin typeface="宋体"/>
              <a:cs typeface="宋体"/>
            </a:endParaRPr>
          </a:p>
          <a:p>
            <a:pPr lvl="2" marL="6948170" marR="5080" indent="-457200">
              <a:lnSpc>
                <a:spcPct val="110100"/>
              </a:lnSpc>
              <a:spcBef>
                <a:spcPts val="575"/>
              </a:spcBef>
              <a:buClr>
                <a:srgbClr val="4668F5"/>
              </a:buClr>
              <a:buSzPct val="60000"/>
              <a:buFont typeface="Wingdings"/>
              <a:buChar char=""/>
              <a:tabLst>
                <a:tab pos="6948170" algn="l"/>
              </a:tabLst>
            </a:pPr>
            <a:r>
              <a:rPr dirty="0" sz="2000" spc="-10" b="1">
                <a:solidFill>
                  <a:srgbClr val="00AFEF"/>
                </a:solidFill>
                <a:latin typeface="宋体"/>
                <a:cs typeface="宋体"/>
              </a:rPr>
              <a:t>数据相关于</a:t>
            </a:r>
            <a:r>
              <a:rPr dirty="0" sz="2400" spc="-10" b="1">
                <a:solidFill>
                  <a:srgbClr val="6600FF"/>
                </a:solidFill>
                <a:latin typeface="Times New Roman"/>
                <a:cs typeface="Times New Roman"/>
              </a:rPr>
              <a:t>load</a:t>
            </a:r>
            <a:r>
              <a:rPr dirty="0" sz="2400" spc="-20" b="1">
                <a:latin typeface="宋体"/>
                <a:cs typeface="宋体"/>
              </a:rPr>
              <a:t>的</a:t>
            </a:r>
            <a:r>
              <a:rPr dirty="0" sz="2000" spc="-25" b="1">
                <a:solidFill>
                  <a:srgbClr val="00AFEF"/>
                </a:solidFill>
                <a:latin typeface="宋体"/>
                <a:cs typeface="宋体"/>
              </a:rPr>
              <a:t>其他指令也被前瞻执行：需</a:t>
            </a:r>
            <a:r>
              <a:rPr dirty="0" sz="2000" spc="-20" b="1">
                <a:solidFill>
                  <a:srgbClr val="00AFEF"/>
                </a:solidFill>
                <a:latin typeface="宋体"/>
                <a:cs typeface="宋体"/>
              </a:rPr>
              <a:t>要补偿代码</a:t>
            </a:r>
            <a:endParaRPr sz="2000">
              <a:latin typeface="宋体"/>
              <a:cs typeface="宋体"/>
            </a:endParaRPr>
          </a:p>
        </p:txBody>
      </p:sp>
      <p:sp>
        <p:nvSpPr>
          <p:cNvPr id="12" name="object 12"/>
          <p:cNvSpPr txBox="1">
            <a:spLocks noGrp="1"/>
          </p:cNvSpPr>
          <p:nvPr>
            <p:ph type="title"/>
          </p:nvPr>
        </p:nvSpPr>
        <p:spPr>
          <a:xfrm>
            <a:off x="1403350" y="61721"/>
            <a:ext cx="10801350" cy="513715"/>
          </a:xfrm>
          <a:prstGeom prst="rect"/>
        </p:spPr>
        <p:txBody>
          <a:bodyPr wrap="square" lIns="0" tIns="12700" rIns="0" bIns="0" rtlCol="0" vert="horz">
            <a:spAutoFit/>
          </a:bodyPr>
          <a:lstStyle/>
          <a:p>
            <a:pPr marL="12700">
              <a:lnSpc>
                <a:spcPct val="100000"/>
              </a:lnSpc>
              <a:spcBef>
                <a:spcPts val="100"/>
              </a:spcBef>
              <a:tabLst>
                <a:tab pos="544830" algn="l"/>
                <a:tab pos="10788015" algn="l"/>
              </a:tabLst>
            </a:pPr>
            <a:r>
              <a:rPr dirty="0"/>
              <a:t>	6.4</a:t>
            </a:r>
            <a:r>
              <a:rPr dirty="0" spc="-10"/>
              <a:t> </a:t>
            </a:r>
            <a:r>
              <a:rPr dirty="0"/>
              <a:t>显示并</a:t>
            </a:r>
            <a:r>
              <a:rPr dirty="0" spc="-15"/>
              <a:t>行</a:t>
            </a:r>
            <a:r>
              <a:rPr dirty="0"/>
              <a:t>指令</a:t>
            </a:r>
            <a:r>
              <a:rPr dirty="0" spc="-15"/>
              <a:t>计</a:t>
            </a:r>
            <a:r>
              <a:rPr dirty="0"/>
              <a:t>算</a:t>
            </a:r>
            <a:r>
              <a:rPr dirty="0" spc="-20"/>
              <a:t>EPIC</a:t>
            </a:r>
            <a:r>
              <a:rPr dirty="0"/>
              <a:t>	</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78/89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239520" algn="l"/>
                <a:tab pos="10788015" algn="l"/>
              </a:tabLst>
            </a:pPr>
            <a:r>
              <a:rPr dirty="0"/>
              <a:t>	6.4</a:t>
            </a:r>
            <a:r>
              <a:rPr dirty="0" spc="-15"/>
              <a:t> </a:t>
            </a:r>
            <a:r>
              <a:rPr dirty="0"/>
              <a:t>显示并</a:t>
            </a:r>
            <a:r>
              <a:rPr dirty="0" spc="-25"/>
              <a:t>行</a:t>
            </a:r>
            <a:r>
              <a:rPr dirty="0"/>
              <a:t>指令</a:t>
            </a:r>
            <a:r>
              <a:rPr dirty="0" spc="-20"/>
              <a:t>计</a:t>
            </a:r>
            <a:r>
              <a:rPr dirty="0"/>
              <a:t>算</a:t>
            </a:r>
            <a:r>
              <a:rPr dirty="0" spc="-20"/>
              <a:t>EPIC</a:t>
            </a:r>
            <a:r>
              <a:rPr dirty="0"/>
              <a:t>	</a:t>
            </a:r>
          </a:p>
        </p:txBody>
      </p:sp>
      <p:sp>
        <p:nvSpPr>
          <p:cNvPr id="9" name="object 9" descr=""/>
          <p:cNvSpPr txBox="1"/>
          <p:nvPr/>
        </p:nvSpPr>
        <p:spPr>
          <a:xfrm>
            <a:off x="611530" y="1090761"/>
            <a:ext cx="8626475" cy="1546225"/>
          </a:xfrm>
          <a:prstGeom prst="rect">
            <a:avLst/>
          </a:prstGeom>
        </p:spPr>
        <p:txBody>
          <a:bodyPr wrap="square" lIns="0" tIns="148590" rIns="0" bIns="0" rtlCol="0" vert="horz">
            <a:spAutoFit/>
          </a:bodyPr>
          <a:lstStyle/>
          <a:p>
            <a:pPr marL="469265" indent="-456565">
              <a:lnSpc>
                <a:spcPct val="100000"/>
              </a:lnSpc>
              <a:spcBef>
                <a:spcPts val="1170"/>
              </a:spcBef>
              <a:buSzPct val="89285"/>
              <a:buFont typeface="Wingdings"/>
              <a:buChar char=""/>
              <a:tabLst>
                <a:tab pos="469265" algn="l"/>
              </a:tabLst>
            </a:pPr>
            <a:r>
              <a:rPr dirty="0" sz="2800" spc="-40">
                <a:solidFill>
                  <a:srgbClr val="40458B"/>
                </a:solidFill>
                <a:latin typeface="黑体"/>
                <a:cs typeface="黑体"/>
              </a:rPr>
              <a:t>数据前瞻失败时的处理</a:t>
            </a:r>
            <a:endParaRPr sz="2800">
              <a:latin typeface="黑体"/>
              <a:cs typeface="黑体"/>
            </a:endParaRPr>
          </a:p>
          <a:p>
            <a:pPr lvl="1" marL="754380" indent="-457200">
              <a:lnSpc>
                <a:spcPct val="100000"/>
              </a:lnSpc>
              <a:spcBef>
                <a:spcPts val="920"/>
              </a:spcBef>
              <a:buClr>
                <a:srgbClr val="4668F5"/>
              </a:buClr>
              <a:buSzPct val="60416"/>
              <a:buFont typeface="Wingdings"/>
              <a:buChar char=""/>
              <a:tabLst>
                <a:tab pos="754380" algn="l"/>
              </a:tabLst>
            </a:pPr>
            <a:r>
              <a:rPr dirty="0" sz="2400" spc="-20" b="1">
                <a:latin typeface="宋体"/>
                <a:cs typeface="宋体"/>
              </a:rPr>
              <a:t>仅</a:t>
            </a:r>
            <a:r>
              <a:rPr dirty="0" sz="2400" spc="-10" b="1">
                <a:solidFill>
                  <a:srgbClr val="6600FF"/>
                </a:solidFill>
                <a:latin typeface="Times New Roman"/>
                <a:cs typeface="Times New Roman"/>
              </a:rPr>
              <a:t>load</a:t>
            </a:r>
            <a:r>
              <a:rPr dirty="0" sz="2400" spc="-20" b="1">
                <a:latin typeface="宋体"/>
                <a:cs typeface="宋体"/>
              </a:rPr>
              <a:t>指令被前瞻执行：由检测指令重新执行</a:t>
            </a:r>
            <a:r>
              <a:rPr dirty="0" sz="2400" spc="-10" b="1">
                <a:solidFill>
                  <a:srgbClr val="6600FF"/>
                </a:solidFill>
                <a:latin typeface="Times New Roman"/>
                <a:cs typeface="Times New Roman"/>
              </a:rPr>
              <a:t>load</a:t>
            </a:r>
            <a:r>
              <a:rPr dirty="0" sz="2400" spc="-30" b="1">
                <a:latin typeface="宋体"/>
                <a:cs typeface="宋体"/>
              </a:rPr>
              <a:t>指令即可</a:t>
            </a:r>
            <a:endParaRPr sz="2400">
              <a:latin typeface="宋体"/>
              <a:cs typeface="宋体"/>
            </a:endParaRPr>
          </a:p>
          <a:p>
            <a:pPr lvl="1" marL="754380" indent="-457200">
              <a:lnSpc>
                <a:spcPct val="100000"/>
              </a:lnSpc>
              <a:spcBef>
                <a:spcPts val="860"/>
              </a:spcBef>
              <a:buClr>
                <a:srgbClr val="4668F5"/>
              </a:buClr>
              <a:buSzPct val="60416"/>
              <a:buFont typeface="Wingdings"/>
              <a:buChar char=""/>
              <a:tabLst>
                <a:tab pos="754380" algn="l"/>
              </a:tabLst>
            </a:pPr>
            <a:r>
              <a:rPr dirty="0" sz="2400" spc="-20" b="1">
                <a:latin typeface="宋体"/>
                <a:cs typeface="宋体"/>
              </a:rPr>
              <a:t>数据相关于</a:t>
            </a:r>
            <a:r>
              <a:rPr dirty="0" sz="2400" spc="-10" b="1">
                <a:solidFill>
                  <a:srgbClr val="6600FF"/>
                </a:solidFill>
                <a:latin typeface="Times New Roman"/>
                <a:cs typeface="Times New Roman"/>
              </a:rPr>
              <a:t>load</a:t>
            </a:r>
            <a:r>
              <a:rPr dirty="0" sz="2400" spc="-25" b="1">
                <a:latin typeface="宋体"/>
                <a:cs typeface="宋体"/>
              </a:rPr>
              <a:t>的其他指令也被前瞻执行：需要补偿代码</a:t>
            </a:r>
            <a:endParaRPr sz="2400">
              <a:latin typeface="宋体"/>
              <a:cs typeface="宋体"/>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79/89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324104" y="777941"/>
            <a:ext cx="11502390" cy="4493895"/>
          </a:xfrm>
          <a:prstGeom prst="rect">
            <a:avLst/>
          </a:prstGeom>
        </p:spPr>
        <p:txBody>
          <a:bodyPr wrap="square" lIns="0" tIns="156845" rIns="0" bIns="0" rtlCol="0" vert="horz">
            <a:spAutoFit/>
          </a:bodyPr>
          <a:lstStyle/>
          <a:p>
            <a:pPr marL="467995" indent="-455295">
              <a:lnSpc>
                <a:spcPct val="100000"/>
              </a:lnSpc>
              <a:spcBef>
                <a:spcPts val="1235"/>
              </a:spcBef>
              <a:buClr>
                <a:srgbClr val="40458B"/>
              </a:buClr>
              <a:buSzPct val="89285"/>
              <a:buFont typeface="Wingdings"/>
              <a:buChar char=""/>
              <a:tabLst>
                <a:tab pos="467995" algn="l"/>
              </a:tabLst>
            </a:pPr>
            <a:r>
              <a:rPr dirty="0" sz="2800" spc="-40">
                <a:solidFill>
                  <a:srgbClr val="0000CC"/>
                </a:solidFill>
                <a:latin typeface="黑体"/>
                <a:cs typeface="黑体"/>
              </a:rPr>
              <a:t>全局指令调度技术已经能够很好地处理由分支指令引起的控制相关</a:t>
            </a:r>
            <a:endParaRPr sz="2800">
              <a:latin typeface="黑体"/>
              <a:cs typeface="黑体"/>
            </a:endParaRPr>
          </a:p>
          <a:p>
            <a:pPr lvl="1" marL="926465" indent="-278765">
              <a:lnSpc>
                <a:spcPct val="100000"/>
              </a:lnSpc>
              <a:spcBef>
                <a:spcPts val="825"/>
              </a:spcBef>
              <a:buClr>
                <a:srgbClr val="4668F5"/>
              </a:buClr>
              <a:buSzPct val="60000"/>
              <a:buFont typeface="Wingdings"/>
              <a:buChar char=""/>
              <a:tabLst>
                <a:tab pos="926465" algn="l"/>
              </a:tabLst>
            </a:pPr>
            <a:r>
              <a:rPr dirty="0" sz="2000" spc="-30" b="1">
                <a:solidFill>
                  <a:srgbClr val="FF5CFF"/>
                </a:solidFill>
                <a:latin typeface="宋体"/>
                <a:cs typeface="宋体"/>
              </a:rPr>
              <a:t>例如调度其他指令跨越那些比较容易预测的分支指令——进行前瞻执行</a:t>
            </a:r>
            <a:endParaRPr sz="2000">
              <a:latin typeface="宋体"/>
              <a:cs typeface="宋体"/>
            </a:endParaRPr>
          </a:p>
          <a:p>
            <a:pPr lvl="1" marL="926465" indent="-278765">
              <a:lnSpc>
                <a:spcPct val="100000"/>
              </a:lnSpc>
              <a:spcBef>
                <a:spcPts val="720"/>
              </a:spcBef>
              <a:buClr>
                <a:srgbClr val="4668F5"/>
              </a:buClr>
              <a:buSzPct val="60000"/>
              <a:buFont typeface="Wingdings"/>
              <a:buChar char=""/>
              <a:tabLst>
                <a:tab pos="926465" algn="l"/>
              </a:tabLst>
            </a:pPr>
            <a:r>
              <a:rPr dirty="0" sz="2000" spc="-10" b="1">
                <a:solidFill>
                  <a:srgbClr val="FF5CFF"/>
                </a:solidFill>
                <a:latin typeface="宋体"/>
                <a:cs typeface="宋体"/>
              </a:rPr>
              <a:t>例如通过</a:t>
            </a:r>
            <a:r>
              <a:rPr dirty="0" sz="2000" spc="-10" b="1">
                <a:solidFill>
                  <a:srgbClr val="FF5CFF"/>
                </a:solidFill>
                <a:latin typeface="黑体"/>
                <a:cs typeface="黑体"/>
              </a:rPr>
              <a:t>if</a:t>
            </a:r>
            <a:r>
              <a:rPr dirty="0" sz="2000" spc="-25" b="1">
                <a:solidFill>
                  <a:srgbClr val="FF5CFF"/>
                </a:solidFill>
                <a:latin typeface="宋体"/>
                <a:cs typeface="宋体"/>
              </a:rPr>
              <a:t>转换删除那些不容易预测的分支指令——谓词执行</a:t>
            </a:r>
            <a:endParaRPr sz="2000">
              <a:latin typeface="宋体"/>
              <a:cs typeface="宋体"/>
            </a:endParaRPr>
          </a:p>
          <a:p>
            <a:pPr marL="467995" marR="6985" indent="-455930">
              <a:lnSpc>
                <a:spcPct val="110000"/>
              </a:lnSpc>
              <a:spcBef>
                <a:spcPts val="570"/>
              </a:spcBef>
              <a:buClr>
                <a:srgbClr val="40458B"/>
              </a:buClr>
              <a:buSzPct val="89285"/>
              <a:buFont typeface="Wingdings"/>
              <a:buChar char=""/>
              <a:tabLst>
                <a:tab pos="467995" algn="l"/>
              </a:tabLst>
            </a:pPr>
            <a:r>
              <a:rPr dirty="0" sz="2800" spc="-35">
                <a:solidFill>
                  <a:srgbClr val="0000CC"/>
                </a:solidFill>
                <a:latin typeface="黑体"/>
                <a:cs typeface="黑体"/>
              </a:rPr>
              <a:t>但上述情况下，指令间的</a:t>
            </a:r>
            <a:r>
              <a:rPr dirty="0" sz="2800" spc="-35">
                <a:solidFill>
                  <a:srgbClr val="FF0000"/>
                </a:solidFill>
                <a:latin typeface="黑体"/>
                <a:cs typeface="黑体"/>
              </a:rPr>
              <a:t>数据相关</a:t>
            </a:r>
            <a:r>
              <a:rPr dirty="0" sz="2800" spc="-40">
                <a:solidFill>
                  <a:srgbClr val="0000CC"/>
                </a:solidFill>
                <a:latin typeface="黑体"/>
                <a:cs typeface="黑体"/>
              </a:rPr>
              <a:t>对指令级并行开发的限制作用反而越来越大</a:t>
            </a:r>
            <a:endParaRPr sz="2800">
              <a:latin typeface="黑体"/>
              <a:cs typeface="黑体"/>
            </a:endParaRPr>
          </a:p>
          <a:p>
            <a:pPr marL="499745" indent="-457200">
              <a:lnSpc>
                <a:spcPct val="100000"/>
              </a:lnSpc>
              <a:spcBef>
                <a:spcPts val="2310"/>
              </a:spcBef>
              <a:buClr>
                <a:srgbClr val="40458B"/>
              </a:buClr>
              <a:buSzPct val="89285"/>
              <a:buFont typeface="Wingdings"/>
              <a:buChar char=""/>
              <a:tabLst>
                <a:tab pos="499745" algn="l"/>
              </a:tabLst>
            </a:pPr>
            <a:r>
              <a:rPr dirty="0" sz="2800" spc="-40">
                <a:solidFill>
                  <a:srgbClr val="0000CC"/>
                </a:solidFill>
                <a:latin typeface="黑体"/>
                <a:cs typeface="黑体"/>
              </a:rPr>
              <a:t>面向循环结构，进一步挖掘其存在的更多并行性</a:t>
            </a:r>
            <a:endParaRPr sz="2800">
              <a:latin typeface="黑体"/>
              <a:cs typeface="黑体"/>
            </a:endParaRPr>
          </a:p>
          <a:p>
            <a:pPr lvl="1" marL="1074420" marR="5080" indent="-457834">
              <a:lnSpc>
                <a:spcPct val="110100"/>
              </a:lnSpc>
              <a:spcBef>
                <a:spcPts val="625"/>
              </a:spcBef>
              <a:buClr>
                <a:srgbClr val="4668F5"/>
              </a:buClr>
              <a:buSzPct val="60416"/>
              <a:buFont typeface="Wingdings"/>
              <a:buChar char=""/>
              <a:tabLst>
                <a:tab pos="1074420" algn="l"/>
              </a:tabLst>
            </a:pPr>
            <a:r>
              <a:rPr dirty="0" sz="2400" spc="-20" b="1">
                <a:solidFill>
                  <a:srgbClr val="FF5CFF"/>
                </a:solidFill>
                <a:latin typeface="黑体"/>
                <a:cs typeface="黑体"/>
              </a:rPr>
              <a:t>编译过程中（中间代码或目标代码）</a:t>
            </a:r>
            <a:r>
              <a:rPr dirty="0" sz="2400" spc="-25" b="1">
                <a:solidFill>
                  <a:srgbClr val="FF5CFF"/>
                </a:solidFill>
                <a:latin typeface="黑体"/>
                <a:cs typeface="黑体"/>
              </a:rPr>
              <a:t>识别循环结构中的相关性要难于在源代码过程中分析数据相关性</a:t>
            </a:r>
            <a:endParaRPr sz="2400">
              <a:latin typeface="黑体"/>
              <a:cs typeface="黑体"/>
            </a:endParaRPr>
          </a:p>
          <a:p>
            <a:pPr lvl="1" marL="1074420" indent="-457200">
              <a:lnSpc>
                <a:spcPct val="100000"/>
              </a:lnSpc>
              <a:spcBef>
                <a:spcPts val="865"/>
              </a:spcBef>
              <a:buClr>
                <a:srgbClr val="4668F5"/>
              </a:buClr>
              <a:buSzPct val="60416"/>
              <a:buFont typeface="Wingdings"/>
              <a:buChar char=""/>
              <a:tabLst>
                <a:tab pos="1074420" algn="l"/>
              </a:tabLst>
            </a:pPr>
            <a:r>
              <a:rPr dirty="0" sz="2400" spc="-25" b="1">
                <a:solidFill>
                  <a:srgbClr val="FF5CFF"/>
                </a:solidFill>
                <a:latin typeface="黑体"/>
                <a:cs typeface="黑体"/>
              </a:rPr>
              <a:t>本节针对源代码进行分析循环结构中的相关性</a:t>
            </a:r>
            <a:endParaRPr sz="2400">
              <a:latin typeface="黑体"/>
              <a:cs typeface="黑体"/>
            </a:endParaRPr>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tabLst>
                <a:tab pos="758825" algn="l"/>
                <a:tab pos="10788015" algn="l"/>
              </a:tabLst>
            </a:pPr>
            <a:r>
              <a:rPr dirty="0">
                <a:solidFill>
                  <a:srgbClr val="0000CC"/>
                </a:solidFill>
              </a:rPr>
              <a:t>	6.5</a:t>
            </a:r>
            <a:r>
              <a:rPr dirty="0" spc="-5">
                <a:solidFill>
                  <a:srgbClr val="0000CC"/>
                </a:solidFill>
              </a:rPr>
              <a:t> </a:t>
            </a:r>
            <a:r>
              <a:rPr dirty="0">
                <a:solidFill>
                  <a:srgbClr val="0000CC"/>
                </a:solidFill>
              </a:rPr>
              <a:t>开发更多的</a:t>
            </a:r>
            <a:r>
              <a:rPr dirty="0" spc="-15">
                <a:solidFill>
                  <a:srgbClr val="0000CC"/>
                </a:solidFill>
              </a:rPr>
              <a:t>指</a:t>
            </a:r>
            <a:r>
              <a:rPr dirty="0">
                <a:solidFill>
                  <a:srgbClr val="0000CC"/>
                </a:solidFill>
              </a:rPr>
              <a:t>令级</a:t>
            </a:r>
            <a:r>
              <a:rPr dirty="0" spc="-15">
                <a:solidFill>
                  <a:srgbClr val="0000CC"/>
                </a:solidFill>
              </a:rPr>
              <a:t>并</a:t>
            </a:r>
            <a:r>
              <a:rPr dirty="0" spc="-50">
                <a:solidFill>
                  <a:srgbClr val="0000CC"/>
                </a:solidFill>
              </a:rPr>
              <a:t>行</a:t>
            </a:r>
            <a:r>
              <a:rPr dirty="0">
                <a:solidFill>
                  <a:srgbClr val="0000CC"/>
                </a:solidFill>
              </a:rPr>
              <a:t>	</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80/89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tabLst>
                <a:tab pos="556260" algn="l"/>
                <a:tab pos="10788015" algn="l"/>
              </a:tabLst>
            </a:pPr>
            <a:r>
              <a:rPr dirty="0">
                <a:solidFill>
                  <a:srgbClr val="0000CC"/>
                </a:solidFill>
              </a:rPr>
              <a:t>	6.5.1</a:t>
            </a:r>
            <a:r>
              <a:rPr dirty="0" spc="-5">
                <a:solidFill>
                  <a:srgbClr val="0000CC"/>
                </a:solidFill>
              </a:rPr>
              <a:t> </a:t>
            </a:r>
            <a:r>
              <a:rPr dirty="0">
                <a:solidFill>
                  <a:srgbClr val="0000CC"/>
                </a:solidFill>
              </a:rPr>
              <a:t>挖掘更多</a:t>
            </a:r>
            <a:r>
              <a:rPr dirty="0" spc="-15">
                <a:solidFill>
                  <a:srgbClr val="0000CC"/>
                </a:solidFill>
              </a:rPr>
              <a:t>的</a:t>
            </a:r>
            <a:r>
              <a:rPr dirty="0">
                <a:solidFill>
                  <a:srgbClr val="0000CC"/>
                </a:solidFill>
              </a:rPr>
              <a:t>指令</a:t>
            </a:r>
            <a:r>
              <a:rPr dirty="0" spc="-15">
                <a:solidFill>
                  <a:srgbClr val="0000CC"/>
                </a:solidFill>
              </a:rPr>
              <a:t>级</a:t>
            </a:r>
            <a:r>
              <a:rPr dirty="0">
                <a:solidFill>
                  <a:srgbClr val="0000CC"/>
                </a:solidFill>
              </a:rPr>
              <a:t>并</a:t>
            </a:r>
            <a:r>
              <a:rPr dirty="0" spc="-50">
                <a:solidFill>
                  <a:srgbClr val="0000CC"/>
                </a:solidFill>
              </a:rPr>
              <a:t>行</a:t>
            </a:r>
            <a:r>
              <a:rPr dirty="0">
                <a:solidFill>
                  <a:srgbClr val="0000CC"/>
                </a:solidFill>
              </a:rPr>
              <a:t>	</a:t>
            </a:r>
          </a:p>
        </p:txBody>
      </p:sp>
      <p:sp>
        <p:nvSpPr>
          <p:cNvPr id="9" name="object 9" descr=""/>
          <p:cNvSpPr txBox="1"/>
          <p:nvPr/>
        </p:nvSpPr>
        <p:spPr>
          <a:xfrm>
            <a:off x="395427" y="1271624"/>
            <a:ext cx="11499215" cy="4710430"/>
          </a:xfrm>
          <a:prstGeom prst="rect">
            <a:avLst/>
          </a:prstGeom>
        </p:spPr>
        <p:txBody>
          <a:bodyPr wrap="square" lIns="0" tIns="147320" rIns="0" bIns="0" rtlCol="0" vert="horz">
            <a:spAutoFit/>
          </a:bodyPr>
          <a:lstStyle/>
          <a:p>
            <a:pPr marL="469265" indent="-456565">
              <a:lnSpc>
                <a:spcPct val="100000"/>
              </a:lnSpc>
              <a:spcBef>
                <a:spcPts val="1160"/>
              </a:spcBef>
              <a:buClr>
                <a:srgbClr val="40458B"/>
              </a:buClr>
              <a:buSzPct val="89285"/>
              <a:buFont typeface="Wingdings"/>
              <a:buChar char=""/>
              <a:tabLst>
                <a:tab pos="469265" algn="l"/>
              </a:tabLst>
            </a:pPr>
            <a:r>
              <a:rPr dirty="0" sz="2800" spc="-40">
                <a:solidFill>
                  <a:srgbClr val="0000CC"/>
                </a:solidFill>
                <a:latin typeface="黑体"/>
                <a:cs typeface="黑体"/>
              </a:rPr>
              <a:t>面向循环结构，进一步挖掘其存在的更多并行性，一般有两方面的制约</a:t>
            </a:r>
            <a:endParaRPr sz="2800">
              <a:latin typeface="黑体"/>
              <a:cs typeface="黑体"/>
            </a:endParaRPr>
          </a:p>
          <a:p>
            <a:pPr lvl="1" marL="1044575" indent="-457834">
              <a:lnSpc>
                <a:spcPct val="100000"/>
              </a:lnSpc>
              <a:spcBef>
                <a:spcPts val="915"/>
              </a:spcBef>
              <a:buClr>
                <a:srgbClr val="4668F5"/>
              </a:buClr>
              <a:buSzPct val="60416"/>
              <a:buFont typeface="Wingdings"/>
              <a:buChar char=""/>
              <a:tabLst>
                <a:tab pos="1044575" algn="l"/>
              </a:tabLst>
            </a:pPr>
            <a:r>
              <a:rPr dirty="0" sz="2400" spc="-30" b="1">
                <a:solidFill>
                  <a:srgbClr val="FF5CFF"/>
                </a:solidFill>
                <a:latin typeface="黑体"/>
                <a:cs typeface="黑体"/>
              </a:rPr>
              <a:t>同一循环迭代内部的数据相关</a:t>
            </a:r>
            <a:endParaRPr sz="2400">
              <a:latin typeface="黑体"/>
              <a:cs typeface="黑体"/>
            </a:endParaRPr>
          </a:p>
          <a:p>
            <a:pPr lvl="2" marL="1369060" indent="-381000">
              <a:lnSpc>
                <a:spcPct val="100000"/>
              </a:lnSpc>
              <a:spcBef>
                <a:spcPts val="775"/>
              </a:spcBef>
              <a:buClr>
                <a:srgbClr val="FF09FF"/>
              </a:buClr>
              <a:buSzPct val="65000"/>
              <a:buFont typeface="Wingdings"/>
              <a:buChar char=""/>
              <a:tabLst>
                <a:tab pos="1369060" algn="l"/>
              </a:tabLst>
            </a:pPr>
            <a:r>
              <a:rPr dirty="0" sz="2000" spc="-15" b="1">
                <a:solidFill>
                  <a:srgbClr val="006FC0"/>
                </a:solidFill>
                <a:latin typeface="宋体"/>
                <a:cs typeface="宋体"/>
              </a:rPr>
              <a:t>解决方法：循环展开技术</a:t>
            </a:r>
            <a:endParaRPr sz="2000">
              <a:latin typeface="宋体"/>
              <a:cs typeface="宋体"/>
            </a:endParaRPr>
          </a:p>
          <a:p>
            <a:pPr lvl="1" marL="1044575" indent="-457834">
              <a:lnSpc>
                <a:spcPct val="100000"/>
              </a:lnSpc>
              <a:spcBef>
                <a:spcPts val="810"/>
              </a:spcBef>
              <a:buClr>
                <a:srgbClr val="4668F5"/>
              </a:buClr>
              <a:buSzPct val="60416"/>
              <a:buFont typeface="Wingdings"/>
              <a:buChar char=""/>
              <a:tabLst>
                <a:tab pos="1044575" algn="l"/>
              </a:tabLst>
            </a:pPr>
            <a:r>
              <a:rPr dirty="0" sz="2400" spc="-25" b="1">
                <a:solidFill>
                  <a:srgbClr val="FF5CFF"/>
                </a:solidFill>
                <a:latin typeface="黑体"/>
                <a:cs typeface="黑体"/>
              </a:rPr>
              <a:t>不同循环迭代内的指令间的相关，限制了循环展开的效果</a:t>
            </a:r>
            <a:endParaRPr sz="2400">
              <a:latin typeface="黑体"/>
              <a:cs typeface="黑体"/>
            </a:endParaRPr>
          </a:p>
          <a:p>
            <a:pPr lvl="2" marL="1369060" indent="-381000">
              <a:lnSpc>
                <a:spcPct val="100000"/>
              </a:lnSpc>
              <a:spcBef>
                <a:spcPts val="775"/>
              </a:spcBef>
              <a:buClr>
                <a:srgbClr val="FF09FF"/>
              </a:buClr>
              <a:buSzPct val="65000"/>
              <a:buFont typeface="Wingdings"/>
              <a:buChar char=""/>
              <a:tabLst>
                <a:tab pos="1369060" algn="l"/>
              </a:tabLst>
            </a:pPr>
            <a:r>
              <a:rPr dirty="0" sz="2000" spc="-20" b="1">
                <a:solidFill>
                  <a:srgbClr val="006FC0"/>
                </a:solidFill>
                <a:latin typeface="宋体"/>
                <a:cs typeface="宋体"/>
              </a:rPr>
              <a:t>解决方法：跨越分支条件的调度方法</a:t>
            </a:r>
            <a:endParaRPr sz="2000">
              <a:latin typeface="宋体"/>
              <a:cs typeface="宋体"/>
            </a:endParaRPr>
          </a:p>
          <a:p>
            <a:pPr lvl="2">
              <a:lnSpc>
                <a:spcPct val="100000"/>
              </a:lnSpc>
              <a:spcBef>
                <a:spcPts val="1385"/>
              </a:spcBef>
              <a:buClr>
                <a:srgbClr val="FF09FF"/>
              </a:buClr>
              <a:buFont typeface="Wingdings"/>
              <a:buChar char=""/>
            </a:pPr>
            <a:endParaRPr sz="2000">
              <a:latin typeface="宋体"/>
              <a:cs typeface="宋体"/>
            </a:endParaRPr>
          </a:p>
          <a:p>
            <a:pPr marL="502920" indent="-457200">
              <a:lnSpc>
                <a:spcPct val="100000"/>
              </a:lnSpc>
              <a:buClr>
                <a:srgbClr val="40458B"/>
              </a:buClr>
              <a:buSzPct val="89285"/>
              <a:buFont typeface="Wingdings"/>
              <a:buChar char=""/>
              <a:tabLst>
                <a:tab pos="502920" algn="l"/>
              </a:tabLst>
            </a:pPr>
            <a:r>
              <a:rPr dirty="0" sz="2800" spc="-40">
                <a:solidFill>
                  <a:srgbClr val="0000CC"/>
                </a:solidFill>
                <a:latin typeface="黑体"/>
                <a:cs typeface="黑体"/>
              </a:rPr>
              <a:t>面向循环结构，处理上述两种相关的优化编译技术</a:t>
            </a:r>
            <a:endParaRPr sz="2800">
              <a:latin typeface="黑体"/>
              <a:cs typeface="黑体"/>
            </a:endParaRPr>
          </a:p>
          <a:p>
            <a:pPr lvl="1" marL="1077595" indent="-457200">
              <a:lnSpc>
                <a:spcPct val="100000"/>
              </a:lnSpc>
              <a:spcBef>
                <a:spcPts val="915"/>
              </a:spcBef>
              <a:buClr>
                <a:srgbClr val="4668F5"/>
              </a:buClr>
              <a:buSzPct val="60416"/>
              <a:buFont typeface="Wingdings"/>
              <a:buChar char=""/>
              <a:tabLst>
                <a:tab pos="1077595" algn="l"/>
              </a:tabLst>
            </a:pPr>
            <a:r>
              <a:rPr dirty="0" sz="2400" spc="-10" b="1">
                <a:solidFill>
                  <a:srgbClr val="FF5CFF"/>
                </a:solidFill>
                <a:latin typeface="黑体"/>
                <a:cs typeface="黑体"/>
              </a:rPr>
              <a:t>1</a:t>
            </a:r>
            <a:r>
              <a:rPr dirty="0" sz="2400" spc="-30" b="1">
                <a:solidFill>
                  <a:srgbClr val="FF5CFF"/>
                </a:solidFill>
                <a:latin typeface="黑体"/>
                <a:cs typeface="黑体"/>
              </a:rPr>
              <a:t>、循环携带相关</a:t>
            </a:r>
            <a:endParaRPr sz="2400">
              <a:latin typeface="黑体"/>
              <a:cs typeface="黑体"/>
            </a:endParaRPr>
          </a:p>
          <a:p>
            <a:pPr lvl="1" marL="1077595" indent="-457200">
              <a:lnSpc>
                <a:spcPct val="100000"/>
              </a:lnSpc>
              <a:spcBef>
                <a:spcPts val="865"/>
              </a:spcBef>
              <a:buClr>
                <a:srgbClr val="4668F5"/>
              </a:buClr>
              <a:buSzPct val="60416"/>
              <a:buFont typeface="Wingdings"/>
              <a:buChar char=""/>
              <a:tabLst>
                <a:tab pos="1077595" algn="l"/>
              </a:tabLst>
            </a:pPr>
            <a:r>
              <a:rPr dirty="0" sz="2400" spc="-20" b="1">
                <a:solidFill>
                  <a:srgbClr val="FF5CFF"/>
                </a:solidFill>
                <a:latin typeface="黑体"/>
                <a:cs typeface="黑体"/>
              </a:rPr>
              <a:t>2</a:t>
            </a:r>
            <a:r>
              <a:rPr dirty="0" sz="2400" spc="-25" b="1">
                <a:solidFill>
                  <a:srgbClr val="FF5CFF"/>
                </a:solidFill>
                <a:latin typeface="黑体"/>
                <a:cs typeface="黑体"/>
              </a:rPr>
              <a:t>、存储器别名相关</a:t>
            </a:r>
            <a:endParaRPr sz="2400">
              <a:latin typeface="黑体"/>
              <a:cs typeface="黑体"/>
            </a:endParaRPr>
          </a:p>
          <a:p>
            <a:pPr lvl="1" marL="1077595" indent="-457200">
              <a:lnSpc>
                <a:spcPct val="100000"/>
              </a:lnSpc>
              <a:spcBef>
                <a:spcPts val="865"/>
              </a:spcBef>
              <a:buClr>
                <a:srgbClr val="4668F5"/>
              </a:buClr>
              <a:buSzPct val="60416"/>
              <a:buFont typeface="Wingdings"/>
              <a:buChar char=""/>
              <a:tabLst>
                <a:tab pos="1077595" algn="l"/>
              </a:tabLst>
            </a:pPr>
            <a:r>
              <a:rPr dirty="0" sz="2400" spc="-20" b="1">
                <a:solidFill>
                  <a:srgbClr val="FF5CFF"/>
                </a:solidFill>
                <a:latin typeface="黑体"/>
                <a:cs typeface="黑体"/>
              </a:rPr>
              <a:t>3</a:t>
            </a:r>
            <a:r>
              <a:rPr dirty="0" sz="2400" spc="-25" b="1">
                <a:solidFill>
                  <a:srgbClr val="FF5CFF"/>
                </a:solidFill>
                <a:latin typeface="黑体"/>
                <a:cs typeface="黑体"/>
              </a:rPr>
              <a:t>、数据相关分析</a:t>
            </a:r>
            <a:endParaRPr sz="2400">
              <a:latin typeface="黑体"/>
              <a:cs typeface="黑体"/>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81/89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270763" y="882802"/>
            <a:ext cx="11417300" cy="2562860"/>
          </a:xfrm>
          <a:prstGeom prst="rect">
            <a:avLst/>
          </a:prstGeom>
        </p:spPr>
        <p:txBody>
          <a:bodyPr wrap="square" lIns="0" tIns="140335" rIns="0" bIns="0" rtlCol="0" vert="horz">
            <a:spAutoFit/>
          </a:bodyPr>
          <a:lstStyle/>
          <a:p>
            <a:pPr marL="12700">
              <a:lnSpc>
                <a:spcPct val="100000"/>
              </a:lnSpc>
              <a:spcBef>
                <a:spcPts val="1105"/>
              </a:spcBef>
            </a:pPr>
            <a:r>
              <a:rPr dirty="0" sz="2800" spc="-10">
                <a:solidFill>
                  <a:srgbClr val="E14B04"/>
                </a:solidFill>
                <a:latin typeface="Tahoma"/>
                <a:cs typeface="Tahoma"/>
              </a:rPr>
              <a:t>1</a:t>
            </a:r>
            <a:r>
              <a:rPr dirty="0" sz="2800" spc="-35">
                <a:solidFill>
                  <a:srgbClr val="E14B04"/>
                </a:solidFill>
                <a:latin typeface="黑体"/>
                <a:cs typeface="黑体"/>
              </a:rPr>
              <a:t>、循环携带相关</a:t>
            </a:r>
            <a:endParaRPr sz="2800">
              <a:latin typeface="黑体"/>
              <a:cs typeface="黑体"/>
            </a:endParaRPr>
          </a:p>
          <a:p>
            <a:pPr marL="1097915" marR="5080" indent="-455930">
              <a:lnSpc>
                <a:spcPct val="110100"/>
              </a:lnSpc>
              <a:spcBef>
                <a:spcPts val="670"/>
              </a:spcBef>
              <a:buClr>
                <a:srgbClr val="40458B"/>
              </a:buClr>
              <a:buSzPct val="89285"/>
              <a:buFont typeface="Wingdings"/>
              <a:buChar char=""/>
              <a:tabLst>
                <a:tab pos="1097915" algn="l"/>
              </a:tabLst>
            </a:pPr>
            <a:r>
              <a:rPr dirty="0" sz="2800" spc="-35">
                <a:solidFill>
                  <a:srgbClr val="FF0000"/>
                </a:solidFill>
                <a:latin typeface="黑体"/>
                <a:cs typeface="黑体"/>
              </a:rPr>
              <a:t>循环携带相关</a:t>
            </a:r>
            <a:r>
              <a:rPr dirty="0" sz="2800" spc="-40">
                <a:solidFill>
                  <a:srgbClr val="0000CC"/>
                </a:solidFill>
                <a:latin typeface="黑体"/>
                <a:cs typeface="黑体"/>
              </a:rPr>
              <a:t>是指一个循环的某个迭代中的指令与其他迭代中的指令之间的数据相关。</a:t>
            </a:r>
            <a:endParaRPr sz="2800">
              <a:latin typeface="黑体"/>
              <a:cs typeface="黑体"/>
            </a:endParaRPr>
          </a:p>
          <a:p>
            <a:pPr marL="935990">
              <a:lnSpc>
                <a:spcPct val="100000"/>
              </a:lnSpc>
              <a:spcBef>
                <a:spcPts val="915"/>
              </a:spcBef>
            </a:pPr>
            <a:r>
              <a:rPr dirty="0" sz="2400" spc="-20" b="1">
                <a:solidFill>
                  <a:srgbClr val="E14B04"/>
                </a:solidFill>
                <a:latin typeface="宋体"/>
                <a:cs typeface="宋体"/>
              </a:rPr>
              <a:t>例</a:t>
            </a:r>
            <a:r>
              <a:rPr dirty="0" sz="2400" b="1">
                <a:solidFill>
                  <a:srgbClr val="E14B04"/>
                </a:solidFill>
                <a:latin typeface="宋体"/>
                <a:cs typeface="宋体"/>
              </a:rPr>
              <a:t>6.7</a:t>
            </a:r>
            <a:r>
              <a:rPr dirty="0" sz="2400" spc="5" b="1">
                <a:solidFill>
                  <a:srgbClr val="E14B04"/>
                </a:solidFill>
                <a:latin typeface="宋体"/>
                <a:cs typeface="宋体"/>
              </a:rPr>
              <a:t> </a:t>
            </a:r>
            <a:r>
              <a:rPr dirty="0" sz="2400" spc="-25" b="1">
                <a:latin typeface="宋体"/>
                <a:cs typeface="宋体"/>
              </a:rPr>
              <a:t>在下面的循环中，</a:t>
            </a:r>
            <a:endParaRPr sz="2400">
              <a:latin typeface="宋体"/>
              <a:cs typeface="宋体"/>
            </a:endParaRPr>
          </a:p>
          <a:p>
            <a:pPr marL="1391920">
              <a:lnSpc>
                <a:spcPct val="100000"/>
              </a:lnSpc>
              <a:spcBef>
                <a:spcPts val="865"/>
              </a:spcBef>
            </a:pPr>
            <a:r>
              <a:rPr dirty="0" sz="2400" spc="-10" b="1">
                <a:solidFill>
                  <a:srgbClr val="40458B"/>
                </a:solidFill>
                <a:latin typeface="黑体"/>
                <a:cs typeface="黑体"/>
              </a:rPr>
              <a:t>for（i=1；i&lt;=100；i=i+1）{</a:t>
            </a:r>
            <a:endParaRPr sz="2400">
              <a:latin typeface="黑体"/>
              <a:cs typeface="黑体"/>
            </a:endParaRPr>
          </a:p>
        </p:txBody>
      </p:sp>
      <p:sp>
        <p:nvSpPr>
          <p:cNvPr id="9" name="object 9" descr=""/>
          <p:cNvSpPr txBox="1"/>
          <p:nvPr/>
        </p:nvSpPr>
        <p:spPr>
          <a:xfrm>
            <a:off x="2108961" y="3419982"/>
            <a:ext cx="3717290" cy="976630"/>
          </a:xfrm>
          <a:prstGeom prst="rect">
            <a:avLst/>
          </a:prstGeom>
        </p:spPr>
        <p:txBody>
          <a:bodyPr wrap="square" lIns="0" tIns="122555" rIns="0" bIns="0" rtlCol="0" vert="horz">
            <a:spAutoFit/>
          </a:bodyPr>
          <a:lstStyle/>
          <a:p>
            <a:pPr marL="12700">
              <a:lnSpc>
                <a:spcPct val="100000"/>
              </a:lnSpc>
              <a:spcBef>
                <a:spcPts val="965"/>
              </a:spcBef>
            </a:pPr>
            <a:r>
              <a:rPr dirty="0" sz="2400" b="1">
                <a:solidFill>
                  <a:srgbClr val="40458B"/>
                </a:solidFill>
                <a:latin typeface="黑体"/>
                <a:cs typeface="黑体"/>
              </a:rPr>
              <a:t>A[i+1]</a:t>
            </a:r>
            <a:r>
              <a:rPr dirty="0" sz="2400" spc="-45" b="1">
                <a:solidFill>
                  <a:srgbClr val="40458B"/>
                </a:solidFill>
                <a:latin typeface="黑体"/>
                <a:cs typeface="黑体"/>
              </a:rPr>
              <a:t> </a:t>
            </a:r>
            <a:r>
              <a:rPr dirty="0" sz="2400" b="1">
                <a:solidFill>
                  <a:srgbClr val="40458B"/>
                </a:solidFill>
                <a:latin typeface="黑体"/>
                <a:cs typeface="黑体"/>
              </a:rPr>
              <a:t>=</a:t>
            </a:r>
            <a:r>
              <a:rPr dirty="0" sz="2400" spc="-40" b="1">
                <a:solidFill>
                  <a:srgbClr val="40458B"/>
                </a:solidFill>
                <a:latin typeface="黑体"/>
                <a:cs typeface="黑体"/>
              </a:rPr>
              <a:t> </a:t>
            </a:r>
            <a:r>
              <a:rPr dirty="0" sz="2400" b="1">
                <a:solidFill>
                  <a:srgbClr val="40458B"/>
                </a:solidFill>
                <a:latin typeface="黑体"/>
                <a:cs typeface="黑体"/>
              </a:rPr>
              <a:t>A[i]</a:t>
            </a:r>
            <a:r>
              <a:rPr dirty="0" sz="2400" spc="-45" b="1">
                <a:solidFill>
                  <a:srgbClr val="40458B"/>
                </a:solidFill>
                <a:latin typeface="黑体"/>
                <a:cs typeface="黑体"/>
              </a:rPr>
              <a:t> </a:t>
            </a:r>
            <a:r>
              <a:rPr dirty="0" sz="2400" b="1">
                <a:solidFill>
                  <a:srgbClr val="40458B"/>
                </a:solidFill>
                <a:latin typeface="黑体"/>
                <a:cs typeface="黑体"/>
              </a:rPr>
              <a:t>+</a:t>
            </a:r>
            <a:r>
              <a:rPr dirty="0" sz="2400" spc="-40" b="1">
                <a:solidFill>
                  <a:srgbClr val="40458B"/>
                </a:solidFill>
                <a:latin typeface="黑体"/>
                <a:cs typeface="黑体"/>
              </a:rPr>
              <a:t> </a:t>
            </a:r>
            <a:r>
              <a:rPr dirty="0" sz="2400" spc="-10" b="1">
                <a:solidFill>
                  <a:srgbClr val="40458B"/>
                </a:solidFill>
                <a:latin typeface="黑体"/>
                <a:cs typeface="黑体"/>
              </a:rPr>
              <a:t>C[i]；</a:t>
            </a:r>
            <a:endParaRPr sz="2400">
              <a:latin typeface="黑体"/>
              <a:cs typeface="黑体"/>
            </a:endParaRPr>
          </a:p>
          <a:p>
            <a:pPr marL="12700">
              <a:lnSpc>
                <a:spcPct val="100000"/>
              </a:lnSpc>
              <a:spcBef>
                <a:spcPts val="860"/>
              </a:spcBef>
            </a:pPr>
            <a:r>
              <a:rPr dirty="0" sz="2400" b="1">
                <a:solidFill>
                  <a:srgbClr val="40458B"/>
                </a:solidFill>
                <a:latin typeface="黑体"/>
                <a:cs typeface="黑体"/>
              </a:rPr>
              <a:t>B[i+1]</a:t>
            </a:r>
            <a:r>
              <a:rPr dirty="0" sz="2400" spc="-45" b="1">
                <a:solidFill>
                  <a:srgbClr val="40458B"/>
                </a:solidFill>
                <a:latin typeface="黑体"/>
                <a:cs typeface="黑体"/>
              </a:rPr>
              <a:t> </a:t>
            </a:r>
            <a:r>
              <a:rPr dirty="0" sz="2400" b="1">
                <a:solidFill>
                  <a:srgbClr val="40458B"/>
                </a:solidFill>
                <a:latin typeface="黑体"/>
                <a:cs typeface="黑体"/>
              </a:rPr>
              <a:t>=</a:t>
            </a:r>
            <a:r>
              <a:rPr dirty="0" sz="2400" spc="-40" b="1">
                <a:solidFill>
                  <a:srgbClr val="40458B"/>
                </a:solidFill>
                <a:latin typeface="黑体"/>
                <a:cs typeface="黑体"/>
              </a:rPr>
              <a:t> </a:t>
            </a:r>
            <a:r>
              <a:rPr dirty="0" sz="2400" b="1">
                <a:solidFill>
                  <a:srgbClr val="40458B"/>
                </a:solidFill>
                <a:latin typeface="黑体"/>
                <a:cs typeface="黑体"/>
              </a:rPr>
              <a:t>B[i]</a:t>
            </a:r>
            <a:r>
              <a:rPr dirty="0" sz="2400" spc="-45" b="1">
                <a:solidFill>
                  <a:srgbClr val="40458B"/>
                </a:solidFill>
                <a:latin typeface="黑体"/>
                <a:cs typeface="黑体"/>
              </a:rPr>
              <a:t> </a:t>
            </a:r>
            <a:r>
              <a:rPr dirty="0" sz="2400" b="1">
                <a:solidFill>
                  <a:srgbClr val="40458B"/>
                </a:solidFill>
                <a:latin typeface="黑体"/>
                <a:cs typeface="黑体"/>
              </a:rPr>
              <a:t>+</a:t>
            </a:r>
            <a:r>
              <a:rPr dirty="0" sz="2400" spc="-40" b="1">
                <a:solidFill>
                  <a:srgbClr val="40458B"/>
                </a:solidFill>
                <a:latin typeface="黑体"/>
                <a:cs typeface="黑体"/>
              </a:rPr>
              <a:t> </a:t>
            </a:r>
            <a:r>
              <a:rPr dirty="0" sz="2400" spc="-10" b="1">
                <a:solidFill>
                  <a:srgbClr val="40458B"/>
                </a:solidFill>
                <a:latin typeface="黑体"/>
                <a:cs typeface="黑体"/>
              </a:rPr>
              <a:t>A[i+1]；</a:t>
            </a:r>
            <a:endParaRPr sz="2400">
              <a:latin typeface="黑体"/>
              <a:cs typeface="黑体"/>
            </a:endParaRPr>
          </a:p>
        </p:txBody>
      </p:sp>
      <p:sp>
        <p:nvSpPr>
          <p:cNvPr id="10" name="object 10" descr=""/>
          <p:cNvSpPr txBox="1"/>
          <p:nvPr/>
        </p:nvSpPr>
        <p:spPr>
          <a:xfrm>
            <a:off x="6571868" y="3419982"/>
            <a:ext cx="1357630" cy="976630"/>
          </a:xfrm>
          <a:prstGeom prst="rect">
            <a:avLst/>
          </a:prstGeom>
        </p:spPr>
        <p:txBody>
          <a:bodyPr wrap="square" lIns="0" tIns="122555" rIns="0" bIns="0" rtlCol="0" vert="horz">
            <a:spAutoFit/>
          </a:bodyPr>
          <a:lstStyle/>
          <a:p>
            <a:pPr marL="113030">
              <a:lnSpc>
                <a:spcPct val="100000"/>
              </a:lnSpc>
              <a:spcBef>
                <a:spcPts val="965"/>
              </a:spcBef>
            </a:pPr>
            <a:r>
              <a:rPr dirty="0" sz="2400" b="1">
                <a:latin typeface="黑体"/>
                <a:cs typeface="黑体"/>
              </a:rPr>
              <a:t>/*</a:t>
            </a:r>
            <a:r>
              <a:rPr dirty="0" sz="2400" spc="-30" b="1">
                <a:latin typeface="黑体"/>
                <a:cs typeface="黑体"/>
              </a:rPr>
              <a:t> </a:t>
            </a:r>
            <a:r>
              <a:rPr dirty="0" sz="2400" b="1">
                <a:latin typeface="黑体"/>
                <a:cs typeface="黑体"/>
              </a:rPr>
              <a:t>S1</a:t>
            </a:r>
            <a:r>
              <a:rPr dirty="0" sz="2400" spc="-30" b="1">
                <a:latin typeface="黑体"/>
                <a:cs typeface="黑体"/>
              </a:rPr>
              <a:t> </a:t>
            </a:r>
            <a:r>
              <a:rPr dirty="0" sz="2400" spc="-25" b="1">
                <a:latin typeface="黑体"/>
                <a:cs typeface="黑体"/>
              </a:rPr>
              <a:t>*/</a:t>
            </a:r>
            <a:endParaRPr sz="2400">
              <a:latin typeface="黑体"/>
              <a:cs typeface="黑体"/>
            </a:endParaRPr>
          </a:p>
          <a:p>
            <a:pPr marL="12700">
              <a:lnSpc>
                <a:spcPct val="100000"/>
              </a:lnSpc>
              <a:spcBef>
                <a:spcPts val="860"/>
              </a:spcBef>
            </a:pPr>
            <a:r>
              <a:rPr dirty="0" sz="2400" b="1">
                <a:latin typeface="黑体"/>
                <a:cs typeface="黑体"/>
              </a:rPr>
              <a:t>/*</a:t>
            </a:r>
            <a:r>
              <a:rPr dirty="0" sz="2400" spc="-30" b="1">
                <a:latin typeface="黑体"/>
                <a:cs typeface="黑体"/>
              </a:rPr>
              <a:t> </a:t>
            </a:r>
            <a:r>
              <a:rPr dirty="0" sz="2400" b="1">
                <a:latin typeface="黑体"/>
                <a:cs typeface="黑体"/>
              </a:rPr>
              <a:t>S2</a:t>
            </a:r>
            <a:r>
              <a:rPr dirty="0" sz="2400" spc="-30" b="1">
                <a:latin typeface="黑体"/>
                <a:cs typeface="黑体"/>
              </a:rPr>
              <a:t> </a:t>
            </a:r>
            <a:r>
              <a:rPr dirty="0" sz="2400" spc="-25" b="1">
                <a:latin typeface="黑体"/>
                <a:cs typeface="黑体"/>
              </a:rPr>
              <a:t>*/</a:t>
            </a:r>
            <a:endParaRPr sz="2400">
              <a:latin typeface="黑体"/>
              <a:cs typeface="黑体"/>
            </a:endParaRPr>
          </a:p>
        </p:txBody>
      </p:sp>
      <p:sp>
        <p:nvSpPr>
          <p:cNvPr id="11" name="object 11" descr=""/>
          <p:cNvSpPr txBox="1"/>
          <p:nvPr/>
        </p:nvSpPr>
        <p:spPr>
          <a:xfrm>
            <a:off x="726744" y="4370351"/>
            <a:ext cx="10906760" cy="1379855"/>
          </a:xfrm>
          <a:prstGeom prst="rect">
            <a:avLst/>
          </a:prstGeom>
        </p:spPr>
        <p:txBody>
          <a:bodyPr wrap="square" lIns="0" tIns="122555" rIns="0" bIns="0" rtlCol="0" vert="horz">
            <a:spAutoFit/>
          </a:bodyPr>
          <a:lstStyle/>
          <a:p>
            <a:pPr marL="1089660">
              <a:lnSpc>
                <a:spcPct val="100000"/>
              </a:lnSpc>
              <a:spcBef>
                <a:spcPts val="965"/>
              </a:spcBef>
            </a:pPr>
            <a:r>
              <a:rPr dirty="0" sz="2400" spc="-50" b="1">
                <a:solidFill>
                  <a:srgbClr val="40458B"/>
                </a:solidFill>
                <a:latin typeface="黑体"/>
                <a:cs typeface="黑体"/>
              </a:rPr>
              <a:t>}</a:t>
            </a:r>
            <a:endParaRPr sz="2400">
              <a:latin typeface="黑体"/>
              <a:cs typeface="黑体"/>
            </a:endParaRPr>
          </a:p>
          <a:p>
            <a:pPr marL="12700" marR="5080">
              <a:lnSpc>
                <a:spcPct val="110000"/>
              </a:lnSpc>
              <a:spcBef>
                <a:spcPts val="580"/>
              </a:spcBef>
            </a:pPr>
            <a:r>
              <a:rPr dirty="0" sz="2400" spc="-20" b="1">
                <a:latin typeface="宋体"/>
                <a:cs typeface="宋体"/>
              </a:rPr>
              <a:t>假设数组</a:t>
            </a:r>
            <a:r>
              <a:rPr dirty="0" sz="2400" spc="-20" b="1">
                <a:solidFill>
                  <a:srgbClr val="6600FF"/>
                </a:solidFill>
                <a:latin typeface="宋体"/>
                <a:cs typeface="宋体"/>
              </a:rPr>
              <a:t>A、B</a:t>
            </a:r>
            <a:r>
              <a:rPr dirty="0" sz="2400" spc="-20" b="1">
                <a:latin typeface="宋体"/>
                <a:cs typeface="宋体"/>
              </a:rPr>
              <a:t>和</a:t>
            </a:r>
            <a:r>
              <a:rPr dirty="0" sz="2400" spc="-20" b="1">
                <a:solidFill>
                  <a:srgbClr val="6600FF"/>
                </a:solidFill>
                <a:latin typeface="宋体"/>
                <a:cs typeface="宋体"/>
              </a:rPr>
              <a:t>C</a:t>
            </a:r>
            <a:r>
              <a:rPr dirty="0" sz="2400" spc="-25" b="1">
                <a:latin typeface="宋体"/>
                <a:cs typeface="宋体"/>
              </a:rPr>
              <a:t>中所有元素的存储地址都互不相同，请问语句</a:t>
            </a:r>
            <a:r>
              <a:rPr dirty="0" sz="2400" spc="-20" b="1">
                <a:solidFill>
                  <a:srgbClr val="6600FF"/>
                </a:solidFill>
                <a:latin typeface="宋体"/>
                <a:cs typeface="宋体"/>
              </a:rPr>
              <a:t>S1</a:t>
            </a:r>
            <a:r>
              <a:rPr dirty="0" sz="2400" spc="-20" b="1">
                <a:latin typeface="宋体"/>
                <a:cs typeface="宋体"/>
              </a:rPr>
              <a:t>与</a:t>
            </a:r>
            <a:r>
              <a:rPr dirty="0" sz="2400" spc="-20" b="1">
                <a:solidFill>
                  <a:srgbClr val="6600FF"/>
                </a:solidFill>
                <a:latin typeface="宋体"/>
                <a:cs typeface="宋体"/>
              </a:rPr>
              <a:t>S2</a:t>
            </a:r>
            <a:r>
              <a:rPr dirty="0" sz="2400" spc="-30" b="1">
                <a:latin typeface="宋体"/>
                <a:cs typeface="宋体"/>
              </a:rPr>
              <a:t>之间存在哪</a:t>
            </a:r>
            <a:r>
              <a:rPr dirty="0" sz="2400" spc="-25" b="1">
                <a:latin typeface="宋体"/>
                <a:cs typeface="宋体"/>
              </a:rPr>
              <a:t>些数据相关？</a:t>
            </a:r>
            <a:endParaRPr sz="2400">
              <a:latin typeface="宋体"/>
              <a:cs typeface="宋体"/>
            </a:endParaRPr>
          </a:p>
        </p:txBody>
      </p:sp>
      <p:sp>
        <p:nvSpPr>
          <p:cNvPr id="12" name="object 12"/>
          <p:cNvSpPr txBox="1">
            <a:spLocks noGrp="1"/>
          </p:cNvSpPr>
          <p:nvPr>
            <p:ph type="title"/>
          </p:nvPr>
        </p:nvSpPr>
        <p:spPr>
          <a:xfrm>
            <a:off x="1403350" y="44907"/>
            <a:ext cx="10801350" cy="514350"/>
          </a:xfrm>
          <a:prstGeom prst="rect"/>
        </p:spPr>
        <p:txBody>
          <a:bodyPr wrap="square" lIns="0" tIns="13335" rIns="0" bIns="0" rtlCol="0" vert="horz">
            <a:spAutoFit/>
          </a:bodyPr>
          <a:lstStyle/>
          <a:p>
            <a:pPr marL="12700">
              <a:lnSpc>
                <a:spcPct val="100000"/>
              </a:lnSpc>
              <a:spcBef>
                <a:spcPts val="105"/>
              </a:spcBef>
              <a:tabLst>
                <a:tab pos="10788015" algn="l"/>
              </a:tabLst>
            </a:pPr>
            <a:r>
              <a:rPr dirty="0" spc="240">
                <a:solidFill>
                  <a:srgbClr val="0000CC"/>
                </a:solidFill>
              </a:rPr>
              <a:t> </a:t>
            </a:r>
            <a:r>
              <a:rPr dirty="0">
                <a:solidFill>
                  <a:srgbClr val="0000CC"/>
                </a:solidFill>
              </a:rPr>
              <a:t>6.5.1</a:t>
            </a:r>
            <a:r>
              <a:rPr dirty="0" spc="-15">
                <a:solidFill>
                  <a:srgbClr val="0000CC"/>
                </a:solidFill>
              </a:rPr>
              <a:t> </a:t>
            </a:r>
            <a:r>
              <a:rPr dirty="0">
                <a:solidFill>
                  <a:srgbClr val="0000CC"/>
                </a:solidFill>
              </a:rPr>
              <a:t>挖掘</a:t>
            </a:r>
            <a:r>
              <a:rPr dirty="0" spc="-20">
                <a:solidFill>
                  <a:srgbClr val="0000CC"/>
                </a:solidFill>
              </a:rPr>
              <a:t>更</a:t>
            </a:r>
            <a:r>
              <a:rPr dirty="0">
                <a:solidFill>
                  <a:srgbClr val="0000CC"/>
                </a:solidFill>
              </a:rPr>
              <a:t>多的</a:t>
            </a:r>
            <a:r>
              <a:rPr dirty="0" spc="-20">
                <a:solidFill>
                  <a:srgbClr val="0000CC"/>
                </a:solidFill>
              </a:rPr>
              <a:t>循</a:t>
            </a:r>
            <a:r>
              <a:rPr dirty="0">
                <a:solidFill>
                  <a:srgbClr val="0000CC"/>
                </a:solidFill>
              </a:rPr>
              <a:t>环级</a:t>
            </a:r>
            <a:r>
              <a:rPr dirty="0" spc="-20">
                <a:solidFill>
                  <a:srgbClr val="0000CC"/>
                </a:solidFill>
              </a:rPr>
              <a:t>并</a:t>
            </a:r>
            <a:r>
              <a:rPr dirty="0" spc="-50">
                <a:solidFill>
                  <a:srgbClr val="0000CC"/>
                </a:solidFill>
              </a:rPr>
              <a:t>行</a:t>
            </a:r>
            <a:r>
              <a:rPr dirty="0">
                <a:solidFill>
                  <a:srgbClr val="0000CC"/>
                </a:solidFill>
              </a:rPr>
              <a:t>	</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82/89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175361" y="2744412"/>
            <a:ext cx="11981180" cy="3536950"/>
          </a:xfrm>
          <a:prstGeom prst="rect">
            <a:avLst/>
          </a:prstGeom>
        </p:spPr>
        <p:txBody>
          <a:bodyPr wrap="square" lIns="0" tIns="158115" rIns="0" bIns="0" rtlCol="0" vert="horz">
            <a:spAutoFit/>
          </a:bodyPr>
          <a:lstStyle/>
          <a:p>
            <a:pPr marL="12700">
              <a:lnSpc>
                <a:spcPct val="100000"/>
              </a:lnSpc>
              <a:spcBef>
                <a:spcPts val="1245"/>
              </a:spcBef>
            </a:pPr>
            <a:r>
              <a:rPr dirty="0" sz="2400" spc="50" b="1">
                <a:solidFill>
                  <a:srgbClr val="E14B04"/>
                </a:solidFill>
                <a:latin typeface="宋体"/>
                <a:cs typeface="宋体"/>
              </a:rPr>
              <a:t>解 </a:t>
            </a:r>
            <a:r>
              <a:rPr dirty="0" sz="2400" spc="-20" b="1">
                <a:solidFill>
                  <a:srgbClr val="6600FF"/>
                </a:solidFill>
                <a:latin typeface="宋体"/>
                <a:cs typeface="宋体"/>
              </a:rPr>
              <a:t>S1</a:t>
            </a:r>
            <a:r>
              <a:rPr dirty="0" sz="2400" spc="-20" b="1">
                <a:latin typeface="宋体"/>
                <a:cs typeface="宋体"/>
              </a:rPr>
              <a:t>和</a:t>
            </a:r>
            <a:r>
              <a:rPr dirty="0" sz="2400" spc="-20" b="1">
                <a:solidFill>
                  <a:srgbClr val="6600FF"/>
                </a:solidFill>
                <a:latin typeface="宋体"/>
                <a:cs typeface="宋体"/>
              </a:rPr>
              <a:t>S2</a:t>
            </a:r>
            <a:r>
              <a:rPr dirty="0" sz="2400" spc="-25" b="1">
                <a:latin typeface="宋体"/>
                <a:cs typeface="宋体"/>
              </a:rPr>
              <a:t>之间存在两种不同类型的数据相关：</a:t>
            </a:r>
            <a:endParaRPr sz="2400">
              <a:latin typeface="宋体"/>
              <a:cs typeface="宋体"/>
            </a:endParaRPr>
          </a:p>
          <a:p>
            <a:pPr marL="384810" indent="-227965">
              <a:lnSpc>
                <a:spcPct val="100000"/>
              </a:lnSpc>
              <a:spcBef>
                <a:spcPts val="1155"/>
              </a:spcBef>
              <a:buClr>
                <a:srgbClr val="4668F5"/>
              </a:buClr>
              <a:buSzPct val="60416"/>
              <a:buFont typeface="Wingdings"/>
              <a:buChar char=""/>
              <a:tabLst>
                <a:tab pos="384810" algn="l"/>
              </a:tabLst>
            </a:pPr>
            <a:r>
              <a:rPr dirty="0" sz="2400" spc="-25" b="1">
                <a:solidFill>
                  <a:srgbClr val="FF5CFF"/>
                </a:solidFill>
                <a:latin typeface="宋体"/>
                <a:cs typeface="宋体"/>
              </a:rPr>
              <a:t>循环携带</a:t>
            </a:r>
            <a:r>
              <a:rPr dirty="0" sz="2400" spc="-10" b="1">
                <a:solidFill>
                  <a:srgbClr val="6600FF"/>
                </a:solidFill>
                <a:latin typeface="宋体"/>
                <a:cs typeface="宋体"/>
              </a:rPr>
              <a:t>RAW</a:t>
            </a:r>
            <a:r>
              <a:rPr dirty="0" sz="2400" spc="-30" b="1">
                <a:solidFill>
                  <a:srgbClr val="FF5CFF"/>
                </a:solidFill>
                <a:latin typeface="宋体"/>
                <a:cs typeface="宋体"/>
              </a:rPr>
              <a:t>数据相关：</a:t>
            </a:r>
            <a:endParaRPr sz="2400">
              <a:latin typeface="宋体"/>
              <a:cs typeface="宋体"/>
            </a:endParaRPr>
          </a:p>
          <a:p>
            <a:pPr marL="917575" indent="-760730">
              <a:lnSpc>
                <a:spcPct val="100000"/>
              </a:lnSpc>
              <a:spcBef>
                <a:spcPts val="1155"/>
              </a:spcBef>
              <a:buClr>
                <a:srgbClr val="0000CC"/>
              </a:buClr>
              <a:buSzPct val="95833"/>
              <a:buAutoNum type="arabicPlain"/>
              <a:tabLst>
                <a:tab pos="917575" algn="l"/>
              </a:tabLst>
            </a:pPr>
            <a:r>
              <a:rPr dirty="0" sz="2400" spc="-20" b="1">
                <a:solidFill>
                  <a:srgbClr val="FF5CFF"/>
                </a:solidFill>
                <a:latin typeface="宋体"/>
                <a:cs typeface="宋体"/>
              </a:rPr>
              <a:t>相邻两次迭代的语句</a:t>
            </a:r>
            <a:r>
              <a:rPr dirty="0" sz="2400" spc="-20" b="1">
                <a:solidFill>
                  <a:srgbClr val="6600FF"/>
                </a:solidFill>
                <a:latin typeface="宋体"/>
                <a:cs typeface="宋体"/>
              </a:rPr>
              <a:t>S1</a:t>
            </a:r>
            <a:r>
              <a:rPr dirty="0" sz="2400" spc="-20" b="1">
                <a:solidFill>
                  <a:srgbClr val="FF5CFF"/>
                </a:solidFill>
                <a:latin typeface="宋体"/>
                <a:cs typeface="宋体"/>
              </a:rPr>
              <a:t>之间，相邻两次迭代中的语句</a:t>
            </a:r>
            <a:r>
              <a:rPr dirty="0" sz="2400" spc="-20" b="1">
                <a:solidFill>
                  <a:srgbClr val="0000CC"/>
                </a:solidFill>
                <a:latin typeface="宋体"/>
                <a:cs typeface="宋体"/>
              </a:rPr>
              <a:t>S2</a:t>
            </a:r>
            <a:r>
              <a:rPr dirty="0" sz="2400" spc="-20" b="1">
                <a:solidFill>
                  <a:srgbClr val="FF5CFF"/>
                </a:solidFill>
                <a:latin typeface="宋体"/>
                <a:cs typeface="宋体"/>
              </a:rPr>
              <a:t>之间也同样存在RAW</a:t>
            </a:r>
            <a:r>
              <a:rPr dirty="0" sz="2400" spc="-50" b="1">
                <a:solidFill>
                  <a:srgbClr val="FF5CFF"/>
                </a:solidFill>
                <a:latin typeface="宋体"/>
                <a:cs typeface="宋体"/>
              </a:rPr>
              <a:t>。</a:t>
            </a:r>
            <a:endParaRPr sz="2400">
              <a:latin typeface="宋体"/>
              <a:cs typeface="宋体"/>
            </a:endParaRPr>
          </a:p>
          <a:p>
            <a:pPr marL="156845">
              <a:lnSpc>
                <a:spcPct val="100000"/>
              </a:lnSpc>
              <a:spcBef>
                <a:spcPts val="1150"/>
              </a:spcBef>
            </a:pPr>
            <a:r>
              <a:rPr dirty="0" sz="2400" spc="-20" b="1">
                <a:solidFill>
                  <a:srgbClr val="FF5CFF"/>
                </a:solidFill>
                <a:latin typeface="宋体"/>
                <a:cs typeface="宋体"/>
              </a:rPr>
              <a:t>A[i+1]-------是第i次循环迭代的中S1</a:t>
            </a:r>
            <a:r>
              <a:rPr dirty="0" sz="2400" spc="-25" b="1">
                <a:solidFill>
                  <a:srgbClr val="FF5CFF"/>
                </a:solidFill>
                <a:latin typeface="宋体"/>
                <a:cs typeface="宋体"/>
              </a:rPr>
              <a:t>语句的目标操作数</a:t>
            </a:r>
            <a:endParaRPr sz="2400">
              <a:latin typeface="宋体"/>
              <a:cs typeface="宋体"/>
            </a:endParaRPr>
          </a:p>
          <a:p>
            <a:pPr marL="156845" marR="5080">
              <a:lnSpc>
                <a:spcPct val="120000"/>
              </a:lnSpc>
              <a:spcBef>
                <a:spcPts val="580"/>
              </a:spcBef>
            </a:pPr>
            <a:r>
              <a:rPr dirty="0" sz="2400" spc="-20" b="1">
                <a:solidFill>
                  <a:srgbClr val="FF5CFF"/>
                </a:solidFill>
                <a:latin typeface="宋体"/>
                <a:cs typeface="宋体"/>
              </a:rPr>
              <a:t>A[i]--------而本句中的A[i]是第i-1次循环迭代的中S1</a:t>
            </a:r>
            <a:r>
              <a:rPr dirty="0" sz="2400" spc="-25" b="1">
                <a:solidFill>
                  <a:srgbClr val="FF5CFF"/>
                </a:solidFill>
                <a:latin typeface="宋体"/>
                <a:cs typeface="宋体"/>
              </a:rPr>
              <a:t>语句的目标操作数，存在典型的</a:t>
            </a:r>
            <a:r>
              <a:rPr dirty="0" sz="2400" spc="-50" b="1">
                <a:solidFill>
                  <a:srgbClr val="FF5CFF"/>
                </a:solidFill>
                <a:latin typeface="宋体"/>
                <a:cs typeface="宋体"/>
              </a:rPr>
              <a:t> </a:t>
            </a:r>
            <a:r>
              <a:rPr dirty="0" sz="2400" spc="-20" b="1">
                <a:solidFill>
                  <a:srgbClr val="FF5CFF"/>
                </a:solidFill>
                <a:latin typeface="宋体"/>
                <a:cs typeface="宋体"/>
              </a:rPr>
              <a:t>RAW</a:t>
            </a:r>
            <a:r>
              <a:rPr dirty="0" sz="2400" spc="-50" b="1">
                <a:solidFill>
                  <a:srgbClr val="FF5CFF"/>
                </a:solidFill>
                <a:latin typeface="宋体"/>
                <a:cs typeface="宋体"/>
              </a:rPr>
              <a:t>。</a:t>
            </a:r>
            <a:endParaRPr sz="2400">
              <a:latin typeface="宋体"/>
              <a:cs typeface="宋体"/>
            </a:endParaRPr>
          </a:p>
          <a:p>
            <a:pPr marL="916940" indent="-760095">
              <a:lnSpc>
                <a:spcPct val="100000"/>
              </a:lnSpc>
              <a:spcBef>
                <a:spcPts val="1150"/>
              </a:spcBef>
              <a:buClr>
                <a:srgbClr val="0000CC"/>
              </a:buClr>
              <a:buSzPct val="95833"/>
              <a:buAutoNum type="arabicPlain" startAt="2"/>
              <a:tabLst>
                <a:tab pos="916940" algn="l"/>
              </a:tabLst>
            </a:pPr>
            <a:r>
              <a:rPr dirty="0" sz="2400" spc="-10" b="1">
                <a:solidFill>
                  <a:srgbClr val="FF5CFF"/>
                </a:solidFill>
                <a:latin typeface="宋体"/>
                <a:cs typeface="宋体"/>
              </a:rPr>
              <a:t>RAW</a:t>
            </a:r>
            <a:r>
              <a:rPr dirty="0" sz="2400" spc="-25" b="1">
                <a:solidFill>
                  <a:srgbClr val="FF5CFF"/>
                </a:solidFill>
                <a:latin typeface="宋体"/>
                <a:cs typeface="宋体"/>
              </a:rPr>
              <a:t>数据相关：同一迭代内的语句</a:t>
            </a:r>
            <a:r>
              <a:rPr dirty="0" sz="2400" spc="-10" b="1">
                <a:solidFill>
                  <a:srgbClr val="6600FF"/>
                </a:solidFill>
                <a:latin typeface="宋体"/>
                <a:cs typeface="宋体"/>
              </a:rPr>
              <a:t>S2</a:t>
            </a:r>
            <a:r>
              <a:rPr dirty="0" sz="2400" spc="-25" b="1">
                <a:solidFill>
                  <a:srgbClr val="FF5CFF"/>
                </a:solidFill>
                <a:latin typeface="宋体"/>
                <a:cs typeface="宋体"/>
              </a:rPr>
              <a:t>与</a:t>
            </a:r>
            <a:r>
              <a:rPr dirty="0" sz="2400" spc="-10" b="1">
                <a:solidFill>
                  <a:srgbClr val="6600FF"/>
                </a:solidFill>
                <a:latin typeface="宋体"/>
                <a:cs typeface="宋体"/>
              </a:rPr>
              <a:t>S1</a:t>
            </a:r>
            <a:r>
              <a:rPr dirty="0" sz="2400" spc="-35" b="1">
                <a:solidFill>
                  <a:srgbClr val="FF5CFF"/>
                </a:solidFill>
                <a:latin typeface="宋体"/>
                <a:cs typeface="宋体"/>
              </a:rPr>
              <a:t>之间。</a:t>
            </a:r>
            <a:endParaRPr sz="2400">
              <a:latin typeface="宋体"/>
              <a:cs typeface="宋体"/>
            </a:endParaRPr>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239520" algn="l"/>
                <a:tab pos="10788015" algn="l"/>
              </a:tabLst>
            </a:pPr>
            <a:r>
              <a:rPr dirty="0"/>
              <a:t>	6.5</a:t>
            </a:r>
            <a:r>
              <a:rPr dirty="0" spc="-15"/>
              <a:t> </a:t>
            </a:r>
            <a:r>
              <a:rPr dirty="0"/>
              <a:t>开发更</a:t>
            </a:r>
            <a:r>
              <a:rPr dirty="0" spc="-25"/>
              <a:t>多</a:t>
            </a:r>
            <a:r>
              <a:rPr dirty="0"/>
              <a:t>的指</a:t>
            </a:r>
            <a:r>
              <a:rPr dirty="0" spc="-20"/>
              <a:t>令</a:t>
            </a:r>
            <a:r>
              <a:rPr dirty="0"/>
              <a:t>级并</a:t>
            </a:r>
            <a:r>
              <a:rPr dirty="0" spc="-50"/>
              <a:t>行</a:t>
            </a:r>
            <a:r>
              <a:rPr dirty="0"/>
              <a:t>	</a:t>
            </a:r>
          </a:p>
        </p:txBody>
      </p:sp>
      <p:pic>
        <p:nvPicPr>
          <p:cNvPr id="10" name="object 10" descr=""/>
          <p:cNvPicPr/>
          <p:nvPr/>
        </p:nvPicPr>
        <p:blipFill>
          <a:blip r:embed="rId3" cstate="print"/>
          <a:stretch>
            <a:fillRect/>
          </a:stretch>
        </p:blipFill>
        <p:spPr>
          <a:xfrm>
            <a:off x="1249955" y="690498"/>
            <a:ext cx="9776289" cy="2209800"/>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83/89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xfrm>
            <a:off x="1403350" y="127838"/>
            <a:ext cx="10801350" cy="514350"/>
          </a:xfrm>
          <a:prstGeom prst="rect"/>
        </p:spPr>
        <p:txBody>
          <a:bodyPr wrap="square" lIns="0" tIns="13335" rIns="0" bIns="0" rtlCol="0" vert="horz">
            <a:spAutoFit/>
          </a:bodyPr>
          <a:lstStyle/>
          <a:p>
            <a:pPr marL="12700">
              <a:lnSpc>
                <a:spcPct val="100000"/>
              </a:lnSpc>
              <a:spcBef>
                <a:spcPts val="105"/>
              </a:spcBef>
              <a:tabLst>
                <a:tab pos="1239520" algn="l"/>
                <a:tab pos="10788015" algn="l"/>
              </a:tabLst>
            </a:pPr>
            <a:r>
              <a:rPr dirty="0"/>
              <a:t>	6.5</a:t>
            </a:r>
            <a:r>
              <a:rPr dirty="0" spc="-15"/>
              <a:t> </a:t>
            </a:r>
            <a:r>
              <a:rPr dirty="0"/>
              <a:t>开发更</a:t>
            </a:r>
            <a:r>
              <a:rPr dirty="0" spc="-25"/>
              <a:t>多</a:t>
            </a:r>
            <a:r>
              <a:rPr dirty="0"/>
              <a:t>的指</a:t>
            </a:r>
            <a:r>
              <a:rPr dirty="0" spc="-20"/>
              <a:t>令</a:t>
            </a:r>
            <a:r>
              <a:rPr dirty="0"/>
              <a:t>级并</a:t>
            </a:r>
            <a:r>
              <a:rPr dirty="0" spc="-50"/>
              <a:t>行</a:t>
            </a:r>
            <a:r>
              <a:rPr dirty="0"/>
              <a:t>	</a:t>
            </a:r>
          </a:p>
        </p:txBody>
      </p:sp>
      <p:graphicFrame>
        <p:nvGraphicFramePr>
          <p:cNvPr id="9" name="object 9" descr=""/>
          <p:cNvGraphicFramePr>
            <a:graphicFrameLocks noGrp="1"/>
          </p:cNvGraphicFramePr>
          <p:nvPr/>
        </p:nvGraphicFramePr>
        <p:xfrm>
          <a:off x="3609340" y="1125791"/>
          <a:ext cx="5934710" cy="1401445"/>
        </p:xfrm>
        <a:graphic>
          <a:graphicData uri="http://schemas.openxmlformats.org/drawingml/2006/table">
            <a:tbl>
              <a:tblPr firstRow="1" bandRow="1">
                <a:tableStyleId>{2D5ABB26-0587-4C30-8999-92F81FD0307C}</a:tableStyleId>
              </a:tblPr>
              <a:tblGrid>
                <a:gridCol w="1036955"/>
                <a:gridCol w="307340"/>
                <a:gridCol w="765810"/>
                <a:gridCol w="312419"/>
                <a:gridCol w="1845310"/>
                <a:gridCol w="661670"/>
                <a:gridCol w="461645"/>
                <a:gridCol w="466725"/>
              </a:tblGrid>
              <a:tr h="334645">
                <a:tc>
                  <a:txBody>
                    <a:bodyPr/>
                    <a:lstStyle/>
                    <a:p>
                      <a:pPr algn="ctr" marR="41910">
                        <a:lnSpc>
                          <a:spcPts val="2540"/>
                        </a:lnSpc>
                      </a:pPr>
                      <a:r>
                        <a:rPr dirty="0" sz="2400" spc="-10" b="1">
                          <a:solidFill>
                            <a:srgbClr val="40458B"/>
                          </a:solidFill>
                          <a:latin typeface="黑体"/>
                          <a:cs typeface="黑体"/>
                        </a:rPr>
                        <a:t>A[i+1]</a:t>
                      </a:r>
                      <a:endParaRPr sz="2400">
                        <a:latin typeface="黑体"/>
                        <a:cs typeface="黑体"/>
                      </a:endParaRPr>
                    </a:p>
                  </a:txBody>
                  <a:tcPr marL="0" marR="0" marB="0" marT="0"/>
                </a:tc>
                <a:tc>
                  <a:txBody>
                    <a:bodyPr/>
                    <a:lstStyle/>
                    <a:p>
                      <a:pPr algn="ctr" marR="1905">
                        <a:lnSpc>
                          <a:spcPts val="2540"/>
                        </a:lnSpc>
                      </a:pPr>
                      <a:r>
                        <a:rPr dirty="0" sz="2400" spc="-50" b="1">
                          <a:solidFill>
                            <a:srgbClr val="40458B"/>
                          </a:solidFill>
                          <a:latin typeface="黑体"/>
                          <a:cs typeface="黑体"/>
                        </a:rPr>
                        <a:t>=</a:t>
                      </a:r>
                      <a:endParaRPr sz="2400">
                        <a:latin typeface="黑体"/>
                        <a:cs typeface="黑体"/>
                      </a:endParaRPr>
                    </a:p>
                  </a:txBody>
                  <a:tcPr marL="0" marR="0" marB="0" marT="0"/>
                </a:tc>
                <a:tc>
                  <a:txBody>
                    <a:bodyPr/>
                    <a:lstStyle/>
                    <a:p>
                      <a:pPr algn="ctr">
                        <a:lnSpc>
                          <a:spcPts val="2540"/>
                        </a:lnSpc>
                      </a:pPr>
                      <a:r>
                        <a:rPr dirty="0" sz="2400" spc="-20" b="1">
                          <a:solidFill>
                            <a:srgbClr val="40458B"/>
                          </a:solidFill>
                          <a:latin typeface="黑体"/>
                          <a:cs typeface="黑体"/>
                        </a:rPr>
                        <a:t>A[i]</a:t>
                      </a:r>
                      <a:endParaRPr sz="2400">
                        <a:latin typeface="黑体"/>
                        <a:cs typeface="黑体"/>
                      </a:endParaRPr>
                    </a:p>
                  </a:txBody>
                  <a:tcPr marL="0" marR="0" marB="0" marT="0"/>
                </a:tc>
                <a:tc>
                  <a:txBody>
                    <a:bodyPr/>
                    <a:lstStyle/>
                    <a:p>
                      <a:pPr algn="ctr">
                        <a:lnSpc>
                          <a:spcPts val="2540"/>
                        </a:lnSpc>
                      </a:pPr>
                      <a:r>
                        <a:rPr dirty="0" sz="2400" spc="-50" b="1">
                          <a:solidFill>
                            <a:srgbClr val="40458B"/>
                          </a:solidFill>
                          <a:latin typeface="黑体"/>
                          <a:cs typeface="黑体"/>
                        </a:rPr>
                        <a:t>+</a:t>
                      </a:r>
                      <a:endParaRPr sz="2400">
                        <a:latin typeface="黑体"/>
                        <a:cs typeface="黑体"/>
                      </a:endParaRPr>
                    </a:p>
                  </a:txBody>
                  <a:tcPr marL="0" marR="0" marB="0" marT="0"/>
                </a:tc>
                <a:tc>
                  <a:txBody>
                    <a:bodyPr/>
                    <a:lstStyle/>
                    <a:p>
                      <a:pPr marL="72390">
                        <a:lnSpc>
                          <a:spcPts val="2540"/>
                        </a:lnSpc>
                      </a:pPr>
                      <a:r>
                        <a:rPr dirty="0" sz="2400" spc="-10" b="1">
                          <a:solidFill>
                            <a:srgbClr val="40458B"/>
                          </a:solidFill>
                          <a:latin typeface="黑体"/>
                          <a:cs typeface="黑体"/>
                        </a:rPr>
                        <a:t>C[i]；</a:t>
                      </a:r>
                      <a:endParaRPr sz="2400">
                        <a:latin typeface="黑体"/>
                        <a:cs typeface="黑体"/>
                      </a:endParaRPr>
                    </a:p>
                  </a:txBody>
                  <a:tcPr marL="0" marR="0" marB="0" marT="0"/>
                </a:tc>
                <a:tc>
                  <a:txBody>
                    <a:bodyPr/>
                    <a:lstStyle/>
                    <a:p>
                      <a:pPr algn="r" marR="19050">
                        <a:lnSpc>
                          <a:spcPts val="2540"/>
                        </a:lnSpc>
                      </a:pPr>
                      <a:r>
                        <a:rPr dirty="0" sz="2400" spc="-25" b="1">
                          <a:latin typeface="黑体"/>
                          <a:cs typeface="黑体"/>
                        </a:rPr>
                        <a:t>/*</a:t>
                      </a:r>
                      <a:endParaRPr sz="2400">
                        <a:latin typeface="黑体"/>
                        <a:cs typeface="黑体"/>
                      </a:endParaRPr>
                    </a:p>
                  </a:txBody>
                  <a:tcPr marL="0" marR="0" marB="0" marT="0"/>
                </a:tc>
                <a:tc>
                  <a:txBody>
                    <a:bodyPr/>
                    <a:lstStyle/>
                    <a:p>
                      <a:pPr algn="r" marR="19050">
                        <a:lnSpc>
                          <a:spcPts val="2540"/>
                        </a:lnSpc>
                      </a:pPr>
                      <a:r>
                        <a:rPr dirty="0" sz="2400" spc="-25" b="1">
                          <a:latin typeface="黑体"/>
                          <a:cs typeface="黑体"/>
                        </a:rPr>
                        <a:t>S1</a:t>
                      </a:r>
                      <a:endParaRPr sz="2400">
                        <a:latin typeface="黑体"/>
                        <a:cs typeface="黑体"/>
                      </a:endParaRPr>
                    </a:p>
                  </a:txBody>
                  <a:tcPr marL="0" marR="0" marB="0" marT="0"/>
                </a:tc>
                <a:tc>
                  <a:txBody>
                    <a:bodyPr/>
                    <a:lstStyle/>
                    <a:p>
                      <a:pPr algn="r" marR="24130">
                        <a:lnSpc>
                          <a:spcPts val="2540"/>
                        </a:lnSpc>
                      </a:pPr>
                      <a:r>
                        <a:rPr dirty="0" sz="2400" spc="-25" b="1">
                          <a:latin typeface="黑体"/>
                          <a:cs typeface="黑体"/>
                        </a:rPr>
                        <a:t>*/</a:t>
                      </a:r>
                      <a:endParaRPr sz="2400">
                        <a:latin typeface="黑体"/>
                        <a:cs typeface="黑体"/>
                      </a:endParaRPr>
                    </a:p>
                  </a:txBody>
                  <a:tcPr marL="0" marR="0" marB="0" marT="0"/>
                </a:tc>
              </a:tr>
              <a:tr h="335280">
                <a:tc>
                  <a:txBody>
                    <a:bodyPr/>
                    <a:lstStyle/>
                    <a:p>
                      <a:pPr algn="ctr" marR="41910">
                        <a:lnSpc>
                          <a:spcPts val="2540"/>
                        </a:lnSpc>
                      </a:pPr>
                      <a:r>
                        <a:rPr dirty="0" sz="2400" spc="-10" b="1">
                          <a:solidFill>
                            <a:srgbClr val="40458B"/>
                          </a:solidFill>
                          <a:latin typeface="黑体"/>
                          <a:cs typeface="黑体"/>
                        </a:rPr>
                        <a:t>B[i+1]</a:t>
                      </a:r>
                      <a:endParaRPr sz="2400">
                        <a:latin typeface="黑体"/>
                        <a:cs typeface="黑体"/>
                      </a:endParaRPr>
                    </a:p>
                  </a:txBody>
                  <a:tcPr marL="0" marR="0" marB="0" marT="0"/>
                </a:tc>
                <a:tc>
                  <a:txBody>
                    <a:bodyPr/>
                    <a:lstStyle/>
                    <a:p>
                      <a:pPr algn="ctr" marR="1905">
                        <a:lnSpc>
                          <a:spcPts val="2540"/>
                        </a:lnSpc>
                      </a:pPr>
                      <a:r>
                        <a:rPr dirty="0" sz="2400" spc="-50" b="1">
                          <a:solidFill>
                            <a:srgbClr val="40458B"/>
                          </a:solidFill>
                          <a:latin typeface="黑体"/>
                          <a:cs typeface="黑体"/>
                        </a:rPr>
                        <a:t>=</a:t>
                      </a:r>
                      <a:endParaRPr sz="2400">
                        <a:latin typeface="黑体"/>
                        <a:cs typeface="黑体"/>
                      </a:endParaRPr>
                    </a:p>
                  </a:txBody>
                  <a:tcPr marL="0" marR="0" marB="0" marT="0"/>
                </a:tc>
                <a:tc>
                  <a:txBody>
                    <a:bodyPr/>
                    <a:lstStyle/>
                    <a:p>
                      <a:pPr algn="ctr">
                        <a:lnSpc>
                          <a:spcPts val="2540"/>
                        </a:lnSpc>
                      </a:pPr>
                      <a:r>
                        <a:rPr dirty="0" sz="2400" spc="-20" b="1">
                          <a:solidFill>
                            <a:srgbClr val="40458B"/>
                          </a:solidFill>
                          <a:latin typeface="黑体"/>
                          <a:cs typeface="黑体"/>
                        </a:rPr>
                        <a:t>B[i]</a:t>
                      </a:r>
                      <a:endParaRPr sz="2400">
                        <a:latin typeface="黑体"/>
                        <a:cs typeface="黑体"/>
                      </a:endParaRPr>
                    </a:p>
                  </a:txBody>
                  <a:tcPr marL="0" marR="0" marB="0" marT="0"/>
                </a:tc>
                <a:tc>
                  <a:txBody>
                    <a:bodyPr/>
                    <a:lstStyle/>
                    <a:p>
                      <a:pPr algn="ctr">
                        <a:lnSpc>
                          <a:spcPts val="2540"/>
                        </a:lnSpc>
                      </a:pPr>
                      <a:r>
                        <a:rPr dirty="0" sz="2400" spc="-50" b="1">
                          <a:solidFill>
                            <a:srgbClr val="40458B"/>
                          </a:solidFill>
                          <a:latin typeface="黑体"/>
                          <a:cs typeface="黑体"/>
                        </a:rPr>
                        <a:t>+</a:t>
                      </a:r>
                      <a:endParaRPr sz="2400">
                        <a:latin typeface="黑体"/>
                        <a:cs typeface="黑体"/>
                      </a:endParaRPr>
                    </a:p>
                  </a:txBody>
                  <a:tcPr marL="0" marR="0" marB="0" marT="0"/>
                </a:tc>
                <a:tc>
                  <a:txBody>
                    <a:bodyPr/>
                    <a:lstStyle/>
                    <a:p>
                      <a:pPr marL="72390">
                        <a:lnSpc>
                          <a:spcPts val="2540"/>
                        </a:lnSpc>
                      </a:pPr>
                      <a:r>
                        <a:rPr dirty="0" sz="2400" spc="-10" b="1">
                          <a:solidFill>
                            <a:srgbClr val="40458B"/>
                          </a:solidFill>
                          <a:latin typeface="黑体"/>
                          <a:cs typeface="黑体"/>
                        </a:rPr>
                        <a:t>A[i+1]；</a:t>
                      </a:r>
                      <a:endParaRPr sz="2400">
                        <a:latin typeface="黑体"/>
                        <a:cs typeface="黑体"/>
                      </a:endParaRPr>
                    </a:p>
                  </a:txBody>
                  <a:tcPr marL="0" marR="0" marB="0" marT="0"/>
                </a:tc>
                <a:tc>
                  <a:txBody>
                    <a:bodyPr/>
                    <a:lstStyle/>
                    <a:p>
                      <a:pPr marL="226695">
                        <a:lnSpc>
                          <a:spcPts val="2540"/>
                        </a:lnSpc>
                      </a:pPr>
                      <a:r>
                        <a:rPr dirty="0" sz="2400" spc="-25" b="1">
                          <a:latin typeface="黑体"/>
                          <a:cs typeface="黑体"/>
                        </a:rPr>
                        <a:t>/*</a:t>
                      </a:r>
                      <a:endParaRPr sz="2400">
                        <a:latin typeface="黑体"/>
                        <a:cs typeface="黑体"/>
                      </a:endParaRPr>
                    </a:p>
                  </a:txBody>
                  <a:tcPr marL="0" marR="0" marB="0" marT="0"/>
                </a:tc>
                <a:tc>
                  <a:txBody>
                    <a:bodyPr/>
                    <a:lstStyle/>
                    <a:p>
                      <a:pPr marL="26670">
                        <a:lnSpc>
                          <a:spcPts val="2540"/>
                        </a:lnSpc>
                      </a:pPr>
                      <a:r>
                        <a:rPr dirty="0" sz="2400" spc="-25" b="1">
                          <a:latin typeface="黑体"/>
                          <a:cs typeface="黑体"/>
                        </a:rPr>
                        <a:t>S2</a:t>
                      </a:r>
                      <a:endParaRPr sz="2400">
                        <a:latin typeface="黑体"/>
                        <a:cs typeface="黑体"/>
                      </a:endParaRPr>
                    </a:p>
                  </a:txBody>
                  <a:tcPr marL="0" marR="0" marB="0" marT="0"/>
                </a:tc>
                <a:tc>
                  <a:txBody>
                    <a:bodyPr/>
                    <a:lstStyle/>
                    <a:p>
                      <a:pPr marL="26670">
                        <a:lnSpc>
                          <a:spcPts val="2540"/>
                        </a:lnSpc>
                      </a:pPr>
                      <a:r>
                        <a:rPr dirty="0" sz="2400" spc="-25" b="1">
                          <a:latin typeface="黑体"/>
                          <a:cs typeface="黑体"/>
                        </a:rPr>
                        <a:t>*/</a:t>
                      </a:r>
                      <a:endParaRPr sz="2400">
                        <a:latin typeface="黑体"/>
                        <a:cs typeface="黑体"/>
                      </a:endParaRPr>
                    </a:p>
                  </a:txBody>
                  <a:tcPr marL="0" marR="0" marB="0" marT="0"/>
                </a:tc>
              </a:tr>
              <a:tr h="396240">
                <a:tc>
                  <a:txBody>
                    <a:bodyPr/>
                    <a:lstStyle/>
                    <a:p>
                      <a:pPr algn="ctr" marR="23495">
                        <a:lnSpc>
                          <a:spcPct val="100000"/>
                        </a:lnSpc>
                        <a:spcBef>
                          <a:spcPts val="140"/>
                        </a:spcBef>
                      </a:pPr>
                      <a:r>
                        <a:rPr dirty="0" sz="2400" spc="-10" b="1">
                          <a:solidFill>
                            <a:srgbClr val="40458B"/>
                          </a:solidFill>
                          <a:latin typeface="黑体"/>
                          <a:cs typeface="黑体"/>
                        </a:rPr>
                        <a:t>A[i+2]</a:t>
                      </a:r>
                      <a:endParaRPr sz="2400">
                        <a:latin typeface="黑体"/>
                        <a:cs typeface="黑体"/>
                      </a:endParaRPr>
                    </a:p>
                  </a:txBody>
                  <a:tcPr marL="0" marR="0" marB="0" marT="17780"/>
                </a:tc>
                <a:tc>
                  <a:txBody>
                    <a:bodyPr/>
                    <a:lstStyle/>
                    <a:p>
                      <a:pPr algn="ctr" marL="8255">
                        <a:lnSpc>
                          <a:spcPct val="100000"/>
                        </a:lnSpc>
                        <a:spcBef>
                          <a:spcPts val="140"/>
                        </a:spcBef>
                      </a:pPr>
                      <a:r>
                        <a:rPr dirty="0" sz="2400" spc="-50" b="1">
                          <a:solidFill>
                            <a:srgbClr val="40458B"/>
                          </a:solidFill>
                          <a:latin typeface="黑体"/>
                          <a:cs typeface="黑体"/>
                        </a:rPr>
                        <a:t>=</a:t>
                      </a:r>
                      <a:endParaRPr sz="2400">
                        <a:latin typeface="黑体"/>
                        <a:cs typeface="黑体"/>
                      </a:endParaRPr>
                    </a:p>
                  </a:txBody>
                  <a:tcPr marL="0" marR="0" marB="0" marT="17780"/>
                </a:tc>
                <a:tc gridSpan="2">
                  <a:txBody>
                    <a:bodyPr/>
                    <a:lstStyle/>
                    <a:p>
                      <a:pPr marL="81915">
                        <a:lnSpc>
                          <a:spcPct val="100000"/>
                        </a:lnSpc>
                        <a:spcBef>
                          <a:spcPts val="140"/>
                        </a:spcBef>
                      </a:pPr>
                      <a:r>
                        <a:rPr dirty="0" sz="2400" spc="-10" b="1">
                          <a:solidFill>
                            <a:srgbClr val="40458B"/>
                          </a:solidFill>
                          <a:latin typeface="黑体"/>
                          <a:cs typeface="黑体"/>
                        </a:rPr>
                        <a:t>A[i+1]</a:t>
                      </a:r>
                      <a:endParaRPr sz="2400">
                        <a:latin typeface="黑体"/>
                        <a:cs typeface="黑体"/>
                      </a:endParaRPr>
                    </a:p>
                  </a:txBody>
                  <a:tcPr marL="0" marR="0" marB="0" marT="17780"/>
                </a:tc>
                <a:tc hMerge="1">
                  <a:txBody>
                    <a:bodyPr/>
                    <a:lstStyle/>
                    <a:p>
                      <a:pPr/>
                    </a:p>
                  </a:txBody>
                  <a:tcPr marL="0" marR="0" marB="0" marT="0"/>
                </a:tc>
                <a:tc>
                  <a:txBody>
                    <a:bodyPr/>
                    <a:lstStyle/>
                    <a:p>
                      <a:pPr marL="81280">
                        <a:lnSpc>
                          <a:spcPct val="100000"/>
                        </a:lnSpc>
                        <a:spcBef>
                          <a:spcPts val="140"/>
                        </a:spcBef>
                      </a:pPr>
                      <a:r>
                        <a:rPr dirty="0" sz="2400" b="1">
                          <a:solidFill>
                            <a:srgbClr val="40458B"/>
                          </a:solidFill>
                          <a:latin typeface="黑体"/>
                          <a:cs typeface="黑体"/>
                        </a:rPr>
                        <a:t>+</a:t>
                      </a:r>
                      <a:r>
                        <a:rPr dirty="0" sz="2400" spc="-5" b="1">
                          <a:solidFill>
                            <a:srgbClr val="40458B"/>
                          </a:solidFill>
                          <a:latin typeface="黑体"/>
                          <a:cs typeface="黑体"/>
                        </a:rPr>
                        <a:t> </a:t>
                      </a:r>
                      <a:r>
                        <a:rPr dirty="0" sz="2400" spc="-10" b="1">
                          <a:solidFill>
                            <a:srgbClr val="40458B"/>
                          </a:solidFill>
                          <a:latin typeface="黑体"/>
                          <a:cs typeface="黑体"/>
                        </a:rPr>
                        <a:t>C[i+1]；</a:t>
                      </a:r>
                      <a:endParaRPr sz="2400">
                        <a:latin typeface="黑体"/>
                        <a:cs typeface="黑体"/>
                      </a:endParaRPr>
                    </a:p>
                  </a:txBody>
                  <a:tcPr marL="0" marR="0" marB="0" marT="17780"/>
                </a:tc>
                <a:tc>
                  <a:txBody>
                    <a:bodyPr/>
                    <a:lstStyle/>
                    <a:p>
                      <a:pPr algn="r" marR="19050">
                        <a:lnSpc>
                          <a:spcPct val="100000"/>
                        </a:lnSpc>
                        <a:spcBef>
                          <a:spcPts val="140"/>
                        </a:spcBef>
                      </a:pPr>
                      <a:r>
                        <a:rPr dirty="0" sz="2400" spc="-25" b="1">
                          <a:latin typeface="黑体"/>
                          <a:cs typeface="黑体"/>
                        </a:rPr>
                        <a:t>/*</a:t>
                      </a:r>
                      <a:endParaRPr sz="2400">
                        <a:latin typeface="黑体"/>
                        <a:cs typeface="黑体"/>
                      </a:endParaRPr>
                    </a:p>
                  </a:txBody>
                  <a:tcPr marL="0" marR="0" marB="0" marT="17780"/>
                </a:tc>
                <a:tc>
                  <a:txBody>
                    <a:bodyPr/>
                    <a:lstStyle/>
                    <a:p>
                      <a:pPr algn="r" marR="19050">
                        <a:lnSpc>
                          <a:spcPct val="100000"/>
                        </a:lnSpc>
                        <a:spcBef>
                          <a:spcPts val="140"/>
                        </a:spcBef>
                      </a:pPr>
                      <a:r>
                        <a:rPr dirty="0" sz="2400" spc="-25" b="1">
                          <a:latin typeface="黑体"/>
                          <a:cs typeface="黑体"/>
                        </a:rPr>
                        <a:t>S3</a:t>
                      </a:r>
                      <a:endParaRPr sz="2400">
                        <a:latin typeface="黑体"/>
                        <a:cs typeface="黑体"/>
                      </a:endParaRPr>
                    </a:p>
                  </a:txBody>
                  <a:tcPr marL="0" marR="0" marB="0" marT="17780"/>
                </a:tc>
                <a:tc>
                  <a:txBody>
                    <a:bodyPr/>
                    <a:lstStyle/>
                    <a:p>
                      <a:pPr algn="r" marR="24130">
                        <a:lnSpc>
                          <a:spcPct val="100000"/>
                        </a:lnSpc>
                        <a:spcBef>
                          <a:spcPts val="140"/>
                        </a:spcBef>
                      </a:pPr>
                      <a:r>
                        <a:rPr dirty="0" sz="2400" spc="-25" b="1">
                          <a:latin typeface="黑体"/>
                          <a:cs typeface="黑体"/>
                        </a:rPr>
                        <a:t>*/</a:t>
                      </a:r>
                      <a:endParaRPr sz="2400">
                        <a:latin typeface="黑体"/>
                        <a:cs typeface="黑体"/>
                      </a:endParaRPr>
                    </a:p>
                  </a:txBody>
                  <a:tcPr marL="0" marR="0" marB="0" marT="17780"/>
                </a:tc>
              </a:tr>
              <a:tr h="335280">
                <a:tc>
                  <a:txBody>
                    <a:bodyPr/>
                    <a:lstStyle/>
                    <a:p>
                      <a:pPr algn="ctr" marR="41910">
                        <a:lnSpc>
                          <a:spcPts val="2540"/>
                        </a:lnSpc>
                      </a:pPr>
                      <a:r>
                        <a:rPr dirty="0" sz="2400" spc="-10" b="1">
                          <a:solidFill>
                            <a:srgbClr val="40458B"/>
                          </a:solidFill>
                          <a:latin typeface="黑体"/>
                          <a:cs typeface="黑体"/>
                        </a:rPr>
                        <a:t>B[i+2]</a:t>
                      </a:r>
                      <a:endParaRPr sz="2400">
                        <a:latin typeface="黑体"/>
                        <a:cs typeface="黑体"/>
                      </a:endParaRPr>
                    </a:p>
                  </a:txBody>
                  <a:tcPr marL="0" marR="0" marB="0" marT="0"/>
                </a:tc>
                <a:tc>
                  <a:txBody>
                    <a:bodyPr/>
                    <a:lstStyle/>
                    <a:p>
                      <a:pPr algn="ctr" marR="1905">
                        <a:lnSpc>
                          <a:spcPts val="2540"/>
                        </a:lnSpc>
                      </a:pPr>
                      <a:r>
                        <a:rPr dirty="0" sz="2400" spc="-50" b="1">
                          <a:solidFill>
                            <a:srgbClr val="40458B"/>
                          </a:solidFill>
                          <a:latin typeface="黑体"/>
                          <a:cs typeface="黑体"/>
                        </a:rPr>
                        <a:t>=</a:t>
                      </a:r>
                      <a:endParaRPr sz="2400">
                        <a:latin typeface="黑体"/>
                        <a:cs typeface="黑体"/>
                      </a:endParaRPr>
                    </a:p>
                  </a:txBody>
                  <a:tcPr marL="0" marR="0" marB="0" marT="0"/>
                </a:tc>
                <a:tc gridSpan="2">
                  <a:txBody>
                    <a:bodyPr/>
                    <a:lstStyle/>
                    <a:p>
                      <a:pPr marL="73025">
                        <a:lnSpc>
                          <a:spcPts val="2540"/>
                        </a:lnSpc>
                      </a:pPr>
                      <a:r>
                        <a:rPr dirty="0" sz="2400" spc="-10" b="1">
                          <a:solidFill>
                            <a:srgbClr val="40458B"/>
                          </a:solidFill>
                          <a:latin typeface="黑体"/>
                          <a:cs typeface="黑体"/>
                        </a:rPr>
                        <a:t>B[i+1]</a:t>
                      </a:r>
                      <a:endParaRPr sz="2400">
                        <a:latin typeface="黑体"/>
                        <a:cs typeface="黑体"/>
                      </a:endParaRPr>
                    </a:p>
                  </a:txBody>
                  <a:tcPr marL="0" marR="0" marB="0" marT="0"/>
                </a:tc>
                <a:tc hMerge="1">
                  <a:txBody>
                    <a:bodyPr/>
                    <a:lstStyle/>
                    <a:p>
                      <a:pPr/>
                    </a:p>
                  </a:txBody>
                  <a:tcPr marL="0" marR="0" marB="0" marT="0"/>
                </a:tc>
                <a:tc>
                  <a:txBody>
                    <a:bodyPr/>
                    <a:lstStyle/>
                    <a:p>
                      <a:pPr marL="72390">
                        <a:lnSpc>
                          <a:spcPts val="2540"/>
                        </a:lnSpc>
                      </a:pPr>
                      <a:r>
                        <a:rPr dirty="0" sz="2400" b="1">
                          <a:solidFill>
                            <a:srgbClr val="40458B"/>
                          </a:solidFill>
                          <a:latin typeface="黑体"/>
                          <a:cs typeface="黑体"/>
                        </a:rPr>
                        <a:t>+</a:t>
                      </a:r>
                      <a:r>
                        <a:rPr dirty="0" sz="2400" spc="-15" b="1">
                          <a:solidFill>
                            <a:srgbClr val="40458B"/>
                          </a:solidFill>
                          <a:latin typeface="黑体"/>
                          <a:cs typeface="黑体"/>
                        </a:rPr>
                        <a:t> </a:t>
                      </a:r>
                      <a:r>
                        <a:rPr dirty="0" sz="2400" spc="-10" b="1">
                          <a:solidFill>
                            <a:srgbClr val="40458B"/>
                          </a:solidFill>
                          <a:latin typeface="黑体"/>
                          <a:cs typeface="黑体"/>
                        </a:rPr>
                        <a:t>A[i+2]；</a:t>
                      </a:r>
                      <a:endParaRPr sz="2400">
                        <a:latin typeface="黑体"/>
                        <a:cs typeface="黑体"/>
                      </a:endParaRPr>
                    </a:p>
                  </a:txBody>
                  <a:tcPr marL="0" marR="0" marB="0" marT="0"/>
                </a:tc>
                <a:tc>
                  <a:txBody>
                    <a:bodyPr/>
                    <a:lstStyle/>
                    <a:p>
                      <a:pPr algn="r" marR="19050">
                        <a:lnSpc>
                          <a:spcPts val="2540"/>
                        </a:lnSpc>
                      </a:pPr>
                      <a:r>
                        <a:rPr dirty="0" sz="2400" spc="-25" b="1">
                          <a:latin typeface="黑体"/>
                          <a:cs typeface="黑体"/>
                        </a:rPr>
                        <a:t>/*</a:t>
                      </a:r>
                      <a:endParaRPr sz="2400">
                        <a:latin typeface="黑体"/>
                        <a:cs typeface="黑体"/>
                      </a:endParaRPr>
                    </a:p>
                  </a:txBody>
                  <a:tcPr marL="0" marR="0" marB="0" marT="0"/>
                </a:tc>
                <a:tc>
                  <a:txBody>
                    <a:bodyPr/>
                    <a:lstStyle/>
                    <a:p>
                      <a:pPr algn="r" marR="19050">
                        <a:lnSpc>
                          <a:spcPts val="2540"/>
                        </a:lnSpc>
                      </a:pPr>
                      <a:r>
                        <a:rPr dirty="0" sz="2400" spc="-25" b="1">
                          <a:latin typeface="黑体"/>
                          <a:cs typeface="黑体"/>
                        </a:rPr>
                        <a:t>S4</a:t>
                      </a:r>
                      <a:endParaRPr sz="2400">
                        <a:latin typeface="黑体"/>
                        <a:cs typeface="黑体"/>
                      </a:endParaRPr>
                    </a:p>
                  </a:txBody>
                  <a:tcPr marL="0" marR="0" marB="0" marT="0"/>
                </a:tc>
                <a:tc>
                  <a:txBody>
                    <a:bodyPr/>
                    <a:lstStyle/>
                    <a:p>
                      <a:pPr algn="r" marR="24130">
                        <a:lnSpc>
                          <a:spcPts val="2540"/>
                        </a:lnSpc>
                      </a:pPr>
                      <a:r>
                        <a:rPr dirty="0" sz="2400" spc="-25" b="1">
                          <a:latin typeface="黑体"/>
                          <a:cs typeface="黑体"/>
                        </a:rPr>
                        <a:t>*/</a:t>
                      </a:r>
                      <a:endParaRPr sz="2400">
                        <a:latin typeface="黑体"/>
                        <a:cs typeface="黑体"/>
                      </a:endParaRPr>
                    </a:p>
                  </a:txBody>
                  <a:tcPr marL="0" marR="0" marB="0" marT="0"/>
                </a:tc>
              </a:tr>
            </a:tbl>
          </a:graphicData>
        </a:graphic>
      </p:graphicFrame>
      <p:sp>
        <p:nvSpPr>
          <p:cNvPr id="10" name="object 10" descr=""/>
          <p:cNvSpPr/>
          <p:nvPr/>
        </p:nvSpPr>
        <p:spPr>
          <a:xfrm>
            <a:off x="3041650" y="1175130"/>
            <a:ext cx="622935" cy="1040130"/>
          </a:xfrm>
          <a:custGeom>
            <a:avLst/>
            <a:gdLst/>
            <a:ahLst/>
            <a:cxnLst/>
            <a:rect l="l" t="t" r="r" b="b"/>
            <a:pathLst>
              <a:path w="622935" h="1040130">
                <a:moveTo>
                  <a:pt x="612971" y="964311"/>
                </a:moveTo>
                <a:lnTo>
                  <a:pt x="580516" y="964311"/>
                </a:lnTo>
                <a:lnTo>
                  <a:pt x="582549" y="986536"/>
                </a:lnTo>
                <a:lnTo>
                  <a:pt x="570330" y="987655"/>
                </a:lnTo>
                <a:lnTo>
                  <a:pt x="577469" y="1040003"/>
                </a:lnTo>
                <a:lnTo>
                  <a:pt x="619251" y="970280"/>
                </a:lnTo>
                <a:lnTo>
                  <a:pt x="612971" y="964311"/>
                </a:lnTo>
                <a:close/>
              </a:path>
              <a:path w="622935" h="1040130">
                <a:moveTo>
                  <a:pt x="437261" y="12827"/>
                </a:moveTo>
                <a:lnTo>
                  <a:pt x="385699" y="16129"/>
                </a:lnTo>
                <a:lnTo>
                  <a:pt x="327660" y="26924"/>
                </a:lnTo>
                <a:lnTo>
                  <a:pt x="281813" y="41021"/>
                </a:lnTo>
                <a:lnTo>
                  <a:pt x="238760" y="59563"/>
                </a:lnTo>
                <a:lnTo>
                  <a:pt x="198881" y="82296"/>
                </a:lnTo>
                <a:lnTo>
                  <a:pt x="161925" y="108712"/>
                </a:lnTo>
                <a:lnTo>
                  <a:pt x="128397" y="138811"/>
                </a:lnTo>
                <a:lnTo>
                  <a:pt x="98298" y="172085"/>
                </a:lnTo>
                <a:lnTo>
                  <a:pt x="71881" y="208280"/>
                </a:lnTo>
                <a:lnTo>
                  <a:pt x="49530" y="247142"/>
                </a:lnTo>
                <a:lnTo>
                  <a:pt x="30987" y="288417"/>
                </a:lnTo>
                <a:lnTo>
                  <a:pt x="16637" y="331724"/>
                </a:lnTo>
                <a:lnTo>
                  <a:pt x="6604" y="376682"/>
                </a:lnTo>
                <a:lnTo>
                  <a:pt x="1016" y="423291"/>
                </a:lnTo>
                <a:lnTo>
                  <a:pt x="0" y="447040"/>
                </a:lnTo>
                <a:lnTo>
                  <a:pt x="240" y="469773"/>
                </a:lnTo>
                <a:lnTo>
                  <a:pt x="254" y="471043"/>
                </a:lnTo>
                <a:lnTo>
                  <a:pt x="1404" y="493014"/>
                </a:lnTo>
                <a:lnTo>
                  <a:pt x="1524" y="495300"/>
                </a:lnTo>
                <a:lnTo>
                  <a:pt x="8000" y="544322"/>
                </a:lnTo>
                <a:lnTo>
                  <a:pt x="19431" y="593725"/>
                </a:lnTo>
                <a:lnTo>
                  <a:pt x="35687" y="642239"/>
                </a:lnTo>
                <a:lnTo>
                  <a:pt x="56261" y="688340"/>
                </a:lnTo>
                <a:lnTo>
                  <a:pt x="80644" y="731901"/>
                </a:lnTo>
                <a:lnTo>
                  <a:pt x="108838" y="772922"/>
                </a:lnTo>
                <a:lnTo>
                  <a:pt x="140335" y="810895"/>
                </a:lnTo>
                <a:lnTo>
                  <a:pt x="174751" y="845693"/>
                </a:lnTo>
                <a:lnTo>
                  <a:pt x="212089" y="877316"/>
                </a:lnTo>
                <a:lnTo>
                  <a:pt x="251713" y="905510"/>
                </a:lnTo>
                <a:lnTo>
                  <a:pt x="293624" y="929894"/>
                </a:lnTo>
                <a:lnTo>
                  <a:pt x="337312" y="950341"/>
                </a:lnTo>
                <a:lnTo>
                  <a:pt x="382524" y="966851"/>
                </a:lnTo>
                <a:lnTo>
                  <a:pt x="429005" y="979043"/>
                </a:lnTo>
                <a:lnTo>
                  <a:pt x="476503" y="986790"/>
                </a:lnTo>
                <a:lnTo>
                  <a:pt x="524637" y="989838"/>
                </a:lnTo>
                <a:lnTo>
                  <a:pt x="549275" y="989584"/>
                </a:lnTo>
                <a:lnTo>
                  <a:pt x="570330" y="987655"/>
                </a:lnTo>
                <a:lnTo>
                  <a:pt x="567597" y="967613"/>
                </a:lnTo>
                <a:lnTo>
                  <a:pt x="524383" y="967613"/>
                </a:lnTo>
                <a:lnTo>
                  <a:pt x="501396" y="966724"/>
                </a:lnTo>
                <a:lnTo>
                  <a:pt x="455802" y="961517"/>
                </a:lnTo>
                <a:lnTo>
                  <a:pt x="410717" y="951865"/>
                </a:lnTo>
                <a:lnTo>
                  <a:pt x="366775" y="938022"/>
                </a:lnTo>
                <a:lnTo>
                  <a:pt x="324230" y="920242"/>
                </a:lnTo>
                <a:lnTo>
                  <a:pt x="283210" y="898652"/>
                </a:lnTo>
                <a:lnTo>
                  <a:pt x="244094" y="873379"/>
                </a:lnTo>
                <a:lnTo>
                  <a:pt x="207137" y="844677"/>
                </a:lnTo>
                <a:lnTo>
                  <a:pt x="172719" y="812800"/>
                </a:lnTo>
                <a:lnTo>
                  <a:pt x="140969" y="777621"/>
                </a:lnTo>
                <a:lnTo>
                  <a:pt x="112394" y="739775"/>
                </a:lnTo>
                <a:lnTo>
                  <a:pt x="87122" y="699135"/>
                </a:lnTo>
                <a:lnTo>
                  <a:pt x="65531" y="656082"/>
                </a:lnTo>
                <a:lnTo>
                  <a:pt x="48006" y="610616"/>
                </a:lnTo>
                <a:lnTo>
                  <a:pt x="34670" y="563372"/>
                </a:lnTo>
                <a:lnTo>
                  <a:pt x="26035" y="516255"/>
                </a:lnTo>
                <a:lnTo>
                  <a:pt x="22428" y="471043"/>
                </a:lnTo>
                <a:lnTo>
                  <a:pt x="22351" y="469773"/>
                </a:lnTo>
                <a:lnTo>
                  <a:pt x="23241" y="424180"/>
                </a:lnTo>
                <a:lnTo>
                  <a:pt x="28575" y="379857"/>
                </a:lnTo>
                <a:lnTo>
                  <a:pt x="38226" y="337058"/>
                </a:lnTo>
                <a:lnTo>
                  <a:pt x="51816" y="295910"/>
                </a:lnTo>
                <a:lnTo>
                  <a:pt x="69468" y="256794"/>
                </a:lnTo>
                <a:lnTo>
                  <a:pt x="90931" y="219837"/>
                </a:lnTo>
                <a:lnTo>
                  <a:pt x="115950" y="185547"/>
                </a:lnTo>
                <a:lnTo>
                  <a:pt x="144525" y="154178"/>
                </a:lnTo>
                <a:lnTo>
                  <a:pt x="176275" y="125730"/>
                </a:lnTo>
                <a:lnTo>
                  <a:pt x="211200" y="100711"/>
                </a:lnTo>
                <a:lnTo>
                  <a:pt x="249174" y="79248"/>
                </a:lnTo>
                <a:lnTo>
                  <a:pt x="290195" y="61595"/>
                </a:lnTo>
                <a:lnTo>
                  <a:pt x="333628" y="48260"/>
                </a:lnTo>
                <a:lnTo>
                  <a:pt x="372490" y="40386"/>
                </a:lnTo>
                <a:lnTo>
                  <a:pt x="421386" y="35560"/>
                </a:lnTo>
                <a:lnTo>
                  <a:pt x="437896" y="35052"/>
                </a:lnTo>
                <a:lnTo>
                  <a:pt x="550258" y="35052"/>
                </a:lnTo>
                <a:lnTo>
                  <a:pt x="552969" y="26274"/>
                </a:lnTo>
                <a:lnTo>
                  <a:pt x="506602" y="17272"/>
                </a:lnTo>
                <a:lnTo>
                  <a:pt x="454533" y="13081"/>
                </a:lnTo>
                <a:lnTo>
                  <a:pt x="437261" y="12827"/>
                </a:lnTo>
                <a:close/>
              </a:path>
              <a:path w="622935" h="1040130">
                <a:moveTo>
                  <a:pt x="580516" y="964311"/>
                </a:moveTo>
                <a:lnTo>
                  <a:pt x="567312" y="965520"/>
                </a:lnTo>
                <a:lnTo>
                  <a:pt x="570178" y="986536"/>
                </a:lnTo>
                <a:lnTo>
                  <a:pt x="570212" y="986790"/>
                </a:lnTo>
                <a:lnTo>
                  <a:pt x="570330" y="987655"/>
                </a:lnTo>
                <a:lnTo>
                  <a:pt x="582549" y="986536"/>
                </a:lnTo>
                <a:lnTo>
                  <a:pt x="580818" y="967613"/>
                </a:lnTo>
                <a:lnTo>
                  <a:pt x="580737" y="966724"/>
                </a:lnTo>
                <a:lnTo>
                  <a:pt x="580627" y="965520"/>
                </a:lnTo>
                <a:lnTo>
                  <a:pt x="580516" y="964311"/>
                </a:lnTo>
                <a:close/>
              </a:path>
              <a:path w="622935" h="1040130">
                <a:moveTo>
                  <a:pt x="567312" y="965520"/>
                </a:moveTo>
                <a:lnTo>
                  <a:pt x="547242" y="967359"/>
                </a:lnTo>
                <a:lnTo>
                  <a:pt x="524383" y="967613"/>
                </a:lnTo>
                <a:lnTo>
                  <a:pt x="567597" y="967613"/>
                </a:lnTo>
                <a:lnTo>
                  <a:pt x="567312" y="965520"/>
                </a:lnTo>
                <a:close/>
              </a:path>
              <a:path w="622935" h="1040130">
                <a:moveTo>
                  <a:pt x="560324" y="914273"/>
                </a:moveTo>
                <a:lnTo>
                  <a:pt x="567147" y="964311"/>
                </a:lnTo>
                <a:lnTo>
                  <a:pt x="567199" y="964692"/>
                </a:lnTo>
                <a:lnTo>
                  <a:pt x="567312" y="965520"/>
                </a:lnTo>
                <a:lnTo>
                  <a:pt x="580516" y="964311"/>
                </a:lnTo>
                <a:lnTo>
                  <a:pt x="612971" y="964311"/>
                </a:lnTo>
                <a:lnTo>
                  <a:pt x="560324" y="914273"/>
                </a:lnTo>
                <a:close/>
              </a:path>
              <a:path w="622935" h="1040130">
                <a:moveTo>
                  <a:pt x="546415" y="47493"/>
                </a:moveTo>
                <a:lnTo>
                  <a:pt x="538607" y="72771"/>
                </a:lnTo>
                <a:lnTo>
                  <a:pt x="622553" y="58928"/>
                </a:lnTo>
                <a:lnTo>
                  <a:pt x="614208" y="50927"/>
                </a:lnTo>
                <a:lnTo>
                  <a:pt x="559053" y="50927"/>
                </a:lnTo>
                <a:lnTo>
                  <a:pt x="546415" y="47493"/>
                </a:lnTo>
                <a:close/>
              </a:path>
              <a:path w="622935" h="1040130">
                <a:moveTo>
                  <a:pt x="552969" y="26274"/>
                </a:moveTo>
                <a:lnTo>
                  <a:pt x="546415" y="47493"/>
                </a:lnTo>
                <a:lnTo>
                  <a:pt x="559053" y="50927"/>
                </a:lnTo>
                <a:lnTo>
                  <a:pt x="564769" y="29464"/>
                </a:lnTo>
                <a:lnTo>
                  <a:pt x="552969" y="26274"/>
                </a:lnTo>
                <a:close/>
              </a:path>
              <a:path w="622935" h="1040130">
                <a:moveTo>
                  <a:pt x="561086" y="0"/>
                </a:moveTo>
                <a:lnTo>
                  <a:pt x="552969" y="26274"/>
                </a:lnTo>
                <a:lnTo>
                  <a:pt x="564769" y="29464"/>
                </a:lnTo>
                <a:lnTo>
                  <a:pt x="559053" y="50927"/>
                </a:lnTo>
                <a:lnTo>
                  <a:pt x="614208" y="50927"/>
                </a:lnTo>
                <a:lnTo>
                  <a:pt x="561086" y="0"/>
                </a:lnTo>
                <a:close/>
              </a:path>
              <a:path w="622935" h="1040130">
                <a:moveTo>
                  <a:pt x="550258" y="35052"/>
                </a:moveTo>
                <a:lnTo>
                  <a:pt x="437896" y="35052"/>
                </a:lnTo>
                <a:lnTo>
                  <a:pt x="454278" y="35306"/>
                </a:lnTo>
                <a:lnTo>
                  <a:pt x="470915" y="36068"/>
                </a:lnTo>
                <a:lnTo>
                  <a:pt x="520573" y="41783"/>
                </a:lnTo>
                <a:lnTo>
                  <a:pt x="546415" y="47493"/>
                </a:lnTo>
                <a:lnTo>
                  <a:pt x="550101" y="35560"/>
                </a:lnTo>
                <a:lnTo>
                  <a:pt x="550179" y="35306"/>
                </a:lnTo>
                <a:lnTo>
                  <a:pt x="550258" y="35052"/>
                </a:lnTo>
                <a:close/>
              </a:path>
            </a:pathLst>
          </a:custGeom>
          <a:solidFill>
            <a:srgbClr val="FF0000"/>
          </a:solidFill>
        </p:spPr>
        <p:txBody>
          <a:bodyPr wrap="square" lIns="0" tIns="0" rIns="0" bIns="0" rtlCol="0"/>
          <a:lstStyle/>
          <a:p/>
        </p:txBody>
      </p:sp>
      <p:sp>
        <p:nvSpPr>
          <p:cNvPr id="11" name="object 11" descr=""/>
          <p:cNvSpPr txBox="1"/>
          <p:nvPr/>
        </p:nvSpPr>
        <p:spPr>
          <a:xfrm>
            <a:off x="538987" y="490992"/>
            <a:ext cx="11430000" cy="5514975"/>
          </a:xfrm>
          <a:prstGeom prst="rect">
            <a:avLst/>
          </a:prstGeom>
        </p:spPr>
        <p:txBody>
          <a:bodyPr wrap="square" lIns="0" tIns="226060" rIns="0" bIns="0" rtlCol="0" vert="horz">
            <a:spAutoFit/>
          </a:bodyPr>
          <a:lstStyle/>
          <a:p>
            <a:pPr marL="1263650">
              <a:lnSpc>
                <a:spcPct val="100000"/>
              </a:lnSpc>
              <a:spcBef>
                <a:spcPts val="1780"/>
              </a:spcBef>
            </a:pPr>
            <a:r>
              <a:rPr dirty="0" sz="2400" spc="-10" b="1">
                <a:solidFill>
                  <a:srgbClr val="40458B"/>
                </a:solidFill>
                <a:latin typeface="黑体"/>
                <a:cs typeface="黑体"/>
              </a:rPr>
              <a:t>for（i=1；i&lt;=100；i=</a:t>
            </a:r>
            <a:r>
              <a:rPr dirty="0" sz="2400" spc="-10" b="1">
                <a:solidFill>
                  <a:srgbClr val="FF0000"/>
                </a:solidFill>
                <a:latin typeface="黑体"/>
                <a:cs typeface="黑体"/>
              </a:rPr>
              <a:t>i+2</a:t>
            </a:r>
            <a:r>
              <a:rPr dirty="0" sz="2400" spc="-10" b="1">
                <a:solidFill>
                  <a:srgbClr val="40458B"/>
                </a:solidFill>
                <a:latin typeface="黑体"/>
                <a:cs typeface="黑体"/>
              </a:rPr>
              <a:t>）{</a:t>
            </a:r>
            <a:endParaRPr sz="2400">
              <a:latin typeface="黑体"/>
              <a:cs typeface="黑体"/>
            </a:endParaRPr>
          </a:p>
          <a:p>
            <a:pPr marL="366395">
              <a:lnSpc>
                <a:spcPct val="100000"/>
              </a:lnSpc>
              <a:spcBef>
                <a:spcPts val="1685"/>
              </a:spcBef>
            </a:pPr>
            <a:r>
              <a:rPr dirty="0" sz="2400" spc="-30">
                <a:solidFill>
                  <a:srgbClr val="40458B"/>
                </a:solidFill>
                <a:latin typeface="Tahoma"/>
                <a:cs typeface="Tahoma"/>
              </a:rPr>
              <a:t>S3</a:t>
            </a:r>
            <a:r>
              <a:rPr dirty="0" sz="2400" spc="-10">
                <a:solidFill>
                  <a:srgbClr val="40458B"/>
                </a:solidFill>
                <a:latin typeface="黑体"/>
                <a:cs typeface="黑体"/>
              </a:rPr>
              <a:t>语句不能调度</a:t>
            </a:r>
            <a:endParaRPr sz="2400">
              <a:latin typeface="黑体"/>
              <a:cs typeface="黑体"/>
            </a:endParaRPr>
          </a:p>
          <a:p>
            <a:pPr marL="366395">
              <a:lnSpc>
                <a:spcPct val="100000"/>
              </a:lnSpc>
            </a:pPr>
            <a:r>
              <a:rPr dirty="0" sz="2400">
                <a:solidFill>
                  <a:srgbClr val="40458B"/>
                </a:solidFill>
                <a:latin typeface="黑体"/>
                <a:cs typeface="黑体"/>
              </a:rPr>
              <a:t>到</a:t>
            </a:r>
            <a:r>
              <a:rPr dirty="0" sz="2400" spc="-25">
                <a:solidFill>
                  <a:srgbClr val="40458B"/>
                </a:solidFill>
                <a:latin typeface="Tahoma"/>
                <a:cs typeface="Tahoma"/>
              </a:rPr>
              <a:t>S1</a:t>
            </a:r>
            <a:r>
              <a:rPr dirty="0" sz="2400" spc="-25">
                <a:solidFill>
                  <a:srgbClr val="40458B"/>
                </a:solidFill>
                <a:latin typeface="黑体"/>
                <a:cs typeface="黑体"/>
              </a:rPr>
              <a:t>之前</a:t>
            </a:r>
            <a:endParaRPr sz="2400">
              <a:latin typeface="黑体"/>
              <a:cs typeface="黑体"/>
            </a:endParaRPr>
          </a:p>
          <a:p>
            <a:pPr>
              <a:lnSpc>
                <a:spcPct val="100000"/>
              </a:lnSpc>
              <a:spcBef>
                <a:spcPts val="955"/>
              </a:spcBef>
            </a:pPr>
            <a:endParaRPr sz="2400">
              <a:latin typeface="黑体"/>
              <a:cs typeface="黑体"/>
            </a:endParaRPr>
          </a:p>
          <a:p>
            <a:pPr marL="2798445">
              <a:lnSpc>
                <a:spcPct val="100000"/>
              </a:lnSpc>
              <a:tabLst>
                <a:tab pos="4645660" algn="l"/>
              </a:tabLst>
            </a:pPr>
            <a:r>
              <a:rPr dirty="0" sz="2400" spc="-50" b="1">
                <a:solidFill>
                  <a:srgbClr val="40458B"/>
                </a:solidFill>
                <a:latin typeface="黑体"/>
                <a:cs typeface="黑体"/>
              </a:rPr>
              <a:t>}</a:t>
            </a:r>
            <a:r>
              <a:rPr dirty="0" sz="2400" b="1">
                <a:solidFill>
                  <a:srgbClr val="40458B"/>
                </a:solidFill>
                <a:latin typeface="黑体"/>
                <a:cs typeface="黑体"/>
              </a:rPr>
              <a:t>	</a:t>
            </a:r>
            <a:r>
              <a:rPr dirty="0" sz="2400" spc="-20" b="1">
                <a:solidFill>
                  <a:srgbClr val="FF0000"/>
                </a:solidFill>
                <a:latin typeface="黑体"/>
                <a:cs typeface="黑体"/>
              </a:rPr>
              <a:t>/*循环展开试图解决循换携带相关</a:t>
            </a:r>
            <a:r>
              <a:rPr dirty="0" sz="2400" spc="-25" b="1">
                <a:solidFill>
                  <a:srgbClr val="FF0000"/>
                </a:solidFill>
                <a:latin typeface="黑体"/>
                <a:cs typeface="黑体"/>
              </a:rPr>
              <a:t>*/</a:t>
            </a:r>
            <a:endParaRPr sz="2400">
              <a:latin typeface="黑体"/>
              <a:cs typeface="黑体"/>
            </a:endParaRPr>
          </a:p>
          <a:p>
            <a:pPr marL="12700">
              <a:lnSpc>
                <a:spcPct val="100000"/>
              </a:lnSpc>
              <a:spcBef>
                <a:spcPts val="2370"/>
              </a:spcBef>
            </a:pPr>
            <a:r>
              <a:rPr dirty="0" sz="2400" spc="50" b="1">
                <a:solidFill>
                  <a:srgbClr val="E14B04"/>
                </a:solidFill>
                <a:latin typeface="宋体"/>
                <a:cs typeface="宋体"/>
              </a:rPr>
              <a:t>解 </a:t>
            </a:r>
            <a:r>
              <a:rPr dirty="0" sz="2400" spc="-20" b="1">
                <a:solidFill>
                  <a:srgbClr val="6600FF"/>
                </a:solidFill>
                <a:latin typeface="宋体"/>
                <a:cs typeface="宋体"/>
              </a:rPr>
              <a:t>S1</a:t>
            </a:r>
            <a:r>
              <a:rPr dirty="0" sz="2400" spc="-20" b="1">
                <a:latin typeface="宋体"/>
                <a:cs typeface="宋体"/>
              </a:rPr>
              <a:t>和</a:t>
            </a:r>
            <a:r>
              <a:rPr dirty="0" sz="2400" spc="-20" b="1">
                <a:solidFill>
                  <a:srgbClr val="6600FF"/>
                </a:solidFill>
                <a:latin typeface="宋体"/>
                <a:cs typeface="宋体"/>
              </a:rPr>
              <a:t>S2</a:t>
            </a:r>
            <a:r>
              <a:rPr dirty="0" sz="2400" spc="-25" b="1">
                <a:latin typeface="宋体"/>
                <a:cs typeface="宋体"/>
              </a:rPr>
              <a:t>之间存在两种不同类型的数据相关：</a:t>
            </a:r>
            <a:endParaRPr sz="2400">
              <a:latin typeface="宋体"/>
              <a:cs typeface="宋体"/>
            </a:endParaRPr>
          </a:p>
          <a:p>
            <a:pPr marL="157480">
              <a:lnSpc>
                <a:spcPct val="100000"/>
              </a:lnSpc>
              <a:spcBef>
                <a:spcPts val="1150"/>
              </a:spcBef>
            </a:pPr>
            <a:r>
              <a:rPr dirty="0" sz="2400" spc="-35" b="1">
                <a:solidFill>
                  <a:srgbClr val="FF5CFF"/>
                </a:solidFill>
                <a:latin typeface="黑体"/>
                <a:cs typeface="黑体"/>
              </a:rPr>
              <a:t>分析:</a:t>
            </a:r>
            <a:endParaRPr sz="2400">
              <a:latin typeface="黑体"/>
              <a:cs typeface="黑体"/>
            </a:endParaRPr>
          </a:p>
          <a:p>
            <a:pPr marL="386080" marR="159385" indent="-228600">
              <a:lnSpc>
                <a:spcPct val="120000"/>
              </a:lnSpc>
              <a:spcBef>
                <a:spcPts val="580"/>
              </a:spcBef>
              <a:buFont typeface="Wingdings"/>
              <a:buChar char=""/>
              <a:tabLst>
                <a:tab pos="386080" algn="l"/>
                <a:tab pos="539750" algn="l"/>
              </a:tabLst>
            </a:pPr>
            <a:r>
              <a:rPr dirty="0" sz="1450">
                <a:solidFill>
                  <a:srgbClr val="4668F5"/>
                </a:solidFill>
                <a:latin typeface="Times New Roman"/>
                <a:cs typeface="Times New Roman"/>
              </a:rPr>
              <a:t>	</a:t>
            </a:r>
            <a:r>
              <a:rPr dirty="0" sz="2400" spc="-20" b="1">
                <a:solidFill>
                  <a:srgbClr val="FF5CFF"/>
                </a:solidFill>
                <a:latin typeface="宋体"/>
                <a:cs typeface="宋体"/>
              </a:rPr>
              <a:t>循环携带相关迫使指令只能按照所在迭代的先后顺序依次执行</a:t>
            </a:r>
            <a:r>
              <a:rPr dirty="0" sz="2400" spc="-10" b="1">
                <a:solidFill>
                  <a:srgbClr val="FF5CFF"/>
                </a:solidFill>
                <a:latin typeface="宋体"/>
                <a:cs typeface="宋体"/>
              </a:rPr>
              <a:t>（</a:t>
            </a:r>
            <a:r>
              <a:rPr dirty="0" sz="2400" spc="-25" b="1">
                <a:solidFill>
                  <a:srgbClr val="0000CC"/>
                </a:solidFill>
                <a:latin typeface="宋体"/>
                <a:cs typeface="宋体"/>
              </a:rPr>
              <a:t>调度难以执行，</a:t>
            </a:r>
            <a:r>
              <a:rPr dirty="0" sz="2400" spc="-20" b="1">
                <a:solidFill>
                  <a:srgbClr val="0000CC"/>
                </a:solidFill>
                <a:latin typeface="宋体"/>
                <a:cs typeface="宋体"/>
              </a:rPr>
              <a:t>如红色双向箭头</a:t>
            </a:r>
            <a:r>
              <a:rPr dirty="0" sz="2400" spc="-20" b="1">
                <a:solidFill>
                  <a:srgbClr val="FF5CFF"/>
                </a:solidFill>
                <a:latin typeface="宋体"/>
                <a:cs typeface="宋体"/>
              </a:rPr>
              <a:t>）</a:t>
            </a:r>
            <a:r>
              <a:rPr dirty="0" sz="2400" spc="-50" b="1">
                <a:solidFill>
                  <a:srgbClr val="FF5CFF"/>
                </a:solidFill>
                <a:latin typeface="宋体"/>
                <a:cs typeface="宋体"/>
              </a:rPr>
              <a:t>。</a:t>
            </a:r>
            <a:endParaRPr sz="2400">
              <a:latin typeface="宋体"/>
              <a:cs typeface="宋体"/>
            </a:endParaRPr>
          </a:p>
          <a:p>
            <a:pPr marL="539750" indent="-382270">
              <a:lnSpc>
                <a:spcPct val="100000"/>
              </a:lnSpc>
              <a:spcBef>
                <a:spcPts val="1150"/>
              </a:spcBef>
              <a:buClr>
                <a:srgbClr val="4668F5"/>
              </a:buClr>
              <a:buSzPct val="60416"/>
              <a:buFont typeface="Wingdings"/>
              <a:buChar char=""/>
              <a:tabLst>
                <a:tab pos="539750" algn="l"/>
              </a:tabLst>
            </a:pPr>
            <a:r>
              <a:rPr dirty="0" sz="2400" spc="-25" b="1">
                <a:solidFill>
                  <a:srgbClr val="FF5CFF"/>
                </a:solidFill>
                <a:latin typeface="宋体"/>
                <a:cs typeface="宋体"/>
              </a:rPr>
              <a:t>限制了同一迭代内存在数据相关的各语句之间的相对顺序（</a:t>
            </a:r>
            <a:r>
              <a:rPr dirty="0" sz="2400" spc="-20" b="1">
                <a:solidFill>
                  <a:srgbClr val="FF5CFF"/>
                </a:solidFill>
                <a:latin typeface="宋体"/>
                <a:cs typeface="宋体"/>
              </a:rPr>
              <a:t>例如第</a:t>
            </a:r>
            <a:r>
              <a:rPr dirty="0" sz="2400" spc="-10" b="1">
                <a:solidFill>
                  <a:srgbClr val="FF5CFF"/>
                </a:solidFill>
                <a:latin typeface="黑体"/>
                <a:cs typeface="黑体"/>
              </a:rPr>
              <a:t>i</a:t>
            </a:r>
            <a:r>
              <a:rPr dirty="0" sz="2400" spc="-25" b="1">
                <a:solidFill>
                  <a:srgbClr val="FF5CFF"/>
                </a:solidFill>
                <a:latin typeface="宋体"/>
                <a:cs typeface="宋体"/>
              </a:rPr>
              <a:t>次迭代中</a:t>
            </a:r>
            <a:r>
              <a:rPr dirty="0" sz="2400" spc="-10" b="1">
                <a:solidFill>
                  <a:srgbClr val="FF5CFF"/>
                </a:solidFill>
                <a:latin typeface="黑体"/>
                <a:cs typeface="黑体"/>
              </a:rPr>
              <a:t>S1</a:t>
            </a:r>
            <a:r>
              <a:rPr dirty="0" sz="2400" spc="-50" b="1">
                <a:solidFill>
                  <a:srgbClr val="FF5CFF"/>
                </a:solidFill>
                <a:latin typeface="宋体"/>
                <a:cs typeface="宋体"/>
              </a:rPr>
              <a:t>语</a:t>
            </a:r>
            <a:endParaRPr sz="2400">
              <a:latin typeface="宋体"/>
              <a:cs typeface="宋体"/>
            </a:endParaRPr>
          </a:p>
          <a:p>
            <a:pPr marL="386080">
              <a:lnSpc>
                <a:spcPct val="100000"/>
              </a:lnSpc>
              <a:spcBef>
                <a:spcPts val="580"/>
              </a:spcBef>
            </a:pPr>
            <a:r>
              <a:rPr dirty="0" sz="2400" spc="-20" b="1">
                <a:solidFill>
                  <a:srgbClr val="FF5CFF"/>
                </a:solidFill>
                <a:latin typeface="宋体"/>
                <a:cs typeface="宋体"/>
              </a:rPr>
              <a:t>句中的相关会影响；例如例</a:t>
            </a:r>
            <a:r>
              <a:rPr dirty="0" sz="2400" spc="-20" b="1">
                <a:solidFill>
                  <a:srgbClr val="FF5CFF"/>
                </a:solidFill>
                <a:latin typeface="黑体"/>
                <a:cs typeface="黑体"/>
              </a:rPr>
              <a:t>6.2</a:t>
            </a:r>
            <a:r>
              <a:rPr dirty="0" sz="2400" spc="-25" b="1">
                <a:solidFill>
                  <a:srgbClr val="FF5CFF"/>
                </a:solidFill>
                <a:latin typeface="宋体"/>
                <a:cs typeface="宋体"/>
              </a:rPr>
              <a:t>中的不同迭代中的</a:t>
            </a:r>
            <a:r>
              <a:rPr dirty="0" sz="2400" spc="-20" b="1">
                <a:solidFill>
                  <a:srgbClr val="FF5CFF"/>
                </a:solidFill>
                <a:latin typeface="黑体"/>
                <a:cs typeface="黑体"/>
              </a:rPr>
              <a:t>4</a:t>
            </a:r>
            <a:r>
              <a:rPr dirty="0" sz="2400" spc="-20" b="1">
                <a:solidFill>
                  <a:srgbClr val="FF5CFF"/>
                </a:solidFill>
                <a:latin typeface="宋体"/>
                <a:cs typeface="宋体"/>
              </a:rPr>
              <a:t>个</a:t>
            </a:r>
            <a:r>
              <a:rPr dirty="0" sz="2400" spc="-20" b="1">
                <a:solidFill>
                  <a:srgbClr val="FF5CFF"/>
                </a:solidFill>
                <a:latin typeface="黑体"/>
                <a:cs typeface="黑体"/>
              </a:rPr>
              <a:t>LD</a:t>
            </a:r>
            <a:r>
              <a:rPr dirty="0" sz="2400" spc="-20" b="1">
                <a:solidFill>
                  <a:srgbClr val="FF5CFF"/>
                </a:solidFill>
                <a:latin typeface="宋体"/>
                <a:cs typeface="宋体"/>
              </a:rPr>
              <a:t>指令）</a:t>
            </a:r>
            <a:r>
              <a:rPr dirty="0" sz="2400" spc="-50" b="1">
                <a:solidFill>
                  <a:srgbClr val="FF5CFF"/>
                </a:solidFill>
                <a:latin typeface="宋体"/>
                <a:cs typeface="宋体"/>
              </a:rPr>
              <a:t>。</a:t>
            </a:r>
            <a:endParaRPr sz="2400">
              <a:latin typeface="宋体"/>
              <a:cs typeface="宋体"/>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84/89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683768" y="2533650"/>
            <a:ext cx="11282680" cy="3472179"/>
          </a:xfrm>
          <a:prstGeom prst="rect">
            <a:avLst/>
          </a:prstGeom>
        </p:spPr>
        <p:txBody>
          <a:bodyPr wrap="square" lIns="0" tIns="12700" rIns="0" bIns="0" rtlCol="0" vert="horz">
            <a:spAutoFit/>
          </a:bodyPr>
          <a:lstStyle/>
          <a:p>
            <a:pPr marL="2653665">
              <a:lnSpc>
                <a:spcPct val="100000"/>
              </a:lnSpc>
              <a:spcBef>
                <a:spcPts val="100"/>
              </a:spcBef>
              <a:tabLst>
                <a:tab pos="4500880" algn="l"/>
              </a:tabLst>
            </a:pPr>
            <a:r>
              <a:rPr dirty="0" sz="2400" spc="-50" b="1">
                <a:solidFill>
                  <a:srgbClr val="40458B"/>
                </a:solidFill>
                <a:latin typeface="黑体"/>
                <a:cs typeface="黑体"/>
              </a:rPr>
              <a:t>}</a:t>
            </a:r>
            <a:r>
              <a:rPr dirty="0" sz="2400" b="1">
                <a:solidFill>
                  <a:srgbClr val="40458B"/>
                </a:solidFill>
                <a:latin typeface="黑体"/>
                <a:cs typeface="黑体"/>
              </a:rPr>
              <a:t>	</a:t>
            </a:r>
            <a:r>
              <a:rPr dirty="0" sz="2400" spc="-20" b="1">
                <a:solidFill>
                  <a:srgbClr val="FF0000"/>
                </a:solidFill>
                <a:latin typeface="黑体"/>
                <a:cs typeface="黑体"/>
              </a:rPr>
              <a:t>/*循环展开试图解决循换携带相关</a:t>
            </a:r>
            <a:r>
              <a:rPr dirty="0" sz="2400" spc="-25" b="1">
                <a:solidFill>
                  <a:srgbClr val="FF0000"/>
                </a:solidFill>
                <a:latin typeface="黑体"/>
                <a:cs typeface="黑体"/>
              </a:rPr>
              <a:t>*/</a:t>
            </a:r>
            <a:endParaRPr sz="2400">
              <a:latin typeface="黑体"/>
              <a:cs typeface="黑体"/>
            </a:endParaRPr>
          </a:p>
          <a:p>
            <a:pPr marL="12700">
              <a:lnSpc>
                <a:spcPct val="100000"/>
              </a:lnSpc>
              <a:spcBef>
                <a:spcPts val="2365"/>
              </a:spcBef>
            </a:pPr>
            <a:r>
              <a:rPr dirty="0" sz="2400" spc="-30" b="1">
                <a:solidFill>
                  <a:srgbClr val="FF5CFF"/>
                </a:solidFill>
                <a:latin typeface="黑体"/>
                <a:cs typeface="黑体"/>
              </a:rPr>
              <a:t>结论分析:</a:t>
            </a:r>
            <a:endParaRPr sz="2400">
              <a:latin typeface="黑体"/>
              <a:cs typeface="黑体"/>
            </a:endParaRPr>
          </a:p>
          <a:p>
            <a:pPr marL="394970" indent="-382270">
              <a:lnSpc>
                <a:spcPct val="100000"/>
              </a:lnSpc>
              <a:spcBef>
                <a:spcPts val="1150"/>
              </a:spcBef>
              <a:buClr>
                <a:srgbClr val="4668F5"/>
              </a:buClr>
              <a:buSzPct val="60416"/>
              <a:buFont typeface="Wingdings"/>
              <a:buChar char=""/>
              <a:tabLst>
                <a:tab pos="394970" algn="l"/>
              </a:tabLst>
            </a:pPr>
            <a:r>
              <a:rPr dirty="0" sz="2400" spc="-30" b="1">
                <a:solidFill>
                  <a:srgbClr val="0000CC"/>
                </a:solidFill>
                <a:latin typeface="宋体"/>
                <a:cs typeface="宋体"/>
              </a:rPr>
              <a:t>循环携带相关是限制循环级并行开发的主要因素。</a:t>
            </a:r>
            <a:endParaRPr sz="2400">
              <a:latin typeface="宋体"/>
              <a:cs typeface="宋体"/>
            </a:endParaRPr>
          </a:p>
          <a:p>
            <a:pPr marL="241300" marR="5080" indent="-228600">
              <a:lnSpc>
                <a:spcPct val="120000"/>
              </a:lnSpc>
              <a:spcBef>
                <a:spcPts val="580"/>
              </a:spcBef>
              <a:buClr>
                <a:srgbClr val="4668F5"/>
              </a:buClr>
              <a:buSzPct val="60416"/>
              <a:buFont typeface="Wingdings"/>
              <a:buChar char=""/>
              <a:tabLst>
                <a:tab pos="241300" algn="l"/>
              </a:tabLst>
            </a:pPr>
            <a:r>
              <a:rPr dirty="0" sz="2400" spc="-20" b="1">
                <a:solidFill>
                  <a:srgbClr val="0000CC"/>
                </a:solidFill>
                <a:latin typeface="宋体"/>
                <a:cs typeface="宋体"/>
              </a:rPr>
              <a:t>实际上，循环级并行指的是</a:t>
            </a:r>
            <a:r>
              <a:rPr dirty="0" sz="2400" spc="-20" b="1">
                <a:solidFill>
                  <a:srgbClr val="FF0000"/>
                </a:solidFill>
                <a:latin typeface="宋体"/>
                <a:cs typeface="宋体"/>
              </a:rPr>
              <a:t>循环中</a:t>
            </a:r>
            <a:r>
              <a:rPr dirty="0" sz="2400" spc="-20" b="1">
                <a:solidFill>
                  <a:srgbClr val="00AF50"/>
                </a:solidFill>
                <a:latin typeface="宋体"/>
                <a:cs typeface="宋体"/>
              </a:rPr>
              <a:t>不同迭代之间</a:t>
            </a:r>
            <a:r>
              <a:rPr dirty="0" sz="2400" spc="-20" b="1">
                <a:solidFill>
                  <a:srgbClr val="0000CC"/>
                </a:solidFill>
                <a:latin typeface="宋体"/>
                <a:cs typeface="宋体"/>
              </a:rPr>
              <a:t>的并行，并行粒度更粗（</a:t>
            </a:r>
            <a:r>
              <a:rPr dirty="0" sz="2400" spc="-30" b="1">
                <a:solidFill>
                  <a:srgbClr val="0000CC"/>
                </a:solidFill>
                <a:latin typeface="宋体"/>
                <a:cs typeface="宋体"/>
              </a:rPr>
              <a:t>迭代之间</a:t>
            </a:r>
            <a:r>
              <a:rPr dirty="0" sz="2400" spc="-20" b="1">
                <a:solidFill>
                  <a:srgbClr val="0000CC"/>
                </a:solidFill>
                <a:latin typeface="宋体"/>
                <a:cs typeface="宋体"/>
              </a:rPr>
              <a:t>对比指令之间）</a:t>
            </a:r>
            <a:r>
              <a:rPr dirty="0" sz="2400" spc="-25" b="1">
                <a:solidFill>
                  <a:srgbClr val="0000CC"/>
                </a:solidFill>
                <a:latin typeface="宋体"/>
                <a:cs typeface="宋体"/>
              </a:rPr>
              <a:t>。因为每个循环中含有多条指令。</a:t>
            </a:r>
            <a:endParaRPr sz="2400">
              <a:latin typeface="宋体"/>
              <a:cs typeface="宋体"/>
            </a:endParaRPr>
          </a:p>
          <a:p>
            <a:pPr marL="240665" indent="-227965">
              <a:lnSpc>
                <a:spcPct val="100000"/>
              </a:lnSpc>
              <a:spcBef>
                <a:spcPts val="1150"/>
              </a:spcBef>
              <a:buClr>
                <a:srgbClr val="4668F5"/>
              </a:buClr>
              <a:buSzPct val="60416"/>
              <a:buFont typeface="Wingdings"/>
              <a:buChar char=""/>
              <a:tabLst>
                <a:tab pos="240665" algn="l"/>
              </a:tabLst>
            </a:pPr>
            <a:r>
              <a:rPr dirty="0" sz="2400" spc="-30" b="1">
                <a:solidFill>
                  <a:srgbClr val="0000CC"/>
                </a:solidFill>
                <a:latin typeface="宋体"/>
                <a:cs typeface="宋体"/>
              </a:rPr>
              <a:t>如何挖掘循环级并行中的更多指令级并行，关键在于消除不同迭代之间的循环携带</a:t>
            </a:r>
            <a:endParaRPr sz="2400">
              <a:latin typeface="宋体"/>
              <a:cs typeface="宋体"/>
            </a:endParaRPr>
          </a:p>
          <a:p>
            <a:pPr marL="241300">
              <a:lnSpc>
                <a:spcPct val="100000"/>
              </a:lnSpc>
              <a:spcBef>
                <a:spcPts val="580"/>
              </a:spcBef>
            </a:pPr>
            <a:r>
              <a:rPr dirty="0" sz="2400" spc="-25" b="1">
                <a:solidFill>
                  <a:srgbClr val="0000CC"/>
                </a:solidFill>
                <a:latin typeface="宋体"/>
                <a:cs typeface="宋体"/>
              </a:rPr>
              <a:t>相关。如下页。</a:t>
            </a:r>
            <a:endParaRPr sz="2400">
              <a:latin typeface="宋体"/>
              <a:cs typeface="宋体"/>
            </a:endParaRPr>
          </a:p>
        </p:txBody>
      </p:sp>
      <p:sp>
        <p:nvSpPr>
          <p:cNvPr id="9" name="object 9"/>
          <p:cNvSpPr txBox="1">
            <a:spLocks noGrp="1"/>
          </p:cNvSpPr>
          <p:nvPr>
            <p:ph type="title"/>
          </p:nvPr>
        </p:nvSpPr>
        <p:spPr>
          <a:xfrm>
            <a:off x="1403350" y="10303"/>
            <a:ext cx="10801350" cy="1085850"/>
          </a:xfrm>
          <a:prstGeom prst="rect"/>
        </p:spPr>
        <p:txBody>
          <a:bodyPr wrap="square" lIns="0" tIns="130810" rIns="0" bIns="0" rtlCol="0" vert="horz">
            <a:spAutoFit/>
          </a:bodyPr>
          <a:lstStyle/>
          <a:p>
            <a:pPr marL="12700">
              <a:lnSpc>
                <a:spcPct val="100000"/>
              </a:lnSpc>
              <a:spcBef>
                <a:spcPts val="1030"/>
              </a:spcBef>
              <a:tabLst>
                <a:tab pos="1239520" algn="l"/>
                <a:tab pos="10788015" algn="l"/>
              </a:tabLst>
            </a:pPr>
            <a:r>
              <a:rPr dirty="0"/>
              <a:t>	6.5</a:t>
            </a:r>
            <a:r>
              <a:rPr dirty="0" spc="-15"/>
              <a:t> </a:t>
            </a:r>
            <a:r>
              <a:rPr dirty="0"/>
              <a:t>开发更</a:t>
            </a:r>
            <a:r>
              <a:rPr dirty="0" spc="-25"/>
              <a:t>多</a:t>
            </a:r>
            <a:r>
              <a:rPr dirty="0"/>
              <a:t>的指</a:t>
            </a:r>
            <a:r>
              <a:rPr dirty="0" spc="-20"/>
              <a:t>令</a:t>
            </a:r>
            <a:r>
              <a:rPr dirty="0"/>
              <a:t>级并</a:t>
            </a:r>
            <a:r>
              <a:rPr dirty="0" spc="-50"/>
              <a:t>行</a:t>
            </a:r>
            <a:r>
              <a:rPr dirty="0"/>
              <a:t>	</a:t>
            </a:r>
          </a:p>
          <a:p>
            <a:pPr marL="399415">
              <a:lnSpc>
                <a:spcPct val="100000"/>
              </a:lnSpc>
              <a:spcBef>
                <a:spcPts val="695"/>
              </a:spcBef>
            </a:pPr>
            <a:r>
              <a:rPr dirty="0" u="none" sz="2400" spc="-10" b="1">
                <a:solidFill>
                  <a:srgbClr val="40458B"/>
                </a:solidFill>
                <a:latin typeface="黑体"/>
                <a:cs typeface="黑体"/>
              </a:rPr>
              <a:t>for（i=1；i&lt;=100；i=</a:t>
            </a:r>
            <a:r>
              <a:rPr dirty="0" u="none" sz="2400" spc="-10" b="1">
                <a:solidFill>
                  <a:srgbClr val="FF0000"/>
                </a:solidFill>
                <a:latin typeface="黑体"/>
                <a:cs typeface="黑体"/>
              </a:rPr>
              <a:t>i+2</a:t>
            </a:r>
            <a:r>
              <a:rPr dirty="0" u="none" sz="2400" spc="-10" b="1">
                <a:solidFill>
                  <a:srgbClr val="40458B"/>
                </a:solidFill>
                <a:latin typeface="黑体"/>
                <a:cs typeface="黑体"/>
              </a:rPr>
              <a:t>）{</a:t>
            </a:r>
            <a:endParaRPr sz="2400">
              <a:latin typeface="黑体"/>
              <a:cs typeface="黑体"/>
            </a:endParaRPr>
          </a:p>
        </p:txBody>
      </p:sp>
      <p:graphicFrame>
        <p:nvGraphicFramePr>
          <p:cNvPr id="10" name="object 10" descr=""/>
          <p:cNvGraphicFramePr>
            <a:graphicFrameLocks noGrp="1"/>
          </p:cNvGraphicFramePr>
          <p:nvPr/>
        </p:nvGraphicFramePr>
        <p:xfrm>
          <a:off x="3609340" y="1125791"/>
          <a:ext cx="5934710" cy="1401445"/>
        </p:xfrm>
        <a:graphic>
          <a:graphicData uri="http://schemas.openxmlformats.org/drawingml/2006/table">
            <a:tbl>
              <a:tblPr firstRow="1" bandRow="1">
                <a:tableStyleId>{2D5ABB26-0587-4C30-8999-92F81FD0307C}</a:tableStyleId>
              </a:tblPr>
              <a:tblGrid>
                <a:gridCol w="1036955"/>
                <a:gridCol w="307340"/>
                <a:gridCol w="765810"/>
                <a:gridCol w="312419"/>
                <a:gridCol w="1845310"/>
                <a:gridCol w="661670"/>
                <a:gridCol w="461645"/>
                <a:gridCol w="466725"/>
              </a:tblGrid>
              <a:tr h="334645">
                <a:tc>
                  <a:txBody>
                    <a:bodyPr/>
                    <a:lstStyle/>
                    <a:p>
                      <a:pPr algn="ctr" marR="41910">
                        <a:lnSpc>
                          <a:spcPts val="2540"/>
                        </a:lnSpc>
                      </a:pPr>
                      <a:r>
                        <a:rPr dirty="0" sz="2400" spc="-10" b="1">
                          <a:solidFill>
                            <a:srgbClr val="40458B"/>
                          </a:solidFill>
                          <a:latin typeface="黑体"/>
                          <a:cs typeface="黑体"/>
                        </a:rPr>
                        <a:t>A[i+1]</a:t>
                      </a:r>
                      <a:endParaRPr sz="2400">
                        <a:latin typeface="黑体"/>
                        <a:cs typeface="黑体"/>
                      </a:endParaRPr>
                    </a:p>
                  </a:txBody>
                  <a:tcPr marL="0" marR="0" marB="0" marT="0"/>
                </a:tc>
                <a:tc>
                  <a:txBody>
                    <a:bodyPr/>
                    <a:lstStyle/>
                    <a:p>
                      <a:pPr algn="ctr" marR="1905">
                        <a:lnSpc>
                          <a:spcPts val="2540"/>
                        </a:lnSpc>
                      </a:pPr>
                      <a:r>
                        <a:rPr dirty="0" sz="2400" spc="-50" b="1">
                          <a:solidFill>
                            <a:srgbClr val="40458B"/>
                          </a:solidFill>
                          <a:latin typeface="黑体"/>
                          <a:cs typeface="黑体"/>
                        </a:rPr>
                        <a:t>=</a:t>
                      </a:r>
                      <a:endParaRPr sz="2400">
                        <a:latin typeface="黑体"/>
                        <a:cs typeface="黑体"/>
                      </a:endParaRPr>
                    </a:p>
                  </a:txBody>
                  <a:tcPr marL="0" marR="0" marB="0" marT="0"/>
                </a:tc>
                <a:tc>
                  <a:txBody>
                    <a:bodyPr/>
                    <a:lstStyle/>
                    <a:p>
                      <a:pPr algn="ctr">
                        <a:lnSpc>
                          <a:spcPts val="2540"/>
                        </a:lnSpc>
                      </a:pPr>
                      <a:r>
                        <a:rPr dirty="0" sz="2400" spc="-20" b="1">
                          <a:solidFill>
                            <a:srgbClr val="40458B"/>
                          </a:solidFill>
                          <a:latin typeface="黑体"/>
                          <a:cs typeface="黑体"/>
                        </a:rPr>
                        <a:t>A[i]</a:t>
                      </a:r>
                      <a:endParaRPr sz="2400">
                        <a:latin typeface="黑体"/>
                        <a:cs typeface="黑体"/>
                      </a:endParaRPr>
                    </a:p>
                  </a:txBody>
                  <a:tcPr marL="0" marR="0" marB="0" marT="0"/>
                </a:tc>
                <a:tc>
                  <a:txBody>
                    <a:bodyPr/>
                    <a:lstStyle/>
                    <a:p>
                      <a:pPr algn="ctr">
                        <a:lnSpc>
                          <a:spcPts val="2540"/>
                        </a:lnSpc>
                      </a:pPr>
                      <a:r>
                        <a:rPr dirty="0" sz="2400" spc="-50" b="1">
                          <a:solidFill>
                            <a:srgbClr val="40458B"/>
                          </a:solidFill>
                          <a:latin typeface="黑体"/>
                          <a:cs typeface="黑体"/>
                        </a:rPr>
                        <a:t>+</a:t>
                      </a:r>
                      <a:endParaRPr sz="2400">
                        <a:latin typeface="黑体"/>
                        <a:cs typeface="黑体"/>
                      </a:endParaRPr>
                    </a:p>
                  </a:txBody>
                  <a:tcPr marL="0" marR="0" marB="0" marT="0"/>
                </a:tc>
                <a:tc>
                  <a:txBody>
                    <a:bodyPr/>
                    <a:lstStyle/>
                    <a:p>
                      <a:pPr marL="72390">
                        <a:lnSpc>
                          <a:spcPts val="2540"/>
                        </a:lnSpc>
                      </a:pPr>
                      <a:r>
                        <a:rPr dirty="0" sz="2400" spc="-10" b="1">
                          <a:solidFill>
                            <a:srgbClr val="40458B"/>
                          </a:solidFill>
                          <a:latin typeface="黑体"/>
                          <a:cs typeface="黑体"/>
                        </a:rPr>
                        <a:t>C[i]；</a:t>
                      </a:r>
                      <a:endParaRPr sz="2400">
                        <a:latin typeface="黑体"/>
                        <a:cs typeface="黑体"/>
                      </a:endParaRPr>
                    </a:p>
                  </a:txBody>
                  <a:tcPr marL="0" marR="0" marB="0" marT="0"/>
                </a:tc>
                <a:tc>
                  <a:txBody>
                    <a:bodyPr/>
                    <a:lstStyle/>
                    <a:p>
                      <a:pPr algn="r" marR="19050">
                        <a:lnSpc>
                          <a:spcPts val="2540"/>
                        </a:lnSpc>
                      </a:pPr>
                      <a:r>
                        <a:rPr dirty="0" sz="2400" spc="-25" b="1">
                          <a:latin typeface="黑体"/>
                          <a:cs typeface="黑体"/>
                        </a:rPr>
                        <a:t>/*</a:t>
                      </a:r>
                      <a:endParaRPr sz="2400">
                        <a:latin typeface="黑体"/>
                        <a:cs typeface="黑体"/>
                      </a:endParaRPr>
                    </a:p>
                  </a:txBody>
                  <a:tcPr marL="0" marR="0" marB="0" marT="0"/>
                </a:tc>
                <a:tc>
                  <a:txBody>
                    <a:bodyPr/>
                    <a:lstStyle/>
                    <a:p>
                      <a:pPr algn="r" marR="19050">
                        <a:lnSpc>
                          <a:spcPts val="2540"/>
                        </a:lnSpc>
                      </a:pPr>
                      <a:r>
                        <a:rPr dirty="0" sz="2400" spc="-25" b="1">
                          <a:latin typeface="黑体"/>
                          <a:cs typeface="黑体"/>
                        </a:rPr>
                        <a:t>S1</a:t>
                      </a:r>
                      <a:endParaRPr sz="2400">
                        <a:latin typeface="黑体"/>
                        <a:cs typeface="黑体"/>
                      </a:endParaRPr>
                    </a:p>
                  </a:txBody>
                  <a:tcPr marL="0" marR="0" marB="0" marT="0"/>
                </a:tc>
                <a:tc>
                  <a:txBody>
                    <a:bodyPr/>
                    <a:lstStyle/>
                    <a:p>
                      <a:pPr algn="r" marR="24130">
                        <a:lnSpc>
                          <a:spcPts val="2540"/>
                        </a:lnSpc>
                      </a:pPr>
                      <a:r>
                        <a:rPr dirty="0" sz="2400" spc="-25" b="1">
                          <a:latin typeface="黑体"/>
                          <a:cs typeface="黑体"/>
                        </a:rPr>
                        <a:t>*/</a:t>
                      </a:r>
                      <a:endParaRPr sz="2400">
                        <a:latin typeface="黑体"/>
                        <a:cs typeface="黑体"/>
                      </a:endParaRPr>
                    </a:p>
                  </a:txBody>
                  <a:tcPr marL="0" marR="0" marB="0" marT="0"/>
                </a:tc>
              </a:tr>
              <a:tr h="335280">
                <a:tc>
                  <a:txBody>
                    <a:bodyPr/>
                    <a:lstStyle/>
                    <a:p>
                      <a:pPr algn="ctr" marR="41910">
                        <a:lnSpc>
                          <a:spcPts val="2540"/>
                        </a:lnSpc>
                      </a:pPr>
                      <a:r>
                        <a:rPr dirty="0" sz="2400" spc="-10" b="1">
                          <a:solidFill>
                            <a:srgbClr val="40458B"/>
                          </a:solidFill>
                          <a:latin typeface="黑体"/>
                          <a:cs typeface="黑体"/>
                        </a:rPr>
                        <a:t>B[i+1]</a:t>
                      </a:r>
                      <a:endParaRPr sz="2400">
                        <a:latin typeface="黑体"/>
                        <a:cs typeface="黑体"/>
                      </a:endParaRPr>
                    </a:p>
                  </a:txBody>
                  <a:tcPr marL="0" marR="0" marB="0" marT="0"/>
                </a:tc>
                <a:tc>
                  <a:txBody>
                    <a:bodyPr/>
                    <a:lstStyle/>
                    <a:p>
                      <a:pPr algn="ctr" marR="1905">
                        <a:lnSpc>
                          <a:spcPts val="2540"/>
                        </a:lnSpc>
                      </a:pPr>
                      <a:r>
                        <a:rPr dirty="0" sz="2400" spc="-50" b="1">
                          <a:solidFill>
                            <a:srgbClr val="40458B"/>
                          </a:solidFill>
                          <a:latin typeface="黑体"/>
                          <a:cs typeface="黑体"/>
                        </a:rPr>
                        <a:t>=</a:t>
                      </a:r>
                      <a:endParaRPr sz="2400">
                        <a:latin typeface="黑体"/>
                        <a:cs typeface="黑体"/>
                      </a:endParaRPr>
                    </a:p>
                  </a:txBody>
                  <a:tcPr marL="0" marR="0" marB="0" marT="0"/>
                </a:tc>
                <a:tc>
                  <a:txBody>
                    <a:bodyPr/>
                    <a:lstStyle/>
                    <a:p>
                      <a:pPr algn="ctr">
                        <a:lnSpc>
                          <a:spcPts val="2540"/>
                        </a:lnSpc>
                      </a:pPr>
                      <a:r>
                        <a:rPr dirty="0" sz="2400" spc="-20" b="1">
                          <a:solidFill>
                            <a:srgbClr val="40458B"/>
                          </a:solidFill>
                          <a:latin typeface="黑体"/>
                          <a:cs typeface="黑体"/>
                        </a:rPr>
                        <a:t>B[i]</a:t>
                      </a:r>
                      <a:endParaRPr sz="2400">
                        <a:latin typeface="黑体"/>
                        <a:cs typeface="黑体"/>
                      </a:endParaRPr>
                    </a:p>
                  </a:txBody>
                  <a:tcPr marL="0" marR="0" marB="0" marT="0"/>
                </a:tc>
                <a:tc>
                  <a:txBody>
                    <a:bodyPr/>
                    <a:lstStyle/>
                    <a:p>
                      <a:pPr algn="ctr">
                        <a:lnSpc>
                          <a:spcPts val="2540"/>
                        </a:lnSpc>
                      </a:pPr>
                      <a:r>
                        <a:rPr dirty="0" sz="2400" spc="-50" b="1">
                          <a:solidFill>
                            <a:srgbClr val="40458B"/>
                          </a:solidFill>
                          <a:latin typeface="黑体"/>
                          <a:cs typeface="黑体"/>
                        </a:rPr>
                        <a:t>+</a:t>
                      </a:r>
                      <a:endParaRPr sz="2400">
                        <a:latin typeface="黑体"/>
                        <a:cs typeface="黑体"/>
                      </a:endParaRPr>
                    </a:p>
                  </a:txBody>
                  <a:tcPr marL="0" marR="0" marB="0" marT="0"/>
                </a:tc>
                <a:tc>
                  <a:txBody>
                    <a:bodyPr/>
                    <a:lstStyle/>
                    <a:p>
                      <a:pPr marL="72390">
                        <a:lnSpc>
                          <a:spcPts val="2540"/>
                        </a:lnSpc>
                      </a:pPr>
                      <a:r>
                        <a:rPr dirty="0" sz="2400" spc="-10" b="1">
                          <a:solidFill>
                            <a:srgbClr val="40458B"/>
                          </a:solidFill>
                          <a:latin typeface="黑体"/>
                          <a:cs typeface="黑体"/>
                        </a:rPr>
                        <a:t>A[i+1]；</a:t>
                      </a:r>
                      <a:endParaRPr sz="2400">
                        <a:latin typeface="黑体"/>
                        <a:cs typeface="黑体"/>
                      </a:endParaRPr>
                    </a:p>
                  </a:txBody>
                  <a:tcPr marL="0" marR="0" marB="0" marT="0"/>
                </a:tc>
                <a:tc>
                  <a:txBody>
                    <a:bodyPr/>
                    <a:lstStyle/>
                    <a:p>
                      <a:pPr marL="226695">
                        <a:lnSpc>
                          <a:spcPts val="2540"/>
                        </a:lnSpc>
                      </a:pPr>
                      <a:r>
                        <a:rPr dirty="0" sz="2400" spc="-25" b="1">
                          <a:latin typeface="黑体"/>
                          <a:cs typeface="黑体"/>
                        </a:rPr>
                        <a:t>/*</a:t>
                      </a:r>
                      <a:endParaRPr sz="2400">
                        <a:latin typeface="黑体"/>
                        <a:cs typeface="黑体"/>
                      </a:endParaRPr>
                    </a:p>
                  </a:txBody>
                  <a:tcPr marL="0" marR="0" marB="0" marT="0"/>
                </a:tc>
                <a:tc>
                  <a:txBody>
                    <a:bodyPr/>
                    <a:lstStyle/>
                    <a:p>
                      <a:pPr marL="26670">
                        <a:lnSpc>
                          <a:spcPts val="2540"/>
                        </a:lnSpc>
                      </a:pPr>
                      <a:r>
                        <a:rPr dirty="0" sz="2400" spc="-25" b="1">
                          <a:latin typeface="黑体"/>
                          <a:cs typeface="黑体"/>
                        </a:rPr>
                        <a:t>S2</a:t>
                      </a:r>
                      <a:endParaRPr sz="2400">
                        <a:latin typeface="黑体"/>
                        <a:cs typeface="黑体"/>
                      </a:endParaRPr>
                    </a:p>
                  </a:txBody>
                  <a:tcPr marL="0" marR="0" marB="0" marT="0"/>
                </a:tc>
                <a:tc>
                  <a:txBody>
                    <a:bodyPr/>
                    <a:lstStyle/>
                    <a:p>
                      <a:pPr marL="26670">
                        <a:lnSpc>
                          <a:spcPts val="2540"/>
                        </a:lnSpc>
                      </a:pPr>
                      <a:r>
                        <a:rPr dirty="0" sz="2400" spc="-25" b="1">
                          <a:latin typeface="黑体"/>
                          <a:cs typeface="黑体"/>
                        </a:rPr>
                        <a:t>*/</a:t>
                      </a:r>
                      <a:endParaRPr sz="2400">
                        <a:latin typeface="黑体"/>
                        <a:cs typeface="黑体"/>
                      </a:endParaRPr>
                    </a:p>
                  </a:txBody>
                  <a:tcPr marL="0" marR="0" marB="0" marT="0"/>
                </a:tc>
              </a:tr>
              <a:tr h="396240">
                <a:tc>
                  <a:txBody>
                    <a:bodyPr/>
                    <a:lstStyle/>
                    <a:p>
                      <a:pPr algn="ctr" marR="23495">
                        <a:lnSpc>
                          <a:spcPct val="100000"/>
                        </a:lnSpc>
                        <a:spcBef>
                          <a:spcPts val="140"/>
                        </a:spcBef>
                      </a:pPr>
                      <a:r>
                        <a:rPr dirty="0" sz="2400" spc="-10" b="1">
                          <a:solidFill>
                            <a:srgbClr val="40458B"/>
                          </a:solidFill>
                          <a:latin typeface="黑体"/>
                          <a:cs typeface="黑体"/>
                        </a:rPr>
                        <a:t>A[i+2]</a:t>
                      </a:r>
                      <a:endParaRPr sz="2400">
                        <a:latin typeface="黑体"/>
                        <a:cs typeface="黑体"/>
                      </a:endParaRPr>
                    </a:p>
                  </a:txBody>
                  <a:tcPr marL="0" marR="0" marB="0" marT="17780"/>
                </a:tc>
                <a:tc>
                  <a:txBody>
                    <a:bodyPr/>
                    <a:lstStyle/>
                    <a:p>
                      <a:pPr algn="ctr" marL="8255">
                        <a:lnSpc>
                          <a:spcPct val="100000"/>
                        </a:lnSpc>
                        <a:spcBef>
                          <a:spcPts val="140"/>
                        </a:spcBef>
                      </a:pPr>
                      <a:r>
                        <a:rPr dirty="0" sz="2400" spc="-50" b="1">
                          <a:solidFill>
                            <a:srgbClr val="40458B"/>
                          </a:solidFill>
                          <a:latin typeface="黑体"/>
                          <a:cs typeface="黑体"/>
                        </a:rPr>
                        <a:t>=</a:t>
                      </a:r>
                      <a:endParaRPr sz="2400">
                        <a:latin typeface="黑体"/>
                        <a:cs typeface="黑体"/>
                      </a:endParaRPr>
                    </a:p>
                  </a:txBody>
                  <a:tcPr marL="0" marR="0" marB="0" marT="17780"/>
                </a:tc>
                <a:tc gridSpan="2">
                  <a:txBody>
                    <a:bodyPr/>
                    <a:lstStyle/>
                    <a:p>
                      <a:pPr marL="81915">
                        <a:lnSpc>
                          <a:spcPct val="100000"/>
                        </a:lnSpc>
                        <a:spcBef>
                          <a:spcPts val="140"/>
                        </a:spcBef>
                      </a:pPr>
                      <a:r>
                        <a:rPr dirty="0" sz="2400" spc="-10" b="1">
                          <a:solidFill>
                            <a:srgbClr val="40458B"/>
                          </a:solidFill>
                          <a:latin typeface="黑体"/>
                          <a:cs typeface="黑体"/>
                        </a:rPr>
                        <a:t>A[i+1]</a:t>
                      </a:r>
                      <a:endParaRPr sz="2400">
                        <a:latin typeface="黑体"/>
                        <a:cs typeface="黑体"/>
                      </a:endParaRPr>
                    </a:p>
                  </a:txBody>
                  <a:tcPr marL="0" marR="0" marB="0" marT="17780"/>
                </a:tc>
                <a:tc hMerge="1">
                  <a:txBody>
                    <a:bodyPr/>
                    <a:lstStyle/>
                    <a:p>
                      <a:pPr/>
                    </a:p>
                  </a:txBody>
                  <a:tcPr marL="0" marR="0" marB="0" marT="0"/>
                </a:tc>
                <a:tc>
                  <a:txBody>
                    <a:bodyPr/>
                    <a:lstStyle/>
                    <a:p>
                      <a:pPr marL="81280">
                        <a:lnSpc>
                          <a:spcPct val="100000"/>
                        </a:lnSpc>
                        <a:spcBef>
                          <a:spcPts val="140"/>
                        </a:spcBef>
                      </a:pPr>
                      <a:r>
                        <a:rPr dirty="0" sz="2400" b="1">
                          <a:solidFill>
                            <a:srgbClr val="40458B"/>
                          </a:solidFill>
                          <a:latin typeface="黑体"/>
                          <a:cs typeface="黑体"/>
                        </a:rPr>
                        <a:t>+</a:t>
                      </a:r>
                      <a:r>
                        <a:rPr dirty="0" sz="2400" spc="-5" b="1">
                          <a:solidFill>
                            <a:srgbClr val="40458B"/>
                          </a:solidFill>
                          <a:latin typeface="黑体"/>
                          <a:cs typeface="黑体"/>
                        </a:rPr>
                        <a:t> </a:t>
                      </a:r>
                      <a:r>
                        <a:rPr dirty="0" sz="2400" spc="-10" b="1">
                          <a:solidFill>
                            <a:srgbClr val="40458B"/>
                          </a:solidFill>
                          <a:latin typeface="黑体"/>
                          <a:cs typeface="黑体"/>
                        </a:rPr>
                        <a:t>C[i+1]；</a:t>
                      </a:r>
                      <a:endParaRPr sz="2400">
                        <a:latin typeface="黑体"/>
                        <a:cs typeface="黑体"/>
                      </a:endParaRPr>
                    </a:p>
                  </a:txBody>
                  <a:tcPr marL="0" marR="0" marB="0" marT="17780"/>
                </a:tc>
                <a:tc>
                  <a:txBody>
                    <a:bodyPr/>
                    <a:lstStyle/>
                    <a:p>
                      <a:pPr algn="r" marR="19050">
                        <a:lnSpc>
                          <a:spcPct val="100000"/>
                        </a:lnSpc>
                        <a:spcBef>
                          <a:spcPts val="140"/>
                        </a:spcBef>
                      </a:pPr>
                      <a:r>
                        <a:rPr dirty="0" sz="2400" spc="-25" b="1">
                          <a:latin typeface="黑体"/>
                          <a:cs typeface="黑体"/>
                        </a:rPr>
                        <a:t>/*</a:t>
                      </a:r>
                      <a:endParaRPr sz="2400">
                        <a:latin typeface="黑体"/>
                        <a:cs typeface="黑体"/>
                      </a:endParaRPr>
                    </a:p>
                  </a:txBody>
                  <a:tcPr marL="0" marR="0" marB="0" marT="17780"/>
                </a:tc>
                <a:tc>
                  <a:txBody>
                    <a:bodyPr/>
                    <a:lstStyle/>
                    <a:p>
                      <a:pPr algn="r" marR="19050">
                        <a:lnSpc>
                          <a:spcPct val="100000"/>
                        </a:lnSpc>
                        <a:spcBef>
                          <a:spcPts val="140"/>
                        </a:spcBef>
                      </a:pPr>
                      <a:r>
                        <a:rPr dirty="0" sz="2400" spc="-25" b="1">
                          <a:latin typeface="黑体"/>
                          <a:cs typeface="黑体"/>
                        </a:rPr>
                        <a:t>S3</a:t>
                      </a:r>
                      <a:endParaRPr sz="2400">
                        <a:latin typeface="黑体"/>
                        <a:cs typeface="黑体"/>
                      </a:endParaRPr>
                    </a:p>
                  </a:txBody>
                  <a:tcPr marL="0" marR="0" marB="0" marT="17780"/>
                </a:tc>
                <a:tc>
                  <a:txBody>
                    <a:bodyPr/>
                    <a:lstStyle/>
                    <a:p>
                      <a:pPr algn="r" marR="24130">
                        <a:lnSpc>
                          <a:spcPct val="100000"/>
                        </a:lnSpc>
                        <a:spcBef>
                          <a:spcPts val="140"/>
                        </a:spcBef>
                      </a:pPr>
                      <a:r>
                        <a:rPr dirty="0" sz="2400" spc="-25" b="1">
                          <a:latin typeface="黑体"/>
                          <a:cs typeface="黑体"/>
                        </a:rPr>
                        <a:t>*/</a:t>
                      </a:r>
                      <a:endParaRPr sz="2400">
                        <a:latin typeface="黑体"/>
                        <a:cs typeface="黑体"/>
                      </a:endParaRPr>
                    </a:p>
                  </a:txBody>
                  <a:tcPr marL="0" marR="0" marB="0" marT="17780"/>
                </a:tc>
              </a:tr>
              <a:tr h="335280">
                <a:tc>
                  <a:txBody>
                    <a:bodyPr/>
                    <a:lstStyle/>
                    <a:p>
                      <a:pPr algn="ctr" marR="41910">
                        <a:lnSpc>
                          <a:spcPts val="2540"/>
                        </a:lnSpc>
                      </a:pPr>
                      <a:r>
                        <a:rPr dirty="0" sz="2400" spc="-10" b="1">
                          <a:solidFill>
                            <a:srgbClr val="40458B"/>
                          </a:solidFill>
                          <a:latin typeface="黑体"/>
                          <a:cs typeface="黑体"/>
                        </a:rPr>
                        <a:t>B[i+2]</a:t>
                      </a:r>
                      <a:endParaRPr sz="2400">
                        <a:latin typeface="黑体"/>
                        <a:cs typeface="黑体"/>
                      </a:endParaRPr>
                    </a:p>
                  </a:txBody>
                  <a:tcPr marL="0" marR="0" marB="0" marT="0"/>
                </a:tc>
                <a:tc>
                  <a:txBody>
                    <a:bodyPr/>
                    <a:lstStyle/>
                    <a:p>
                      <a:pPr algn="ctr" marR="1905">
                        <a:lnSpc>
                          <a:spcPts val="2540"/>
                        </a:lnSpc>
                      </a:pPr>
                      <a:r>
                        <a:rPr dirty="0" sz="2400" spc="-50" b="1">
                          <a:solidFill>
                            <a:srgbClr val="40458B"/>
                          </a:solidFill>
                          <a:latin typeface="黑体"/>
                          <a:cs typeface="黑体"/>
                        </a:rPr>
                        <a:t>=</a:t>
                      </a:r>
                      <a:endParaRPr sz="2400">
                        <a:latin typeface="黑体"/>
                        <a:cs typeface="黑体"/>
                      </a:endParaRPr>
                    </a:p>
                  </a:txBody>
                  <a:tcPr marL="0" marR="0" marB="0" marT="0"/>
                </a:tc>
                <a:tc gridSpan="2">
                  <a:txBody>
                    <a:bodyPr/>
                    <a:lstStyle/>
                    <a:p>
                      <a:pPr marL="73025">
                        <a:lnSpc>
                          <a:spcPts val="2540"/>
                        </a:lnSpc>
                      </a:pPr>
                      <a:r>
                        <a:rPr dirty="0" sz="2400" spc="-10" b="1">
                          <a:solidFill>
                            <a:srgbClr val="40458B"/>
                          </a:solidFill>
                          <a:latin typeface="黑体"/>
                          <a:cs typeface="黑体"/>
                        </a:rPr>
                        <a:t>B[i+1]</a:t>
                      </a:r>
                      <a:endParaRPr sz="2400">
                        <a:latin typeface="黑体"/>
                        <a:cs typeface="黑体"/>
                      </a:endParaRPr>
                    </a:p>
                  </a:txBody>
                  <a:tcPr marL="0" marR="0" marB="0" marT="0"/>
                </a:tc>
                <a:tc hMerge="1">
                  <a:txBody>
                    <a:bodyPr/>
                    <a:lstStyle/>
                    <a:p>
                      <a:pPr/>
                    </a:p>
                  </a:txBody>
                  <a:tcPr marL="0" marR="0" marB="0" marT="0"/>
                </a:tc>
                <a:tc>
                  <a:txBody>
                    <a:bodyPr/>
                    <a:lstStyle/>
                    <a:p>
                      <a:pPr marL="72390">
                        <a:lnSpc>
                          <a:spcPts val="2540"/>
                        </a:lnSpc>
                      </a:pPr>
                      <a:r>
                        <a:rPr dirty="0" sz="2400" b="1">
                          <a:solidFill>
                            <a:srgbClr val="40458B"/>
                          </a:solidFill>
                          <a:latin typeface="黑体"/>
                          <a:cs typeface="黑体"/>
                        </a:rPr>
                        <a:t>+</a:t>
                      </a:r>
                      <a:r>
                        <a:rPr dirty="0" sz="2400" spc="-15" b="1">
                          <a:solidFill>
                            <a:srgbClr val="40458B"/>
                          </a:solidFill>
                          <a:latin typeface="黑体"/>
                          <a:cs typeface="黑体"/>
                        </a:rPr>
                        <a:t> </a:t>
                      </a:r>
                      <a:r>
                        <a:rPr dirty="0" sz="2400" spc="-10" b="1">
                          <a:solidFill>
                            <a:srgbClr val="40458B"/>
                          </a:solidFill>
                          <a:latin typeface="黑体"/>
                          <a:cs typeface="黑体"/>
                        </a:rPr>
                        <a:t>A[i+2]；</a:t>
                      </a:r>
                      <a:endParaRPr sz="2400">
                        <a:latin typeface="黑体"/>
                        <a:cs typeface="黑体"/>
                      </a:endParaRPr>
                    </a:p>
                  </a:txBody>
                  <a:tcPr marL="0" marR="0" marB="0" marT="0"/>
                </a:tc>
                <a:tc>
                  <a:txBody>
                    <a:bodyPr/>
                    <a:lstStyle/>
                    <a:p>
                      <a:pPr algn="r" marR="19050">
                        <a:lnSpc>
                          <a:spcPts val="2540"/>
                        </a:lnSpc>
                      </a:pPr>
                      <a:r>
                        <a:rPr dirty="0" sz="2400" spc="-25" b="1">
                          <a:latin typeface="黑体"/>
                          <a:cs typeface="黑体"/>
                        </a:rPr>
                        <a:t>/*</a:t>
                      </a:r>
                      <a:endParaRPr sz="2400">
                        <a:latin typeface="黑体"/>
                        <a:cs typeface="黑体"/>
                      </a:endParaRPr>
                    </a:p>
                  </a:txBody>
                  <a:tcPr marL="0" marR="0" marB="0" marT="0"/>
                </a:tc>
                <a:tc>
                  <a:txBody>
                    <a:bodyPr/>
                    <a:lstStyle/>
                    <a:p>
                      <a:pPr algn="r" marR="19050">
                        <a:lnSpc>
                          <a:spcPts val="2540"/>
                        </a:lnSpc>
                      </a:pPr>
                      <a:r>
                        <a:rPr dirty="0" sz="2400" spc="-25" b="1">
                          <a:latin typeface="黑体"/>
                          <a:cs typeface="黑体"/>
                        </a:rPr>
                        <a:t>S4</a:t>
                      </a:r>
                      <a:endParaRPr sz="2400">
                        <a:latin typeface="黑体"/>
                        <a:cs typeface="黑体"/>
                      </a:endParaRPr>
                    </a:p>
                  </a:txBody>
                  <a:tcPr marL="0" marR="0" marB="0" marT="0"/>
                </a:tc>
                <a:tc>
                  <a:txBody>
                    <a:bodyPr/>
                    <a:lstStyle/>
                    <a:p>
                      <a:pPr algn="r" marR="24130">
                        <a:lnSpc>
                          <a:spcPts val="2540"/>
                        </a:lnSpc>
                      </a:pPr>
                      <a:r>
                        <a:rPr dirty="0" sz="2400" spc="-25" b="1">
                          <a:latin typeface="黑体"/>
                          <a:cs typeface="黑体"/>
                        </a:rPr>
                        <a:t>*/</a:t>
                      </a:r>
                      <a:endParaRPr sz="2400">
                        <a:latin typeface="黑体"/>
                        <a:cs typeface="黑体"/>
                      </a:endParaRPr>
                    </a:p>
                  </a:txBody>
                  <a:tcPr marL="0" marR="0" marB="0" marT="0"/>
                </a:tc>
              </a:tr>
            </a:tbl>
          </a:graphicData>
        </a:graphic>
      </p:graphicFrame>
      <p:sp>
        <p:nvSpPr>
          <p:cNvPr id="11" name="object 11" descr=""/>
          <p:cNvSpPr/>
          <p:nvPr/>
        </p:nvSpPr>
        <p:spPr>
          <a:xfrm>
            <a:off x="3041650" y="1175130"/>
            <a:ext cx="622935" cy="1040130"/>
          </a:xfrm>
          <a:custGeom>
            <a:avLst/>
            <a:gdLst/>
            <a:ahLst/>
            <a:cxnLst/>
            <a:rect l="l" t="t" r="r" b="b"/>
            <a:pathLst>
              <a:path w="622935" h="1040130">
                <a:moveTo>
                  <a:pt x="612971" y="964311"/>
                </a:moveTo>
                <a:lnTo>
                  <a:pt x="580516" y="964311"/>
                </a:lnTo>
                <a:lnTo>
                  <a:pt x="582549" y="986536"/>
                </a:lnTo>
                <a:lnTo>
                  <a:pt x="570330" y="987655"/>
                </a:lnTo>
                <a:lnTo>
                  <a:pt x="577469" y="1040003"/>
                </a:lnTo>
                <a:lnTo>
                  <a:pt x="619251" y="970280"/>
                </a:lnTo>
                <a:lnTo>
                  <a:pt x="612971" y="964311"/>
                </a:lnTo>
                <a:close/>
              </a:path>
              <a:path w="622935" h="1040130">
                <a:moveTo>
                  <a:pt x="437261" y="12827"/>
                </a:moveTo>
                <a:lnTo>
                  <a:pt x="385699" y="16129"/>
                </a:lnTo>
                <a:lnTo>
                  <a:pt x="327660" y="26924"/>
                </a:lnTo>
                <a:lnTo>
                  <a:pt x="281813" y="41021"/>
                </a:lnTo>
                <a:lnTo>
                  <a:pt x="238760" y="59563"/>
                </a:lnTo>
                <a:lnTo>
                  <a:pt x="198881" y="82296"/>
                </a:lnTo>
                <a:lnTo>
                  <a:pt x="161925" y="108712"/>
                </a:lnTo>
                <a:lnTo>
                  <a:pt x="128397" y="138811"/>
                </a:lnTo>
                <a:lnTo>
                  <a:pt x="98298" y="172085"/>
                </a:lnTo>
                <a:lnTo>
                  <a:pt x="71881" y="208280"/>
                </a:lnTo>
                <a:lnTo>
                  <a:pt x="49530" y="247142"/>
                </a:lnTo>
                <a:lnTo>
                  <a:pt x="30987" y="288417"/>
                </a:lnTo>
                <a:lnTo>
                  <a:pt x="16637" y="331724"/>
                </a:lnTo>
                <a:lnTo>
                  <a:pt x="6604" y="376682"/>
                </a:lnTo>
                <a:lnTo>
                  <a:pt x="1016" y="423291"/>
                </a:lnTo>
                <a:lnTo>
                  <a:pt x="0" y="447040"/>
                </a:lnTo>
                <a:lnTo>
                  <a:pt x="240" y="469773"/>
                </a:lnTo>
                <a:lnTo>
                  <a:pt x="254" y="471043"/>
                </a:lnTo>
                <a:lnTo>
                  <a:pt x="1404" y="493014"/>
                </a:lnTo>
                <a:lnTo>
                  <a:pt x="1524" y="495300"/>
                </a:lnTo>
                <a:lnTo>
                  <a:pt x="8000" y="544322"/>
                </a:lnTo>
                <a:lnTo>
                  <a:pt x="19431" y="593725"/>
                </a:lnTo>
                <a:lnTo>
                  <a:pt x="35687" y="642239"/>
                </a:lnTo>
                <a:lnTo>
                  <a:pt x="56261" y="688340"/>
                </a:lnTo>
                <a:lnTo>
                  <a:pt x="80644" y="731901"/>
                </a:lnTo>
                <a:lnTo>
                  <a:pt x="108838" y="772922"/>
                </a:lnTo>
                <a:lnTo>
                  <a:pt x="140335" y="810895"/>
                </a:lnTo>
                <a:lnTo>
                  <a:pt x="174751" y="845693"/>
                </a:lnTo>
                <a:lnTo>
                  <a:pt x="212089" y="877316"/>
                </a:lnTo>
                <a:lnTo>
                  <a:pt x="251713" y="905510"/>
                </a:lnTo>
                <a:lnTo>
                  <a:pt x="293624" y="929894"/>
                </a:lnTo>
                <a:lnTo>
                  <a:pt x="337312" y="950341"/>
                </a:lnTo>
                <a:lnTo>
                  <a:pt x="382524" y="966851"/>
                </a:lnTo>
                <a:lnTo>
                  <a:pt x="429005" y="979043"/>
                </a:lnTo>
                <a:lnTo>
                  <a:pt x="476503" y="986790"/>
                </a:lnTo>
                <a:lnTo>
                  <a:pt x="524637" y="989838"/>
                </a:lnTo>
                <a:lnTo>
                  <a:pt x="549275" y="989584"/>
                </a:lnTo>
                <a:lnTo>
                  <a:pt x="570330" y="987655"/>
                </a:lnTo>
                <a:lnTo>
                  <a:pt x="567597" y="967613"/>
                </a:lnTo>
                <a:lnTo>
                  <a:pt x="524383" y="967613"/>
                </a:lnTo>
                <a:lnTo>
                  <a:pt x="501396" y="966724"/>
                </a:lnTo>
                <a:lnTo>
                  <a:pt x="455802" y="961517"/>
                </a:lnTo>
                <a:lnTo>
                  <a:pt x="410717" y="951865"/>
                </a:lnTo>
                <a:lnTo>
                  <a:pt x="366775" y="938022"/>
                </a:lnTo>
                <a:lnTo>
                  <a:pt x="324230" y="920242"/>
                </a:lnTo>
                <a:lnTo>
                  <a:pt x="283210" y="898652"/>
                </a:lnTo>
                <a:lnTo>
                  <a:pt x="244094" y="873379"/>
                </a:lnTo>
                <a:lnTo>
                  <a:pt x="207137" y="844677"/>
                </a:lnTo>
                <a:lnTo>
                  <a:pt x="172719" y="812800"/>
                </a:lnTo>
                <a:lnTo>
                  <a:pt x="140969" y="777621"/>
                </a:lnTo>
                <a:lnTo>
                  <a:pt x="112394" y="739775"/>
                </a:lnTo>
                <a:lnTo>
                  <a:pt x="87122" y="699135"/>
                </a:lnTo>
                <a:lnTo>
                  <a:pt x="65531" y="656082"/>
                </a:lnTo>
                <a:lnTo>
                  <a:pt x="48006" y="610616"/>
                </a:lnTo>
                <a:lnTo>
                  <a:pt x="34670" y="563372"/>
                </a:lnTo>
                <a:lnTo>
                  <a:pt x="26035" y="516255"/>
                </a:lnTo>
                <a:lnTo>
                  <a:pt x="22428" y="471043"/>
                </a:lnTo>
                <a:lnTo>
                  <a:pt x="22351" y="469773"/>
                </a:lnTo>
                <a:lnTo>
                  <a:pt x="23241" y="424180"/>
                </a:lnTo>
                <a:lnTo>
                  <a:pt x="28575" y="379857"/>
                </a:lnTo>
                <a:lnTo>
                  <a:pt x="38226" y="337058"/>
                </a:lnTo>
                <a:lnTo>
                  <a:pt x="51816" y="295910"/>
                </a:lnTo>
                <a:lnTo>
                  <a:pt x="69468" y="256794"/>
                </a:lnTo>
                <a:lnTo>
                  <a:pt x="90931" y="219837"/>
                </a:lnTo>
                <a:lnTo>
                  <a:pt x="115950" y="185547"/>
                </a:lnTo>
                <a:lnTo>
                  <a:pt x="144525" y="154178"/>
                </a:lnTo>
                <a:lnTo>
                  <a:pt x="176275" y="125730"/>
                </a:lnTo>
                <a:lnTo>
                  <a:pt x="211200" y="100711"/>
                </a:lnTo>
                <a:lnTo>
                  <a:pt x="249174" y="79248"/>
                </a:lnTo>
                <a:lnTo>
                  <a:pt x="290195" y="61595"/>
                </a:lnTo>
                <a:lnTo>
                  <a:pt x="333628" y="48260"/>
                </a:lnTo>
                <a:lnTo>
                  <a:pt x="372490" y="40386"/>
                </a:lnTo>
                <a:lnTo>
                  <a:pt x="421386" y="35560"/>
                </a:lnTo>
                <a:lnTo>
                  <a:pt x="437896" y="35052"/>
                </a:lnTo>
                <a:lnTo>
                  <a:pt x="550258" y="35052"/>
                </a:lnTo>
                <a:lnTo>
                  <a:pt x="552969" y="26274"/>
                </a:lnTo>
                <a:lnTo>
                  <a:pt x="506602" y="17272"/>
                </a:lnTo>
                <a:lnTo>
                  <a:pt x="454533" y="13081"/>
                </a:lnTo>
                <a:lnTo>
                  <a:pt x="437261" y="12827"/>
                </a:lnTo>
                <a:close/>
              </a:path>
              <a:path w="622935" h="1040130">
                <a:moveTo>
                  <a:pt x="580516" y="964311"/>
                </a:moveTo>
                <a:lnTo>
                  <a:pt x="567312" y="965520"/>
                </a:lnTo>
                <a:lnTo>
                  <a:pt x="570178" y="986536"/>
                </a:lnTo>
                <a:lnTo>
                  <a:pt x="570212" y="986790"/>
                </a:lnTo>
                <a:lnTo>
                  <a:pt x="570330" y="987655"/>
                </a:lnTo>
                <a:lnTo>
                  <a:pt x="582549" y="986536"/>
                </a:lnTo>
                <a:lnTo>
                  <a:pt x="580818" y="967613"/>
                </a:lnTo>
                <a:lnTo>
                  <a:pt x="580737" y="966724"/>
                </a:lnTo>
                <a:lnTo>
                  <a:pt x="580627" y="965520"/>
                </a:lnTo>
                <a:lnTo>
                  <a:pt x="580516" y="964311"/>
                </a:lnTo>
                <a:close/>
              </a:path>
              <a:path w="622935" h="1040130">
                <a:moveTo>
                  <a:pt x="567312" y="965520"/>
                </a:moveTo>
                <a:lnTo>
                  <a:pt x="547242" y="967359"/>
                </a:lnTo>
                <a:lnTo>
                  <a:pt x="524383" y="967613"/>
                </a:lnTo>
                <a:lnTo>
                  <a:pt x="567597" y="967613"/>
                </a:lnTo>
                <a:lnTo>
                  <a:pt x="567312" y="965520"/>
                </a:lnTo>
                <a:close/>
              </a:path>
              <a:path w="622935" h="1040130">
                <a:moveTo>
                  <a:pt x="560324" y="914273"/>
                </a:moveTo>
                <a:lnTo>
                  <a:pt x="567147" y="964311"/>
                </a:lnTo>
                <a:lnTo>
                  <a:pt x="567199" y="964692"/>
                </a:lnTo>
                <a:lnTo>
                  <a:pt x="567312" y="965520"/>
                </a:lnTo>
                <a:lnTo>
                  <a:pt x="580516" y="964311"/>
                </a:lnTo>
                <a:lnTo>
                  <a:pt x="612971" y="964311"/>
                </a:lnTo>
                <a:lnTo>
                  <a:pt x="560324" y="914273"/>
                </a:lnTo>
                <a:close/>
              </a:path>
              <a:path w="622935" h="1040130">
                <a:moveTo>
                  <a:pt x="546415" y="47493"/>
                </a:moveTo>
                <a:lnTo>
                  <a:pt x="538607" y="72771"/>
                </a:lnTo>
                <a:lnTo>
                  <a:pt x="622553" y="58928"/>
                </a:lnTo>
                <a:lnTo>
                  <a:pt x="614208" y="50927"/>
                </a:lnTo>
                <a:lnTo>
                  <a:pt x="559053" y="50927"/>
                </a:lnTo>
                <a:lnTo>
                  <a:pt x="546415" y="47493"/>
                </a:lnTo>
                <a:close/>
              </a:path>
              <a:path w="622935" h="1040130">
                <a:moveTo>
                  <a:pt x="552969" y="26274"/>
                </a:moveTo>
                <a:lnTo>
                  <a:pt x="546415" y="47493"/>
                </a:lnTo>
                <a:lnTo>
                  <a:pt x="559053" y="50927"/>
                </a:lnTo>
                <a:lnTo>
                  <a:pt x="564769" y="29464"/>
                </a:lnTo>
                <a:lnTo>
                  <a:pt x="552969" y="26274"/>
                </a:lnTo>
                <a:close/>
              </a:path>
              <a:path w="622935" h="1040130">
                <a:moveTo>
                  <a:pt x="561086" y="0"/>
                </a:moveTo>
                <a:lnTo>
                  <a:pt x="552969" y="26274"/>
                </a:lnTo>
                <a:lnTo>
                  <a:pt x="564769" y="29464"/>
                </a:lnTo>
                <a:lnTo>
                  <a:pt x="559053" y="50927"/>
                </a:lnTo>
                <a:lnTo>
                  <a:pt x="614208" y="50927"/>
                </a:lnTo>
                <a:lnTo>
                  <a:pt x="561086" y="0"/>
                </a:lnTo>
                <a:close/>
              </a:path>
              <a:path w="622935" h="1040130">
                <a:moveTo>
                  <a:pt x="550258" y="35052"/>
                </a:moveTo>
                <a:lnTo>
                  <a:pt x="437896" y="35052"/>
                </a:lnTo>
                <a:lnTo>
                  <a:pt x="454278" y="35306"/>
                </a:lnTo>
                <a:lnTo>
                  <a:pt x="470915" y="36068"/>
                </a:lnTo>
                <a:lnTo>
                  <a:pt x="520573" y="41783"/>
                </a:lnTo>
                <a:lnTo>
                  <a:pt x="546415" y="47493"/>
                </a:lnTo>
                <a:lnTo>
                  <a:pt x="550101" y="35560"/>
                </a:lnTo>
                <a:lnTo>
                  <a:pt x="550179" y="35306"/>
                </a:lnTo>
                <a:lnTo>
                  <a:pt x="550258" y="35052"/>
                </a:lnTo>
                <a:close/>
              </a:path>
            </a:pathLst>
          </a:custGeom>
          <a:solidFill>
            <a:srgbClr val="FF0000"/>
          </a:solidFill>
        </p:spPr>
        <p:txBody>
          <a:bodyPr wrap="square" lIns="0" tIns="0" rIns="0" bIns="0" rtlCol="0"/>
          <a:lstStyle/>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85/89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8940" y="553401"/>
            <a:ext cx="11053445" cy="1433830"/>
          </a:xfrm>
          <a:prstGeom prst="rect">
            <a:avLst/>
          </a:prstGeom>
        </p:spPr>
        <p:txBody>
          <a:bodyPr wrap="square" lIns="0" tIns="107314" rIns="0" bIns="0" rtlCol="0" vert="horz">
            <a:spAutoFit/>
          </a:bodyPr>
          <a:lstStyle/>
          <a:p>
            <a:pPr marL="1097280" indent="-455295">
              <a:lnSpc>
                <a:spcPct val="100000"/>
              </a:lnSpc>
              <a:spcBef>
                <a:spcPts val="844"/>
              </a:spcBef>
              <a:buClr>
                <a:srgbClr val="40458B"/>
              </a:buClr>
              <a:buSzPct val="89285"/>
              <a:buFont typeface="Wingdings"/>
              <a:buChar char=""/>
              <a:tabLst>
                <a:tab pos="1097280" algn="l"/>
              </a:tabLst>
            </a:pPr>
            <a:r>
              <a:rPr dirty="0" sz="2800" spc="-40">
                <a:solidFill>
                  <a:srgbClr val="0000CC"/>
                </a:solidFill>
                <a:latin typeface="黑体"/>
                <a:cs typeface="黑体"/>
              </a:rPr>
              <a:t>怎样消除循环携带数据相关？</a:t>
            </a:r>
            <a:endParaRPr sz="2800">
              <a:latin typeface="黑体"/>
              <a:cs typeface="黑体"/>
            </a:endParaRPr>
          </a:p>
          <a:p>
            <a:pPr marL="628015">
              <a:lnSpc>
                <a:spcPct val="100000"/>
              </a:lnSpc>
              <a:spcBef>
                <a:spcPts val="645"/>
              </a:spcBef>
            </a:pPr>
            <a:r>
              <a:rPr dirty="0" sz="2400" spc="-20" b="1">
                <a:solidFill>
                  <a:srgbClr val="E14B04"/>
                </a:solidFill>
                <a:latin typeface="宋体"/>
                <a:cs typeface="宋体"/>
              </a:rPr>
              <a:t>例</a:t>
            </a:r>
            <a:r>
              <a:rPr dirty="0" sz="2400" b="1">
                <a:solidFill>
                  <a:srgbClr val="E14B04"/>
                </a:solidFill>
                <a:latin typeface="宋体"/>
                <a:cs typeface="宋体"/>
              </a:rPr>
              <a:t>6.8</a:t>
            </a:r>
            <a:r>
              <a:rPr dirty="0" sz="2400" spc="110" b="1">
                <a:solidFill>
                  <a:srgbClr val="E14B04"/>
                </a:solidFill>
                <a:latin typeface="宋体"/>
                <a:cs typeface="宋体"/>
              </a:rPr>
              <a:t> </a:t>
            </a:r>
            <a:r>
              <a:rPr dirty="0" sz="2400" spc="-25" b="1">
                <a:latin typeface="宋体"/>
                <a:cs typeface="宋体"/>
              </a:rPr>
              <a:t>在下面的循环中，语句</a:t>
            </a:r>
            <a:r>
              <a:rPr dirty="0" sz="2400" spc="-20" b="1">
                <a:solidFill>
                  <a:srgbClr val="6600FF"/>
                </a:solidFill>
                <a:latin typeface="宋体"/>
                <a:cs typeface="宋体"/>
              </a:rPr>
              <a:t>S1</a:t>
            </a:r>
            <a:r>
              <a:rPr dirty="0" sz="2400" spc="-20" b="1">
                <a:latin typeface="宋体"/>
                <a:cs typeface="宋体"/>
              </a:rPr>
              <a:t>和</a:t>
            </a:r>
            <a:r>
              <a:rPr dirty="0" sz="2400" spc="-20" b="1">
                <a:solidFill>
                  <a:srgbClr val="6600FF"/>
                </a:solidFill>
                <a:latin typeface="宋体"/>
                <a:cs typeface="宋体"/>
              </a:rPr>
              <a:t>S2</a:t>
            </a:r>
            <a:r>
              <a:rPr dirty="0" sz="2400" spc="-25" b="1">
                <a:latin typeface="宋体"/>
                <a:cs typeface="宋体"/>
              </a:rPr>
              <a:t>之间存在哪些数据相关？</a:t>
            </a:r>
            <a:endParaRPr sz="2400">
              <a:latin typeface="宋体"/>
              <a:cs typeface="宋体"/>
            </a:endParaRPr>
          </a:p>
          <a:p>
            <a:pPr marL="12700">
              <a:lnSpc>
                <a:spcPct val="100000"/>
              </a:lnSpc>
              <a:spcBef>
                <a:spcPts val="575"/>
              </a:spcBef>
            </a:pPr>
            <a:r>
              <a:rPr dirty="0" sz="2400" spc="-25" b="1">
                <a:latin typeface="宋体"/>
                <a:cs typeface="宋体"/>
              </a:rPr>
              <a:t>该循环的各次迭代是否可以并行执行？如果不能，请修改其代码，使之可以并行。</a:t>
            </a:r>
            <a:endParaRPr sz="2400">
              <a:latin typeface="宋体"/>
              <a:cs typeface="宋体"/>
            </a:endParaRPr>
          </a:p>
        </p:txBody>
      </p:sp>
      <p:sp>
        <p:nvSpPr>
          <p:cNvPr id="9" name="object 9" descr=""/>
          <p:cNvSpPr txBox="1"/>
          <p:nvPr/>
        </p:nvSpPr>
        <p:spPr>
          <a:xfrm>
            <a:off x="923340" y="2034362"/>
            <a:ext cx="4950460" cy="1708785"/>
          </a:xfrm>
          <a:prstGeom prst="rect">
            <a:avLst/>
          </a:prstGeom>
        </p:spPr>
        <p:txBody>
          <a:bodyPr wrap="square" lIns="0" tIns="12700" rIns="0" bIns="0" rtlCol="0" vert="horz">
            <a:spAutoFit/>
          </a:bodyPr>
          <a:lstStyle/>
          <a:p>
            <a:pPr marL="12700">
              <a:lnSpc>
                <a:spcPct val="100000"/>
              </a:lnSpc>
              <a:spcBef>
                <a:spcPts val="100"/>
              </a:spcBef>
            </a:pPr>
            <a:r>
              <a:rPr dirty="0" sz="2400" spc="-10" b="1">
                <a:solidFill>
                  <a:srgbClr val="40458B"/>
                </a:solidFill>
                <a:latin typeface="黑体"/>
                <a:cs typeface="黑体"/>
              </a:rPr>
              <a:t>for（i=1；i&lt;=100；i=i+1）</a:t>
            </a:r>
            <a:endParaRPr sz="2400">
              <a:latin typeface="黑体"/>
              <a:cs typeface="黑体"/>
            </a:endParaRPr>
          </a:p>
          <a:p>
            <a:pPr>
              <a:lnSpc>
                <a:spcPct val="100000"/>
              </a:lnSpc>
              <a:spcBef>
                <a:spcPts val="340"/>
              </a:spcBef>
            </a:pPr>
            <a:endParaRPr sz="2400">
              <a:latin typeface="黑体"/>
              <a:cs typeface="黑体"/>
            </a:endParaRPr>
          </a:p>
          <a:p>
            <a:pPr marL="320040" marR="5080">
              <a:lnSpc>
                <a:spcPct val="120000"/>
              </a:lnSpc>
              <a:tabLst>
                <a:tab pos="3670300" algn="l"/>
              </a:tabLst>
            </a:pPr>
            <a:r>
              <a:rPr dirty="0" sz="2400" b="1">
                <a:solidFill>
                  <a:srgbClr val="40458B"/>
                </a:solidFill>
                <a:latin typeface="黑体"/>
                <a:cs typeface="黑体"/>
              </a:rPr>
              <a:t>A[i]</a:t>
            </a:r>
            <a:r>
              <a:rPr dirty="0" sz="2400" spc="-45" b="1">
                <a:solidFill>
                  <a:srgbClr val="40458B"/>
                </a:solidFill>
                <a:latin typeface="黑体"/>
                <a:cs typeface="黑体"/>
              </a:rPr>
              <a:t> </a:t>
            </a:r>
            <a:r>
              <a:rPr dirty="0" sz="2400" b="1">
                <a:solidFill>
                  <a:srgbClr val="40458B"/>
                </a:solidFill>
                <a:latin typeface="黑体"/>
                <a:cs typeface="黑体"/>
              </a:rPr>
              <a:t>=</a:t>
            </a:r>
            <a:r>
              <a:rPr dirty="0" sz="2400" spc="-35" b="1">
                <a:solidFill>
                  <a:srgbClr val="40458B"/>
                </a:solidFill>
                <a:latin typeface="黑体"/>
                <a:cs typeface="黑体"/>
              </a:rPr>
              <a:t> </a:t>
            </a:r>
            <a:r>
              <a:rPr dirty="0" sz="2400" b="1">
                <a:solidFill>
                  <a:srgbClr val="40458B"/>
                </a:solidFill>
                <a:latin typeface="黑体"/>
                <a:cs typeface="黑体"/>
              </a:rPr>
              <a:t>A[i]</a:t>
            </a:r>
            <a:r>
              <a:rPr dirty="0" sz="2400" spc="-35" b="1">
                <a:solidFill>
                  <a:srgbClr val="40458B"/>
                </a:solidFill>
                <a:latin typeface="黑体"/>
                <a:cs typeface="黑体"/>
              </a:rPr>
              <a:t> </a:t>
            </a:r>
            <a:r>
              <a:rPr dirty="0" sz="2400" b="1">
                <a:solidFill>
                  <a:srgbClr val="40458B"/>
                </a:solidFill>
                <a:latin typeface="黑体"/>
                <a:cs typeface="黑体"/>
              </a:rPr>
              <a:t>+</a:t>
            </a:r>
            <a:r>
              <a:rPr dirty="0" sz="2400" spc="-35" b="1">
                <a:solidFill>
                  <a:srgbClr val="40458B"/>
                </a:solidFill>
                <a:latin typeface="黑体"/>
                <a:cs typeface="黑体"/>
              </a:rPr>
              <a:t> </a:t>
            </a:r>
            <a:r>
              <a:rPr dirty="0" sz="2400" spc="-10" b="1">
                <a:solidFill>
                  <a:srgbClr val="40458B"/>
                </a:solidFill>
                <a:latin typeface="黑体"/>
                <a:cs typeface="黑体"/>
              </a:rPr>
              <a:t>B[i]；</a:t>
            </a:r>
            <a:r>
              <a:rPr dirty="0" sz="2400" b="1">
                <a:solidFill>
                  <a:srgbClr val="40458B"/>
                </a:solidFill>
                <a:latin typeface="黑体"/>
                <a:cs typeface="黑体"/>
              </a:rPr>
              <a:t>	</a:t>
            </a:r>
            <a:r>
              <a:rPr dirty="0" sz="2400" b="1">
                <a:latin typeface="黑体"/>
                <a:cs typeface="黑体"/>
              </a:rPr>
              <a:t>/*</a:t>
            </a:r>
            <a:r>
              <a:rPr dirty="0" sz="2400" spc="-30" b="1">
                <a:latin typeface="黑体"/>
                <a:cs typeface="黑体"/>
              </a:rPr>
              <a:t> </a:t>
            </a:r>
            <a:r>
              <a:rPr dirty="0" sz="2400" b="1">
                <a:latin typeface="黑体"/>
                <a:cs typeface="黑体"/>
              </a:rPr>
              <a:t>S1</a:t>
            </a:r>
            <a:r>
              <a:rPr dirty="0" sz="2400" spc="-30" b="1">
                <a:latin typeface="黑体"/>
                <a:cs typeface="黑体"/>
              </a:rPr>
              <a:t> </a:t>
            </a:r>
            <a:r>
              <a:rPr dirty="0" sz="2400" spc="-25" b="1">
                <a:latin typeface="黑体"/>
                <a:cs typeface="黑体"/>
              </a:rPr>
              <a:t>*/ </a:t>
            </a:r>
            <a:r>
              <a:rPr dirty="0" sz="2400" b="1">
                <a:solidFill>
                  <a:srgbClr val="40458B"/>
                </a:solidFill>
                <a:latin typeface="黑体"/>
                <a:cs typeface="黑体"/>
              </a:rPr>
              <a:t>B[i+1]</a:t>
            </a:r>
            <a:r>
              <a:rPr dirty="0" sz="2400" spc="-10" b="1">
                <a:solidFill>
                  <a:srgbClr val="40458B"/>
                </a:solidFill>
                <a:latin typeface="黑体"/>
                <a:cs typeface="黑体"/>
              </a:rPr>
              <a:t> </a:t>
            </a:r>
            <a:r>
              <a:rPr dirty="0" sz="2400" b="1">
                <a:solidFill>
                  <a:srgbClr val="40458B"/>
                </a:solidFill>
                <a:latin typeface="黑体"/>
                <a:cs typeface="黑体"/>
              </a:rPr>
              <a:t>=</a:t>
            </a:r>
            <a:r>
              <a:rPr dirty="0" sz="2400" spc="-10" b="1">
                <a:solidFill>
                  <a:srgbClr val="40458B"/>
                </a:solidFill>
                <a:latin typeface="黑体"/>
                <a:cs typeface="黑体"/>
              </a:rPr>
              <a:t> </a:t>
            </a:r>
            <a:r>
              <a:rPr dirty="0" sz="2400" b="1">
                <a:solidFill>
                  <a:srgbClr val="40458B"/>
                </a:solidFill>
                <a:latin typeface="黑体"/>
                <a:cs typeface="黑体"/>
              </a:rPr>
              <a:t>C[i]</a:t>
            </a:r>
            <a:r>
              <a:rPr dirty="0" sz="2400" spc="-10" b="1">
                <a:solidFill>
                  <a:srgbClr val="40458B"/>
                </a:solidFill>
                <a:latin typeface="黑体"/>
                <a:cs typeface="黑体"/>
              </a:rPr>
              <a:t> </a:t>
            </a:r>
            <a:r>
              <a:rPr dirty="0" sz="2400" b="1">
                <a:solidFill>
                  <a:srgbClr val="40458B"/>
                </a:solidFill>
                <a:latin typeface="黑体"/>
                <a:cs typeface="黑体"/>
              </a:rPr>
              <a:t>+</a:t>
            </a:r>
            <a:r>
              <a:rPr dirty="0" sz="2400" spc="-10" b="1">
                <a:solidFill>
                  <a:srgbClr val="40458B"/>
                </a:solidFill>
                <a:latin typeface="黑体"/>
                <a:cs typeface="黑体"/>
              </a:rPr>
              <a:t> </a:t>
            </a:r>
            <a:r>
              <a:rPr dirty="0" sz="2400" b="1">
                <a:solidFill>
                  <a:srgbClr val="40458B"/>
                </a:solidFill>
                <a:latin typeface="黑体"/>
                <a:cs typeface="黑体"/>
              </a:rPr>
              <a:t>D[i]；</a:t>
            </a:r>
            <a:r>
              <a:rPr dirty="0" sz="2400" b="1">
                <a:latin typeface="黑体"/>
                <a:cs typeface="黑体"/>
              </a:rPr>
              <a:t>/*</a:t>
            </a:r>
            <a:r>
              <a:rPr dirty="0" sz="2400" spc="-5" b="1">
                <a:latin typeface="黑体"/>
                <a:cs typeface="黑体"/>
              </a:rPr>
              <a:t> </a:t>
            </a:r>
            <a:r>
              <a:rPr dirty="0" sz="2400" b="1">
                <a:latin typeface="黑体"/>
                <a:cs typeface="黑体"/>
              </a:rPr>
              <a:t>S2</a:t>
            </a:r>
            <a:r>
              <a:rPr dirty="0" sz="2400" spc="-10" b="1">
                <a:latin typeface="黑体"/>
                <a:cs typeface="黑体"/>
              </a:rPr>
              <a:t> </a:t>
            </a:r>
            <a:r>
              <a:rPr dirty="0" sz="2400" spc="-25" b="1">
                <a:latin typeface="黑体"/>
                <a:cs typeface="黑体"/>
              </a:rPr>
              <a:t>*/</a:t>
            </a:r>
            <a:endParaRPr sz="2400">
              <a:latin typeface="黑体"/>
              <a:cs typeface="黑体"/>
            </a:endParaRPr>
          </a:p>
        </p:txBody>
      </p:sp>
      <p:sp>
        <p:nvSpPr>
          <p:cNvPr id="10" name="object 10" descr=""/>
          <p:cNvSpPr txBox="1"/>
          <p:nvPr/>
        </p:nvSpPr>
        <p:spPr>
          <a:xfrm>
            <a:off x="624636" y="2473833"/>
            <a:ext cx="177800" cy="391160"/>
          </a:xfrm>
          <a:prstGeom prst="rect">
            <a:avLst/>
          </a:prstGeom>
        </p:spPr>
        <p:txBody>
          <a:bodyPr wrap="square" lIns="0" tIns="12700" rIns="0" bIns="0" rtlCol="0" vert="horz">
            <a:spAutoFit/>
          </a:bodyPr>
          <a:lstStyle/>
          <a:p>
            <a:pPr marL="12700">
              <a:lnSpc>
                <a:spcPct val="100000"/>
              </a:lnSpc>
              <a:spcBef>
                <a:spcPts val="100"/>
              </a:spcBef>
            </a:pPr>
            <a:r>
              <a:rPr dirty="0" sz="2400" spc="-50" b="1">
                <a:solidFill>
                  <a:srgbClr val="40458B"/>
                </a:solidFill>
                <a:latin typeface="黑体"/>
                <a:cs typeface="黑体"/>
              </a:rPr>
              <a:t>{</a:t>
            </a:r>
            <a:endParaRPr sz="2400">
              <a:latin typeface="黑体"/>
              <a:cs typeface="黑体"/>
            </a:endParaRPr>
          </a:p>
        </p:txBody>
      </p:sp>
      <p:sp>
        <p:nvSpPr>
          <p:cNvPr id="11" name="object 11" descr=""/>
          <p:cNvSpPr txBox="1"/>
          <p:nvPr/>
        </p:nvSpPr>
        <p:spPr>
          <a:xfrm>
            <a:off x="923340" y="3790950"/>
            <a:ext cx="177800" cy="391160"/>
          </a:xfrm>
          <a:prstGeom prst="rect">
            <a:avLst/>
          </a:prstGeom>
        </p:spPr>
        <p:txBody>
          <a:bodyPr wrap="square" lIns="0" tIns="12700" rIns="0" bIns="0" rtlCol="0" vert="horz">
            <a:spAutoFit/>
          </a:bodyPr>
          <a:lstStyle/>
          <a:p>
            <a:pPr marL="12700">
              <a:lnSpc>
                <a:spcPct val="100000"/>
              </a:lnSpc>
              <a:spcBef>
                <a:spcPts val="100"/>
              </a:spcBef>
            </a:pPr>
            <a:r>
              <a:rPr dirty="0" sz="2400" spc="-50" b="1">
                <a:solidFill>
                  <a:srgbClr val="40458B"/>
                </a:solidFill>
                <a:latin typeface="黑体"/>
                <a:cs typeface="黑体"/>
              </a:rPr>
              <a:t>}</a:t>
            </a:r>
            <a:endParaRPr sz="2400">
              <a:latin typeface="黑体"/>
              <a:cs typeface="黑体"/>
            </a:endParaRPr>
          </a:p>
        </p:txBody>
      </p:sp>
      <p:sp>
        <p:nvSpPr>
          <p:cNvPr id="12" name="object 12"/>
          <p:cNvSpPr txBox="1">
            <a:spLocks noGrp="1"/>
          </p:cNvSpPr>
          <p:nvPr>
            <p:ph type="title"/>
          </p:nvPr>
        </p:nvSpPr>
        <p:spPr>
          <a:xfrm>
            <a:off x="1403350" y="127838"/>
            <a:ext cx="10801350" cy="514350"/>
          </a:xfrm>
          <a:prstGeom prst="rect"/>
        </p:spPr>
        <p:txBody>
          <a:bodyPr wrap="square" lIns="0" tIns="13335" rIns="0" bIns="0" rtlCol="0" vert="horz">
            <a:spAutoFit/>
          </a:bodyPr>
          <a:lstStyle/>
          <a:p>
            <a:pPr marL="12700">
              <a:lnSpc>
                <a:spcPct val="100000"/>
              </a:lnSpc>
              <a:spcBef>
                <a:spcPts val="105"/>
              </a:spcBef>
              <a:tabLst>
                <a:tab pos="1239520" algn="l"/>
                <a:tab pos="10788015" algn="l"/>
              </a:tabLst>
            </a:pPr>
            <a:r>
              <a:rPr dirty="0"/>
              <a:t>	6.5</a:t>
            </a:r>
            <a:r>
              <a:rPr dirty="0" spc="-15"/>
              <a:t> </a:t>
            </a:r>
            <a:r>
              <a:rPr dirty="0"/>
              <a:t>开发更</a:t>
            </a:r>
            <a:r>
              <a:rPr dirty="0" spc="-25"/>
              <a:t>多</a:t>
            </a:r>
            <a:r>
              <a:rPr dirty="0"/>
              <a:t>的指</a:t>
            </a:r>
            <a:r>
              <a:rPr dirty="0" spc="-20"/>
              <a:t>令</a:t>
            </a:r>
            <a:r>
              <a:rPr dirty="0"/>
              <a:t>级并</a:t>
            </a:r>
            <a:r>
              <a:rPr dirty="0" spc="-50"/>
              <a:t>行</a:t>
            </a:r>
            <a:r>
              <a:rPr dirty="0"/>
              <a:t>	</a:t>
            </a:r>
          </a:p>
        </p:txBody>
      </p:sp>
      <p:sp>
        <p:nvSpPr>
          <p:cNvPr id="13" name="object 13" descr=""/>
          <p:cNvSpPr/>
          <p:nvPr/>
        </p:nvSpPr>
        <p:spPr>
          <a:xfrm>
            <a:off x="6672326" y="2349500"/>
            <a:ext cx="5520055" cy="1322705"/>
          </a:xfrm>
          <a:custGeom>
            <a:avLst/>
            <a:gdLst/>
            <a:ahLst/>
            <a:cxnLst/>
            <a:rect l="l" t="t" r="r" b="b"/>
            <a:pathLst>
              <a:path w="5520055" h="1322704">
                <a:moveTo>
                  <a:pt x="5519674" y="0"/>
                </a:moveTo>
                <a:lnTo>
                  <a:pt x="0" y="0"/>
                </a:lnTo>
                <a:lnTo>
                  <a:pt x="0" y="1322451"/>
                </a:lnTo>
                <a:lnTo>
                  <a:pt x="5519674" y="1322451"/>
                </a:lnTo>
              </a:path>
            </a:pathLst>
          </a:custGeom>
          <a:ln w="9525">
            <a:solidFill>
              <a:srgbClr val="080808"/>
            </a:solidFill>
          </a:ln>
        </p:spPr>
        <p:txBody>
          <a:bodyPr wrap="square" lIns="0" tIns="0" rIns="0" bIns="0" rtlCol="0"/>
          <a:lstStyle/>
          <a:p/>
        </p:txBody>
      </p:sp>
      <p:sp>
        <p:nvSpPr>
          <p:cNvPr id="14" name="object 14" descr=""/>
          <p:cNvSpPr txBox="1"/>
          <p:nvPr/>
        </p:nvSpPr>
        <p:spPr>
          <a:xfrm>
            <a:off x="6751701" y="2373579"/>
            <a:ext cx="5499100" cy="331470"/>
          </a:xfrm>
          <a:prstGeom prst="rect">
            <a:avLst/>
          </a:prstGeom>
        </p:spPr>
        <p:txBody>
          <a:bodyPr wrap="square" lIns="0" tIns="13335" rIns="0" bIns="0" rtlCol="0" vert="horz">
            <a:spAutoFit/>
          </a:bodyPr>
          <a:lstStyle/>
          <a:p>
            <a:pPr marL="12700">
              <a:lnSpc>
                <a:spcPct val="100000"/>
              </a:lnSpc>
              <a:spcBef>
                <a:spcPts val="105"/>
              </a:spcBef>
            </a:pPr>
            <a:r>
              <a:rPr dirty="0" sz="2000" spc="-15" b="1">
                <a:solidFill>
                  <a:srgbClr val="D50092"/>
                </a:solidFill>
                <a:latin typeface="微软雅黑"/>
                <a:cs typeface="微软雅黑"/>
              </a:rPr>
              <a:t>单次迭代或同一次迭代：</a:t>
            </a:r>
            <a:r>
              <a:rPr dirty="0" sz="2000" spc="-10" b="1">
                <a:solidFill>
                  <a:srgbClr val="D50092"/>
                </a:solidFill>
                <a:latin typeface="Tahoma"/>
                <a:cs typeface="Tahoma"/>
              </a:rPr>
              <a:t>S1</a:t>
            </a:r>
            <a:r>
              <a:rPr dirty="0" sz="2000" spc="-10" b="1">
                <a:solidFill>
                  <a:srgbClr val="D50092"/>
                </a:solidFill>
                <a:latin typeface="微软雅黑"/>
                <a:cs typeface="微软雅黑"/>
              </a:rPr>
              <a:t>和</a:t>
            </a:r>
            <a:r>
              <a:rPr dirty="0" sz="2000" spc="-10" b="1">
                <a:solidFill>
                  <a:srgbClr val="D50092"/>
                </a:solidFill>
                <a:latin typeface="Tahoma"/>
                <a:cs typeface="Tahoma"/>
              </a:rPr>
              <a:t>S2</a:t>
            </a:r>
            <a:r>
              <a:rPr dirty="0" sz="2000" spc="-20" b="1">
                <a:solidFill>
                  <a:srgbClr val="40458B"/>
                </a:solidFill>
                <a:latin typeface="微软雅黑"/>
                <a:cs typeface="微软雅黑"/>
              </a:rPr>
              <a:t>不存在数据相关</a:t>
            </a:r>
            <a:endParaRPr sz="2000">
              <a:latin typeface="微软雅黑"/>
              <a:cs typeface="微软雅黑"/>
            </a:endParaRPr>
          </a:p>
        </p:txBody>
      </p:sp>
      <p:sp>
        <p:nvSpPr>
          <p:cNvPr id="15" name="object 15" descr=""/>
          <p:cNvSpPr txBox="1"/>
          <p:nvPr/>
        </p:nvSpPr>
        <p:spPr>
          <a:xfrm>
            <a:off x="6751701" y="2678938"/>
            <a:ext cx="5476240" cy="330835"/>
          </a:xfrm>
          <a:prstGeom prst="rect">
            <a:avLst/>
          </a:prstGeom>
        </p:spPr>
        <p:txBody>
          <a:bodyPr wrap="square" lIns="0" tIns="13335" rIns="0" bIns="0" rtlCol="0" vert="horz">
            <a:spAutoFit/>
          </a:bodyPr>
          <a:lstStyle/>
          <a:p>
            <a:pPr marL="12700">
              <a:lnSpc>
                <a:spcPct val="100000"/>
              </a:lnSpc>
              <a:spcBef>
                <a:spcPts val="105"/>
              </a:spcBef>
            </a:pPr>
            <a:r>
              <a:rPr dirty="0" sz="2000" b="1">
                <a:solidFill>
                  <a:srgbClr val="40458B"/>
                </a:solidFill>
                <a:latin typeface="微软雅黑"/>
                <a:cs typeface="微软雅黑"/>
              </a:rPr>
              <a:t>例如当</a:t>
            </a:r>
            <a:r>
              <a:rPr dirty="0" sz="2000" spc="-10" b="1">
                <a:solidFill>
                  <a:srgbClr val="40458B"/>
                </a:solidFill>
                <a:latin typeface="Tahoma"/>
                <a:cs typeface="Tahoma"/>
              </a:rPr>
              <a:t>i=n</a:t>
            </a:r>
            <a:r>
              <a:rPr dirty="0" sz="2000" spc="-15" b="1">
                <a:solidFill>
                  <a:srgbClr val="40458B"/>
                </a:solidFill>
                <a:latin typeface="微软雅黑"/>
                <a:cs typeface="微软雅黑"/>
              </a:rPr>
              <a:t>同一个迭代中，访问的是不同的</a:t>
            </a:r>
            <a:r>
              <a:rPr dirty="0" sz="2000" spc="-10" b="1">
                <a:solidFill>
                  <a:srgbClr val="40458B"/>
                </a:solidFill>
                <a:latin typeface="Tahoma"/>
                <a:cs typeface="Tahoma"/>
              </a:rPr>
              <a:t>B</a:t>
            </a:r>
            <a:r>
              <a:rPr dirty="0" sz="2000" spc="-35" b="1">
                <a:solidFill>
                  <a:srgbClr val="40458B"/>
                </a:solidFill>
                <a:latin typeface="微软雅黑"/>
                <a:cs typeface="微软雅黑"/>
              </a:rPr>
              <a:t>数组</a:t>
            </a:r>
            <a:endParaRPr sz="2000">
              <a:latin typeface="微软雅黑"/>
              <a:cs typeface="微软雅黑"/>
            </a:endParaRPr>
          </a:p>
        </p:txBody>
      </p:sp>
      <p:sp>
        <p:nvSpPr>
          <p:cNvPr id="16" name="object 16" descr=""/>
          <p:cNvSpPr txBox="1"/>
          <p:nvPr/>
        </p:nvSpPr>
        <p:spPr>
          <a:xfrm>
            <a:off x="6751701" y="2983738"/>
            <a:ext cx="2708275" cy="330835"/>
          </a:xfrm>
          <a:prstGeom prst="rect">
            <a:avLst/>
          </a:prstGeom>
        </p:spPr>
        <p:txBody>
          <a:bodyPr wrap="square" lIns="0" tIns="13335" rIns="0" bIns="0" rtlCol="0" vert="horz">
            <a:spAutoFit/>
          </a:bodyPr>
          <a:lstStyle/>
          <a:p>
            <a:pPr marL="12700">
              <a:lnSpc>
                <a:spcPct val="100000"/>
              </a:lnSpc>
              <a:spcBef>
                <a:spcPts val="105"/>
              </a:spcBef>
            </a:pPr>
            <a:r>
              <a:rPr dirty="0" sz="2000" spc="-5" b="1">
                <a:solidFill>
                  <a:srgbClr val="40458B"/>
                </a:solidFill>
                <a:latin typeface="微软雅黑"/>
                <a:cs typeface="微软雅黑"/>
              </a:rPr>
              <a:t>元素，</a:t>
            </a:r>
            <a:r>
              <a:rPr dirty="0" sz="2000" spc="-10" b="1">
                <a:solidFill>
                  <a:srgbClr val="40458B"/>
                </a:solidFill>
                <a:latin typeface="Tahoma"/>
                <a:cs typeface="Tahoma"/>
              </a:rPr>
              <a:t>S1</a:t>
            </a:r>
            <a:r>
              <a:rPr dirty="0" sz="2000" b="1">
                <a:solidFill>
                  <a:srgbClr val="40458B"/>
                </a:solidFill>
                <a:latin typeface="微软雅黑"/>
                <a:cs typeface="微软雅黑"/>
              </a:rPr>
              <a:t>和</a:t>
            </a:r>
            <a:r>
              <a:rPr dirty="0" sz="2000" spc="-10" b="1">
                <a:solidFill>
                  <a:srgbClr val="40458B"/>
                </a:solidFill>
                <a:latin typeface="Tahoma"/>
                <a:cs typeface="Tahoma"/>
              </a:rPr>
              <a:t>S2</a:t>
            </a:r>
            <a:r>
              <a:rPr dirty="0" sz="2000" spc="-15" b="1">
                <a:solidFill>
                  <a:srgbClr val="40458B"/>
                </a:solidFill>
                <a:latin typeface="微软雅黑"/>
                <a:cs typeface="微软雅黑"/>
              </a:rPr>
              <a:t>可以并行</a:t>
            </a:r>
            <a:endParaRPr sz="2000">
              <a:latin typeface="微软雅黑"/>
              <a:cs typeface="微软雅黑"/>
            </a:endParaRPr>
          </a:p>
        </p:txBody>
      </p:sp>
      <p:sp>
        <p:nvSpPr>
          <p:cNvPr id="17" name="object 17" descr=""/>
          <p:cNvSpPr/>
          <p:nvPr/>
        </p:nvSpPr>
        <p:spPr>
          <a:xfrm>
            <a:off x="506412" y="4592637"/>
            <a:ext cx="6193155" cy="1692275"/>
          </a:xfrm>
          <a:custGeom>
            <a:avLst/>
            <a:gdLst/>
            <a:ahLst/>
            <a:cxnLst/>
            <a:rect l="l" t="t" r="r" b="b"/>
            <a:pathLst>
              <a:path w="6193155" h="1692275">
                <a:moveTo>
                  <a:pt x="0" y="1692275"/>
                </a:moveTo>
                <a:lnTo>
                  <a:pt x="6192774" y="1692275"/>
                </a:lnTo>
                <a:lnTo>
                  <a:pt x="6192774" y="0"/>
                </a:lnTo>
                <a:lnTo>
                  <a:pt x="0" y="0"/>
                </a:lnTo>
                <a:lnTo>
                  <a:pt x="0" y="1692275"/>
                </a:lnTo>
                <a:close/>
              </a:path>
            </a:pathLst>
          </a:custGeom>
          <a:ln w="9525">
            <a:solidFill>
              <a:srgbClr val="080808"/>
            </a:solidFill>
          </a:ln>
        </p:spPr>
        <p:txBody>
          <a:bodyPr wrap="square" lIns="0" tIns="0" rIns="0" bIns="0" rtlCol="0"/>
          <a:lstStyle/>
          <a:p/>
        </p:txBody>
      </p:sp>
      <p:sp>
        <p:nvSpPr>
          <p:cNvPr id="18" name="object 18" descr=""/>
          <p:cNvSpPr txBox="1"/>
          <p:nvPr/>
        </p:nvSpPr>
        <p:spPr>
          <a:xfrm>
            <a:off x="585317" y="4617161"/>
            <a:ext cx="5937250" cy="1316990"/>
          </a:xfrm>
          <a:prstGeom prst="rect">
            <a:avLst/>
          </a:prstGeom>
        </p:spPr>
        <p:txBody>
          <a:bodyPr wrap="square" lIns="0" tIns="13335" rIns="0" bIns="0" rtlCol="0" vert="horz">
            <a:spAutoFit/>
          </a:bodyPr>
          <a:lstStyle/>
          <a:p>
            <a:pPr marL="12700">
              <a:lnSpc>
                <a:spcPct val="100000"/>
              </a:lnSpc>
              <a:spcBef>
                <a:spcPts val="105"/>
              </a:spcBef>
            </a:pPr>
            <a:r>
              <a:rPr dirty="0" sz="2000" spc="-10" b="1">
                <a:solidFill>
                  <a:srgbClr val="D50092"/>
                </a:solidFill>
                <a:latin typeface="微软雅黑"/>
                <a:cs typeface="微软雅黑"/>
              </a:rPr>
              <a:t>不同次迭代：</a:t>
            </a:r>
            <a:r>
              <a:rPr dirty="0" sz="2000" spc="-10" b="1">
                <a:solidFill>
                  <a:srgbClr val="40458B"/>
                </a:solidFill>
                <a:latin typeface="微软雅黑"/>
                <a:cs typeface="微软雅黑"/>
              </a:rPr>
              <a:t>当</a:t>
            </a:r>
            <a:r>
              <a:rPr dirty="0" sz="2000" spc="-10" b="1">
                <a:solidFill>
                  <a:srgbClr val="40458B"/>
                </a:solidFill>
                <a:latin typeface="Tahoma"/>
                <a:cs typeface="Tahoma"/>
              </a:rPr>
              <a:t>i=n</a:t>
            </a:r>
            <a:r>
              <a:rPr dirty="0" sz="2000" spc="-10" b="1">
                <a:solidFill>
                  <a:srgbClr val="40458B"/>
                </a:solidFill>
                <a:latin typeface="微软雅黑"/>
                <a:cs typeface="微软雅黑"/>
              </a:rPr>
              <a:t>和</a:t>
            </a:r>
            <a:r>
              <a:rPr dirty="0" sz="2000" spc="-20" b="1">
                <a:solidFill>
                  <a:srgbClr val="40458B"/>
                </a:solidFill>
                <a:latin typeface="Tahoma"/>
                <a:cs typeface="Tahoma"/>
              </a:rPr>
              <a:t>i=n+1</a:t>
            </a:r>
            <a:endParaRPr sz="2000">
              <a:latin typeface="Tahoma"/>
              <a:cs typeface="Tahoma"/>
            </a:endParaRPr>
          </a:p>
          <a:p>
            <a:pPr marL="354965" indent="-342265">
              <a:lnSpc>
                <a:spcPct val="100000"/>
              </a:lnSpc>
              <a:spcBef>
                <a:spcPts val="5"/>
              </a:spcBef>
              <a:buClr>
                <a:srgbClr val="006FC0"/>
              </a:buClr>
              <a:buFont typeface="Wingdings"/>
              <a:buChar char=""/>
              <a:tabLst>
                <a:tab pos="354965" algn="l"/>
              </a:tabLst>
            </a:pPr>
            <a:r>
              <a:rPr dirty="0" sz="2000" spc="-10" b="1">
                <a:solidFill>
                  <a:srgbClr val="40458B"/>
                </a:solidFill>
                <a:latin typeface="Tahoma"/>
                <a:cs typeface="Tahoma"/>
              </a:rPr>
              <a:t>i=n</a:t>
            </a:r>
            <a:r>
              <a:rPr dirty="0" sz="2000" spc="-5" b="1">
                <a:solidFill>
                  <a:srgbClr val="40458B"/>
                </a:solidFill>
                <a:latin typeface="微软雅黑"/>
                <a:cs typeface="微软雅黑"/>
              </a:rPr>
              <a:t>：看</a:t>
            </a:r>
            <a:r>
              <a:rPr dirty="0" sz="2000" spc="-10" b="1">
                <a:solidFill>
                  <a:srgbClr val="40458B"/>
                </a:solidFill>
                <a:latin typeface="Tahoma"/>
                <a:cs typeface="Tahoma"/>
              </a:rPr>
              <a:t>S2</a:t>
            </a:r>
            <a:r>
              <a:rPr dirty="0" sz="2000" spc="-5" b="1">
                <a:solidFill>
                  <a:srgbClr val="40458B"/>
                </a:solidFill>
                <a:latin typeface="Tahoma"/>
                <a:cs typeface="Tahoma"/>
              </a:rPr>
              <a:t>----</a:t>
            </a:r>
            <a:r>
              <a:rPr dirty="0" sz="2000" spc="-10" b="1">
                <a:solidFill>
                  <a:srgbClr val="40458B"/>
                </a:solidFill>
                <a:latin typeface="Tahoma"/>
                <a:cs typeface="Tahoma"/>
              </a:rPr>
              <a:t>i=n+1:</a:t>
            </a:r>
            <a:r>
              <a:rPr dirty="0" sz="2000" b="1">
                <a:solidFill>
                  <a:srgbClr val="40458B"/>
                </a:solidFill>
                <a:latin typeface="微软雅黑"/>
                <a:cs typeface="微软雅黑"/>
              </a:rPr>
              <a:t>看</a:t>
            </a:r>
            <a:r>
              <a:rPr dirty="0" sz="2000" spc="-25" b="1">
                <a:solidFill>
                  <a:srgbClr val="40458B"/>
                </a:solidFill>
                <a:latin typeface="Tahoma"/>
                <a:cs typeface="Tahoma"/>
              </a:rPr>
              <a:t>S1</a:t>
            </a:r>
            <a:endParaRPr sz="2000">
              <a:latin typeface="Tahoma"/>
              <a:cs typeface="Tahoma"/>
            </a:endParaRPr>
          </a:p>
          <a:p>
            <a:pPr marL="354965" indent="-342265">
              <a:lnSpc>
                <a:spcPct val="100000"/>
              </a:lnSpc>
              <a:spcBef>
                <a:spcPts val="20"/>
              </a:spcBef>
              <a:buClr>
                <a:srgbClr val="006FC0"/>
              </a:buClr>
              <a:buFont typeface="Wingdings"/>
              <a:buChar char=""/>
              <a:tabLst>
                <a:tab pos="354965" algn="l"/>
              </a:tabLst>
            </a:pPr>
            <a:r>
              <a:rPr dirty="0" sz="2000" spc="-10" b="1">
                <a:solidFill>
                  <a:srgbClr val="40458B"/>
                </a:solidFill>
                <a:latin typeface="Tahoma"/>
                <a:cs typeface="Tahoma"/>
              </a:rPr>
              <a:t>i=n</a:t>
            </a:r>
            <a:r>
              <a:rPr dirty="0" sz="2000" b="1">
                <a:solidFill>
                  <a:srgbClr val="40458B"/>
                </a:solidFill>
                <a:latin typeface="微软雅黑"/>
                <a:cs typeface="微软雅黑"/>
              </a:rPr>
              <a:t>时，执行</a:t>
            </a:r>
            <a:r>
              <a:rPr dirty="0" sz="2000" b="1">
                <a:solidFill>
                  <a:srgbClr val="FF0000"/>
                </a:solidFill>
                <a:latin typeface="Tahoma"/>
                <a:cs typeface="Tahoma"/>
              </a:rPr>
              <a:t>S2</a:t>
            </a:r>
            <a:r>
              <a:rPr dirty="0" sz="2000" spc="175" b="1">
                <a:solidFill>
                  <a:srgbClr val="40458B"/>
                </a:solidFill>
                <a:latin typeface="微软雅黑"/>
                <a:cs typeface="微软雅黑"/>
              </a:rPr>
              <a:t>， </a:t>
            </a:r>
            <a:r>
              <a:rPr dirty="0" sz="2000" b="1">
                <a:solidFill>
                  <a:srgbClr val="FF0000"/>
                </a:solidFill>
                <a:latin typeface="黑体"/>
                <a:cs typeface="黑体"/>
              </a:rPr>
              <a:t>B[n+1</a:t>
            </a:r>
            <a:r>
              <a:rPr dirty="0" sz="2000" spc="-15" b="1">
                <a:solidFill>
                  <a:srgbClr val="FF0000"/>
                </a:solidFill>
                <a:latin typeface="黑体"/>
                <a:cs typeface="黑体"/>
              </a:rPr>
              <a:t>] </a:t>
            </a:r>
            <a:r>
              <a:rPr dirty="0" sz="2000" spc="-10" b="1">
                <a:solidFill>
                  <a:srgbClr val="40458B"/>
                </a:solidFill>
                <a:latin typeface="黑体"/>
                <a:cs typeface="黑体"/>
              </a:rPr>
              <a:t>= </a:t>
            </a:r>
            <a:r>
              <a:rPr dirty="0" sz="2000" b="1">
                <a:solidFill>
                  <a:srgbClr val="40458B"/>
                </a:solidFill>
                <a:latin typeface="黑体"/>
                <a:cs typeface="黑体"/>
              </a:rPr>
              <a:t>C[n</a:t>
            </a:r>
            <a:r>
              <a:rPr dirty="0" sz="2000" spc="-10" b="1">
                <a:solidFill>
                  <a:srgbClr val="40458B"/>
                </a:solidFill>
                <a:latin typeface="黑体"/>
                <a:cs typeface="黑体"/>
              </a:rPr>
              <a:t>] + </a:t>
            </a:r>
            <a:r>
              <a:rPr dirty="0" sz="2000" spc="-20" b="1">
                <a:solidFill>
                  <a:srgbClr val="40458B"/>
                </a:solidFill>
                <a:latin typeface="黑体"/>
                <a:cs typeface="黑体"/>
              </a:rPr>
              <a:t>D[n]</a:t>
            </a:r>
            <a:endParaRPr sz="2000">
              <a:latin typeface="黑体"/>
              <a:cs typeface="黑体"/>
            </a:endParaRPr>
          </a:p>
          <a:p>
            <a:pPr marL="354965" indent="-342265">
              <a:lnSpc>
                <a:spcPct val="100000"/>
              </a:lnSpc>
              <a:spcBef>
                <a:spcPts val="60"/>
              </a:spcBef>
              <a:buClr>
                <a:srgbClr val="006FC0"/>
              </a:buClr>
              <a:buFont typeface="Wingdings"/>
              <a:buChar char=""/>
              <a:tabLst>
                <a:tab pos="354965" algn="l"/>
              </a:tabLst>
            </a:pPr>
            <a:r>
              <a:rPr dirty="0" sz="2000" b="1">
                <a:solidFill>
                  <a:srgbClr val="40458B"/>
                </a:solidFill>
                <a:latin typeface="微软雅黑"/>
                <a:cs typeface="微软雅黑"/>
              </a:rPr>
              <a:t>随后</a:t>
            </a:r>
            <a:r>
              <a:rPr dirty="0" sz="2000" spc="-10" b="1">
                <a:solidFill>
                  <a:srgbClr val="40458B"/>
                </a:solidFill>
                <a:latin typeface="黑体"/>
                <a:cs typeface="黑体"/>
              </a:rPr>
              <a:t>i=n+1,</a:t>
            </a:r>
            <a:r>
              <a:rPr dirty="0" sz="2000" spc="-10" b="1">
                <a:solidFill>
                  <a:srgbClr val="40458B"/>
                </a:solidFill>
                <a:latin typeface="微软雅黑"/>
                <a:cs typeface="微软雅黑"/>
              </a:rPr>
              <a:t>执行</a:t>
            </a:r>
            <a:r>
              <a:rPr dirty="0" sz="2400" b="1">
                <a:solidFill>
                  <a:srgbClr val="FF0000"/>
                </a:solidFill>
                <a:latin typeface="黑体"/>
                <a:cs typeface="黑体"/>
              </a:rPr>
              <a:t>S1</a:t>
            </a:r>
            <a:r>
              <a:rPr dirty="0" sz="2000" spc="175" b="1">
                <a:solidFill>
                  <a:srgbClr val="40458B"/>
                </a:solidFill>
                <a:latin typeface="微软雅黑"/>
                <a:cs typeface="微软雅黑"/>
              </a:rPr>
              <a:t>， </a:t>
            </a:r>
            <a:r>
              <a:rPr dirty="0" sz="2000" b="1">
                <a:solidFill>
                  <a:srgbClr val="40458B"/>
                </a:solidFill>
                <a:latin typeface="黑体"/>
                <a:cs typeface="黑体"/>
              </a:rPr>
              <a:t>A[n+1</a:t>
            </a:r>
            <a:r>
              <a:rPr dirty="0" sz="2000" spc="-20" b="1">
                <a:solidFill>
                  <a:srgbClr val="40458B"/>
                </a:solidFill>
                <a:latin typeface="黑体"/>
                <a:cs typeface="黑体"/>
              </a:rPr>
              <a:t>] = </a:t>
            </a:r>
            <a:r>
              <a:rPr dirty="0" sz="2000" b="1">
                <a:solidFill>
                  <a:srgbClr val="40458B"/>
                </a:solidFill>
                <a:latin typeface="黑体"/>
                <a:cs typeface="黑体"/>
              </a:rPr>
              <a:t>A[n+1</a:t>
            </a:r>
            <a:r>
              <a:rPr dirty="0" sz="2000" spc="-15" b="1">
                <a:solidFill>
                  <a:srgbClr val="40458B"/>
                </a:solidFill>
                <a:latin typeface="黑体"/>
                <a:cs typeface="黑体"/>
              </a:rPr>
              <a:t>] + </a:t>
            </a:r>
            <a:r>
              <a:rPr dirty="0" sz="2000" spc="-10" b="1">
                <a:solidFill>
                  <a:srgbClr val="FF0000"/>
                </a:solidFill>
                <a:latin typeface="黑体"/>
                <a:cs typeface="黑体"/>
              </a:rPr>
              <a:t>B[n+1]</a:t>
            </a:r>
            <a:endParaRPr sz="2000">
              <a:latin typeface="黑体"/>
              <a:cs typeface="黑体"/>
            </a:endParaRPr>
          </a:p>
        </p:txBody>
      </p:sp>
      <p:grpSp>
        <p:nvGrpSpPr>
          <p:cNvPr id="19" name="object 19" descr=""/>
          <p:cNvGrpSpPr/>
          <p:nvPr/>
        </p:nvGrpSpPr>
        <p:grpSpPr>
          <a:xfrm>
            <a:off x="3638296" y="3139667"/>
            <a:ext cx="2855595" cy="2599690"/>
            <a:chOff x="3638296" y="3139667"/>
            <a:chExt cx="2855595" cy="2599690"/>
          </a:xfrm>
        </p:grpSpPr>
        <p:sp>
          <p:nvSpPr>
            <p:cNvPr id="20" name="object 20" descr=""/>
            <p:cNvSpPr/>
            <p:nvPr/>
          </p:nvSpPr>
          <p:spPr>
            <a:xfrm>
              <a:off x="4067429" y="3139667"/>
              <a:ext cx="2426335" cy="2450465"/>
            </a:xfrm>
            <a:custGeom>
              <a:avLst/>
              <a:gdLst/>
              <a:ahLst/>
              <a:cxnLst/>
              <a:rect l="l" t="t" r="r" b="b"/>
              <a:pathLst>
                <a:path w="2426335" h="2450465">
                  <a:moveTo>
                    <a:pt x="2375102" y="2373996"/>
                  </a:moveTo>
                  <a:lnTo>
                    <a:pt x="2349754" y="2374418"/>
                  </a:lnTo>
                  <a:lnTo>
                    <a:pt x="2388997" y="2449983"/>
                  </a:lnTo>
                  <a:lnTo>
                    <a:pt x="2419417" y="2386737"/>
                  </a:lnTo>
                  <a:lnTo>
                    <a:pt x="2375281" y="2386737"/>
                  </a:lnTo>
                  <a:lnTo>
                    <a:pt x="2375108" y="2374418"/>
                  </a:lnTo>
                  <a:lnTo>
                    <a:pt x="2375102" y="2373996"/>
                  </a:lnTo>
                  <a:close/>
                </a:path>
                <a:path w="2426335" h="2450465">
                  <a:moveTo>
                    <a:pt x="2400471" y="2373573"/>
                  </a:moveTo>
                  <a:lnTo>
                    <a:pt x="2375102" y="2373996"/>
                  </a:lnTo>
                  <a:lnTo>
                    <a:pt x="2375273" y="2386229"/>
                  </a:lnTo>
                  <a:lnTo>
                    <a:pt x="2375281" y="2386737"/>
                  </a:lnTo>
                  <a:lnTo>
                    <a:pt x="2400681" y="2386229"/>
                  </a:lnTo>
                  <a:lnTo>
                    <a:pt x="2400485" y="2374418"/>
                  </a:lnTo>
                  <a:lnTo>
                    <a:pt x="2400471" y="2373573"/>
                  </a:lnTo>
                  <a:close/>
                </a:path>
                <a:path w="2426335" h="2450465">
                  <a:moveTo>
                    <a:pt x="2425954" y="2373148"/>
                  </a:moveTo>
                  <a:lnTo>
                    <a:pt x="2400471" y="2373573"/>
                  </a:lnTo>
                  <a:lnTo>
                    <a:pt x="2400681" y="2386229"/>
                  </a:lnTo>
                  <a:lnTo>
                    <a:pt x="2375281" y="2386737"/>
                  </a:lnTo>
                  <a:lnTo>
                    <a:pt x="2419417" y="2386737"/>
                  </a:lnTo>
                  <a:lnTo>
                    <a:pt x="2425954" y="2373148"/>
                  </a:lnTo>
                  <a:close/>
                </a:path>
                <a:path w="2426335" h="2450465">
                  <a:moveTo>
                    <a:pt x="24439" y="0"/>
                  </a:moveTo>
                  <a:lnTo>
                    <a:pt x="0" y="4217"/>
                  </a:lnTo>
                  <a:lnTo>
                    <a:pt x="508" y="7011"/>
                  </a:lnTo>
                  <a:lnTo>
                    <a:pt x="635" y="8027"/>
                  </a:lnTo>
                  <a:lnTo>
                    <a:pt x="1397" y="10059"/>
                  </a:lnTo>
                  <a:lnTo>
                    <a:pt x="2667" y="12726"/>
                  </a:lnTo>
                  <a:lnTo>
                    <a:pt x="3048" y="13615"/>
                  </a:lnTo>
                  <a:lnTo>
                    <a:pt x="41401" y="38507"/>
                  </a:lnTo>
                  <a:lnTo>
                    <a:pt x="88392" y="52350"/>
                  </a:lnTo>
                  <a:lnTo>
                    <a:pt x="137795" y="62764"/>
                  </a:lnTo>
                  <a:lnTo>
                    <a:pt x="181356" y="70384"/>
                  </a:lnTo>
                  <a:lnTo>
                    <a:pt x="229870" y="77623"/>
                  </a:lnTo>
                  <a:lnTo>
                    <a:pt x="302387" y="86894"/>
                  </a:lnTo>
                  <a:lnTo>
                    <a:pt x="341503" y="91212"/>
                  </a:lnTo>
                  <a:lnTo>
                    <a:pt x="425196" y="99594"/>
                  </a:lnTo>
                  <a:lnTo>
                    <a:pt x="469519" y="103404"/>
                  </a:lnTo>
                  <a:lnTo>
                    <a:pt x="611251" y="113818"/>
                  </a:lnTo>
                  <a:lnTo>
                    <a:pt x="763651" y="122073"/>
                  </a:lnTo>
                  <a:lnTo>
                    <a:pt x="927662" y="128169"/>
                  </a:lnTo>
                  <a:lnTo>
                    <a:pt x="928774" y="128169"/>
                  </a:lnTo>
                  <a:lnTo>
                    <a:pt x="1089025" y="131344"/>
                  </a:lnTo>
                  <a:lnTo>
                    <a:pt x="1200277" y="131852"/>
                  </a:lnTo>
                  <a:lnTo>
                    <a:pt x="1255395" y="135662"/>
                  </a:lnTo>
                  <a:lnTo>
                    <a:pt x="1309370" y="145441"/>
                  </a:lnTo>
                  <a:lnTo>
                    <a:pt x="1363472" y="161443"/>
                  </a:lnTo>
                  <a:lnTo>
                    <a:pt x="1417320" y="183668"/>
                  </a:lnTo>
                  <a:lnTo>
                    <a:pt x="1471041" y="211862"/>
                  </a:lnTo>
                  <a:lnTo>
                    <a:pt x="1524127" y="245517"/>
                  </a:lnTo>
                  <a:lnTo>
                    <a:pt x="1576832" y="284887"/>
                  </a:lnTo>
                  <a:lnTo>
                    <a:pt x="1628775" y="329591"/>
                  </a:lnTo>
                  <a:lnTo>
                    <a:pt x="1679956" y="379375"/>
                  </a:lnTo>
                  <a:lnTo>
                    <a:pt x="1730248" y="433985"/>
                  </a:lnTo>
                  <a:lnTo>
                    <a:pt x="1779524" y="493421"/>
                  </a:lnTo>
                  <a:lnTo>
                    <a:pt x="1827657" y="557429"/>
                  </a:lnTo>
                  <a:lnTo>
                    <a:pt x="1874520" y="625628"/>
                  </a:lnTo>
                  <a:lnTo>
                    <a:pt x="1919986" y="697891"/>
                  </a:lnTo>
                  <a:lnTo>
                    <a:pt x="1964055" y="774091"/>
                  </a:lnTo>
                  <a:lnTo>
                    <a:pt x="2006346" y="853847"/>
                  </a:lnTo>
                  <a:lnTo>
                    <a:pt x="2047113" y="937032"/>
                  </a:lnTo>
                  <a:lnTo>
                    <a:pt x="2085975" y="1023519"/>
                  </a:lnTo>
                  <a:lnTo>
                    <a:pt x="2122932" y="1112927"/>
                  </a:lnTo>
                  <a:lnTo>
                    <a:pt x="2157730" y="1205129"/>
                  </a:lnTo>
                  <a:lnTo>
                    <a:pt x="2190496" y="1299871"/>
                  </a:lnTo>
                  <a:lnTo>
                    <a:pt x="2220976" y="1397026"/>
                  </a:lnTo>
                  <a:lnTo>
                    <a:pt x="2248916" y="1496213"/>
                  </a:lnTo>
                  <a:lnTo>
                    <a:pt x="2274570" y="1597432"/>
                  </a:lnTo>
                  <a:lnTo>
                    <a:pt x="2297557" y="1700302"/>
                  </a:lnTo>
                  <a:lnTo>
                    <a:pt x="2317750" y="1804696"/>
                  </a:lnTo>
                  <a:lnTo>
                    <a:pt x="2335276" y="1910360"/>
                  </a:lnTo>
                  <a:lnTo>
                    <a:pt x="2349754" y="2017040"/>
                  </a:lnTo>
                  <a:lnTo>
                    <a:pt x="2361184" y="2124609"/>
                  </a:lnTo>
                  <a:lnTo>
                    <a:pt x="2369439" y="2232686"/>
                  </a:lnTo>
                  <a:lnTo>
                    <a:pt x="2374591" y="2340255"/>
                  </a:lnTo>
                  <a:lnTo>
                    <a:pt x="2374646" y="2341398"/>
                  </a:lnTo>
                  <a:lnTo>
                    <a:pt x="2375090" y="2373148"/>
                  </a:lnTo>
                  <a:lnTo>
                    <a:pt x="2375102" y="2373996"/>
                  </a:lnTo>
                  <a:lnTo>
                    <a:pt x="2400471" y="2373573"/>
                  </a:lnTo>
                  <a:lnTo>
                    <a:pt x="2399937" y="2341398"/>
                  </a:lnTo>
                  <a:lnTo>
                    <a:pt x="2399919" y="2340255"/>
                  </a:lnTo>
                  <a:lnTo>
                    <a:pt x="2394927" y="2232686"/>
                  </a:lnTo>
                  <a:lnTo>
                    <a:pt x="2394839" y="2230781"/>
                  </a:lnTo>
                  <a:lnTo>
                    <a:pt x="2386457" y="2121942"/>
                  </a:lnTo>
                  <a:lnTo>
                    <a:pt x="2374900" y="2013611"/>
                  </a:lnTo>
                  <a:lnTo>
                    <a:pt x="2360295" y="1906169"/>
                  </a:lnTo>
                  <a:lnTo>
                    <a:pt x="2342642" y="1799870"/>
                  </a:lnTo>
                  <a:lnTo>
                    <a:pt x="2322322" y="1694714"/>
                  </a:lnTo>
                  <a:lnTo>
                    <a:pt x="2299208" y="1591209"/>
                  </a:lnTo>
                  <a:lnTo>
                    <a:pt x="2273427" y="1489355"/>
                  </a:lnTo>
                  <a:lnTo>
                    <a:pt x="2245233" y="1389406"/>
                  </a:lnTo>
                  <a:lnTo>
                    <a:pt x="2214499" y="1291616"/>
                  </a:lnTo>
                  <a:lnTo>
                    <a:pt x="2181479" y="1196112"/>
                  </a:lnTo>
                  <a:lnTo>
                    <a:pt x="2146427" y="1103275"/>
                  </a:lnTo>
                  <a:lnTo>
                    <a:pt x="2109089" y="1013105"/>
                  </a:lnTo>
                  <a:lnTo>
                    <a:pt x="2069973" y="925983"/>
                  </a:lnTo>
                  <a:lnTo>
                    <a:pt x="2028825" y="841909"/>
                  </a:lnTo>
                  <a:lnTo>
                    <a:pt x="1986026" y="761264"/>
                  </a:lnTo>
                  <a:lnTo>
                    <a:pt x="1941449" y="684429"/>
                  </a:lnTo>
                  <a:lnTo>
                    <a:pt x="1895475" y="611277"/>
                  </a:lnTo>
                  <a:lnTo>
                    <a:pt x="1847977" y="542062"/>
                  </a:lnTo>
                  <a:lnTo>
                    <a:pt x="1799082" y="477292"/>
                  </a:lnTo>
                  <a:lnTo>
                    <a:pt x="1748917" y="416840"/>
                  </a:lnTo>
                  <a:lnTo>
                    <a:pt x="1697609" y="361214"/>
                  </a:lnTo>
                  <a:lnTo>
                    <a:pt x="1645285" y="310287"/>
                  </a:lnTo>
                  <a:lnTo>
                    <a:pt x="1592072" y="264567"/>
                  </a:lnTo>
                  <a:lnTo>
                    <a:pt x="1537843" y="224181"/>
                  </a:lnTo>
                  <a:lnTo>
                    <a:pt x="1482852" y="189256"/>
                  </a:lnTo>
                  <a:lnTo>
                    <a:pt x="1427480" y="160300"/>
                  </a:lnTo>
                  <a:lnTo>
                    <a:pt x="1371219" y="137313"/>
                  </a:lnTo>
                  <a:lnTo>
                    <a:pt x="1314577" y="120549"/>
                  </a:lnTo>
                  <a:lnTo>
                    <a:pt x="1258394" y="110516"/>
                  </a:lnTo>
                  <a:lnTo>
                    <a:pt x="1258976" y="110516"/>
                  </a:lnTo>
                  <a:lnTo>
                    <a:pt x="1229106" y="107849"/>
                  </a:lnTo>
                  <a:lnTo>
                    <a:pt x="1200404" y="106452"/>
                  </a:lnTo>
                  <a:lnTo>
                    <a:pt x="1089406" y="105944"/>
                  </a:lnTo>
                  <a:lnTo>
                    <a:pt x="924687" y="102642"/>
                  </a:lnTo>
                  <a:lnTo>
                    <a:pt x="764794" y="96673"/>
                  </a:lnTo>
                  <a:lnTo>
                    <a:pt x="612901" y="88418"/>
                  </a:lnTo>
                  <a:lnTo>
                    <a:pt x="471805" y="78131"/>
                  </a:lnTo>
                  <a:lnTo>
                    <a:pt x="386393" y="70384"/>
                  </a:lnTo>
                  <a:lnTo>
                    <a:pt x="344297" y="66066"/>
                  </a:lnTo>
                  <a:lnTo>
                    <a:pt x="268478" y="57176"/>
                  </a:lnTo>
                  <a:lnTo>
                    <a:pt x="185420" y="45365"/>
                  </a:lnTo>
                  <a:lnTo>
                    <a:pt x="142621" y="37872"/>
                  </a:lnTo>
                  <a:lnTo>
                    <a:pt x="94742" y="27712"/>
                  </a:lnTo>
                  <a:lnTo>
                    <a:pt x="57912" y="17425"/>
                  </a:lnTo>
                  <a:lnTo>
                    <a:pt x="26831" y="2693"/>
                  </a:lnTo>
                  <a:lnTo>
                    <a:pt x="25526" y="2693"/>
                  </a:lnTo>
                  <a:lnTo>
                    <a:pt x="25215" y="1624"/>
                  </a:lnTo>
                  <a:lnTo>
                    <a:pt x="25143" y="1377"/>
                  </a:lnTo>
                  <a:lnTo>
                    <a:pt x="25287" y="1377"/>
                  </a:lnTo>
                  <a:lnTo>
                    <a:pt x="24666" y="653"/>
                  </a:lnTo>
                  <a:lnTo>
                    <a:pt x="24798" y="653"/>
                  </a:lnTo>
                  <a:lnTo>
                    <a:pt x="24439" y="0"/>
                  </a:lnTo>
                  <a:close/>
                </a:path>
                <a:path w="2426335" h="2450465">
                  <a:moveTo>
                    <a:pt x="25499" y="1624"/>
                  </a:moveTo>
                  <a:lnTo>
                    <a:pt x="25781" y="2439"/>
                  </a:lnTo>
                  <a:lnTo>
                    <a:pt x="25480" y="2439"/>
                  </a:lnTo>
                  <a:lnTo>
                    <a:pt x="25526" y="2693"/>
                  </a:lnTo>
                  <a:lnTo>
                    <a:pt x="26416" y="2693"/>
                  </a:lnTo>
                  <a:lnTo>
                    <a:pt x="26198" y="2439"/>
                  </a:lnTo>
                  <a:lnTo>
                    <a:pt x="25781" y="2439"/>
                  </a:lnTo>
                  <a:lnTo>
                    <a:pt x="25332" y="1624"/>
                  </a:lnTo>
                  <a:lnTo>
                    <a:pt x="25499" y="1624"/>
                  </a:lnTo>
                  <a:close/>
                </a:path>
                <a:path w="2426335" h="2450465">
                  <a:moveTo>
                    <a:pt x="25665" y="1624"/>
                  </a:moveTo>
                  <a:lnTo>
                    <a:pt x="26416" y="2693"/>
                  </a:lnTo>
                  <a:lnTo>
                    <a:pt x="26831" y="2693"/>
                  </a:lnTo>
                  <a:lnTo>
                    <a:pt x="25665" y="1624"/>
                  </a:lnTo>
                  <a:close/>
                </a:path>
                <a:path w="2426335" h="2450465">
                  <a:moveTo>
                    <a:pt x="24931" y="653"/>
                  </a:moveTo>
                  <a:lnTo>
                    <a:pt x="25287" y="1377"/>
                  </a:lnTo>
                  <a:lnTo>
                    <a:pt x="26198" y="2439"/>
                  </a:lnTo>
                  <a:lnTo>
                    <a:pt x="25458" y="1377"/>
                  </a:lnTo>
                  <a:lnTo>
                    <a:pt x="24605" y="653"/>
                  </a:lnTo>
                  <a:lnTo>
                    <a:pt x="25050" y="653"/>
                  </a:lnTo>
                  <a:close/>
                </a:path>
                <a:path w="2426335" h="2450465">
                  <a:moveTo>
                    <a:pt x="24798" y="653"/>
                  </a:moveTo>
                  <a:lnTo>
                    <a:pt x="24605" y="653"/>
                  </a:lnTo>
                  <a:lnTo>
                    <a:pt x="25395" y="1377"/>
                  </a:lnTo>
                  <a:lnTo>
                    <a:pt x="25196" y="1377"/>
                  </a:lnTo>
                  <a:lnTo>
                    <a:pt x="24798" y="653"/>
                  </a:lnTo>
                  <a:close/>
                </a:path>
                <a:path w="2426335" h="2450465">
                  <a:moveTo>
                    <a:pt x="24456" y="0"/>
                  </a:moveTo>
                  <a:lnTo>
                    <a:pt x="25196" y="1377"/>
                  </a:lnTo>
                  <a:lnTo>
                    <a:pt x="24931" y="653"/>
                  </a:lnTo>
                  <a:lnTo>
                    <a:pt x="24456" y="0"/>
                  </a:lnTo>
                  <a:close/>
                </a:path>
                <a:path w="2426335" h="2450465">
                  <a:moveTo>
                    <a:pt x="25037" y="0"/>
                  </a:moveTo>
                  <a:lnTo>
                    <a:pt x="24782" y="0"/>
                  </a:lnTo>
                  <a:lnTo>
                    <a:pt x="24931" y="653"/>
                  </a:lnTo>
                  <a:lnTo>
                    <a:pt x="25143" y="1377"/>
                  </a:lnTo>
                  <a:lnTo>
                    <a:pt x="25287" y="1377"/>
                  </a:lnTo>
                  <a:lnTo>
                    <a:pt x="25155" y="653"/>
                  </a:lnTo>
                  <a:lnTo>
                    <a:pt x="24782" y="0"/>
                  </a:lnTo>
                  <a:lnTo>
                    <a:pt x="25037" y="0"/>
                  </a:lnTo>
                  <a:close/>
                </a:path>
                <a:path w="2426335" h="2450465">
                  <a:moveTo>
                    <a:pt x="24741" y="0"/>
                  </a:moveTo>
                  <a:lnTo>
                    <a:pt x="24456" y="0"/>
                  </a:lnTo>
                  <a:lnTo>
                    <a:pt x="24931" y="653"/>
                  </a:lnTo>
                  <a:lnTo>
                    <a:pt x="24741" y="0"/>
                  </a:lnTo>
                  <a:close/>
                </a:path>
              </a:pathLst>
            </a:custGeom>
            <a:solidFill>
              <a:srgbClr val="E14B04"/>
            </a:solidFill>
          </p:spPr>
          <p:txBody>
            <a:bodyPr wrap="square" lIns="0" tIns="0" rIns="0" bIns="0" rtlCol="0"/>
            <a:lstStyle/>
            <a:p/>
          </p:txBody>
        </p:sp>
        <p:sp>
          <p:nvSpPr>
            <p:cNvPr id="21" name="object 21" descr=""/>
            <p:cNvSpPr/>
            <p:nvPr/>
          </p:nvSpPr>
          <p:spPr>
            <a:xfrm>
              <a:off x="3638296" y="3659250"/>
              <a:ext cx="1642745" cy="1560830"/>
            </a:xfrm>
            <a:custGeom>
              <a:avLst/>
              <a:gdLst/>
              <a:ahLst/>
              <a:cxnLst/>
              <a:rect l="l" t="t" r="r" b="b"/>
              <a:pathLst>
                <a:path w="1642745" h="1560829">
                  <a:moveTo>
                    <a:pt x="1593699" y="1489584"/>
                  </a:moveTo>
                  <a:lnTo>
                    <a:pt x="1568450" y="1496060"/>
                  </a:lnTo>
                  <a:lnTo>
                    <a:pt x="1624202" y="1560449"/>
                  </a:lnTo>
                  <a:lnTo>
                    <a:pt x="1636986" y="1501394"/>
                  </a:lnTo>
                  <a:lnTo>
                    <a:pt x="1596008" y="1501394"/>
                  </a:lnTo>
                  <a:lnTo>
                    <a:pt x="1593699" y="1489584"/>
                  </a:lnTo>
                  <a:close/>
                </a:path>
                <a:path w="1642745" h="1560829">
                  <a:moveTo>
                    <a:pt x="1618315" y="1483271"/>
                  </a:moveTo>
                  <a:lnTo>
                    <a:pt x="1593699" y="1489584"/>
                  </a:lnTo>
                  <a:lnTo>
                    <a:pt x="1596008" y="1501394"/>
                  </a:lnTo>
                  <a:lnTo>
                    <a:pt x="1620901" y="1496441"/>
                  </a:lnTo>
                  <a:lnTo>
                    <a:pt x="1618315" y="1483271"/>
                  </a:lnTo>
                  <a:close/>
                </a:path>
                <a:path w="1642745" h="1560829">
                  <a:moveTo>
                    <a:pt x="1642237" y="1477137"/>
                  </a:moveTo>
                  <a:lnTo>
                    <a:pt x="1618315" y="1483271"/>
                  </a:lnTo>
                  <a:lnTo>
                    <a:pt x="1620826" y="1496060"/>
                  </a:lnTo>
                  <a:lnTo>
                    <a:pt x="1620901" y="1496441"/>
                  </a:lnTo>
                  <a:lnTo>
                    <a:pt x="1596008" y="1501394"/>
                  </a:lnTo>
                  <a:lnTo>
                    <a:pt x="1636986" y="1501394"/>
                  </a:lnTo>
                  <a:lnTo>
                    <a:pt x="1642237" y="1477137"/>
                  </a:lnTo>
                  <a:close/>
                </a:path>
                <a:path w="1642745" h="1560829">
                  <a:moveTo>
                    <a:pt x="507" y="0"/>
                  </a:moveTo>
                  <a:lnTo>
                    <a:pt x="0" y="25273"/>
                  </a:lnTo>
                  <a:lnTo>
                    <a:pt x="73913" y="26416"/>
                  </a:lnTo>
                  <a:lnTo>
                    <a:pt x="147065" y="29844"/>
                  </a:lnTo>
                  <a:lnTo>
                    <a:pt x="220217" y="35179"/>
                  </a:lnTo>
                  <a:lnTo>
                    <a:pt x="292734" y="42672"/>
                  </a:lnTo>
                  <a:lnTo>
                    <a:pt x="364743" y="52069"/>
                  </a:lnTo>
                  <a:lnTo>
                    <a:pt x="435990" y="63500"/>
                  </a:lnTo>
                  <a:lnTo>
                    <a:pt x="506475" y="76707"/>
                  </a:lnTo>
                  <a:lnTo>
                    <a:pt x="575944" y="91567"/>
                  </a:lnTo>
                  <a:lnTo>
                    <a:pt x="644143" y="108204"/>
                  </a:lnTo>
                  <a:lnTo>
                    <a:pt x="711200" y="126492"/>
                  </a:lnTo>
                  <a:lnTo>
                    <a:pt x="776731" y="146176"/>
                  </a:lnTo>
                  <a:lnTo>
                    <a:pt x="840613" y="167512"/>
                  </a:lnTo>
                  <a:lnTo>
                    <a:pt x="902842" y="190246"/>
                  </a:lnTo>
                  <a:lnTo>
                    <a:pt x="963167" y="214249"/>
                  </a:lnTo>
                  <a:lnTo>
                    <a:pt x="1021461" y="239522"/>
                  </a:lnTo>
                  <a:lnTo>
                    <a:pt x="1077594" y="265938"/>
                  </a:lnTo>
                  <a:lnTo>
                    <a:pt x="1131442" y="293624"/>
                  </a:lnTo>
                  <a:lnTo>
                    <a:pt x="1182751" y="322199"/>
                  </a:lnTo>
                  <a:lnTo>
                    <a:pt x="1231518" y="351663"/>
                  </a:lnTo>
                  <a:lnTo>
                    <a:pt x="1277492" y="382269"/>
                  </a:lnTo>
                  <a:lnTo>
                    <a:pt x="1320545" y="413512"/>
                  </a:lnTo>
                  <a:lnTo>
                    <a:pt x="1360551" y="445516"/>
                  </a:lnTo>
                  <a:lnTo>
                    <a:pt x="1397380" y="478155"/>
                  </a:lnTo>
                  <a:lnTo>
                    <a:pt x="1430908" y="511429"/>
                  </a:lnTo>
                  <a:lnTo>
                    <a:pt x="1461007" y="545211"/>
                  </a:lnTo>
                  <a:lnTo>
                    <a:pt x="1487296" y="579247"/>
                  </a:lnTo>
                  <a:lnTo>
                    <a:pt x="1509902" y="613537"/>
                  </a:lnTo>
                  <a:lnTo>
                    <a:pt x="1528699" y="648335"/>
                  </a:lnTo>
                  <a:lnTo>
                    <a:pt x="1553971" y="717804"/>
                  </a:lnTo>
                  <a:lnTo>
                    <a:pt x="1562384" y="785749"/>
                  </a:lnTo>
                  <a:lnTo>
                    <a:pt x="1562480" y="787400"/>
                  </a:lnTo>
                  <a:lnTo>
                    <a:pt x="1562734" y="859028"/>
                  </a:lnTo>
                  <a:lnTo>
                    <a:pt x="1563620" y="930782"/>
                  </a:lnTo>
                  <a:lnTo>
                    <a:pt x="1565013" y="1001522"/>
                  </a:lnTo>
                  <a:lnTo>
                    <a:pt x="1566656" y="1070483"/>
                  </a:lnTo>
                  <a:lnTo>
                    <a:pt x="1568957" y="1138047"/>
                  </a:lnTo>
                  <a:lnTo>
                    <a:pt x="1571579" y="1200912"/>
                  </a:lnTo>
                  <a:lnTo>
                    <a:pt x="1574481" y="1261364"/>
                  </a:lnTo>
                  <a:lnTo>
                    <a:pt x="1577757" y="1317879"/>
                  </a:lnTo>
                  <a:lnTo>
                    <a:pt x="1581530" y="1371600"/>
                  </a:lnTo>
                  <a:lnTo>
                    <a:pt x="1585340" y="1418590"/>
                  </a:lnTo>
                  <a:lnTo>
                    <a:pt x="1589404" y="1460246"/>
                  </a:lnTo>
                  <a:lnTo>
                    <a:pt x="1593699" y="1489584"/>
                  </a:lnTo>
                  <a:lnTo>
                    <a:pt x="1618315" y="1483271"/>
                  </a:lnTo>
                  <a:lnTo>
                    <a:pt x="1616837" y="1475740"/>
                  </a:lnTo>
                  <a:lnTo>
                    <a:pt x="1614677" y="1457579"/>
                  </a:lnTo>
                  <a:lnTo>
                    <a:pt x="1610614" y="1416558"/>
                  </a:lnTo>
                  <a:lnTo>
                    <a:pt x="1606803" y="1369822"/>
                  </a:lnTo>
                  <a:lnTo>
                    <a:pt x="1603350" y="1319403"/>
                  </a:lnTo>
                  <a:lnTo>
                    <a:pt x="1600013" y="1262634"/>
                  </a:lnTo>
                  <a:lnTo>
                    <a:pt x="1596948" y="1201928"/>
                  </a:lnTo>
                  <a:lnTo>
                    <a:pt x="1593088" y="1104138"/>
                  </a:lnTo>
                  <a:lnTo>
                    <a:pt x="1590430" y="1001903"/>
                  </a:lnTo>
                  <a:lnTo>
                    <a:pt x="1589029" y="931037"/>
                  </a:lnTo>
                  <a:lnTo>
                    <a:pt x="1588134" y="859028"/>
                  </a:lnTo>
                  <a:lnTo>
                    <a:pt x="1587886" y="787400"/>
                  </a:lnTo>
                  <a:lnTo>
                    <a:pt x="1587880" y="785749"/>
                  </a:lnTo>
                  <a:lnTo>
                    <a:pt x="1585467" y="747903"/>
                  </a:lnTo>
                  <a:lnTo>
                    <a:pt x="1578355" y="710311"/>
                  </a:lnTo>
                  <a:lnTo>
                    <a:pt x="1566799" y="673100"/>
                  </a:lnTo>
                  <a:lnTo>
                    <a:pt x="1551051" y="636143"/>
                  </a:lnTo>
                  <a:lnTo>
                    <a:pt x="1531112" y="599567"/>
                  </a:lnTo>
                  <a:lnTo>
                    <a:pt x="1507489" y="563626"/>
                  </a:lnTo>
                  <a:lnTo>
                    <a:pt x="1479930" y="528193"/>
                  </a:lnTo>
                  <a:lnTo>
                    <a:pt x="1448815" y="493394"/>
                  </a:lnTo>
                  <a:lnTo>
                    <a:pt x="1414271" y="459231"/>
                  </a:lnTo>
                  <a:lnTo>
                    <a:pt x="1376426" y="425704"/>
                  </a:lnTo>
                  <a:lnTo>
                    <a:pt x="1335531" y="392938"/>
                  </a:lnTo>
                  <a:lnTo>
                    <a:pt x="1291589" y="361061"/>
                  </a:lnTo>
                  <a:lnTo>
                    <a:pt x="1244727" y="329946"/>
                  </a:lnTo>
                  <a:lnTo>
                    <a:pt x="1195196" y="299974"/>
                  </a:lnTo>
                  <a:lnTo>
                    <a:pt x="1143000" y="271018"/>
                  </a:lnTo>
                  <a:lnTo>
                    <a:pt x="1088516" y="242950"/>
                  </a:lnTo>
                  <a:lnTo>
                    <a:pt x="1031620" y="216281"/>
                  </a:lnTo>
                  <a:lnTo>
                    <a:pt x="972565" y="190626"/>
                  </a:lnTo>
                  <a:lnTo>
                    <a:pt x="911605" y="166369"/>
                  </a:lnTo>
                  <a:lnTo>
                    <a:pt x="848613" y="143510"/>
                  </a:lnTo>
                  <a:lnTo>
                    <a:pt x="783970" y="121919"/>
                  </a:lnTo>
                  <a:lnTo>
                    <a:pt x="717803" y="101854"/>
                  </a:lnTo>
                  <a:lnTo>
                    <a:pt x="650239" y="83566"/>
                  </a:lnTo>
                  <a:lnTo>
                    <a:pt x="581278" y="66675"/>
                  </a:lnTo>
                  <a:lnTo>
                    <a:pt x="511175" y="51688"/>
                  </a:lnTo>
                  <a:lnTo>
                    <a:pt x="440054" y="38354"/>
                  </a:lnTo>
                  <a:lnTo>
                    <a:pt x="368045" y="26924"/>
                  </a:lnTo>
                  <a:lnTo>
                    <a:pt x="295275" y="17399"/>
                  </a:lnTo>
                  <a:lnTo>
                    <a:pt x="222123" y="9906"/>
                  </a:lnTo>
                  <a:lnTo>
                    <a:pt x="148336" y="4444"/>
                  </a:lnTo>
                  <a:lnTo>
                    <a:pt x="74294" y="1143"/>
                  </a:lnTo>
                  <a:lnTo>
                    <a:pt x="507" y="0"/>
                  </a:lnTo>
                  <a:close/>
                </a:path>
              </a:pathLst>
            </a:custGeom>
            <a:solidFill>
              <a:srgbClr val="00AF50"/>
            </a:solidFill>
          </p:spPr>
          <p:txBody>
            <a:bodyPr wrap="square" lIns="0" tIns="0" rIns="0" bIns="0" rtlCol="0"/>
            <a:lstStyle/>
            <a:p/>
          </p:txBody>
        </p:sp>
        <p:sp>
          <p:nvSpPr>
            <p:cNvPr id="22" name="object 22" descr=""/>
            <p:cNvSpPr/>
            <p:nvPr/>
          </p:nvSpPr>
          <p:spPr>
            <a:xfrm>
              <a:off x="3671951" y="5509895"/>
              <a:ext cx="2063750" cy="229235"/>
            </a:xfrm>
            <a:custGeom>
              <a:avLst/>
              <a:gdLst/>
              <a:ahLst/>
              <a:cxnLst/>
              <a:rect l="l" t="t" r="r" b="b"/>
              <a:pathLst>
                <a:path w="2063750" h="229235">
                  <a:moveTo>
                    <a:pt x="67625" y="26731"/>
                  </a:moveTo>
                  <a:lnTo>
                    <a:pt x="56896" y="40131"/>
                  </a:lnTo>
                  <a:lnTo>
                    <a:pt x="65208" y="55316"/>
                  </a:lnTo>
                  <a:lnTo>
                    <a:pt x="2060828" y="228866"/>
                  </a:lnTo>
                  <a:lnTo>
                    <a:pt x="2063369" y="200393"/>
                  </a:lnTo>
                  <a:lnTo>
                    <a:pt x="67625" y="26731"/>
                  </a:lnTo>
                  <a:close/>
                </a:path>
                <a:path w="2063750" h="229235">
                  <a:moveTo>
                    <a:pt x="89026" y="0"/>
                  </a:moveTo>
                  <a:lnTo>
                    <a:pt x="0" y="35305"/>
                  </a:lnTo>
                  <a:lnTo>
                    <a:pt x="81661" y="85369"/>
                  </a:lnTo>
                  <a:lnTo>
                    <a:pt x="65208" y="55316"/>
                  </a:lnTo>
                  <a:lnTo>
                    <a:pt x="55625" y="54482"/>
                  </a:lnTo>
                  <a:lnTo>
                    <a:pt x="58092" y="26731"/>
                  </a:lnTo>
                  <a:lnTo>
                    <a:pt x="58165" y="25907"/>
                  </a:lnTo>
                  <a:lnTo>
                    <a:pt x="68284" y="25907"/>
                  </a:lnTo>
                  <a:lnTo>
                    <a:pt x="89026" y="0"/>
                  </a:lnTo>
                  <a:close/>
                </a:path>
                <a:path w="2063750" h="229235">
                  <a:moveTo>
                    <a:pt x="56896" y="40131"/>
                  </a:moveTo>
                  <a:lnTo>
                    <a:pt x="55625" y="54482"/>
                  </a:lnTo>
                  <a:lnTo>
                    <a:pt x="65208" y="55316"/>
                  </a:lnTo>
                  <a:lnTo>
                    <a:pt x="56896" y="40131"/>
                  </a:lnTo>
                  <a:close/>
                </a:path>
                <a:path w="2063750" h="229235">
                  <a:moveTo>
                    <a:pt x="58165" y="25907"/>
                  </a:moveTo>
                  <a:lnTo>
                    <a:pt x="56901" y="40131"/>
                  </a:lnTo>
                  <a:lnTo>
                    <a:pt x="67625" y="26731"/>
                  </a:lnTo>
                  <a:lnTo>
                    <a:pt x="58165" y="25907"/>
                  </a:lnTo>
                  <a:close/>
                </a:path>
                <a:path w="2063750" h="229235">
                  <a:moveTo>
                    <a:pt x="68284" y="25907"/>
                  </a:moveTo>
                  <a:lnTo>
                    <a:pt x="58165" y="25907"/>
                  </a:lnTo>
                  <a:lnTo>
                    <a:pt x="67625" y="26731"/>
                  </a:lnTo>
                  <a:lnTo>
                    <a:pt x="68284" y="25907"/>
                  </a:lnTo>
                  <a:close/>
                </a:path>
              </a:pathLst>
            </a:custGeom>
            <a:solidFill>
              <a:srgbClr val="FFC000"/>
            </a:solidFill>
          </p:spPr>
          <p:txBody>
            <a:bodyPr wrap="square" lIns="0" tIns="0" rIns="0" bIns="0" rtlCol="0"/>
            <a:lstStyle/>
            <a:p/>
          </p:txBody>
        </p:sp>
      </p:grpSp>
      <p:sp>
        <p:nvSpPr>
          <p:cNvPr id="23" name="object 23" descr=""/>
          <p:cNvSpPr txBox="1"/>
          <p:nvPr/>
        </p:nvSpPr>
        <p:spPr>
          <a:xfrm>
            <a:off x="7208901" y="4765078"/>
            <a:ext cx="4491355" cy="1323340"/>
          </a:xfrm>
          <a:prstGeom prst="rect">
            <a:avLst/>
          </a:prstGeom>
          <a:ln w="9525">
            <a:solidFill>
              <a:srgbClr val="080808"/>
            </a:solidFill>
          </a:ln>
        </p:spPr>
        <p:txBody>
          <a:bodyPr wrap="square" lIns="0" tIns="38100" rIns="0" bIns="0" rtlCol="0" vert="horz">
            <a:spAutoFit/>
          </a:bodyPr>
          <a:lstStyle/>
          <a:p>
            <a:pPr marL="92075">
              <a:lnSpc>
                <a:spcPct val="100000"/>
              </a:lnSpc>
              <a:spcBef>
                <a:spcPts val="300"/>
              </a:spcBef>
            </a:pPr>
            <a:r>
              <a:rPr dirty="0" sz="2000" spc="-20" b="1">
                <a:solidFill>
                  <a:srgbClr val="D50092"/>
                </a:solidFill>
                <a:latin typeface="微软雅黑"/>
                <a:cs typeface="微软雅黑"/>
              </a:rPr>
              <a:t>不同次迭代：</a:t>
            </a:r>
            <a:endParaRPr sz="2000">
              <a:latin typeface="微软雅黑"/>
              <a:cs typeface="微软雅黑"/>
            </a:endParaRPr>
          </a:p>
          <a:p>
            <a:pPr marL="92075">
              <a:lnSpc>
                <a:spcPct val="100000"/>
              </a:lnSpc>
            </a:pPr>
            <a:r>
              <a:rPr dirty="0" sz="2000" b="1">
                <a:solidFill>
                  <a:srgbClr val="40458B"/>
                </a:solidFill>
                <a:latin typeface="Tahoma"/>
                <a:cs typeface="Tahoma"/>
              </a:rPr>
              <a:t>i</a:t>
            </a:r>
            <a:r>
              <a:rPr dirty="0" sz="2000" spc="-5" b="1">
                <a:solidFill>
                  <a:srgbClr val="40458B"/>
                </a:solidFill>
                <a:latin typeface="Tahoma"/>
                <a:cs typeface="Tahoma"/>
              </a:rPr>
              <a:t> = </a:t>
            </a:r>
            <a:r>
              <a:rPr dirty="0" sz="2000" b="1">
                <a:solidFill>
                  <a:srgbClr val="40458B"/>
                </a:solidFill>
                <a:latin typeface="Tahoma"/>
                <a:cs typeface="Tahoma"/>
              </a:rPr>
              <a:t>n </a:t>
            </a:r>
            <a:r>
              <a:rPr dirty="0" sz="2000" spc="-10" b="1">
                <a:solidFill>
                  <a:srgbClr val="40458B"/>
                </a:solidFill>
                <a:latin typeface="微软雅黑"/>
                <a:cs typeface="微软雅黑"/>
              </a:rPr>
              <a:t>的 </a:t>
            </a:r>
            <a:r>
              <a:rPr dirty="0" sz="2000" b="1">
                <a:solidFill>
                  <a:srgbClr val="40458B"/>
                </a:solidFill>
                <a:latin typeface="Tahoma"/>
                <a:cs typeface="Tahoma"/>
              </a:rPr>
              <a:t>S2 </a:t>
            </a:r>
            <a:r>
              <a:rPr dirty="0" sz="2000" spc="-15" b="1">
                <a:solidFill>
                  <a:srgbClr val="40458B"/>
                </a:solidFill>
                <a:latin typeface="微软雅黑"/>
                <a:cs typeface="微软雅黑"/>
              </a:rPr>
              <a:t>指令 写入 </a:t>
            </a:r>
            <a:r>
              <a:rPr dirty="0" sz="2000" spc="-10" b="1">
                <a:solidFill>
                  <a:srgbClr val="40458B"/>
                </a:solidFill>
                <a:latin typeface="Tahoma"/>
                <a:cs typeface="Tahoma"/>
              </a:rPr>
              <a:t>B[n+1]</a:t>
            </a:r>
            <a:endParaRPr sz="2000">
              <a:latin typeface="Tahoma"/>
              <a:cs typeface="Tahoma"/>
            </a:endParaRPr>
          </a:p>
          <a:p>
            <a:pPr marL="92075">
              <a:lnSpc>
                <a:spcPct val="100000"/>
              </a:lnSpc>
              <a:spcBef>
                <a:spcPts val="2400"/>
              </a:spcBef>
            </a:pPr>
            <a:r>
              <a:rPr dirty="0" sz="2000" b="1">
                <a:solidFill>
                  <a:srgbClr val="40458B"/>
                </a:solidFill>
                <a:latin typeface="Tahoma"/>
                <a:cs typeface="Tahoma"/>
              </a:rPr>
              <a:t>i</a:t>
            </a:r>
            <a:r>
              <a:rPr dirty="0" sz="2000" spc="-10" b="1">
                <a:solidFill>
                  <a:srgbClr val="40458B"/>
                </a:solidFill>
                <a:latin typeface="Tahoma"/>
                <a:cs typeface="Tahoma"/>
              </a:rPr>
              <a:t> = </a:t>
            </a:r>
            <a:r>
              <a:rPr dirty="0" sz="2000" b="1">
                <a:solidFill>
                  <a:srgbClr val="40458B"/>
                </a:solidFill>
                <a:latin typeface="Tahoma"/>
                <a:cs typeface="Tahoma"/>
              </a:rPr>
              <a:t>n+1</a:t>
            </a:r>
            <a:r>
              <a:rPr dirty="0" sz="2000" spc="-15" b="1">
                <a:solidFill>
                  <a:srgbClr val="40458B"/>
                </a:solidFill>
                <a:latin typeface="Tahoma"/>
                <a:cs typeface="Tahoma"/>
              </a:rPr>
              <a:t> </a:t>
            </a:r>
            <a:r>
              <a:rPr dirty="0" sz="2000" spc="-5" b="1">
                <a:solidFill>
                  <a:srgbClr val="40458B"/>
                </a:solidFill>
                <a:latin typeface="微软雅黑"/>
                <a:cs typeface="微软雅黑"/>
              </a:rPr>
              <a:t>的 </a:t>
            </a:r>
            <a:r>
              <a:rPr dirty="0" sz="2000" b="1">
                <a:solidFill>
                  <a:srgbClr val="40458B"/>
                </a:solidFill>
                <a:latin typeface="Tahoma"/>
                <a:cs typeface="Tahoma"/>
              </a:rPr>
              <a:t>S1</a:t>
            </a:r>
            <a:r>
              <a:rPr dirty="0" sz="2000" spc="-15" b="1">
                <a:solidFill>
                  <a:srgbClr val="40458B"/>
                </a:solidFill>
                <a:latin typeface="Tahoma"/>
                <a:cs typeface="Tahoma"/>
              </a:rPr>
              <a:t> </a:t>
            </a:r>
            <a:r>
              <a:rPr dirty="0" sz="2000" spc="-10" b="1">
                <a:solidFill>
                  <a:srgbClr val="40458B"/>
                </a:solidFill>
                <a:latin typeface="微软雅黑"/>
                <a:cs typeface="微软雅黑"/>
              </a:rPr>
              <a:t>指令 读取 </a:t>
            </a:r>
            <a:r>
              <a:rPr dirty="0" sz="2000" spc="-10" b="1">
                <a:solidFill>
                  <a:srgbClr val="40458B"/>
                </a:solidFill>
                <a:latin typeface="Tahoma"/>
                <a:cs typeface="Tahoma"/>
              </a:rPr>
              <a:t>B[n+1]</a:t>
            </a:r>
            <a:endParaRPr sz="2000">
              <a:latin typeface="Tahoma"/>
              <a:cs typeface="Tahoma"/>
            </a:endParaRPr>
          </a:p>
        </p:txBody>
      </p:sp>
      <p:sp>
        <p:nvSpPr>
          <p:cNvPr id="24" name="object 24" descr=""/>
          <p:cNvSpPr txBox="1"/>
          <p:nvPr/>
        </p:nvSpPr>
        <p:spPr>
          <a:xfrm>
            <a:off x="7154926" y="4220717"/>
            <a:ext cx="4732020" cy="391160"/>
          </a:xfrm>
          <a:prstGeom prst="rect">
            <a:avLst/>
          </a:prstGeom>
        </p:spPr>
        <p:txBody>
          <a:bodyPr wrap="square" lIns="0" tIns="12700" rIns="0" bIns="0" rtlCol="0" vert="horz">
            <a:spAutoFit/>
          </a:bodyPr>
          <a:lstStyle/>
          <a:p>
            <a:pPr marL="12700">
              <a:lnSpc>
                <a:spcPct val="100000"/>
              </a:lnSpc>
              <a:spcBef>
                <a:spcPts val="100"/>
              </a:spcBef>
            </a:pPr>
            <a:r>
              <a:rPr dirty="0" sz="2400" spc="-5" b="1">
                <a:solidFill>
                  <a:srgbClr val="D50092"/>
                </a:solidFill>
                <a:latin typeface="微软雅黑"/>
                <a:cs typeface="微软雅黑"/>
              </a:rPr>
              <a:t>不同次迭代或跨越循环迭代的</a:t>
            </a:r>
            <a:r>
              <a:rPr dirty="0" sz="2400" spc="-25" b="1">
                <a:solidFill>
                  <a:srgbClr val="D50092"/>
                </a:solidFill>
                <a:latin typeface="Tahoma"/>
                <a:cs typeface="Tahoma"/>
              </a:rPr>
              <a:t>RAW</a:t>
            </a:r>
            <a:endParaRPr sz="2400">
              <a:latin typeface="Tahoma"/>
              <a:cs typeface="Tahoma"/>
            </a:endParaRPr>
          </a:p>
        </p:txBody>
      </p:sp>
      <p:sp>
        <p:nvSpPr>
          <p:cNvPr id="25" name="object 25" descr=""/>
          <p:cNvSpPr txBox="1"/>
          <p:nvPr/>
        </p:nvSpPr>
        <p:spPr>
          <a:xfrm>
            <a:off x="8047481" y="6175349"/>
            <a:ext cx="2463800"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40458B"/>
                </a:solidFill>
                <a:latin typeface="黑体"/>
                <a:cs typeface="黑体"/>
              </a:rPr>
              <a:t>循环携带数据相关</a:t>
            </a:r>
            <a:endParaRPr sz="2400">
              <a:latin typeface="黑体"/>
              <a:cs typeface="黑体"/>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86/89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53441" y="830326"/>
            <a:ext cx="11682730" cy="1306195"/>
          </a:xfrm>
          <a:prstGeom prst="rect">
            <a:avLst/>
          </a:prstGeom>
        </p:spPr>
        <p:txBody>
          <a:bodyPr wrap="square" lIns="0" tIns="12700" rIns="0" bIns="0" rtlCol="0" vert="horz">
            <a:spAutoFit/>
          </a:bodyPr>
          <a:lstStyle/>
          <a:p>
            <a:pPr marL="467995" marR="5080" indent="160020">
              <a:lnSpc>
                <a:spcPct val="110000"/>
              </a:lnSpc>
              <a:spcBef>
                <a:spcPts val="100"/>
              </a:spcBef>
            </a:pPr>
            <a:r>
              <a:rPr dirty="0" sz="2400" b="1">
                <a:solidFill>
                  <a:srgbClr val="E14B04"/>
                </a:solidFill>
                <a:latin typeface="宋体"/>
                <a:cs typeface="宋体"/>
              </a:rPr>
              <a:t>解 </a:t>
            </a:r>
            <a:r>
              <a:rPr dirty="0" sz="2400" spc="-20" b="1">
                <a:latin typeface="宋体"/>
                <a:cs typeface="宋体"/>
              </a:rPr>
              <a:t>第</a:t>
            </a:r>
            <a:r>
              <a:rPr dirty="0" sz="2400" spc="-20" b="1">
                <a:solidFill>
                  <a:srgbClr val="6600FF"/>
                </a:solidFill>
                <a:latin typeface="宋体"/>
                <a:cs typeface="宋体"/>
              </a:rPr>
              <a:t>i</a:t>
            </a:r>
            <a:r>
              <a:rPr dirty="0" sz="2400" spc="-20" b="1">
                <a:latin typeface="宋体"/>
                <a:cs typeface="宋体"/>
              </a:rPr>
              <a:t>次迭代中语句</a:t>
            </a:r>
            <a:r>
              <a:rPr dirty="0" sz="2400" spc="-20" b="1">
                <a:solidFill>
                  <a:srgbClr val="6600FF"/>
                </a:solidFill>
                <a:latin typeface="宋体"/>
                <a:cs typeface="宋体"/>
              </a:rPr>
              <a:t>S1中的</a:t>
            </a:r>
            <a:r>
              <a:rPr dirty="0" sz="2400" spc="-25" b="1">
                <a:solidFill>
                  <a:srgbClr val="6600FF"/>
                </a:solidFill>
                <a:latin typeface="宋体"/>
                <a:cs typeface="宋体"/>
              </a:rPr>
              <a:t>B[i]</a:t>
            </a:r>
            <a:r>
              <a:rPr dirty="0" sz="2400" spc="-20" b="1">
                <a:latin typeface="宋体"/>
                <a:cs typeface="宋体"/>
              </a:rPr>
              <a:t>与第</a:t>
            </a:r>
            <a:r>
              <a:rPr dirty="0" sz="2400" spc="-20" b="1">
                <a:solidFill>
                  <a:srgbClr val="6600FF"/>
                </a:solidFill>
                <a:latin typeface="宋体"/>
                <a:cs typeface="宋体"/>
              </a:rPr>
              <a:t>i-1</a:t>
            </a:r>
            <a:r>
              <a:rPr dirty="0" sz="2400" spc="-20" b="1">
                <a:latin typeface="宋体"/>
                <a:cs typeface="宋体"/>
              </a:rPr>
              <a:t>次迭代中语句</a:t>
            </a:r>
            <a:r>
              <a:rPr dirty="0" sz="2400" spc="-20" b="1">
                <a:solidFill>
                  <a:srgbClr val="6600FF"/>
                </a:solidFill>
                <a:latin typeface="宋体"/>
                <a:cs typeface="宋体"/>
              </a:rPr>
              <a:t>S2的目的操作数</a:t>
            </a:r>
            <a:r>
              <a:rPr dirty="0" sz="2400" spc="-20" b="1">
                <a:latin typeface="宋体"/>
                <a:cs typeface="宋体"/>
              </a:rPr>
              <a:t>之间存在</a:t>
            </a:r>
            <a:r>
              <a:rPr dirty="0" sz="2400" spc="-25" b="1">
                <a:solidFill>
                  <a:srgbClr val="6600FF"/>
                </a:solidFill>
                <a:latin typeface="宋体"/>
                <a:cs typeface="宋体"/>
              </a:rPr>
              <a:t>RAW</a:t>
            </a:r>
            <a:r>
              <a:rPr dirty="0" sz="2400" spc="-20" b="1">
                <a:latin typeface="宋体"/>
                <a:cs typeface="宋体"/>
              </a:rPr>
              <a:t>类型的循环携带数据相关，但它们之间没有形成环(</a:t>
            </a:r>
            <a:r>
              <a:rPr dirty="0" sz="2400" spc="-20" b="1">
                <a:solidFill>
                  <a:srgbClr val="6600FF"/>
                </a:solidFill>
                <a:latin typeface="宋体"/>
                <a:cs typeface="宋体"/>
              </a:rPr>
              <a:t>S2</a:t>
            </a:r>
            <a:r>
              <a:rPr dirty="0" sz="2400" spc="-20" b="1">
                <a:latin typeface="宋体"/>
                <a:cs typeface="宋体"/>
              </a:rPr>
              <a:t>与上次迭代的</a:t>
            </a:r>
            <a:r>
              <a:rPr dirty="0" sz="2400" spc="-20" b="1">
                <a:solidFill>
                  <a:srgbClr val="6600FF"/>
                </a:solidFill>
                <a:latin typeface="宋体"/>
                <a:cs typeface="宋体"/>
              </a:rPr>
              <a:t>S1</a:t>
            </a:r>
            <a:r>
              <a:rPr dirty="0" sz="2400" spc="-30" b="1">
                <a:latin typeface="宋体"/>
                <a:cs typeface="宋体"/>
              </a:rPr>
              <a:t>不相关)。</a:t>
            </a:r>
            <a:endParaRPr sz="2400">
              <a:latin typeface="宋体"/>
              <a:cs typeface="宋体"/>
            </a:endParaRPr>
          </a:p>
          <a:p>
            <a:pPr marL="12700">
              <a:lnSpc>
                <a:spcPct val="100000"/>
              </a:lnSpc>
              <a:spcBef>
                <a:spcPts val="860"/>
              </a:spcBef>
            </a:pPr>
            <a:r>
              <a:rPr dirty="0" sz="2400" spc="-30" b="1">
                <a:latin typeface="宋体"/>
                <a:cs typeface="宋体"/>
              </a:rPr>
              <a:t>修改后代码：</a:t>
            </a:r>
            <a:endParaRPr sz="2400">
              <a:latin typeface="宋体"/>
              <a:cs typeface="宋体"/>
            </a:endParaRPr>
          </a:p>
        </p:txBody>
      </p:sp>
      <p:sp>
        <p:nvSpPr>
          <p:cNvPr id="9" name="object 9" descr=""/>
          <p:cNvSpPr txBox="1"/>
          <p:nvPr/>
        </p:nvSpPr>
        <p:spPr>
          <a:xfrm>
            <a:off x="5997702" y="3861282"/>
            <a:ext cx="1307465" cy="817880"/>
          </a:xfrm>
          <a:prstGeom prst="rect">
            <a:avLst/>
          </a:prstGeom>
        </p:spPr>
        <p:txBody>
          <a:bodyPr wrap="square" lIns="0" tIns="104140" rIns="0" bIns="0" rtlCol="0" vert="horz">
            <a:spAutoFit/>
          </a:bodyPr>
          <a:lstStyle/>
          <a:p>
            <a:pPr marL="12700">
              <a:lnSpc>
                <a:spcPct val="100000"/>
              </a:lnSpc>
              <a:spcBef>
                <a:spcPts val="820"/>
              </a:spcBef>
            </a:pPr>
            <a:r>
              <a:rPr dirty="0" sz="2000" b="1">
                <a:solidFill>
                  <a:srgbClr val="FF5CFF"/>
                </a:solidFill>
                <a:latin typeface="宋体"/>
                <a:cs typeface="宋体"/>
              </a:rPr>
              <a:t>/*</a:t>
            </a:r>
            <a:r>
              <a:rPr dirty="0" sz="2000" spc="-25" b="1">
                <a:solidFill>
                  <a:srgbClr val="FF5CFF"/>
                </a:solidFill>
                <a:latin typeface="宋体"/>
                <a:cs typeface="宋体"/>
              </a:rPr>
              <a:t> 原</a:t>
            </a:r>
            <a:r>
              <a:rPr dirty="0" sz="2000" b="1">
                <a:solidFill>
                  <a:srgbClr val="FF5CFF"/>
                </a:solidFill>
                <a:latin typeface="宋体"/>
                <a:cs typeface="宋体"/>
              </a:rPr>
              <a:t>S2</a:t>
            </a:r>
            <a:r>
              <a:rPr dirty="0" sz="2000" spc="-15" b="1">
                <a:solidFill>
                  <a:srgbClr val="FF5CFF"/>
                </a:solidFill>
                <a:latin typeface="宋体"/>
                <a:cs typeface="宋体"/>
              </a:rPr>
              <a:t> </a:t>
            </a:r>
            <a:r>
              <a:rPr dirty="0" sz="2000" spc="-25" b="1">
                <a:solidFill>
                  <a:srgbClr val="FF5CFF"/>
                </a:solidFill>
                <a:latin typeface="宋体"/>
                <a:cs typeface="宋体"/>
              </a:rPr>
              <a:t>*/</a:t>
            </a:r>
            <a:endParaRPr sz="2000">
              <a:latin typeface="宋体"/>
              <a:cs typeface="宋体"/>
            </a:endParaRPr>
          </a:p>
          <a:p>
            <a:pPr marL="12700">
              <a:lnSpc>
                <a:spcPct val="100000"/>
              </a:lnSpc>
              <a:spcBef>
                <a:spcPts val="720"/>
              </a:spcBef>
            </a:pPr>
            <a:r>
              <a:rPr dirty="0" sz="2000" b="1">
                <a:solidFill>
                  <a:srgbClr val="FF5CFF"/>
                </a:solidFill>
                <a:latin typeface="宋体"/>
                <a:cs typeface="宋体"/>
              </a:rPr>
              <a:t>/*</a:t>
            </a:r>
            <a:r>
              <a:rPr dirty="0" sz="2000" spc="-25" b="1">
                <a:solidFill>
                  <a:srgbClr val="FF5CFF"/>
                </a:solidFill>
                <a:latin typeface="宋体"/>
                <a:cs typeface="宋体"/>
              </a:rPr>
              <a:t> 原</a:t>
            </a:r>
            <a:r>
              <a:rPr dirty="0" sz="2000" b="1">
                <a:solidFill>
                  <a:srgbClr val="FF5CFF"/>
                </a:solidFill>
                <a:latin typeface="宋体"/>
                <a:cs typeface="宋体"/>
              </a:rPr>
              <a:t>S1</a:t>
            </a:r>
            <a:r>
              <a:rPr dirty="0" sz="2000" spc="-15" b="1">
                <a:solidFill>
                  <a:srgbClr val="FF5CFF"/>
                </a:solidFill>
                <a:latin typeface="宋体"/>
                <a:cs typeface="宋体"/>
              </a:rPr>
              <a:t> </a:t>
            </a:r>
            <a:r>
              <a:rPr dirty="0" sz="2000" spc="-25" b="1">
                <a:solidFill>
                  <a:srgbClr val="FF5CFF"/>
                </a:solidFill>
                <a:latin typeface="宋体"/>
                <a:cs typeface="宋体"/>
              </a:rPr>
              <a:t>*/</a:t>
            </a:r>
            <a:endParaRPr sz="2000">
              <a:latin typeface="宋体"/>
              <a:cs typeface="宋体"/>
            </a:endParaRPr>
          </a:p>
        </p:txBody>
      </p:sp>
      <p:sp>
        <p:nvSpPr>
          <p:cNvPr id="10" name="object 10" descr=""/>
          <p:cNvSpPr txBox="1"/>
          <p:nvPr/>
        </p:nvSpPr>
        <p:spPr>
          <a:xfrm>
            <a:off x="1423542" y="3067941"/>
            <a:ext cx="3830320" cy="2404110"/>
          </a:xfrm>
          <a:prstGeom prst="rect">
            <a:avLst/>
          </a:prstGeom>
        </p:spPr>
        <p:txBody>
          <a:bodyPr wrap="square" lIns="0" tIns="104139" rIns="0" bIns="0" rtlCol="0" vert="horz">
            <a:spAutoFit/>
          </a:bodyPr>
          <a:lstStyle/>
          <a:p>
            <a:pPr marL="12700">
              <a:lnSpc>
                <a:spcPct val="100000"/>
              </a:lnSpc>
              <a:spcBef>
                <a:spcPts val="819"/>
              </a:spcBef>
            </a:pPr>
            <a:r>
              <a:rPr dirty="0" sz="2000" b="1">
                <a:solidFill>
                  <a:srgbClr val="40458B"/>
                </a:solidFill>
                <a:latin typeface="宋体"/>
                <a:cs typeface="宋体"/>
              </a:rPr>
              <a:t>A[1]</a:t>
            </a:r>
            <a:r>
              <a:rPr dirty="0" sz="2000" spc="-25" b="1">
                <a:solidFill>
                  <a:srgbClr val="40458B"/>
                </a:solidFill>
                <a:latin typeface="宋体"/>
                <a:cs typeface="宋体"/>
              </a:rPr>
              <a:t> </a:t>
            </a:r>
            <a:r>
              <a:rPr dirty="0" sz="2000" b="1">
                <a:solidFill>
                  <a:srgbClr val="40458B"/>
                </a:solidFill>
                <a:latin typeface="宋体"/>
                <a:cs typeface="宋体"/>
              </a:rPr>
              <a:t>= A[1]</a:t>
            </a:r>
            <a:r>
              <a:rPr dirty="0" sz="2000" spc="-35" b="1">
                <a:solidFill>
                  <a:srgbClr val="40458B"/>
                </a:solidFill>
                <a:latin typeface="宋体"/>
                <a:cs typeface="宋体"/>
              </a:rPr>
              <a:t> </a:t>
            </a:r>
            <a:r>
              <a:rPr dirty="0" sz="2000" b="1">
                <a:solidFill>
                  <a:srgbClr val="40458B"/>
                </a:solidFill>
                <a:latin typeface="宋体"/>
                <a:cs typeface="宋体"/>
              </a:rPr>
              <a:t>+ </a:t>
            </a:r>
            <a:r>
              <a:rPr dirty="0" sz="2000" spc="-20" b="1">
                <a:solidFill>
                  <a:srgbClr val="40458B"/>
                </a:solidFill>
                <a:latin typeface="宋体"/>
                <a:cs typeface="宋体"/>
              </a:rPr>
              <a:t>B[1]；</a:t>
            </a:r>
            <a:endParaRPr sz="2000">
              <a:latin typeface="宋体"/>
              <a:cs typeface="宋体"/>
            </a:endParaRPr>
          </a:p>
          <a:p>
            <a:pPr marL="471170" marR="5080" indent="-459105">
              <a:lnSpc>
                <a:spcPct val="130000"/>
              </a:lnSpc>
              <a:spcBef>
                <a:spcPts val="5"/>
              </a:spcBef>
            </a:pPr>
            <a:r>
              <a:rPr dirty="0" sz="2000" spc="-10" b="1">
                <a:solidFill>
                  <a:srgbClr val="40458B"/>
                </a:solidFill>
                <a:latin typeface="宋体"/>
                <a:cs typeface="宋体"/>
              </a:rPr>
              <a:t>for（i=1；i&lt;=99；i=i+1）{ </a:t>
            </a:r>
            <a:r>
              <a:rPr dirty="0" sz="2000" b="1">
                <a:solidFill>
                  <a:srgbClr val="40458B"/>
                </a:solidFill>
                <a:latin typeface="宋体"/>
                <a:cs typeface="宋体"/>
              </a:rPr>
              <a:t>B[i+1]</a:t>
            </a:r>
            <a:r>
              <a:rPr dirty="0" sz="2000" spc="-55" b="1">
                <a:solidFill>
                  <a:srgbClr val="40458B"/>
                </a:solidFill>
                <a:latin typeface="宋体"/>
                <a:cs typeface="宋体"/>
              </a:rPr>
              <a:t> </a:t>
            </a:r>
            <a:r>
              <a:rPr dirty="0" sz="2000" b="1">
                <a:solidFill>
                  <a:srgbClr val="40458B"/>
                </a:solidFill>
                <a:latin typeface="宋体"/>
                <a:cs typeface="宋体"/>
              </a:rPr>
              <a:t>=</a:t>
            </a:r>
            <a:r>
              <a:rPr dirty="0" sz="2000" spc="-20" b="1">
                <a:solidFill>
                  <a:srgbClr val="40458B"/>
                </a:solidFill>
                <a:latin typeface="宋体"/>
                <a:cs typeface="宋体"/>
              </a:rPr>
              <a:t> </a:t>
            </a:r>
            <a:r>
              <a:rPr dirty="0" sz="2000" b="1">
                <a:solidFill>
                  <a:srgbClr val="40458B"/>
                </a:solidFill>
                <a:latin typeface="宋体"/>
                <a:cs typeface="宋体"/>
              </a:rPr>
              <a:t>C[i]</a:t>
            </a:r>
            <a:r>
              <a:rPr dirty="0" sz="2000" spc="-35" b="1">
                <a:solidFill>
                  <a:srgbClr val="40458B"/>
                </a:solidFill>
                <a:latin typeface="宋体"/>
                <a:cs typeface="宋体"/>
              </a:rPr>
              <a:t> </a:t>
            </a:r>
            <a:r>
              <a:rPr dirty="0" sz="2000" b="1">
                <a:solidFill>
                  <a:srgbClr val="40458B"/>
                </a:solidFill>
                <a:latin typeface="宋体"/>
                <a:cs typeface="宋体"/>
              </a:rPr>
              <a:t>+</a:t>
            </a:r>
            <a:r>
              <a:rPr dirty="0" sz="2000" spc="-15" b="1">
                <a:solidFill>
                  <a:srgbClr val="40458B"/>
                </a:solidFill>
                <a:latin typeface="宋体"/>
                <a:cs typeface="宋体"/>
              </a:rPr>
              <a:t> </a:t>
            </a:r>
            <a:r>
              <a:rPr dirty="0" sz="2000" spc="-10" b="1">
                <a:solidFill>
                  <a:srgbClr val="40458B"/>
                </a:solidFill>
                <a:latin typeface="宋体"/>
                <a:cs typeface="宋体"/>
              </a:rPr>
              <a:t>D[i]； </a:t>
            </a:r>
            <a:r>
              <a:rPr dirty="0" sz="2000" b="1">
                <a:solidFill>
                  <a:srgbClr val="40458B"/>
                </a:solidFill>
                <a:latin typeface="宋体"/>
                <a:cs typeface="宋体"/>
              </a:rPr>
              <a:t>A[i+1]</a:t>
            </a:r>
            <a:r>
              <a:rPr dirty="0" sz="2000" spc="-55" b="1">
                <a:solidFill>
                  <a:srgbClr val="40458B"/>
                </a:solidFill>
                <a:latin typeface="宋体"/>
                <a:cs typeface="宋体"/>
              </a:rPr>
              <a:t> </a:t>
            </a:r>
            <a:r>
              <a:rPr dirty="0" sz="2000" b="1">
                <a:solidFill>
                  <a:srgbClr val="40458B"/>
                </a:solidFill>
                <a:latin typeface="宋体"/>
                <a:cs typeface="宋体"/>
              </a:rPr>
              <a:t>=</a:t>
            </a:r>
            <a:r>
              <a:rPr dirty="0" sz="2000" spc="-25" b="1">
                <a:solidFill>
                  <a:srgbClr val="40458B"/>
                </a:solidFill>
                <a:latin typeface="宋体"/>
                <a:cs typeface="宋体"/>
              </a:rPr>
              <a:t> </a:t>
            </a:r>
            <a:r>
              <a:rPr dirty="0" sz="2000" b="1">
                <a:solidFill>
                  <a:srgbClr val="40458B"/>
                </a:solidFill>
                <a:latin typeface="宋体"/>
                <a:cs typeface="宋体"/>
              </a:rPr>
              <a:t>A[i+1]</a:t>
            </a:r>
            <a:r>
              <a:rPr dirty="0" sz="2000" spc="-55" b="1">
                <a:solidFill>
                  <a:srgbClr val="40458B"/>
                </a:solidFill>
                <a:latin typeface="宋体"/>
                <a:cs typeface="宋体"/>
              </a:rPr>
              <a:t> </a:t>
            </a:r>
            <a:r>
              <a:rPr dirty="0" sz="2000" b="1">
                <a:solidFill>
                  <a:srgbClr val="40458B"/>
                </a:solidFill>
                <a:latin typeface="宋体"/>
                <a:cs typeface="宋体"/>
              </a:rPr>
              <a:t>+</a:t>
            </a:r>
            <a:r>
              <a:rPr dirty="0" sz="2000" spc="-15" b="1">
                <a:solidFill>
                  <a:srgbClr val="40458B"/>
                </a:solidFill>
                <a:latin typeface="宋体"/>
                <a:cs typeface="宋体"/>
              </a:rPr>
              <a:t> </a:t>
            </a:r>
            <a:r>
              <a:rPr dirty="0" sz="2000" spc="-10" b="1">
                <a:solidFill>
                  <a:srgbClr val="40458B"/>
                </a:solidFill>
                <a:latin typeface="宋体"/>
                <a:cs typeface="宋体"/>
              </a:rPr>
              <a:t>B[i+1]；</a:t>
            </a:r>
            <a:endParaRPr sz="2000">
              <a:latin typeface="宋体"/>
              <a:cs typeface="宋体"/>
            </a:endParaRPr>
          </a:p>
          <a:p>
            <a:pPr marL="12700">
              <a:lnSpc>
                <a:spcPct val="100000"/>
              </a:lnSpc>
              <a:spcBef>
                <a:spcPts val="720"/>
              </a:spcBef>
            </a:pPr>
            <a:r>
              <a:rPr dirty="0" sz="2000" spc="-50" b="1">
                <a:solidFill>
                  <a:srgbClr val="40458B"/>
                </a:solidFill>
                <a:latin typeface="宋体"/>
                <a:cs typeface="宋体"/>
              </a:rPr>
              <a:t>}</a:t>
            </a:r>
            <a:endParaRPr sz="2000">
              <a:latin typeface="宋体"/>
              <a:cs typeface="宋体"/>
            </a:endParaRPr>
          </a:p>
          <a:p>
            <a:pPr marL="12700">
              <a:lnSpc>
                <a:spcPct val="100000"/>
              </a:lnSpc>
              <a:spcBef>
                <a:spcPts val="720"/>
              </a:spcBef>
            </a:pPr>
            <a:r>
              <a:rPr dirty="0" sz="2000" b="1">
                <a:solidFill>
                  <a:srgbClr val="40458B"/>
                </a:solidFill>
                <a:latin typeface="宋体"/>
                <a:cs typeface="宋体"/>
              </a:rPr>
              <a:t>B[101]</a:t>
            </a:r>
            <a:r>
              <a:rPr dirty="0" sz="2000" spc="-55" b="1">
                <a:solidFill>
                  <a:srgbClr val="40458B"/>
                </a:solidFill>
                <a:latin typeface="宋体"/>
                <a:cs typeface="宋体"/>
              </a:rPr>
              <a:t> </a:t>
            </a:r>
            <a:r>
              <a:rPr dirty="0" sz="2000" b="1">
                <a:solidFill>
                  <a:srgbClr val="40458B"/>
                </a:solidFill>
                <a:latin typeface="宋体"/>
                <a:cs typeface="宋体"/>
              </a:rPr>
              <a:t>=</a:t>
            </a:r>
            <a:r>
              <a:rPr dirty="0" sz="2000" spc="-25" b="1">
                <a:solidFill>
                  <a:srgbClr val="40458B"/>
                </a:solidFill>
                <a:latin typeface="宋体"/>
                <a:cs typeface="宋体"/>
              </a:rPr>
              <a:t> </a:t>
            </a:r>
            <a:r>
              <a:rPr dirty="0" sz="2000" b="1">
                <a:solidFill>
                  <a:srgbClr val="40458B"/>
                </a:solidFill>
                <a:latin typeface="宋体"/>
                <a:cs typeface="宋体"/>
              </a:rPr>
              <a:t>C[100]</a:t>
            </a:r>
            <a:r>
              <a:rPr dirty="0" sz="2000" spc="-55" b="1">
                <a:solidFill>
                  <a:srgbClr val="40458B"/>
                </a:solidFill>
                <a:latin typeface="宋体"/>
                <a:cs typeface="宋体"/>
              </a:rPr>
              <a:t> </a:t>
            </a:r>
            <a:r>
              <a:rPr dirty="0" sz="2000" b="1">
                <a:solidFill>
                  <a:srgbClr val="40458B"/>
                </a:solidFill>
                <a:latin typeface="宋体"/>
                <a:cs typeface="宋体"/>
              </a:rPr>
              <a:t>+</a:t>
            </a:r>
            <a:r>
              <a:rPr dirty="0" sz="2000" spc="-20" b="1">
                <a:solidFill>
                  <a:srgbClr val="40458B"/>
                </a:solidFill>
                <a:latin typeface="宋体"/>
                <a:cs typeface="宋体"/>
              </a:rPr>
              <a:t> </a:t>
            </a:r>
            <a:r>
              <a:rPr dirty="0" sz="2000" spc="-10" b="1">
                <a:solidFill>
                  <a:srgbClr val="40458B"/>
                </a:solidFill>
                <a:latin typeface="宋体"/>
                <a:cs typeface="宋体"/>
              </a:rPr>
              <a:t>D[100]；</a:t>
            </a:r>
            <a:endParaRPr sz="2000">
              <a:latin typeface="宋体"/>
              <a:cs typeface="宋体"/>
            </a:endParaRPr>
          </a:p>
        </p:txBody>
      </p:sp>
      <p:sp>
        <p:nvSpPr>
          <p:cNvPr id="11" name="object 11"/>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239520" algn="l"/>
                <a:tab pos="10788015" algn="l"/>
              </a:tabLst>
            </a:pPr>
            <a:r>
              <a:rPr dirty="0"/>
              <a:t>	6.5</a:t>
            </a:r>
            <a:r>
              <a:rPr dirty="0" spc="-15"/>
              <a:t> </a:t>
            </a:r>
            <a:r>
              <a:rPr dirty="0"/>
              <a:t>开发更</a:t>
            </a:r>
            <a:r>
              <a:rPr dirty="0" spc="-25"/>
              <a:t>多</a:t>
            </a:r>
            <a:r>
              <a:rPr dirty="0"/>
              <a:t>的指</a:t>
            </a:r>
            <a:r>
              <a:rPr dirty="0" spc="-20"/>
              <a:t>令</a:t>
            </a:r>
            <a:r>
              <a:rPr dirty="0"/>
              <a:t>级并</a:t>
            </a:r>
            <a:r>
              <a:rPr dirty="0" spc="-50"/>
              <a:t>行</a:t>
            </a:r>
            <a:r>
              <a:rPr dirty="0"/>
              <a:t>	</a:t>
            </a:r>
          </a:p>
        </p:txBody>
      </p:sp>
      <p:grpSp>
        <p:nvGrpSpPr>
          <p:cNvPr id="12" name="object 12" descr=""/>
          <p:cNvGrpSpPr/>
          <p:nvPr/>
        </p:nvGrpSpPr>
        <p:grpSpPr>
          <a:xfrm>
            <a:off x="6073838" y="1532064"/>
            <a:ext cx="5739130" cy="1335405"/>
            <a:chOff x="6073838" y="1532064"/>
            <a:chExt cx="5739130" cy="1335405"/>
          </a:xfrm>
        </p:grpSpPr>
        <p:pic>
          <p:nvPicPr>
            <p:cNvPr id="13" name="object 13" descr=""/>
            <p:cNvPicPr/>
            <p:nvPr/>
          </p:nvPicPr>
          <p:blipFill>
            <a:blip r:embed="rId3" cstate="print"/>
            <a:stretch>
              <a:fillRect/>
            </a:stretch>
          </p:blipFill>
          <p:spPr>
            <a:xfrm>
              <a:off x="6194173" y="1835150"/>
              <a:ext cx="5470078" cy="1016000"/>
            </a:xfrm>
            <a:prstGeom prst="rect">
              <a:avLst/>
            </a:prstGeom>
          </p:spPr>
        </p:pic>
        <p:sp>
          <p:nvSpPr>
            <p:cNvPr id="14" name="object 14" descr=""/>
            <p:cNvSpPr/>
            <p:nvPr/>
          </p:nvSpPr>
          <p:spPr>
            <a:xfrm>
              <a:off x="6081776" y="1827149"/>
              <a:ext cx="5723255" cy="1031875"/>
            </a:xfrm>
            <a:custGeom>
              <a:avLst/>
              <a:gdLst/>
              <a:ahLst/>
              <a:cxnLst/>
              <a:rect l="l" t="t" r="r" b="b"/>
              <a:pathLst>
                <a:path w="5723255" h="1031875">
                  <a:moveTo>
                    <a:pt x="0" y="1031875"/>
                  </a:moveTo>
                  <a:lnTo>
                    <a:pt x="5723001" y="1031875"/>
                  </a:lnTo>
                  <a:lnTo>
                    <a:pt x="5723001" y="0"/>
                  </a:lnTo>
                  <a:lnTo>
                    <a:pt x="0" y="0"/>
                  </a:lnTo>
                  <a:lnTo>
                    <a:pt x="0" y="1031875"/>
                  </a:lnTo>
                  <a:close/>
                </a:path>
              </a:pathLst>
            </a:custGeom>
            <a:ln w="15875">
              <a:solidFill>
                <a:srgbClr val="FF0000"/>
              </a:solidFill>
            </a:ln>
          </p:spPr>
          <p:txBody>
            <a:bodyPr wrap="square" lIns="0" tIns="0" rIns="0" bIns="0" rtlCol="0"/>
            <a:lstStyle/>
            <a:p/>
          </p:txBody>
        </p:sp>
        <p:sp>
          <p:nvSpPr>
            <p:cNvPr id="15" name="object 15" descr=""/>
            <p:cNvSpPr/>
            <p:nvPr/>
          </p:nvSpPr>
          <p:spPr>
            <a:xfrm>
              <a:off x="8536686" y="1536827"/>
              <a:ext cx="585470" cy="481330"/>
            </a:xfrm>
            <a:custGeom>
              <a:avLst/>
              <a:gdLst/>
              <a:ahLst/>
              <a:cxnLst/>
              <a:rect l="l" t="t" r="r" b="b"/>
              <a:pathLst>
                <a:path w="585470" h="481330">
                  <a:moveTo>
                    <a:pt x="103505" y="0"/>
                  </a:moveTo>
                  <a:lnTo>
                    <a:pt x="0" y="159893"/>
                  </a:lnTo>
                  <a:lnTo>
                    <a:pt x="373380" y="401193"/>
                  </a:lnTo>
                  <a:lnTo>
                    <a:pt x="321691" y="481202"/>
                  </a:lnTo>
                  <a:lnTo>
                    <a:pt x="585089" y="424688"/>
                  </a:lnTo>
                  <a:lnTo>
                    <a:pt x="528447" y="161289"/>
                  </a:lnTo>
                  <a:lnTo>
                    <a:pt x="476758" y="241300"/>
                  </a:lnTo>
                  <a:lnTo>
                    <a:pt x="103505" y="0"/>
                  </a:lnTo>
                  <a:close/>
                </a:path>
              </a:pathLst>
            </a:custGeom>
            <a:solidFill>
              <a:srgbClr val="EBD782"/>
            </a:solidFill>
          </p:spPr>
          <p:txBody>
            <a:bodyPr wrap="square" lIns="0" tIns="0" rIns="0" bIns="0" rtlCol="0"/>
            <a:lstStyle/>
            <a:p/>
          </p:txBody>
        </p:sp>
        <p:sp>
          <p:nvSpPr>
            <p:cNvPr id="16" name="object 16" descr=""/>
            <p:cNvSpPr/>
            <p:nvPr/>
          </p:nvSpPr>
          <p:spPr>
            <a:xfrm>
              <a:off x="8536686" y="1536827"/>
              <a:ext cx="585470" cy="481330"/>
            </a:xfrm>
            <a:custGeom>
              <a:avLst/>
              <a:gdLst/>
              <a:ahLst/>
              <a:cxnLst/>
              <a:rect l="l" t="t" r="r" b="b"/>
              <a:pathLst>
                <a:path w="585470" h="481330">
                  <a:moveTo>
                    <a:pt x="103505" y="0"/>
                  </a:moveTo>
                  <a:lnTo>
                    <a:pt x="476758" y="241300"/>
                  </a:lnTo>
                  <a:lnTo>
                    <a:pt x="528447" y="161289"/>
                  </a:lnTo>
                  <a:lnTo>
                    <a:pt x="585089" y="424688"/>
                  </a:lnTo>
                  <a:lnTo>
                    <a:pt x="321691" y="481202"/>
                  </a:lnTo>
                  <a:lnTo>
                    <a:pt x="373380" y="401193"/>
                  </a:lnTo>
                  <a:lnTo>
                    <a:pt x="0" y="159893"/>
                  </a:lnTo>
                  <a:lnTo>
                    <a:pt x="103505" y="0"/>
                  </a:lnTo>
                  <a:close/>
                </a:path>
              </a:pathLst>
            </a:custGeom>
            <a:ln w="9525">
              <a:solidFill>
                <a:srgbClr val="40458B"/>
              </a:solidFill>
            </a:ln>
          </p:spPr>
          <p:txBody>
            <a:bodyPr wrap="square" lIns="0" tIns="0" rIns="0" bIns="0" rtlCol="0"/>
            <a:lstStyle/>
            <a:p/>
          </p:txBody>
        </p:sp>
      </p:grpSp>
      <p:sp>
        <p:nvSpPr>
          <p:cNvPr id="17" name="object 17" descr=""/>
          <p:cNvSpPr/>
          <p:nvPr/>
        </p:nvSpPr>
        <p:spPr>
          <a:xfrm>
            <a:off x="1158875" y="6081763"/>
            <a:ext cx="10956925" cy="400050"/>
          </a:xfrm>
          <a:custGeom>
            <a:avLst/>
            <a:gdLst/>
            <a:ahLst/>
            <a:cxnLst/>
            <a:rect l="l" t="t" r="r" b="b"/>
            <a:pathLst>
              <a:path w="10956925" h="400050">
                <a:moveTo>
                  <a:pt x="0" y="399999"/>
                </a:moveTo>
                <a:lnTo>
                  <a:pt x="10956925" y="399999"/>
                </a:lnTo>
                <a:lnTo>
                  <a:pt x="10956925" y="0"/>
                </a:lnTo>
                <a:lnTo>
                  <a:pt x="0" y="0"/>
                </a:lnTo>
                <a:lnTo>
                  <a:pt x="0" y="399999"/>
                </a:lnTo>
                <a:close/>
              </a:path>
            </a:pathLst>
          </a:custGeom>
          <a:ln w="9525">
            <a:solidFill>
              <a:srgbClr val="080808"/>
            </a:solidFill>
          </a:ln>
        </p:spPr>
        <p:txBody>
          <a:bodyPr wrap="square" lIns="0" tIns="0" rIns="0" bIns="0" rtlCol="0"/>
          <a:lstStyle/>
          <a:p/>
        </p:txBody>
      </p:sp>
      <p:sp>
        <p:nvSpPr>
          <p:cNvPr id="18" name="object 18" descr=""/>
          <p:cNvSpPr txBox="1"/>
          <p:nvPr/>
        </p:nvSpPr>
        <p:spPr>
          <a:xfrm>
            <a:off x="1237894" y="6107074"/>
            <a:ext cx="10698480" cy="330835"/>
          </a:xfrm>
          <a:prstGeom prst="rect">
            <a:avLst/>
          </a:prstGeom>
        </p:spPr>
        <p:txBody>
          <a:bodyPr wrap="square" lIns="0" tIns="12700" rIns="0" bIns="0" rtlCol="0" vert="horz">
            <a:spAutoFit/>
          </a:bodyPr>
          <a:lstStyle/>
          <a:p>
            <a:pPr marL="12700">
              <a:lnSpc>
                <a:spcPct val="100000"/>
              </a:lnSpc>
              <a:spcBef>
                <a:spcPts val="100"/>
              </a:spcBef>
            </a:pPr>
            <a:r>
              <a:rPr dirty="0" sz="2000" spc="-5" b="1">
                <a:solidFill>
                  <a:srgbClr val="D50092"/>
                </a:solidFill>
                <a:latin typeface="微软雅黑"/>
                <a:cs typeface="微软雅黑"/>
              </a:rPr>
              <a:t>修改方法：</a:t>
            </a:r>
            <a:r>
              <a:rPr dirty="0" sz="2000" spc="-20" b="1">
                <a:solidFill>
                  <a:srgbClr val="40458B"/>
                </a:solidFill>
                <a:latin typeface="微软雅黑"/>
                <a:cs typeface="微软雅黑"/>
              </a:rPr>
              <a:t>将存在循环携带相关的各条指令放在同一个迭代中，将循环间相关转换为循环内相关</a:t>
            </a:r>
            <a:endParaRPr sz="2000">
              <a:latin typeface="微软雅黑"/>
              <a:cs typeface="微软雅黑"/>
            </a:endParaRPr>
          </a:p>
        </p:txBody>
      </p:sp>
      <p:sp>
        <p:nvSpPr>
          <p:cNvPr id="19" name="object 19" descr=""/>
          <p:cNvSpPr/>
          <p:nvPr/>
        </p:nvSpPr>
        <p:spPr>
          <a:xfrm>
            <a:off x="6983983" y="4643437"/>
            <a:ext cx="5125720" cy="1016000"/>
          </a:xfrm>
          <a:custGeom>
            <a:avLst/>
            <a:gdLst/>
            <a:ahLst/>
            <a:cxnLst/>
            <a:rect l="l" t="t" r="r" b="b"/>
            <a:pathLst>
              <a:path w="5125720" h="1016000">
                <a:moveTo>
                  <a:pt x="0" y="1015390"/>
                </a:moveTo>
                <a:lnTo>
                  <a:pt x="5125720" y="1015390"/>
                </a:lnTo>
                <a:lnTo>
                  <a:pt x="5125720" y="0"/>
                </a:lnTo>
                <a:lnTo>
                  <a:pt x="0" y="0"/>
                </a:lnTo>
                <a:lnTo>
                  <a:pt x="0" y="1015390"/>
                </a:lnTo>
                <a:close/>
              </a:path>
            </a:pathLst>
          </a:custGeom>
          <a:ln w="9525">
            <a:solidFill>
              <a:srgbClr val="080808"/>
            </a:solidFill>
          </a:ln>
        </p:spPr>
        <p:txBody>
          <a:bodyPr wrap="square" lIns="0" tIns="0" rIns="0" bIns="0" rtlCol="0"/>
          <a:lstStyle/>
          <a:p/>
        </p:txBody>
      </p:sp>
      <p:sp>
        <p:nvSpPr>
          <p:cNvPr id="20" name="object 20" descr=""/>
          <p:cNvSpPr txBox="1"/>
          <p:nvPr/>
        </p:nvSpPr>
        <p:spPr>
          <a:xfrm>
            <a:off x="7063485" y="4668392"/>
            <a:ext cx="5106670" cy="330835"/>
          </a:xfrm>
          <a:prstGeom prst="rect">
            <a:avLst/>
          </a:prstGeom>
        </p:spPr>
        <p:txBody>
          <a:bodyPr wrap="square" lIns="0" tIns="12700" rIns="0" bIns="0" rtlCol="0" vert="horz">
            <a:spAutoFit/>
          </a:bodyPr>
          <a:lstStyle/>
          <a:p>
            <a:pPr marL="12700">
              <a:lnSpc>
                <a:spcPct val="100000"/>
              </a:lnSpc>
              <a:spcBef>
                <a:spcPts val="100"/>
              </a:spcBef>
            </a:pPr>
            <a:r>
              <a:rPr dirty="0" sz="2000" spc="-20" b="1">
                <a:solidFill>
                  <a:srgbClr val="D50092"/>
                </a:solidFill>
                <a:latin typeface="微软雅黑"/>
                <a:cs typeface="微软雅黑"/>
              </a:rPr>
              <a:t>分析结果：这种不同迭代间循环携带的相关，</a:t>
            </a:r>
            <a:endParaRPr sz="2000">
              <a:latin typeface="微软雅黑"/>
              <a:cs typeface="微软雅黑"/>
            </a:endParaRPr>
          </a:p>
        </p:txBody>
      </p:sp>
      <p:sp>
        <p:nvSpPr>
          <p:cNvPr id="21" name="object 21" descr=""/>
          <p:cNvSpPr txBox="1"/>
          <p:nvPr/>
        </p:nvSpPr>
        <p:spPr>
          <a:xfrm>
            <a:off x="7063485" y="4971669"/>
            <a:ext cx="4856480" cy="637540"/>
          </a:xfrm>
          <a:prstGeom prst="rect">
            <a:avLst/>
          </a:prstGeom>
        </p:spPr>
        <p:txBody>
          <a:bodyPr wrap="square" lIns="0" tIns="11430" rIns="0" bIns="0" rtlCol="0" vert="horz">
            <a:spAutoFit/>
          </a:bodyPr>
          <a:lstStyle/>
          <a:p>
            <a:pPr marL="12700" marR="5080">
              <a:lnSpc>
                <a:spcPct val="100600"/>
              </a:lnSpc>
              <a:spcBef>
                <a:spcPts val="90"/>
              </a:spcBef>
            </a:pPr>
            <a:r>
              <a:rPr dirty="0" sz="2000" spc="-20" b="1">
                <a:solidFill>
                  <a:srgbClr val="D50092"/>
                </a:solidFill>
                <a:latin typeface="微软雅黑"/>
                <a:cs typeface="微软雅黑"/>
              </a:rPr>
              <a:t>不影响循环级并行的开发，但需要对循环展</a:t>
            </a:r>
            <a:r>
              <a:rPr dirty="0" sz="2000" spc="-10" b="1">
                <a:solidFill>
                  <a:srgbClr val="D50092"/>
                </a:solidFill>
                <a:latin typeface="微软雅黑"/>
                <a:cs typeface="微软雅黑"/>
              </a:rPr>
              <a:t>开前对源代码进行一定的修改</a:t>
            </a:r>
            <a:endParaRPr sz="2000">
              <a:latin typeface="微软雅黑"/>
              <a:cs typeface="微软雅黑"/>
            </a:endParaRPr>
          </a:p>
        </p:txBody>
      </p:sp>
      <p:grpSp>
        <p:nvGrpSpPr>
          <p:cNvPr id="22" name="object 22" descr=""/>
          <p:cNvGrpSpPr/>
          <p:nvPr/>
        </p:nvGrpSpPr>
        <p:grpSpPr>
          <a:xfrm>
            <a:off x="6235763" y="4955984"/>
            <a:ext cx="644525" cy="390525"/>
            <a:chOff x="6235763" y="4955984"/>
            <a:chExt cx="644525" cy="390525"/>
          </a:xfrm>
        </p:grpSpPr>
        <p:sp>
          <p:nvSpPr>
            <p:cNvPr id="23" name="object 23" descr=""/>
            <p:cNvSpPr/>
            <p:nvPr/>
          </p:nvSpPr>
          <p:spPr>
            <a:xfrm>
              <a:off x="6240526" y="4960746"/>
              <a:ext cx="635000" cy="381000"/>
            </a:xfrm>
            <a:custGeom>
              <a:avLst/>
              <a:gdLst/>
              <a:ahLst/>
              <a:cxnLst/>
              <a:rect l="l" t="t" r="r" b="b"/>
              <a:pathLst>
                <a:path w="635000" h="381000">
                  <a:moveTo>
                    <a:pt x="190500" y="0"/>
                  </a:moveTo>
                  <a:lnTo>
                    <a:pt x="0" y="190372"/>
                  </a:lnTo>
                  <a:lnTo>
                    <a:pt x="190500" y="380872"/>
                  </a:lnTo>
                  <a:lnTo>
                    <a:pt x="190500" y="285622"/>
                  </a:lnTo>
                  <a:lnTo>
                    <a:pt x="635000" y="285622"/>
                  </a:lnTo>
                  <a:lnTo>
                    <a:pt x="635000" y="95122"/>
                  </a:lnTo>
                  <a:lnTo>
                    <a:pt x="190500" y="95122"/>
                  </a:lnTo>
                  <a:lnTo>
                    <a:pt x="190500" y="0"/>
                  </a:lnTo>
                  <a:close/>
                </a:path>
              </a:pathLst>
            </a:custGeom>
            <a:solidFill>
              <a:srgbClr val="EBD782"/>
            </a:solidFill>
          </p:spPr>
          <p:txBody>
            <a:bodyPr wrap="square" lIns="0" tIns="0" rIns="0" bIns="0" rtlCol="0"/>
            <a:lstStyle/>
            <a:p/>
          </p:txBody>
        </p:sp>
        <p:sp>
          <p:nvSpPr>
            <p:cNvPr id="24" name="object 24" descr=""/>
            <p:cNvSpPr/>
            <p:nvPr/>
          </p:nvSpPr>
          <p:spPr>
            <a:xfrm>
              <a:off x="6240526" y="4960746"/>
              <a:ext cx="635000" cy="381000"/>
            </a:xfrm>
            <a:custGeom>
              <a:avLst/>
              <a:gdLst/>
              <a:ahLst/>
              <a:cxnLst/>
              <a:rect l="l" t="t" r="r" b="b"/>
              <a:pathLst>
                <a:path w="635000" h="381000">
                  <a:moveTo>
                    <a:pt x="635000" y="285622"/>
                  </a:moveTo>
                  <a:lnTo>
                    <a:pt x="190500" y="285622"/>
                  </a:lnTo>
                  <a:lnTo>
                    <a:pt x="190500" y="380872"/>
                  </a:lnTo>
                  <a:lnTo>
                    <a:pt x="0" y="190372"/>
                  </a:lnTo>
                  <a:lnTo>
                    <a:pt x="190500" y="0"/>
                  </a:lnTo>
                  <a:lnTo>
                    <a:pt x="190500" y="95122"/>
                  </a:lnTo>
                  <a:lnTo>
                    <a:pt x="635000" y="95122"/>
                  </a:lnTo>
                  <a:lnTo>
                    <a:pt x="635000" y="285622"/>
                  </a:lnTo>
                  <a:close/>
                </a:path>
              </a:pathLst>
            </a:custGeom>
            <a:ln w="9525">
              <a:solidFill>
                <a:srgbClr val="40458B"/>
              </a:solidFill>
            </a:ln>
          </p:spPr>
          <p:txBody>
            <a:bodyPr wrap="square" lIns="0" tIns="0" rIns="0" bIns="0" rtlCol="0"/>
            <a:lstStyle/>
            <a:p/>
          </p:txBody>
        </p:sp>
      </p:grpSp>
      <p:grpSp>
        <p:nvGrpSpPr>
          <p:cNvPr id="25" name="object 25" descr=""/>
          <p:cNvGrpSpPr/>
          <p:nvPr/>
        </p:nvGrpSpPr>
        <p:grpSpPr>
          <a:xfrm>
            <a:off x="7730934" y="5577014"/>
            <a:ext cx="390525" cy="644525"/>
            <a:chOff x="7730934" y="5577014"/>
            <a:chExt cx="390525" cy="644525"/>
          </a:xfrm>
        </p:grpSpPr>
        <p:sp>
          <p:nvSpPr>
            <p:cNvPr id="26" name="object 26" descr=""/>
            <p:cNvSpPr/>
            <p:nvPr/>
          </p:nvSpPr>
          <p:spPr>
            <a:xfrm>
              <a:off x="7735696" y="5581777"/>
              <a:ext cx="381000" cy="635000"/>
            </a:xfrm>
            <a:custGeom>
              <a:avLst/>
              <a:gdLst/>
              <a:ahLst/>
              <a:cxnLst/>
              <a:rect l="l" t="t" r="r" b="b"/>
              <a:pathLst>
                <a:path w="381000" h="635000">
                  <a:moveTo>
                    <a:pt x="285750" y="0"/>
                  </a:moveTo>
                  <a:lnTo>
                    <a:pt x="95250" y="0"/>
                  </a:lnTo>
                  <a:lnTo>
                    <a:pt x="95250" y="444322"/>
                  </a:lnTo>
                  <a:lnTo>
                    <a:pt x="0" y="444322"/>
                  </a:lnTo>
                  <a:lnTo>
                    <a:pt x="190500" y="634771"/>
                  </a:lnTo>
                  <a:lnTo>
                    <a:pt x="381000" y="444322"/>
                  </a:lnTo>
                  <a:lnTo>
                    <a:pt x="285750" y="444322"/>
                  </a:lnTo>
                  <a:lnTo>
                    <a:pt x="285750" y="0"/>
                  </a:lnTo>
                  <a:close/>
                </a:path>
              </a:pathLst>
            </a:custGeom>
            <a:solidFill>
              <a:srgbClr val="EBD782"/>
            </a:solidFill>
          </p:spPr>
          <p:txBody>
            <a:bodyPr wrap="square" lIns="0" tIns="0" rIns="0" bIns="0" rtlCol="0"/>
            <a:lstStyle/>
            <a:p/>
          </p:txBody>
        </p:sp>
        <p:sp>
          <p:nvSpPr>
            <p:cNvPr id="27" name="object 27" descr=""/>
            <p:cNvSpPr/>
            <p:nvPr/>
          </p:nvSpPr>
          <p:spPr>
            <a:xfrm>
              <a:off x="7735696" y="5581777"/>
              <a:ext cx="381000" cy="635000"/>
            </a:xfrm>
            <a:custGeom>
              <a:avLst/>
              <a:gdLst/>
              <a:ahLst/>
              <a:cxnLst/>
              <a:rect l="l" t="t" r="r" b="b"/>
              <a:pathLst>
                <a:path w="381000" h="635000">
                  <a:moveTo>
                    <a:pt x="285750" y="0"/>
                  </a:moveTo>
                  <a:lnTo>
                    <a:pt x="285750" y="444322"/>
                  </a:lnTo>
                  <a:lnTo>
                    <a:pt x="381000" y="444322"/>
                  </a:lnTo>
                  <a:lnTo>
                    <a:pt x="190500" y="634771"/>
                  </a:lnTo>
                  <a:lnTo>
                    <a:pt x="0" y="444322"/>
                  </a:lnTo>
                  <a:lnTo>
                    <a:pt x="95250" y="444322"/>
                  </a:lnTo>
                  <a:lnTo>
                    <a:pt x="95250" y="0"/>
                  </a:lnTo>
                  <a:lnTo>
                    <a:pt x="285750" y="0"/>
                  </a:lnTo>
                  <a:close/>
                </a:path>
              </a:pathLst>
            </a:custGeom>
            <a:ln w="9525">
              <a:solidFill>
                <a:srgbClr val="40458B"/>
              </a:solidFill>
            </a:ln>
          </p:spPr>
          <p:txBody>
            <a:bodyPr wrap="square" lIns="0" tIns="0" rIns="0" bIns="0" rtlCol="0"/>
            <a:lstStyle/>
            <a:p/>
          </p:txBody>
        </p:sp>
      </p:grpSp>
      <p:grpSp>
        <p:nvGrpSpPr>
          <p:cNvPr id="28" name="object 28" descr=""/>
          <p:cNvGrpSpPr/>
          <p:nvPr/>
        </p:nvGrpSpPr>
        <p:grpSpPr>
          <a:xfrm>
            <a:off x="6885813" y="3027337"/>
            <a:ext cx="4114800" cy="693420"/>
            <a:chOff x="6885813" y="3027337"/>
            <a:chExt cx="4114800" cy="693420"/>
          </a:xfrm>
        </p:grpSpPr>
        <p:pic>
          <p:nvPicPr>
            <p:cNvPr id="29" name="object 29" descr=""/>
            <p:cNvPicPr/>
            <p:nvPr/>
          </p:nvPicPr>
          <p:blipFill>
            <a:blip r:embed="rId4" cstate="print"/>
            <a:stretch>
              <a:fillRect/>
            </a:stretch>
          </p:blipFill>
          <p:spPr>
            <a:xfrm>
              <a:off x="6926602" y="3046387"/>
              <a:ext cx="4000103" cy="654773"/>
            </a:xfrm>
            <a:prstGeom prst="rect">
              <a:avLst/>
            </a:prstGeom>
          </p:spPr>
        </p:pic>
        <p:sp>
          <p:nvSpPr>
            <p:cNvPr id="30" name="object 30" descr=""/>
            <p:cNvSpPr/>
            <p:nvPr/>
          </p:nvSpPr>
          <p:spPr>
            <a:xfrm>
              <a:off x="6895338" y="3036862"/>
              <a:ext cx="4095750" cy="674370"/>
            </a:xfrm>
            <a:custGeom>
              <a:avLst/>
              <a:gdLst/>
              <a:ahLst/>
              <a:cxnLst/>
              <a:rect l="l" t="t" r="r" b="b"/>
              <a:pathLst>
                <a:path w="4095750" h="674370">
                  <a:moveTo>
                    <a:pt x="0" y="673823"/>
                  </a:moveTo>
                  <a:lnTo>
                    <a:pt x="4095242" y="673823"/>
                  </a:lnTo>
                  <a:lnTo>
                    <a:pt x="4095242" y="0"/>
                  </a:lnTo>
                  <a:lnTo>
                    <a:pt x="0" y="0"/>
                  </a:lnTo>
                  <a:lnTo>
                    <a:pt x="0" y="673823"/>
                  </a:lnTo>
                  <a:close/>
                </a:path>
              </a:pathLst>
            </a:custGeom>
            <a:ln w="19050">
              <a:solidFill>
                <a:srgbClr val="FFC000"/>
              </a:solidFill>
            </a:ln>
          </p:spPr>
          <p:txBody>
            <a:bodyPr wrap="square" lIns="0" tIns="0" rIns="0" bIns="0" rtlCol="0"/>
            <a:lstStyle/>
            <a:p/>
          </p:txBody>
        </p:sp>
      </p:grpSp>
      <p:grpSp>
        <p:nvGrpSpPr>
          <p:cNvPr id="31" name="object 31" descr=""/>
          <p:cNvGrpSpPr/>
          <p:nvPr/>
        </p:nvGrpSpPr>
        <p:grpSpPr>
          <a:xfrm>
            <a:off x="6099238" y="3306254"/>
            <a:ext cx="644525" cy="300355"/>
            <a:chOff x="6099238" y="3306254"/>
            <a:chExt cx="644525" cy="300355"/>
          </a:xfrm>
        </p:grpSpPr>
        <p:sp>
          <p:nvSpPr>
            <p:cNvPr id="32" name="object 32" descr=""/>
            <p:cNvSpPr/>
            <p:nvPr/>
          </p:nvSpPr>
          <p:spPr>
            <a:xfrm>
              <a:off x="6104001" y="3311016"/>
              <a:ext cx="635000" cy="290830"/>
            </a:xfrm>
            <a:custGeom>
              <a:avLst/>
              <a:gdLst/>
              <a:ahLst/>
              <a:cxnLst/>
              <a:rect l="l" t="t" r="r" b="b"/>
              <a:pathLst>
                <a:path w="635000" h="290829">
                  <a:moveTo>
                    <a:pt x="145161" y="0"/>
                  </a:moveTo>
                  <a:lnTo>
                    <a:pt x="0" y="145287"/>
                  </a:lnTo>
                  <a:lnTo>
                    <a:pt x="145161" y="290575"/>
                  </a:lnTo>
                  <a:lnTo>
                    <a:pt x="145161" y="217932"/>
                  </a:lnTo>
                  <a:lnTo>
                    <a:pt x="635000" y="217932"/>
                  </a:lnTo>
                  <a:lnTo>
                    <a:pt x="635000" y="72644"/>
                  </a:lnTo>
                  <a:lnTo>
                    <a:pt x="145161" y="72644"/>
                  </a:lnTo>
                  <a:lnTo>
                    <a:pt x="145161" y="0"/>
                  </a:lnTo>
                  <a:close/>
                </a:path>
              </a:pathLst>
            </a:custGeom>
            <a:solidFill>
              <a:srgbClr val="EBD782"/>
            </a:solidFill>
          </p:spPr>
          <p:txBody>
            <a:bodyPr wrap="square" lIns="0" tIns="0" rIns="0" bIns="0" rtlCol="0"/>
            <a:lstStyle/>
            <a:p/>
          </p:txBody>
        </p:sp>
        <p:sp>
          <p:nvSpPr>
            <p:cNvPr id="33" name="object 33" descr=""/>
            <p:cNvSpPr/>
            <p:nvPr/>
          </p:nvSpPr>
          <p:spPr>
            <a:xfrm>
              <a:off x="6104001" y="3311016"/>
              <a:ext cx="635000" cy="290830"/>
            </a:xfrm>
            <a:custGeom>
              <a:avLst/>
              <a:gdLst/>
              <a:ahLst/>
              <a:cxnLst/>
              <a:rect l="l" t="t" r="r" b="b"/>
              <a:pathLst>
                <a:path w="635000" h="290829">
                  <a:moveTo>
                    <a:pt x="635000" y="217932"/>
                  </a:moveTo>
                  <a:lnTo>
                    <a:pt x="145161" y="217932"/>
                  </a:lnTo>
                  <a:lnTo>
                    <a:pt x="145161" y="290575"/>
                  </a:lnTo>
                  <a:lnTo>
                    <a:pt x="0" y="145287"/>
                  </a:lnTo>
                  <a:lnTo>
                    <a:pt x="145161" y="0"/>
                  </a:lnTo>
                  <a:lnTo>
                    <a:pt x="145161" y="72644"/>
                  </a:lnTo>
                  <a:lnTo>
                    <a:pt x="635000" y="72644"/>
                  </a:lnTo>
                  <a:lnTo>
                    <a:pt x="635000" y="217932"/>
                  </a:lnTo>
                  <a:close/>
                </a:path>
              </a:pathLst>
            </a:custGeom>
            <a:ln w="9525">
              <a:solidFill>
                <a:srgbClr val="40458B"/>
              </a:solidFill>
            </a:ln>
          </p:spPr>
          <p:txBody>
            <a:bodyPr wrap="square" lIns="0" tIns="0" rIns="0" bIns="0" rtlCol="0"/>
            <a:lstStyle/>
            <a:p/>
          </p:txBody>
        </p:sp>
      </p:grpSp>
      <p:sp>
        <p:nvSpPr>
          <p:cNvPr id="34" name="object 34" descr=""/>
          <p:cNvSpPr txBox="1"/>
          <p:nvPr/>
        </p:nvSpPr>
        <p:spPr>
          <a:xfrm>
            <a:off x="7735189" y="3778465"/>
            <a:ext cx="3817620" cy="370205"/>
          </a:xfrm>
          <a:prstGeom prst="rect">
            <a:avLst/>
          </a:prstGeom>
          <a:ln w="9525">
            <a:solidFill>
              <a:srgbClr val="080808"/>
            </a:solidFill>
          </a:ln>
        </p:spPr>
        <p:txBody>
          <a:bodyPr wrap="square" lIns="0" tIns="38735" rIns="0" bIns="0" rtlCol="0" vert="horz">
            <a:spAutoFit/>
          </a:bodyPr>
          <a:lstStyle/>
          <a:p>
            <a:pPr marL="92075">
              <a:lnSpc>
                <a:spcPct val="100000"/>
              </a:lnSpc>
              <a:spcBef>
                <a:spcPts val="305"/>
              </a:spcBef>
            </a:pPr>
            <a:r>
              <a:rPr dirty="0" sz="1800" spc="-10" b="1">
                <a:solidFill>
                  <a:srgbClr val="40458B"/>
                </a:solidFill>
                <a:latin typeface="微软雅黑"/>
                <a:cs typeface="微软雅黑"/>
              </a:rPr>
              <a:t>修改方法：合并此时的</a:t>
            </a:r>
            <a:r>
              <a:rPr dirty="0" sz="1800" spc="-10" b="1">
                <a:solidFill>
                  <a:srgbClr val="40458B"/>
                </a:solidFill>
                <a:latin typeface="Tahoma"/>
                <a:cs typeface="Tahoma"/>
              </a:rPr>
              <a:t>S2</a:t>
            </a:r>
            <a:r>
              <a:rPr dirty="0" sz="1800" spc="-10" b="1">
                <a:solidFill>
                  <a:srgbClr val="40458B"/>
                </a:solidFill>
                <a:latin typeface="微软雅黑"/>
                <a:cs typeface="微软雅黑"/>
              </a:rPr>
              <a:t>和</a:t>
            </a:r>
            <a:r>
              <a:rPr dirty="0" sz="1800" spc="-25" b="1">
                <a:solidFill>
                  <a:srgbClr val="40458B"/>
                </a:solidFill>
                <a:latin typeface="Tahoma"/>
                <a:cs typeface="Tahoma"/>
              </a:rPr>
              <a:t>S1</a:t>
            </a:r>
            <a:endParaRPr sz="1800">
              <a:latin typeface="Tahoma"/>
              <a:cs typeface="Tahoma"/>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87/89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708151" y="634284"/>
            <a:ext cx="5100955" cy="1156335"/>
          </a:xfrm>
          <a:prstGeom prst="rect">
            <a:avLst/>
          </a:prstGeom>
        </p:spPr>
        <p:txBody>
          <a:bodyPr wrap="square" lIns="0" tIns="244475" rIns="0" bIns="0" rtlCol="0" vert="horz">
            <a:spAutoFit/>
          </a:bodyPr>
          <a:lstStyle/>
          <a:p>
            <a:pPr marL="467995" indent="-455295">
              <a:lnSpc>
                <a:spcPct val="100000"/>
              </a:lnSpc>
              <a:spcBef>
                <a:spcPts val="1925"/>
              </a:spcBef>
              <a:buClr>
                <a:srgbClr val="40458B"/>
              </a:buClr>
              <a:buSzPct val="89285"/>
              <a:buFont typeface="Wingdings"/>
              <a:buChar char=""/>
              <a:tabLst>
                <a:tab pos="467995" algn="l"/>
              </a:tabLst>
            </a:pPr>
            <a:r>
              <a:rPr dirty="0" sz="2800" spc="-40">
                <a:solidFill>
                  <a:srgbClr val="0000CC"/>
                </a:solidFill>
                <a:latin typeface="黑体"/>
                <a:cs typeface="黑体"/>
              </a:rPr>
              <a:t>复杂循环携带数据相关的处理</a:t>
            </a:r>
            <a:endParaRPr sz="2800">
              <a:latin typeface="黑体"/>
              <a:cs typeface="黑体"/>
            </a:endParaRPr>
          </a:p>
          <a:p>
            <a:pPr algn="ctr" marR="372745">
              <a:lnSpc>
                <a:spcPct val="100000"/>
              </a:lnSpc>
              <a:spcBef>
                <a:spcPts val="1315"/>
              </a:spcBef>
            </a:pPr>
            <a:r>
              <a:rPr dirty="0" sz="2000" spc="-10" b="1">
                <a:solidFill>
                  <a:srgbClr val="40458B"/>
                </a:solidFill>
                <a:latin typeface="宋体"/>
                <a:cs typeface="宋体"/>
              </a:rPr>
              <a:t>for（i=6；i&lt;=100；i=i+1）</a:t>
            </a:r>
            <a:endParaRPr sz="2000">
              <a:latin typeface="宋体"/>
              <a:cs typeface="宋体"/>
            </a:endParaRPr>
          </a:p>
        </p:txBody>
      </p:sp>
      <p:sp>
        <p:nvSpPr>
          <p:cNvPr id="10" name="object 10" descr=""/>
          <p:cNvSpPr txBox="1"/>
          <p:nvPr/>
        </p:nvSpPr>
        <p:spPr>
          <a:xfrm>
            <a:off x="1449069" y="1781177"/>
            <a:ext cx="3315335" cy="1215390"/>
          </a:xfrm>
          <a:prstGeom prst="rect">
            <a:avLst/>
          </a:prstGeom>
        </p:spPr>
        <p:txBody>
          <a:bodyPr wrap="square" lIns="0" tIns="104775" rIns="0" bIns="0" rtlCol="0" vert="horz">
            <a:spAutoFit/>
          </a:bodyPr>
          <a:lstStyle/>
          <a:p>
            <a:pPr marL="471170">
              <a:lnSpc>
                <a:spcPct val="100000"/>
              </a:lnSpc>
              <a:spcBef>
                <a:spcPts val="825"/>
              </a:spcBef>
            </a:pPr>
            <a:r>
              <a:rPr dirty="0" sz="2000" b="1">
                <a:solidFill>
                  <a:srgbClr val="40458B"/>
                </a:solidFill>
                <a:latin typeface="宋体"/>
                <a:cs typeface="宋体"/>
              </a:rPr>
              <a:t>Y[i]</a:t>
            </a:r>
            <a:r>
              <a:rPr dirty="0" sz="2000" spc="-20" b="1">
                <a:solidFill>
                  <a:srgbClr val="40458B"/>
                </a:solidFill>
                <a:latin typeface="宋体"/>
                <a:cs typeface="宋体"/>
              </a:rPr>
              <a:t> </a:t>
            </a:r>
            <a:r>
              <a:rPr dirty="0" sz="2000" b="1">
                <a:solidFill>
                  <a:srgbClr val="40458B"/>
                </a:solidFill>
                <a:latin typeface="宋体"/>
                <a:cs typeface="宋体"/>
              </a:rPr>
              <a:t>=</a:t>
            </a:r>
            <a:r>
              <a:rPr dirty="0" sz="2000" spc="5" b="1">
                <a:solidFill>
                  <a:srgbClr val="40458B"/>
                </a:solidFill>
                <a:latin typeface="宋体"/>
                <a:cs typeface="宋体"/>
              </a:rPr>
              <a:t> </a:t>
            </a:r>
            <a:r>
              <a:rPr dirty="0" sz="2000" b="1">
                <a:solidFill>
                  <a:srgbClr val="40458B"/>
                </a:solidFill>
                <a:latin typeface="宋体"/>
                <a:cs typeface="宋体"/>
              </a:rPr>
              <a:t>Y[i-5]</a:t>
            </a:r>
            <a:r>
              <a:rPr dirty="0" sz="2000" spc="-25" b="1">
                <a:solidFill>
                  <a:srgbClr val="40458B"/>
                </a:solidFill>
                <a:latin typeface="宋体"/>
                <a:cs typeface="宋体"/>
              </a:rPr>
              <a:t> </a:t>
            </a:r>
            <a:r>
              <a:rPr dirty="0" sz="2000" b="1">
                <a:solidFill>
                  <a:srgbClr val="40458B"/>
                </a:solidFill>
                <a:latin typeface="宋体"/>
                <a:cs typeface="宋体"/>
              </a:rPr>
              <a:t>+</a:t>
            </a:r>
            <a:r>
              <a:rPr dirty="0" sz="2000" spc="5" b="1">
                <a:solidFill>
                  <a:srgbClr val="40458B"/>
                </a:solidFill>
                <a:latin typeface="宋体"/>
                <a:cs typeface="宋体"/>
              </a:rPr>
              <a:t> </a:t>
            </a:r>
            <a:r>
              <a:rPr dirty="0" sz="2000" spc="-20" b="1">
                <a:solidFill>
                  <a:srgbClr val="40458B"/>
                </a:solidFill>
                <a:latin typeface="宋体"/>
                <a:cs typeface="宋体"/>
              </a:rPr>
              <a:t>Y[i]；</a:t>
            </a:r>
            <a:endParaRPr sz="2000">
              <a:latin typeface="宋体"/>
              <a:cs typeface="宋体"/>
            </a:endParaRPr>
          </a:p>
          <a:p>
            <a:pPr marL="471170" marR="5080" indent="-459105">
              <a:lnSpc>
                <a:spcPct val="130000"/>
              </a:lnSpc>
            </a:pPr>
            <a:r>
              <a:rPr dirty="0" sz="2000" spc="-10" b="1">
                <a:solidFill>
                  <a:srgbClr val="40458B"/>
                </a:solidFill>
                <a:latin typeface="宋体"/>
                <a:cs typeface="宋体"/>
              </a:rPr>
              <a:t>for（i=2；i&lt;=100；i=i+1） </a:t>
            </a:r>
            <a:r>
              <a:rPr dirty="0" sz="2000" b="1">
                <a:solidFill>
                  <a:srgbClr val="40458B"/>
                </a:solidFill>
                <a:latin typeface="宋体"/>
                <a:cs typeface="宋体"/>
              </a:rPr>
              <a:t>Y[i]</a:t>
            </a:r>
            <a:r>
              <a:rPr dirty="0" sz="2000" spc="-40" b="1">
                <a:solidFill>
                  <a:srgbClr val="40458B"/>
                </a:solidFill>
                <a:latin typeface="宋体"/>
                <a:cs typeface="宋体"/>
              </a:rPr>
              <a:t> </a:t>
            </a:r>
            <a:r>
              <a:rPr dirty="0" sz="2000" b="1">
                <a:solidFill>
                  <a:srgbClr val="40458B"/>
                </a:solidFill>
                <a:latin typeface="宋体"/>
                <a:cs typeface="宋体"/>
              </a:rPr>
              <a:t>=</a:t>
            </a:r>
            <a:r>
              <a:rPr dirty="0" sz="2000" spc="-20" b="1">
                <a:solidFill>
                  <a:srgbClr val="40458B"/>
                </a:solidFill>
                <a:latin typeface="宋体"/>
                <a:cs typeface="宋体"/>
              </a:rPr>
              <a:t> </a:t>
            </a:r>
            <a:r>
              <a:rPr dirty="0" sz="2000" b="1">
                <a:solidFill>
                  <a:srgbClr val="40458B"/>
                </a:solidFill>
                <a:latin typeface="宋体"/>
                <a:cs typeface="宋体"/>
              </a:rPr>
              <a:t>Y[i-1]</a:t>
            </a:r>
            <a:r>
              <a:rPr dirty="0" sz="2000" spc="-45" b="1">
                <a:solidFill>
                  <a:srgbClr val="40458B"/>
                </a:solidFill>
                <a:latin typeface="宋体"/>
                <a:cs typeface="宋体"/>
              </a:rPr>
              <a:t> </a:t>
            </a:r>
            <a:r>
              <a:rPr dirty="0" sz="2000" b="1">
                <a:solidFill>
                  <a:srgbClr val="40458B"/>
                </a:solidFill>
                <a:latin typeface="宋体"/>
                <a:cs typeface="宋体"/>
              </a:rPr>
              <a:t>+</a:t>
            </a:r>
            <a:r>
              <a:rPr dirty="0" sz="2000" spc="-15" b="1">
                <a:solidFill>
                  <a:srgbClr val="40458B"/>
                </a:solidFill>
                <a:latin typeface="宋体"/>
                <a:cs typeface="宋体"/>
              </a:rPr>
              <a:t> </a:t>
            </a:r>
            <a:r>
              <a:rPr dirty="0" sz="2000" spc="-10" b="1">
                <a:solidFill>
                  <a:srgbClr val="40458B"/>
                </a:solidFill>
                <a:latin typeface="宋体"/>
                <a:cs typeface="宋体"/>
              </a:rPr>
              <a:t>Y[i]；</a:t>
            </a:r>
            <a:endParaRPr sz="2000">
              <a:latin typeface="宋体"/>
              <a:cs typeface="宋体"/>
            </a:endParaRPr>
          </a:p>
        </p:txBody>
      </p:sp>
      <p:sp>
        <p:nvSpPr>
          <p:cNvPr id="11" name="object 11" descr=""/>
          <p:cNvSpPr txBox="1"/>
          <p:nvPr/>
        </p:nvSpPr>
        <p:spPr>
          <a:xfrm>
            <a:off x="4994275" y="1872437"/>
            <a:ext cx="1817370" cy="331470"/>
          </a:xfrm>
          <a:prstGeom prst="rect">
            <a:avLst/>
          </a:prstGeom>
        </p:spPr>
        <p:txBody>
          <a:bodyPr wrap="square" lIns="0" tIns="13335" rIns="0" bIns="0" rtlCol="0" vert="horz">
            <a:spAutoFit/>
          </a:bodyPr>
          <a:lstStyle/>
          <a:p>
            <a:pPr marL="12700">
              <a:lnSpc>
                <a:spcPct val="100000"/>
              </a:lnSpc>
              <a:spcBef>
                <a:spcPts val="105"/>
              </a:spcBef>
            </a:pPr>
            <a:r>
              <a:rPr dirty="0" sz="2000" spc="-15" b="1">
                <a:solidFill>
                  <a:srgbClr val="FF5CFF"/>
                </a:solidFill>
                <a:latin typeface="宋体"/>
                <a:cs typeface="宋体"/>
              </a:rPr>
              <a:t>// 相关距离为</a:t>
            </a:r>
            <a:r>
              <a:rPr dirty="0" sz="2000" spc="-50" b="1">
                <a:solidFill>
                  <a:srgbClr val="FF5CFF"/>
                </a:solidFill>
                <a:latin typeface="宋体"/>
                <a:cs typeface="宋体"/>
              </a:rPr>
              <a:t>5</a:t>
            </a:r>
            <a:endParaRPr sz="2000">
              <a:latin typeface="宋体"/>
              <a:cs typeface="宋体"/>
            </a:endParaRPr>
          </a:p>
        </p:txBody>
      </p:sp>
      <p:sp>
        <p:nvSpPr>
          <p:cNvPr id="12" name="object 12" descr=""/>
          <p:cNvSpPr txBox="1"/>
          <p:nvPr/>
        </p:nvSpPr>
        <p:spPr>
          <a:xfrm>
            <a:off x="4994275" y="2665602"/>
            <a:ext cx="1817370" cy="330835"/>
          </a:xfrm>
          <a:prstGeom prst="rect">
            <a:avLst/>
          </a:prstGeom>
        </p:spPr>
        <p:txBody>
          <a:bodyPr wrap="square" lIns="0" tIns="13335" rIns="0" bIns="0" rtlCol="0" vert="horz">
            <a:spAutoFit/>
          </a:bodyPr>
          <a:lstStyle/>
          <a:p>
            <a:pPr marL="12700">
              <a:lnSpc>
                <a:spcPct val="100000"/>
              </a:lnSpc>
              <a:spcBef>
                <a:spcPts val="105"/>
              </a:spcBef>
            </a:pPr>
            <a:r>
              <a:rPr dirty="0" sz="2000" spc="-15" b="1">
                <a:solidFill>
                  <a:srgbClr val="FF5CFF"/>
                </a:solidFill>
                <a:latin typeface="宋体"/>
                <a:cs typeface="宋体"/>
              </a:rPr>
              <a:t>// 相关距离为</a:t>
            </a:r>
            <a:r>
              <a:rPr dirty="0" sz="2000" spc="-50" b="1">
                <a:solidFill>
                  <a:srgbClr val="FF5CFF"/>
                </a:solidFill>
                <a:latin typeface="宋体"/>
                <a:cs typeface="宋体"/>
              </a:rPr>
              <a:t>1</a:t>
            </a:r>
            <a:endParaRPr sz="2000">
              <a:latin typeface="宋体"/>
              <a:cs typeface="宋体"/>
            </a:endParaRPr>
          </a:p>
        </p:txBody>
      </p:sp>
      <p:sp>
        <p:nvSpPr>
          <p:cNvPr id="13" name="object 13"/>
          <p:cNvSpPr txBox="1">
            <a:spLocks noGrp="1"/>
          </p:cNvSpPr>
          <p:nvPr>
            <p:ph type="title"/>
          </p:nvPr>
        </p:nvSpPr>
        <p:spPr>
          <a:xfrm>
            <a:off x="1792604" y="36068"/>
            <a:ext cx="4907280" cy="513715"/>
          </a:xfrm>
          <a:prstGeom prst="rect"/>
        </p:spPr>
        <p:txBody>
          <a:bodyPr wrap="square" lIns="0" tIns="12700" rIns="0" bIns="0" rtlCol="0" vert="horz">
            <a:spAutoFit/>
          </a:bodyPr>
          <a:lstStyle/>
          <a:p>
            <a:pPr marL="12700">
              <a:lnSpc>
                <a:spcPct val="100000"/>
              </a:lnSpc>
              <a:spcBef>
                <a:spcPts val="100"/>
              </a:spcBef>
            </a:pPr>
            <a:r>
              <a:rPr dirty="0" u="none"/>
              <a:t>6.5</a:t>
            </a:r>
            <a:r>
              <a:rPr dirty="0" u="none" spc="-10"/>
              <a:t> 开发更多的指令级并行</a:t>
            </a:r>
          </a:p>
        </p:txBody>
      </p:sp>
      <p:sp>
        <p:nvSpPr>
          <p:cNvPr id="14" name="object 14" descr=""/>
          <p:cNvSpPr txBox="1"/>
          <p:nvPr/>
        </p:nvSpPr>
        <p:spPr>
          <a:xfrm>
            <a:off x="550862" y="3429000"/>
            <a:ext cx="11377930" cy="1830705"/>
          </a:xfrm>
          <a:prstGeom prst="rect">
            <a:avLst/>
          </a:prstGeom>
          <a:ln w="9525">
            <a:solidFill>
              <a:srgbClr val="080808"/>
            </a:solidFill>
          </a:ln>
        </p:spPr>
        <p:txBody>
          <a:bodyPr wrap="square" lIns="0" tIns="139065" rIns="0" bIns="0" rtlCol="0" vert="horz">
            <a:spAutoFit/>
          </a:bodyPr>
          <a:lstStyle/>
          <a:p>
            <a:pPr marL="91440">
              <a:lnSpc>
                <a:spcPct val="100000"/>
              </a:lnSpc>
              <a:spcBef>
                <a:spcPts val="1095"/>
              </a:spcBef>
            </a:pPr>
            <a:r>
              <a:rPr dirty="0" sz="2800" spc="-30" b="1">
                <a:solidFill>
                  <a:srgbClr val="E14B04"/>
                </a:solidFill>
                <a:latin typeface="宋体"/>
                <a:cs typeface="宋体"/>
              </a:rPr>
              <a:t>编译器必须检测出这种递归关系</a:t>
            </a:r>
            <a:endParaRPr sz="2800">
              <a:latin typeface="宋体"/>
              <a:cs typeface="宋体"/>
            </a:endParaRPr>
          </a:p>
          <a:p>
            <a:pPr marL="802005" indent="-710565">
              <a:lnSpc>
                <a:spcPct val="100000"/>
              </a:lnSpc>
              <a:spcBef>
                <a:spcPts val="1345"/>
              </a:spcBef>
              <a:buAutoNum type="arabicParenBoth"/>
              <a:tabLst>
                <a:tab pos="802005" algn="l"/>
              </a:tabLst>
            </a:pPr>
            <a:r>
              <a:rPr dirty="0" sz="2800" spc="-30" b="1">
                <a:solidFill>
                  <a:srgbClr val="40458B"/>
                </a:solidFill>
                <a:latin typeface="宋体"/>
                <a:cs typeface="宋体"/>
              </a:rPr>
              <a:t>某些系统结构（特别是向量计算机）</a:t>
            </a:r>
            <a:r>
              <a:rPr dirty="0" sz="2800" spc="-35" b="1">
                <a:solidFill>
                  <a:srgbClr val="40458B"/>
                </a:solidFill>
                <a:latin typeface="宋体"/>
                <a:cs typeface="宋体"/>
              </a:rPr>
              <a:t>为递归提供了专门的硬件支持</a:t>
            </a:r>
            <a:endParaRPr sz="2800">
              <a:latin typeface="宋体"/>
              <a:cs typeface="宋体"/>
            </a:endParaRPr>
          </a:p>
          <a:p>
            <a:pPr marL="802005" indent="-710565">
              <a:lnSpc>
                <a:spcPct val="100000"/>
              </a:lnSpc>
              <a:spcBef>
                <a:spcPts val="1345"/>
              </a:spcBef>
              <a:buAutoNum type="arabicParenBoth"/>
              <a:tabLst>
                <a:tab pos="802005" algn="l"/>
              </a:tabLst>
            </a:pPr>
            <a:r>
              <a:rPr dirty="0" sz="2800" spc="-30" b="1">
                <a:solidFill>
                  <a:srgbClr val="40458B"/>
                </a:solidFill>
                <a:latin typeface="宋体"/>
                <a:cs typeface="宋体"/>
              </a:rPr>
              <a:t>这样的递归结构中通常隐藏着大量的循环级并行</a:t>
            </a:r>
            <a:endParaRPr sz="2800">
              <a:latin typeface="宋体"/>
              <a:cs typeface="宋体"/>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88/89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xfrm>
            <a:off x="1403350" y="127838"/>
            <a:ext cx="10801350" cy="514350"/>
          </a:xfrm>
          <a:prstGeom prst="rect"/>
        </p:spPr>
        <p:txBody>
          <a:bodyPr wrap="square" lIns="0" tIns="13335" rIns="0" bIns="0" rtlCol="0" vert="horz">
            <a:spAutoFit/>
          </a:bodyPr>
          <a:lstStyle/>
          <a:p>
            <a:pPr marL="12700">
              <a:lnSpc>
                <a:spcPct val="100000"/>
              </a:lnSpc>
              <a:spcBef>
                <a:spcPts val="105"/>
              </a:spcBef>
              <a:tabLst>
                <a:tab pos="1239520" algn="l"/>
                <a:tab pos="10788015" algn="l"/>
              </a:tabLst>
            </a:pPr>
            <a:r>
              <a:rPr dirty="0"/>
              <a:t>	6.5</a:t>
            </a:r>
            <a:r>
              <a:rPr dirty="0" spc="-15"/>
              <a:t> </a:t>
            </a:r>
            <a:r>
              <a:rPr dirty="0"/>
              <a:t>开发更</a:t>
            </a:r>
            <a:r>
              <a:rPr dirty="0" spc="-25"/>
              <a:t>多</a:t>
            </a:r>
            <a:r>
              <a:rPr dirty="0"/>
              <a:t>的指</a:t>
            </a:r>
            <a:r>
              <a:rPr dirty="0" spc="-20"/>
              <a:t>令</a:t>
            </a:r>
            <a:r>
              <a:rPr dirty="0"/>
              <a:t>级并</a:t>
            </a:r>
            <a:r>
              <a:rPr dirty="0" spc="-50"/>
              <a:t>行</a:t>
            </a:r>
            <a:r>
              <a:rPr dirty="0"/>
              <a:t>	</a:t>
            </a:r>
          </a:p>
        </p:txBody>
      </p:sp>
      <p:sp>
        <p:nvSpPr>
          <p:cNvPr id="9" name="object 9" descr=""/>
          <p:cNvSpPr txBox="1"/>
          <p:nvPr/>
        </p:nvSpPr>
        <p:spPr>
          <a:xfrm>
            <a:off x="277164" y="450875"/>
            <a:ext cx="11657330" cy="6101715"/>
          </a:xfrm>
          <a:prstGeom prst="rect">
            <a:avLst/>
          </a:prstGeom>
        </p:spPr>
        <p:txBody>
          <a:bodyPr wrap="square" lIns="0" tIns="140335" rIns="0" bIns="0" rtlCol="0" vert="horz">
            <a:spAutoFit/>
          </a:bodyPr>
          <a:lstStyle/>
          <a:p>
            <a:pPr marL="467359" indent="-454659">
              <a:lnSpc>
                <a:spcPct val="100000"/>
              </a:lnSpc>
              <a:spcBef>
                <a:spcPts val="1105"/>
              </a:spcBef>
              <a:buClr>
                <a:srgbClr val="40458B"/>
              </a:buClr>
              <a:buFont typeface="Tahoma"/>
              <a:buAutoNum type="arabicPeriod" startAt="2"/>
              <a:tabLst>
                <a:tab pos="467359" algn="l"/>
              </a:tabLst>
            </a:pPr>
            <a:r>
              <a:rPr dirty="0" sz="2800" spc="-40">
                <a:solidFill>
                  <a:srgbClr val="E14B04"/>
                </a:solidFill>
                <a:latin typeface="黑体"/>
                <a:cs typeface="黑体"/>
              </a:rPr>
              <a:t>存储别名分析</a:t>
            </a:r>
            <a:endParaRPr sz="2800">
              <a:latin typeface="黑体"/>
              <a:cs typeface="黑体"/>
            </a:endParaRPr>
          </a:p>
          <a:p>
            <a:pPr lvl="1" marL="1097915" indent="-455930">
              <a:lnSpc>
                <a:spcPct val="100000"/>
              </a:lnSpc>
              <a:spcBef>
                <a:spcPts val="1010"/>
              </a:spcBef>
              <a:buClr>
                <a:srgbClr val="40458B"/>
              </a:buClr>
              <a:buSzPct val="89285"/>
              <a:buFont typeface="Wingdings"/>
              <a:buChar char=""/>
              <a:tabLst>
                <a:tab pos="1097915" algn="l"/>
              </a:tabLst>
            </a:pPr>
            <a:r>
              <a:rPr dirty="0" sz="2800" spc="-40">
                <a:solidFill>
                  <a:srgbClr val="0000CC"/>
                </a:solidFill>
                <a:latin typeface="黑体"/>
                <a:cs typeface="黑体"/>
              </a:rPr>
              <a:t>别名分析：是编译器理论中的一种技术</a:t>
            </a:r>
            <a:endParaRPr sz="2800">
              <a:latin typeface="黑体"/>
              <a:cs typeface="黑体"/>
            </a:endParaRPr>
          </a:p>
          <a:p>
            <a:pPr lvl="1" marL="1097915" indent="-455930">
              <a:lnSpc>
                <a:spcPct val="100000"/>
              </a:lnSpc>
              <a:spcBef>
                <a:spcPts val="1010"/>
              </a:spcBef>
              <a:buClr>
                <a:srgbClr val="40458B"/>
              </a:buClr>
              <a:buSzPct val="89285"/>
              <a:buFont typeface="Wingdings"/>
              <a:buChar char=""/>
              <a:tabLst>
                <a:tab pos="1097915" algn="l"/>
              </a:tabLst>
            </a:pPr>
            <a:r>
              <a:rPr dirty="0" sz="2800" spc="-35">
                <a:solidFill>
                  <a:srgbClr val="0000CC"/>
                </a:solidFill>
                <a:latin typeface="黑体"/>
                <a:cs typeface="黑体"/>
              </a:rPr>
              <a:t>什么是</a:t>
            </a:r>
            <a:r>
              <a:rPr dirty="0" sz="2800" spc="-40">
                <a:solidFill>
                  <a:srgbClr val="FF0000"/>
                </a:solidFill>
                <a:latin typeface="黑体"/>
                <a:cs typeface="黑体"/>
              </a:rPr>
              <a:t>存储别名</a:t>
            </a:r>
            <a:endParaRPr sz="2800">
              <a:latin typeface="黑体"/>
              <a:cs typeface="黑体"/>
            </a:endParaRPr>
          </a:p>
          <a:p>
            <a:pPr lvl="2" marL="1383030" marR="5080" indent="-105410">
              <a:lnSpc>
                <a:spcPct val="110000"/>
              </a:lnSpc>
              <a:spcBef>
                <a:spcPts val="630"/>
              </a:spcBef>
              <a:buClr>
                <a:srgbClr val="4668F5"/>
              </a:buClr>
              <a:buSzPct val="60416"/>
              <a:buFont typeface="Wingdings"/>
              <a:buChar char=""/>
              <a:tabLst>
                <a:tab pos="1383030" algn="l"/>
                <a:tab pos="1534795" algn="l"/>
              </a:tabLst>
            </a:pPr>
            <a:r>
              <a:rPr dirty="0" sz="2400" spc="-25" b="1">
                <a:solidFill>
                  <a:srgbClr val="FF5CFF"/>
                </a:solidFill>
                <a:latin typeface="宋体"/>
                <a:cs typeface="宋体"/>
              </a:rPr>
              <a:t>	</a:t>
            </a:r>
            <a:r>
              <a:rPr dirty="0" sz="2400" spc="-25" b="1">
                <a:solidFill>
                  <a:srgbClr val="FF5CFF"/>
                </a:solidFill>
                <a:latin typeface="宋体"/>
                <a:cs typeface="宋体"/>
              </a:rPr>
              <a:t>一个元素可能同时拥有多个合法的地址表达式，用于确定存储位置是否可以以多种方式访问</a:t>
            </a:r>
            <a:r>
              <a:rPr dirty="0" sz="2400" b="1">
                <a:solidFill>
                  <a:srgbClr val="FF5CFF"/>
                </a:solidFill>
                <a:latin typeface="Times New Roman"/>
                <a:cs typeface="Times New Roman"/>
              </a:rPr>
              <a:t>------</a:t>
            </a:r>
            <a:r>
              <a:rPr dirty="0" sz="2400" b="1">
                <a:solidFill>
                  <a:srgbClr val="6600FF"/>
                </a:solidFill>
                <a:latin typeface="Times New Roman"/>
                <a:cs typeface="Times New Roman"/>
              </a:rPr>
              <a:t>A[i+5]</a:t>
            </a:r>
            <a:r>
              <a:rPr dirty="0" sz="2400" spc="-25" b="1">
                <a:solidFill>
                  <a:srgbClr val="6600FF"/>
                </a:solidFill>
                <a:latin typeface="宋体"/>
                <a:cs typeface="宋体"/>
              </a:rPr>
              <a:t>、</a:t>
            </a:r>
            <a:r>
              <a:rPr dirty="0" sz="2400" spc="-20" b="1">
                <a:solidFill>
                  <a:srgbClr val="6600FF"/>
                </a:solidFill>
                <a:latin typeface="Times New Roman"/>
                <a:cs typeface="Times New Roman"/>
              </a:rPr>
              <a:t>A[j*2-</a:t>
            </a:r>
            <a:r>
              <a:rPr dirty="0" sz="2400" spc="-10" b="1">
                <a:solidFill>
                  <a:srgbClr val="6600FF"/>
                </a:solidFill>
                <a:latin typeface="Times New Roman"/>
                <a:cs typeface="Times New Roman"/>
              </a:rPr>
              <a:t>6]</a:t>
            </a:r>
            <a:r>
              <a:rPr dirty="0" sz="2400" spc="-25" b="1">
                <a:solidFill>
                  <a:srgbClr val="6600FF"/>
                </a:solidFill>
                <a:latin typeface="宋体"/>
                <a:cs typeface="宋体"/>
              </a:rPr>
              <a:t>、</a:t>
            </a:r>
            <a:r>
              <a:rPr dirty="0" sz="2400" spc="-20" b="1">
                <a:solidFill>
                  <a:srgbClr val="6600FF"/>
                </a:solidFill>
                <a:latin typeface="Times New Roman"/>
                <a:cs typeface="Times New Roman"/>
              </a:rPr>
              <a:t>A[k]</a:t>
            </a:r>
            <a:endParaRPr sz="2400">
              <a:latin typeface="Times New Roman"/>
              <a:cs typeface="Times New Roman"/>
            </a:endParaRPr>
          </a:p>
          <a:p>
            <a:pPr lvl="2" marL="1458595" indent="-193675">
              <a:lnSpc>
                <a:spcPct val="100000"/>
              </a:lnSpc>
              <a:spcBef>
                <a:spcPts val="865"/>
              </a:spcBef>
              <a:buClr>
                <a:srgbClr val="4668F5"/>
              </a:buClr>
              <a:buSzPct val="56250"/>
              <a:buFont typeface="Wingdings"/>
              <a:buChar char=""/>
              <a:tabLst>
                <a:tab pos="1458595" algn="l"/>
              </a:tabLst>
            </a:pPr>
            <a:r>
              <a:rPr dirty="0" sz="2400" spc="-25" b="1">
                <a:solidFill>
                  <a:srgbClr val="FF5CFF"/>
                </a:solidFill>
                <a:latin typeface="宋体"/>
                <a:cs typeface="宋体"/>
              </a:rPr>
              <a:t>如果两个指针指向内存相同的位置，则称这两个指针为别名，解决的是两个</a:t>
            </a:r>
            <a:endParaRPr sz="2400">
              <a:latin typeface="宋体"/>
              <a:cs typeface="宋体"/>
            </a:endParaRPr>
          </a:p>
          <a:p>
            <a:pPr marL="1383030">
              <a:lnSpc>
                <a:spcPct val="100000"/>
              </a:lnSpc>
              <a:spcBef>
                <a:spcPts val="290"/>
              </a:spcBef>
            </a:pPr>
            <a:r>
              <a:rPr dirty="0" sz="2400" spc="-25" b="1">
                <a:solidFill>
                  <a:srgbClr val="FF5CFF"/>
                </a:solidFill>
                <a:latin typeface="宋体"/>
                <a:cs typeface="宋体"/>
              </a:rPr>
              <a:t>指针指向的是否是同一个对象。</a:t>
            </a:r>
            <a:endParaRPr sz="2400">
              <a:latin typeface="宋体"/>
              <a:cs typeface="宋体"/>
            </a:endParaRPr>
          </a:p>
          <a:p>
            <a:pPr lvl="1" marL="1097915" indent="-455930">
              <a:lnSpc>
                <a:spcPct val="100000"/>
              </a:lnSpc>
              <a:spcBef>
                <a:spcPts val="955"/>
              </a:spcBef>
              <a:buClr>
                <a:srgbClr val="40458B"/>
              </a:buClr>
              <a:buSzPct val="89285"/>
              <a:buFont typeface="Wingdings"/>
              <a:buChar char=""/>
              <a:tabLst>
                <a:tab pos="1097915" algn="l"/>
              </a:tabLst>
            </a:pPr>
            <a:r>
              <a:rPr dirty="0" sz="2800" spc="-40">
                <a:solidFill>
                  <a:srgbClr val="0000CC"/>
                </a:solidFill>
                <a:latin typeface="黑体"/>
                <a:cs typeface="黑体"/>
              </a:rPr>
              <a:t>数组是</a:t>
            </a:r>
            <a:r>
              <a:rPr dirty="0" sz="2800" spc="-35">
                <a:solidFill>
                  <a:srgbClr val="FF0000"/>
                </a:solidFill>
                <a:latin typeface="黑体"/>
                <a:cs typeface="黑体"/>
              </a:rPr>
              <a:t>仿射的（常用的存储别名分析方法</a:t>
            </a:r>
            <a:r>
              <a:rPr dirty="0" sz="2800" spc="-50">
                <a:solidFill>
                  <a:srgbClr val="FF0000"/>
                </a:solidFill>
                <a:latin typeface="黑体"/>
                <a:cs typeface="黑体"/>
              </a:rPr>
              <a:t>）</a:t>
            </a:r>
            <a:endParaRPr sz="2800">
              <a:latin typeface="黑体"/>
              <a:cs typeface="黑体"/>
            </a:endParaRPr>
          </a:p>
          <a:p>
            <a:pPr lvl="2" marL="1383030" marR="49530" indent="-105410">
              <a:lnSpc>
                <a:spcPct val="110000"/>
              </a:lnSpc>
              <a:spcBef>
                <a:spcPts val="630"/>
              </a:spcBef>
              <a:buClr>
                <a:srgbClr val="4668F5"/>
              </a:buClr>
              <a:buSzPct val="50000"/>
              <a:buFont typeface="Wingdings"/>
              <a:buChar char=""/>
              <a:tabLst>
                <a:tab pos="1383030" algn="l"/>
                <a:tab pos="1491615" algn="l"/>
                <a:tab pos="8568055" algn="l"/>
              </a:tabLst>
            </a:pPr>
            <a:r>
              <a:rPr dirty="0" sz="2400" spc="-20" b="1">
                <a:solidFill>
                  <a:srgbClr val="FF5CFF"/>
                </a:solidFill>
                <a:latin typeface="宋体"/>
                <a:cs typeface="宋体"/>
              </a:rPr>
              <a:t>	</a:t>
            </a:r>
            <a:r>
              <a:rPr dirty="0" sz="2400" spc="-20" b="1">
                <a:solidFill>
                  <a:srgbClr val="FF5CFF"/>
                </a:solidFill>
                <a:latin typeface="宋体"/>
                <a:cs typeface="宋体"/>
              </a:rPr>
              <a:t>如果一个一维数组</a:t>
            </a:r>
            <a:r>
              <a:rPr dirty="0" sz="2400" spc="-20" b="1">
                <a:solidFill>
                  <a:srgbClr val="6600FF"/>
                </a:solidFill>
                <a:latin typeface="Times New Roman"/>
                <a:cs typeface="Times New Roman"/>
              </a:rPr>
              <a:t>A[m:n]</a:t>
            </a:r>
            <a:r>
              <a:rPr dirty="0" sz="2400" spc="-20" b="1">
                <a:solidFill>
                  <a:srgbClr val="FF5CFF"/>
                </a:solidFill>
                <a:latin typeface="宋体"/>
                <a:cs typeface="宋体"/>
              </a:rPr>
              <a:t>的下标可以被表示为形</a:t>
            </a:r>
            <a:r>
              <a:rPr dirty="0" sz="2400" spc="-50" b="1">
                <a:solidFill>
                  <a:srgbClr val="FF5CFF"/>
                </a:solidFill>
                <a:latin typeface="宋体"/>
                <a:cs typeface="宋体"/>
              </a:rPr>
              <a:t>如</a:t>
            </a:r>
            <a:r>
              <a:rPr dirty="0" sz="2400" b="1">
                <a:solidFill>
                  <a:srgbClr val="FF5CFF"/>
                </a:solidFill>
                <a:latin typeface="宋体"/>
                <a:cs typeface="宋体"/>
              </a:rPr>
              <a:t>	</a:t>
            </a:r>
            <a:r>
              <a:rPr dirty="0" sz="2400" spc="-10" b="1">
                <a:solidFill>
                  <a:srgbClr val="6600FF"/>
                </a:solidFill>
                <a:latin typeface="Times New Roman"/>
                <a:cs typeface="Times New Roman"/>
              </a:rPr>
              <a:t>a</a:t>
            </a:r>
            <a:r>
              <a:rPr dirty="0" sz="2400" spc="-10" b="1">
                <a:solidFill>
                  <a:srgbClr val="6600FF"/>
                </a:solidFill>
                <a:latin typeface="宋体"/>
                <a:cs typeface="宋体"/>
              </a:rPr>
              <a:t>×</a:t>
            </a:r>
            <a:r>
              <a:rPr dirty="0" sz="2400" spc="-10" b="1">
                <a:solidFill>
                  <a:srgbClr val="6600FF"/>
                </a:solidFill>
                <a:latin typeface="Times New Roman"/>
                <a:cs typeface="Times New Roman"/>
              </a:rPr>
              <a:t>i+b</a:t>
            </a:r>
            <a:r>
              <a:rPr dirty="0" sz="2400" spc="-20" b="1">
                <a:solidFill>
                  <a:srgbClr val="FF5CFF"/>
                </a:solidFill>
                <a:latin typeface="宋体"/>
                <a:cs typeface="宋体"/>
              </a:rPr>
              <a:t>的形式，那么</a:t>
            </a:r>
            <a:r>
              <a:rPr dirty="0" sz="2400" spc="-50" b="1">
                <a:solidFill>
                  <a:srgbClr val="FF5CFF"/>
                </a:solidFill>
                <a:latin typeface="宋体"/>
                <a:cs typeface="宋体"/>
              </a:rPr>
              <a:t>就</a:t>
            </a:r>
            <a:r>
              <a:rPr dirty="0" sz="2400" spc="-20" b="1">
                <a:solidFill>
                  <a:srgbClr val="FF5CFF"/>
                </a:solidFill>
                <a:latin typeface="宋体"/>
                <a:cs typeface="宋体"/>
              </a:rPr>
              <a:t>称该数组是</a:t>
            </a:r>
            <a:r>
              <a:rPr dirty="0" sz="2400" spc="-20" b="1">
                <a:solidFill>
                  <a:srgbClr val="FF0000"/>
                </a:solidFill>
                <a:latin typeface="宋体"/>
                <a:cs typeface="宋体"/>
              </a:rPr>
              <a:t>仿射的</a:t>
            </a:r>
            <a:r>
              <a:rPr dirty="0" sz="2400" spc="-10" b="1">
                <a:solidFill>
                  <a:srgbClr val="FF5CFF"/>
                </a:solidFill>
                <a:latin typeface="宋体"/>
                <a:cs typeface="宋体"/>
              </a:rPr>
              <a:t>（</a:t>
            </a:r>
            <a:r>
              <a:rPr dirty="0" sz="2400" spc="-10" b="1">
                <a:solidFill>
                  <a:srgbClr val="FF5CFF"/>
                </a:solidFill>
                <a:latin typeface="Times New Roman"/>
                <a:cs typeface="Times New Roman"/>
              </a:rPr>
              <a:t>affine</a:t>
            </a:r>
            <a:r>
              <a:rPr dirty="0" sz="2400" spc="-10" b="1">
                <a:solidFill>
                  <a:srgbClr val="FF5CFF"/>
                </a:solidFill>
                <a:latin typeface="宋体"/>
                <a:cs typeface="宋体"/>
              </a:rPr>
              <a:t>）</a:t>
            </a:r>
            <a:r>
              <a:rPr dirty="0" sz="2400" spc="-50" b="1">
                <a:solidFill>
                  <a:srgbClr val="FF5CFF"/>
                </a:solidFill>
                <a:latin typeface="宋体"/>
                <a:cs typeface="宋体"/>
              </a:rPr>
              <a:t>。</a:t>
            </a:r>
            <a:endParaRPr sz="2400">
              <a:latin typeface="宋体"/>
              <a:cs typeface="宋体"/>
            </a:endParaRPr>
          </a:p>
          <a:p>
            <a:pPr lvl="2" marL="1534795" indent="-257175">
              <a:lnSpc>
                <a:spcPct val="100000"/>
              </a:lnSpc>
              <a:spcBef>
                <a:spcPts val="865"/>
              </a:spcBef>
              <a:buClr>
                <a:srgbClr val="4668F5"/>
              </a:buClr>
              <a:buSzPct val="60416"/>
              <a:buFont typeface="Wingdings"/>
              <a:buChar char=""/>
              <a:tabLst>
                <a:tab pos="1534795" algn="l"/>
              </a:tabLst>
            </a:pPr>
            <a:r>
              <a:rPr dirty="0" sz="2400" spc="-50" b="1">
                <a:solidFill>
                  <a:srgbClr val="FF5CFF"/>
                </a:solidFill>
                <a:latin typeface="宋体"/>
                <a:cs typeface="宋体"/>
              </a:rPr>
              <a:t>一个多维数组，如果它每一维的下标都是仿射的，那 么它就是仿射的。</a:t>
            </a:r>
            <a:endParaRPr sz="2400">
              <a:latin typeface="宋体"/>
              <a:cs typeface="宋体"/>
            </a:endParaRPr>
          </a:p>
          <a:p>
            <a:pPr marL="115570" marR="70485">
              <a:lnSpc>
                <a:spcPts val="2930"/>
              </a:lnSpc>
              <a:spcBef>
                <a:spcPts val="70"/>
              </a:spcBef>
            </a:pPr>
            <a:r>
              <a:rPr dirty="0" sz="2400">
                <a:solidFill>
                  <a:srgbClr val="6600FF"/>
                </a:solidFill>
                <a:latin typeface="宋体"/>
                <a:cs typeface="宋体"/>
              </a:rPr>
              <a:t>若</a:t>
            </a:r>
            <a:r>
              <a:rPr dirty="0" sz="2400">
                <a:solidFill>
                  <a:srgbClr val="6600FF"/>
                </a:solidFill>
                <a:latin typeface="Times New Roman"/>
                <a:cs typeface="Times New Roman"/>
              </a:rPr>
              <a:t>a</a:t>
            </a:r>
            <a:r>
              <a:rPr dirty="0" sz="2400">
                <a:solidFill>
                  <a:srgbClr val="6600FF"/>
                </a:solidFill>
                <a:latin typeface="宋体"/>
                <a:cs typeface="宋体"/>
              </a:rPr>
              <a:t>×</a:t>
            </a:r>
            <a:r>
              <a:rPr dirty="0" sz="2400">
                <a:solidFill>
                  <a:srgbClr val="6600FF"/>
                </a:solidFill>
                <a:latin typeface="Times New Roman"/>
                <a:cs typeface="Times New Roman"/>
              </a:rPr>
              <a:t>i+b=</a:t>
            </a:r>
            <a:r>
              <a:rPr dirty="0" sz="2400" spc="-114">
                <a:solidFill>
                  <a:srgbClr val="6600FF"/>
                </a:solidFill>
                <a:latin typeface="Times New Roman"/>
                <a:cs typeface="Times New Roman"/>
              </a:rPr>
              <a:t> </a:t>
            </a:r>
            <a:r>
              <a:rPr dirty="0" sz="2400">
                <a:solidFill>
                  <a:srgbClr val="6600FF"/>
                </a:solidFill>
                <a:latin typeface="Times New Roman"/>
                <a:cs typeface="Times New Roman"/>
              </a:rPr>
              <a:t>c</a:t>
            </a:r>
            <a:r>
              <a:rPr dirty="0" sz="2400">
                <a:solidFill>
                  <a:srgbClr val="6600FF"/>
                </a:solidFill>
                <a:latin typeface="宋体"/>
                <a:cs typeface="宋体"/>
              </a:rPr>
              <a:t>×</a:t>
            </a:r>
            <a:r>
              <a:rPr dirty="0" sz="2400">
                <a:solidFill>
                  <a:srgbClr val="6600FF"/>
                </a:solidFill>
                <a:latin typeface="Times New Roman"/>
                <a:cs typeface="Times New Roman"/>
              </a:rPr>
              <a:t>k+d</a:t>
            </a:r>
            <a:r>
              <a:rPr dirty="0" sz="2400" spc="-5">
                <a:solidFill>
                  <a:srgbClr val="6600FF"/>
                </a:solidFill>
                <a:latin typeface="宋体"/>
                <a:cs typeface="宋体"/>
              </a:rPr>
              <a:t>，访问同一个因素，但编译器只对于这五个变量已知情况下有效，去判断是否存在存储器同名</a:t>
            </a:r>
            <a:endParaRPr sz="2400">
              <a:latin typeface="宋体"/>
              <a:cs typeface="宋体"/>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89/89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858723" y="3473805"/>
            <a:ext cx="4767580" cy="1611630"/>
          </a:xfrm>
          <a:prstGeom prst="rect">
            <a:avLst/>
          </a:prstGeom>
        </p:spPr>
        <p:txBody>
          <a:bodyPr wrap="square" lIns="0" tIns="12700" rIns="0" bIns="0" rtlCol="0" vert="horz">
            <a:spAutoFit/>
          </a:bodyPr>
          <a:lstStyle/>
          <a:p>
            <a:pPr marL="1777364" marR="372110" indent="-381000">
              <a:lnSpc>
                <a:spcPct val="130100"/>
              </a:lnSpc>
              <a:spcBef>
                <a:spcPts val="100"/>
              </a:spcBef>
            </a:pPr>
            <a:r>
              <a:rPr dirty="0" sz="2000" spc="-10" b="1">
                <a:solidFill>
                  <a:srgbClr val="40458B"/>
                </a:solidFill>
                <a:latin typeface="Times New Roman"/>
                <a:cs typeface="Times New Roman"/>
              </a:rPr>
              <a:t>for</a:t>
            </a:r>
            <a:r>
              <a:rPr dirty="0" sz="2000" spc="-10" b="1">
                <a:solidFill>
                  <a:srgbClr val="40458B"/>
                </a:solidFill>
                <a:latin typeface="宋体"/>
                <a:cs typeface="宋体"/>
              </a:rPr>
              <a:t>（</a:t>
            </a:r>
            <a:r>
              <a:rPr dirty="0" sz="2000" spc="-10" b="1">
                <a:solidFill>
                  <a:srgbClr val="40458B"/>
                </a:solidFill>
                <a:latin typeface="Times New Roman"/>
                <a:cs typeface="Times New Roman"/>
              </a:rPr>
              <a:t>i=1</a:t>
            </a:r>
            <a:r>
              <a:rPr dirty="0" sz="2000" spc="-10" b="1">
                <a:solidFill>
                  <a:srgbClr val="40458B"/>
                </a:solidFill>
                <a:latin typeface="宋体"/>
                <a:cs typeface="宋体"/>
              </a:rPr>
              <a:t>；</a:t>
            </a:r>
            <a:r>
              <a:rPr dirty="0" sz="2000" spc="-10" b="1">
                <a:solidFill>
                  <a:srgbClr val="40458B"/>
                </a:solidFill>
                <a:latin typeface="Times New Roman"/>
                <a:cs typeface="Times New Roman"/>
              </a:rPr>
              <a:t>i&lt;=100</a:t>
            </a:r>
            <a:r>
              <a:rPr dirty="0" sz="2000" spc="-10" b="1">
                <a:solidFill>
                  <a:srgbClr val="40458B"/>
                </a:solidFill>
                <a:latin typeface="宋体"/>
                <a:cs typeface="宋体"/>
              </a:rPr>
              <a:t>；</a:t>
            </a:r>
            <a:r>
              <a:rPr dirty="0" sz="2000" spc="-10" b="1">
                <a:solidFill>
                  <a:srgbClr val="40458B"/>
                </a:solidFill>
                <a:latin typeface="Times New Roman"/>
                <a:cs typeface="Times New Roman"/>
              </a:rPr>
              <a:t>i=i+1</a:t>
            </a:r>
            <a:r>
              <a:rPr dirty="0" sz="2000" spc="-10" b="1">
                <a:solidFill>
                  <a:srgbClr val="40458B"/>
                </a:solidFill>
                <a:latin typeface="宋体"/>
                <a:cs typeface="宋体"/>
              </a:rPr>
              <a:t>） </a:t>
            </a:r>
            <a:r>
              <a:rPr dirty="0" sz="2000" b="1">
                <a:solidFill>
                  <a:srgbClr val="40458B"/>
                </a:solidFill>
                <a:latin typeface="Times New Roman"/>
                <a:cs typeface="Times New Roman"/>
              </a:rPr>
              <a:t>x[2*i+3]</a:t>
            </a:r>
            <a:r>
              <a:rPr dirty="0" sz="2000" spc="-50" b="1">
                <a:solidFill>
                  <a:srgbClr val="40458B"/>
                </a:solidFill>
                <a:latin typeface="Times New Roman"/>
                <a:cs typeface="Times New Roman"/>
              </a:rPr>
              <a:t> </a:t>
            </a:r>
            <a:r>
              <a:rPr dirty="0" sz="2000" b="1">
                <a:solidFill>
                  <a:srgbClr val="40458B"/>
                </a:solidFill>
                <a:latin typeface="Times New Roman"/>
                <a:cs typeface="Times New Roman"/>
              </a:rPr>
              <a:t>=</a:t>
            </a:r>
            <a:r>
              <a:rPr dirty="0" sz="2000" spc="-10" b="1">
                <a:solidFill>
                  <a:srgbClr val="40458B"/>
                </a:solidFill>
                <a:latin typeface="Times New Roman"/>
                <a:cs typeface="Times New Roman"/>
              </a:rPr>
              <a:t> </a:t>
            </a:r>
            <a:r>
              <a:rPr dirty="0" sz="2000" b="1">
                <a:solidFill>
                  <a:srgbClr val="40458B"/>
                </a:solidFill>
                <a:latin typeface="Times New Roman"/>
                <a:cs typeface="Times New Roman"/>
              </a:rPr>
              <a:t>x[2*i]</a:t>
            </a:r>
            <a:r>
              <a:rPr dirty="0" sz="2000" spc="-45" b="1">
                <a:solidFill>
                  <a:srgbClr val="40458B"/>
                </a:solidFill>
                <a:latin typeface="Times New Roman"/>
                <a:cs typeface="Times New Roman"/>
              </a:rPr>
              <a:t> </a:t>
            </a:r>
            <a:r>
              <a:rPr dirty="0" sz="2000" b="1">
                <a:solidFill>
                  <a:srgbClr val="40458B"/>
                </a:solidFill>
                <a:latin typeface="Times New Roman"/>
                <a:cs typeface="Times New Roman"/>
              </a:rPr>
              <a:t>*</a:t>
            </a:r>
            <a:r>
              <a:rPr dirty="0" sz="2000" spc="10" b="1">
                <a:solidFill>
                  <a:srgbClr val="40458B"/>
                </a:solidFill>
                <a:latin typeface="Times New Roman"/>
                <a:cs typeface="Times New Roman"/>
              </a:rPr>
              <a:t> </a:t>
            </a:r>
            <a:r>
              <a:rPr dirty="0" sz="2000" spc="-20" b="1">
                <a:solidFill>
                  <a:srgbClr val="40458B"/>
                </a:solidFill>
                <a:latin typeface="Times New Roman"/>
                <a:cs typeface="Times New Roman"/>
              </a:rPr>
              <a:t>5.0</a:t>
            </a:r>
            <a:r>
              <a:rPr dirty="0" sz="2000" spc="-20" b="1">
                <a:solidFill>
                  <a:srgbClr val="40458B"/>
                </a:solidFill>
                <a:latin typeface="宋体"/>
                <a:cs typeface="宋体"/>
              </a:rPr>
              <a:t>；</a:t>
            </a:r>
            <a:endParaRPr sz="2000">
              <a:latin typeface="宋体"/>
              <a:cs typeface="宋体"/>
            </a:endParaRPr>
          </a:p>
          <a:p>
            <a:pPr marL="329565" marR="5080" indent="-317500">
              <a:lnSpc>
                <a:spcPct val="130000"/>
              </a:lnSpc>
            </a:pPr>
            <a:r>
              <a:rPr dirty="0" sz="2000" spc="-265" b="1">
                <a:solidFill>
                  <a:srgbClr val="E14B04"/>
                </a:solidFill>
                <a:latin typeface="宋体"/>
                <a:cs typeface="宋体"/>
              </a:rPr>
              <a:t>解 </a:t>
            </a:r>
            <a:r>
              <a:rPr dirty="0" sz="2000" spc="-10" b="1">
                <a:latin typeface="宋体"/>
                <a:cs typeface="宋体"/>
              </a:rPr>
              <a:t>在这个循环中，</a:t>
            </a:r>
            <a:r>
              <a:rPr dirty="0" sz="2000" spc="-10" b="1">
                <a:solidFill>
                  <a:srgbClr val="6600FF"/>
                </a:solidFill>
                <a:latin typeface="Times New Roman"/>
                <a:cs typeface="Times New Roman"/>
              </a:rPr>
              <a:t>a=2</a:t>
            </a:r>
            <a:r>
              <a:rPr dirty="0" sz="2000" spc="-10" b="1">
                <a:solidFill>
                  <a:srgbClr val="6600FF"/>
                </a:solidFill>
                <a:latin typeface="宋体"/>
                <a:cs typeface="宋体"/>
              </a:rPr>
              <a:t>，</a:t>
            </a:r>
            <a:r>
              <a:rPr dirty="0" sz="2000" spc="-10" b="1">
                <a:solidFill>
                  <a:srgbClr val="6600FF"/>
                </a:solidFill>
                <a:latin typeface="Times New Roman"/>
                <a:cs typeface="Times New Roman"/>
              </a:rPr>
              <a:t>b=3</a:t>
            </a:r>
            <a:r>
              <a:rPr dirty="0" sz="2000" spc="-10" b="1">
                <a:solidFill>
                  <a:srgbClr val="6600FF"/>
                </a:solidFill>
                <a:latin typeface="宋体"/>
                <a:cs typeface="宋体"/>
              </a:rPr>
              <a:t>，</a:t>
            </a:r>
            <a:r>
              <a:rPr dirty="0" sz="2000" spc="-10" b="1">
                <a:solidFill>
                  <a:srgbClr val="6600FF"/>
                </a:solidFill>
                <a:latin typeface="Times New Roman"/>
                <a:cs typeface="Times New Roman"/>
              </a:rPr>
              <a:t>c=2</a:t>
            </a:r>
            <a:r>
              <a:rPr dirty="0" sz="2000" spc="-10" b="1">
                <a:solidFill>
                  <a:srgbClr val="6600FF"/>
                </a:solidFill>
                <a:latin typeface="宋体"/>
                <a:cs typeface="宋体"/>
              </a:rPr>
              <a:t>，</a:t>
            </a:r>
            <a:r>
              <a:rPr dirty="0" sz="2000" spc="-10" b="1">
                <a:solidFill>
                  <a:srgbClr val="6600FF"/>
                </a:solidFill>
                <a:latin typeface="Times New Roman"/>
                <a:cs typeface="Times New Roman"/>
              </a:rPr>
              <a:t>d=0</a:t>
            </a:r>
            <a:r>
              <a:rPr dirty="0" sz="2000" spc="-10" b="1">
                <a:latin typeface="宋体"/>
                <a:cs typeface="宋体"/>
              </a:rPr>
              <a:t>，那么</a:t>
            </a:r>
            <a:r>
              <a:rPr dirty="0" sz="2000" b="1">
                <a:solidFill>
                  <a:srgbClr val="6600FF"/>
                </a:solidFill>
                <a:latin typeface="Times New Roman"/>
                <a:cs typeface="Times New Roman"/>
              </a:rPr>
              <a:t>GCD(a</a:t>
            </a:r>
            <a:r>
              <a:rPr dirty="0" sz="2000" spc="10" b="1">
                <a:solidFill>
                  <a:srgbClr val="6600FF"/>
                </a:solidFill>
                <a:latin typeface="Times New Roman"/>
                <a:cs typeface="Times New Roman"/>
              </a:rPr>
              <a:t>, </a:t>
            </a:r>
            <a:r>
              <a:rPr dirty="0" sz="2000" spc="-10" b="1">
                <a:solidFill>
                  <a:srgbClr val="6600FF"/>
                </a:solidFill>
                <a:latin typeface="Times New Roman"/>
                <a:cs typeface="Times New Roman"/>
              </a:rPr>
              <a:t>c)=2</a:t>
            </a:r>
            <a:r>
              <a:rPr dirty="0" sz="2000" spc="-10" b="1">
                <a:latin typeface="宋体"/>
                <a:cs typeface="宋体"/>
              </a:rPr>
              <a:t>，而</a:t>
            </a:r>
            <a:r>
              <a:rPr dirty="0" sz="2000" b="1">
                <a:solidFill>
                  <a:srgbClr val="6600FF"/>
                </a:solidFill>
                <a:latin typeface="Times New Roman"/>
                <a:cs typeface="Times New Roman"/>
              </a:rPr>
              <a:t>d-</a:t>
            </a:r>
            <a:r>
              <a:rPr dirty="0" sz="2000" spc="-10" b="1">
                <a:solidFill>
                  <a:srgbClr val="6600FF"/>
                </a:solidFill>
                <a:latin typeface="Times New Roman"/>
                <a:cs typeface="Times New Roman"/>
              </a:rPr>
              <a:t>b=-</a:t>
            </a:r>
            <a:r>
              <a:rPr dirty="0" sz="2000" b="1">
                <a:solidFill>
                  <a:srgbClr val="6600FF"/>
                </a:solidFill>
                <a:latin typeface="Times New Roman"/>
                <a:cs typeface="Times New Roman"/>
              </a:rPr>
              <a:t>3</a:t>
            </a:r>
            <a:r>
              <a:rPr dirty="0" sz="2000" spc="-50" b="1">
                <a:latin typeface="宋体"/>
                <a:cs typeface="宋体"/>
              </a:rPr>
              <a:t>。</a:t>
            </a:r>
            <a:endParaRPr sz="2000">
              <a:latin typeface="宋体"/>
              <a:cs typeface="宋体"/>
            </a:endParaRPr>
          </a:p>
        </p:txBody>
      </p:sp>
      <p:sp>
        <p:nvSpPr>
          <p:cNvPr id="9" name="object 9" descr=""/>
          <p:cNvSpPr txBox="1"/>
          <p:nvPr/>
        </p:nvSpPr>
        <p:spPr>
          <a:xfrm>
            <a:off x="858723" y="5150053"/>
            <a:ext cx="11275060" cy="331470"/>
          </a:xfrm>
          <a:prstGeom prst="rect">
            <a:avLst/>
          </a:prstGeom>
        </p:spPr>
        <p:txBody>
          <a:bodyPr wrap="square" lIns="0" tIns="13335" rIns="0" bIns="0" rtlCol="0" vert="horz">
            <a:spAutoFit/>
          </a:bodyPr>
          <a:lstStyle/>
          <a:p>
            <a:pPr marL="12700">
              <a:lnSpc>
                <a:spcPct val="100000"/>
              </a:lnSpc>
              <a:spcBef>
                <a:spcPts val="105"/>
              </a:spcBef>
            </a:pPr>
            <a:r>
              <a:rPr dirty="0" sz="2000" spc="-15" b="1">
                <a:latin typeface="宋体"/>
                <a:cs typeface="宋体"/>
              </a:rPr>
              <a:t>由于</a:t>
            </a:r>
            <a:r>
              <a:rPr dirty="0" sz="2000" b="1">
                <a:solidFill>
                  <a:srgbClr val="6600FF"/>
                </a:solidFill>
                <a:latin typeface="Times New Roman"/>
                <a:cs typeface="Times New Roman"/>
              </a:rPr>
              <a:t>2</a:t>
            </a:r>
            <a:r>
              <a:rPr dirty="0" sz="2000" spc="-15" b="1">
                <a:latin typeface="宋体"/>
                <a:cs typeface="宋体"/>
              </a:rPr>
              <a:t>不能整除</a:t>
            </a:r>
            <a:r>
              <a:rPr dirty="0" sz="2000" spc="-10" b="1">
                <a:solidFill>
                  <a:srgbClr val="6600FF"/>
                </a:solidFill>
                <a:latin typeface="Times New Roman"/>
                <a:cs typeface="Times New Roman"/>
              </a:rPr>
              <a:t>-3</a:t>
            </a:r>
            <a:r>
              <a:rPr dirty="0" sz="2000" spc="-20" b="1">
                <a:latin typeface="宋体"/>
                <a:cs typeface="宋体"/>
              </a:rPr>
              <a:t>，因此没有存储别名，即无论</a:t>
            </a:r>
            <a:r>
              <a:rPr dirty="0" sz="2000" spc="-10" b="1">
                <a:solidFill>
                  <a:srgbClr val="6600FF"/>
                </a:solidFill>
                <a:latin typeface="Times New Roman"/>
                <a:cs typeface="Times New Roman"/>
              </a:rPr>
              <a:t>i</a:t>
            </a:r>
            <a:r>
              <a:rPr dirty="0" sz="2000" spc="-15" b="1">
                <a:latin typeface="宋体"/>
                <a:cs typeface="宋体"/>
              </a:rPr>
              <a:t>取何值，</a:t>
            </a:r>
            <a:r>
              <a:rPr dirty="0" sz="2000" spc="-10" b="1">
                <a:solidFill>
                  <a:srgbClr val="6600FF"/>
                </a:solidFill>
                <a:latin typeface="Times New Roman"/>
                <a:cs typeface="Times New Roman"/>
              </a:rPr>
              <a:t>x[2*i+3]</a:t>
            </a:r>
            <a:r>
              <a:rPr dirty="0" sz="2000" spc="-15" b="1">
                <a:latin typeface="宋体"/>
                <a:cs typeface="宋体"/>
              </a:rPr>
              <a:t>与</a:t>
            </a:r>
            <a:r>
              <a:rPr dirty="0" sz="2000" spc="-10" b="1">
                <a:solidFill>
                  <a:srgbClr val="6600FF"/>
                </a:solidFill>
                <a:latin typeface="Times New Roman"/>
                <a:cs typeface="Times New Roman"/>
              </a:rPr>
              <a:t>x[2*i]</a:t>
            </a:r>
            <a:r>
              <a:rPr dirty="0" sz="2000" spc="-20" b="1">
                <a:latin typeface="宋体"/>
                <a:cs typeface="宋体"/>
              </a:rPr>
              <a:t>都将表示数组</a:t>
            </a:r>
            <a:r>
              <a:rPr dirty="0" sz="2000" b="1">
                <a:solidFill>
                  <a:srgbClr val="6600FF"/>
                </a:solidFill>
                <a:latin typeface="Times New Roman"/>
                <a:cs typeface="Times New Roman"/>
              </a:rPr>
              <a:t>x</a:t>
            </a:r>
            <a:r>
              <a:rPr dirty="0" sz="2000" spc="-25" b="1">
                <a:latin typeface="宋体"/>
                <a:cs typeface="宋体"/>
              </a:rPr>
              <a:t>的不同元素。</a:t>
            </a:r>
            <a:endParaRPr sz="2000">
              <a:latin typeface="宋体"/>
              <a:cs typeface="宋体"/>
            </a:endParaRPr>
          </a:p>
        </p:txBody>
      </p:sp>
      <p:sp>
        <p:nvSpPr>
          <p:cNvPr id="10" name="object 10"/>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239520" algn="l"/>
                <a:tab pos="10788015" algn="l"/>
              </a:tabLst>
            </a:pPr>
            <a:r>
              <a:rPr dirty="0"/>
              <a:t>	6.5</a:t>
            </a:r>
            <a:r>
              <a:rPr dirty="0" spc="-15"/>
              <a:t> </a:t>
            </a:r>
            <a:r>
              <a:rPr dirty="0"/>
              <a:t>开发更</a:t>
            </a:r>
            <a:r>
              <a:rPr dirty="0" spc="-25"/>
              <a:t>多</a:t>
            </a:r>
            <a:r>
              <a:rPr dirty="0"/>
              <a:t>的指</a:t>
            </a:r>
            <a:r>
              <a:rPr dirty="0" spc="-20"/>
              <a:t>令</a:t>
            </a:r>
            <a:r>
              <a:rPr dirty="0"/>
              <a:t>级并</a:t>
            </a:r>
            <a:r>
              <a:rPr dirty="0" spc="-50"/>
              <a:t>行</a:t>
            </a:r>
            <a:r>
              <a:rPr dirty="0"/>
              <a:t>	</a:t>
            </a:r>
          </a:p>
        </p:txBody>
      </p:sp>
      <p:sp>
        <p:nvSpPr>
          <p:cNvPr id="11" name="object 11" descr=""/>
          <p:cNvSpPr txBox="1"/>
          <p:nvPr/>
        </p:nvSpPr>
        <p:spPr>
          <a:xfrm>
            <a:off x="413715" y="635253"/>
            <a:ext cx="11216005" cy="2864485"/>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FF0000"/>
                </a:solidFill>
                <a:latin typeface="宋体"/>
                <a:cs typeface="宋体"/>
              </a:rPr>
              <a:t>若</a:t>
            </a:r>
            <a:r>
              <a:rPr dirty="0" sz="2400">
                <a:solidFill>
                  <a:srgbClr val="FF0000"/>
                </a:solidFill>
                <a:latin typeface="Times New Roman"/>
                <a:cs typeface="Times New Roman"/>
              </a:rPr>
              <a:t>a</a:t>
            </a:r>
            <a:r>
              <a:rPr dirty="0" sz="2400">
                <a:solidFill>
                  <a:srgbClr val="FF0000"/>
                </a:solidFill>
                <a:latin typeface="宋体"/>
                <a:cs typeface="宋体"/>
              </a:rPr>
              <a:t>×</a:t>
            </a:r>
            <a:r>
              <a:rPr dirty="0" sz="2400">
                <a:solidFill>
                  <a:srgbClr val="FF0000"/>
                </a:solidFill>
                <a:latin typeface="Times New Roman"/>
                <a:cs typeface="Times New Roman"/>
              </a:rPr>
              <a:t>i+b=</a:t>
            </a:r>
            <a:r>
              <a:rPr dirty="0" sz="2400" spc="15">
                <a:solidFill>
                  <a:srgbClr val="FF0000"/>
                </a:solidFill>
                <a:latin typeface="Times New Roman"/>
                <a:cs typeface="Times New Roman"/>
              </a:rPr>
              <a:t> </a:t>
            </a:r>
            <a:r>
              <a:rPr dirty="0" sz="2400">
                <a:solidFill>
                  <a:srgbClr val="FF0000"/>
                </a:solidFill>
                <a:latin typeface="Times New Roman"/>
                <a:cs typeface="Times New Roman"/>
              </a:rPr>
              <a:t>c</a:t>
            </a:r>
            <a:r>
              <a:rPr dirty="0" sz="2400">
                <a:solidFill>
                  <a:srgbClr val="FF0000"/>
                </a:solidFill>
                <a:latin typeface="宋体"/>
                <a:cs typeface="宋体"/>
              </a:rPr>
              <a:t>×</a:t>
            </a:r>
            <a:r>
              <a:rPr dirty="0" sz="2400">
                <a:solidFill>
                  <a:srgbClr val="FF0000"/>
                </a:solidFill>
                <a:latin typeface="Times New Roman"/>
                <a:cs typeface="Times New Roman"/>
              </a:rPr>
              <a:t>k+d</a:t>
            </a:r>
            <a:r>
              <a:rPr dirty="0" sz="2400">
                <a:solidFill>
                  <a:srgbClr val="FF0000"/>
                </a:solidFill>
                <a:latin typeface="宋体"/>
                <a:cs typeface="宋体"/>
              </a:rPr>
              <a:t>，访问同一个因素，五个变量已知情况下，编译器利用</a:t>
            </a:r>
            <a:r>
              <a:rPr dirty="0" sz="2400" spc="-35">
                <a:solidFill>
                  <a:srgbClr val="FF0000"/>
                </a:solidFill>
                <a:latin typeface="Times New Roman"/>
                <a:cs typeface="Times New Roman"/>
              </a:rPr>
              <a:t>GCD</a:t>
            </a:r>
            <a:r>
              <a:rPr dirty="0" sz="2400" spc="-20">
                <a:solidFill>
                  <a:srgbClr val="FF0000"/>
                </a:solidFill>
                <a:latin typeface="宋体"/>
                <a:cs typeface="宋体"/>
              </a:rPr>
              <a:t>测试法</a:t>
            </a:r>
            <a:endParaRPr sz="2400">
              <a:latin typeface="宋体"/>
              <a:cs typeface="宋体"/>
            </a:endParaRPr>
          </a:p>
          <a:p>
            <a:pPr marL="12700">
              <a:lnSpc>
                <a:spcPct val="100000"/>
              </a:lnSpc>
              <a:spcBef>
                <a:spcPts val="45"/>
              </a:spcBef>
            </a:pPr>
            <a:r>
              <a:rPr dirty="0" sz="2400" spc="-5">
                <a:solidFill>
                  <a:srgbClr val="FF0000"/>
                </a:solidFill>
                <a:latin typeface="宋体"/>
                <a:cs typeface="宋体"/>
              </a:rPr>
              <a:t>，去判断是否存在存储器同名</a:t>
            </a:r>
            <a:endParaRPr sz="2400">
              <a:latin typeface="宋体"/>
              <a:cs typeface="宋体"/>
            </a:endParaRPr>
          </a:p>
          <a:p>
            <a:pPr marL="1097915" indent="-455930">
              <a:lnSpc>
                <a:spcPct val="100000"/>
              </a:lnSpc>
              <a:spcBef>
                <a:spcPts val="550"/>
              </a:spcBef>
              <a:buClr>
                <a:srgbClr val="40458B"/>
              </a:buClr>
              <a:buSzPct val="89285"/>
              <a:buFont typeface="Wingdings"/>
              <a:buChar char=""/>
              <a:tabLst>
                <a:tab pos="1097915" algn="l"/>
              </a:tabLst>
            </a:pPr>
            <a:r>
              <a:rPr dirty="0" sz="2800" spc="-25">
                <a:solidFill>
                  <a:srgbClr val="0000CC"/>
                </a:solidFill>
                <a:latin typeface="Tahoma"/>
                <a:cs typeface="Tahoma"/>
              </a:rPr>
              <a:t>GCD</a:t>
            </a:r>
            <a:r>
              <a:rPr dirty="0" sz="2800" spc="-25">
                <a:solidFill>
                  <a:srgbClr val="0000CC"/>
                </a:solidFill>
                <a:latin typeface="黑体"/>
                <a:cs typeface="黑体"/>
              </a:rPr>
              <a:t>测试法（</a:t>
            </a:r>
            <a:r>
              <a:rPr dirty="0" sz="2800" spc="-35">
                <a:solidFill>
                  <a:srgbClr val="0000CC"/>
                </a:solidFill>
                <a:latin typeface="黑体"/>
                <a:cs typeface="黑体"/>
              </a:rPr>
              <a:t>最大公因数测试法检测循环中是否有存储重名</a:t>
            </a:r>
            <a:r>
              <a:rPr dirty="0" sz="2800" spc="-50">
                <a:solidFill>
                  <a:srgbClr val="0000CC"/>
                </a:solidFill>
                <a:latin typeface="黑体"/>
                <a:cs typeface="黑体"/>
              </a:rPr>
              <a:t>）</a:t>
            </a:r>
            <a:endParaRPr sz="2800">
              <a:latin typeface="黑体"/>
              <a:cs typeface="黑体"/>
            </a:endParaRPr>
          </a:p>
          <a:p>
            <a:pPr lvl="1" marL="1382395" indent="-455295">
              <a:lnSpc>
                <a:spcPct val="100000"/>
              </a:lnSpc>
              <a:spcBef>
                <a:spcPts val="1005"/>
              </a:spcBef>
              <a:buClr>
                <a:srgbClr val="4668F5"/>
              </a:buClr>
              <a:buSzPct val="60000"/>
              <a:buFont typeface="Wingdings"/>
              <a:buChar char=""/>
              <a:tabLst>
                <a:tab pos="1382395" algn="l"/>
              </a:tabLst>
            </a:pPr>
            <a:r>
              <a:rPr dirty="0" sz="2000" spc="-20" b="1">
                <a:solidFill>
                  <a:srgbClr val="D50092"/>
                </a:solidFill>
                <a:latin typeface="宋体"/>
                <a:cs typeface="宋体"/>
              </a:rPr>
              <a:t>算法描述</a:t>
            </a:r>
            <a:endParaRPr sz="2000">
              <a:latin typeface="宋体"/>
              <a:cs typeface="宋体"/>
            </a:endParaRPr>
          </a:p>
          <a:p>
            <a:pPr lvl="2" marL="1763395" indent="-379095">
              <a:lnSpc>
                <a:spcPct val="100000"/>
              </a:lnSpc>
              <a:spcBef>
                <a:spcPts val="900"/>
              </a:spcBef>
              <a:buClr>
                <a:srgbClr val="FF09FF"/>
              </a:buClr>
              <a:buSzPct val="63888"/>
              <a:buFont typeface="Wingdings"/>
              <a:buChar char=""/>
              <a:tabLst>
                <a:tab pos="1763395" algn="l"/>
              </a:tabLst>
            </a:pPr>
            <a:r>
              <a:rPr dirty="0" sz="1800" spc="-20" b="1">
                <a:solidFill>
                  <a:srgbClr val="006FC0"/>
                </a:solidFill>
                <a:latin typeface="宋体"/>
                <a:cs typeface="宋体"/>
              </a:rPr>
              <a:t>如果</a:t>
            </a:r>
            <a:r>
              <a:rPr dirty="0" sz="1800" b="1">
                <a:solidFill>
                  <a:srgbClr val="6600FF"/>
                </a:solidFill>
                <a:latin typeface="Times New Roman"/>
                <a:cs typeface="Times New Roman"/>
              </a:rPr>
              <a:t>GCD(c,</a:t>
            </a:r>
            <a:r>
              <a:rPr dirty="0" sz="1800" spc="95" b="1">
                <a:solidFill>
                  <a:srgbClr val="6600FF"/>
                </a:solidFill>
                <a:latin typeface="Times New Roman"/>
                <a:cs typeface="Times New Roman"/>
              </a:rPr>
              <a:t> </a:t>
            </a:r>
            <a:r>
              <a:rPr dirty="0" sz="1800" b="1">
                <a:solidFill>
                  <a:srgbClr val="6600FF"/>
                </a:solidFill>
                <a:latin typeface="Times New Roman"/>
                <a:cs typeface="Times New Roman"/>
              </a:rPr>
              <a:t>a)</a:t>
            </a:r>
            <a:r>
              <a:rPr dirty="0" sz="1800" spc="-15" b="1">
                <a:solidFill>
                  <a:srgbClr val="006FC0"/>
                </a:solidFill>
                <a:latin typeface="宋体"/>
                <a:cs typeface="宋体"/>
              </a:rPr>
              <a:t>可以整除</a:t>
            </a:r>
            <a:r>
              <a:rPr dirty="0" sz="1800" spc="-10" b="1">
                <a:solidFill>
                  <a:srgbClr val="6600FF"/>
                </a:solidFill>
                <a:latin typeface="Times New Roman"/>
                <a:cs typeface="Times New Roman"/>
              </a:rPr>
              <a:t>(d-b)</a:t>
            </a:r>
            <a:r>
              <a:rPr dirty="0" sz="1800" spc="-25" b="1">
                <a:solidFill>
                  <a:srgbClr val="006FC0"/>
                </a:solidFill>
                <a:latin typeface="宋体"/>
                <a:cs typeface="宋体"/>
              </a:rPr>
              <a:t>，那么有可能存在存储别名。</a:t>
            </a:r>
            <a:endParaRPr sz="1800">
              <a:latin typeface="宋体"/>
              <a:cs typeface="宋体"/>
            </a:endParaRPr>
          </a:p>
          <a:p>
            <a:pPr lvl="2" marL="1763395" indent="-379095">
              <a:lnSpc>
                <a:spcPct val="100000"/>
              </a:lnSpc>
              <a:spcBef>
                <a:spcPts val="865"/>
              </a:spcBef>
              <a:buClr>
                <a:srgbClr val="FF09FF"/>
              </a:buClr>
              <a:buSzPct val="63888"/>
              <a:buFont typeface="Wingdings"/>
              <a:buChar char=""/>
              <a:tabLst>
                <a:tab pos="1763395" algn="l"/>
              </a:tabLst>
            </a:pPr>
            <a:r>
              <a:rPr dirty="0" sz="1800" spc="-10" b="1">
                <a:solidFill>
                  <a:srgbClr val="006FC0"/>
                </a:solidFill>
                <a:latin typeface="宋体"/>
                <a:cs typeface="宋体"/>
              </a:rPr>
              <a:t>如果</a:t>
            </a:r>
            <a:r>
              <a:rPr dirty="0" sz="1800" spc="-25" b="1">
                <a:solidFill>
                  <a:srgbClr val="6600FF"/>
                </a:solidFill>
                <a:latin typeface="Times New Roman"/>
                <a:cs typeface="Times New Roman"/>
              </a:rPr>
              <a:t>GCD</a:t>
            </a:r>
            <a:r>
              <a:rPr dirty="0" sz="1800" spc="-10" b="1">
                <a:solidFill>
                  <a:srgbClr val="006FC0"/>
                </a:solidFill>
                <a:latin typeface="宋体"/>
                <a:cs typeface="宋体"/>
              </a:rPr>
              <a:t>测试的结果为假（不能整除），</a:t>
            </a:r>
            <a:r>
              <a:rPr dirty="0" sz="1800" spc="-15" b="1">
                <a:solidFill>
                  <a:srgbClr val="006FC0"/>
                </a:solidFill>
                <a:latin typeface="宋体"/>
                <a:cs typeface="宋体"/>
              </a:rPr>
              <a:t>那么一定没有存储别名存在。</a:t>
            </a:r>
            <a:endParaRPr sz="1800">
              <a:latin typeface="宋体"/>
              <a:cs typeface="宋体"/>
            </a:endParaRPr>
          </a:p>
          <a:p>
            <a:pPr marL="520065">
              <a:lnSpc>
                <a:spcPct val="100000"/>
              </a:lnSpc>
              <a:spcBef>
                <a:spcPts val="745"/>
              </a:spcBef>
            </a:pPr>
            <a:r>
              <a:rPr dirty="0" sz="2000" spc="-10" b="1">
                <a:solidFill>
                  <a:srgbClr val="E14B04"/>
                </a:solidFill>
                <a:latin typeface="宋体"/>
                <a:cs typeface="宋体"/>
              </a:rPr>
              <a:t>例</a:t>
            </a:r>
            <a:r>
              <a:rPr dirty="0" sz="2000" b="1">
                <a:solidFill>
                  <a:srgbClr val="E14B04"/>
                </a:solidFill>
                <a:latin typeface="Times New Roman"/>
                <a:cs typeface="Times New Roman"/>
              </a:rPr>
              <a:t>6.9</a:t>
            </a:r>
            <a:r>
              <a:rPr dirty="0" sz="2000" spc="-5" b="1">
                <a:solidFill>
                  <a:srgbClr val="E14B04"/>
                </a:solidFill>
                <a:latin typeface="Times New Roman"/>
                <a:cs typeface="Times New Roman"/>
              </a:rPr>
              <a:t> </a:t>
            </a:r>
            <a:r>
              <a:rPr dirty="0" sz="2000" spc="-10" b="1">
                <a:latin typeface="宋体"/>
                <a:cs typeface="宋体"/>
              </a:rPr>
              <a:t>使用</a:t>
            </a:r>
            <a:r>
              <a:rPr dirty="0" sz="2000" b="1">
                <a:latin typeface="Times New Roman"/>
                <a:cs typeface="Times New Roman"/>
              </a:rPr>
              <a:t>GCD</a:t>
            </a:r>
            <a:r>
              <a:rPr dirty="0" sz="2000" spc="-25" b="1">
                <a:latin typeface="宋体"/>
                <a:cs typeface="宋体"/>
              </a:rPr>
              <a:t>测试方法判断下面的循环中是否存在存储别名。</a:t>
            </a:r>
            <a:endParaRPr sz="2000">
              <a:latin typeface="宋体"/>
              <a:cs typeface="宋体"/>
            </a:endParaRPr>
          </a:p>
        </p:txBody>
      </p:sp>
      <p:sp>
        <p:nvSpPr>
          <p:cNvPr id="12" name="object 12" descr=""/>
          <p:cNvSpPr txBox="1"/>
          <p:nvPr/>
        </p:nvSpPr>
        <p:spPr>
          <a:xfrm>
            <a:off x="8984106" y="3456813"/>
            <a:ext cx="2494915" cy="391160"/>
          </a:xfrm>
          <a:prstGeom prst="rect">
            <a:avLst/>
          </a:prstGeom>
        </p:spPr>
        <p:txBody>
          <a:bodyPr wrap="square" lIns="0" tIns="12700" rIns="0" bIns="0" rtlCol="0" vert="horz">
            <a:spAutoFit/>
          </a:bodyPr>
          <a:lstStyle/>
          <a:p>
            <a:pPr marL="12700">
              <a:lnSpc>
                <a:spcPct val="100000"/>
              </a:lnSpc>
              <a:spcBef>
                <a:spcPts val="100"/>
              </a:spcBef>
              <a:tabLst>
                <a:tab pos="2176780" algn="l"/>
              </a:tabLst>
            </a:pPr>
            <a:r>
              <a:rPr dirty="0" sz="2400">
                <a:solidFill>
                  <a:srgbClr val="6600FF"/>
                </a:solidFill>
                <a:latin typeface="Times New Roman"/>
                <a:cs typeface="Times New Roman"/>
              </a:rPr>
              <a:t>a</a:t>
            </a:r>
            <a:r>
              <a:rPr dirty="0" sz="2400">
                <a:solidFill>
                  <a:srgbClr val="6600FF"/>
                </a:solidFill>
                <a:latin typeface="宋体"/>
                <a:cs typeface="宋体"/>
              </a:rPr>
              <a:t>×</a:t>
            </a:r>
            <a:r>
              <a:rPr dirty="0" sz="2400">
                <a:solidFill>
                  <a:srgbClr val="6600FF"/>
                </a:solidFill>
                <a:latin typeface="Times New Roman"/>
                <a:cs typeface="Times New Roman"/>
              </a:rPr>
              <a:t>i+b=</a:t>
            </a:r>
            <a:r>
              <a:rPr dirty="0" sz="2400" spc="-25">
                <a:solidFill>
                  <a:srgbClr val="6600FF"/>
                </a:solidFill>
                <a:latin typeface="Times New Roman"/>
                <a:cs typeface="Times New Roman"/>
              </a:rPr>
              <a:t> </a:t>
            </a:r>
            <a:r>
              <a:rPr dirty="0" sz="2400" spc="-10">
                <a:solidFill>
                  <a:srgbClr val="6600FF"/>
                </a:solidFill>
                <a:latin typeface="Times New Roman"/>
                <a:cs typeface="Times New Roman"/>
              </a:rPr>
              <a:t>c</a:t>
            </a:r>
            <a:r>
              <a:rPr dirty="0" sz="2400" spc="-10">
                <a:solidFill>
                  <a:srgbClr val="6600FF"/>
                </a:solidFill>
                <a:latin typeface="宋体"/>
                <a:cs typeface="宋体"/>
              </a:rPr>
              <a:t>×</a:t>
            </a:r>
            <a:r>
              <a:rPr dirty="0" sz="2400" spc="-10">
                <a:solidFill>
                  <a:srgbClr val="6600FF"/>
                </a:solidFill>
                <a:latin typeface="Times New Roman"/>
                <a:cs typeface="Times New Roman"/>
              </a:rPr>
              <a:t>k+d</a:t>
            </a:r>
            <a:r>
              <a:rPr dirty="0" sz="2400">
                <a:solidFill>
                  <a:srgbClr val="6600FF"/>
                </a:solidFill>
                <a:latin typeface="Times New Roman"/>
                <a:cs typeface="Times New Roman"/>
              </a:rPr>
              <a:t>	</a:t>
            </a:r>
            <a:r>
              <a:rPr dirty="0" sz="2400" spc="-50">
                <a:solidFill>
                  <a:srgbClr val="6600FF"/>
                </a:solidFill>
                <a:latin typeface="宋体"/>
                <a:cs typeface="宋体"/>
              </a:rPr>
              <a:t>？</a:t>
            </a:r>
            <a:endParaRPr sz="2400">
              <a:latin typeface="宋体"/>
              <a:cs typeface="宋体"/>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90/89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78739" y="738276"/>
            <a:ext cx="11772265" cy="2628900"/>
          </a:xfrm>
          <a:prstGeom prst="rect">
            <a:avLst/>
          </a:prstGeom>
        </p:spPr>
        <p:txBody>
          <a:bodyPr wrap="square" lIns="0" tIns="140335" rIns="0" bIns="0" rtlCol="0" vert="horz">
            <a:spAutoFit/>
          </a:bodyPr>
          <a:lstStyle/>
          <a:p>
            <a:pPr algn="just" marL="467359" indent="-454659">
              <a:lnSpc>
                <a:spcPct val="100000"/>
              </a:lnSpc>
              <a:spcBef>
                <a:spcPts val="1105"/>
              </a:spcBef>
              <a:buClr>
                <a:srgbClr val="40458B"/>
              </a:buClr>
              <a:buFont typeface="Tahoma"/>
              <a:buAutoNum type="arabicPeriod" startAt="3"/>
              <a:tabLst>
                <a:tab pos="467359" algn="l"/>
              </a:tabLst>
            </a:pPr>
            <a:r>
              <a:rPr dirty="0" sz="2800" spc="-40">
                <a:solidFill>
                  <a:srgbClr val="E14B04"/>
                </a:solidFill>
                <a:latin typeface="黑体"/>
                <a:cs typeface="黑体"/>
              </a:rPr>
              <a:t>数据相关分析</a:t>
            </a:r>
            <a:endParaRPr sz="2800">
              <a:latin typeface="黑体"/>
              <a:cs typeface="黑体"/>
            </a:endParaRPr>
          </a:p>
          <a:p>
            <a:pPr algn="just" lvl="1" marL="1096645" marR="5080" indent="-455295">
              <a:lnSpc>
                <a:spcPct val="110000"/>
              </a:lnSpc>
              <a:spcBef>
                <a:spcPts val="675"/>
              </a:spcBef>
              <a:buClr>
                <a:srgbClr val="40458B"/>
              </a:buClr>
              <a:buSzPct val="89285"/>
              <a:buFont typeface="Wingdings"/>
              <a:buChar char=""/>
              <a:tabLst>
                <a:tab pos="1097915" algn="l"/>
              </a:tabLst>
            </a:pPr>
            <a:r>
              <a:rPr dirty="0" sz="2800" spc="-40">
                <a:solidFill>
                  <a:srgbClr val="0000CC"/>
                </a:solidFill>
                <a:latin typeface="黑体"/>
                <a:cs typeface="黑体"/>
              </a:rPr>
              <a:t>除了检测指令之间是否存在数据相关外，编译器还会将识别出的数据	相关进一步细分为真数据相关、输出相关和反相关等不同类型，以便	利用不同的优化技术消除这些相关。</a:t>
            </a:r>
            <a:endParaRPr sz="2800">
              <a:latin typeface="黑体"/>
              <a:cs typeface="黑体"/>
            </a:endParaRPr>
          </a:p>
          <a:p>
            <a:pPr algn="just" lvl="1" marL="1097280" indent="-455295">
              <a:lnSpc>
                <a:spcPct val="100000"/>
              </a:lnSpc>
              <a:spcBef>
                <a:spcPts val="1005"/>
              </a:spcBef>
              <a:buClr>
                <a:srgbClr val="40458B"/>
              </a:buClr>
              <a:buSzPct val="89285"/>
              <a:buFont typeface="Wingdings"/>
              <a:buChar char=""/>
              <a:tabLst>
                <a:tab pos="1097280" algn="l"/>
              </a:tabLst>
            </a:pPr>
            <a:r>
              <a:rPr dirty="0" sz="2800" spc="-35">
                <a:solidFill>
                  <a:srgbClr val="0000CC"/>
                </a:solidFill>
                <a:latin typeface="黑体"/>
                <a:cs typeface="黑体"/>
              </a:rPr>
              <a:t>常用的优化有</a:t>
            </a:r>
            <a:r>
              <a:rPr dirty="0" sz="2800" spc="-35">
                <a:solidFill>
                  <a:srgbClr val="FF0000"/>
                </a:solidFill>
                <a:latin typeface="黑体"/>
                <a:cs typeface="黑体"/>
              </a:rPr>
              <a:t>重命名、值传播、高度消减</a:t>
            </a:r>
            <a:r>
              <a:rPr dirty="0" sz="2800" spc="-45">
                <a:solidFill>
                  <a:srgbClr val="0000CC"/>
                </a:solidFill>
                <a:latin typeface="黑体"/>
                <a:cs typeface="黑体"/>
              </a:rPr>
              <a:t>等。</a:t>
            </a:r>
            <a:endParaRPr sz="2800">
              <a:latin typeface="黑体"/>
              <a:cs typeface="黑体"/>
            </a:endParaRPr>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239520" algn="l"/>
                <a:tab pos="10788015" algn="l"/>
              </a:tabLst>
            </a:pPr>
            <a:r>
              <a:rPr dirty="0"/>
              <a:t>	6.5</a:t>
            </a:r>
            <a:r>
              <a:rPr dirty="0" spc="-15"/>
              <a:t> </a:t>
            </a:r>
            <a:r>
              <a:rPr dirty="0"/>
              <a:t>开发更</a:t>
            </a:r>
            <a:r>
              <a:rPr dirty="0" spc="-25"/>
              <a:t>多</a:t>
            </a:r>
            <a:r>
              <a:rPr dirty="0"/>
              <a:t>的指</a:t>
            </a:r>
            <a:r>
              <a:rPr dirty="0" spc="-20"/>
              <a:t>令</a:t>
            </a:r>
            <a:r>
              <a:rPr dirty="0"/>
              <a:t>级并</a:t>
            </a:r>
            <a:r>
              <a:rPr dirty="0" spc="-50"/>
              <a:t>行</a:t>
            </a:r>
            <a:r>
              <a:rPr dirty="0"/>
              <a:t>	</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91/89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4775" y="563651"/>
            <a:ext cx="8460105" cy="1880235"/>
          </a:xfrm>
          <a:prstGeom prst="rect">
            <a:avLst/>
          </a:prstGeom>
        </p:spPr>
        <p:txBody>
          <a:bodyPr wrap="square" lIns="0" tIns="140335" rIns="0" bIns="0" rtlCol="0" vert="horz">
            <a:spAutoFit/>
          </a:bodyPr>
          <a:lstStyle/>
          <a:p>
            <a:pPr marL="196850">
              <a:lnSpc>
                <a:spcPct val="100000"/>
              </a:lnSpc>
              <a:spcBef>
                <a:spcPts val="1105"/>
              </a:spcBef>
            </a:pPr>
            <a:r>
              <a:rPr dirty="0" sz="2800" spc="-40">
                <a:solidFill>
                  <a:srgbClr val="FF0000"/>
                </a:solidFill>
                <a:latin typeface="黑体"/>
                <a:cs typeface="黑体"/>
              </a:rPr>
              <a:t>数据相关分析优化方法</a:t>
            </a:r>
            <a:endParaRPr sz="2800">
              <a:latin typeface="黑体"/>
              <a:cs typeface="黑体"/>
            </a:endParaRPr>
          </a:p>
          <a:p>
            <a:pPr marL="652145" indent="-455295">
              <a:lnSpc>
                <a:spcPct val="100000"/>
              </a:lnSpc>
              <a:spcBef>
                <a:spcPts val="1010"/>
              </a:spcBef>
              <a:buClr>
                <a:srgbClr val="40458B"/>
              </a:buClr>
              <a:buSzPct val="89285"/>
              <a:buFont typeface="Wingdings"/>
              <a:buChar char=""/>
              <a:tabLst>
                <a:tab pos="652145" algn="l"/>
              </a:tabLst>
            </a:pPr>
            <a:r>
              <a:rPr dirty="0" sz="2800" spc="-40">
                <a:solidFill>
                  <a:srgbClr val="0000CC"/>
                </a:solidFill>
                <a:latin typeface="黑体"/>
                <a:cs typeface="黑体"/>
              </a:rPr>
              <a:t>重命名优化实例</a:t>
            </a:r>
            <a:endParaRPr sz="2800">
              <a:latin typeface="黑体"/>
              <a:cs typeface="黑体"/>
            </a:endParaRPr>
          </a:p>
          <a:p>
            <a:pPr marL="12700">
              <a:lnSpc>
                <a:spcPct val="100000"/>
              </a:lnSpc>
              <a:spcBef>
                <a:spcPts val="825"/>
              </a:spcBef>
            </a:pPr>
            <a:r>
              <a:rPr dirty="0" sz="2000" spc="-15" b="1">
                <a:solidFill>
                  <a:srgbClr val="E14B04"/>
                </a:solidFill>
                <a:latin typeface="宋体"/>
                <a:cs typeface="宋体"/>
              </a:rPr>
              <a:t>例</a:t>
            </a:r>
            <a:r>
              <a:rPr dirty="0" sz="2000" b="1">
                <a:solidFill>
                  <a:srgbClr val="E14B04"/>
                </a:solidFill>
                <a:latin typeface="Times New Roman"/>
                <a:cs typeface="Times New Roman"/>
              </a:rPr>
              <a:t>6.10</a:t>
            </a:r>
            <a:r>
              <a:rPr dirty="0" sz="2000" spc="-20" b="1">
                <a:solidFill>
                  <a:srgbClr val="E14B04"/>
                </a:solidFill>
                <a:latin typeface="Times New Roman"/>
                <a:cs typeface="Times New Roman"/>
              </a:rPr>
              <a:t> </a:t>
            </a:r>
            <a:r>
              <a:rPr dirty="0" sz="2000" spc="-30" b="1">
                <a:latin typeface="宋体"/>
                <a:cs typeface="宋体"/>
              </a:rPr>
              <a:t>找出下面循环中的所有数据相关，指出它们究竟是真数据相关、输出</a:t>
            </a:r>
            <a:endParaRPr sz="2000">
              <a:latin typeface="宋体"/>
              <a:cs typeface="宋体"/>
            </a:endParaRPr>
          </a:p>
          <a:p>
            <a:pPr marL="22860">
              <a:lnSpc>
                <a:spcPct val="100000"/>
              </a:lnSpc>
              <a:spcBef>
                <a:spcPts val="240"/>
              </a:spcBef>
            </a:pPr>
            <a:r>
              <a:rPr dirty="0" sz="2000" spc="-25" b="1">
                <a:latin typeface="宋体"/>
                <a:cs typeface="宋体"/>
              </a:rPr>
              <a:t>相关、还是反相关，并利用重命名技术消除其中的输出相关和反相关。</a:t>
            </a:r>
            <a:endParaRPr sz="2000">
              <a:latin typeface="宋体"/>
              <a:cs typeface="宋体"/>
            </a:endParaRPr>
          </a:p>
        </p:txBody>
      </p:sp>
      <p:sp>
        <p:nvSpPr>
          <p:cNvPr id="9" name="object 9" descr=""/>
          <p:cNvSpPr txBox="1"/>
          <p:nvPr/>
        </p:nvSpPr>
        <p:spPr>
          <a:xfrm>
            <a:off x="464616" y="2571750"/>
            <a:ext cx="3366135" cy="330835"/>
          </a:xfrm>
          <a:prstGeom prst="rect">
            <a:avLst/>
          </a:prstGeom>
        </p:spPr>
        <p:txBody>
          <a:bodyPr wrap="square" lIns="0" tIns="13335" rIns="0" bIns="0" rtlCol="0" vert="horz">
            <a:spAutoFit/>
          </a:bodyPr>
          <a:lstStyle/>
          <a:p>
            <a:pPr marL="12700">
              <a:lnSpc>
                <a:spcPct val="100000"/>
              </a:lnSpc>
              <a:spcBef>
                <a:spcPts val="105"/>
              </a:spcBef>
            </a:pPr>
            <a:r>
              <a:rPr dirty="0" sz="2000" spc="-10" b="1">
                <a:solidFill>
                  <a:srgbClr val="40458B"/>
                </a:solidFill>
                <a:latin typeface="宋体"/>
                <a:cs typeface="宋体"/>
              </a:rPr>
              <a:t>for（i=1；i&lt;=100；i=i+1）{</a:t>
            </a:r>
            <a:endParaRPr sz="2000">
              <a:latin typeface="宋体"/>
              <a:cs typeface="宋体"/>
            </a:endParaRPr>
          </a:p>
        </p:txBody>
      </p:sp>
      <p:graphicFrame>
        <p:nvGraphicFramePr>
          <p:cNvPr id="10" name="object 10" descr=""/>
          <p:cNvGraphicFramePr>
            <a:graphicFrameLocks noGrp="1"/>
          </p:cNvGraphicFramePr>
          <p:nvPr/>
        </p:nvGraphicFramePr>
        <p:xfrm>
          <a:off x="1359916" y="3032982"/>
          <a:ext cx="3910329" cy="1443355"/>
        </p:xfrm>
        <a:graphic>
          <a:graphicData uri="http://schemas.openxmlformats.org/drawingml/2006/table">
            <a:tbl>
              <a:tblPr firstRow="1" bandRow="1">
                <a:tableStyleId>{2D5ABB26-0587-4C30-8999-92F81FD0307C}</a:tableStyleId>
              </a:tblPr>
              <a:tblGrid>
                <a:gridCol w="610235"/>
                <a:gridCol w="255270"/>
                <a:gridCol w="642619"/>
                <a:gridCol w="254000"/>
                <a:gridCol w="774700"/>
                <a:gridCol w="535939"/>
                <a:gridCol w="384810"/>
                <a:gridCol w="374014"/>
              </a:tblGrid>
              <a:tr h="325755">
                <a:tc>
                  <a:txBody>
                    <a:bodyPr/>
                    <a:lstStyle/>
                    <a:p>
                      <a:pPr algn="ctr" marR="23495">
                        <a:lnSpc>
                          <a:spcPts val="2125"/>
                        </a:lnSpc>
                      </a:pPr>
                      <a:r>
                        <a:rPr dirty="0" sz="2000" spc="-20" b="1">
                          <a:solidFill>
                            <a:srgbClr val="40458B"/>
                          </a:solidFill>
                          <a:latin typeface="宋体"/>
                          <a:cs typeface="宋体"/>
                        </a:rPr>
                        <a:t>Y[i]</a:t>
                      </a:r>
                      <a:endParaRPr sz="2000">
                        <a:latin typeface="宋体"/>
                        <a:cs typeface="宋体"/>
                      </a:endParaRPr>
                    </a:p>
                  </a:txBody>
                  <a:tcPr marL="0" marR="0" marB="0" marT="0"/>
                </a:tc>
                <a:tc>
                  <a:txBody>
                    <a:bodyPr/>
                    <a:lstStyle/>
                    <a:p>
                      <a:pPr algn="ctr">
                        <a:lnSpc>
                          <a:spcPts val="2125"/>
                        </a:lnSpc>
                      </a:pPr>
                      <a:r>
                        <a:rPr dirty="0" sz="2000" spc="-50" b="1">
                          <a:solidFill>
                            <a:srgbClr val="40458B"/>
                          </a:solidFill>
                          <a:latin typeface="宋体"/>
                          <a:cs typeface="宋体"/>
                        </a:rPr>
                        <a:t>=</a:t>
                      </a:r>
                      <a:endParaRPr sz="2000">
                        <a:latin typeface="宋体"/>
                        <a:cs typeface="宋体"/>
                      </a:endParaRPr>
                    </a:p>
                  </a:txBody>
                  <a:tcPr marL="0" marR="0" marB="0" marT="0"/>
                </a:tc>
                <a:tc>
                  <a:txBody>
                    <a:bodyPr/>
                    <a:lstStyle/>
                    <a:p>
                      <a:pPr algn="ctr" marL="1270">
                        <a:lnSpc>
                          <a:spcPts val="2125"/>
                        </a:lnSpc>
                      </a:pPr>
                      <a:r>
                        <a:rPr dirty="0" sz="2000" spc="-20" b="1">
                          <a:solidFill>
                            <a:srgbClr val="40458B"/>
                          </a:solidFill>
                          <a:latin typeface="宋体"/>
                          <a:cs typeface="宋体"/>
                        </a:rPr>
                        <a:t>X[i]</a:t>
                      </a:r>
                      <a:endParaRPr sz="2000">
                        <a:latin typeface="宋体"/>
                        <a:cs typeface="宋体"/>
                      </a:endParaRPr>
                    </a:p>
                  </a:txBody>
                  <a:tcPr marL="0" marR="0" marB="0" marT="0"/>
                </a:tc>
                <a:tc>
                  <a:txBody>
                    <a:bodyPr/>
                    <a:lstStyle/>
                    <a:p>
                      <a:pPr algn="ctr">
                        <a:lnSpc>
                          <a:spcPts val="2125"/>
                        </a:lnSpc>
                      </a:pPr>
                      <a:r>
                        <a:rPr dirty="0" sz="2000" spc="-50" b="1">
                          <a:solidFill>
                            <a:srgbClr val="40458B"/>
                          </a:solidFill>
                          <a:latin typeface="宋体"/>
                          <a:cs typeface="宋体"/>
                        </a:rPr>
                        <a:t>/</a:t>
                      </a:r>
                      <a:endParaRPr sz="2000">
                        <a:latin typeface="宋体"/>
                        <a:cs typeface="宋体"/>
                      </a:endParaRPr>
                    </a:p>
                  </a:txBody>
                  <a:tcPr marL="0" marR="0" marB="0" marT="0"/>
                </a:tc>
                <a:tc>
                  <a:txBody>
                    <a:bodyPr/>
                    <a:lstStyle/>
                    <a:p>
                      <a:pPr marL="64135">
                        <a:lnSpc>
                          <a:spcPts val="2125"/>
                        </a:lnSpc>
                      </a:pPr>
                      <a:r>
                        <a:rPr dirty="0" sz="2000" spc="-25" b="1">
                          <a:solidFill>
                            <a:srgbClr val="40458B"/>
                          </a:solidFill>
                          <a:latin typeface="宋体"/>
                          <a:cs typeface="宋体"/>
                        </a:rPr>
                        <a:t>a；</a:t>
                      </a:r>
                      <a:endParaRPr sz="2000">
                        <a:latin typeface="宋体"/>
                        <a:cs typeface="宋体"/>
                      </a:endParaRPr>
                    </a:p>
                  </a:txBody>
                  <a:tcPr marL="0" marR="0" marB="0" marT="0"/>
                </a:tc>
                <a:tc>
                  <a:txBody>
                    <a:bodyPr/>
                    <a:lstStyle/>
                    <a:p>
                      <a:pPr algn="r" marR="34290">
                        <a:lnSpc>
                          <a:spcPts val="2125"/>
                        </a:lnSpc>
                      </a:pPr>
                      <a:r>
                        <a:rPr dirty="0" sz="2000" spc="-25" b="1">
                          <a:latin typeface="宋体"/>
                          <a:cs typeface="宋体"/>
                        </a:rPr>
                        <a:t>/*</a:t>
                      </a:r>
                      <a:endParaRPr sz="2000">
                        <a:latin typeface="宋体"/>
                        <a:cs typeface="宋体"/>
                      </a:endParaRPr>
                    </a:p>
                  </a:txBody>
                  <a:tcPr marL="0" marR="0" marB="0" marT="0"/>
                </a:tc>
                <a:tc>
                  <a:txBody>
                    <a:bodyPr/>
                    <a:lstStyle/>
                    <a:p>
                      <a:pPr marL="85090">
                        <a:lnSpc>
                          <a:spcPts val="2125"/>
                        </a:lnSpc>
                      </a:pPr>
                      <a:r>
                        <a:rPr dirty="0" sz="2000" spc="-25" b="1">
                          <a:latin typeface="宋体"/>
                          <a:cs typeface="宋体"/>
                        </a:rPr>
                        <a:t>S1</a:t>
                      </a:r>
                      <a:endParaRPr sz="2000">
                        <a:latin typeface="宋体"/>
                        <a:cs typeface="宋体"/>
                      </a:endParaRPr>
                    </a:p>
                  </a:txBody>
                  <a:tcPr marL="0" marR="0" marB="0" marT="0"/>
                </a:tc>
                <a:tc>
                  <a:txBody>
                    <a:bodyPr/>
                    <a:lstStyle/>
                    <a:p>
                      <a:pPr algn="r" marR="24130">
                        <a:lnSpc>
                          <a:spcPts val="2125"/>
                        </a:lnSpc>
                      </a:pPr>
                      <a:r>
                        <a:rPr dirty="0" sz="2000" spc="-25" b="1">
                          <a:latin typeface="宋体"/>
                          <a:cs typeface="宋体"/>
                        </a:rPr>
                        <a:t>*/</a:t>
                      </a:r>
                      <a:endParaRPr sz="2000">
                        <a:latin typeface="宋体"/>
                        <a:cs typeface="宋体"/>
                      </a:endParaRPr>
                    </a:p>
                  </a:txBody>
                  <a:tcPr marL="0" marR="0" marB="0" marT="0"/>
                </a:tc>
              </a:tr>
              <a:tr h="396240">
                <a:tc>
                  <a:txBody>
                    <a:bodyPr/>
                    <a:lstStyle/>
                    <a:p>
                      <a:pPr algn="ctr" marR="23495">
                        <a:lnSpc>
                          <a:spcPct val="100000"/>
                        </a:lnSpc>
                        <a:spcBef>
                          <a:spcPts val="280"/>
                        </a:spcBef>
                      </a:pPr>
                      <a:r>
                        <a:rPr dirty="0" sz="2000" spc="-20" b="1">
                          <a:solidFill>
                            <a:srgbClr val="40458B"/>
                          </a:solidFill>
                          <a:latin typeface="宋体"/>
                          <a:cs typeface="宋体"/>
                        </a:rPr>
                        <a:t>X[i]</a:t>
                      </a:r>
                      <a:endParaRPr sz="2000">
                        <a:latin typeface="宋体"/>
                        <a:cs typeface="宋体"/>
                      </a:endParaRPr>
                    </a:p>
                  </a:txBody>
                  <a:tcPr marL="0" marR="0" marB="0" marT="35560"/>
                </a:tc>
                <a:tc>
                  <a:txBody>
                    <a:bodyPr/>
                    <a:lstStyle/>
                    <a:p>
                      <a:pPr algn="ctr">
                        <a:lnSpc>
                          <a:spcPct val="100000"/>
                        </a:lnSpc>
                        <a:spcBef>
                          <a:spcPts val="280"/>
                        </a:spcBef>
                      </a:pPr>
                      <a:r>
                        <a:rPr dirty="0" sz="2000" spc="-50" b="1">
                          <a:solidFill>
                            <a:srgbClr val="40458B"/>
                          </a:solidFill>
                          <a:latin typeface="宋体"/>
                          <a:cs typeface="宋体"/>
                        </a:rPr>
                        <a:t>=</a:t>
                      </a:r>
                      <a:endParaRPr sz="2000">
                        <a:latin typeface="宋体"/>
                        <a:cs typeface="宋体"/>
                      </a:endParaRPr>
                    </a:p>
                  </a:txBody>
                  <a:tcPr marL="0" marR="0" marB="0" marT="35560"/>
                </a:tc>
                <a:tc>
                  <a:txBody>
                    <a:bodyPr/>
                    <a:lstStyle/>
                    <a:p>
                      <a:pPr algn="ctr" marL="2540">
                        <a:lnSpc>
                          <a:spcPct val="100000"/>
                        </a:lnSpc>
                        <a:spcBef>
                          <a:spcPts val="280"/>
                        </a:spcBef>
                      </a:pPr>
                      <a:r>
                        <a:rPr dirty="0" sz="2000" spc="-20" b="1">
                          <a:solidFill>
                            <a:srgbClr val="40458B"/>
                          </a:solidFill>
                          <a:latin typeface="宋体"/>
                          <a:cs typeface="宋体"/>
                        </a:rPr>
                        <a:t>X[i]</a:t>
                      </a:r>
                      <a:endParaRPr sz="2000">
                        <a:latin typeface="宋体"/>
                        <a:cs typeface="宋体"/>
                      </a:endParaRPr>
                    </a:p>
                  </a:txBody>
                  <a:tcPr marL="0" marR="0" marB="0" marT="35560"/>
                </a:tc>
                <a:tc>
                  <a:txBody>
                    <a:bodyPr/>
                    <a:lstStyle/>
                    <a:p>
                      <a:pPr algn="ctr">
                        <a:lnSpc>
                          <a:spcPct val="100000"/>
                        </a:lnSpc>
                        <a:spcBef>
                          <a:spcPts val="280"/>
                        </a:spcBef>
                      </a:pPr>
                      <a:r>
                        <a:rPr dirty="0" sz="2000" spc="-50" b="1">
                          <a:solidFill>
                            <a:srgbClr val="40458B"/>
                          </a:solidFill>
                          <a:latin typeface="宋体"/>
                          <a:cs typeface="宋体"/>
                        </a:rPr>
                        <a:t>+</a:t>
                      </a:r>
                      <a:endParaRPr sz="2000">
                        <a:latin typeface="宋体"/>
                        <a:cs typeface="宋体"/>
                      </a:endParaRPr>
                    </a:p>
                  </a:txBody>
                  <a:tcPr marL="0" marR="0" marB="0" marT="35560"/>
                </a:tc>
                <a:tc>
                  <a:txBody>
                    <a:bodyPr/>
                    <a:lstStyle/>
                    <a:p>
                      <a:pPr marL="64769">
                        <a:lnSpc>
                          <a:spcPct val="100000"/>
                        </a:lnSpc>
                        <a:spcBef>
                          <a:spcPts val="280"/>
                        </a:spcBef>
                      </a:pPr>
                      <a:r>
                        <a:rPr dirty="0" sz="2000" spc="-25" b="1">
                          <a:solidFill>
                            <a:srgbClr val="40458B"/>
                          </a:solidFill>
                          <a:latin typeface="宋体"/>
                          <a:cs typeface="宋体"/>
                        </a:rPr>
                        <a:t>a；</a:t>
                      </a:r>
                      <a:endParaRPr sz="2000">
                        <a:latin typeface="宋体"/>
                        <a:cs typeface="宋体"/>
                      </a:endParaRPr>
                    </a:p>
                  </a:txBody>
                  <a:tcPr marL="0" marR="0" marB="0" marT="35560"/>
                </a:tc>
                <a:tc>
                  <a:txBody>
                    <a:bodyPr/>
                    <a:lstStyle/>
                    <a:p>
                      <a:pPr algn="r" marR="34925">
                        <a:lnSpc>
                          <a:spcPct val="100000"/>
                        </a:lnSpc>
                        <a:spcBef>
                          <a:spcPts val="280"/>
                        </a:spcBef>
                      </a:pPr>
                      <a:r>
                        <a:rPr dirty="0" sz="2000" spc="-25" b="1">
                          <a:latin typeface="宋体"/>
                          <a:cs typeface="宋体"/>
                        </a:rPr>
                        <a:t>/*</a:t>
                      </a:r>
                      <a:endParaRPr sz="2000">
                        <a:latin typeface="宋体"/>
                        <a:cs typeface="宋体"/>
                      </a:endParaRPr>
                    </a:p>
                  </a:txBody>
                  <a:tcPr marL="0" marR="0" marB="0" marT="35560"/>
                </a:tc>
                <a:tc>
                  <a:txBody>
                    <a:bodyPr/>
                    <a:lstStyle/>
                    <a:p>
                      <a:pPr marL="86360">
                        <a:lnSpc>
                          <a:spcPct val="100000"/>
                        </a:lnSpc>
                        <a:spcBef>
                          <a:spcPts val="280"/>
                        </a:spcBef>
                      </a:pPr>
                      <a:r>
                        <a:rPr dirty="0" sz="2000" spc="-25" b="1">
                          <a:latin typeface="宋体"/>
                          <a:cs typeface="宋体"/>
                        </a:rPr>
                        <a:t>S2</a:t>
                      </a:r>
                      <a:endParaRPr sz="2000">
                        <a:latin typeface="宋体"/>
                        <a:cs typeface="宋体"/>
                      </a:endParaRPr>
                    </a:p>
                  </a:txBody>
                  <a:tcPr marL="0" marR="0" marB="0" marT="35560"/>
                </a:tc>
                <a:tc>
                  <a:txBody>
                    <a:bodyPr/>
                    <a:lstStyle/>
                    <a:p>
                      <a:pPr algn="r" marR="24130">
                        <a:lnSpc>
                          <a:spcPct val="100000"/>
                        </a:lnSpc>
                        <a:spcBef>
                          <a:spcPts val="280"/>
                        </a:spcBef>
                      </a:pPr>
                      <a:r>
                        <a:rPr dirty="0" sz="2000" spc="-25" b="1">
                          <a:latin typeface="宋体"/>
                          <a:cs typeface="宋体"/>
                        </a:rPr>
                        <a:t>*/</a:t>
                      </a:r>
                      <a:endParaRPr sz="2000">
                        <a:latin typeface="宋体"/>
                        <a:cs typeface="宋体"/>
                      </a:endParaRPr>
                    </a:p>
                  </a:txBody>
                  <a:tcPr marL="0" marR="0" marB="0" marT="35560"/>
                </a:tc>
              </a:tr>
              <a:tr h="325120">
                <a:tc>
                  <a:txBody>
                    <a:bodyPr/>
                    <a:lstStyle/>
                    <a:p>
                      <a:pPr algn="ctr" marR="23495">
                        <a:lnSpc>
                          <a:spcPts val="2180"/>
                        </a:lnSpc>
                        <a:spcBef>
                          <a:spcPts val="280"/>
                        </a:spcBef>
                      </a:pPr>
                      <a:r>
                        <a:rPr dirty="0" sz="2000" spc="-20" b="1">
                          <a:solidFill>
                            <a:srgbClr val="40458B"/>
                          </a:solidFill>
                          <a:latin typeface="宋体"/>
                          <a:cs typeface="宋体"/>
                        </a:rPr>
                        <a:t>Z[i]</a:t>
                      </a:r>
                      <a:endParaRPr sz="2000">
                        <a:latin typeface="宋体"/>
                        <a:cs typeface="宋体"/>
                      </a:endParaRPr>
                    </a:p>
                  </a:txBody>
                  <a:tcPr marL="0" marR="0" marB="0" marT="35560"/>
                </a:tc>
                <a:tc>
                  <a:txBody>
                    <a:bodyPr/>
                    <a:lstStyle/>
                    <a:p>
                      <a:pPr algn="ctr">
                        <a:lnSpc>
                          <a:spcPts val="2180"/>
                        </a:lnSpc>
                        <a:spcBef>
                          <a:spcPts val="280"/>
                        </a:spcBef>
                      </a:pPr>
                      <a:r>
                        <a:rPr dirty="0" sz="2000" spc="-50" b="1">
                          <a:solidFill>
                            <a:srgbClr val="40458B"/>
                          </a:solidFill>
                          <a:latin typeface="宋体"/>
                          <a:cs typeface="宋体"/>
                        </a:rPr>
                        <a:t>=</a:t>
                      </a:r>
                      <a:endParaRPr sz="2000">
                        <a:latin typeface="宋体"/>
                        <a:cs typeface="宋体"/>
                      </a:endParaRPr>
                    </a:p>
                  </a:txBody>
                  <a:tcPr marL="0" marR="0" marB="0" marT="35560"/>
                </a:tc>
                <a:tc>
                  <a:txBody>
                    <a:bodyPr/>
                    <a:lstStyle/>
                    <a:p>
                      <a:pPr algn="ctr" marL="2540">
                        <a:lnSpc>
                          <a:spcPts val="2180"/>
                        </a:lnSpc>
                        <a:spcBef>
                          <a:spcPts val="280"/>
                        </a:spcBef>
                      </a:pPr>
                      <a:r>
                        <a:rPr dirty="0" sz="2000" spc="-20" b="1">
                          <a:solidFill>
                            <a:srgbClr val="40458B"/>
                          </a:solidFill>
                          <a:latin typeface="宋体"/>
                          <a:cs typeface="宋体"/>
                        </a:rPr>
                        <a:t>Y[i]</a:t>
                      </a:r>
                      <a:endParaRPr sz="2000">
                        <a:latin typeface="宋体"/>
                        <a:cs typeface="宋体"/>
                      </a:endParaRPr>
                    </a:p>
                  </a:txBody>
                  <a:tcPr marL="0" marR="0" marB="0" marT="35560"/>
                </a:tc>
                <a:tc>
                  <a:txBody>
                    <a:bodyPr/>
                    <a:lstStyle/>
                    <a:p>
                      <a:pPr algn="ctr">
                        <a:lnSpc>
                          <a:spcPts val="2180"/>
                        </a:lnSpc>
                        <a:spcBef>
                          <a:spcPts val="280"/>
                        </a:spcBef>
                      </a:pPr>
                      <a:r>
                        <a:rPr dirty="0" sz="2000" spc="-50" b="1">
                          <a:solidFill>
                            <a:srgbClr val="40458B"/>
                          </a:solidFill>
                          <a:latin typeface="宋体"/>
                          <a:cs typeface="宋体"/>
                        </a:rPr>
                        <a:t>+</a:t>
                      </a:r>
                      <a:endParaRPr sz="2000">
                        <a:latin typeface="宋体"/>
                        <a:cs typeface="宋体"/>
                      </a:endParaRPr>
                    </a:p>
                  </a:txBody>
                  <a:tcPr marL="0" marR="0" marB="0" marT="35560"/>
                </a:tc>
                <a:tc>
                  <a:txBody>
                    <a:bodyPr/>
                    <a:lstStyle/>
                    <a:p>
                      <a:pPr marL="64769">
                        <a:lnSpc>
                          <a:spcPts val="2180"/>
                        </a:lnSpc>
                        <a:spcBef>
                          <a:spcPts val="280"/>
                        </a:spcBef>
                      </a:pPr>
                      <a:r>
                        <a:rPr dirty="0" sz="2000" spc="-25" b="1">
                          <a:solidFill>
                            <a:srgbClr val="40458B"/>
                          </a:solidFill>
                          <a:latin typeface="宋体"/>
                          <a:cs typeface="宋体"/>
                        </a:rPr>
                        <a:t>a；</a:t>
                      </a:r>
                      <a:endParaRPr sz="2000">
                        <a:latin typeface="宋体"/>
                        <a:cs typeface="宋体"/>
                      </a:endParaRPr>
                    </a:p>
                  </a:txBody>
                  <a:tcPr marL="0" marR="0" marB="0" marT="35560"/>
                </a:tc>
                <a:tc>
                  <a:txBody>
                    <a:bodyPr/>
                    <a:lstStyle/>
                    <a:p>
                      <a:pPr algn="r" marR="78740">
                        <a:lnSpc>
                          <a:spcPts val="2180"/>
                        </a:lnSpc>
                        <a:spcBef>
                          <a:spcPts val="280"/>
                        </a:spcBef>
                      </a:pPr>
                      <a:r>
                        <a:rPr dirty="0" sz="2000" spc="-25" b="1">
                          <a:latin typeface="宋体"/>
                          <a:cs typeface="宋体"/>
                        </a:rPr>
                        <a:t>/*</a:t>
                      </a:r>
                      <a:endParaRPr sz="2000">
                        <a:latin typeface="宋体"/>
                        <a:cs typeface="宋体"/>
                      </a:endParaRPr>
                    </a:p>
                  </a:txBody>
                  <a:tcPr marL="0" marR="0" marB="0" marT="35560"/>
                </a:tc>
                <a:tc>
                  <a:txBody>
                    <a:bodyPr/>
                    <a:lstStyle/>
                    <a:p>
                      <a:pPr marL="41910">
                        <a:lnSpc>
                          <a:spcPts val="2180"/>
                        </a:lnSpc>
                        <a:spcBef>
                          <a:spcPts val="280"/>
                        </a:spcBef>
                      </a:pPr>
                      <a:r>
                        <a:rPr dirty="0" sz="2000" spc="-25" b="1">
                          <a:latin typeface="宋体"/>
                          <a:cs typeface="宋体"/>
                        </a:rPr>
                        <a:t>S3</a:t>
                      </a:r>
                      <a:endParaRPr sz="2000">
                        <a:latin typeface="宋体"/>
                        <a:cs typeface="宋体"/>
                      </a:endParaRPr>
                    </a:p>
                  </a:txBody>
                  <a:tcPr marL="0" marR="0" marB="0" marT="35560"/>
                </a:tc>
                <a:tc>
                  <a:txBody>
                    <a:bodyPr/>
                    <a:lstStyle/>
                    <a:p>
                      <a:pPr marL="42545">
                        <a:lnSpc>
                          <a:spcPts val="2180"/>
                        </a:lnSpc>
                        <a:spcBef>
                          <a:spcPts val="280"/>
                        </a:spcBef>
                      </a:pPr>
                      <a:r>
                        <a:rPr dirty="0" sz="2000" spc="-25" b="1">
                          <a:latin typeface="宋体"/>
                          <a:cs typeface="宋体"/>
                        </a:rPr>
                        <a:t>*/</a:t>
                      </a:r>
                      <a:endParaRPr sz="2000">
                        <a:latin typeface="宋体"/>
                        <a:cs typeface="宋体"/>
                      </a:endParaRPr>
                    </a:p>
                  </a:txBody>
                  <a:tcPr marL="0" marR="0" marB="0" marT="35560"/>
                </a:tc>
              </a:tr>
              <a:tr h="396240">
                <a:tc>
                  <a:txBody>
                    <a:bodyPr/>
                    <a:lstStyle/>
                    <a:p>
                      <a:pPr algn="ctr" marR="23495">
                        <a:lnSpc>
                          <a:spcPts val="2180"/>
                        </a:lnSpc>
                        <a:spcBef>
                          <a:spcPts val="835"/>
                        </a:spcBef>
                      </a:pPr>
                      <a:r>
                        <a:rPr dirty="0" sz="2000" spc="-20" b="1">
                          <a:solidFill>
                            <a:srgbClr val="40458B"/>
                          </a:solidFill>
                          <a:latin typeface="宋体"/>
                          <a:cs typeface="宋体"/>
                        </a:rPr>
                        <a:t>Y[i]</a:t>
                      </a:r>
                      <a:endParaRPr sz="2000">
                        <a:latin typeface="宋体"/>
                        <a:cs typeface="宋体"/>
                      </a:endParaRPr>
                    </a:p>
                  </a:txBody>
                  <a:tcPr marL="0" marR="0" marB="0" marT="106045"/>
                </a:tc>
                <a:tc>
                  <a:txBody>
                    <a:bodyPr/>
                    <a:lstStyle/>
                    <a:p>
                      <a:pPr algn="ctr">
                        <a:lnSpc>
                          <a:spcPts val="2180"/>
                        </a:lnSpc>
                        <a:spcBef>
                          <a:spcPts val="835"/>
                        </a:spcBef>
                      </a:pPr>
                      <a:r>
                        <a:rPr dirty="0" sz="2000" spc="-50" b="1">
                          <a:solidFill>
                            <a:srgbClr val="40458B"/>
                          </a:solidFill>
                          <a:latin typeface="宋体"/>
                          <a:cs typeface="宋体"/>
                        </a:rPr>
                        <a:t>=</a:t>
                      </a:r>
                      <a:endParaRPr sz="2000">
                        <a:latin typeface="宋体"/>
                        <a:cs typeface="宋体"/>
                      </a:endParaRPr>
                    </a:p>
                  </a:txBody>
                  <a:tcPr marL="0" marR="0" marB="0" marT="106045"/>
                </a:tc>
                <a:tc>
                  <a:txBody>
                    <a:bodyPr/>
                    <a:lstStyle/>
                    <a:p>
                      <a:pPr algn="ctr">
                        <a:lnSpc>
                          <a:spcPts val="2180"/>
                        </a:lnSpc>
                        <a:spcBef>
                          <a:spcPts val="835"/>
                        </a:spcBef>
                      </a:pPr>
                      <a:r>
                        <a:rPr dirty="0" sz="2000" b="1">
                          <a:solidFill>
                            <a:srgbClr val="40458B"/>
                          </a:solidFill>
                          <a:latin typeface="宋体"/>
                          <a:cs typeface="宋体"/>
                        </a:rPr>
                        <a:t>a</a:t>
                      </a:r>
                      <a:r>
                        <a:rPr dirty="0" sz="2000" spc="5" b="1">
                          <a:solidFill>
                            <a:srgbClr val="40458B"/>
                          </a:solidFill>
                          <a:latin typeface="宋体"/>
                          <a:cs typeface="宋体"/>
                        </a:rPr>
                        <a:t> </a:t>
                      </a:r>
                      <a:r>
                        <a:rPr dirty="0" sz="2000" spc="-50" b="1">
                          <a:solidFill>
                            <a:srgbClr val="40458B"/>
                          </a:solidFill>
                          <a:latin typeface="宋体"/>
                          <a:cs typeface="宋体"/>
                        </a:rPr>
                        <a:t>–</a:t>
                      </a:r>
                      <a:endParaRPr sz="2000">
                        <a:latin typeface="宋体"/>
                        <a:cs typeface="宋体"/>
                      </a:endParaRPr>
                    </a:p>
                  </a:txBody>
                  <a:tcPr marL="0" marR="0" marB="0" marT="106045"/>
                </a:tc>
                <a:tc gridSpan="2">
                  <a:txBody>
                    <a:bodyPr/>
                    <a:lstStyle/>
                    <a:p>
                      <a:pPr marL="64135">
                        <a:lnSpc>
                          <a:spcPts val="2180"/>
                        </a:lnSpc>
                        <a:spcBef>
                          <a:spcPts val="835"/>
                        </a:spcBef>
                      </a:pPr>
                      <a:r>
                        <a:rPr dirty="0" sz="2000" spc="-10" b="1">
                          <a:solidFill>
                            <a:srgbClr val="40458B"/>
                          </a:solidFill>
                          <a:latin typeface="宋体"/>
                          <a:cs typeface="宋体"/>
                        </a:rPr>
                        <a:t>Y[i]；</a:t>
                      </a:r>
                      <a:endParaRPr sz="2000">
                        <a:latin typeface="宋体"/>
                        <a:cs typeface="宋体"/>
                      </a:endParaRPr>
                    </a:p>
                  </a:txBody>
                  <a:tcPr marL="0" marR="0" marB="0" marT="106045"/>
                </a:tc>
                <a:tc hMerge="1">
                  <a:txBody>
                    <a:bodyPr/>
                    <a:lstStyle/>
                    <a:p>
                      <a:pPr/>
                    </a:p>
                  </a:txBody>
                  <a:tcPr marL="0" marR="0" marB="0" marT="0"/>
                </a:tc>
                <a:tc>
                  <a:txBody>
                    <a:bodyPr/>
                    <a:lstStyle/>
                    <a:p>
                      <a:pPr algn="r" marR="34925">
                        <a:lnSpc>
                          <a:spcPts val="2180"/>
                        </a:lnSpc>
                        <a:spcBef>
                          <a:spcPts val="835"/>
                        </a:spcBef>
                      </a:pPr>
                      <a:r>
                        <a:rPr dirty="0" sz="2000" spc="-25" b="1">
                          <a:latin typeface="宋体"/>
                          <a:cs typeface="宋体"/>
                        </a:rPr>
                        <a:t>/*</a:t>
                      </a:r>
                      <a:endParaRPr sz="2000">
                        <a:latin typeface="宋体"/>
                        <a:cs typeface="宋体"/>
                      </a:endParaRPr>
                    </a:p>
                  </a:txBody>
                  <a:tcPr marL="0" marR="0" marB="0" marT="106045"/>
                </a:tc>
                <a:tc>
                  <a:txBody>
                    <a:bodyPr/>
                    <a:lstStyle/>
                    <a:p>
                      <a:pPr marL="86360">
                        <a:lnSpc>
                          <a:spcPts val="2180"/>
                        </a:lnSpc>
                        <a:spcBef>
                          <a:spcPts val="835"/>
                        </a:spcBef>
                      </a:pPr>
                      <a:r>
                        <a:rPr dirty="0" sz="2000" spc="-25" b="1">
                          <a:latin typeface="宋体"/>
                          <a:cs typeface="宋体"/>
                        </a:rPr>
                        <a:t>S4</a:t>
                      </a:r>
                      <a:endParaRPr sz="2000">
                        <a:latin typeface="宋体"/>
                        <a:cs typeface="宋体"/>
                      </a:endParaRPr>
                    </a:p>
                  </a:txBody>
                  <a:tcPr marL="0" marR="0" marB="0" marT="106045"/>
                </a:tc>
                <a:tc>
                  <a:txBody>
                    <a:bodyPr/>
                    <a:lstStyle/>
                    <a:p>
                      <a:pPr algn="r" marR="24130">
                        <a:lnSpc>
                          <a:spcPts val="2180"/>
                        </a:lnSpc>
                        <a:spcBef>
                          <a:spcPts val="835"/>
                        </a:spcBef>
                      </a:pPr>
                      <a:r>
                        <a:rPr dirty="0" sz="2000" spc="-25" b="1">
                          <a:latin typeface="宋体"/>
                          <a:cs typeface="宋体"/>
                        </a:rPr>
                        <a:t>*/</a:t>
                      </a:r>
                      <a:endParaRPr sz="2000">
                        <a:latin typeface="宋体"/>
                        <a:cs typeface="宋体"/>
                      </a:endParaRPr>
                    </a:p>
                  </a:txBody>
                  <a:tcPr marL="0" marR="0" marB="0" marT="106045"/>
                </a:tc>
              </a:tr>
            </a:tbl>
          </a:graphicData>
        </a:graphic>
      </p:graphicFrame>
      <p:sp>
        <p:nvSpPr>
          <p:cNvPr id="11" name="object 11" descr=""/>
          <p:cNvSpPr txBox="1"/>
          <p:nvPr/>
        </p:nvSpPr>
        <p:spPr>
          <a:xfrm>
            <a:off x="464616" y="4570221"/>
            <a:ext cx="153035" cy="330835"/>
          </a:xfrm>
          <a:prstGeom prst="rect">
            <a:avLst/>
          </a:prstGeom>
        </p:spPr>
        <p:txBody>
          <a:bodyPr wrap="square" lIns="0" tIns="12700" rIns="0" bIns="0" rtlCol="0" vert="horz">
            <a:spAutoFit/>
          </a:bodyPr>
          <a:lstStyle/>
          <a:p>
            <a:pPr marL="12700">
              <a:lnSpc>
                <a:spcPct val="100000"/>
              </a:lnSpc>
              <a:spcBef>
                <a:spcPts val="100"/>
              </a:spcBef>
            </a:pPr>
            <a:r>
              <a:rPr dirty="0" sz="2000" spc="-50" b="1">
                <a:solidFill>
                  <a:srgbClr val="40458B"/>
                </a:solidFill>
                <a:latin typeface="宋体"/>
                <a:cs typeface="宋体"/>
              </a:rPr>
              <a:t>}</a:t>
            </a:r>
            <a:endParaRPr sz="2000">
              <a:latin typeface="宋体"/>
              <a:cs typeface="宋体"/>
            </a:endParaRPr>
          </a:p>
        </p:txBody>
      </p:sp>
      <p:sp>
        <p:nvSpPr>
          <p:cNvPr id="12" name="object 12"/>
          <p:cNvSpPr txBox="1">
            <a:spLocks noGrp="1"/>
          </p:cNvSpPr>
          <p:nvPr>
            <p:ph type="title"/>
          </p:nvPr>
        </p:nvSpPr>
        <p:spPr>
          <a:xfrm>
            <a:off x="1403350" y="127838"/>
            <a:ext cx="10801350" cy="514350"/>
          </a:xfrm>
          <a:prstGeom prst="rect"/>
        </p:spPr>
        <p:txBody>
          <a:bodyPr wrap="square" lIns="0" tIns="13335" rIns="0" bIns="0" rtlCol="0" vert="horz">
            <a:spAutoFit/>
          </a:bodyPr>
          <a:lstStyle/>
          <a:p>
            <a:pPr marL="12700">
              <a:lnSpc>
                <a:spcPct val="100000"/>
              </a:lnSpc>
              <a:spcBef>
                <a:spcPts val="105"/>
              </a:spcBef>
              <a:tabLst>
                <a:tab pos="1239520" algn="l"/>
                <a:tab pos="10788015" algn="l"/>
              </a:tabLst>
            </a:pPr>
            <a:r>
              <a:rPr dirty="0"/>
              <a:t>	6.5</a:t>
            </a:r>
            <a:r>
              <a:rPr dirty="0" spc="-15"/>
              <a:t> </a:t>
            </a:r>
            <a:r>
              <a:rPr dirty="0"/>
              <a:t>开发更</a:t>
            </a:r>
            <a:r>
              <a:rPr dirty="0" spc="-25"/>
              <a:t>多</a:t>
            </a:r>
            <a:r>
              <a:rPr dirty="0"/>
              <a:t>的指</a:t>
            </a:r>
            <a:r>
              <a:rPr dirty="0" spc="-20"/>
              <a:t>令</a:t>
            </a:r>
            <a:r>
              <a:rPr dirty="0"/>
              <a:t>级并</a:t>
            </a:r>
            <a:r>
              <a:rPr dirty="0" spc="-50"/>
              <a:t>行</a:t>
            </a:r>
            <a:r>
              <a:rPr dirty="0"/>
              <a:t>	</a:t>
            </a:r>
          </a:p>
        </p:txBody>
      </p:sp>
      <p:sp>
        <p:nvSpPr>
          <p:cNvPr id="13" name="object 13" descr=""/>
          <p:cNvSpPr txBox="1"/>
          <p:nvPr/>
        </p:nvSpPr>
        <p:spPr>
          <a:xfrm>
            <a:off x="5664200" y="2565336"/>
            <a:ext cx="6472555" cy="3167380"/>
          </a:xfrm>
          <a:prstGeom prst="rect">
            <a:avLst/>
          </a:prstGeom>
          <a:ln w="9525">
            <a:solidFill>
              <a:srgbClr val="FF0000"/>
            </a:solidFill>
          </a:ln>
        </p:spPr>
        <p:txBody>
          <a:bodyPr wrap="square" lIns="0" tIns="44450" rIns="0" bIns="0" rtlCol="0" vert="horz">
            <a:spAutoFit/>
          </a:bodyPr>
          <a:lstStyle/>
          <a:p>
            <a:pPr marL="92075">
              <a:lnSpc>
                <a:spcPct val="100000"/>
              </a:lnSpc>
              <a:spcBef>
                <a:spcPts val="350"/>
              </a:spcBef>
            </a:pPr>
            <a:r>
              <a:rPr dirty="0" sz="2200" spc="40" b="1">
                <a:solidFill>
                  <a:srgbClr val="E14B04"/>
                </a:solidFill>
                <a:latin typeface="宋体"/>
                <a:cs typeface="宋体"/>
              </a:rPr>
              <a:t>解 </a:t>
            </a:r>
            <a:r>
              <a:rPr dirty="0" sz="2200" spc="-20" b="1">
                <a:latin typeface="宋体"/>
                <a:cs typeface="宋体"/>
              </a:rPr>
              <a:t>这</a:t>
            </a:r>
            <a:r>
              <a:rPr dirty="0" sz="2200" spc="-10" b="1">
                <a:latin typeface="宋体"/>
                <a:cs typeface="宋体"/>
              </a:rPr>
              <a:t>4</a:t>
            </a:r>
            <a:r>
              <a:rPr dirty="0" sz="2200" spc="-25" b="1">
                <a:latin typeface="宋体"/>
                <a:cs typeface="宋体"/>
              </a:rPr>
              <a:t>条语句中存在以下相关：</a:t>
            </a:r>
            <a:endParaRPr sz="2200">
              <a:latin typeface="宋体"/>
              <a:cs typeface="宋体"/>
            </a:endParaRPr>
          </a:p>
          <a:p>
            <a:pPr marL="965835" indent="-418465">
              <a:lnSpc>
                <a:spcPct val="100000"/>
              </a:lnSpc>
              <a:spcBef>
                <a:spcPts val="790"/>
              </a:spcBef>
              <a:buClr>
                <a:srgbClr val="000000"/>
              </a:buClr>
              <a:buAutoNum type="arabicPeriod"/>
              <a:tabLst>
                <a:tab pos="965835" algn="l"/>
              </a:tabLst>
            </a:pPr>
            <a:r>
              <a:rPr dirty="0" sz="2200" spc="-10" b="1">
                <a:solidFill>
                  <a:srgbClr val="6600FF"/>
                </a:solidFill>
                <a:latin typeface="宋体"/>
                <a:cs typeface="宋体"/>
              </a:rPr>
              <a:t>S3</a:t>
            </a:r>
            <a:r>
              <a:rPr dirty="0" sz="2200" spc="-20" b="1">
                <a:latin typeface="宋体"/>
                <a:cs typeface="宋体"/>
              </a:rPr>
              <a:t>与</a:t>
            </a:r>
            <a:r>
              <a:rPr dirty="0" sz="2200" spc="-10" b="1">
                <a:solidFill>
                  <a:srgbClr val="6600FF"/>
                </a:solidFill>
                <a:latin typeface="宋体"/>
                <a:cs typeface="宋体"/>
              </a:rPr>
              <a:t>S1</a:t>
            </a:r>
            <a:r>
              <a:rPr dirty="0" sz="2200" spc="-20" b="1">
                <a:latin typeface="宋体"/>
                <a:cs typeface="宋体"/>
              </a:rPr>
              <a:t>和</a:t>
            </a:r>
            <a:r>
              <a:rPr dirty="0" sz="2200" spc="-10" b="1">
                <a:solidFill>
                  <a:srgbClr val="6600FF"/>
                </a:solidFill>
                <a:latin typeface="宋体"/>
                <a:cs typeface="宋体"/>
              </a:rPr>
              <a:t>S4</a:t>
            </a:r>
            <a:r>
              <a:rPr dirty="0" sz="2200" spc="-20" b="1">
                <a:latin typeface="宋体"/>
                <a:cs typeface="宋体"/>
              </a:rPr>
              <a:t>与</a:t>
            </a:r>
            <a:r>
              <a:rPr dirty="0" sz="2200" spc="-10" b="1">
                <a:solidFill>
                  <a:srgbClr val="6600FF"/>
                </a:solidFill>
                <a:latin typeface="宋体"/>
                <a:cs typeface="宋体"/>
              </a:rPr>
              <a:t>S1</a:t>
            </a:r>
            <a:r>
              <a:rPr dirty="0" sz="2200" spc="-25" b="1">
                <a:latin typeface="宋体"/>
                <a:cs typeface="宋体"/>
              </a:rPr>
              <a:t>之间分别存在真数据相关。</a:t>
            </a:r>
            <a:endParaRPr sz="2200">
              <a:latin typeface="宋体"/>
              <a:cs typeface="宋体"/>
            </a:endParaRPr>
          </a:p>
          <a:p>
            <a:pPr marL="965835" indent="-418465">
              <a:lnSpc>
                <a:spcPct val="100000"/>
              </a:lnSpc>
              <a:spcBef>
                <a:spcPts val="795"/>
              </a:spcBef>
              <a:buClr>
                <a:srgbClr val="000000"/>
              </a:buClr>
              <a:buAutoNum type="arabicPeriod"/>
              <a:tabLst>
                <a:tab pos="965835" algn="l"/>
              </a:tabLst>
            </a:pPr>
            <a:r>
              <a:rPr dirty="0" sz="2200" spc="-10" b="1">
                <a:solidFill>
                  <a:srgbClr val="6600FF"/>
                </a:solidFill>
                <a:latin typeface="宋体"/>
                <a:cs typeface="宋体"/>
              </a:rPr>
              <a:t>S2</a:t>
            </a:r>
            <a:r>
              <a:rPr dirty="0" sz="2200" spc="-25" b="1">
                <a:latin typeface="宋体"/>
                <a:cs typeface="宋体"/>
              </a:rPr>
              <a:t>和</a:t>
            </a:r>
            <a:r>
              <a:rPr dirty="0" sz="2200" spc="-10" b="1">
                <a:solidFill>
                  <a:srgbClr val="6600FF"/>
                </a:solidFill>
                <a:latin typeface="宋体"/>
                <a:cs typeface="宋体"/>
              </a:rPr>
              <a:t>S1</a:t>
            </a:r>
            <a:r>
              <a:rPr dirty="0" sz="2200" spc="-25" b="1">
                <a:latin typeface="宋体"/>
                <a:cs typeface="宋体"/>
              </a:rPr>
              <a:t>之间存在反相关</a:t>
            </a:r>
            <a:r>
              <a:rPr dirty="0" sz="2200" spc="-10" b="1">
                <a:latin typeface="宋体"/>
                <a:cs typeface="宋体"/>
              </a:rPr>
              <a:t>WAR</a:t>
            </a:r>
            <a:r>
              <a:rPr dirty="0" sz="2200" spc="-50" b="1">
                <a:latin typeface="宋体"/>
                <a:cs typeface="宋体"/>
              </a:rPr>
              <a:t>。</a:t>
            </a:r>
            <a:endParaRPr sz="2200">
              <a:latin typeface="宋体"/>
              <a:cs typeface="宋体"/>
            </a:endParaRPr>
          </a:p>
          <a:p>
            <a:pPr marL="965835" indent="-418465">
              <a:lnSpc>
                <a:spcPct val="100000"/>
              </a:lnSpc>
              <a:spcBef>
                <a:spcPts val="790"/>
              </a:spcBef>
              <a:buClr>
                <a:srgbClr val="000000"/>
              </a:buClr>
              <a:buAutoNum type="arabicPeriod"/>
              <a:tabLst>
                <a:tab pos="965835" algn="l"/>
              </a:tabLst>
            </a:pPr>
            <a:r>
              <a:rPr dirty="0" sz="2200" spc="-10" b="1">
                <a:solidFill>
                  <a:srgbClr val="6600FF"/>
                </a:solidFill>
                <a:latin typeface="宋体"/>
                <a:cs typeface="宋体"/>
              </a:rPr>
              <a:t>S3</a:t>
            </a:r>
            <a:r>
              <a:rPr dirty="0" sz="2200" spc="-20" b="1">
                <a:latin typeface="宋体"/>
                <a:cs typeface="宋体"/>
              </a:rPr>
              <a:t>和</a:t>
            </a:r>
            <a:r>
              <a:rPr dirty="0" sz="2200" spc="-10" b="1">
                <a:solidFill>
                  <a:srgbClr val="6600FF"/>
                </a:solidFill>
                <a:latin typeface="宋体"/>
                <a:cs typeface="宋体"/>
              </a:rPr>
              <a:t>S4</a:t>
            </a:r>
            <a:r>
              <a:rPr dirty="0" sz="2200" spc="-25" b="1">
                <a:latin typeface="宋体"/>
                <a:cs typeface="宋体"/>
              </a:rPr>
              <a:t>之间存在反相关。</a:t>
            </a:r>
            <a:endParaRPr sz="2200">
              <a:latin typeface="宋体"/>
              <a:cs typeface="宋体"/>
            </a:endParaRPr>
          </a:p>
          <a:p>
            <a:pPr marL="965835" indent="-418465">
              <a:lnSpc>
                <a:spcPct val="100000"/>
              </a:lnSpc>
              <a:spcBef>
                <a:spcPts val="795"/>
              </a:spcBef>
              <a:buClr>
                <a:srgbClr val="000000"/>
              </a:buClr>
              <a:buAutoNum type="arabicPeriod"/>
              <a:tabLst>
                <a:tab pos="965835" algn="l"/>
              </a:tabLst>
            </a:pPr>
            <a:r>
              <a:rPr dirty="0" sz="2200" spc="-10" b="1">
                <a:solidFill>
                  <a:srgbClr val="6600FF"/>
                </a:solidFill>
                <a:latin typeface="宋体"/>
                <a:cs typeface="宋体"/>
              </a:rPr>
              <a:t>S1</a:t>
            </a:r>
            <a:r>
              <a:rPr dirty="0" sz="2200" spc="-20" b="1">
                <a:latin typeface="宋体"/>
                <a:cs typeface="宋体"/>
              </a:rPr>
              <a:t>和</a:t>
            </a:r>
            <a:r>
              <a:rPr dirty="0" sz="2200" spc="-10" b="1">
                <a:solidFill>
                  <a:srgbClr val="6600FF"/>
                </a:solidFill>
                <a:latin typeface="宋体"/>
                <a:cs typeface="宋体"/>
              </a:rPr>
              <a:t>S4</a:t>
            </a:r>
            <a:r>
              <a:rPr dirty="0" sz="2200" spc="-25" b="1">
                <a:latin typeface="宋体"/>
                <a:cs typeface="宋体"/>
              </a:rPr>
              <a:t>之间存在输出相关。</a:t>
            </a:r>
            <a:endParaRPr sz="2200">
              <a:latin typeface="宋体"/>
              <a:cs typeface="宋体"/>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92/89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grpSp>
        <p:nvGrpSpPr>
          <p:cNvPr id="8" name="object 8" descr=""/>
          <p:cNvGrpSpPr/>
          <p:nvPr/>
        </p:nvGrpSpPr>
        <p:grpSpPr>
          <a:xfrm>
            <a:off x="7799387" y="682561"/>
            <a:ext cx="4397375" cy="1894205"/>
            <a:chOff x="7799387" y="682561"/>
            <a:chExt cx="4397375" cy="1894205"/>
          </a:xfrm>
        </p:grpSpPr>
        <p:pic>
          <p:nvPicPr>
            <p:cNvPr id="9" name="object 9" descr=""/>
            <p:cNvPicPr/>
            <p:nvPr/>
          </p:nvPicPr>
          <p:blipFill>
            <a:blip r:embed="rId3" cstate="print"/>
            <a:stretch>
              <a:fillRect/>
            </a:stretch>
          </p:blipFill>
          <p:spPr>
            <a:xfrm>
              <a:off x="8180197" y="718063"/>
              <a:ext cx="3829447" cy="1822820"/>
            </a:xfrm>
            <a:prstGeom prst="rect">
              <a:avLst/>
            </a:prstGeom>
          </p:spPr>
        </p:pic>
        <p:sp>
          <p:nvSpPr>
            <p:cNvPr id="10" name="object 10" descr=""/>
            <p:cNvSpPr/>
            <p:nvPr/>
          </p:nvSpPr>
          <p:spPr>
            <a:xfrm>
              <a:off x="7804150" y="687323"/>
              <a:ext cx="4387850" cy="1884680"/>
            </a:xfrm>
            <a:custGeom>
              <a:avLst/>
              <a:gdLst/>
              <a:ahLst/>
              <a:cxnLst/>
              <a:rect l="l" t="t" r="r" b="b"/>
              <a:pathLst>
                <a:path w="4387850" h="1884680">
                  <a:moveTo>
                    <a:pt x="4387850" y="0"/>
                  </a:moveTo>
                  <a:lnTo>
                    <a:pt x="0" y="0"/>
                  </a:lnTo>
                  <a:lnTo>
                    <a:pt x="0" y="1884426"/>
                  </a:lnTo>
                  <a:lnTo>
                    <a:pt x="4387850" y="1884426"/>
                  </a:lnTo>
                </a:path>
              </a:pathLst>
            </a:custGeom>
            <a:ln w="9525">
              <a:solidFill>
                <a:srgbClr val="FF0000"/>
              </a:solidFill>
            </a:ln>
          </p:spPr>
          <p:txBody>
            <a:bodyPr wrap="square" lIns="0" tIns="0" rIns="0" bIns="0" rtlCol="0"/>
            <a:lstStyle/>
            <a:p/>
          </p:txBody>
        </p:sp>
      </p:grpSp>
      <p:sp>
        <p:nvSpPr>
          <p:cNvPr id="11" name="object 11"/>
          <p:cNvSpPr txBox="1">
            <a:spLocks noGrp="1"/>
          </p:cNvSpPr>
          <p:nvPr>
            <p:ph type="title"/>
          </p:nvPr>
        </p:nvSpPr>
        <p:spPr>
          <a:xfrm>
            <a:off x="1403350" y="127838"/>
            <a:ext cx="10801350" cy="514350"/>
          </a:xfrm>
          <a:prstGeom prst="rect"/>
        </p:spPr>
        <p:txBody>
          <a:bodyPr wrap="square" lIns="0" tIns="13335" rIns="0" bIns="0" rtlCol="0" vert="horz">
            <a:spAutoFit/>
          </a:bodyPr>
          <a:lstStyle/>
          <a:p>
            <a:pPr marL="12700">
              <a:lnSpc>
                <a:spcPct val="100000"/>
              </a:lnSpc>
              <a:spcBef>
                <a:spcPts val="105"/>
              </a:spcBef>
              <a:tabLst>
                <a:tab pos="1239520" algn="l"/>
                <a:tab pos="10788015" algn="l"/>
              </a:tabLst>
            </a:pPr>
            <a:r>
              <a:rPr dirty="0"/>
              <a:t>	6.5</a:t>
            </a:r>
            <a:r>
              <a:rPr dirty="0" spc="-15"/>
              <a:t> </a:t>
            </a:r>
            <a:r>
              <a:rPr dirty="0"/>
              <a:t>开发更</a:t>
            </a:r>
            <a:r>
              <a:rPr dirty="0" spc="-25"/>
              <a:t>多</a:t>
            </a:r>
            <a:r>
              <a:rPr dirty="0"/>
              <a:t>的指</a:t>
            </a:r>
            <a:r>
              <a:rPr dirty="0" spc="-20"/>
              <a:t>令</a:t>
            </a:r>
            <a:r>
              <a:rPr dirty="0"/>
              <a:t>级并</a:t>
            </a:r>
            <a:r>
              <a:rPr dirty="0" spc="-50"/>
              <a:t>行</a:t>
            </a:r>
            <a:r>
              <a:rPr dirty="0"/>
              <a:t>	</a:t>
            </a:r>
          </a:p>
        </p:txBody>
      </p:sp>
      <p:sp>
        <p:nvSpPr>
          <p:cNvPr id="12" name="object 12" descr=""/>
          <p:cNvSpPr txBox="1"/>
          <p:nvPr/>
        </p:nvSpPr>
        <p:spPr>
          <a:xfrm>
            <a:off x="122631" y="582548"/>
            <a:ext cx="8602980" cy="5743575"/>
          </a:xfrm>
          <a:prstGeom prst="rect">
            <a:avLst/>
          </a:prstGeom>
        </p:spPr>
        <p:txBody>
          <a:bodyPr wrap="square" lIns="0" tIns="12700" rIns="0" bIns="0" rtlCol="0" vert="horz">
            <a:spAutoFit/>
          </a:bodyPr>
          <a:lstStyle/>
          <a:p>
            <a:pPr marL="598170">
              <a:lnSpc>
                <a:spcPct val="100000"/>
              </a:lnSpc>
              <a:spcBef>
                <a:spcPts val="100"/>
              </a:spcBef>
            </a:pPr>
            <a:r>
              <a:rPr dirty="0" sz="2400" spc="-5">
                <a:solidFill>
                  <a:srgbClr val="FF0000"/>
                </a:solidFill>
                <a:latin typeface="黑体"/>
                <a:cs typeface="黑体"/>
              </a:rPr>
              <a:t>数据相关分析优化方法</a:t>
            </a:r>
            <a:endParaRPr sz="2400">
              <a:latin typeface="黑体"/>
              <a:cs typeface="黑体"/>
            </a:endParaRPr>
          </a:p>
          <a:p>
            <a:pPr marL="1054100" indent="-455930">
              <a:lnSpc>
                <a:spcPct val="100000"/>
              </a:lnSpc>
              <a:buClr>
                <a:srgbClr val="006FC0"/>
              </a:buClr>
              <a:buFont typeface="Wingdings"/>
              <a:buChar char=""/>
              <a:tabLst>
                <a:tab pos="1054100" algn="l"/>
              </a:tabLst>
            </a:pPr>
            <a:r>
              <a:rPr dirty="0" sz="2400" spc="-10">
                <a:solidFill>
                  <a:srgbClr val="40458B"/>
                </a:solidFill>
                <a:latin typeface="黑体"/>
                <a:cs typeface="黑体"/>
              </a:rPr>
              <a:t>重命名优化实例</a:t>
            </a:r>
            <a:endParaRPr sz="2400">
              <a:latin typeface="黑体"/>
              <a:cs typeface="黑体"/>
            </a:endParaRPr>
          </a:p>
          <a:p>
            <a:pPr marL="12700">
              <a:lnSpc>
                <a:spcPct val="100000"/>
              </a:lnSpc>
              <a:spcBef>
                <a:spcPts val="2680"/>
              </a:spcBef>
            </a:pPr>
            <a:r>
              <a:rPr dirty="0" sz="2400" spc="-25" b="1">
                <a:latin typeface="宋体"/>
                <a:cs typeface="宋体"/>
              </a:rPr>
              <a:t>将原代码变换为下面的形式，可以消除所有输出相关和反相关。</a:t>
            </a:r>
            <a:endParaRPr sz="2400">
              <a:latin typeface="宋体"/>
              <a:cs typeface="宋体"/>
            </a:endParaRPr>
          </a:p>
          <a:p>
            <a:pPr marL="1484630">
              <a:lnSpc>
                <a:spcPct val="100000"/>
              </a:lnSpc>
              <a:spcBef>
                <a:spcPts val="865"/>
              </a:spcBef>
            </a:pPr>
            <a:r>
              <a:rPr dirty="0" sz="2400" spc="-10" b="1">
                <a:solidFill>
                  <a:srgbClr val="0000CC"/>
                </a:solidFill>
                <a:latin typeface="宋体"/>
                <a:cs typeface="宋体"/>
              </a:rPr>
              <a:t>for（i=1；i&lt;=100；i=i+1）{</a:t>
            </a:r>
            <a:endParaRPr sz="2400">
              <a:latin typeface="宋体"/>
              <a:cs typeface="宋体"/>
            </a:endParaRPr>
          </a:p>
          <a:p>
            <a:pPr marL="2399030">
              <a:lnSpc>
                <a:spcPct val="100000"/>
              </a:lnSpc>
              <a:spcBef>
                <a:spcPts val="865"/>
              </a:spcBef>
            </a:pPr>
            <a:r>
              <a:rPr dirty="0" sz="2400" b="1">
                <a:latin typeface="宋体"/>
                <a:cs typeface="宋体"/>
              </a:rPr>
              <a:t>/*</a:t>
            </a:r>
            <a:r>
              <a:rPr dirty="0" sz="2400" spc="-15" b="1">
                <a:latin typeface="宋体"/>
                <a:cs typeface="宋体"/>
              </a:rPr>
              <a:t> 将数组</a:t>
            </a:r>
            <a:r>
              <a:rPr dirty="0" sz="2400" spc="-10" b="1">
                <a:latin typeface="宋体"/>
                <a:cs typeface="宋体"/>
              </a:rPr>
              <a:t>Y</a:t>
            </a:r>
            <a:r>
              <a:rPr dirty="0" sz="2400" spc="-25" b="1">
                <a:latin typeface="宋体"/>
                <a:cs typeface="宋体"/>
              </a:rPr>
              <a:t>重命名为</a:t>
            </a:r>
            <a:r>
              <a:rPr dirty="0" sz="2400" spc="-10" b="1">
                <a:latin typeface="宋体"/>
                <a:cs typeface="宋体"/>
              </a:rPr>
              <a:t>T</a:t>
            </a:r>
            <a:r>
              <a:rPr dirty="0" sz="2400" spc="-15" b="1">
                <a:latin typeface="宋体"/>
                <a:cs typeface="宋体"/>
              </a:rPr>
              <a:t>以消除输出相关 </a:t>
            </a:r>
            <a:r>
              <a:rPr dirty="0" sz="2400" spc="-25" b="1">
                <a:latin typeface="宋体"/>
                <a:cs typeface="宋体"/>
              </a:rPr>
              <a:t>*/</a:t>
            </a:r>
            <a:endParaRPr sz="2400">
              <a:latin typeface="宋体"/>
              <a:cs typeface="宋体"/>
            </a:endParaRPr>
          </a:p>
          <a:p>
            <a:pPr marL="2399030">
              <a:lnSpc>
                <a:spcPct val="100000"/>
              </a:lnSpc>
              <a:spcBef>
                <a:spcPts val="865"/>
              </a:spcBef>
            </a:pPr>
            <a:r>
              <a:rPr dirty="0" sz="2400" b="1">
                <a:solidFill>
                  <a:srgbClr val="0000CC"/>
                </a:solidFill>
                <a:latin typeface="宋体"/>
                <a:cs typeface="宋体"/>
              </a:rPr>
              <a:t>T[i]</a:t>
            </a:r>
            <a:r>
              <a:rPr dirty="0" sz="2400" spc="-45" b="1">
                <a:solidFill>
                  <a:srgbClr val="0000CC"/>
                </a:solidFill>
                <a:latin typeface="宋体"/>
                <a:cs typeface="宋体"/>
              </a:rPr>
              <a:t> </a:t>
            </a:r>
            <a:r>
              <a:rPr dirty="0" sz="2400" b="1">
                <a:solidFill>
                  <a:srgbClr val="0000CC"/>
                </a:solidFill>
                <a:latin typeface="宋体"/>
                <a:cs typeface="宋体"/>
              </a:rPr>
              <a:t>=</a:t>
            </a:r>
            <a:r>
              <a:rPr dirty="0" sz="2400" spc="-35" b="1">
                <a:solidFill>
                  <a:srgbClr val="0000CC"/>
                </a:solidFill>
                <a:latin typeface="宋体"/>
                <a:cs typeface="宋体"/>
              </a:rPr>
              <a:t> </a:t>
            </a:r>
            <a:r>
              <a:rPr dirty="0" sz="2400" b="1">
                <a:solidFill>
                  <a:srgbClr val="0000CC"/>
                </a:solidFill>
                <a:latin typeface="宋体"/>
                <a:cs typeface="宋体"/>
              </a:rPr>
              <a:t>X[i]</a:t>
            </a:r>
            <a:r>
              <a:rPr dirty="0" sz="2400" spc="-30" b="1">
                <a:solidFill>
                  <a:srgbClr val="0000CC"/>
                </a:solidFill>
                <a:latin typeface="宋体"/>
                <a:cs typeface="宋体"/>
              </a:rPr>
              <a:t> </a:t>
            </a:r>
            <a:r>
              <a:rPr dirty="0" sz="2400" b="1">
                <a:solidFill>
                  <a:srgbClr val="0000CC"/>
                </a:solidFill>
                <a:latin typeface="宋体"/>
                <a:cs typeface="宋体"/>
              </a:rPr>
              <a:t>/</a:t>
            </a:r>
            <a:r>
              <a:rPr dirty="0" sz="2400" spc="-30" b="1">
                <a:solidFill>
                  <a:srgbClr val="0000CC"/>
                </a:solidFill>
                <a:latin typeface="宋体"/>
                <a:cs typeface="宋体"/>
              </a:rPr>
              <a:t> </a:t>
            </a:r>
            <a:r>
              <a:rPr dirty="0" sz="2400" spc="-25" b="1">
                <a:solidFill>
                  <a:srgbClr val="0000CC"/>
                </a:solidFill>
                <a:latin typeface="宋体"/>
                <a:cs typeface="宋体"/>
              </a:rPr>
              <a:t>c；</a:t>
            </a:r>
            <a:endParaRPr sz="2400">
              <a:latin typeface="宋体"/>
              <a:cs typeface="宋体"/>
            </a:endParaRPr>
          </a:p>
          <a:p>
            <a:pPr marL="2399030" marR="826769">
              <a:lnSpc>
                <a:spcPct val="130000"/>
              </a:lnSpc>
            </a:pPr>
            <a:r>
              <a:rPr dirty="0" sz="2400" b="1">
                <a:latin typeface="宋体"/>
                <a:cs typeface="宋体"/>
              </a:rPr>
              <a:t>/*</a:t>
            </a:r>
            <a:r>
              <a:rPr dirty="0" sz="2400" spc="-15" b="1">
                <a:latin typeface="宋体"/>
                <a:cs typeface="宋体"/>
              </a:rPr>
              <a:t> 将数组</a:t>
            </a:r>
            <a:r>
              <a:rPr dirty="0" sz="2400" spc="-20" b="1">
                <a:latin typeface="宋体"/>
                <a:cs typeface="宋体"/>
              </a:rPr>
              <a:t>X重命名为X1</a:t>
            </a:r>
            <a:r>
              <a:rPr dirty="0" sz="2400" spc="-15" b="1">
                <a:latin typeface="宋体"/>
                <a:cs typeface="宋体"/>
              </a:rPr>
              <a:t>以消除反相关 </a:t>
            </a:r>
            <a:r>
              <a:rPr dirty="0" sz="2400" spc="-25" b="1">
                <a:latin typeface="宋体"/>
                <a:cs typeface="宋体"/>
              </a:rPr>
              <a:t>*/ </a:t>
            </a:r>
            <a:r>
              <a:rPr dirty="0" sz="2400" b="1">
                <a:solidFill>
                  <a:srgbClr val="0000CC"/>
                </a:solidFill>
                <a:latin typeface="宋体"/>
                <a:cs typeface="宋体"/>
              </a:rPr>
              <a:t>X1[i</a:t>
            </a:r>
            <a:r>
              <a:rPr dirty="0" sz="2400" spc="-5" b="1">
                <a:solidFill>
                  <a:srgbClr val="0000CC"/>
                </a:solidFill>
                <a:latin typeface="宋体"/>
                <a:cs typeface="宋体"/>
              </a:rPr>
              <a:t>] = </a:t>
            </a:r>
            <a:r>
              <a:rPr dirty="0" sz="2400" b="1">
                <a:solidFill>
                  <a:srgbClr val="0000CC"/>
                </a:solidFill>
                <a:latin typeface="宋体"/>
                <a:cs typeface="宋体"/>
              </a:rPr>
              <a:t>X[i</a:t>
            </a:r>
            <a:r>
              <a:rPr dirty="0" sz="2400" spc="-5" b="1">
                <a:solidFill>
                  <a:srgbClr val="0000CC"/>
                </a:solidFill>
                <a:latin typeface="宋体"/>
                <a:cs typeface="宋体"/>
              </a:rPr>
              <a:t>] + </a:t>
            </a:r>
            <a:r>
              <a:rPr dirty="0" sz="2400" spc="-25" b="1">
                <a:solidFill>
                  <a:srgbClr val="0000CC"/>
                </a:solidFill>
                <a:latin typeface="宋体"/>
                <a:cs typeface="宋体"/>
              </a:rPr>
              <a:t>c；</a:t>
            </a:r>
            <a:endParaRPr sz="2400">
              <a:latin typeface="宋体"/>
              <a:cs typeface="宋体"/>
            </a:endParaRPr>
          </a:p>
          <a:p>
            <a:pPr marL="2399030" marR="1593215">
              <a:lnSpc>
                <a:spcPct val="130000"/>
              </a:lnSpc>
            </a:pPr>
            <a:r>
              <a:rPr dirty="0" sz="2400" b="1">
                <a:latin typeface="宋体"/>
                <a:cs typeface="宋体"/>
              </a:rPr>
              <a:t>/*</a:t>
            </a:r>
            <a:r>
              <a:rPr dirty="0" sz="2400" spc="-5" b="1">
                <a:latin typeface="宋体"/>
                <a:cs typeface="宋体"/>
              </a:rPr>
              <a:t> 将</a:t>
            </a:r>
            <a:r>
              <a:rPr dirty="0" sz="2400" spc="-20" b="1">
                <a:latin typeface="宋体"/>
                <a:cs typeface="宋体"/>
              </a:rPr>
              <a:t>Y重命名为T</a:t>
            </a:r>
            <a:r>
              <a:rPr dirty="0" sz="2400" spc="-15" b="1">
                <a:latin typeface="宋体"/>
                <a:cs typeface="宋体"/>
              </a:rPr>
              <a:t>以消除反相关 </a:t>
            </a:r>
            <a:r>
              <a:rPr dirty="0" sz="2400" spc="-25" b="1">
                <a:latin typeface="宋体"/>
                <a:cs typeface="宋体"/>
              </a:rPr>
              <a:t>*/ </a:t>
            </a:r>
            <a:r>
              <a:rPr dirty="0" sz="2400" b="1">
                <a:solidFill>
                  <a:srgbClr val="0000CC"/>
                </a:solidFill>
                <a:latin typeface="宋体"/>
                <a:cs typeface="宋体"/>
              </a:rPr>
              <a:t>Z[i</a:t>
            </a:r>
            <a:r>
              <a:rPr dirty="0" sz="2400" spc="-25" b="1">
                <a:solidFill>
                  <a:srgbClr val="0000CC"/>
                </a:solidFill>
                <a:latin typeface="宋体"/>
                <a:cs typeface="宋体"/>
              </a:rPr>
              <a:t>] = </a:t>
            </a:r>
            <a:r>
              <a:rPr dirty="0" sz="2400" b="1">
                <a:solidFill>
                  <a:srgbClr val="0000CC"/>
                </a:solidFill>
                <a:latin typeface="宋体"/>
                <a:cs typeface="宋体"/>
              </a:rPr>
              <a:t>T[i</a:t>
            </a:r>
            <a:r>
              <a:rPr dirty="0" sz="2400" spc="-15" b="1">
                <a:solidFill>
                  <a:srgbClr val="0000CC"/>
                </a:solidFill>
                <a:latin typeface="宋体"/>
                <a:cs typeface="宋体"/>
              </a:rPr>
              <a:t>] + </a:t>
            </a:r>
            <a:r>
              <a:rPr dirty="0" sz="2400" spc="-25" b="1">
                <a:solidFill>
                  <a:srgbClr val="0000CC"/>
                </a:solidFill>
                <a:latin typeface="宋体"/>
                <a:cs typeface="宋体"/>
              </a:rPr>
              <a:t>c；</a:t>
            </a:r>
            <a:endParaRPr sz="2400">
              <a:latin typeface="宋体"/>
              <a:cs typeface="宋体"/>
            </a:endParaRPr>
          </a:p>
          <a:p>
            <a:pPr marL="2399030">
              <a:lnSpc>
                <a:spcPct val="100000"/>
              </a:lnSpc>
              <a:spcBef>
                <a:spcPts val="865"/>
              </a:spcBef>
            </a:pPr>
            <a:r>
              <a:rPr dirty="0" sz="2400" b="1">
                <a:solidFill>
                  <a:srgbClr val="0000CC"/>
                </a:solidFill>
                <a:latin typeface="宋体"/>
                <a:cs typeface="宋体"/>
              </a:rPr>
              <a:t>Y[i]</a:t>
            </a:r>
            <a:r>
              <a:rPr dirty="0" sz="2400" spc="-10" b="1">
                <a:solidFill>
                  <a:srgbClr val="0000CC"/>
                </a:solidFill>
                <a:latin typeface="宋体"/>
                <a:cs typeface="宋体"/>
              </a:rPr>
              <a:t> </a:t>
            </a:r>
            <a:r>
              <a:rPr dirty="0" sz="2400" b="1">
                <a:solidFill>
                  <a:srgbClr val="0000CC"/>
                </a:solidFill>
                <a:latin typeface="宋体"/>
                <a:cs typeface="宋体"/>
              </a:rPr>
              <a:t>=</a:t>
            </a:r>
            <a:r>
              <a:rPr dirty="0" sz="2400" spc="-5" b="1">
                <a:solidFill>
                  <a:srgbClr val="0000CC"/>
                </a:solidFill>
                <a:latin typeface="宋体"/>
                <a:cs typeface="宋体"/>
              </a:rPr>
              <a:t> </a:t>
            </a:r>
            <a:r>
              <a:rPr dirty="0" sz="2400" b="1">
                <a:solidFill>
                  <a:srgbClr val="0000CC"/>
                </a:solidFill>
                <a:latin typeface="宋体"/>
                <a:cs typeface="宋体"/>
              </a:rPr>
              <a:t>c –</a:t>
            </a:r>
            <a:r>
              <a:rPr dirty="0" sz="2400" spc="-10" b="1">
                <a:solidFill>
                  <a:srgbClr val="0000CC"/>
                </a:solidFill>
                <a:latin typeface="宋体"/>
                <a:cs typeface="宋体"/>
              </a:rPr>
              <a:t> T[i]；</a:t>
            </a:r>
            <a:endParaRPr sz="2400">
              <a:latin typeface="宋体"/>
              <a:cs typeface="宋体"/>
            </a:endParaRPr>
          </a:p>
          <a:p>
            <a:pPr marL="1484630">
              <a:lnSpc>
                <a:spcPct val="100000"/>
              </a:lnSpc>
              <a:spcBef>
                <a:spcPts val="865"/>
              </a:spcBef>
            </a:pPr>
            <a:r>
              <a:rPr dirty="0" sz="2400" spc="-50" b="1">
                <a:solidFill>
                  <a:srgbClr val="0000CC"/>
                </a:solidFill>
                <a:latin typeface="宋体"/>
                <a:cs typeface="宋体"/>
              </a:rPr>
              <a:t>}</a:t>
            </a:r>
            <a:endParaRPr sz="2400">
              <a:latin typeface="宋体"/>
              <a:cs typeface="宋体"/>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93/89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574954" y="720597"/>
            <a:ext cx="3224530" cy="1369060"/>
          </a:xfrm>
          <a:prstGeom prst="rect">
            <a:avLst/>
          </a:prstGeom>
        </p:spPr>
        <p:txBody>
          <a:bodyPr wrap="square" lIns="0" tIns="12700" rIns="0" bIns="0" rtlCol="0" vert="horz">
            <a:spAutoFit/>
          </a:bodyPr>
          <a:lstStyle/>
          <a:p>
            <a:pPr marL="163195">
              <a:lnSpc>
                <a:spcPts val="2865"/>
              </a:lnSpc>
              <a:spcBef>
                <a:spcPts val="100"/>
              </a:spcBef>
            </a:pPr>
            <a:r>
              <a:rPr dirty="0" sz="2400" spc="-5">
                <a:solidFill>
                  <a:srgbClr val="FF0000"/>
                </a:solidFill>
                <a:latin typeface="黑体"/>
                <a:cs typeface="黑体"/>
              </a:rPr>
              <a:t>数据相关分析优化方法</a:t>
            </a:r>
            <a:endParaRPr sz="2400">
              <a:latin typeface="黑体"/>
              <a:cs typeface="黑体"/>
            </a:endParaRPr>
          </a:p>
          <a:p>
            <a:pPr marL="467995" indent="-455295">
              <a:lnSpc>
                <a:spcPts val="3345"/>
              </a:lnSpc>
              <a:buClr>
                <a:srgbClr val="40458B"/>
              </a:buClr>
              <a:buSzPct val="89285"/>
              <a:buFont typeface="Wingdings"/>
              <a:buChar char=""/>
              <a:tabLst>
                <a:tab pos="467995" algn="l"/>
              </a:tabLst>
            </a:pPr>
            <a:r>
              <a:rPr dirty="0" sz="2800" spc="-40">
                <a:solidFill>
                  <a:srgbClr val="0000CC"/>
                </a:solidFill>
                <a:latin typeface="黑体"/>
                <a:cs typeface="黑体"/>
              </a:rPr>
              <a:t>值传播优化实例</a:t>
            </a:r>
            <a:endParaRPr sz="2800">
              <a:latin typeface="黑体"/>
              <a:cs typeface="黑体"/>
            </a:endParaRPr>
          </a:p>
          <a:p>
            <a:pPr lvl="1" marL="753110" indent="-455930">
              <a:lnSpc>
                <a:spcPct val="100000"/>
              </a:lnSpc>
              <a:spcBef>
                <a:spcPts val="1010"/>
              </a:spcBef>
              <a:buClr>
                <a:srgbClr val="4668F5"/>
              </a:buClr>
              <a:buSzPct val="58928"/>
              <a:buFont typeface="Wingdings"/>
              <a:buChar char=""/>
              <a:tabLst>
                <a:tab pos="753110" algn="l"/>
              </a:tabLst>
            </a:pPr>
            <a:r>
              <a:rPr dirty="0" sz="2800" spc="-30" b="1">
                <a:solidFill>
                  <a:srgbClr val="D50092"/>
                </a:solidFill>
                <a:latin typeface="宋体"/>
                <a:cs typeface="宋体"/>
              </a:rPr>
              <a:t>优化前代码</a:t>
            </a:r>
            <a:endParaRPr sz="2800">
              <a:latin typeface="宋体"/>
              <a:cs typeface="宋体"/>
            </a:endParaRPr>
          </a:p>
        </p:txBody>
      </p:sp>
      <p:graphicFrame>
        <p:nvGraphicFramePr>
          <p:cNvPr id="9" name="object 9" descr=""/>
          <p:cNvGraphicFramePr>
            <a:graphicFrameLocks noGrp="1"/>
          </p:cNvGraphicFramePr>
          <p:nvPr/>
        </p:nvGraphicFramePr>
        <p:xfrm>
          <a:off x="1755267" y="2255162"/>
          <a:ext cx="7350759" cy="909319"/>
        </p:xfrm>
        <a:graphic>
          <a:graphicData uri="http://schemas.openxmlformats.org/drawingml/2006/table">
            <a:tbl>
              <a:tblPr firstRow="1" bandRow="1">
                <a:tableStyleId>{2D5ABB26-0587-4C30-8999-92F81FD0307C}</a:tableStyleId>
              </a:tblPr>
              <a:tblGrid>
                <a:gridCol w="1485900"/>
                <a:gridCol w="2435225"/>
                <a:gridCol w="715010"/>
                <a:gridCol w="2638424"/>
              </a:tblGrid>
              <a:tr h="454659">
                <a:tc>
                  <a:txBody>
                    <a:bodyPr/>
                    <a:lstStyle/>
                    <a:p>
                      <a:pPr marL="31750">
                        <a:lnSpc>
                          <a:spcPts val="2965"/>
                        </a:lnSpc>
                      </a:pPr>
                      <a:r>
                        <a:rPr dirty="0" sz="2800" spc="-10" b="1">
                          <a:solidFill>
                            <a:srgbClr val="FF5CFF"/>
                          </a:solidFill>
                          <a:latin typeface="宋体"/>
                          <a:cs typeface="宋体"/>
                        </a:rPr>
                        <a:t>DADDUI</a:t>
                      </a:r>
                      <a:endParaRPr sz="2800">
                        <a:latin typeface="宋体"/>
                        <a:cs typeface="宋体"/>
                      </a:endParaRPr>
                    </a:p>
                  </a:txBody>
                  <a:tcPr marL="0" marR="0" marB="0" marT="0"/>
                </a:tc>
                <a:tc>
                  <a:txBody>
                    <a:bodyPr/>
                    <a:lstStyle/>
                    <a:p>
                      <a:pPr algn="ctr" marL="107314">
                        <a:lnSpc>
                          <a:spcPts val="2965"/>
                        </a:lnSpc>
                      </a:pPr>
                      <a:r>
                        <a:rPr dirty="0" sz="2800" spc="-10" b="1">
                          <a:solidFill>
                            <a:srgbClr val="FF3300"/>
                          </a:solidFill>
                          <a:latin typeface="宋体"/>
                          <a:cs typeface="宋体"/>
                        </a:rPr>
                        <a:t>R1</a:t>
                      </a:r>
                      <a:r>
                        <a:rPr dirty="0" sz="2800" spc="-10" b="1">
                          <a:solidFill>
                            <a:srgbClr val="FF5CFF"/>
                          </a:solidFill>
                          <a:latin typeface="宋体"/>
                          <a:cs typeface="宋体"/>
                        </a:rPr>
                        <a:t>，R2，#4</a:t>
                      </a:r>
                      <a:endParaRPr sz="2800">
                        <a:latin typeface="宋体"/>
                        <a:cs typeface="宋体"/>
                      </a:endParaRPr>
                    </a:p>
                  </a:txBody>
                  <a:tcPr marL="0" marR="0" marB="0" marT="0"/>
                </a:tc>
                <a:tc gridSpan="2">
                  <a:txBody>
                    <a:bodyPr/>
                    <a:lstStyle/>
                    <a:p>
                      <a:pPr>
                        <a:lnSpc>
                          <a:spcPct val="100000"/>
                        </a:lnSpc>
                      </a:pPr>
                      <a:endParaRPr sz="2600">
                        <a:latin typeface="Times New Roman"/>
                        <a:cs typeface="Times New Roman"/>
                      </a:endParaRPr>
                    </a:p>
                  </a:txBody>
                  <a:tcPr marL="0" marR="0" marB="0" marT="0"/>
                </a:tc>
                <a:tc hMerge="1">
                  <a:txBody>
                    <a:bodyPr/>
                    <a:lstStyle/>
                    <a:p>
                      <a:pPr/>
                    </a:p>
                  </a:txBody>
                  <a:tcPr marL="0" marR="0" marB="0" marT="0"/>
                </a:tc>
              </a:tr>
              <a:tr h="454659">
                <a:tc>
                  <a:txBody>
                    <a:bodyPr/>
                    <a:lstStyle/>
                    <a:p>
                      <a:pPr marL="31750">
                        <a:lnSpc>
                          <a:spcPts val="3095"/>
                        </a:lnSpc>
                        <a:spcBef>
                          <a:spcPts val="390"/>
                        </a:spcBef>
                      </a:pPr>
                      <a:r>
                        <a:rPr dirty="0" sz="2800" spc="-10" b="1">
                          <a:solidFill>
                            <a:srgbClr val="FF5CFF"/>
                          </a:solidFill>
                          <a:latin typeface="宋体"/>
                          <a:cs typeface="宋体"/>
                        </a:rPr>
                        <a:t>DADDUI</a:t>
                      </a:r>
                      <a:endParaRPr sz="2800">
                        <a:latin typeface="宋体"/>
                        <a:cs typeface="宋体"/>
                      </a:endParaRPr>
                    </a:p>
                  </a:txBody>
                  <a:tcPr marL="0" marR="0" marB="0" marT="49530"/>
                </a:tc>
                <a:tc>
                  <a:txBody>
                    <a:bodyPr/>
                    <a:lstStyle/>
                    <a:p>
                      <a:pPr algn="ctr" marL="104775">
                        <a:lnSpc>
                          <a:spcPts val="3095"/>
                        </a:lnSpc>
                        <a:spcBef>
                          <a:spcPts val="390"/>
                        </a:spcBef>
                      </a:pPr>
                      <a:r>
                        <a:rPr dirty="0" sz="2800" spc="-10" b="1">
                          <a:solidFill>
                            <a:srgbClr val="FF5CFF"/>
                          </a:solidFill>
                          <a:latin typeface="宋体"/>
                          <a:cs typeface="宋体"/>
                        </a:rPr>
                        <a:t>R1，</a:t>
                      </a:r>
                      <a:r>
                        <a:rPr dirty="0" sz="2800" spc="-10" b="1">
                          <a:solidFill>
                            <a:srgbClr val="FF3300"/>
                          </a:solidFill>
                          <a:latin typeface="宋体"/>
                          <a:cs typeface="宋体"/>
                        </a:rPr>
                        <a:t>R1</a:t>
                      </a:r>
                      <a:r>
                        <a:rPr dirty="0" sz="2800" spc="-10" b="1">
                          <a:solidFill>
                            <a:srgbClr val="FF5CFF"/>
                          </a:solidFill>
                          <a:latin typeface="宋体"/>
                          <a:cs typeface="宋体"/>
                        </a:rPr>
                        <a:t>，#4</a:t>
                      </a:r>
                      <a:endParaRPr sz="2800">
                        <a:latin typeface="宋体"/>
                        <a:cs typeface="宋体"/>
                      </a:endParaRPr>
                    </a:p>
                  </a:txBody>
                  <a:tcPr marL="0" marR="0" marB="0" marT="49530"/>
                </a:tc>
                <a:tc>
                  <a:txBody>
                    <a:bodyPr/>
                    <a:lstStyle/>
                    <a:p>
                      <a:pPr marL="267335">
                        <a:lnSpc>
                          <a:spcPts val="3095"/>
                        </a:lnSpc>
                        <a:spcBef>
                          <a:spcPts val="390"/>
                        </a:spcBef>
                      </a:pPr>
                      <a:r>
                        <a:rPr dirty="0" sz="2800" spc="-25" b="1">
                          <a:solidFill>
                            <a:srgbClr val="FF5CFF"/>
                          </a:solidFill>
                          <a:latin typeface="宋体"/>
                          <a:cs typeface="宋体"/>
                        </a:rPr>
                        <a:t>//</a:t>
                      </a:r>
                      <a:endParaRPr sz="2800">
                        <a:latin typeface="宋体"/>
                        <a:cs typeface="宋体"/>
                      </a:endParaRPr>
                    </a:p>
                  </a:txBody>
                  <a:tcPr marL="0" marR="0" marB="0" marT="49530"/>
                </a:tc>
                <a:tc>
                  <a:txBody>
                    <a:bodyPr/>
                    <a:lstStyle/>
                    <a:p>
                      <a:pPr marL="89535">
                        <a:lnSpc>
                          <a:spcPts val="3095"/>
                        </a:lnSpc>
                        <a:spcBef>
                          <a:spcPts val="390"/>
                        </a:spcBef>
                      </a:pPr>
                      <a:r>
                        <a:rPr dirty="0" sz="2800" spc="-10" b="1">
                          <a:solidFill>
                            <a:srgbClr val="FF5CFF"/>
                          </a:solidFill>
                          <a:latin typeface="宋体"/>
                          <a:cs typeface="宋体"/>
                        </a:rPr>
                        <a:t>R1=</a:t>
                      </a:r>
                      <a:r>
                        <a:rPr dirty="0" sz="2800" spc="-10" b="1">
                          <a:solidFill>
                            <a:srgbClr val="00AF50"/>
                          </a:solidFill>
                          <a:latin typeface="宋体"/>
                          <a:cs typeface="宋体"/>
                        </a:rPr>
                        <a:t>R1</a:t>
                      </a:r>
                      <a:r>
                        <a:rPr dirty="0" sz="2800" spc="-10" b="1">
                          <a:solidFill>
                            <a:srgbClr val="FF5CFF"/>
                          </a:solidFill>
                          <a:latin typeface="宋体"/>
                          <a:cs typeface="宋体"/>
                        </a:rPr>
                        <a:t>+4=</a:t>
                      </a:r>
                      <a:r>
                        <a:rPr dirty="0" sz="2800" spc="-10" b="1">
                          <a:solidFill>
                            <a:srgbClr val="00AF50"/>
                          </a:solidFill>
                          <a:latin typeface="宋体"/>
                          <a:cs typeface="宋体"/>
                        </a:rPr>
                        <a:t>R2+4</a:t>
                      </a:r>
                      <a:r>
                        <a:rPr dirty="0" sz="2800" spc="-10" b="1">
                          <a:solidFill>
                            <a:srgbClr val="FF5CFF"/>
                          </a:solidFill>
                          <a:latin typeface="宋体"/>
                          <a:cs typeface="宋体"/>
                        </a:rPr>
                        <a:t>+4</a:t>
                      </a:r>
                      <a:endParaRPr sz="2800">
                        <a:latin typeface="宋体"/>
                        <a:cs typeface="宋体"/>
                      </a:endParaRPr>
                    </a:p>
                  </a:txBody>
                  <a:tcPr marL="0" marR="0" marB="0" marT="49530"/>
                </a:tc>
              </a:tr>
            </a:tbl>
          </a:graphicData>
        </a:graphic>
      </p:graphicFrame>
      <p:sp>
        <p:nvSpPr>
          <p:cNvPr id="10" name="object 10" descr=""/>
          <p:cNvSpPr txBox="1"/>
          <p:nvPr/>
        </p:nvSpPr>
        <p:spPr>
          <a:xfrm>
            <a:off x="467055" y="3174043"/>
            <a:ext cx="11607800" cy="2961005"/>
          </a:xfrm>
          <a:prstGeom prst="rect">
            <a:avLst/>
          </a:prstGeom>
        </p:spPr>
        <p:txBody>
          <a:bodyPr wrap="square" lIns="0" tIns="140335" rIns="0" bIns="0" rtlCol="0" vert="horz">
            <a:spAutoFit/>
          </a:bodyPr>
          <a:lstStyle/>
          <a:p>
            <a:pPr marL="861060" indent="-455930">
              <a:lnSpc>
                <a:spcPct val="100000"/>
              </a:lnSpc>
              <a:spcBef>
                <a:spcPts val="1105"/>
              </a:spcBef>
              <a:buClr>
                <a:srgbClr val="4668F5"/>
              </a:buClr>
              <a:buSzPct val="58928"/>
              <a:buFont typeface="Wingdings"/>
              <a:buChar char=""/>
              <a:tabLst>
                <a:tab pos="861060" algn="l"/>
              </a:tabLst>
            </a:pPr>
            <a:r>
              <a:rPr dirty="0" sz="2800" spc="-30" b="1">
                <a:solidFill>
                  <a:srgbClr val="D50092"/>
                </a:solidFill>
                <a:latin typeface="宋体"/>
                <a:cs typeface="宋体"/>
              </a:rPr>
              <a:t>优化后代码</a:t>
            </a:r>
            <a:endParaRPr sz="2800">
              <a:latin typeface="宋体"/>
              <a:cs typeface="宋体"/>
            </a:endParaRPr>
          </a:p>
          <a:p>
            <a:pPr marL="1319530">
              <a:lnSpc>
                <a:spcPct val="100000"/>
              </a:lnSpc>
              <a:spcBef>
                <a:spcPts val="1005"/>
              </a:spcBef>
              <a:tabLst>
                <a:tab pos="3148965" algn="l"/>
              </a:tabLst>
            </a:pPr>
            <a:r>
              <a:rPr dirty="0" sz="2800" spc="-10" b="1">
                <a:solidFill>
                  <a:srgbClr val="FF5CFF"/>
                </a:solidFill>
                <a:latin typeface="宋体"/>
                <a:cs typeface="宋体"/>
              </a:rPr>
              <a:t>DADDUI</a:t>
            </a:r>
            <a:r>
              <a:rPr dirty="0" sz="2800" b="1">
                <a:solidFill>
                  <a:srgbClr val="FF5CFF"/>
                </a:solidFill>
                <a:latin typeface="宋体"/>
                <a:cs typeface="宋体"/>
              </a:rPr>
              <a:t>	</a:t>
            </a:r>
            <a:r>
              <a:rPr dirty="0" sz="2800" spc="-10" b="1">
                <a:solidFill>
                  <a:srgbClr val="FF5CFF"/>
                </a:solidFill>
                <a:latin typeface="宋体"/>
                <a:cs typeface="宋体"/>
              </a:rPr>
              <a:t>R1，R2，#8</a:t>
            </a:r>
            <a:endParaRPr sz="2800">
              <a:latin typeface="宋体"/>
              <a:cs typeface="宋体"/>
            </a:endParaRPr>
          </a:p>
          <a:p>
            <a:pPr marL="861060" indent="-455930">
              <a:lnSpc>
                <a:spcPct val="100000"/>
              </a:lnSpc>
              <a:spcBef>
                <a:spcPts val="1015"/>
              </a:spcBef>
              <a:buClr>
                <a:srgbClr val="4668F5"/>
              </a:buClr>
              <a:buSzPct val="58928"/>
              <a:buFont typeface="Wingdings"/>
              <a:buChar char=""/>
              <a:tabLst>
                <a:tab pos="861060" algn="l"/>
              </a:tabLst>
            </a:pPr>
            <a:r>
              <a:rPr dirty="0" sz="2800" spc="-30" b="1">
                <a:solidFill>
                  <a:srgbClr val="FF5CFF"/>
                </a:solidFill>
                <a:latin typeface="宋体"/>
                <a:cs typeface="宋体"/>
              </a:rPr>
              <a:t>值传播优化通过将变量替换为已知的值或表达式以达到消除数据相关</a:t>
            </a:r>
            <a:endParaRPr sz="2800">
              <a:latin typeface="宋体"/>
              <a:cs typeface="宋体"/>
            </a:endParaRPr>
          </a:p>
          <a:p>
            <a:pPr>
              <a:lnSpc>
                <a:spcPct val="100000"/>
              </a:lnSpc>
              <a:spcBef>
                <a:spcPts val="830"/>
              </a:spcBef>
            </a:pPr>
            <a:endParaRPr sz="2800">
              <a:latin typeface="宋体"/>
              <a:cs typeface="宋体"/>
            </a:endParaRPr>
          </a:p>
          <a:p>
            <a:pPr marL="12700" marR="5080">
              <a:lnSpc>
                <a:spcPts val="2810"/>
              </a:lnSpc>
            </a:pPr>
            <a:r>
              <a:rPr dirty="0" sz="2400" spc="-5">
                <a:solidFill>
                  <a:srgbClr val="FF0000"/>
                </a:solidFill>
                <a:latin typeface="黑体"/>
                <a:cs typeface="黑体"/>
              </a:rPr>
              <a:t>在多流出处理器中，这种方法在缩短执行时间上不是最佳的，最佳选择是对应指令数据流图中关键路径长度的缩短才是性能提升的关键</a:t>
            </a:r>
            <a:endParaRPr sz="2400">
              <a:latin typeface="黑体"/>
              <a:cs typeface="黑体"/>
            </a:endParaRPr>
          </a:p>
        </p:txBody>
      </p:sp>
      <p:sp>
        <p:nvSpPr>
          <p:cNvPr id="11" name="object 11"/>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239520" algn="l"/>
                <a:tab pos="10788015" algn="l"/>
              </a:tabLst>
            </a:pPr>
            <a:r>
              <a:rPr dirty="0"/>
              <a:t>	6.5</a:t>
            </a:r>
            <a:r>
              <a:rPr dirty="0" spc="-15"/>
              <a:t> </a:t>
            </a:r>
            <a:r>
              <a:rPr dirty="0"/>
              <a:t>开发更</a:t>
            </a:r>
            <a:r>
              <a:rPr dirty="0" spc="-25"/>
              <a:t>多</a:t>
            </a:r>
            <a:r>
              <a:rPr dirty="0"/>
              <a:t>的指</a:t>
            </a:r>
            <a:r>
              <a:rPr dirty="0" spc="-20"/>
              <a:t>令</a:t>
            </a:r>
            <a:r>
              <a:rPr dirty="0"/>
              <a:t>级并</a:t>
            </a:r>
            <a:r>
              <a:rPr dirty="0" spc="-50"/>
              <a:t>行</a:t>
            </a:r>
            <a:r>
              <a:rPr dirty="0"/>
              <a:t>	</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94/89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258876" y="1548129"/>
            <a:ext cx="3324225" cy="452120"/>
          </a:xfrm>
          <a:prstGeom prst="rect">
            <a:avLst/>
          </a:prstGeom>
        </p:spPr>
        <p:txBody>
          <a:bodyPr wrap="square" lIns="0" tIns="12065" rIns="0" bIns="0" rtlCol="0" vert="horz">
            <a:spAutoFit/>
          </a:bodyPr>
          <a:lstStyle/>
          <a:p>
            <a:pPr marL="467995" indent="-455295">
              <a:lnSpc>
                <a:spcPct val="100000"/>
              </a:lnSpc>
              <a:spcBef>
                <a:spcPts val="95"/>
              </a:spcBef>
              <a:buClr>
                <a:srgbClr val="40458B"/>
              </a:buClr>
              <a:buSzPct val="89285"/>
              <a:buFont typeface="Wingdings"/>
              <a:buChar char=""/>
              <a:tabLst>
                <a:tab pos="467995" algn="l"/>
              </a:tabLst>
            </a:pPr>
            <a:r>
              <a:rPr dirty="0" sz="2800" spc="-40">
                <a:solidFill>
                  <a:srgbClr val="0000CC"/>
                </a:solidFill>
                <a:latin typeface="黑体"/>
                <a:cs typeface="黑体"/>
              </a:rPr>
              <a:t>高度消减优化实例</a:t>
            </a:r>
            <a:endParaRPr sz="2800">
              <a:latin typeface="黑体"/>
              <a:cs typeface="黑体"/>
            </a:endParaRPr>
          </a:p>
        </p:txBody>
      </p:sp>
      <p:sp>
        <p:nvSpPr>
          <p:cNvPr id="9" name="object 9" descr=""/>
          <p:cNvSpPr txBox="1"/>
          <p:nvPr/>
        </p:nvSpPr>
        <p:spPr>
          <a:xfrm>
            <a:off x="543864" y="2565857"/>
            <a:ext cx="2165985" cy="391795"/>
          </a:xfrm>
          <a:prstGeom prst="rect">
            <a:avLst/>
          </a:prstGeom>
        </p:spPr>
        <p:txBody>
          <a:bodyPr wrap="square" lIns="0" tIns="12700" rIns="0" bIns="0" rtlCol="0" vert="horz">
            <a:spAutoFit/>
          </a:bodyPr>
          <a:lstStyle/>
          <a:p>
            <a:pPr marL="467995" indent="-455295">
              <a:lnSpc>
                <a:spcPct val="100000"/>
              </a:lnSpc>
              <a:spcBef>
                <a:spcPts val="100"/>
              </a:spcBef>
              <a:buClr>
                <a:srgbClr val="4668F5"/>
              </a:buClr>
              <a:buSzPct val="60416"/>
              <a:buFont typeface="Wingdings"/>
              <a:buChar char=""/>
              <a:tabLst>
                <a:tab pos="467995" algn="l"/>
              </a:tabLst>
            </a:pPr>
            <a:r>
              <a:rPr dirty="0" sz="2400" spc="-25" b="1">
                <a:solidFill>
                  <a:srgbClr val="FF5CFF"/>
                </a:solidFill>
                <a:latin typeface="宋体"/>
                <a:cs typeface="宋体"/>
              </a:rPr>
              <a:t>优化前代码</a:t>
            </a:r>
            <a:r>
              <a:rPr dirty="0" sz="2400" spc="-60" b="1">
                <a:solidFill>
                  <a:srgbClr val="FF5CFF"/>
                </a:solidFill>
                <a:latin typeface="宋体"/>
                <a:cs typeface="宋体"/>
              </a:rPr>
              <a:t>I</a:t>
            </a:r>
            <a:endParaRPr sz="2400">
              <a:latin typeface="宋体"/>
              <a:cs typeface="宋体"/>
            </a:endParaRPr>
          </a:p>
        </p:txBody>
      </p:sp>
      <p:sp>
        <p:nvSpPr>
          <p:cNvPr id="10" name="object 10" descr=""/>
          <p:cNvSpPr txBox="1"/>
          <p:nvPr/>
        </p:nvSpPr>
        <p:spPr>
          <a:xfrm>
            <a:off x="543864" y="2090673"/>
            <a:ext cx="11195050" cy="709930"/>
          </a:xfrm>
          <a:prstGeom prst="rect">
            <a:avLst/>
          </a:prstGeom>
        </p:spPr>
        <p:txBody>
          <a:bodyPr wrap="square" lIns="0" tIns="12700" rIns="0" bIns="0" rtlCol="0" vert="horz">
            <a:spAutoFit/>
          </a:bodyPr>
          <a:lstStyle/>
          <a:p>
            <a:pPr marL="467995" indent="-455295">
              <a:lnSpc>
                <a:spcPts val="2695"/>
              </a:lnSpc>
              <a:spcBef>
                <a:spcPts val="100"/>
              </a:spcBef>
              <a:buClr>
                <a:srgbClr val="4668F5"/>
              </a:buClr>
              <a:buSzPct val="60416"/>
              <a:buFont typeface="Wingdings"/>
              <a:buChar char=""/>
              <a:tabLst>
                <a:tab pos="467995" algn="l"/>
              </a:tabLst>
            </a:pPr>
            <a:r>
              <a:rPr dirty="0" sz="2400" spc="-25" b="1">
                <a:solidFill>
                  <a:srgbClr val="D50092"/>
                </a:solidFill>
                <a:latin typeface="宋体"/>
                <a:cs typeface="宋体"/>
              </a:rPr>
              <a:t>目的：</a:t>
            </a:r>
            <a:r>
              <a:rPr dirty="0" sz="2400" spc="-25" b="1">
                <a:solidFill>
                  <a:srgbClr val="FF5CFF"/>
                </a:solidFill>
                <a:latin typeface="宋体"/>
                <a:cs typeface="宋体"/>
              </a:rPr>
              <a:t>缩短数据流图中关键路径的长度</a:t>
            </a:r>
            <a:endParaRPr sz="2400">
              <a:latin typeface="宋体"/>
              <a:cs typeface="宋体"/>
            </a:endParaRPr>
          </a:p>
          <a:p>
            <a:pPr marL="3737610">
              <a:lnSpc>
                <a:spcPts val="2695"/>
              </a:lnSpc>
            </a:pPr>
            <a:r>
              <a:rPr dirty="0" sz="2400">
                <a:solidFill>
                  <a:srgbClr val="006FC0"/>
                </a:solidFill>
                <a:latin typeface="黑体"/>
                <a:cs typeface="黑体"/>
              </a:rPr>
              <a:t>数据流关键路径为：</a:t>
            </a:r>
            <a:r>
              <a:rPr dirty="0" sz="2400">
                <a:solidFill>
                  <a:srgbClr val="006FC0"/>
                </a:solidFill>
                <a:latin typeface="Calibri"/>
                <a:cs typeface="Calibri"/>
              </a:rPr>
              <a:t>R2/R3</a:t>
            </a:r>
            <a:r>
              <a:rPr dirty="0" sz="2400" spc="-20">
                <a:solidFill>
                  <a:srgbClr val="006FC0"/>
                </a:solidFill>
                <a:latin typeface="Calibri"/>
                <a:cs typeface="Calibri"/>
              </a:rPr>
              <a:t> -&gt; </a:t>
            </a:r>
            <a:r>
              <a:rPr dirty="0" sz="2400">
                <a:solidFill>
                  <a:srgbClr val="006FC0"/>
                </a:solidFill>
                <a:latin typeface="Calibri"/>
                <a:cs typeface="Calibri"/>
              </a:rPr>
              <a:t>I1</a:t>
            </a:r>
            <a:r>
              <a:rPr dirty="0" sz="2400" spc="-10">
                <a:solidFill>
                  <a:srgbClr val="006FC0"/>
                </a:solidFill>
                <a:latin typeface="Calibri"/>
                <a:cs typeface="Calibri"/>
              </a:rPr>
              <a:t> -&gt; </a:t>
            </a:r>
            <a:r>
              <a:rPr dirty="0" sz="2400">
                <a:solidFill>
                  <a:srgbClr val="006FC0"/>
                </a:solidFill>
                <a:latin typeface="Calibri"/>
                <a:cs typeface="Calibri"/>
              </a:rPr>
              <a:t>R1</a:t>
            </a:r>
            <a:r>
              <a:rPr dirty="0" sz="2400" spc="-10">
                <a:solidFill>
                  <a:srgbClr val="006FC0"/>
                </a:solidFill>
                <a:latin typeface="Calibri"/>
                <a:cs typeface="Calibri"/>
              </a:rPr>
              <a:t> -&gt; </a:t>
            </a:r>
            <a:r>
              <a:rPr dirty="0" sz="2400">
                <a:solidFill>
                  <a:srgbClr val="006FC0"/>
                </a:solidFill>
                <a:latin typeface="Calibri"/>
                <a:cs typeface="Calibri"/>
              </a:rPr>
              <a:t>I2</a:t>
            </a:r>
            <a:r>
              <a:rPr dirty="0" sz="2400" spc="-10">
                <a:solidFill>
                  <a:srgbClr val="006FC0"/>
                </a:solidFill>
                <a:latin typeface="Calibri"/>
                <a:cs typeface="Calibri"/>
              </a:rPr>
              <a:t> -&gt; </a:t>
            </a:r>
            <a:r>
              <a:rPr dirty="0" sz="2400">
                <a:solidFill>
                  <a:srgbClr val="006FC0"/>
                </a:solidFill>
                <a:latin typeface="Calibri"/>
                <a:cs typeface="Calibri"/>
              </a:rPr>
              <a:t>R4</a:t>
            </a:r>
            <a:r>
              <a:rPr dirty="0" sz="2400" spc="-10">
                <a:solidFill>
                  <a:srgbClr val="006FC0"/>
                </a:solidFill>
                <a:latin typeface="Calibri"/>
                <a:cs typeface="Calibri"/>
              </a:rPr>
              <a:t> -&gt; </a:t>
            </a:r>
            <a:r>
              <a:rPr dirty="0" sz="2400">
                <a:solidFill>
                  <a:srgbClr val="006FC0"/>
                </a:solidFill>
                <a:latin typeface="Calibri"/>
                <a:cs typeface="Calibri"/>
              </a:rPr>
              <a:t>I3</a:t>
            </a:r>
            <a:r>
              <a:rPr dirty="0" sz="2400" spc="-10">
                <a:solidFill>
                  <a:srgbClr val="006FC0"/>
                </a:solidFill>
                <a:latin typeface="Calibri"/>
                <a:cs typeface="Calibri"/>
              </a:rPr>
              <a:t> -&gt; </a:t>
            </a:r>
            <a:r>
              <a:rPr dirty="0" sz="2400" spc="-25">
                <a:solidFill>
                  <a:srgbClr val="006FC0"/>
                </a:solidFill>
                <a:latin typeface="Calibri"/>
                <a:cs typeface="Calibri"/>
              </a:rPr>
              <a:t>R8</a:t>
            </a:r>
            <a:endParaRPr sz="2400">
              <a:latin typeface="Calibri"/>
              <a:cs typeface="Calibri"/>
            </a:endParaRPr>
          </a:p>
        </p:txBody>
      </p:sp>
      <p:graphicFrame>
        <p:nvGraphicFramePr>
          <p:cNvPr id="11" name="object 11" descr=""/>
          <p:cNvGraphicFramePr>
            <a:graphicFrameLocks noGrp="1"/>
          </p:cNvGraphicFramePr>
          <p:nvPr/>
        </p:nvGraphicFramePr>
        <p:xfrm>
          <a:off x="1439544" y="3097593"/>
          <a:ext cx="4114800" cy="1254760"/>
        </p:xfrm>
        <a:graphic>
          <a:graphicData uri="http://schemas.openxmlformats.org/drawingml/2006/table">
            <a:tbl>
              <a:tblPr firstRow="1" bandRow="1">
                <a:tableStyleId>{2D5ABB26-0587-4C30-8999-92F81FD0307C}</a:tableStyleId>
              </a:tblPr>
              <a:tblGrid>
                <a:gridCol w="720090"/>
                <a:gridCol w="1909445"/>
                <a:gridCol w="531494"/>
                <a:gridCol w="462280"/>
                <a:gridCol w="417195"/>
              </a:tblGrid>
              <a:tr h="389890">
                <a:tc>
                  <a:txBody>
                    <a:bodyPr/>
                    <a:lstStyle/>
                    <a:p>
                      <a:pPr marL="31750">
                        <a:lnSpc>
                          <a:spcPts val="2540"/>
                        </a:lnSpc>
                      </a:pPr>
                      <a:r>
                        <a:rPr dirty="0" sz="2400" spc="-25" b="1">
                          <a:solidFill>
                            <a:srgbClr val="40458B"/>
                          </a:solidFill>
                          <a:latin typeface="宋体"/>
                          <a:cs typeface="宋体"/>
                        </a:rPr>
                        <a:t>ADD</a:t>
                      </a:r>
                      <a:endParaRPr sz="2400">
                        <a:latin typeface="宋体"/>
                        <a:cs typeface="宋体"/>
                      </a:endParaRPr>
                    </a:p>
                  </a:txBody>
                  <a:tcPr marL="0" marR="0" marB="0" marT="0"/>
                </a:tc>
                <a:tc>
                  <a:txBody>
                    <a:bodyPr/>
                    <a:lstStyle/>
                    <a:p>
                      <a:pPr algn="ctr" marL="79375">
                        <a:lnSpc>
                          <a:spcPts val="2540"/>
                        </a:lnSpc>
                      </a:pPr>
                      <a:r>
                        <a:rPr dirty="0" sz="2400" spc="-10" b="1">
                          <a:solidFill>
                            <a:srgbClr val="40458B"/>
                          </a:solidFill>
                          <a:latin typeface="宋体"/>
                          <a:cs typeface="宋体"/>
                        </a:rPr>
                        <a:t>R1，R2，R3</a:t>
                      </a:r>
                      <a:endParaRPr sz="2400">
                        <a:latin typeface="宋体"/>
                        <a:cs typeface="宋体"/>
                      </a:endParaRPr>
                    </a:p>
                  </a:txBody>
                  <a:tcPr marL="0" marR="0" marB="0" marT="0"/>
                </a:tc>
                <a:tc>
                  <a:txBody>
                    <a:bodyPr/>
                    <a:lstStyle/>
                    <a:p>
                      <a:pPr algn="ctr" marL="69215">
                        <a:lnSpc>
                          <a:spcPts val="2540"/>
                        </a:lnSpc>
                      </a:pPr>
                      <a:r>
                        <a:rPr dirty="0" sz="2400" spc="-25" b="1">
                          <a:solidFill>
                            <a:srgbClr val="FF5CFF"/>
                          </a:solidFill>
                          <a:latin typeface="宋体"/>
                          <a:cs typeface="宋体"/>
                        </a:rPr>
                        <a:t>/*</a:t>
                      </a:r>
                      <a:endParaRPr sz="2400">
                        <a:latin typeface="宋体"/>
                        <a:cs typeface="宋体"/>
                      </a:endParaRPr>
                    </a:p>
                  </a:txBody>
                  <a:tcPr marL="0" marR="0" marB="0" marT="0"/>
                </a:tc>
                <a:tc>
                  <a:txBody>
                    <a:bodyPr/>
                    <a:lstStyle/>
                    <a:p>
                      <a:pPr algn="ctr">
                        <a:lnSpc>
                          <a:spcPts val="2540"/>
                        </a:lnSpc>
                      </a:pPr>
                      <a:r>
                        <a:rPr dirty="0" sz="2400" spc="-25" b="1">
                          <a:solidFill>
                            <a:srgbClr val="FF5CFF"/>
                          </a:solidFill>
                          <a:latin typeface="宋体"/>
                          <a:cs typeface="宋体"/>
                        </a:rPr>
                        <a:t>I1</a:t>
                      </a:r>
                      <a:endParaRPr sz="2400">
                        <a:latin typeface="宋体"/>
                        <a:cs typeface="宋体"/>
                      </a:endParaRPr>
                    </a:p>
                  </a:txBody>
                  <a:tcPr marL="0" marR="0" marB="0" marT="0"/>
                </a:tc>
                <a:tc>
                  <a:txBody>
                    <a:bodyPr/>
                    <a:lstStyle/>
                    <a:p>
                      <a:pPr algn="ctr" marL="45085">
                        <a:lnSpc>
                          <a:spcPts val="2540"/>
                        </a:lnSpc>
                      </a:pPr>
                      <a:r>
                        <a:rPr dirty="0" sz="2400" spc="-25" b="1">
                          <a:solidFill>
                            <a:srgbClr val="FF5CFF"/>
                          </a:solidFill>
                          <a:latin typeface="宋体"/>
                          <a:cs typeface="宋体"/>
                        </a:rPr>
                        <a:t>*/</a:t>
                      </a:r>
                      <a:endParaRPr sz="2400">
                        <a:latin typeface="宋体"/>
                        <a:cs typeface="宋体"/>
                      </a:endParaRPr>
                    </a:p>
                  </a:txBody>
                  <a:tcPr marL="0" marR="0" marB="0" marT="0"/>
                </a:tc>
              </a:tr>
              <a:tr h="474980">
                <a:tc>
                  <a:txBody>
                    <a:bodyPr/>
                    <a:lstStyle/>
                    <a:p>
                      <a:pPr marL="31750">
                        <a:lnSpc>
                          <a:spcPct val="100000"/>
                        </a:lnSpc>
                        <a:spcBef>
                          <a:spcPts val="334"/>
                        </a:spcBef>
                      </a:pPr>
                      <a:r>
                        <a:rPr dirty="0" sz="2400" spc="-25" b="1">
                          <a:solidFill>
                            <a:srgbClr val="40458B"/>
                          </a:solidFill>
                          <a:latin typeface="宋体"/>
                          <a:cs typeface="宋体"/>
                        </a:rPr>
                        <a:t>ADD</a:t>
                      </a:r>
                      <a:endParaRPr sz="2400">
                        <a:latin typeface="宋体"/>
                        <a:cs typeface="宋体"/>
                      </a:endParaRPr>
                    </a:p>
                  </a:txBody>
                  <a:tcPr marL="0" marR="0" marB="0" marT="42544"/>
                </a:tc>
                <a:tc>
                  <a:txBody>
                    <a:bodyPr/>
                    <a:lstStyle/>
                    <a:p>
                      <a:pPr algn="ctr" marL="79375">
                        <a:lnSpc>
                          <a:spcPct val="100000"/>
                        </a:lnSpc>
                        <a:spcBef>
                          <a:spcPts val="334"/>
                        </a:spcBef>
                      </a:pPr>
                      <a:r>
                        <a:rPr dirty="0" sz="2400" spc="-10" b="1">
                          <a:solidFill>
                            <a:srgbClr val="40458B"/>
                          </a:solidFill>
                          <a:latin typeface="宋体"/>
                          <a:cs typeface="宋体"/>
                        </a:rPr>
                        <a:t>R4，R1，R6</a:t>
                      </a:r>
                      <a:endParaRPr sz="2400">
                        <a:latin typeface="宋体"/>
                        <a:cs typeface="宋体"/>
                      </a:endParaRPr>
                    </a:p>
                  </a:txBody>
                  <a:tcPr marL="0" marR="0" marB="0" marT="42544"/>
                </a:tc>
                <a:tc>
                  <a:txBody>
                    <a:bodyPr/>
                    <a:lstStyle/>
                    <a:p>
                      <a:pPr algn="ctr" marL="69215">
                        <a:lnSpc>
                          <a:spcPct val="100000"/>
                        </a:lnSpc>
                        <a:spcBef>
                          <a:spcPts val="334"/>
                        </a:spcBef>
                      </a:pPr>
                      <a:r>
                        <a:rPr dirty="0" sz="2400" spc="-25" b="1">
                          <a:solidFill>
                            <a:srgbClr val="FF5CFF"/>
                          </a:solidFill>
                          <a:latin typeface="宋体"/>
                          <a:cs typeface="宋体"/>
                        </a:rPr>
                        <a:t>/*</a:t>
                      </a:r>
                      <a:endParaRPr sz="2400">
                        <a:latin typeface="宋体"/>
                        <a:cs typeface="宋体"/>
                      </a:endParaRPr>
                    </a:p>
                  </a:txBody>
                  <a:tcPr marL="0" marR="0" marB="0" marT="42544"/>
                </a:tc>
                <a:tc>
                  <a:txBody>
                    <a:bodyPr/>
                    <a:lstStyle/>
                    <a:p>
                      <a:pPr algn="ctr">
                        <a:lnSpc>
                          <a:spcPct val="100000"/>
                        </a:lnSpc>
                        <a:spcBef>
                          <a:spcPts val="334"/>
                        </a:spcBef>
                      </a:pPr>
                      <a:r>
                        <a:rPr dirty="0" sz="2400" spc="-25" b="1">
                          <a:solidFill>
                            <a:srgbClr val="FF5CFF"/>
                          </a:solidFill>
                          <a:latin typeface="宋体"/>
                          <a:cs typeface="宋体"/>
                        </a:rPr>
                        <a:t>I2</a:t>
                      </a:r>
                      <a:endParaRPr sz="2400">
                        <a:latin typeface="宋体"/>
                        <a:cs typeface="宋体"/>
                      </a:endParaRPr>
                    </a:p>
                  </a:txBody>
                  <a:tcPr marL="0" marR="0" marB="0" marT="42544"/>
                </a:tc>
                <a:tc>
                  <a:txBody>
                    <a:bodyPr/>
                    <a:lstStyle/>
                    <a:p>
                      <a:pPr algn="ctr" marL="45085">
                        <a:lnSpc>
                          <a:spcPct val="100000"/>
                        </a:lnSpc>
                        <a:spcBef>
                          <a:spcPts val="334"/>
                        </a:spcBef>
                      </a:pPr>
                      <a:r>
                        <a:rPr dirty="0" sz="2400" spc="-25" b="1">
                          <a:solidFill>
                            <a:srgbClr val="FF5CFF"/>
                          </a:solidFill>
                          <a:latin typeface="宋体"/>
                          <a:cs typeface="宋体"/>
                        </a:rPr>
                        <a:t>*/</a:t>
                      </a:r>
                      <a:endParaRPr sz="2400">
                        <a:latin typeface="宋体"/>
                        <a:cs typeface="宋体"/>
                      </a:endParaRPr>
                    </a:p>
                  </a:txBody>
                  <a:tcPr marL="0" marR="0" marB="0" marT="42544"/>
                </a:tc>
              </a:tr>
              <a:tr h="389890">
                <a:tc>
                  <a:txBody>
                    <a:bodyPr/>
                    <a:lstStyle/>
                    <a:p>
                      <a:pPr marL="31750">
                        <a:lnSpc>
                          <a:spcPts val="2640"/>
                        </a:lnSpc>
                        <a:spcBef>
                          <a:spcPts val="335"/>
                        </a:spcBef>
                      </a:pPr>
                      <a:r>
                        <a:rPr dirty="0" sz="2400" spc="-25" b="1">
                          <a:solidFill>
                            <a:srgbClr val="40458B"/>
                          </a:solidFill>
                          <a:latin typeface="宋体"/>
                          <a:cs typeface="宋体"/>
                        </a:rPr>
                        <a:t>ADD</a:t>
                      </a:r>
                      <a:endParaRPr sz="2400">
                        <a:latin typeface="宋体"/>
                        <a:cs typeface="宋体"/>
                      </a:endParaRPr>
                    </a:p>
                  </a:txBody>
                  <a:tcPr marL="0" marR="0" marB="0" marT="42545"/>
                </a:tc>
                <a:tc>
                  <a:txBody>
                    <a:bodyPr/>
                    <a:lstStyle/>
                    <a:p>
                      <a:pPr algn="ctr" marL="79375">
                        <a:lnSpc>
                          <a:spcPts val="2640"/>
                        </a:lnSpc>
                        <a:spcBef>
                          <a:spcPts val="335"/>
                        </a:spcBef>
                      </a:pPr>
                      <a:r>
                        <a:rPr dirty="0" sz="2400" spc="-10" b="1">
                          <a:solidFill>
                            <a:srgbClr val="40458B"/>
                          </a:solidFill>
                          <a:latin typeface="宋体"/>
                          <a:cs typeface="宋体"/>
                        </a:rPr>
                        <a:t>R8，R4，R7</a:t>
                      </a:r>
                      <a:endParaRPr sz="2400">
                        <a:latin typeface="宋体"/>
                        <a:cs typeface="宋体"/>
                      </a:endParaRPr>
                    </a:p>
                  </a:txBody>
                  <a:tcPr marL="0" marR="0" marB="0" marT="42545"/>
                </a:tc>
                <a:tc>
                  <a:txBody>
                    <a:bodyPr/>
                    <a:lstStyle/>
                    <a:p>
                      <a:pPr algn="ctr" marL="69215">
                        <a:lnSpc>
                          <a:spcPts val="2640"/>
                        </a:lnSpc>
                        <a:spcBef>
                          <a:spcPts val="335"/>
                        </a:spcBef>
                      </a:pPr>
                      <a:r>
                        <a:rPr dirty="0" sz="2400" spc="-25" b="1">
                          <a:solidFill>
                            <a:srgbClr val="FF5CFF"/>
                          </a:solidFill>
                          <a:latin typeface="宋体"/>
                          <a:cs typeface="宋体"/>
                        </a:rPr>
                        <a:t>/*</a:t>
                      </a:r>
                      <a:endParaRPr sz="2400">
                        <a:latin typeface="宋体"/>
                        <a:cs typeface="宋体"/>
                      </a:endParaRPr>
                    </a:p>
                  </a:txBody>
                  <a:tcPr marL="0" marR="0" marB="0" marT="42545"/>
                </a:tc>
                <a:tc>
                  <a:txBody>
                    <a:bodyPr/>
                    <a:lstStyle/>
                    <a:p>
                      <a:pPr algn="ctr">
                        <a:lnSpc>
                          <a:spcPts val="2640"/>
                        </a:lnSpc>
                        <a:spcBef>
                          <a:spcPts val="335"/>
                        </a:spcBef>
                      </a:pPr>
                      <a:r>
                        <a:rPr dirty="0" sz="2400" spc="-25" b="1">
                          <a:solidFill>
                            <a:srgbClr val="FF5CFF"/>
                          </a:solidFill>
                          <a:latin typeface="宋体"/>
                          <a:cs typeface="宋体"/>
                        </a:rPr>
                        <a:t>I3</a:t>
                      </a:r>
                      <a:endParaRPr sz="2400">
                        <a:latin typeface="宋体"/>
                        <a:cs typeface="宋体"/>
                      </a:endParaRPr>
                    </a:p>
                  </a:txBody>
                  <a:tcPr marL="0" marR="0" marB="0" marT="42545"/>
                </a:tc>
                <a:tc>
                  <a:txBody>
                    <a:bodyPr/>
                    <a:lstStyle/>
                    <a:p>
                      <a:pPr algn="ctr" marL="45085">
                        <a:lnSpc>
                          <a:spcPts val="2640"/>
                        </a:lnSpc>
                        <a:spcBef>
                          <a:spcPts val="335"/>
                        </a:spcBef>
                      </a:pPr>
                      <a:r>
                        <a:rPr dirty="0" sz="2400" spc="-25" b="1">
                          <a:solidFill>
                            <a:srgbClr val="FF5CFF"/>
                          </a:solidFill>
                          <a:latin typeface="宋体"/>
                          <a:cs typeface="宋体"/>
                        </a:rPr>
                        <a:t>*/</a:t>
                      </a:r>
                      <a:endParaRPr sz="2400">
                        <a:latin typeface="宋体"/>
                        <a:cs typeface="宋体"/>
                      </a:endParaRPr>
                    </a:p>
                  </a:txBody>
                  <a:tcPr marL="0" marR="0" marB="0" marT="42545"/>
                </a:tc>
              </a:tr>
            </a:tbl>
          </a:graphicData>
        </a:graphic>
      </p:graphicFrame>
      <p:sp>
        <p:nvSpPr>
          <p:cNvPr id="12" name="object 12"/>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239520" algn="l"/>
                <a:tab pos="10788015" algn="l"/>
              </a:tabLst>
            </a:pPr>
            <a:r>
              <a:rPr dirty="0"/>
              <a:t>	6.5</a:t>
            </a:r>
            <a:r>
              <a:rPr dirty="0" spc="-15"/>
              <a:t> </a:t>
            </a:r>
            <a:r>
              <a:rPr dirty="0"/>
              <a:t>开发更</a:t>
            </a:r>
            <a:r>
              <a:rPr dirty="0" spc="-25"/>
              <a:t>多</a:t>
            </a:r>
            <a:r>
              <a:rPr dirty="0"/>
              <a:t>的指</a:t>
            </a:r>
            <a:r>
              <a:rPr dirty="0" spc="-20"/>
              <a:t>令</a:t>
            </a:r>
            <a:r>
              <a:rPr dirty="0"/>
              <a:t>级并</a:t>
            </a:r>
            <a:r>
              <a:rPr dirty="0" spc="-50"/>
              <a:t>行</a:t>
            </a:r>
            <a:r>
              <a:rPr dirty="0"/>
              <a:t>	</a:t>
            </a:r>
          </a:p>
        </p:txBody>
      </p:sp>
      <p:sp>
        <p:nvSpPr>
          <p:cNvPr id="13" name="object 13" descr=""/>
          <p:cNvSpPr txBox="1"/>
          <p:nvPr/>
        </p:nvSpPr>
        <p:spPr>
          <a:xfrm>
            <a:off x="717905" y="946150"/>
            <a:ext cx="3073400" cy="391160"/>
          </a:xfrm>
          <a:prstGeom prst="rect">
            <a:avLst/>
          </a:prstGeom>
        </p:spPr>
        <p:txBody>
          <a:bodyPr wrap="square" lIns="0" tIns="12700" rIns="0" bIns="0" rtlCol="0" vert="horz">
            <a:spAutoFit/>
          </a:bodyPr>
          <a:lstStyle/>
          <a:p>
            <a:pPr marL="12700">
              <a:lnSpc>
                <a:spcPct val="100000"/>
              </a:lnSpc>
              <a:spcBef>
                <a:spcPts val="100"/>
              </a:spcBef>
            </a:pPr>
            <a:r>
              <a:rPr dirty="0" sz="2400" spc="-5">
                <a:solidFill>
                  <a:srgbClr val="FF0000"/>
                </a:solidFill>
                <a:latin typeface="黑体"/>
                <a:cs typeface="黑体"/>
              </a:rPr>
              <a:t>数据相关分析优化方法</a:t>
            </a:r>
            <a:endParaRPr sz="2400">
              <a:latin typeface="黑体"/>
              <a:cs typeface="黑体"/>
            </a:endParaRPr>
          </a:p>
        </p:txBody>
      </p:sp>
      <p:sp>
        <p:nvSpPr>
          <p:cNvPr id="14" name="object 14" descr=""/>
          <p:cNvSpPr txBox="1"/>
          <p:nvPr/>
        </p:nvSpPr>
        <p:spPr>
          <a:xfrm>
            <a:off x="5909564" y="766317"/>
            <a:ext cx="6122035" cy="1113790"/>
          </a:xfrm>
          <a:prstGeom prst="rect">
            <a:avLst/>
          </a:prstGeom>
        </p:spPr>
        <p:txBody>
          <a:bodyPr wrap="square" lIns="0" tIns="17145" rIns="0" bIns="0" rtlCol="0" vert="horz">
            <a:spAutoFit/>
          </a:bodyPr>
          <a:lstStyle/>
          <a:p>
            <a:pPr algn="just" marL="12700" marR="5080">
              <a:lnSpc>
                <a:spcPct val="98800"/>
              </a:lnSpc>
              <a:spcBef>
                <a:spcPts val="135"/>
              </a:spcBef>
            </a:pPr>
            <a:r>
              <a:rPr dirty="0" sz="2400">
                <a:solidFill>
                  <a:srgbClr val="006FC0"/>
                </a:solidFill>
                <a:latin typeface="黑体"/>
                <a:cs typeface="黑体"/>
              </a:rPr>
              <a:t>高度消减优化</a:t>
            </a:r>
            <a:r>
              <a:rPr dirty="0" sz="2400" spc="-5">
                <a:solidFill>
                  <a:srgbClr val="FF0000"/>
                </a:solidFill>
                <a:latin typeface="黑体"/>
                <a:cs typeface="黑体"/>
              </a:rPr>
              <a:t>借助于加减运算中的交换律和结合律消除指令间的真数据相关，缩短关键路径</a:t>
            </a:r>
            <a:r>
              <a:rPr dirty="0" sz="2400" spc="-15">
                <a:solidFill>
                  <a:srgbClr val="FF0000"/>
                </a:solidFill>
                <a:latin typeface="黑体"/>
                <a:cs typeface="黑体"/>
              </a:rPr>
              <a:t>的长度，然后进一步循环展开开发指令级并行</a:t>
            </a:r>
            <a:endParaRPr sz="2400">
              <a:latin typeface="黑体"/>
              <a:cs typeface="黑体"/>
            </a:endParaRPr>
          </a:p>
        </p:txBody>
      </p:sp>
      <p:sp>
        <p:nvSpPr>
          <p:cNvPr id="15" name="object 15" descr=""/>
          <p:cNvSpPr txBox="1"/>
          <p:nvPr/>
        </p:nvSpPr>
        <p:spPr>
          <a:xfrm>
            <a:off x="5948934" y="2714701"/>
            <a:ext cx="6015355" cy="664845"/>
          </a:xfrm>
          <a:prstGeom prst="rect">
            <a:avLst/>
          </a:prstGeom>
        </p:spPr>
        <p:txBody>
          <a:bodyPr wrap="square" lIns="0" tIns="12700" rIns="0" bIns="0" rtlCol="0" vert="horz">
            <a:spAutoFit/>
          </a:bodyPr>
          <a:lstStyle/>
          <a:p>
            <a:pPr marL="12700">
              <a:lnSpc>
                <a:spcPts val="2875"/>
              </a:lnSpc>
              <a:spcBef>
                <a:spcPts val="100"/>
              </a:spcBef>
            </a:pPr>
            <a:r>
              <a:rPr dirty="0" sz="2400" spc="-25" b="1">
                <a:solidFill>
                  <a:srgbClr val="006FC0"/>
                </a:solidFill>
                <a:latin typeface="黑体"/>
                <a:cs typeface="黑体"/>
              </a:rPr>
              <a:t>路径长度</a:t>
            </a:r>
            <a:r>
              <a:rPr dirty="0" sz="2400" spc="-10">
                <a:solidFill>
                  <a:srgbClr val="006FC0"/>
                </a:solidFill>
                <a:latin typeface="黑体"/>
                <a:cs typeface="黑体"/>
              </a:rPr>
              <a:t>：</a:t>
            </a:r>
            <a:r>
              <a:rPr dirty="0" sz="1800" spc="-10">
                <a:solidFill>
                  <a:srgbClr val="006FC0"/>
                </a:solidFill>
                <a:latin typeface="Calibri"/>
                <a:cs typeface="Calibri"/>
              </a:rPr>
              <a:t>3</a:t>
            </a:r>
            <a:r>
              <a:rPr dirty="0" sz="1800" spc="-10">
                <a:solidFill>
                  <a:srgbClr val="006FC0"/>
                </a:solidFill>
                <a:latin typeface="黑体"/>
                <a:cs typeface="黑体"/>
              </a:rPr>
              <a:t>个加法器延迟（</a:t>
            </a:r>
            <a:r>
              <a:rPr dirty="0" sz="1800" spc="-15">
                <a:solidFill>
                  <a:srgbClr val="006FC0"/>
                </a:solidFill>
                <a:latin typeface="黑体"/>
                <a:cs typeface="黑体"/>
              </a:rPr>
              <a:t>假设每个加法操作需要一个</a:t>
            </a:r>
            <a:endParaRPr sz="1800">
              <a:latin typeface="黑体"/>
              <a:cs typeface="黑体"/>
            </a:endParaRPr>
          </a:p>
          <a:p>
            <a:pPr marL="12700">
              <a:lnSpc>
                <a:spcPts val="2155"/>
              </a:lnSpc>
            </a:pPr>
            <a:r>
              <a:rPr dirty="0" sz="1800">
                <a:solidFill>
                  <a:srgbClr val="006FC0"/>
                </a:solidFill>
                <a:latin typeface="黑体"/>
                <a:cs typeface="黑体"/>
              </a:rPr>
              <a:t>完整的处理器时钟周期</a:t>
            </a:r>
            <a:r>
              <a:rPr dirty="0" sz="1800" spc="-50">
                <a:solidFill>
                  <a:srgbClr val="006FC0"/>
                </a:solidFill>
                <a:latin typeface="黑体"/>
                <a:cs typeface="黑体"/>
              </a:rPr>
              <a:t>）</a:t>
            </a:r>
            <a:endParaRPr sz="1800">
              <a:latin typeface="黑体"/>
              <a:cs typeface="黑体"/>
            </a:endParaRPr>
          </a:p>
        </p:txBody>
      </p:sp>
      <p:sp>
        <p:nvSpPr>
          <p:cNvPr id="16" name="object 16" descr=""/>
          <p:cNvSpPr txBox="1"/>
          <p:nvPr/>
        </p:nvSpPr>
        <p:spPr>
          <a:xfrm>
            <a:off x="7664450" y="3492436"/>
            <a:ext cx="1015365" cy="400685"/>
          </a:xfrm>
          <a:prstGeom prst="rect">
            <a:avLst/>
          </a:prstGeom>
          <a:ln w="9525">
            <a:solidFill>
              <a:srgbClr val="FF0000"/>
            </a:solidFill>
          </a:ln>
        </p:spPr>
        <p:txBody>
          <a:bodyPr wrap="square" lIns="0" tIns="45085" rIns="0" bIns="0" rtlCol="0" vert="horz">
            <a:spAutoFit/>
          </a:bodyPr>
          <a:lstStyle/>
          <a:p>
            <a:pPr marL="92075">
              <a:lnSpc>
                <a:spcPct val="100000"/>
              </a:lnSpc>
              <a:spcBef>
                <a:spcPts val="355"/>
              </a:spcBef>
            </a:pPr>
            <a:r>
              <a:rPr dirty="0" sz="2000" spc="-10">
                <a:solidFill>
                  <a:srgbClr val="40458B"/>
                </a:solidFill>
                <a:latin typeface="Tahoma"/>
                <a:cs typeface="Tahoma"/>
              </a:rPr>
              <a:t>R2/R3</a:t>
            </a:r>
            <a:endParaRPr sz="2000">
              <a:latin typeface="Tahoma"/>
              <a:cs typeface="Tahoma"/>
            </a:endParaRPr>
          </a:p>
        </p:txBody>
      </p:sp>
      <p:sp>
        <p:nvSpPr>
          <p:cNvPr id="17" name="object 17" descr=""/>
          <p:cNvSpPr/>
          <p:nvPr/>
        </p:nvSpPr>
        <p:spPr>
          <a:xfrm>
            <a:off x="7689595" y="4244657"/>
            <a:ext cx="1449705" cy="400685"/>
          </a:xfrm>
          <a:custGeom>
            <a:avLst/>
            <a:gdLst/>
            <a:ahLst/>
            <a:cxnLst/>
            <a:rect l="l" t="t" r="r" b="b"/>
            <a:pathLst>
              <a:path w="1449704" h="400685">
                <a:moveTo>
                  <a:pt x="0" y="400240"/>
                </a:moveTo>
                <a:lnTo>
                  <a:pt x="1449197" y="400240"/>
                </a:lnTo>
                <a:lnTo>
                  <a:pt x="1449197" y="0"/>
                </a:lnTo>
                <a:lnTo>
                  <a:pt x="0" y="0"/>
                </a:lnTo>
                <a:lnTo>
                  <a:pt x="0" y="400240"/>
                </a:lnTo>
                <a:close/>
              </a:path>
            </a:pathLst>
          </a:custGeom>
          <a:ln w="9525">
            <a:solidFill>
              <a:srgbClr val="FF0000"/>
            </a:solidFill>
          </a:ln>
        </p:spPr>
        <p:txBody>
          <a:bodyPr wrap="square" lIns="0" tIns="0" rIns="0" bIns="0" rtlCol="0"/>
          <a:lstStyle/>
          <a:p/>
        </p:txBody>
      </p:sp>
      <p:sp>
        <p:nvSpPr>
          <p:cNvPr id="18" name="object 18" descr=""/>
          <p:cNvSpPr txBox="1"/>
          <p:nvPr/>
        </p:nvSpPr>
        <p:spPr>
          <a:xfrm>
            <a:off x="7770494" y="4962588"/>
            <a:ext cx="1449705" cy="400685"/>
          </a:xfrm>
          <a:prstGeom prst="rect">
            <a:avLst/>
          </a:prstGeom>
          <a:ln w="9525">
            <a:solidFill>
              <a:srgbClr val="FF0000"/>
            </a:solidFill>
          </a:ln>
        </p:spPr>
        <p:txBody>
          <a:bodyPr wrap="square" lIns="0" tIns="45720" rIns="0" bIns="0" rtlCol="0" vert="horz">
            <a:spAutoFit/>
          </a:bodyPr>
          <a:lstStyle/>
          <a:p>
            <a:pPr marL="92075">
              <a:lnSpc>
                <a:spcPct val="100000"/>
              </a:lnSpc>
              <a:spcBef>
                <a:spcPts val="360"/>
              </a:spcBef>
            </a:pPr>
            <a:r>
              <a:rPr dirty="0" sz="2000">
                <a:solidFill>
                  <a:srgbClr val="40458B"/>
                </a:solidFill>
                <a:latin typeface="Tahoma"/>
                <a:cs typeface="Tahoma"/>
              </a:rPr>
              <a:t>I2:ADD</a:t>
            </a:r>
            <a:r>
              <a:rPr dirty="0" sz="2000" spc="-50">
                <a:solidFill>
                  <a:srgbClr val="40458B"/>
                </a:solidFill>
                <a:latin typeface="Tahoma"/>
                <a:cs typeface="Tahoma"/>
              </a:rPr>
              <a:t> </a:t>
            </a:r>
            <a:r>
              <a:rPr dirty="0" sz="2000" spc="-25">
                <a:solidFill>
                  <a:srgbClr val="40458B"/>
                </a:solidFill>
                <a:latin typeface="Tahoma"/>
                <a:cs typeface="Tahoma"/>
              </a:rPr>
              <a:t>R4</a:t>
            </a:r>
            <a:endParaRPr sz="2000">
              <a:latin typeface="Tahoma"/>
              <a:cs typeface="Tahoma"/>
            </a:endParaRPr>
          </a:p>
        </p:txBody>
      </p:sp>
      <p:sp>
        <p:nvSpPr>
          <p:cNvPr id="19" name="object 19" descr=""/>
          <p:cNvSpPr txBox="1"/>
          <p:nvPr/>
        </p:nvSpPr>
        <p:spPr>
          <a:xfrm>
            <a:off x="9794240" y="4962588"/>
            <a:ext cx="702310" cy="400685"/>
          </a:xfrm>
          <a:prstGeom prst="rect">
            <a:avLst/>
          </a:prstGeom>
          <a:ln w="9525">
            <a:solidFill>
              <a:srgbClr val="006FC0"/>
            </a:solidFill>
          </a:ln>
        </p:spPr>
        <p:txBody>
          <a:bodyPr wrap="square" lIns="0" tIns="45720" rIns="0" bIns="0" rtlCol="0" vert="horz">
            <a:spAutoFit/>
          </a:bodyPr>
          <a:lstStyle/>
          <a:p>
            <a:pPr marL="92075">
              <a:lnSpc>
                <a:spcPct val="100000"/>
              </a:lnSpc>
              <a:spcBef>
                <a:spcPts val="360"/>
              </a:spcBef>
            </a:pPr>
            <a:r>
              <a:rPr dirty="0" sz="2000" spc="-25">
                <a:solidFill>
                  <a:srgbClr val="40458B"/>
                </a:solidFill>
                <a:latin typeface="Tahoma"/>
                <a:cs typeface="Tahoma"/>
              </a:rPr>
              <a:t>R7</a:t>
            </a:r>
            <a:endParaRPr sz="2000">
              <a:latin typeface="Tahoma"/>
              <a:cs typeface="Tahoma"/>
            </a:endParaRPr>
          </a:p>
        </p:txBody>
      </p:sp>
      <p:sp>
        <p:nvSpPr>
          <p:cNvPr id="20" name="object 20" descr=""/>
          <p:cNvSpPr txBox="1"/>
          <p:nvPr/>
        </p:nvSpPr>
        <p:spPr>
          <a:xfrm>
            <a:off x="8652129" y="5819584"/>
            <a:ext cx="1405255" cy="400685"/>
          </a:xfrm>
          <a:prstGeom prst="rect">
            <a:avLst/>
          </a:prstGeom>
          <a:ln w="9525">
            <a:solidFill>
              <a:srgbClr val="FF0000"/>
            </a:solidFill>
          </a:ln>
        </p:spPr>
        <p:txBody>
          <a:bodyPr wrap="square" lIns="0" tIns="45720" rIns="0" bIns="0" rtlCol="0" vert="horz">
            <a:spAutoFit/>
          </a:bodyPr>
          <a:lstStyle/>
          <a:p>
            <a:pPr marL="92075">
              <a:lnSpc>
                <a:spcPct val="100000"/>
              </a:lnSpc>
              <a:spcBef>
                <a:spcPts val="360"/>
              </a:spcBef>
            </a:pPr>
            <a:r>
              <a:rPr dirty="0" sz="2000">
                <a:solidFill>
                  <a:srgbClr val="40458B"/>
                </a:solidFill>
                <a:latin typeface="Tahoma"/>
                <a:cs typeface="Tahoma"/>
              </a:rPr>
              <a:t>I3:ADD</a:t>
            </a:r>
            <a:r>
              <a:rPr dirty="0" sz="2000" spc="-50">
                <a:solidFill>
                  <a:srgbClr val="40458B"/>
                </a:solidFill>
                <a:latin typeface="Tahoma"/>
                <a:cs typeface="Tahoma"/>
              </a:rPr>
              <a:t> </a:t>
            </a:r>
            <a:r>
              <a:rPr dirty="0" sz="2000" spc="-25">
                <a:solidFill>
                  <a:srgbClr val="40458B"/>
                </a:solidFill>
                <a:latin typeface="Tahoma"/>
                <a:cs typeface="Tahoma"/>
              </a:rPr>
              <a:t>R8</a:t>
            </a:r>
            <a:endParaRPr sz="2000">
              <a:latin typeface="Tahoma"/>
              <a:cs typeface="Tahoma"/>
            </a:endParaRPr>
          </a:p>
        </p:txBody>
      </p:sp>
      <p:sp>
        <p:nvSpPr>
          <p:cNvPr id="21" name="object 21" descr=""/>
          <p:cNvSpPr/>
          <p:nvPr/>
        </p:nvSpPr>
        <p:spPr>
          <a:xfrm>
            <a:off x="9354693" y="4239069"/>
            <a:ext cx="1015365" cy="400685"/>
          </a:xfrm>
          <a:custGeom>
            <a:avLst/>
            <a:gdLst/>
            <a:ahLst/>
            <a:cxnLst/>
            <a:rect l="l" t="t" r="r" b="b"/>
            <a:pathLst>
              <a:path w="1015365" h="400685">
                <a:moveTo>
                  <a:pt x="0" y="400240"/>
                </a:moveTo>
                <a:lnTo>
                  <a:pt x="1015263" y="400240"/>
                </a:lnTo>
                <a:lnTo>
                  <a:pt x="1015263" y="0"/>
                </a:lnTo>
                <a:lnTo>
                  <a:pt x="0" y="0"/>
                </a:lnTo>
                <a:lnTo>
                  <a:pt x="0" y="400240"/>
                </a:lnTo>
                <a:close/>
              </a:path>
            </a:pathLst>
          </a:custGeom>
          <a:ln w="9524">
            <a:solidFill>
              <a:srgbClr val="006FC0"/>
            </a:solidFill>
          </a:ln>
        </p:spPr>
        <p:txBody>
          <a:bodyPr wrap="square" lIns="0" tIns="0" rIns="0" bIns="0" rtlCol="0"/>
          <a:lstStyle/>
          <a:p/>
        </p:txBody>
      </p:sp>
      <p:sp>
        <p:nvSpPr>
          <p:cNvPr id="22" name="object 22" descr=""/>
          <p:cNvSpPr txBox="1"/>
          <p:nvPr/>
        </p:nvSpPr>
        <p:spPr>
          <a:xfrm>
            <a:off x="7769097" y="4277359"/>
            <a:ext cx="1988820" cy="330835"/>
          </a:xfrm>
          <a:prstGeom prst="rect">
            <a:avLst/>
          </a:prstGeom>
        </p:spPr>
        <p:txBody>
          <a:bodyPr wrap="square" lIns="0" tIns="12700" rIns="0" bIns="0" rtlCol="0" vert="horz">
            <a:spAutoFit/>
          </a:bodyPr>
          <a:lstStyle/>
          <a:p>
            <a:pPr marL="12700">
              <a:lnSpc>
                <a:spcPct val="100000"/>
              </a:lnSpc>
              <a:spcBef>
                <a:spcPts val="100"/>
              </a:spcBef>
              <a:tabLst>
                <a:tab pos="1677670" algn="l"/>
              </a:tabLst>
            </a:pPr>
            <a:r>
              <a:rPr dirty="0" sz="2000">
                <a:solidFill>
                  <a:srgbClr val="40458B"/>
                </a:solidFill>
                <a:latin typeface="Tahoma"/>
                <a:cs typeface="Tahoma"/>
              </a:rPr>
              <a:t>I1:ADD</a:t>
            </a:r>
            <a:r>
              <a:rPr dirty="0" sz="2000" spc="-50">
                <a:solidFill>
                  <a:srgbClr val="40458B"/>
                </a:solidFill>
                <a:latin typeface="Tahoma"/>
                <a:cs typeface="Tahoma"/>
              </a:rPr>
              <a:t> </a:t>
            </a:r>
            <a:r>
              <a:rPr dirty="0" sz="2000" spc="-25">
                <a:solidFill>
                  <a:srgbClr val="40458B"/>
                </a:solidFill>
                <a:latin typeface="Tahoma"/>
                <a:cs typeface="Tahoma"/>
              </a:rPr>
              <a:t>R1</a:t>
            </a:r>
            <a:r>
              <a:rPr dirty="0" sz="2000">
                <a:solidFill>
                  <a:srgbClr val="40458B"/>
                </a:solidFill>
                <a:latin typeface="Tahoma"/>
                <a:cs typeface="Tahoma"/>
              </a:rPr>
              <a:t>	</a:t>
            </a:r>
            <a:r>
              <a:rPr dirty="0" baseline="1388" sz="3000" spc="-37">
                <a:solidFill>
                  <a:srgbClr val="40458B"/>
                </a:solidFill>
                <a:latin typeface="Tahoma"/>
                <a:cs typeface="Tahoma"/>
              </a:rPr>
              <a:t>R6</a:t>
            </a:r>
            <a:endParaRPr baseline="1388" sz="3000">
              <a:latin typeface="Tahoma"/>
              <a:cs typeface="Tahoma"/>
            </a:endParaRPr>
          </a:p>
        </p:txBody>
      </p:sp>
      <p:sp>
        <p:nvSpPr>
          <p:cNvPr id="23" name="object 23" descr=""/>
          <p:cNvSpPr/>
          <p:nvPr/>
        </p:nvSpPr>
        <p:spPr>
          <a:xfrm>
            <a:off x="8168132" y="3890009"/>
            <a:ext cx="1569720" cy="1085215"/>
          </a:xfrm>
          <a:custGeom>
            <a:avLst/>
            <a:gdLst/>
            <a:ahLst/>
            <a:cxnLst/>
            <a:rect l="l" t="t" r="r" b="b"/>
            <a:pathLst>
              <a:path w="1569720" h="1085214">
                <a:moveTo>
                  <a:pt x="245999" y="354711"/>
                </a:moveTo>
                <a:lnTo>
                  <a:pt x="239052" y="305054"/>
                </a:lnTo>
                <a:lnTo>
                  <a:pt x="234188" y="270256"/>
                </a:lnTo>
                <a:lnTo>
                  <a:pt x="206717" y="289166"/>
                </a:lnTo>
                <a:lnTo>
                  <a:pt x="7874" y="0"/>
                </a:lnTo>
                <a:lnTo>
                  <a:pt x="0" y="5461"/>
                </a:lnTo>
                <a:lnTo>
                  <a:pt x="198882" y="294551"/>
                </a:lnTo>
                <a:lnTo>
                  <a:pt x="171450" y="313436"/>
                </a:lnTo>
                <a:lnTo>
                  <a:pt x="245999" y="354711"/>
                </a:lnTo>
                <a:close/>
              </a:path>
              <a:path w="1569720" h="1085214">
                <a:moveTo>
                  <a:pt x="341376" y="988568"/>
                </a:moveTo>
                <a:lnTo>
                  <a:pt x="309473" y="998245"/>
                </a:lnTo>
                <a:lnTo>
                  <a:pt x="228092" y="730123"/>
                </a:lnTo>
                <a:lnTo>
                  <a:pt x="218948" y="732917"/>
                </a:lnTo>
                <a:lnTo>
                  <a:pt x="300367" y="1001001"/>
                </a:lnTo>
                <a:lnTo>
                  <a:pt x="268478" y="1010666"/>
                </a:lnTo>
                <a:lnTo>
                  <a:pt x="327025" y="1072515"/>
                </a:lnTo>
                <a:lnTo>
                  <a:pt x="337185" y="1013079"/>
                </a:lnTo>
                <a:lnTo>
                  <a:pt x="341376" y="988568"/>
                </a:lnTo>
                <a:close/>
              </a:path>
              <a:path w="1569720" h="1085214">
                <a:moveTo>
                  <a:pt x="1569212" y="667004"/>
                </a:moveTo>
                <a:lnTo>
                  <a:pt x="1566164" y="657987"/>
                </a:lnTo>
                <a:lnTo>
                  <a:pt x="397852" y="1044155"/>
                </a:lnTo>
                <a:lnTo>
                  <a:pt x="387350" y="1012444"/>
                </a:lnTo>
                <a:lnTo>
                  <a:pt x="327025" y="1072515"/>
                </a:lnTo>
                <a:lnTo>
                  <a:pt x="411353" y="1084834"/>
                </a:lnTo>
                <a:lnTo>
                  <a:pt x="402170" y="1057148"/>
                </a:lnTo>
                <a:lnTo>
                  <a:pt x="400837" y="1053160"/>
                </a:lnTo>
                <a:lnTo>
                  <a:pt x="1569212" y="667004"/>
                </a:lnTo>
                <a:close/>
              </a:path>
            </a:pathLst>
          </a:custGeom>
          <a:solidFill>
            <a:srgbClr val="40458B"/>
          </a:solidFill>
        </p:spPr>
        <p:txBody>
          <a:bodyPr wrap="square" lIns="0" tIns="0" rIns="0" bIns="0" rtlCol="0"/>
          <a:lstStyle/>
          <a:p/>
        </p:txBody>
      </p:sp>
      <p:sp>
        <p:nvSpPr>
          <p:cNvPr id="24" name="object 24" descr=""/>
          <p:cNvSpPr/>
          <p:nvPr/>
        </p:nvSpPr>
        <p:spPr>
          <a:xfrm>
            <a:off x="8792336" y="5413883"/>
            <a:ext cx="346710" cy="405765"/>
          </a:xfrm>
          <a:custGeom>
            <a:avLst/>
            <a:gdLst/>
            <a:ahLst/>
            <a:cxnLst/>
            <a:rect l="l" t="t" r="r" b="b"/>
            <a:pathLst>
              <a:path w="346709" h="405764">
                <a:moveTo>
                  <a:pt x="293382" y="350758"/>
                </a:moveTo>
                <a:lnTo>
                  <a:pt x="267970" y="372389"/>
                </a:lnTo>
                <a:lnTo>
                  <a:pt x="346456" y="405701"/>
                </a:lnTo>
                <a:lnTo>
                  <a:pt x="335267" y="360438"/>
                </a:lnTo>
                <a:lnTo>
                  <a:pt x="301625" y="360438"/>
                </a:lnTo>
                <a:lnTo>
                  <a:pt x="293382" y="350758"/>
                </a:lnTo>
                <a:close/>
              </a:path>
              <a:path w="346709" h="405764">
                <a:moveTo>
                  <a:pt x="300626" y="344591"/>
                </a:moveTo>
                <a:lnTo>
                  <a:pt x="293382" y="350758"/>
                </a:lnTo>
                <a:lnTo>
                  <a:pt x="301625" y="360438"/>
                </a:lnTo>
                <a:lnTo>
                  <a:pt x="308864" y="354266"/>
                </a:lnTo>
                <a:lnTo>
                  <a:pt x="300626" y="344591"/>
                </a:lnTo>
                <a:close/>
              </a:path>
              <a:path w="346709" h="405764">
                <a:moveTo>
                  <a:pt x="326009" y="322986"/>
                </a:moveTo>
                <a:lnTo>
                  <a:pt x="300626" y="344591"/>
                </a:lnTo>
                <a:lnTo>
                  <a:pt x="308864" y="354266"/>
                </a:lnTo>
                <a:lnTo>
                  <a:pt x="301625" y="360438"/>
                </a:lnTo>
                <a:lnTo>
                  <a:pt x="335267" y="360438"/>
                </a:lnTo>
                <a:lnTo>
                  <a:pt x="326009" y="322986"/>
                </a:lnTo>
                <a:close/>
              </a:path>
              <a:path w="346709" h="405764">
                <a:moveTo>
                  <a:pt x="7239" y="0"/>
                </a:moveTo>
                <a:lnTo>
                  <a:pt x="0" y="6222"/>
                </a:lnTo>
                <a:lnTo>
                  <a:pt x="293382" y="350758"/>
                </a:lnTo>
                <a:lnTo>
                  <a:pt x="300626" y="344591"/>
                </a:lnTo>
                <a:lnTo>
                  <a:pt x="7239" y="0"/>
                </a:lnTo>
                <a:close/>
              </a:path>
            </a:pathLst>
          </a:custGeom>
          <a:solidFill>
            <a:srgbClr val="40458B"/>
          </a:solidFill>
        </p:spPr>
        <p:txBody>
          <a:bodyPr wrap="square" lIns="0" tIns="0" rIns="0" bIns="0" rtlCol="0"/>
          <a:lstStyle/>
          <a:p/>
        </p:txBody>
      </p:sp>
      <p:sp>
        <p:nvSpPr>
          <p:cNvPr id="25" name="object 25" descr=""/>
          <p:cNvSpPr/>
          <p:nvPr/>
        </p:nvSpPr>
        <p:spPr>
          <a:xfrm>
            <a:off x="9354693" y="5366639"/>
            <a:ext cx="911225" cy="439420"/>
          </a:xfrm>
          <a:custGeom>
            <a:avLst/>
            <a:gdLst/>
            <a:ahLst/>
            <a:cxnLst/>
            <a:rect l="l" t="t" r="r" b="b"/>
            <a:pathLst>
              <a:path w="911225" h="439420">
                <a:moveTo>
                  <a:pt x="52324" y="370268"/>
                </a:moveTo>
                <a:lnTo>
                  <a:pt x="0" y="437438"/>
                </a:lnTo>
                <a:lnTo>
                  <a:pt x="85089" y="439064"/>
                </a:lnTo>
                <a:lnTo>
                  <a:pt x="73361" y="414439"/>
                </a:lnTo>
                <a:lnTo>
                  <a:pt x="59308" y="414439"/>
                </a:lnTo>
                <a:lnTo>
                  <a:pt x="55245" y="405828"/>
                </a:lnTo>
                <a:lnTo>
                  <a:pt x="66668" y="400386"/>
                </a:lnTo>
                <a:lnTo>
                  <a:pt x="52324" y="370268"/>
                </a:lnTo>
                <a:close/>
              </a:path>
              <a:path w="911225" h="439420">
                <a:moveTo>
                  <a:pt x="66668" y="400386"/>
                </a:moveTo>
                <a:lnTo>
                  <a:pt x="55245" y="405828"/>
                </a:lnTo>
                <a:lnTo>
                  <a:pt x="59308" y="414439"/>
                </a:lnTo>
                <a:lnTo>
                  <a:pt x="70762" y="408983"/>
                </a:lnTo>
                <a:lnTo>
                  <a:pt x="66668" y="400386"/>
                </a:lnTo>
                <a:close/>
              </a:path>
              <a:path w="911225" h="439420">
                <a:moveTo>
                  <a:pt x="70762" y="408983"/>
                </a:moveTo>
                <a:lnTo>
                  <a:pt x="59308" y="414439"/>
                </a:lnTo>
                <a:lnTo>
                  <a:pt x="73361" y="414439"/>
                </a:lnTo>
                <a:lnTo>
                  <a:pt x="70762" y="408983"/>
                </a:lnTo>
                <a:close/>
              </a:path>
              <a:path w="911225" h="439420">
                <a:moveTo>
                  <a:pt x="907160" y="0"/>
                </a:moveTo>
                <a:lnTo>
                  <a:pt x="66668" y="400386"/>
                </a:lnTo>
                <a:lnTo>
                  <a:pt x="70762" y="408983"/>
                </a:lnTo>
                <a:lnTo>
                  <a:pt x="911225" y="8636"/>
                </a:lnTo>
                <a:lnTo>
                  <a:pt x="907160" y="0"/>
                </a:lnTo>
                <a:close/>
              </a:path>
            </a:pathLst>
          </a:custGeom>
          <a:solidFill>
            <a:srgbClr val="40458B"/>
          </a:solidFill>
        </p:spPr>
        <p:txBody>
          <a:bodyPr wrap="square" lIns="0" tIns="0" rIns="0" bIns="0" rtlCol="0"/>
          <a:lstStyle/>
          <a:p/>
        </p:txBody>
      </p:sp>
      <p:sp>
        <p:nvSpPr>
          <p:cNvPr id="26" name="object 26" descr=""/>
          <p:cNvSpPr txBox="1"/>
          <p:nvPr/>
        </p:nvSpPr>
        <p:spPr>
          <a:xfrm>
            <a:off x="10362438" y="4039361"/>
            <a:ext cx="944880" cy="391160"/>
          </a:xfrm>
          <a:prstGeom prst="rect">
            <a:avLst/>
          </a:prstGeom>
        </p:spPr>
        <p:txBody>
          <a:bodyPr wrap="square" lIns="0" tIns="12700" rIns="0" bIns="0" rtlCol="0" vert="horz">
            <a:spAutoFit/>
          </a:bodyPr>
          <a:lstStyle/>
          <a:p>
            <a:pPr marL="12700">
              <a:lnSpc>
                <a:spcPct val="100000"/>
              </a:lnSpc>
              <a:spcBef>
                <a:spcPts val="100"/>
              </a:spcBef>
            </a:pPr>
            <a:r>
              <a:rPr dirty="0" sz="2400" spc="-35" b="1">
                <a:solidFill>
                  <a:srgbClr val="006FC0"/>
                </a:solidFill>
                <a:latin typeface="黑体"/>
                <a:cs typeface="黑体"/>
              </a:rPr>
              <a:t>优化前</a:t>
            </a:r>
            <a:endParaRPr sz="2400">
              <a:latin typeface="黑体"/>
              <a:cs typeface="黑体"/>
            </a:endParaRPr>
          </a:p>
        </p:txBody>
      </p:sp>
      <p:sp>
        <p:nvSpPr>
          <p:cNvPr id="27" name="object 27" descr=""/>
          <p:cNvSpPr txBox="1"/>
          <p:nvPr/>
        </p:nvSpPr>
        <p:spPr>
          <a:xfrm>
            <a:off x="5161026" y="6147917"/>
            <a:ext cx="6412865" cy="330835"/>
          </a:xfrm>
          <a:prstGeom prst="rect">
            <a:avLst/>
          </a:prstGeom>
        </p:spPr>
        <p:txBody>
          <a:bodyPr wrap="square" lIns="0" tIns="12700" rIns="0" bIns="0" rtlCol="0" vert="horz">
            <a:spAutoFit/>
          </a:bodyPr>
          <a:lstStyle/>
          <a:p>
            <a:pPr marL="12700">
              <a:lnSpc>
                <a:spcPct val="100000"/>
              </a:lnSpc>
              <a:spcBef>
                <a:spcPts val="100"/>
              </a:spcBef>
            </a:pPr>
            <a:r>
              <a:rPr dirty="0" sz="2000" spc="-15" b="1">
                <a:solidFill>
                  <a:srgbClr val="006FC0"/>
                </a:solidFill>
                <a:latin typeface="黑体"/>
                <a:cs typeface="黑体"/>
              </a:rPr>
              <a:t>延迟分析</a:t>
            </a:r>
            <a:r>
              <a:rPr dirty="0" sz="2000">
                <a:solidFill>
                  <a:srgbClr val="006FC0"/>
                </a:solidFill>
                <a:latin typeface="黑体"/>
                <a:cs typeface="黑体"/>
              </a:rPr>
              <a:t>：</a:t>
            </a:r>
            <a:r>
              <a:rPr dirty="0" sz="2000" spc="-25" b="1">
                <a:solidFill>
                  <a:srgbClr val="40458B"/>
                </a:solidFill>
                <a:latin typeface="黑体"/>
                <a:cs typeface="黑体"/>
              </a:rPr>
              <a:t>基于“单发射、顺序执行”的简单处理器模型</a:t>
            </a:r>
            <a:endParaRPr sz="2000">
              <a:latin typeface="黑体"/>
              <a:cs typeface="黑体"/>
            </a:endParaRPr>
          </a:p>
        </p:txBody>
      </p:sp>
      <p:sp>
        <p:nvSpPr>
          <p:cNvPr id="28" name="object 28" descr=""/>
          <p:cNvSpPr txBox="1"/>
          <p:nvPr/>
        </p:nvSpPr>
        <p:spPr>
          <a:xfrm>
            <a:off x="145491" y="4394004"/>
            <a:ext cx="6717665" cy="903605"/>
          </a:xfrm>
          <a:prstGeom prst="rect">
            <a:avLst/>
          </a:prstGeom>
        </p:spPr>
        <p:txBody>
          <a:bodyPr wrap="square" lIns="0" tIns="146050" rIns="0" bIns="0" rtlCol="0" vert="horz">
            <a:spAutoFit/>
          </a:bodyPr>
          <a:lstStyle/>
          <a:p>
            <a:pPr marL="90170">
              <a:lnSpc>
                <a:spcPct val="100000"/>
              </a:lnSpc>
              <a:spcBef>
                <a:spcPts val="1150"/>
              </a:spcBef>
            </a:pPr>
            <a:r>
              <a:rPr dirty="0" sz="2000">
                <a:solidFill>
                  <a:srgbClr val="006FC0"/>
                </a:solidFill>
                <a:latin typeface="Calibri"/>
                <a:cs typeface="Calibri"/>
              </a:rPr>
              <a:t>R6</a:t>
            </a:r>
            <a:r>
              <a:rPr dirty="0" sz="2000" spc="-20">
                <a:solidFill>
                  <a:srgbClr val="006FC0"/>
                </a:solidFill>
                <a:latin typeface="Calibri"/>
                <a:cs typeface="Calibri"/>
              </a:rPr>
              <a:t> </a:t>
            </a:r>
            <a:r>
              <a:rPr dirty="0" sz="2000" spc="455">
                <a:solidFill>
                  <a:srgbClr val="006FC0"/>
                </a:solidFill>
                <a:latin typeface="黑体"/>
                <a:cs typeface="黑体"/>
              </a:rPr>
              <a:t>和</a:t>
            </a:r>
            <a:r>
              <a:rPr dirty="0" sz="2000">
                <a:solidFill>
                  <a:srgbClr val="006FC0"/>
                </a:solidFill>
                <a:latin typeface="Calibri"/>
                <a:cs typeface="Calibri"/>
              </a:rPr>
              <a:t>R7</a:t>
            </a:r>
            <a:r>
              <a:rPr dirty="0" sz="2000" spc="-10">
                <a:solidFill>
                  <a:srgbClr val="006FC0"/>
                </a:solidFill>
                <a:latin typeface="Calibri"/>
                <a:cs typeface="Calibri"/>
              </a:rPr>
              <a:t> </a:t>
            </a:r>
            <a:r>
              <a:rPr dirty="0" sz="2000" spc="-20">
                <a:solidFill>
                  <a:srgbClr val="006FC0"/>
                </a:solidFill>
                <a:latin typeface="黑体"/>
                <a:cs typeface="黑体"/>
              </a:rPr>
              <a:t>的加法操作被串行链强制顺序执行</a:t>
            </a:r>
            <a:endParaRPr sz="2000">
              <a:latin typeface="黑体"/>
              <a:cs typeface="黑体"/>
            </a:endParaRPr>
          </a:p>
          <a:p>
            <a:pPr marL="12700">
              <a:lnSpc>
                <a:spcPct val="100000"/>
              </a:lnSpc>
              <a:spcBef>
                <a:spcPts val="1060"/>
              </a:spcBef>
            </a:pPr>
            <a:r>
              <a:rPr dirty="0" sz="2000" spc="130">
                <a:solidFill>
                  <a:srgbClr val="006FC0"/>
                </a:solidFill>
                <a:latin typeface="黑体"/>
                <a:cs typeface="黑体"/>
              </a:rPr>
              <a:t>实际上</a:t>
            </a:r>
            <a:r>
              <a:rPr dirty="0" sz="2000">
                <a:solidFill>
                  <a:srgbClr val="006FC0"/>
                </a:solidFill>
                <a:latin typeface="Calibri"/>
                <a:cs typeface="Calibri"/>
              </a:rPr>
              <a:t>(R2+R3</a:t>
            </a:r>
            <a:r>
              <a:rPr dirty="0" sz="2000" spc="-20">
                <a:solidFill>
                  <a:srgbClr val="006FC0"/>
                </a:solidFill>
                <a:latin typeface="Calibri"/>
                <a:cs typeface="Calibri"/>
              </a:rPr>
              <a:t>) </a:t>
            </a:r>
            <a:r>
              <a:rPr dirty="0" sz="2000" spc="450">
                <a:solidFill>
                  <a:srgbClr val="006FC0"/>
                </a:solidFill>
                <a:latin typeface="黑体"/>
                <a:cs typeface="黑体"/>
              </a:rPr>
              <a:t>与</a:t>
            </a:r>
            <a:r>
              <a:rPr dirty="0" sz="2000">
                <a:solidFill>
                  <a:srgbClr val="006FC0"/>
                </a:solidFill>
                <a:latin typeface="Calibri"/>
                <a:cs typeface="Calibri"/>
              </a:rPr>
              <a:t>(R6+R7</a:t>
            </a:r>
            <a:r>
              <a:rPr dirty="0" sz="2000" spc="-20">
                <a:solidFill>
                  <a:srgbClr val="006FC0"/>
                </a:solidFill>
                <a:latin typeface="Calibri"/>
                <a:cs typeface="Calibri"/>
              </a:rPr>
              <a:t>) </a:t>
            </a:r>
            <a:r>
              <a:rPr dirty="0" sz="2000" spc="-25">
                <a:solidFill>
                  <a:srgbClr val="006FC0"/>
                </a:solidFill>
                <a:latin typeface="黑体"/>
                <a:cs typeface="黑体"/>
              </a:rPr>
              <a:t>之间没有数据依赖，可以并行计算</a:t>
            </a:r>
            <a:endParaRPr sz="2000">
              <a:latin typeface="黑体"/>
              <a:cs typeface="黑体"/>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95/89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39725" y="1455886"/>
            <a:ext cx="5974080" cy="1546225"/>
          </a:xfrm>
          <a:prstGeom prst="rect">
            <a:avLst/>
          </a:prstGeom>
        </p:spPr>
        <p:txBody>
          <a:bodyPr wrap="square" lIns="0" tIns="148590" rIns="0" bIns="0" rtlCol="0" vert="horz">
            <a:spAutoFit/>
          </a:bodyPr>
          <a:lstStyle/>
          <a:p>
            <a:pPr marL="467995" indent="-455295">
              <a:lnSpc>
                <a:spcPct val="100000"/>
              </a:lnSpc>
              <a:spcBef>
                <a:spcPts val="1170"/>
              </a:spcBef>
              <a:buClr>
                <a:srgbClr val="40458B"/>
              </a:buClr>
              <a:buSzPct val="89285"/>
              <a:buFont typeface="Wingdings"/>
              <a:buChar char=""/>
              <a:tabLst>
                <a:tab pos="467995" algn="l"/>
              </a:tabLst>
            </a:pPr>
            <a:r>
              <a:rPr dirty="0" sz="2800" spc="-40">
                <a:solidFill>
                  <a:srgbClr val="0000CC"/>
                </a:solidFill>
                <a:latin typeface="黑体"/>
                <a:cs typeface="黑体"/>
              </a:rPr>
              <a:t>高度消减优化实例</a:t>
            </a:r>
            <a:endParaRPr sz="2800">
              <a:latin typeface="黑体"/>
              <a:cs typeface="黑体"/>
            </a:endParaRPr>
          </a:p>
          <a:p>
            <a:pPr lvl="1" marL="753110" indent="-455930">
              <a:lnSpc>
                <a:spcPct val="100000"/>
              </a:lnSpc>
              <a:spcBef>
                <a:spcPts val="920"/>
              </a:spcBef>
              <a:buClr>
                <a:srgbClr val="4668F5"/>
              </a:buClr>
              <a:buSzPct val="60416"/>
              <a:buFont typeface="Wingdings"/>
              <a:buChar char=""/>
              <a:tabLst>
                <a:tab pos="753110" algn="l"/>
              </a:tabLst>
            </a:pPr>
            <a:r>
              <a:rPr dirty="0" sz="2400" spc="-20" b="1">
                <a:solidFill>
                  <a:srgbClr val="D50092"/>
                </a:solidFill>
                <a:latin typeface="宋体"/>
                <a:cs typeface="宋体"/>
              </a:rPr>
              <a:t>目的：</a:t>
            </a:r>
            <a:r>
              <a:rPr dirty="0" sz="2400" spc="-25" b="1">
                <a:solidFill>
                  <a:srgbClr val="FF5CFF"/>
                </a:solidFill>
                <a:latin typeface="宋体"/>
                <a:cs typeface="宋体"/>
              </a:rPr>
              <a:t>缩短数据流图中关键路径的长度</a:t>
            </a:r>
            <a:endParaRPr sz="2400">
              <a:latin typeface="宋体"/>
              <a:cs typeface="宋体"/>
            </a:endParaRPr>
          </a:p>
          <a:p>
            <a:pPr lvl="1" marL="753110" indent="-455930">
              <a:lnSpc>
                <a:spcPct val="100000"/>
              </a:lnSpc>
              <a:spcBef>
                <a:spcPts val="860"/>
              </a:spcBef>
              <a:buClr>
                <a:srgbClr val="4668F5"/>
              </a:buClr>
              <a:buSzPct val="60416"/>
              <a:buFont typeface="Wingdings"/>
              <a:buChar char=""/>
              <a:tabLst>
                <a:tab pos="753110" algn="l"/>
              </a:tabLst>
            </a:pPr>
            <a:r>
              <a:rPr dirty="0" sz="2400" spc="-20" b="1">
                <a:solidFill>
                  <a:srgbClr val="FF5CFF"/>
                </a:solidFill>
                <a:latin typeface="宋体"/>
                <a:cs typeface="宋体"/>
              </a:rPr>
              <a:t>优化前代码</a:t>
            </a:r>
            <a:r>
              <a:rPr dirty="0" sz="2400" spc="-50" b="1">
                <a:solidFill>
                  <a:srgbClr val="FF5CFF"/>
                </a:solidFill>
                <a:latin typeface="宋体"/>
                <a:cs typeface="宋体"/>
              </a:rPr>
              <a:t>I</a:t>
            </a:r>
            <a:endParaRPr sz="2400">
              <a:latin typeface="宋体"/>
              <a:cs typeface="宋体"/>
            </a:endParaRPr>
          </a:p>
        </p:txBody>
      </p:sp>
      <p:graphicFrame>
        <p:nvGraphicFramePr>
          <p:cNvPr id="9" name="object 9" descr=""/>
          <p:cNvGraphicFramePr>
            <a:graphicFrameLocks noGrp="1"/>
          </p:cNvGraphicFramePr>
          <p:nvPr/>
        </p:nvGraphicFramePr>
        <p:xfrm>
          <a:off x="1220368" y="3142043"/>
          <a:ext cx="4114800" cy="1254760"/>
        </p:xfrm>
        <a:graphic>
          <a:graphicData uri="http://schemas.openxmlformats.org/drawingml/2006/table">
            <a:tbl>
              <a:tblPr firstRow="1" bandRow="1">
                <a:tableStyleId>{2D5ABB26-0587-4C30-8999-92F81FD0307C}</a:tableStyleId>
              </a:tblPr>
              <a:tblGrid>
                <a:gridCol w="720090"/>
                <a:gridCol w="1909445"/>
                <a:gridCol w="531494"/>
                <a:gridCol w="462280"/>
                <a:gridCol w="417195"/>
              </a:tblGrid>
              <a:tr h="389890">
                <a:tc>
                  <a:txBody>
                    <a:bodyPr/>
                    <a:lstStyle/>
                    <a:p>
                      <a:pPr marL="31750">
                        <a:lnSpc>
                          <a:spcPts val="2540"/>
                        </a:lnSpc>
                      </a:pPr>
                      <a:r>
                        <a:rPr dirty="0" sz="2400" spc="-25" b="1">
                          <a:solidFill>
                            <a:srgbClr val="40458B"/>
                          </a:solidFill>
                          <a:latin typeface="宋体"/>
                          <a:cs typeface="宋体"/>
                        </a:rPr>
                        <a:t>ADD</a:t>
                      </a:r>
                      <a:endParaRPr sz="2400">
                        <a:latin typeface="宋体"/>
                        <a:cs typeface="宋体"/>
                      </a:endParaRPr>
                    </a:p>
                  </a:txBody>
                  <a:tcPr marL="0" marR="0" marB="0" marT="0"/>
                </a:tc>
                <a:tc>
                  <a:txBody>
                    <a:bodyPr/>
                    <a:lstStyle/>
                    <a:p>
                      <a:pPr algn="r" marR="138430">
                        <a:lnSpc>
                          <a:spcPts val="2540"/>
                        </a:lnSpc>
                      </a:pPr>
                      <a:r>
                        <a:rPr dirty="0" sz="2400" spc="-10" b="1">
                          <a:solidFill>
                            <a:srgbClr val="40458B"/>
                          </a:solidFill>
                          <a:latin typeface="宋体"/>
                          <a:cs typeface="宋体"/>
                        </a:rPr>
                        <a:t>R1，R2，R3</a:t>
                      </a:r>
                      <a:endParaRPr sz="2400">
                        <a:latin typeface="宋体"/>
                        <a:cs typeface="宋体"/>
                      </a:endParaRPr>
                    </a:p>
                  </a:txBody>
                  <a:tcPr marL="0" marR="0" marB="0" marT="0"/>
                </a:tc>
                <a:tc>
                  <a:txBody>
                    <a:bodyPr/>
                    <a:lstStyle/>
                    <a:p>
                      <a:pPr algn="r" marR="69215">
                        <a:lnSpc>
                          <a:spcPts val="2540"/>
                        </a:lnSpc>
                      </a:pPr>
                      <a:r>
                        <a:rPr dirty="0" sz="2400" spc="-25" b="1">
                          <a:solidFill>
                            <a:srgbClr val="FF5CFF"/>
                          </a:solidFill>
                          <a:latin typeface="宋体"/>
                          <a:cs typeface="宋体"/>
                        </a:rPr>
                        <a:t>/*</a:t>
                      </a:r>
                      <a:endParaRPr sz="2400">
                        <a:latin typeface="宋体"/>
                        <a:cs typeface="宋体"/>
                      </a:endParaRPr>
                    </a:p>
                  </a:txBody>
                  <a:tcPr marL="0" marR="0" marB="0" marT="0"/>
                </a:tc>
                <a:tc>
                  <a:txBody>
                    <a:bodyPr/>
                    <a:lstStyle/>
                    <a:p>
                      <a:pPr algn="ctr">
                        <a:lnSpc>
                          <a:spcPts val="2540"/>
                        </a:lnSpc>
                      </a:pPr>
                      <a:r>
                        <a:rPr dirty="0" sz="2400" spc="-25" b="1">
                          <a:solidFill>
                            <a:srgbClr val="FF5CFF"/>
                          </a:solidFill>
                          <a:latin typeface="宋体"/>
                          <a:cs typeface="宋体"/>
                        </a:rPr>
                        <a:t>I1</a:t>
                      </a:r>
                      <a:endParaRPr sz="2400">
                        <a:latin typeface="宋体"/>
                        <a:cs typeface="宋体"/>
                      </a:endParaRPr>
                    </a:p>
                  </a:txBody>
                  <a:tcPr marL="0" marR="0" marB="0" marT="0"/>
                </a:tc>
                <a:tc>
                  <a:txBody>
                    <a:bodyPr/>
                    <a:lstStyle/>
                    <a:p>
                      <a:pPr algn="ctr" marL="45085">
                        <a:lnSpc>
                          <a:spcPts val="2540"/>
                        </a:lnSpc>
                      </a:pPr>
                      <a:r>
                        <a:rPr dirty="0" sz="2400" spc="-25" b="1">
                          <a:solidFill>
                            <a:srgbClr val="FF5CFF"/>
                          </a:solidFill>
                          <a:latin typeface="宋体"/>
                          <a:cs typeface="宋体"/>
                        </a:rPr>
                        <a:t>*/</a:t>
                      </a:r>
                      <a:endParaRPr sz="2400">
                        <a:latin typeface="宋体"/>
                        <a:cs typeface="宋体"/>
                      </a:endParaRPr>
                    </a:p>
                  </a:txBody>
                  <a:tcPr marL="0" marR="0" marB="0" marT="0"/>
                </a:tc>
              </a:tr>
              <a:tr h="474980">
                <a:tc>
                  <a:txBody>
                    <a:bodyPr/>
                    <a:lstStyle/>
                    <a:p>
                      <a:pPr marL="31750">
                        <a:lnSpc>
                          <a:spcPct val="100000"/>
                        </a:lnSpc>
                        <a:spcBef>
                          <a:spcPts val="334"/>
                        </a:spcBef>
                      </a:pPr>
                      <a:r>
                        <a:rPr dirty="0" sz="2400" spc="-25" b="1">
                          <a:solidFill>
                            <a:srgbClr val="40458B"/>
                          </a:solidFill>
                          <a:latin typeface="宋体"/>
                          <a:cs typeface="宋体"/>
                        </a:rPr>
                        <a:t>ADD</a:t>
                      </a:r>
                      <a:endParaRPr sz="2400">
                        <a:latin typeface="宋体"/>
                        <a:cs typeface="宋体"/>
                      </a:endParaRPr>
                    </a:p>
                  </a:txBody>
                  <a:tcPr marL="0" marR="0" marB="0" marT="42544"/>
                </a:tc>
                <a:tc>
                  <a:txBody>
                    <a:bodyPr/>
                    <a:lstStyle/>
                    <a:p>
                      <a:pPr algn="r" marR="138430">
                        <a:lnSpc>
                          <a:spcPct val="100000"/>
                        </a:lnSpc>
                        <a:spcBef>
                          <a:spcPts val="334"/>
                        </a:spcBef>
                      </a:pPr>
                      <a:r>
                        <a:rPr dirty="0" sz="2400" spc="-10" b="1">
                          <a:solidFill>
                            <a:srgbClr val="40458B"/>
                          </a:solidFill>
                          <a:latin typeface="宋体"/>
                          <a:cs typeface="宋体"/>
                        </a:rPr>
                        <a:t>R4，R1，R6</a:t>
                      </a:r>
                      <a:endParaRPr sz="2400">
                        <a:latin typeface="宋体"/>
                        <a:cs typeface="宋体"/>
                      </a:endParaRPr>
                    </a:p>
                  </a:txBody>
                  <a:tcPr marL="0" marR="0" marB="0" marT="42544"/>
                </a:tc>
                <a:tc>
                  <a:txBody>
                    <a:bodyPr/>
                    <a:lstStyle/>
                    <a:p>
                      <a:pPr algn="r" marR="69215">
                        <a:lnSpc>
                          <a:spcPct val="100000"/>
                        </a:lnSpc>
                        <a:spcBef>
                          <a:spcPts val="334"/>
                        </a:spcBef>
                      </a:pPr>
                      <a:r>
                        <a:rPr dirty="0" sz="2400" spc="-25" b="1">
                          <a:solidFill>
                            <a:srgbClr val="FF5CFF"/>
                          </a:solidFill>
                          <a:latin typeface="宋体"/>
                          <a:cs typeface="宋体"/>
                        </a:rPr>
                        <a:t>/*</a:t>
                      </a:r>
                      <a:endParaRPr sz="2400">
                        <a:latin typeface="宋体"/>
                        <a:cs typeface="宋体"/>
                      </a:endParaRPr>
                    </a:p>
                  </a:txBody>
                  <a:tcPr marL="0" marR="0" marB="0" marT="42544"/>
                </a:tc>
                <a:tc>
                  <a:txBody>
                    <a:bodyPr/>
                    <a:lstStyle/>
                    <a:p>
                      <a:pPr algn="ctr">
                        <a:lnSpc>
                          <a:spcPct val="100000"/>
                        </a:lnSpc>
                        <a:spcBef>
                          <a:spcPts val="334"/>
                        </a:spcBef>
                      </a:pPr>
                      <a:r>
                        <a:rPr dirty="0" sz="2400" spc="-25" b="1">
                          <a:solidFill>
                            <a:srgbClr val="FF5CFF"/>
                          </a:solidFill>
                          <a:latin typeface="宋体"/>
                          <a:cs typeface="宋体"/>
                        </a:rPr>
                        <a:t>I2</a:t>
                      </a:r>
                      <a:endParaRPr sz="2400">
                        <a:latin typeface="宋体"/>
                        <a:cs typeface="宋体"/>
                      </a:endParaRPr>
                    </a:p>
                  </a:txBody>
                  <a:tcPr marL="0" marR="0" marB="0" marT="42544"/>
                </a:tc>
                <a:tc>
                  <a:txBody>
                    <a:bodyPr/>
                    <a:lstStyle/>
                    <a:p>
                      <a:pPr algn="ctr" marL="45085">
                        <a:lnSpc>
                          <a:spcPct val="100000"/>
                        </a:lnSpc>
                        <a:spcBef>
                          <a:spcPts val="334"/>
                        </a:spcBef>
                      </a:pPr>
                      <a:r>
                        <a:rPr dirty="0" sz="2400" spc="-25" b="1">
                          <a:solidFill>
                            <a:srgbClr val="FF5CFF"/>
                          </a:solidFill>
                          <a:latin typeface="宋体"/>
                          <a:cs typeface="宋体"/>
                        </a:rPr>
                        <a:t>*/</a:t>
                      </a:r>
                      <a:endParaRPr sz="2400">
                        <a:latin typeface="宋体"/>
                        <a:cs typeface="宋体"/>
                      </a:endParaRPr>
                    </a:p>
                  </a:txBody>
                  <a:tcPr marL="0" marR="0" marB="0" marT="42544"/>
                </a:tc>
              </a:tr>
              <a:tr h="389890">
                <a:tc>
                  <a:txBody>
                    <a:bodyPr/>
                    <a:lstStyle/>
                    <a:p>
                      <a:pPr marL="31750">
                        <a:lnSpc>
                          <a:spcPts val="2640"/>
                        </a:lnSpc>
                        <a:spcBef>
                          <a:spcPts val="335"/>
                        </a:spcBef>
                      </a:pPr>
                      <a:r>
                        <a:rPr dirty="0" sz="2400" spc="-25" b="1">
                          <a:solidFill>
                            <a:srgbClr val="40458B"/>
                          </a:solidFill>
                          <a:latin typeface="宋体"/>
                          <a:cs typeface="宋体"/>
                        </a:rPr>
                        <a:t>ADD</a:t>
                      </a:r>
                      <a:endParaRPr sz="2400">
                        <a:latin typeface="宋体"/>
                        <a:cs typeface="宋体"/>
                      </a:endParaRPr>
                    </a:p>
                  </a:txBody>
                  <a:tcPr marL="0" marR="0" marB="0" marT="42545"/>
                </a:tc>
                <a:tc>
                  <a:txBody>
                    <a:bodyPr/>
                    <a:lstStyle/>
                    <a:p>
                      <a:pPr algn="r" marR="138430">
                        <a:lnSpc>
                          <a:spcPts val="2640"/>
                        </a:lnSpc>
                        <a:spcBef>
                          <a:spcPts val="335"/>
                        </a:spcBef>
                      </a:pPr>
                      <a:r>
                        <a:rPr dirty="0" sz="2400" spc="-10" b="1">
                          <a:solidFill>
                            <a:srgbClr val="40458B"/>
                          </a:solidFill>
                          <a:latin typeface="宋体"/>
                          <a:cs typeface="宋体"/>
                        </a:rPr>
                        <a:t>R8，R4，R7</a:t>
                      </a:r>
                      <a:endParaRPr sz="2400">
                        <a:latin typeface="宋体"/>
                        <a:cs typeface="宋体"/>
                      </a:endParaRPr>
                    </a:p>
                  </a:txBody>
                  <a:tcPr marL="0" marR="0" marB="0" marT="42545"/>
                </a:tc>
                <a:tc>
                  <a:txBody>
                    <a:bodyPr/>
                    <a:lstStyle/>
                    <a:p>
                      <a:pPr algn="r" marR="69215">
                        <a:lnSpc>
                          <a:spcPts val="2640"/>
                        </a:lnSpc>
                        <a:spcBef>
                          <a:spcPts val="335"/>
                        </a:spcBef>
                      </a:pPr>
                      <a:r>
                        <a:rPr dirty="0" sz="2400" spc="-25" b="1">
                          <a:solidFill>
                            <a:srgbClr val="FF5CFF"/>
                          </a:solidFill>
                          <a:latin typeface="宋体"/>
                          <a:cs typeface="宋体"/>
                        </a:rPr>
                        <a:t>/*</a:t>
                      </a:r>
                      <a:endParaRPr sz="2400">
                        <a:latin typeface="宋体"/>
                        <a:cs typeface="宋体"/>
                      </a:endParaRPr>
                    </a:p>
                  </a:txBody>
                  <a:tcPr marL="0" marR="0" marB="0" marT="42545"/>
                </a:tc>
                <a:tc>
                  <a:txBody>
                    <a:bodyPr/>
                    <a:lstStyle/>
                    <a:p>
                      <a:pPr algn="ctr">
                        <a:lnSpc>
                          <a:spcPts val="2640"/>
                        </a:lnSpc>
                        <a:spcBef>
                          <a:spcPts val="335"/>
                        </a:spcBef>
                      </a:pPr>
                      <a:r>
                        <a:rPr dirty="0" sz="2400" spc="-25" b="1">
                          <a:solidFill>
                            <a:srgbClr val="FF5CFF"/>
                          </a:solidFill>
                          <a:latin typeface="宋体"/>
                          <a:cs typeface="宋体"/>
                        </a:rPr>
                        <a:t>I3</a:t>
                      </a:r>
                      <a:endParaRPr sz="2400">
                        <a:latin typeface="宋体"/>
                        <a:cs typeface="宋体"/>
                      </a:endParaRPr>
                    </a:p>
                  </a:txBody>
                  <a:tcPr marL="0" marR="0" marB="0" marT="42545"/>
                </a:tc>
                <a:tc>
                  <a:txBody>
                    <a:bodyPr/>
                    <a:lstStyle/>
                    <a:p>
                      <a:pPr algn="ctr" marL="45085">
                        <a:lnSpc>
                          <a:spcPts val="2640"/>
                        </a:lnSpc>
                        <a:spcBef>
                          <a:spcPts val="335"/>
                        </a:spcBef>
                      </a:pPr>
                      <a:r>
                        <a:rPr dirty="0" sz="2400" spc="-25" b="1">
                          <a:solidFill>
                            <a:srgbClr val="FF5CFF"/>
                          </a:solidFill>
                          <a:latin typeface="宋体"/>
                          <a:cs typeface="宋体"/>
                        </a:rPr>
                        <a:t>*/</a:t>
                      </a:r>
                      <a:endParaRPr sz="2400">
                        <a:latin typeface="宋体"/>
                        <a:cs typeface="宋体"/>
                      </a:endParaRPr>
                    </a:p>
                  </a:txBody>
                  <a:tcPr marL="0" marR="0" marB="0" marT="42545"/>
                </a:tc>
              </a:tr>
            </a:tbl>
          </a:graphicData>
        </a:graphic>
      </p:graphicFrame>
      <p:sp>
        <p:nvSpPr>
          <p:cNvPr id="10" name="object 10" descr=""/>
          <p:cNvSpPr txBox="1"/>
          <p:nvPr/>
        </p:nvSpPr>
        <p:spPr>
          <a:xfrm>
            <a:off x="324713" y="4513326"/>
            <a:ext cx="2165985" cy="391160"/>
          </a:xfrm>
          <a:prstGeom prst="rect">
            <a:avLst/>
          </a:prstGeom>
        </p:spPr>
        <p:txBody>
          <a:bodyPr wrap="square" lIns="0" tIns="12700" rIns="0" bIns="0" rtlCol="0" vert="horz">
            <a:spAutoFit/>
          </a:bodyPr>
          <a:lstStyle/>
          <a:p>
            <a:pPr marL="467995" indent="-455295">
              <a:lnSpc>
                <a:spcPct val="100000"/>
              </a:lnSpc>
              <a:spcBef>
                <a:spcPts val="100"/>
              </a:spcBef>
              <a:buClr>
                <a:srgbClr val="4668F5"/>
              </a:buClr>
              <a:buSzPct val="60416"/>
              <a:buFont typeface="Wingdings"/>
              <a:buChar char=""/>
              <a:tabLst>
                <a:tab pos="467995" algn="l"/>
              </a:tabLst>
            </a:pPr>
            <a:r>
              <a:rPr dirty="0" sz="2400" spc="-20" b="1">
                <a:solidFill>
                  <a:srgbClr val="FF5CFF"/>
                </a:solidFill>
                <a:latin typeface="宋体"/>
                <a:cs typeface="宋体"/>
              </a:rPr>
              <a:t>优化后代码</a:t>
            </a:r>
            <a:r>
              <a:rPr dirty="0" sz="2400" spc="-50" b="1">
                <a:solidFill>
                  <a:srgbClr val="FF5CFF"/>
                </a:solidFill>
                <a:latin typeface="宋体"/>
                <a:cs typeface="宋体"/>
              </a:rPr>
              <a:t>I</a:t>
            </a:r>
            <a:endParaRPr sz="2400">
              <a:latin typeface="宋体"/>
              <a:cs typeface="宋体"/>
            </a:endParaRPr>
          </a:p>
        </p:txBody>
      </p:sp>
      <p:sp>
        <p:nvSpPr>
          <p:cNvPr id="11" name="object 11" descr=""/>
          <p:cNvSpPr txBox="1"/>
          <p:nvPr/>
        </p:nvSpPr>
        <p:spPr>
          <a:xfrm>
            <a:off x="1239418" y="4879550"/>
            <a:ext cx="4011295" cy="1452245"/>
          </a:xfrm>
          <a:prstGeom prst="rect">
            <a:avLst/>
          </a:prstGeom>
        </p:spPr>
        <p:txBody>
          <a:bodyPr wrap="square" lIns="0" tIns="12065" rIns="0" bIns="0" rtlCol="0" vert="horz">
            <a:spAutoFit/>
          </a:bodyPr>
          <a:lstStyle/>
          <a:p>
            <a:pPr marL="12700" marR="5080">
              <a:lnSpc>
                <a:spcPct val="130000"/>
              </a:lnSpc>
              <a:spcBef>
                <a:spcPts val="95"/>
              </a:spcBef>
              <a:tabLst>
                <a:tab pos="926465" algn="l"/>
              </a:tabLst>
            </a:pPr>
            <a:r>
              <a:rPr dirty="0" sz="2400" spc="-25" b="1">
                <a:solidFill>
                  <a:srgbClr val="40458B"/>
                </a:solidFill>
                <a:latin typeface="宋体"/>
                <a:cs typeface="宋体"/>
              </a:rPr>
              <a:t>ADD</a:t>
            </a:r>
            <a:r>
              <a:rPr dirty="0" sz="2400" b="1">
                <a:solidFill>
                  <a:srgbClr val="40458B"/>
                </a:solidFill>
                <a:latin typeface="宋体"/>
                <a:cs typeface="宋体"/>
              </a:rPr>
              <a:t>	R1，R2，R3</a:t>
            </a:r>
            <a:r>
              <a:rPr dirty="0" sz="2400" spc="-60" b="1">
                <a:solidFill>
                  <a:srgbClr val="40458B"/>
                </a:solidFill>
                <a:latin typeface="宋体"/>
                <a:cs typeface="宋体"/>
              </a:rPr>
              <a:t> </a:t>
            </a:r>
            <a:r>
              <a:rPr dirty="0" sz="2400" b="1">
                <a:solidFill>
                  <a:srgbClr val="FF5CFF"/>
                </a:solidFill>
                <a:latin typeface="宋体"/>
                <a:cs typeface="宋体"/>
              </a:rPr>
              <a:t>/*</a:t>
            </a:r>
            <a:r>
              <a:rPr dirty="0" sz="2400" spc="-50" b="1">
                <a:solidFill>
                  <a:srgbClr val="FF5CFF"/>
                </a:solidFill>
                <a:latin typeface="宋体"/>
                <a:cs typeface="宋体"/>
              </a:rPr>
              <a:t> </a:t>
            </a:r>
            <a:r>
              <a:rPr dirty="0" sz="2400" b="1">
                <a:solidFill>
                  <a:srgbClr val="FF5CFF"/>
                </a:solidFill>
                <a:latin typeface="宋体"/>
                <a:cs typeface="宋体"/>
              </a:rPr>
              <a:t>I1</a:t>
            </a:r>
            <a:r>
              <a:rPr dirty="0" sz="2400" spc="-60" b="1">
                <a:solidFill>
                  <a:srgbClr val="FF5CFF"/>
                </a:solidFill>
                <a:latin typeface="宋体"/>
                <a:cs typeface="宋体"/>
              </a:rPr>
              <a:t> </a:t>
            </a:r>
            <a:r>
              <a:rPr dirty="0" sz="2400" spc="-25" b="1">
                <a:solidFill>
                  <a:srgbClr val="FF5CFF"/>
                </a:solidFill>
                <a:latin typeface="宋体"/>
                <a:cs typeface="宋体"/>
              </a:rPr>
              <a:t>*/ </a:t>
            </a:r>
            <a:r>
              <a:rPr dirty="0" sz="2400" spc="-25" b="1">
                <a:solidFill>
                  <a:srgbClr val="40458B"/>
                </a:solidFill>
                <a:latin typeface="宋体"/>
                <a:cs typeface="宋体"/>
              </a:rPr>
              <a:t>ADD</a:t>
            </a:r>
            <a:r>
              <a:rPr dirty="0" sz="2400" b="1">
                <a:solidFill>
                  <a:srgbClr val="40458B"/>
                </a:solidFill>
                <a:latin typeface="宋体"/>
                <a:cs typeface="宋体"/>
              </a:rPr>
              <a:t>	R4，R6，</a:t>
            </a:r>
            <a:r>
              <a:rPr dirty="0" sz="2400" b="1">
                <a:solidFill>
                  <a:srgbClr val="FF0000"/>
                </a:solidFill>
                <a:latin typeface="宋体"/>
                <a:cs typeface="宋体"/>
              </a:rPr>
              <a:t>R7</a:t>
            </a:r>
            <a:r>
              <a:rPr dirty="0" sz="2400" spc="-30" b="1">
                <a:solidFill>
                  <a:srgbClr val="FF0000"/>
                </a:solidFill>
                <a:latin typeface="宋体"/>
                <a:cs typeface="宋体"/>
              </a:rPr>
              <a:t> </a:t>
            </a:r>
            <a:r>
              <a:rPr dirty="0" sz="2400" b="1">
                <a:solidFill>
                  <a:srgbClr val="FF5CFF"/>
                </a:solidFill>
                <a:latin typeface="宋体"/>
                <a:cs typeface="宋体"/>
              </a:rPr>
              <a:t>/*</a:t>
            </a:r>
            <a:r>
              <a:rPr dirty="0" sz="2400" spc="-25" b="1">
                <a:solidFill>
                  <a:srgbClr val="FF5CFF"/>
                </a:solidFill>
                <a:latin typeface="宋体"/>
                <a:cs typeface="宋体"/>
              </a:rPr>
              <a:t> </a:t>
            </a:r>
            <a:r>
              <a:rPr dirty="0" sz="2400" spc="-10" b="1">
                <a:solidFill>
                  <a:srgbClr val="FF5CFF"/>
                </a:solidFill>
                <a:latin typeface="宋体"/>
                <a:cs typeface="宋体"/>
              </a:rPr>
              <a:t>I2’*/ </a:t>
            </a:r>
            <a:r>
              <a:rPr dirty="0" sz="2400" spc="-25" b="1">
                <a:solidFill>
                  <a:srgbClr val="40458B"/>
                </a:solidFill>
                <a:latin typeface="宋体"/>
                <a:cs typeface="宋体"/>
              </a:rPr>
              <a:t>ADD</a:t>
            </a:r>
            <a:r>
              <a:rPr dirty="0" sz="2400" b="1">
                <a:solidFill>
                  <a:srgbClr val="40458B"/>
                </a:solidFill>
                <a:latin typeface="宋体"/>
                <a:cs typeface="宋体"/>
              </a:rPr>
              <a:t>	R8，R1，R4</a:t>
            </a:r>
            <a:r>
              <a:rPr dirty="0" sz="2400" b="1">
                <a:solidFill>
                  <a:srgbClr val="FF5CFF"/>
                </a:solidFill>
                <a:latin typeface="宋体"/>
                <a:cs typeface="宋体"/>
              </a:rPr>
              <a:t>/*</a:t>
            </a:r>
            <a:r>
              <a:rPr dirty="0" sz="2400" spc="-135" b="1">
                <a:solidFill>
                  <a:srgbClr val="FF5CFF"/>
                </a:solidFill>
                <a:latin typeface="宋体"/>
                <a:cs typeface="宋体"/>
              </a:rPr>
              <a:t> </a:t>
            </a:r>
            <a:r>
              <a:rPr dirty="0" sz="2400" spc="-10" b="1">
                <a:solidFill>
                  <a:srgbClr val="FF5CFF"/>
                </a:solidFill>
                <a:latin typeface="宋体"/>
                <a:cs typeface="宋体"/>
              </a:rPr>
              <a:t>I3’*/</a:t>
            </a:r>
            <a:endParaRPr sz="2400">
              <a:latin typeface="宋体"/>
              <a:cs typeface="宋体"/>
            </a:endParaRPr>
          </a:p>
        </p:txBody>
      </p:sp>
      <p:sp>
        <p:nvSpPr>
          <p:cNvPr id="12" name="object 12"/>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239520" algn="l"/>
                <a:tab pos="10788015" algn="l"/>
              </a:tabLst>
            </a:pPr>
            <a:r>
              <a:rPr dirty="0"/>
              <a:t>	6.5</a:t>
            </a:r>
            <a:r>
              <a:rPr dirty="0" spc="-15"/>
              <a:t> </a:t>
            </a:r>
            <a:r>
              <a:rPr dirty="0"/>
              <a:t>开发更</a:t>
            </a:r>
            <a:r>
              <a:rPr dirty="0" spc="-25"/>
              <a:t>多</a:t>
            </a:r>
            <a:r>
              <a:rPr dirty="0"/>
              <a:t>的指</a:t>
            </a:r>
            <a:r>
              <a:rPr dirty="0" spc="-20"/>
              <a:t>令</a:t>
            </a:r>
            <a:r>
              <a:rPr dirty="0"/>
              <a:t>级并</a:t>
            </a:r>
            <a:r>
              <a:rPr dirty="0" spc="-50"/>
              <a:t>行</a:t>
            </a:r>
            <a:r>
              <a:rPr dirty="0"/>
              <a:t>	</a:t>
            </a:r>
          </a:p>
        </p:txBody>
      </p:sp>
      <p:sp>
        <p:nvSpPr>
          <p:cNvPr id="13" name="object 13" descr=""/>
          <p:cNvSpPr txBox="1"/>
          <p:nvPr/>
        </p:nvSpPr>
        <p:spPr>
          <a:xfrm>
            <a:off x="717905" y="946150"/>
            <a:ext cx="3073400" cy="391160"/>
          </a:xfrm>
          <a:prstGeom prst="rect">
            <a:avLst/>
          </a:prstGeom>
        </p:spPr>
        <p:txBody>
          <a:bodyPr wrap="square" lIns="0" tIns="12700" rIns="0" bIns="0" rtlCol="0" vert="horz">
            <a:spAutoFit/>
          </a:bodyPr>
          <a:lstStyle/>
          <a:p>
            <a:pPr marL="12700">
              <a:lnSpc>
                <a:spcPct val="100000"/>
              </a:lnSpc>
              <a:spcBef>
                <a:spcPts val="100"/>
              </a:spcBef>
            </a:pPr>
            <a:r>
              <a:rPr dirty="0" sz="2400" spc="-5">
                <a:solidFill>
                  <a:srgbClr val="FF0000"/>
                </a:solidFill>
                <a:latin typeface="黑体"/>
                <a:cs typeface="黑体"/>
              </a:rPr>
              <a:t>数据相关分析优化方法</a:t>
            </a:r>
            <a:endParaRPr sz="2400">
              <a:latin typeface="黑体"/>
              <a:cs typeface="黑体"/>
            </a:endParaRPr>
          </a:p>
        </p:txBody>
      </p:sp>
      <p:sp>
        <p:nvSpPr>
          <p:cNvPr id="14" name="object 14" descr=""/>
          <p:cNvSpPr txBox="1"/>
          <p:nvPr/>
        </p:nvSpPr>
        <p:spPr>
          <a:xfrm>
            <a:off x="7110476" y="2646387"/>
            <a:ext cx="1015365" cy="400685"/>
          </a:xfrm>
          <a:prstGeom prst="rect">
            <a:avLst/>
          </a:prstGeom>
          <a:ln w="9525">
            <a:solidFill>
              <a:srgbClr val="FF0000"/>
            </a:solidFill>
          </a:ln>
        </p:spPr>
        <p:txBody>
          <a:bodyPr wrap="square" lIns="0" tIns="45085" rIns="0" bIns="0" rtlCol="0" vert="horz">
            <a:spAutoFit/>
          </a:bodyPr>
          <a:lstStyle/>
          <a:p>
            <a:pPr marL="92075">
              <a:lnSpc>
                <a:spcPct val="100000"/>
              </a:lnSpc>
              <a:spcBef>
                <a:spcPts val="355"/>
              </a:spcBef>
            </a:pPr>
            <a:r>
              <a:rPr dirty="0" sz="2000" spc="-10">
                <a:solidFill>
                  <a:srgbClr val="40458B"/>
                </a:solidFill>
                <a:latin typeface="Tahoma"/>
                <a:cs typeface="Tahoma"/>
              </a:rPr>
              <a:t>R2/R3</a:t>
            </a:r>
            <a:endParaRPr sz="2000">
              <a:latin typeface="Tahoma"/>
              <a:cs typeface="Tahoma"/>
            </a:endParaRPr>
          </a:p>
        </p:txBody>
      </p:sp>
      <p:sp>
        <p:nvSpPr>
          <p:cNvPr id="15" name="object 15" descr=""/>
          <p:cNvSpPr txBox="1"/>
          <p:nvPr/>
        </p:nvSpPr>
        <p:spPr>
          <a:xfrm>
            <a:off x="7135494" y="3398481"/>
            <a:ext cx="1449070" cy="400685"/>
          </a:xfrm>
          <a:prstGeom prst="rect">
            <a:avLst/>
          </a:prstGeom>
          <a:ln w="9525">
            <a:solidFill>
              <a:srgbClr val="FF0000"/>
            </a:solidFill>
          </a:ln>
        </p:spPr>
        <p:txBody>
          <a:bodyPr wrap="square" lIns="0" tIns="45719" rIns="0" bIns="0" rtlCol="0" vert="horz">
            <a:spAutoFit/>
          </a:bodyPr>
          <a:lstStyle/>
          <a:p>
            <a:pPr marL="92075">
              <a:lnSpc>
                <a:spcPct val="100000"/>
              </a:lnSpc>
              <a:spcBef>
                <a:spcPts val="359"/>
              </a:spcBef>
            </a:pPr>
            <a:r>
              <a:rPr dirty="0" sz="2000">
                <a:solidFill>
                  <a:srgbClr val="40458B"/>
                </a:solidFill>
                <a:latin typeface="Tahoma"/>
                <a:cs typeface="Tahoma"/>
              </a:rPr>
              <a:t>I1:ADD</a:t>
            </a:r>
            <a:r>
              <a:rPr dirty="0" sz="2000" spc="-50">
                <a:solidFill>
                  <a:srgbClr val="40458B"/>
                </a:solidFill>
                <a:latin typeface="Tahoma"/>
                <a:cs typeface="Tahoma"/>
              </a:rPr>
              <a:t> </a:t>
            </a:r>
            <a:r>
              <a:rPr dirty="0" sz="2000" spc="-25">
                <a:solidFill>
                  <a:srgbClr val="40458B"/>
                </a:solidFill>
                <a:latin typeface="Tahoma"/>
                <a:cs typeface="Tahoma"/>
              </a:rPr>
              <a:t>R1</a:t>
            </a:r>
            <a:endParaRPr sz="2000">
              <a:latin typeface="Tahoma"/>
              <a:cs typeface="Tahoma"/>
            </a:endParaRPr>
          </a:p>
        </p:txBody>
      </p:sp>
      <p:sp>
        <p:nvSpPr>
          <p:cNvPr id="16" name="object 16" descr=""/>
          <p:cNvSpPr txBox="1"/>
          <p:nvPr/>
        </p:nvSpPr>
        <p:spPr>
          <a:xfrm>
            <a:off x="7617968" y="4166958"/>
            <a:ext cx="1449070" cy="400685"/>
          </a:xfrm>
          <a:prstGeom prst="rect">
            <a:avLst/>
          </a:prstGeom>
          <a:ln w="9525">
            <a:solidFill>
              <a:srgbClr val="FF0000"/>
            </a:solidFill>
          </a:ln>
        </p:spPr>
        <p:txBody>
          <a:bodyPr wrap="square" lIns="0" tIns="45720" rIns="0" bIns="0" rtlCol="0" vert="horz">
            <a:spAutoFit/>
          </a:bodyPr>
          <a:lstStyle/>
          <a:p>
            <a:pPr marL="92075">
              <a:lnSpc>
                <a:spcPct val="100000"/>
              </a:lnSpc>
              <a:spcBef>
                <a:spcPts val="360"/>
              </a:spcBef>
            </a:pPr>
            <a:r>
              <a:rPr dirty="0" sz="2000">
                <a:solidFill>
                  <a:srgbClr val="40458B"/>
                </a:solidFill>
                <a:latin typeface="Tahoma"/>
                <a:cs typeface="Tahoma"/>
              </a:rPr>
              <a:t>I3:ADD</a:t>
            </a:r>
            <a:r>
              <a:rPr dirty="0" sz="2000" spc="-70">
                <a:solidFill>
                  <a:srgbClr val="40458B"/>
                </a:solidFill>
                <a:latin typeface="Tahoma"/>
                <a:cs typeface="Tahoma"/>
              </a:rPr>
              <a:t> </a:t>
            </a:r>
            <a:r>
              <a:rPr dirty="0" sz="2000" spc="-25">
                <a:solidFill>
                  <a:srgbClr val="40458B"/>
                </a:solidFill>
                <a:latin typeface="Tahoma"/>
                <a:cs typeface="Tahoma"/>
              </a:rPr>
              <a:t>R8</a:t>
            </a:r>
            <a:endParaRPr sz="2000">
              <a:latin typeface="Tahoma"/>
              <a:cs typeface="Tahoma"/>
            </a:endParaRPr>
          </a:p>
        </p:txBody>
      </p:sp>
      <p:sp>
        <p:nvSpPr>
          <p:cNvPr id="17" name="object 17" descr=""/>
          <p:cNvSpPr txBox="1"/>
          <p:nvPr/>
        </p:nvSpPr>
        <p:spPr>
          <a:xfrm>
            <a:off x="8800465" y="3392766"/>
            <a:ext cx="1310640" cy="400685"/>
          </a:xfrm>
          <a:prstGeom prst="rect">
            <a:avLst/>
          </a:prstGeom>
          <a:ln w="9525">
            <a:solidFill>
              <a:srgbClr val="006FC0"/>
            </a:solidFill>
          </a:ln>
        </p:spPr>
        <p:txBody>
          <a:bodyPr wrap="square" lIns="0" tIns="45719" rIns="0" bIns="0" rtlCol="0" vert="horz">
            <a:spAutoFit/>
          </a:bodyPr>
          <a:lstStyle/>
          <a:p>
            <a:pPr marL="92075">
              <a:lnSpc>
                <a:spcPct val="100000"/>
              </a:lnSpc>
              <a:spcBef>
                <a:spcPts val="359"/>
              </a:spcBef>
            </a:pPr>
            <a:r>
              <a:rPr dirty="0" sz="2000" spc="-10">
                <a:solidFill>
                  <a:srgbClr val="40458B"/>
                </a:solidFill>
                <a:latin typeface="Tahoma"/>
                <a:cs typeface="Tahoma"/>
              </a:rPr>
              <a:t>I2:ADDR4</a:t>
            </a:r>
            <a:endParaRPr sz="2000">
              <a:latin typeface="Tahoma"/>
              <a:cs typeface="Tahoma"/>
            </a:endParaRPr>
          </a:p>
        </p:txBody>
      </p:sp>
      <p:sp>
        <p:nvSpPr>
          <p:cNvPr id="18" name="object 18" descr=""/>
          <p:cNvSpPr/>
          <p:nvPr/>
        </p:nvSpPr>
        <p:spPr>
          <a:xfrm>
            <a:off x="7614031" y="3043935"/>
            <a:ext cx="246379" cy="354965"/>
          </a:xfrm>
          <a:custGeom>
            <a:avLst/>
            <a:gdLst/>
            <a:ahLst/>
            <a:cxnLst/>
            <a:rect l="l" t="t" r="r" b="b"/>
            <a:pathLst>
              <a:path w="246379" h="354964">
                <a:moveTo>
                  <a:pt x="198952" y="294507"/>
                </a:moveTo>
                <a:lnTo>
                  <a:pt x="171450" y="313436"/>
                </a:lnTo>
                <a:lnTo>
                  <a:pt x="245999" y="354584"/>
                </a:lnTo>
                <a:lnTo>
                  <a:pt x="239044" y="304926"/>
                </a:lnTo>
                <a:lnTo>
                  <a:pt x="206121" y="304926"/>
                </a:lnTo>
                <a:lnTo>
                  <a:pt x="198952" y="294507"/>
                </a:lnTo>
                <a:close/>
              </a:path>
              <a:path w="246379" h="354964">
                <a:moveTo>
                  <a:pt x="206703" y="289172"/>
                </a:moveTo>
                <a:lnTo>
                  <a:pt x="198952" y="294507"/>
                </a:lnTo>
                <a:lnTo>
                  <a:pt x="206121" y="304926"/>
                </a:lnTo>
                <a:lnTo>
                  <a:pt x="213868" y="299592"/>
                </a:lnTo>
                <a:lnTo>
                  <a:pt x="206703" y="289172"/>
                </a:lnTo>
                <a:close/>
              </a:path>
              <a:path w="246379" h="354964">
                <a:moveTo>
                  <a:pt x="234188" y="270255"/>
                </a:moveTo>
                <a:lnTo>
                  <a:pt x="206703" y="289172"/>
                </a:lnTo>
                <a:lnTo>
                  <a:pt x="213868" y="299592"/>
                </a:lnTo>
                <a:lnTo>
                  <a:pt x="206121" y="304926"/>
                </a:lnTo>
                <a:lnTo>
                  <a:pt x="239044" y="304926"/>
                </a:lnTo>
                <a:lnTo>
                  <a:pt x="234188" y="270255"/>
                </a:lnTo>
                <a:close/>
              </a:path>
              <a:path w="246379" h="354964">
                <a:moveTo>
                  <a:pt x="7874" y="0"/>
                </a:moveTo>
                <a:lnTo>
                  <a:pt x="0" y="5334"/>
                </a:lnTo>
                <a:lnTo>
                  <a:pt x="198952" y="294507"/>
                </a:lnTo>
                <a:lnTo>
                  <a:pt x="206703" y="289172"/>
                </a:lnTo>
                <a:lnTo>
                  <a:pt x="7874" y="0"/>
                </a:lnTo>
                <a:close/>
              </a:path>
            </a:pathLst>
          </a:custGeom>
          <a:solidFill>
            <a:srgbClr val="40458B"/>
          </a:solidFill>
        </p:spPr>
        <p:txBody>
          <a:bodyPr wrap="square" lIns="0" tIns="0" rIns="0" bIns="0" rtlCol="0"/>
          <a:lstStyle/>
          <a:p/>
        </p:txBody>
      </p:sp>
      <p:sp>
        <p:nvSpPr>
          <p:cNvPr id="19" name="object 19" descr=""/>
          <p:cNvSpPr/>
          <p:nvPr/>
        </p:nvSpPr>
        <p:spPr>
          <a:xfrm>
            <a:off x="8234553" y="3824604"/>
            <a:ext cx="1246505" cy="358775"/>
          </a:xfrm>
          <a:custGeom>
            <a:avLst/>
            <a:gdLst/>
            <a:ahLst/>
            <a:cxnLst/>
            <a:rect l="l" t="t" r="r" b="b"/>
            <a:pathLst>
              <a:path w="1246504" h="358775">
                <a:moveTo>
                  <a:pt x="122301" y="258445"/>
                </a:moveTo>
                <a:lnTo>
                  <a:pt x="90411" y="268122"/>
                </a:lnTo>
                <a:lnTo>
                  <a:pt x="9144" y="0"/>
                </a:lnTo>
                <a:lnTo>
                  <a:pt x="0" y="2794"/>
                </a:lnTo>
                <a:lnTo>
                  <a:pt x="81254" y="270891"/>
                </a:lnTo>
                <a:lnTo>
                  <a:pt x="49403" y="280543"/>
                </a:lnTo>
                <a:lnTo>
                  <a:pt x="107950" y="342392"/>
                </a:lnTo>
                <a:lnTo>
                  <a:pt x="118084" y="283083"/>
                </a:lnTo>
                <a:lnTo>
                  <a:pt x="122301" y="258445"/>
                </a:lnTo>
                <a:close/>
              </a:path>
              <a:path w="1246504" h="358775">
                <a:moveTo>
                  <a:pt x="1246378" y="23749"/>
                </a:moveTo>
                <a:lnTo>
                  <a:pt x="1243711" y="14605"/>
                </a:lnTo>
                <a:lnTo>
                  <a:pt x="179895" y="316979"/>
                </a:lnTo>
                <a:lnTo>
                  <a:pt x="170815" y="284988"/>
                </a:lnTo>
                <a:lnTo>
                  <a:pt x="107950" y="342392"/>
                </a:lnTo>
                <a:lnTo>
                  <a:pt x="191643" y="358267"/>
                </a:lnTo>
                <a:lnTo>
                  <a:pt x="183515" y="329692"/>
                </a:lnTo>
                <a:lnTo>
                  <a:pt x="182524" y="326224"/>
                </a:lnTo>
                <a:lnTo>
                  <a:pt x="1246378" y="23749"/>
                </a:lnTo>
                <a:close/>
              </a:path>
            </a:pathLst>
          </a:custGeom>
          <a:solidFill>
            <a:srgbClr val="40458B"/>
          </a:solidFill>
        </p:spPr>
        <p:txBody>
          <a:bodyPr wrap="square" lIns="0" tIns="0" rIns="0" bIns="0" rtlCol="0"/>
          <a:lstStyle/>
          <a:p/>
        </p:txBody>
      </p:sp>
      <p:sp>
        <p:nvSpPr>
          <p:cNvPr id="20" name="object 20" descr=""/>
          <p:cNvSpPr txBox="1"/>
          <p:nvPr/>
        </p:nvSpPr>
        <p:spPr>
          <a:xfrm>
            <a:off x="8926956" y="2691726"/>
            <a:ext cx="1015365" cy="400685"/>
          </a:xfrm>
          <a:prstGeom prst="rect">
            <a:avLst/>
          </a:prstGeom>
          <a:ln w="9525">
            <a:solidFill>
              <a:srgbClr val="006FC0"/>
            </a:solidFill>
          </a:ln>
        </p:spPr>
        <p:txBody>
          <a:bodyPr wrap="square" lIns="0" tIns="45719" rIns="0" bIns="0" rtlCol="0" vert="horz">
            <a:spAutoFit/>
          </a:bodyPr>
          <a:lstStyle/>
          <a:p>
            <a:pPr marL="92710">
              <a:lnSpc>
                <a:spcPct val="100000"/>
              </a:lnSpc>
              <a:spcBef>
                <a:spcPts val="359"/>
              </a:spcBef>
            </a:pPr>
            <a:r>
              <a:rPr dirty="0" sz="2000" spc="-10">
                <a:solidFill>
                  <a:srgbClr val="40458B"/>
                </a:solidFill>
                <a:latin typeface="Tahoma"/>
                <a:cs typeface="Tahoma"/>
              </a:rPr>
              <a:t>R6/R7</a:t>
            </a:r>
            <a:endParaRPr sz="2000">
              <a:latin typeface="Tahoma"/>
              <a:cs typeface="Tahoma"/>
            </a:endParaRPr>
          </a:p>
        </p:txBody>
      </p:sp>
      <p:sp>
        <p:nvSpPr>
          <p:cNvPr id="21" name="object 21" descr=""/>
          <p:cNvSpPr/>
          <p:nvPr/>
        </p:nvSpPr>
        <p:spPr>
          <a:xfrm>
            <a:off x="9264395" y="3100070"/>
            <a:ext cx="191135" cy="292735"/>
          </a:xfrm>
          <a:custGeom>
            <a:avLst/>
            <a:gdLst/>
            <a:ahLst/>
            <a:cxnLst/>
            <a:rect l="l" t="t" r="r" b="b"/>
            <a:pathLst>
              <a:path w="191134" h="292735">
                <a:moveTo>
                  <a:pt x="145909" y="231282"/>
                </a:moveTo>
                <a:lnTo>
                  <a:pt x="117855" y="249427"/>
                </a:lnTo>
                <a:lnTo>
                  <a:pt x="191134" y="292734"/>
                </a:lnTo>
                <a:lnTo>
                  <a:pt x="185575" y="241934"/>
                </a:lnTo>
                <a:lnTo>
                  <a:pt x="152780" y="241934"/>
                </a:lnTo>
                <a:lnTo>
                  <a:pt x="145909" y="231282"/>
                </a:lnTo>
                <a:close/>
              </a:path>
              <a:path w="191134" h="292735">
                <a:moveTo>
                  <a:pt x="153867" y="226135"/>
                </a:moveTo>
                <a:lnTo>
                  <a:pt x="145909" y="231282"/>
                </a:lnTo>
                <a:lnTo>
                  <a:pt x="152780" y="241934"/>
                </a:lnTo>
                <a:lnTo>
                  <a:pt x="160781" y="236854"/>
                </a:lnTo>
                <a:lnTo>
                  <a:pt x="153867" y="226135"/>
                </a:lnTo>
                <a:close/>
              </a:path>
              <a:path w="191134" h="292735">
                <a:moveTo>
                  <a:pt x="181863" y="208025"/>
                </a:moveTo>
                <a:lnTo>
                  <a:pt x="153867" y="226135"/>
                </a:lnTo>
                <a:lnTo>
                  <a:pt x="160781" y="236854"/>
                </a:lnTo>
                <a:lnTo>
                  <a:pt x="152780" y="241934"/>
                </a:lnTo>
                <a:lnTo>
                  <a:pt x="185575" y="241934"/>
                </a:lnTo>
                <a:lnTo>
                  <a:pt x="181863" y="208025"/>
                </a:lnTo>
                <a:close/>
              </a:path>
              <a:path w="191134" h="292735">
                <a:moveTo>
                  <a:pt x="8000" y="0"/>
                </a:moveTo>
                <a:lnTo>
                  <a:pt x="0" y="5079"/>
                </a:lnTo>
                <a:lnTo>
                  <a:pt x="145909" y="231282"/>
                </a:lnTo>
                <a:lnTo>
                  <a:pt x="153867" y="226135"/>
                </a:lnTo>
                <a:lnTo>
                  <a:pt x="8000" y="0"/>
                </a:lnTo>
                <a:close/>
              </a:path>
            </a:pathLst>
          </a:custGeom>
          <a:solidFill>
            <a:srgbClr val="40458B"/>
          </a:solidFill>
        </p:spPr>
        <p:txBody>
          <a:bodyPr wrap="square" lIns="0" tIns="0" rIns="0" bIns="0" rtlCol="0"/>
          <a:lstStyle/>
          <a:p/>
        </p:txBody>
      </p:sp>
      <p:sp>
        <p:nvSpPr>
          <p:cNvPr id="22" name="object 22" descr=""/>
          <p:cNvSpPr txBox="1"/>
          <p:nvPr/>
        </p:nvSpPr>
        <p:spPr>
          <a:xfrm>
            <a:off x="10441685" y="3026155"/>
            <a:ext cx="944880" cy="391160"/>
          </a:xfrm>
          <a:prstGeom prst="rect">
            <a:avLst/>
          </a:prstGeom>
        </p:spPr>
        <p:txBody>
          <a:bodyPr wrap="square" lIns="0" tIns="12700" rIns="0" bIns="0" rtlCol="0" vert="horz">
            <a:spAutoFit/>
          </a:bodyPr>
          <a:lstStyle/>
          <a:p>
            <a:pPr marL="12700">
              <a:lnSpc>
                <a:spcPct val="100000"/>
              </a:lnSpc>
              <a:spcBef>
                <a:spcPts val="100"/>
              </a:spcBef>
            </a:pPr>
            <a:r>
              <a:rPr dirty="0" sz="2400" spc="-35" b="1">
                <a:solidFill>
                  <a:srgbClr val="006FC0"/>
                </a:solidFill>
                <a:latin typeface="黑体"/>
                <a:cs typeface="黑体"/>
              </a:rPr>
              <a:t>优化后</a:t>
            </a:r>
            <a:endParaRPr sz="2400">
              <a:latin typeface="黑体"/>
              <a:cs typeface="黑体"/>
            </a:endParaRPr>
          </a:p>
        </p:txBody>
      </p:sp>
      <p:sp>
        <p:nvSpPr>
          <p:cNvPr id="23" name="object 23" descr=""/>
          <p:cNvSpPr txBox="1"/>
          <p:nvPr/>
        </p:nvSpPr>
        <p:spPr>
          <a:xfrm>
            <a:off x="7039102" y="1781302"/>
            <a:ext cx="3043555" cy="391160"/>
          </a:xfrm>
          <a:prstGeom prst="rect">
            <a:avLst/>
          </a:prstGeom>
        </p:spPr>
        <p:txBody>
          <a:bodyPr wrap="square" lIns="0" tIns="12700" rIns="0" bIns="0" rtlCol="0" vert="horz">
            <a:spAutoFit/>
          </a:bodyPr>
          <a:lstStyle/>
          <a:p>
            <a:pPr marL="12700">
              <a:lnSpc>
                <a:spcPct val="100000"/>
              </a:lnSpc>
              <a:spcBef>
                <a:spcPts val="100"/>
              </a:spcBef>
            </a:pPr>
            <a:r>
              <a:rPr dirty="0" sz="2400" spc="-20" b="1">
                <a:solidFill>
                  <a:srgbClr val="006FC0"/>
                </a:solidFill>
                <a:latin typeface="黑体"/>
                <a:cs typeface="黑体"/>
              </a:rPr>
              <a:t>路径长度</a:t>
            </a:r>
            <a:r>
              <a:rPr dirty="0" sz="2400" spc="-10">
                <a:solidFill>
                  <a:srgbClr val="006FC0"/>
                </a:solidFill>
                <a:latin typeface="黑体"/>
                <a:cs typeface="黑体"/>
              </a:rPr>
              <a:t>：</a:t>
            </a:r>
            <a:r>
              <a:rPr dirty="0" sz="1800" spc="-10">
                <a:solidFill>
                  <a:srgbClr val="006FC0"/>
                </a:solidFill>
                <a:latin typeface="Calibri"/>
                <a:cs typeface="Calibri"/>
              </a:rPr>
              <a:t>2</a:t>
            </a:r>
            <a:r>
              <a:rPr dirty="0" sz="1800" spc="-10">
                <a:solidFill>
                  <a:srgbClr val="006FC0"/>
                </a:solidFill>
                <a:latin typeface="黑体"/>
                <a:cs typeface="黑体"/>
              </a:rPr>
              <a:t>个加法器延迟</a:t>
            </a:r>
            <a:endParaRPr sz="1800">
              <a:latin typeface="黑体"/>
              <a:cs typeface="黑体"/>
            </a:endParaRPr>
          </a:p>
        </p:txBody>
      </p:sp>
      <p:sp>
        <p:nvSpPr>
          <p:cNvPr id="24" name="object 24" descr=""/>
          <p:cNvSpPr txBox="1"/>
          <p:nvPr/>
        </p:nvSpPr>
        <p:spPr>
          <a:xfrm>
            <a:off x="9347707" y="4879975"/>
            <a:ext cx="1641475" cy="391160"/>
          </a:xfrm>
          <a:prstGeom prst="rect">
            <a:avLst/>
          </a:prstGeom>
        </p:spPr>
        <p:txBody>
          <a:bodyPr wrap="square" lIns="0" tIns="12700" rIns="0" bIns="0" rtlCol="0" vert="horz">
            <a:spAutoFit/>
          </a:bodyPr>
          <a:lstStyle/>
          <a:p>
            <a:pPr marL="12700">
              <a:lnSpc>
                <a:spcPct val="100000"/>
              </a:lnSpc>
              <a:spcBef>
                <a:spcPts val="100"/>
              </a:spcBef>
            </a:pPr>
            <a:r>
              <a:rPr dirty="0" sz="2400" spc="-10" b="1">
                <a:solidFill>
                  <a:srgbClr val="006FC0"/>
                </a:solidFill>
                <a:latin typeface="Calibri"/>
                <a:cs typeface="Calibri"/>
              </a:rPr>
              <a:t>I2’</a:t>
            </a:r>
            <a:r>
              <a:rPr dirty="0" sz="2400" spc="-315" b="1">
                <a:solidFill>
                  <a:srgbClr val="006FC0"/>
                </a:solidFill>
                <a:latin typeface="黑体"/>
                <a:cs typeface="黑体"/>
              </a:rPr>
              <a:t>和 </a:t>
            </a:r>
            <a:r>
              <a:rPr dirty="0" sz="2400" spc="-10" b="1">
                <a:solidFill>
                  <a:srgbClr val="006FC0"/>
                </a:solidFill>
                <a:latin typeface="Calibri"/>
                <a:cs typeface="Calibri"/>
              </a:rPr>
              <a:t>I3’</a:t>
            </a:r>
            <a:r>
              <a:rPr dirty="0" sz="2400" spc="-35" b="1">
                <a:solidFill>
                  <a:srgbClr val="006FC0"/>
                </a:solidFill>
                <a:latin typeface="黑体"/>
                <a:cs typeface="黑体"/>
              </a:rPr>
              <a:t>并行</a:t>
            </a:r>
            <a:endParaRPr sz="2400">
              <a:latin typeface="黑体"/>
              <a:cs typeface="黑体"/>
            </a:endParaRPr>
          </a:p>
        </p:txBody>
      </p:sp>
      <p:sp>
        <p:nvSpPr>
          <p:cNvPr id="25" name="object 25" descr=""/>
          <p:cNvSpPr txBox="1"/>
          <p:nvPr/>
        </p:nvSpPr>
        <p:spPr>
          <a:xfrm>
            <a:off x="5743702" y="5059502"/>
            <a:ext cx="1792605" cy="391795"/>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006FC0"/>
                </a:solidFill>
                <a:latin typeface="Calibri"/>
                <a:cs typeface="Calibri"/>
              </a:rPr>
              <a:t>1.R1</a:t>
            </a:r>
            <a:r>
              <a:rPr dirty="0" sz="2400" spc="-30">
                <a:solidFill>
                  <a:srgbClr val="006FC0"/>
                </a:solidFill>
                <a:latin typeface="Calibri"/>
                <a:cs typeface="Calibri"/>
              </a:rPr>
              <a:t> </a:t>
            </a:r>
            <a:r>
              <a:rPr dirty="0" sz="2400">
                <a:solidFill>
                  <a:srgbClr val="006FC0"/>
                </a:solidFill>
                <a:latin typeface="Calibri"/>
                <a:cs typeface="Calibri"/>
              </a:rPr>
              <a:t>=</a:t>
            </a:r>
            <a:r>
              <a:rPr dirty="0" sz="2400" spc="-10">
                <a:solidFill>
                  <a:srgbClr val="006FC0"/>
                </a:solidFill>
                <a:latin typeface="Calibri"/>
                <a:cs typeface="Calibri"/>
              </a:rPr>
              <a:t> </a:t>
            </a:r>
            <a:r>
              <a:rPr dirty="0" sz="2400">
                <a:solidFill>
                  <a:srgbClr val="006FC0"/>
                </a:solidFill>
                <a:latin typeface="Calibri"/>
                <a:cs typeface="Calibri"/>
              </a:rPr>
              <a:t>R2</a:t>
            </a:r>
            <a:r>
              <a:rPr dirty="0" sz="2400" spc="-30">
                <a:solidFill>
                  <a:srgbClr val="006FC0"/>
                </a:solidFill>
                <a:latin typeface="Calibri"/>
                <a:cs typeface="Calibri"/>
              </a:rPr>
              <a:t> </a:t>
            </a:r>
            <a:r>
              <a:rPr dirty="0" sz="2400">
                <a:solidFill>
                  <a:srgbClr val="006FC0"/>
                </a:solidFill>
                <a:latin typeface="Calibri"/>
                <a:cs typeface="Calibri"/>
              </a:rPr>
              <a:t>+</a:t>
            </a:r>
            <a:r>
              <a:rPr dirty="0" sz="2400" spc="-10">
                <a:solidFill>
                  <a:srgbClr val="006FC0"/>
                </a:solidFill>
                <a:latin typeface="Calibri"/>
                <a:cs typeface="Calibri"/>
              </a:rPr>
              <a:t> </a:t>
            </a:r>
            <a:r>
              <a:rPr dirty="0" sz="2400" spc="-25">
                <a:solidFill>
                  <a:srgbClr val="006FC0"/>
                </a:solidFill>
                <a:latin typeface="Calibri"/>
                <a:cs typeface="Calibri"/>
              </a:rPr>
              <a:t>R3</a:t>
            </a:r>
            <a:endParaRPr sz="2400">
              <a:latin typeface="Calibri"/>
              <a:cs typeface="Calibri"/>
            </a:endParaRPr>
          </a:p>
        </p:txBody>
      </p:sp>
      <p:sp>
        <p:nvSpPr>
          <p:cNvPr id="26" name="object 26" descr=""/>
          <p:cNvSpPr txBox="1"/>
          <p:nvPr/>
        </p:nvSpPr>
        <p:spPr>
          <a:xfrm>
            <a:off x="5743702" y="5427370"/>
            <a:ext cx="5224145" cy="888365"/>
          </a:xfrm>
          <a:prstGeom prst="rect">
            <a:avLst/>
          </a:prstGeom>
        </p:spPr>
        <p:txBody>
          <a:bodyPr wrap="square" lIns="0" tIns="78105" rIns="0" bIns="0" rtlCol="0" vert="horz">
            <a:spAutoFit/>
          </a:bodyPr>
          <a:lstStyle/>
          <a:p>
            <a:pPr marL="12700">
              <a:lnSpc>
                <a:spcPct val="100000"/>
              </a:lnSpc>
              <a:spcBef>
                <a:spcPts val="615"/>
              </a:spcBef>
            </a:pPr>
            <a:r>
              <a:rPr dirty="0" sz="2400">
                <a:solidFill>
                  <a:srgbClr val="006FC0"/>
                </a:solidFill>
                <a:latin typeface="Calibri"/>
                <a:cs typeface="Calibri"/>
              </a:rPr>
              <a:t>2.R4</a:t>
            </a:r>
            <a:r>
              <a:rPr dirty="0" sz="2400" spc="-15">
                <a:solidFill>
                  <a:srgbClr val="006FC0"/>
                </a:solidFill>
                <a:latin typeface="Calibri"/>
                <a:cs typeface="Calibri"/>
              </a:rPr>
              <a:t> = </a:t>
            </a:r>
            <a:r>
              <a:rPr dirty="0" sz="2400">
                <a:solidFill>
                  <a:srgbClr val="006FC0"/>
                </a:solidFill>
                <a:latin typeface="Calibri"/>
                <a:cs typeface="Calibri"/>
              </a:rPr>
              <a:t>R6</a:t>
            </a:r>
            <a:r>
              <a:rPr dirty="0" sz="2400" spc="-15">
                <a:solidFill>
                  <a:srgbClr val="006FC0"/>
                </a:solidFill>
                <a:latin typeface="Calibri"/>
                <a:cs typeface="Calibri"/>
              </a:rPr>
              <a:t> + </a:t>
            </a:r>
            <a:r>
              <a:rPr dirty="0" sz="2400">
                <a:solidFill>
                  <a:srgbClr val="006FC0"/>
                </a:solidFill>
                <a:latin typeface="Calibri"/>
                <a:cs typeface="Calibri"/>
              </a:rPr>
              <a:t>R7</a:t>
            </a:r>
            <a:r>
              <a:rPr dirty="0" sz="2400" spc="-15">
                <a:solidFill>
                  <a:srgbClr val="006FC0"/>
                </a:solidFill>
                <a:latin typeface="Calibri"/>
                <a:cs typeface="Calibri"/>
              </a:rPr>
              <a:t> // </a:t>
            </a:r>
            <a:r>
              <a:rPr dirty="0" sz="2400">
                <a:solidFill>
                  <a:srgbClr val="006FC0"/>
                </a:solidFill>
                <a:latin typeface="Calibri"/>
                <a:cs typeface="Calibri"/>
              </a:rPr>
              <a:t>R4</a:t>
            </a:r>
            <a:r>
              <a:rPr dirty="0" sz="2400" spc="-20">
                <a:solidFill>
                  <a:srgbClr val="006FC0"/>
                </a:solidFill>
                <a:latin typeface="Calibri"/>
                <a:cs typeface="Calibri"/>
              </a:rPr>
              <a:t> </a:t>
            </a:r>
            <a:r>
              <a:rPr dirty="0" sz="2400" spc="105">
                <a:solidFill>
                  <a:srgbClr val="006FC0"/>
                </a:solidFill>
                <a:latin typeface="黑体"/>
                <a:cs typeface="黑体"/>
              </a:rPr>
              <a:t>现在依赖于</a:t>
            </a:r>
            <a:r>
              <a:rPr dirty="0" sz="2400">
                <a:solidFill>
                  <a:srgbClr val="006FC0"/>
                </a:solidFill>
                <a:latin typeface="Calibri"/>
                <a:cs typeface="Calibri"/>
              </a:rPr>
              <a:t>R6</a:t>
            </a:r>
            <a:r>
              <a:rPr dirty="0" sz="2400" spc="-20">
                <a:solidFill>
                  <a:srgbClr val="006FC0"/>
                </a:solidFill>
                <a:latin typeface="Calibri"/>
                <a:cs typeface="Calibri"/>
              </a:rPr>
              <a:t> </a:t>
            </a:r>
            <a:r>
              <a:rPr dirty="0" sz="2400" spc="540">
                <a:solidFill>
                  <a:srgbClr val="006FC0"/>
                </a:solidFill>
                <a:latin typeface="黑体"/>
                <a:cs typeface="黑体"/>
              </a:rPr>
              <a:t>和</a:t>
            </a:r>
            <a:r>
              <a:rPr dirty="0" sz="2400" spc="-25">
                <a:solidFill>
                  <a:srgbClr val="006FC0"/>
                </a:solidFill>
                <a:latin typeface="Calibri"/>
                <a:cs typeface="Calibri"/>
              </a:rPr>
              <a:t>R7</a:t>
            </a:r>
            <a:endParaRPr sz="2400">
              <a:latin typeface="Calibri"/>
              <a:cs typeface="Calibri"/>
            </a:endParaRPr>
          </a:p>
          <a:p>
            <a:pPr marL="12700">
              <a:lnSpc>
                <a:spcPct val="100000"/>
              </a:lnSpc>
              <a:spcBef>
                <a:spcPts val="515"/>
              </a:spcBef>
            </a:pPr>
            <a:r>
              <a:rPr dirty="0" sz="2400">
                <a:solidFill>
                  <a:srgbClr val="006FC0"/>
                </a:solidFill>
                <a:latin typeface="Calibri"/>
                <a:cs typeface="Calibri"/>
              </a:rPr>
              <a:t>3.R8</a:t>
            </a:r>
            <a:r>
              <a:rPr dirty="0" sz="2400" spc="-25">
                <a:solidFill>
                  <a:srgbClr val="006FC0"/>
                </a:solidFill>
                <a:latin typeface="Calibri"/>
                <a:cs typeface="Calibri"/>
              </a:rPr>
              <a:t> </a:t>
            </a:r>
            <a:r>
              <a:rPr dirty="0" sz="2400">
                <a:solidFill>
                  <a:srgbClr val="006FC0"/>
                </a:solidFill>
                <a:latin typeface="Calibri"/>
                <a:cs typeface="Calibri"/>
              </a:rPr>
              <a:t>=</a:t>
            </a:r>
            <a:r>
              <a:rPr dirty="0" sz="2400" spc="-10">
                <a:solidFill>
                  <a:srgbClr val="006FC0"/>
                </a:solidFill>
                <a:latin typeface="Calibri"/>
                <a:cs typeface="Calibri"/>
              </a:rPr>
              <a:t> </a:t>
            </a:r>
            <a:r>
              <a:rPr dirty="0" sz="2400">
                <a:solidFill>
                  <a:srgbClr val="006FC0"/>
                </a:solidFill>
                <a:latin typeface="Calibri"/>
                <a:cs typeface="Calibri"/>
              </a:rPr>
              <a:t>R1</a:t>
            </a:r>
            <a:r>
              <a:rPr dirty="0" sz="2400" spc="-30">
                <a:solidFill>
                  <a:srgbClr val="006FC0"/>
                </a:solidFill>
                <a:latin typeface="Calibri"/>
                <a:cs typeface="Calibri"/>
              </a:rPr>
              <a:t> </a:t>
            </a:r>
            <a:r>
              <a:rPr dirty="0" sz="2400">
                <a:solidFill>
                  <a:srgbClr val="006FC0"/>
                </a:solidFill>
                <a:latin typeface="Calibri"/>
                <a:cs typeface="Calibri"/>
              </a:rPr>
              <a:t>+</a:t>
            </a:r>
            <a:r>
              <a:rPr dirty="0" sz="2400" spc="-10">
                <a:solidFill>
                  <a:srgbClr val="006FC0"/>
                </a:solidFill>
                <a:latin typeface="Calibri"/>
                <a:cs typeface="Calibri"/>
              </a:rPr>
              <a:t> </a:t>
            </a:r>
            <a:r>
              <a:rPr dirty="0" sz="2400">
                <a:solidFill>
                  <a:srgbClr val="006FC0"/>
                </a:solidFill>
                <a:latin typeface="Calibri"/>
                <a:cs typeface="Calibri"/>
              </a:rPr>
              <a:t>R4</a:t>
            </a:r>
            <a:r>
              <a:rPr dirty="0" sz="2400" spc="-20">
                <a:solidFill>
                  <a:srgbClr val="006FC0"/>
                </a:solidFill>
                <a:latin typeface="Calibri"/>
                <a:cs typeface="Calibri"/>
              </a:rPr>
              <a:t> </a:t>
            </a:r>
            <a:r>
              <a:rPr dirty="0" sz="2400">
                <a:solidFill>
                  <a:srgbClr val="006FC0"/>
                </a:solidFill>
                <a:latin typeface="Calibri"/>
                <a:cs typeface="Calibri"/>
              </a:rPr>
              <a:t>//</a:t>
            </a:r>
            <a:r>
              <a:rPr dirty="0" sz="2400" spc="-20">
                <a:solidFill>
                  <a:srgbClr val="006FC0"/>
                </a:solidFill>
                <a:latin typeface="Calibri"/>
                <a:cs typeface="Calibri"/>
              </a:rPr>
              <a:t> </a:t>
            </a:r>
            <a:r>
              <a:rPr dirty="0" sz="2400">
                <a:solidFill>
                  <a:srgbClr val="006FC0"/>
                </a:solidFill>
                <a:latin typeface="Calibri"/>
                <a:cs typeface="Calibri"/>
              </a:rPr>
              <a:t>R8</a:t>
            </a:r>
            <a:r>
              <a:rPr dirty="0" sz="2400" spc="-20">
                <a:solidFill>
                  <a:srgbClr val="006FC0"/>
                </a:solidFill>
                <a:latin typeface="Calibri"/>
                <a:cs typeface="Calibri"/>
              </a:rPr>
              <a:t> </a:t>
            </a:r>
            <a:r>
              <a:rPr dirty="0" sz="2400">
                <a:solidFill>
                  <a:srgbClr val="006FC0"/>
                </a:solidFill>
                <a:latin typeface="Calibri"/>
                <a:cs typeface="Calibri"/>
              </a:rPr>
              <a:t>=</a:t>
            </a:r>
            <a:r>
              <a:rPr dirty="0" sz="2400" spc="-10">
                <a:solidFill>
                  <a:srgbClr val="006FC0"/>
                </a:solidFill>
                <a:latin typeface="Calibri"/>
                <a:cs typeface="Calibri"/>
              </a:rPr>
              <a:t> </a:t>
            </a:r>
            <a:r>
              <a:rPr dirty="0" sz="2400">
                <a:solidFill>
                  <a:srgbClr val="006FC0"/>
                </a:solidFill>
                <a:latin typeface="Calibri"/>
                <a:cs typeface="Calibri"/>
              </a:rPr>
              <a:t>(R2+R3)</a:t>
            </a:r>
            <a:r>
              <a:rPr dirty="0" sz="2400" spc="-50">
                <a:solidFill>
                  <a:srgbClr val="006FC0"/>
                </a:solidFill>
                <a:latin typeface="Calibri"/>
                <a:cs typeface="Calibri"/>
              </a:rPr>
              <a:t> </a:t>
            </a:r>
            <a:r>
              <a:rPr dirty="0" sz="2400">
                <a:solidFill>
                  <a:srgbClr val="006FC0"/>
                </a:solidFill>
                <a:latin typeface="Calibri"/>
                <a:cs typeface="Calibri"/>
              </a:rPr>
              <a:t>+</a:t>
            </a:r>
            <a:r>
              <a:rPr dirty="0" sz="2400" spc="-10">
                <a:solidFill>
                  <a:srgbClr val="006FC0"/>
                </a:solidFill>
                <a:latin typeface="Calibri"/>
                <a:cs typeface="Calibri"/>
              </a:rPr>
              <a:t> (R6+R7)</a:t>
            </a:r>
            <a:endParaRPr sz="2400">
              <a:latin typeface="Calibri"/>
              <a:cs typeface="Calibri"/>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96/89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616585" algn="l"/>
                <a:tab pos="10788015" algn="l"/>
              </a:tabLst>
            </a:pPr>
            <a:r>
              <a:rPr dirty="0"/>
              <a:t>	6.5.2</a:t>
            </a:r>
            <a:r>
              <a:rPr dirty="0" spc="-5"/>
              <a:t> </a:t>
            </a:r>
            <a:r>
              <a:rPr dirty="0" spc="-10"/>
              <a:t>软流</a:t>
            </a:r>
            <a:r>
              <a:rPr dirty="0" spc="-50"/>
              <a:t>水</a:t>
            </a:r>
            <a:r>
              <a:rPr dirty="0"/>
              <a:t>	</a:t>
            </a:r>
          </a:p>
        </p:txBody>
      </p:sp>
      <p:sp>
        <p:nvSpPr>
          <p:cNvPr id="9" name="object 9" descr=""/>
          <p:cNvSpPr txBox="1"/>
          <p:nvPr/>
        </p:nvSpPr>
        <p:spPr>
          <a:xfrm>
            <a:off x="197916" y="828962"/>
            <a:ext cx="12085320" cy="5037455"/>
          </a:xfrm>
          <a:prstGeom prst="rect">
            <a:avLst/>
          </a:prstGeom>
        </p:spPr>
        <p:txBody>
          <a:bodyPr wrap="square" lIns="0" tIns="121920" rIns="0" bIns="0" rtlCol="0" vert="horz">
            <a:spAutoFit/>
          </a:bodyPr>
          <a:lstStyle/>
          <a:p>
            <a:pPr marL="12700">
              <a:lnSpc>
                <a:spcPct val="100000"/>
              </a:lnSpc>
              <a:spcBef>
                <a:spcPts val="960"/>
              </a:spcBef>
            </a:pPr>
            <a:r>
              <a:rPr dirty="0" sz="2400" spc="-5">
                <a:solidFill>
                  <a:srgbClr val="0000CC"/>
                </a:solidFill>
                <a:latin typeface="黑体"/>
                <a:cs typeface="黑体"/>
              </a:rPr>
              <a:t>循环展开和</a:t>
            </a:r>
            <a:r>
              <a:rPr dirty="0" sz="2400" spc="-25">
                <a:solidFill>
                  <a:srgbClr val="0000CC"/>
                </a:solidFill>
                <a:latin typeface="Tahoma"/>
                <a:cs typeface="Tahoma"/>
              </a:rPr>
              <a:t>Trace</a:t>
            </a:r>
            <a:r>
              <a:rPr dirty="0" sz="2400" spc="-5">
                <a:solidFill>
                  <a:srgbClr val="0000CC"/>
                </a:solidFill>
                <a:latin typeface="黑体"/>
                <a:cs typeface="黑体"/>
              </a:rPr>
              <a:t>调度通过扩大基本块体积挖掘更多的指令级并行。</a:t>
            </a:r>
            <a:endParaRPr sz="2400">
              <a:latin typeface="黑体"/>
              <a:cs typeface="黑体"/>
            </a:endParaRPr>
          </a:p>
          <a:p>
            <a:pPr marL="12700">
              <a:lnSpc>
                <a:spcPct val="100000"/>
              </a:lnSpc>
              <a:spcBef>
                <a:spcPts val="865"/>
              </a:spcBef>
            </a:pPr>
            <a:r>
              <a:rPr dirty="0" sz="2400" spc="-10">
                <a:solidFill>
                  <a:srgbClr val="E14B04"/>
                </a:solidFill>
                <a:latin typeface="黑体"/>
                <a:cs typeface="黑体"/>
              </a:rPr>
              <a:t>简介：软流水</a:t>
            </a:r>
            <a:r>
              <a:rPr dirty="0" sz="2400">
                <a:solidFill>
                  <a:srgbClr val="E14B04"/>
                </a:solidFill>
                <a:latin typeface="黑体"/>
                <a:cs typeface="黑体"/>
              </a:rPr>
              <a:t>（</a:t>
            </a:r>
            <a:r>
              <a:rPr dirty="0" sz="2400">
                <a:solidFill>
                  <a:srgbClr val="111111"/>
                </a:solidFill>
                <a:latin typeface="Arial"/>
                <a:cs typeface="Arial"/>
              </a:rPr>
              <a:t>Software</a:t>
            </a:r>
            <a:r>
              <a:rPr dirty="0" sz="2400" spc="10">
                <a:solidFill>
                  <a:srgbClr val="111111"/>
                </a:solidFill>
                <a:latin typeface="Arial"/>
                <a:cs typeface="Arial"/>
              </a:rPr>
              <a:t> </a:t>
            </a:r>
            <a:r>
              <a:rPr dirty="0" sz="2400">
                <a:solidFill>
                  <a:srgbClr val="0000CC"/>
                </a:solidFill>
                <a:latin typeface="Tahoma"/>
                <a:cs typeface="Tahoma"/>
              </a:rPr>
              <a:t>pipeline</a:t>
            </a:r>
            <a:r>
              <a:rPr dirty="0" sz="2400" spc="-95">
                <a:solidFill>
                  <a:srgbClr val="0000CC"/>
                </a:solidFill>
                <a:latin typeface="Tahoma"/>
                <a:cs typeface="Tahoma"/>
              </a:rPr>
              <a:t> </a:t>
            </a:r>
            <a:r>
              <a:rPr dirty="0" sz="2400" spc="-20">
                <a:solidFill>
                  <a:srgbClr val="111111"/>
                </a:solidFill>
                <a:latin typeface="Arial"/>
                <a:cs typeface="Arial"/>
              </a:rPr>
              <a:t>loop</a:t>
            </a:r>
            <a:r>
              <a:rPr dirty="0" sz="2400" spc="-20">
                <a:solidFill>
                  <a:srgbClr val="E14B04"/>
                </a:solidFill>
                <a:latin typeface="黑体"/>
                <a:cs typeface="黑体"/>
              </a:rPr>
              <a:t>）</a:t>
            </a:r>
            <a:r>
              <a:rPr dirty="0" sz="2400" spc="-20">
                <a:solidFill>
                  <a:srgbClr val="E14B04"/>
                </a:solidFill>
                <a:latin typeface="Tahoma"/>
                <a:cs typeface="Tahoma"/>
              </a:rPr>
              <a:t>--</a:t>
            </a:r>
            <a:r>
              <a:rPr dirty="0" sz="2400" spc="-10">
                <a:solidFill>
                  <a:srgbClr val="E14B04"/>
                </a:solidFill>
                <a:latin typeface="黑体"/>
                <a:cs typeface="黑体"/>
              </a:rPr>
              <a:t>比较常用的循环优化技术</a:t>
            </a:r>
            <a:r>
              <a:rPr dirty="0" sz="2400" spc="-10">
                <a:solidFill>
                  <a:srgbClr val="E14B04"/>
                </a:solidFill>
                <a:latin typeface="Tahoma"/>
                <a:cs typeface="Tahoma"/>
              </a:rPr>
              <a:t>-</a:t>
            </a:r>
            <a:r>
              <a:rPr dirty="0" sz="2400" spc="-10">
                <a:solidFill>
                  <a:srgbClr val="E14B04"/>
                </a:solidFill>
                <a:latin typeface="黑体"/>
                <a:cs typeface="黑体"/>
              </a:rPr>
              <a:t>旨在消除循环携带相</a:t>
            </a:r>
            <a:endParaRPr sz="2400">
              <a:latin typeface="黑体"/>
              <a:cs typeface="黑体"/>
            </a:endParaRPr>
          </a:p>
          <a:p>
            <a:pPr algn="just" marL="1099185" marR="5080" indent="-457200">
              <a:lnSpc>
                <a:spcPct val="110000"/>
              </a:lnSpc>
              <a:spcBef>
                <a:spcPts val="575"/>
              </a:spcBef>
              <a:buClr>
                <a:srgbClr val="40458B"/>
              </a:buClr>
              <a:buSzPct val="89583"/>
              <a:buFont typeface="Wingdings"/>
              <a:buChar char=""/>
              <a:tabLst>
                <a:tab pos="1099185" algn="l"/>
              </a:tabLst>
            </a:pPr>
            <a:r>
              <a:rPr dirty="0" sz="2400">
                <a:solidFill>
                  <a:srgbClr val="FF0000"/>
                </a:solidFill>
                <a:latin typeface="黑体"/>
                <a:cs typeface="黑体"/>
              </a:rPr>
              <a:t>软流水技术</a:t>
            </a:r>
            <a:r>
              <a:rPr dirty="0" sz="2400">
                <a:solidFill>
                  <a:srgbClr val="0000CC"/>
                </a:solidFill>
                <a:latin typeface="黑体"/>
                <a:cs typeface="黑体"/>
              </a:rPr>
              <a:t>的核心思想是从循环不同的迭代中抽取一部分指令（</a:t>
            </a:r>
            <a:r>
              <a:rPr dirty="0" sz="2400" spc="-10">
                <a:solidFill>
                  <a:srgbClr val="0000CC"/>
                </a:solidFill>
                <a:latin typeface="黑体"/>
                <a:cs typeface="黑体"/>
              </a:rPr>
              <a:t>循环控制指令除外</a:t>
            </a:r>
            <a:r>
              <a:rPr dirty="0" sz="2400" spc="-5">
                <a:solidFill>
                  <a:srgbClr val="0000CC"/>
                </a:solidFill>
                <a:latin typeface="黑体"/>
                <a:cs typeface="黑体"/>
              </a:rPr>
              <a:t>拼成一个新的循环迭代，使得来自不同迭代的指令能够像流水线一样并行执行，从</a:t>
            </a:r>
            <a:r>
              <a:rPr dirty="0" sz="2400" spc="-15">
                <a:solidFill>
                  <a:srgbClr val="0000CC"/>
                </a:solidFill>
                <a:latin typeface="黑体"/>
                <a:cs typeface="黑体"/>
              </a:rPr>
              <a:t>而最大限度地减少因数据依赖造成的停顿。</a:t>
            </a:r>
            <a:endParaRPr sz="2400">
              <a:latin typeface="黑体"/>
              <a:cs typeface="黑体"/>
            </a:endParaRPr>
          </a:p>
          <a:p>
            <a:pPr algn="just" marL="1098550" indent="-456565">
              <a:lnSpc>
                <a:spcPct val="100000"/>
              </a:lnSpc>
              <a:spcBef>
                <a:spcPts val="870"/>
              </a:spcBef>
              <a:buClr>
                <a:srgbClr val="40458B"/>
              </a:buClr>
              <a:buSzPct val="89583"/>
              <a:buFont typeface="Wingdings"/>
              <a:buChar char=""/>
              <a:tabLst>
                <a:tab pos="1098550" algn="l"/>
              </a:tabLst>
            </a:pPr>
            <a:r>
              <a:rPr dirty="0" sz="2400" spc="-5">
                <a:solidFill>
                  <a:srgbClr val="0000CC"/>
                </a:solidFill>
                <a:latin typeface="黑体"/>
                <a:cs typeface="黑体"/>
              </a:rPr>
              <a:t>是对循环携带相关更深层次的分析</a:t>
            </a:r>
            <a:endParaRPr sz="2400">
              <a:latin typeface="黑体"/>
              <a:cs typeface="黑体"/>
            </a:endParaRPr>
          </a:p>
          <a:p>
            <a:pPr algn="just" marL="1098550" indent="-456565">
              <a:lnSpc>
                <a:spcPct val="100000"/>
              </a:lnSpc>
              <a:spcBef>
                <a:spcPts val="860"/>
              </a:spcBef>
              <a:buClr>
                <a:srgbClr val="40458B"/>
              </a:buClr>
              <a:buSzPct val="89583"/>
              <a:buFont typeface="Wingdings"/>
              <a:buChar char=""/>
              <a:tabLst>
                <a:tab pos="1098550" algn="l"/>
              </a:tabLst>
            </a:pPr>
            <a:r>
              <a:rPr dirty="0" sz="2400" spc="-10">
                <a:solidFill>
                  <a:srgbClr val="D50092"/>
                </a:solidFill>
                <a:latin typeface="黑体"/>
                <a:cs typeface="黑体"/>
              </a:rPr>
              <a:t>软流水目的</a:t>
            </a:r>
            <a:endParaRPr sz="2400">
              <a:latin typeface="黑体"/>
              <a:cs typeface="黑体"/>
            </a:endParaRPr>
          </a:p>
          <a:p>
            <a:pPr lvl="1" marL="1336040" indent="-182245">
              <a:lnSpc>
                <a:spcPct val="100000"/>
              </a:lnSpc>
              <a:spcBef>
                <a:spcPts val="865"/>
              </a:spcBef>
              <a:buClr>
                <a:srgbClr val="4668F5"/>
              </a:buClr>
              <a:buSzPct val="56250"/>
              <a:buFont typeface="Wingdings"/>
              <a:buChar char=""/>
              <a:tabLst>
                <a:tab pos="1336040" algn="l"/>
              </a:tabLst>
            </a:pPr>
            <a:r>
              <a:rPr dirty="0" sz="2400" spc="-25" b="1">
                <a:solidFill>
                  <a:srgbClr val="FF5CFF"/>
                </a:solidFill>
                <a:latin typeface="黑体"/>
                <a:cs typeface="黑体"/>
              </a:rPr>
              <a:t>重组循环体，将有</a:t>
            </a:r>
            <a:r>
              <a:rPr dirty="0" sz="2400" spc="-25" b="1">
                <a:solidFill>
                  <a:srgbClr val="FF0000"/>
                </a:solidFill>
                <a:latin typeface="黑体"/>
                <a:cs typeface="黑体"/>
              </a:rPr>
              <a:t>真相关的指令分隔到</a:t>
            </a:r>
            <a:r>
              <a:rPr dirty="0" sz="2400" spc="-30" b="1">
                <a:solidFill>
                  <a:srgbClr val="FF5CFF"/>
                </a:solidFill>
                <a:latin typeface="黑体"/>
                <a:cs typeface="黑体"/>
              </a:rPr>
              <a:t>不同的循环周期内执行。</a:t>
            </a:r>
            <a:endParaRPr sz="2400">
              <a:latin typeface="黑体"/>
              <a:cs typeface="黑体"/>
            </a:endParaRPr>
          </a:p>
          <a:p>
            <a:pPr lvl="1" marL="1336040" indent="-182880">
              <a:lnSpc>
                <a:spcPct val="100000"/>
              </a:lnSpc>
              <a:spcBef>
                <a:spcPts val="865"/>
              </a:spcBef>
              <a:buClr>
                <a:srgbClr val="4668F5"/>
              </a:buClr>
              <a:buSzPct val="56250"/>
              <a:buFont typeface="Wingdings"/>
              <a:buChar char=""/>
              <a:tabLst>
                <a:tab pos="1336040" algn="l"/>
              </a:tabLst>
            </a:pPr>
            <a:r>
              <a:rPr dirty="0" sz="2400" spc="-20" b="1">
                <a:solidFill>
                  <a:srgbClr val="0000CC"/>
                </a:solidFill>
                <a:latin typeface="宋体"/>
                <a:cs typeface="宋体"/>
              </a:rPr>
              <a:t>要么将同一迭代中的相关指令分布到不同的迭代中</a:t>
            </a:r>
            <a:r>
              <a:rPr dirty="0" sz="2400" spc="-20" b="1">
                <a:solidFill>
                  <a:srgbClr val="FF5CFF"/>
                </a:solidFill>
                <a:latin typeface="黑体"/>
                <a:cs typeface="黑体"/>
              </a:rPr>
              <a:t>--</a:t>
            </a:r>
            <a:r>
              <a:rPr dirty="0" sz="2400" spc="-5">
                <a:solidFill>
                  <a:srgbClr val="181B1F"/>
                </a:solidFill>
                <a:latin typeface="黑体"/>
                <a:cs typeface="黑体"/>
              </a:rPr>
              <a:t>使得指令之间的数据依赖距</a:t>
            </a:r>
            <a:endParaRPr sz="2400">
              <a:latin typeface="黑体"/>
              <a:cs typeface="黑体"/>
            </a:endParaRPr>
          </a:p>
          <a:p>
            <a:pPr marL="1155065">
              <a:lnSpc>
                <a:spcPct val="100000"/>
              </a:lnSpc>
              <a:spcBef>
                <a:spcPts val="290"/>
              </a:spcBef>
            </a:pPr>
            <a:r>
              <a:rPr dirty="0" sz="2400" spc="-20">
                <a:solidFill>
                  <a:srgbClr val="181B1F"/>
                </a:solidFill>
                <a:latin typeface="黑体"/>
                <a:cs typeface="黑体"/>
              </a:rPr>
              <a:t>离变远</a:t>
            </a:r>
            <a:endParaRPr sz="2400">
              <a:latin typeface="黑体"/>
              <a:cs typeface="黑体"/>
            </a:endParaRPr>
          </a:p>
          <a:p>
            <a:pPr lvl="1" marL="1336040" indent="-182880">
              <a:lnSpc>
                <a:spcPct val="100000"/>
              </a:lnSpc>
              <a:spcBef>
                <a:spcPts val="865"/>
              </a:spcBef>
              <a:buClr>
                <a:srgbClr val="4668F5"/>
              </a:buClr>
              <a:buSzPct val="56250"/>
              <a:buFont typeface="Wingdings"/>
              <a:buChar char=""/>
              <a:tabLst>
                <a:tab pos="1336040" algn="l"/>
              </a:tabLst>
            </a:pPr>
            <a:r>
              <a:rPr dirty="0" sz="2400" spc="-25" b="1">
                <a:solidFill>
                  <a:srgbClr val="0000CC"/>
                </a:solidFill>
                <a:latin typeface="宋体"/>
                <a:cs typeface="宋体"/>
              </a:rPr>
              <a:t>要么将不同迭代中的相关指令封装到同一迭代中</a:t>
            </a:r>
            <a:endParaRPr sz="2400">
              <a:latin typeface="宋体"/>
              <a:cs typeface="宋体"/>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97/89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xfrm>
            <a:off x="197916" y="-68934"/>
            <a:ext cx="12007215" cy="1230630"/>
          </a:xfrm>
          <a:prstGeom prst="rect"/>
        </p:spPr>
        <p:txBody>
          <a:bodyPr wrap="square" lIns="0" tIns="12700" rIns="0" bIns="0" rtlCol="0" vert="horz">
            <a:spAutoFit/>
          </a:bodyPr>
          <a:lstStyle/>
          <a:p>
            <a:pPr marL="12700" marR="5080" indent="1205230">
              <a:lnSpc>
                <a:spcPct val="123500"/>
              </a:lnSpc>
              <a:spcBef>
                <a:spcPts val="100"/>
              </a:spcBef>
              <a:tabLst>
                <a:tab pos="11993880" algn="l"/>
              </a:tabLst>
            </a:pPr>
            <a:r>
              <a:rPr dirty="0" spc="-30"/>
              <a:t>  </a:t>
            </a:r>
            <a:r>
              <a:rPr dirty="0"/>
              <a:t>6.5.2</a:t>
            </a:r>
            <a:r>
              <a:rPr dirty="0" spc="-5"/>
              <a:t> </a:t>
            </a:r>
            <a:r>
              <a:rPr dirty="0" spc="-10"/>
              <a:t>软流</a:t>
            </a:r>
            <a:r>
              <a:rPr dirty="0" spc="-50"/>
              <a:t>水</a:t>
            </a:r>
            <a:r>
              <a:rPr dirty="0"/>
              <a:t>	</a:t>
            </a:r>
            <a:r>
              <a:rPr dirty="0" u="none"/>
              <a:t> </a:t>
            </a:r>
            <a:r>
              <a:rPr dirty="0" u="none">
                <a:solidFill>
                  <a:srgbClr val="FF0000"/>
                </a:solidFill>
              </a:rPr>
              <a:t>软流</a:t>
            </a:r>
            <a:r>
              <a:rPr dirty="0" u="none" spc="-15">
                <a:solidFill>
                  <a:srgbClr val="FF0000"/>
                </a:solidFill>
              </a:rPr>
              <a:t>水</a:t>
            </a:r>
            <a:r>
              <a:rPr dirty="0" u="none">
                <a:solidFill>
                  <a:srgbClr val="FF0000"/>
                </a:solidFill>
              </a:rPr>
              <a:t>技术</a:t>
            </a:r>
            <a:r>
              <a:rPr dirty="0" u="none" spc="-15">
                <a:solidFill>
                  <a:srgbClr val="FF0000"/>
                </a:solidFill>
              </a:rPr>
              <a:t>工</a:t>
            </a:r>
            <a:r>
              <a:rPr dirty="0" u="none">
                <a:solidFill>
                  <a:srgbClr val="FF0000"/>
                </a:solidFill>
              </a:rPr>
              <a:t>作原</a:t>
            </a:r>
            <a:r>
              <a:rPr dirty="0" u="none" spc="-50">
                <a:solidFill>
                  <a:srgbClr val="FF0000"/>
                </a:solidFill>
              </a:rPr>
              <a:t>理</a:t>
            </a:r>
          </a:p>
        </p:txBody>
      </p:sp>
      <p:sp>
        <p:nvSpPr>
          <p:cNvPr id="9" name="object 9" descr=""/>
          <p:cNvSpPr txBox="1"/>
          <p:nvPr/>
        </p:nvSpPr>
        <p:spPr>
          <a:xfrm>
            <a:off x="827328" y="1142771"/>
            <a:ext cx="11265535" cy="2159635"/>
          </a:xfrm>
          <a:prstGeom prst="rect">
            <a:avLst/>
          </a:prstGeom>
        </p:spPr>
        <p:txBody>
          <a:bodyPr wrap="square" lIns="0" tIns="140335" rIns="0" bIns="0" rtlCol="0" vert="horz">
            <a:spAutoFit/>
          </a:bodyPr>
          <a:lstStyle/>
          <a:p>
            <a:pPr marL="469265" indent="-456565">
              <a:lnSpc>
                <a:spcPct val="100000"/>
              </a:lnSpc>
              <a:spcBef>
                <a:spcPts val="1105"/>
              </a:spcBef>
              <a:buClr>
                <a:srgbClr val="40458B"/>
              </a:buClr>
              <a:buSzPct val="89285"/>
              <a:buFont typeface="Wingdings"/>
              <a:buChar char=""/>
              <a:tabLst>
                <a:tab pos="469265" algn="l"/>
              </a:tabLst>
            </a:pPr>
            <a:r>
              <a:rPr dirty="0" sz="2800" spc="-50">
                <a:solidFill>
                  <a:srgbClr val="0000CC"/>
                </a:solidFill>
                <a:latin typeface="黑体"/>
                <a:cs typeface="黑体"/>
              </a:rPr>
              <a:t>分解同一循环内的指令相关，把指令软件方式重排， 实现指令的流水</a:t>
            </a:r>
            <a:endParaRPr sz="2800">
              <a:latin typeface="黑体"/>
              <a:cs typeface="黑体"/>
            </a:endParaRPr>
          </a:p>
          <a:p>
            <a:pPr marL="581025" indent="-568325">
              <a:lnSpc>
                <a:spcPct val="100000"/>
              </a:lnSpc>
              <a:spcBef>
                <a:spcPts val="1010"/>
              </a:spcBef>
              <a:buClr>
                <a:srgbClr val="40458B"/>
              </a:buClr>
              <a:buSzPct val="89285"/>
              <a:buFont typeface="Wingdings"/>
              <a:buChar char=""/>
              <a:tabLst>
                <a:tab pos="581025" algn="l"/>
              </a:tabLst>
            </a:pPr>
            <a:r>
              <a:rPr dirty="0" sz="2800" spc="-40">
                <a:solidFill>
                  <a:srgbClr val="0000CC"/>
                </a:solidFill>
                <a:latin typeface="黑体"/>
                <a:cs typeface="黑体"/>
              </a:rPr>
              <a:t>重排后的指令，以抽取的不同次的循环代码为主体进行新的循环</a:t>
            </a:r>
            <a:endParaRPr sz="2800">
              <a:latin typeface="黑体"/>
              <a:cs typeface="黑体"/>
            </a:endParaRPr>
          </a:p>
          <a:p>
            <a:pPr marL="469265" marR="479425" indent="-457200">
              <a:lnSpc>
                <a:spcPct val="110100"/>
              </a:lnSpc>
              <a:spcBef>
                <a:spcPts val="670"/>
              </a:spcBef>
              <a:buClr>
                <a:srgbClr val="40458B"/>
              </a:buClr>
              <a:buSzPct val="89285"/>
              <a:buFont typeface="Wingdings"/>
              <a:buChar char=""/>
              <a:tabLst>
                <a:tab pos="469265" algn="l"/>
              </a:tabLst>
            </a:pPr>
            <a:r>
              <a:rPr dirty="0" sz="2800" spc="-35">
                <a:solidFill>
                  <a:srgbClr val="0000CC"/>
                </a:solidFill>
                <a:latin typeface="黑体"/>
                <a:cs typeface="黑体"/>
              </a:rPr>
              <a:t>本质是将循环的时序维度（迭代次数</a:t>
            </a:r>
            <a:r>
              <a:rPr dirty="0" sz="2800" spc="-30">
                <a:solidFill>
                  <a:srgbClr val="0000CC"/>
                </a:solidFill>
                <a:latin typeface="黑体"/>
                <a:cs typeface="黑体"/>
              </a:rPr>
              <a:t>）</a:t>
            </a:r>
            <a:r>
              <a:rPr dirty="0" sz="2800" spc="-35">
                <a:solidFill>
                  <a:srgbClr val="0000CC"/>
                </a:solidFill>
                <a:latin typeface="黑体"/>
                <a:cs typeface="黑体"/>
              </a:rPr>
              <a:t>转换为空间维度（</a:t>
            </a:r>
            <a:r>
              <a:rPr dirty="0" sz="2800" spc="-40">
                <a:solidFill>
                  <a:srgbClr val="0000CC"/>
                </a:solidFill>
                <a:latin typeface="黑体"/>
                <a:cs typeface="黑体"/>
              </a:rPr>
              <a:t>流水线级</a:t>
            </a:r>
            <a:r>
              <a:rPr dirty="0" sz="2800" spc="-30">
                <a:solidFill>
                  <a:srgbClr val="0000CC"/>
                </a:solidFill>
                <a:latin typeface="黑体"/>
                <a:cs typeface="黑体"/>
              </a:rPr>
              <a:t>数</a:t>
            </a:r>
            <a:r>
              <a:rPr dirty="0" sz="2800" spc="-35">
                <a:solidFill>
                  <a:srgbClr val="0000CC"/>
                </a:solidFill>
                <a:latin typeface="黑体"/>
                <a:cs typeface="黑体"/>
              </a:rPr>
              <a:t>），</a:t>
            </a:r>
            <a:r>
              <a:rPr dirty="0" sz="2800" spc="-40">
                <a:solidFill>
                  <a:srgbClr val="0000CC"/>
                </a:solidFill>
                <a:latin typeface="黑体"/>
                <a:cs typeface="黑体"/>
              </a:rPr>
              <a:t>通过编译时调度实现运行时的高度并行。</a:t>
            </a:r>
            <a:endParaRPr sz="2800">
              <a:latin typeface="黑体"/>
              <a:cs typeface="黑体"/>
            </a:endParaRPr>
          </a:p>
        </p:txBody>
      </p:sp>
      <p:grpSp>
        <p:nvGrpSpPr>
          <p:cNvPr id="10" name="object 10" descr=""/>
          <p:cNvGrpSpPr/>
          <p:nvPr/>
        </p:nvGrpSpPr>
        <p:grpSpPr>
          <a:xfrm>
            <a:off x="1200150" y="3297237"/>
            <a:ext cx="10185400" cy="3048000"/>
            <a:chOff x="1200150" y="3297237"/>
            <a:chExt cx="10185400" cy="3048000"/>
          </a:xfrm>
        </p:grpSpPr>
        <p:sp>
          <p:nvSpPr>
            <p:cNvPr id="11" name="object 11" descr=""/>
            <p:cNvSpPr/>
            <p:nvPr/>
          </p:nvSpPr>
          <p:spPr>
            <a:xfrm>
              <a:off x="1200150" y="3297237"/>
              <a:ext cx="10185400" cy="3048000"/>
            </a:xfrm>
            <a:custGeom>
              <a:avLst/>
              <a:gdLst/>
              <a:ahLst/>
              <a:cxnLst/>
              <a:rect l="l" t="t" r="r" b="b"/>
              <a:pathLst>
                <a:path w="10185400" h="3048000">
                  <a:moveTo>
                    <a:pt x="10185400" y="0"/>
                  </a:moveTo>
                  <a:lnTo>
                    <a:pt x="0" y="0"/>
                  </a:lnTo>
                  <a:lnTo>
                    <a:pt x="0" y="3048000"/>
                  </a:lnTo>
                  <a:lnTo>
                    <a:pt x="10185400" y="3048000"/>
                  </a:lnTo>
                  <a:lnTo>
                    <a:pt x="10185400" y="0"/>
                  </a:lnTo>
                  <a:close/>
                </a:path>
              </a:pathLst>
            </a:custGeom>
            <a:solidFill>
              <a:srgbClr val="F1E3A8"/>
            </a:solidFill>
          </p:spPr>
          <p:txBody>
            <a:bodyPr wrap="square" lIns="0" tIns="0" rIns="0" bIns="0" rtlCol="0"/>
            <a:lstStyle/>
            <a:p/>
          </p:txBody>
        </p:sp>
        <p:sp>
          <p:nvSpPr>
            <p:cNvPr id="12" name="object 12" descr=""/>
            <p:cNvSpPr/>
            <p:nvPr/>
          </p:nvSpPr>
          <p:spPr>
            <a:xfrm>
              <a:off x="3657758" y="4040167"/>
              <a:ext cx="1141095" cy="1377315"/>
            </a:xfrm>
            <a:custGeom>
              <a:avLst/>
              <a:gdLst/>
              <a:ahLst/>
              <a:cxnLst/>
              <a:rect l="l" t="t" r="r" b="b"/>
              <a:pathLst>
                <a:path w="1141095" h="1377314">
                  <a:moveTo>
                    <a:pt x="1140550" y="0"/>
                  </a:moveTo>
                  <a:lnTo>
                    <a:pt x="0" y="0"/>
                  </a:lnTo>
                  <a:lnTo>
                    <a:pt x="0" y="1377117"/>
                  </a:lnTo>
                  <a:lnTo>
                    <a:pt x="1140550" y="1377117"/>
                  </a:lnTo>
                  <a:lnTo>
                    <a:pt x="1140550" y="0"/>
                  </a:lnTo>
                  <a:close/>
                </a:path>
              </a:pathLst>
            </a:custGeom>
            <a:solidFill>
              <a:srgbClr val="FFFFFF"/>
            </a:solidFill>
          </p:spPr>
          <p:txBody>
            <a:bodyPr wrap="square" lIns="0" tIns="0" rIns="0" bIns="0" rtlCol="0"/>
            <a:lstStyle/>
            <a:p/>
          </p:txBody>
        </p:sp>
        <p:sp>
          <p:nvSpPr>
            <p:cNvPr id="13" name="object 13" descr=""/>
            <p:cNvSpPr/>
            <p:nvPr/>
          </p:nvSpPr>
          <p:spPr>
            <a:xfrm>
              <a:off x="3657758" y="4040167"/>
              <a:ext cx="1141095" cy="1377315"/>
            </a:xfrm>
            <a:custGeom>
              <a:avLst/>
              <a:gdLst/>
              <a:ahLst/>
              <a:cxnLst/>
              <a:rect l="l" t="t" r="r" b="b"/>
              <a:pathLst>
                <a:path w="1141095" h="1377314">
                  <a:moveTo>
                    <a:pt x="0" y="1377117"/>
                  </a:moveTo>
                  <a:lnTo>
                    <a:pt x="1140550" y="1377117"/>
                  </a:lnTo>
                  <a:lnTo>
                    <a:pt x="1140550" y="0"/>
                  </a:lnTo>
                  <a:lnTo>
                    <a:pt x="0" y="0"/>
                  </a:lnTo>
                  <a:lnTo>
                    <a:pt x="0" y="1377117"/>
                  </a:lnTo>
                  <a:close/>
                </a:path>
              </a:pathLst>
            </a:custGeom>
            <a:ln w="12149">
              <a:solidFill>
                <a:srgbClr val="000000"/>
              </a:solidFill>
            </a:ln>
          </p:spPr>
          <p:txBody>
            <a:bodyPr wrap="square" lIns="0" tIns="0" rIns="0" bIns="0" rtlCol="0"/>
            <a:lstStyle/>
            <a:p/>
          </p:txBody>
        </p:sp>
      </p:grpSp>
      <p:sp>
        <p:nvSpPr>
          <p:cNvPr id="14" name="object 14" descr=""/>
          <p:cNvSpPr txBox="1"/>
          <p:nvPr/>
        </p:nvSpPr>
        <p:spPr>
          <a:xfrm>
            <a:off x="3926253" y="3779894"/>
            <a:ext cx="422909" cy="163195"/>
          </a:xfrm>
          <a:prstGeom prst="rect">
            <a:avLst/>
          </a:prstGeom>
        </p:spPr>
        <p:txBody>
          <a:bodyPr wrap="square" lIns="0" tIns="0" rIns="0" bIns="0" rtlCol="0" vert="horz">
            <a:spAutoFit/>
          </a:bodyPr>
          <a:lstStyle/>
          <a:p>
            <a:pPr>
              <a:lnSpc>
                <a:spcPts val="1270"/>
              </a:lnSpc>
            </a:pPr>
            <a:r>
              <a:rPr dirty="0" sz="1150" spc="459">
                <a:latin typeface="Cambria"/>
                <a:cs typeface="Cambria"/>
              </a:rPr>
              <a:t>◻</a:t>
            </a:r>
            <a:r>
              <a:rPr dirty="0" sz="1150" spc="215">
                <a:latin typeface="Cambria"/>
                <a:cs typeface="Cambria"/>
              </a:rPr>
              <a:t> </a:t>
            </a:r>
            <a:r>
              <a:rPr dirty="0" sz="1150" spc="409">
                <a:latin typeface="Cambria"/>
                <a:cs typeface="Cambria"/>
              </a:rPr>
              <a:t>◻</a:t>
            </a:r>
            <a:endParaRPr sz="1150">
              <a:latin typeface="Cambria"/>
              <a:cs typeface="Cambria"/>
            </a:endParaRPr>
          </a:p>
        </p:txBody>
      </p:sp>
      <p:grpSp>
        <p:nvGrpSpPr>
          <p:cNvPr id="15" name="object 15" descr=""/>
          <p:cNvGrpSpPr/>
          <p:nvPr/>
        </p:nvGrpSpPr>
        <p:grpSpPr>
          <a:xfrm>
            <a:off x="5076774" y="4205630"/>
            <a:ext cx="1154430" cy="1390650"/>
            <a:chOff x="5076774" y="4205630"/>
            <a:chExt cx="1154430" cy="1390650"/>
          </a:xfrm>
        </p:grpSpPr>
        <p:sp>
          <p:nvSpPr>
            <p:cNvPr id="16" name="object 16" descr=""/>
            <p:cNvSpPr/>
            <p:nvPr/>
          </p:nvSpPr>
          <p:spPr>
            <a:xfrm>
              <a:off x="5083441" y="4212298"/>
              <a:ext cx="1141095" cy="1377315"/>
            </a:xfrm>
            <a:custGeom>
              <a:avLst/>
              <a:gdLst/>
              <a:ahLst/>
              <a:cxnLst/>
              <a:rect l="l" t="t" r="r" b="b"/>
              <a:pathLst>
                <a:path w="1141095" h="1377314">
                  <a:moveTo>
                    <a:pt x="1140550" y="0"/>
                  </a:moveTo>
                  <a:lnTo>
                    <a:pt x="0" y="0"/>
                  </a:lnTo>
                  <a:lnTo>
                    <a:pt x="0" y="1377117"/>
                  </a:lnTo>
                  <a:lnTo>
                    <a:pt x="1140550" y="1377117"/>
                  </a:lnTo>
                  <a:lnTo>
                    <a:pt x="1140550" y="0"/>
                  </a:lnTo>
                  <a:close/>
                </a:path>
              </a:pathLst>
            </a:custGeom>
            <a:solidFill>
              <a:srgbClr val="FFFFFF"/>
            </a:solidFill>
          </p:spPr>
          <p:txBody>
            <a:bodyPr wrap="square" lIns="0" tIns="0" rIns="0" bIns="0" rtlCol="0"/>
            <a:lstStyle/>
            <a:p/>
          </p:txBody>
        </p:sp>
        <p:sp>
          <p:nvSpPr>
            <p:cNvPr id="17" name="object 17" descr=""/>
            <p:cNvSpPr/>
            <p:nvPr/>
          </p:nvSpPr>
          <p:spPr>
            <a:xfrm>
              <a:off x="5083441" y="4212298"/>
              <a:ext cx="1141095" cy="1377315"/>
            </a:xfrm>
            <a:custGeom>
              <a:avLst/>
              <a:gdLst/>
              <a:ahLst/>
              <a:cxnLst/>
              <a:rect l="l" t="t" r="r" b="b"/>
              <a:pathLst>
                <a:path w="1141095" h="1377314">
                  <a:moveTo>
                    <a:pt x="0" y="1377117"/>
                  </a:moveTo>
                  <a:lnTo>
                    <a:pt x="1140550" y="1377117"/>
                  </a:lnTo>
                  <a:lnTo>
                    <a:pt x="1140550" y="0"/>
                  </a:lnTo>
                  <a:lnTo>
                    <a:pt x="0" y="0"/>
                  </a:lnTo>
                  <a:lnTo>
                    <a:pt x="0" y="1377117"/>
                  </a:lnTo>
                  <a:close/>
                </a:path>
              </a:pathLst>
            </a:custGeom>
            <a:ln w="12149">
              <a:solidFill>
                <a:srgbClr val="000000"/>
              </a:solidFill>
            </a:ln>
          </p:spPr>
          <p:txBody>
            <a:bodyPr wrap="square" lIns="0" tIns="0" rIns="0" bIns="0" rtlCol="0"/>
            <a:lstStyle/>
            <a:p/>
          </p:txBody>
        </p:sp>
      </p:grpSp>
      <p:sp>
        <p:nvSpPr>
          <p:cNvPr id="18" name="object 18" descr=""/>
          <p:cNvSpPr txBox="1"/>
          <p:nvPr/>
        </p:nvSpPr>
        <p:spPr>
          <a:xfrm>
            <a:off x="5352017" y="3951989"/>
            <a:ext cx="617220" cy="163195"/>
          </a:xfrm>
          <a:prstGeom prst="rect">
            <a:avLst/>
          </a:prstGeom>
        </p:spPr>
        <p:txBody>
          <a:bodyPr wrap="square" lIns="0" tIns="0" rIns="0" bIns="0" rtlCol="0" vert="horz">
            <a:spAutoFit/>
          </a:bodyPr>
          <a:lstStyle/>
          <a:p>
            <a:pPr>
              <a:lnSpc>
                <a:spcPts val="1270"/>
              </a:lnSpc>
            </a:pPr>
            <a:r>
              <a:rPr dirty="0" sz="1150" spc="459">
                <a:latin typeface="Cambria"/>
                <a:cs typeface="Cambria"/>
              </a:rPr>
              <a:t>◻</a:t>
            </a:r>
            <a:r>
              <a:rPr dirty="0" sz="1150" spc="215">
                <a:latin typeface="Cambria"/>
                <a:cs typeface="Cambria"/>
              </a:rPr>
              <a:t> </a:t>
            </a:r>
            <a:r>
              <a:rPr dirty="0" sz="1150" spc="459">
                <a:latin typeface="Cambria"/>
                <a:cs typeface="Cambria"/>
              </a:rPr>
              <a:t>◻</a:t>
            </a:r>
            <a:r>
              <a:rPr dirty="0" sz="1150" spc="215">
                <a:latin typeface="Cambria"/>
                <a:cs typeface="Cambria"/>
              </a:rPr>
              <a:t> </a:t>
            </a:r>
            <a:r>
              <a:rPr dirty="0" sz="1150" spc="360">
                <a:latin typeface="Cambria"/>
                <a:cs typeface="Cambria"/>
              </a:rPr>
              <a:t>1</a:t>
            </a:r>
            <a:endParaRPr sz="1150">
              <a:latin typeface="Cambria"/>
              <a:cs typeface="Cambria"/>
            </a:endParaRPr>
          </a:p>
        </p:txBody>
      </p:sp>
      <p:grpSp>
        <p:nvGrpSpPr>
          <p:cNvPr id="19" name="object 19" descr=""/>
          <p:cNvGrpSpPr/>
          <p:nvPr/>
        </p:nvGrpSpPr>
        <p:grpSpPr>
          <a:xfrm>
            <a:off x="6502537" y="4377761"/>
            <a:ext cx="1154430" cy="1390650"/>
            <a:chOff x="6502537" y="4377761"/>
            <a:chExt cx="1154430" cy="1390650"/>
          </a:xfrm>
        </p:grpSpPr>
        <p:sp>
          <p:nvSpPr>
            <p:cNvPr id="20" name="object 20" descr=""/>
            <p:cNvSpPr/>
            <p:nvPr/>
          </p:nvSpPr>
          <p:spPr>
            <a:xfrm>
              <a:off x="6509204" y="4384428"/>
              <a:ext cx="1141095" cy="1377315"/>
            </a:xfrm>
            <a:custGeom>
              <a:avLst/>
              <a:gdLst/>
              <a:ahLst/>
              <a:cxnLst/>
              <a:rect l="l" t="t" r="r" b="b"/>
              <a:pathLst>
                <a:path w="1141095" h="1377314">
                  <a:moveTo>
                    <a:pt x="1140550" y="0"/>
                  </a:moveTo>
                  <a:lnTo>
                    <a:pt x="0" y="0"/>
                  </a:lnTo>
                  <a:lnTo>
                    <a:pt x="0" y="1377117"/>
                  </a:lnTo>
                  <a:lnTo>
                    <a:pt x="1140550" y="1377117"/>
                  </a:lnTo>
                  <a:lnTo>
                    <a:pt x="1140550" y="0"/>
                  </a:lnTo>
                  <a:close/>
                </a:path>
              </a:pathLst>
            </a:custGeom>
            <a:solidFill>
              <a:srgbClr val="FFFFFF"/>
            </a:solidFill>
          </p:spPr>
          <p:txBody>
            <a:bodyPr wrap="square" lIns="0" tIns="0" rIns="0" bIns="0" rtlCol="0"/>
            <a:lstStyle/>
            <a:p/>
          </p:txBody>
        </p:sp>
        <p:sp>
          <p:nvSpPr>
            <p:cNvPr id="21" name="object 21" descr=""/>
            <p:cNvSpPr/>
            <p:nvPr/>
          </p:nvSpPr>
          <p:spPr>
            <a:xfrm>
              <a:off x="6509204" y="4384428"/>
              <a:ext cx="1141095" cy="1377315"/>
            </a:xfrm>
            <a:custGeom>
              <a:avLst/>
              <a:gdLst/>
              <a:ahLst/>
              <a:cxnLst/>
              <a:rect l="l" t="t" r="r" b="b"/>
              <a:pathLst>
                <a:path w="1141095" h="1377314">
                  <a:moveTo>
                    <a:pt x="0" y="1377117"/>
                  </a:moveTo>
                  <a:lnTo>
                    <a:pt x="1140550" y="1377117"/>
                  </a:lnTo>
                  <a:lnTo>
                    <a:pt x="1140550" y="0"/>
                  </a:lnTo>
                  <a:lnTo>
                    <a:pt x="0" y="0"/>
                  </a:lnTo>
                  <a:lnTo>
                    <a:pt x="0" y="1377117"/>
                  </a:lnTo>
                  <a:close/>
                </a:path>
              </a:pathLst>
            </a:custGeom>
            <a:ln w="12149">
              <a:solidFill>
                <a:srgbClr val="000000"/>
              </a:solidFill>
            </a:ln>
          </p:spPr>
          <p:txBody>
            <a:bodyPr wrap="square" lIns="0" tIns="0" rIns="0" bIns="0" rtlCol="0"/>
            <a:lstStyle/>
            <a:p/>
          </p:txBody>
        </p:sp>
      </p:grpSp>
      <p:sp>
        <p:nvSpPr>
          <p:cNvPr id="22" name="object 22" descr=""/>
          <p:cNvSpPr txBox="1"/>
          <p:nvPr/>
        </p:nvSpPr>
        <p:spPr>
          <a:xfrm>
            <a:off x="6777780" y="4124083"/>
            <a:ext cx="617220" cy="163195"/>
          </a:xfrm>
          <a:prstGeom prst="rect">
            <a:avLst/>
          </a:prstGeom>
        </p:spPr>
        <p:txBody>
          <a:bodyPr wrap="square" lIns="0" tIns="0" rIns="0" bIns="0" rtlCol="0" vert="horz">
            <a:spAutoFit/>
          </a:bodyPr>
          <a:lstStyle/>
          <a:p>
            <a:pPr>
              <a:lnSpc>
                <a:spcPts val="1270"/>
              </a:lnSpc>
            </a:pPr>
            <a:r>
              <a:rPr dirty="0" sz="1150" spc="459">
                <a:latin typeface="Cambria"/>
                <a:cs typeface="Cambria"/>
              </a:rPr>
              <a:t>◻</a:t>
            </a:r>
            <a:r>
              <a:rPr dirty="0" sz="1150" spc="215">
                <a:latin typeface="Cambria"/>
                <a:cs typeface="Cambria"/>
              </a:rPr>
              <a:t> </a:t>
            </a:r>
            <a:r>
              <a:rPr dirty="0" sz="1150" spc="459">
                <a:latin typeface="Cambria"/>
                <a:cs typeface="Cambria"/>
              </a:rPr>
              <a:t>◻</a:t>
            </a:r>
            <a:r>
              <a:rPr dirty="0" sz="1150" spc="215">
                <a:latin typeface="Cambria"/>
                <a:cs typeface="Cambria"/>
              </a:rPr>
              <a:t> </a:t>
            </a:r>
            <a:r>
              <a:rPr dirty="0" sz="1150" spc="360">
                <a:latin typeface="Cambria"/>
                <a:cs typeface="Cambria"/>
              </a:rPr>
              <a:t>2</a:t>
            </a:r>
            <a:endParaRPr sz="1150">
              <a:latin typeface="Cambria"/>
              <a:cs typeface="Cambria"/>
            </a:endParaRPr>
          </a:p>
        </p:txBody>
      </p:sp>
      <p:grpSp>
        <p:nvGrpSpPr>
          <p:cNvPr id="23" name="object 23" descr=""/>
          <p:cNvGrpSpPr/>
          <p:nvPr/>
        </p:nvGrpSpPr>
        <p:grpSpPr>
          <a:xfrm>
            <a:off x="7928099" y="4549891"/>
            <a:ext cx="1154430" cy="1390650"/>
            <a:chOff x="7928099" y="4549891"/>
            <a:chExt cx="1154430" cy="1390650"/>
          </a:xfrm>
        </p:grpSpPr>
        <p:sp>
          <p:nvSpPr>
            <p:cNvPr id="24" name="object 24" descr=""/>
            <p:cNvSpPr/>
            <p:nvPr/>
          </p:nvSpPr>
          <p:spPr>
            <a:xfrm>
              <a:off x="7934767" y="4556559"/>
              <a:ext cx="1141095" cy="1377315"/>
            </a:xfrm>
            <a:custGeom>
              <a:avLst/>
              <a:gdLst/>
              <a:ahLst/>
              <a:cxnLst/>
              <a:rect l="l" t="t" r="r" b="b"/>
              <a:pathLst>
                <a:path w="1141095" h="1377314">
                  <a:moveTo>
                    <a:pt x="1140550" y="0"/>
                  </a:moveTo>
                  <a:lnTo>
                    <a:pt x="0" y="0"/>
                  </a:lnTo>
                  <a:lnTo>
                    <a:pt x="0" y="1377117"/>
                  </a:lnTo>
                  <a:lnTo>
                    <a:pt x="1140550" y="1377117"/>
                  </a:lnTo>
                  <a:lnTo>
                    <a:pt x="1140550" y="0"/>
                  </a:lnTo>
                  <a:close/>
                </a:path>
              </a:pathLst>
            </a:custGeom>
            <a:solidFill>
              <a:srgbClr val="FFFFFF"/>
            </a:solidFill>
          </p:spPr>
          <p:txBody>
            <a:bodyPr wrap="square" lIns="0" tIns="0" rIns="0" bIns="0" rtlCol="0"/>
            <a:lstStyle/>
            <a:p/>
          </p:txBody>
        </p:sp>
        <p:sp>
          <p:nvSpPr>
            <p:cNvPr id="25" name="object 25" descr=""/>
            <p:cNvSpPr/>
            <p:nvPr/>
          </p:nvSpPr>
          <p:spPr>
            <a:xfrm>
              <a:off x="7934767" y="4556559"/>
              <a:ext cx="1141095" cy="1377315"/>
            </a:xfrm>
            <a:custGeom>
              <a:avLst/>
              <a:gdLst/>
              <a:ahLst/>
              <a:cxnLst/>
              <a:rect l="l" t="t" r="r" b="b"/>
              <a:pathLst>
                <a:path w="1141095" h="1377314">
                  <a:moveTo>
                    <a:pt x="0" y="1377117"/>
                  </a:moveTo>
                  <a:lnTo>
                    <a:pt x="1140550" y="1377117"/>
                  </a:lnTo>
                  <a:lnTo>
                    <a:pt x="1140550" y="0"/>
                  </a:lnTo>
                  <a:lnTo>
                    <a:pt x="0" y="0"/>
                  </a:lnTo>
                  <a:lnTo>
                    <a:pt x="0" y="1377117"/>
                  </a:lnTo>
                  <a:close/>
                </a:path>
              </a:pathLst>
            </a:custGeom>
            <a:ln w="12149">
              <a:solidFill>
                <a:srgbClr val="000000"/>
              </a:solidFill>
            </a:ln>
          </p:spPr>
          <p:txBody>
            <a:bodyPr wrap="square" lIns="0" tIns="0" rIns="0" bIns="0" rtlCol="0"/>
            <a:lstStyle/>
            <a:p/>
          </p:txBody>
        </p:sp>
      </p:grpSp>
      <p:sp>
        <p:nvSpPr>
          <p:cNvPr id="26" name="object 26" descr=""/>
          <p:cNvSpPr txBox="1"/>
          <p:nvPr/>
        </p:nvSpPr>
        <p:spPr>
          <a:xfrm>
            <a:off x="8203342" y="4296298"/>
            <a:ext cx="617220" cy="163195"/>
          </a:xfrm>
          <a:prstGeom prst="rect">
            <a:avLst/>
          </a:prstGeom>
        </p:spPr>
        <p:txBody>
          <a:bodyPr wrap="square" lIns="0" tIns="0" rIns="0" bIns="0" rtlCol="0" vert="horz">
            <a:spAutoFit/>
          </a:bodyPr>
          <a:lstStyle/>
          <a:p>
            <a:pPr>
              <a:lnSpc>
                <a:spcPts val="1270"/>
              </a:lnSpc>
            </a:pPr>
            <a:r>
              <a:rPr dirty="0" sz="1150" spc="459">
                <a:latin typeface="Cambria"/>
                <a:cs typeface="Cambria"/>
              </a:rPr>
              <a:t>◻</a:t>
            </a:r>
            <a:r>
              <a:rPr dirty="0" sz="1150" spc="215">
                <a:latin typeface="Cambria"/>
                <a:cs typeface="Cambria"/>
              </a:rPr>
              <a:t> </a:t>
            </a:r>
            <a:r>
              <a:rPr dirty="0" sz="1150" spc="459">
                <a:latin typeface="Cambria"/>
                <a:cs typeface="Cambria"/>
              </a:rPr>
              <a:t>◻</a:t>
            </a:r>
            <a:r>
              <a:rPr dirty="0" sz="1150" spc="215">
                <a:latin typeface="Cambria"/>
                <a:cs typeface="Cambria"/>
              </a:rPr>
              <a:t> </a:t>
            </a:r>
            <a:r>
              <a:rPr dirty="0" sz="1150" spc="360">
                <a:latin typeface="Cambria"/>
                <a:cs typeface="Cambria"/>
              </a:rPr>
              <a:t>3</a:t>
            </a:r>
            <a:endParaRPr sz="1150">
              <a:latin typeface="Cambria"/>
              <a:cs typeface="Cambria"/>
            </a:endParaRPr>
          </a:p>
        </p:txBody>
      </p:sp>
      <p:grpSp>
        <p:nvGrpSpPr>
          <p:cNvPr id="27" name="object 27" descr=""/>
          <p:cNvGrpSpPr/>
          <p:nvPr/>
        </p:nvGrpSpPr>
        <p:grpSpPr>
          <a:xfrm>
            <a:off x="9353862" y="4722028"/>
            <a:ext cx="1154430" cy="1390650"/>
            <a:chOff x="9353862" y="4722028"/>
            <a:chExt cx="1154430" cy="1390650"/>
          </a:xfrm>
        </p:grpSpPr>
        <p:sp>
          <p:nvSpPr>
            <p:cNvPr id="28" name="object 28" descr=""/>
            <p:cNvSpPr/>
            <p:nvPr/>
          </p:nvSpPr>
          <p:spPr>
            <a:xfrm>
              <a:off x="9360529" y="4728695"/>
              <a:ext cx="1141095" cy="1377315"/>
            </a:xfrm>
            <a:custGeom>
              <a:avLst/>
              <a:gdLst/>
              <a:ahLst/>
              <a:cxnLst/>
              <a:rect l="l" t="t" r="r" b="b"/>
              <a:pathLst>
                <a:path w="1141095" h="1377314">
                  <a:moveTo>
                    <a:pt x="1140550" y="0"/>
                  </a:moveTo>
                  <a:lnTo>
                    <a:pt x="0" y="0"/>
                  </a:lnTo>
                  <a:lnTo>
                    <a:pt x="0" y="1377117"/>
                  </a:lnTo>
                  <a:lnTo>
                    <a:pt x="1140550" y="1377117"/>
                  </a:lnTo>
                  <a:lnTo>
                    <a:pt x="1140550" y="0"/>
                  </a:lnTo>
                  <a:close/>
                </a:path>
              </a:pathLst>
            </a:custGeom>
            <a:solidFill>
              <a:srgbClr val="FFFFFF"/>
            </a:solidFill>
          </p:spPr>
          <p:txBody>
            <a:bodyPr wrap="square" lIns="0" tIns="0" rIns="0" bIns="0" rtlCol="0"/>
            <a:lstStyle/>
            <a:p/>
          </p:txBody>
        </p:sp>
        <p:sp>
          <p:nvSpPr>
            <p:cNvPr id="29" name="object 29" descr=""/>
            <p:cNvSpPr/>
            <p:nvPr/>
          </p:nvSpPr>
          <p:spPr>
            <a:xfrm>
              <a:off x="9360529" y="4728695"/>
              <a:ext cx="1141095" cy="1377315"/>
            </a:xfrm>
            <a:custGeom>
              <a:avLst/>
              <a:gdLst/>
              <a:ahLst/>
              <a:cxnLst/>
              <a:rect l="l" t="t" r="r" b="b"/>
              <a:pathLst>
                <a:path w="1141095" h="1377314">
                  <a:moveTo>
                    <a:pt x="0" y="1377117"/>
                  </a:moveTo>
                  <a:lnTo>
                    <a:pt x="1140550" y="1377117"/>
                  </a:lnTo>
                  <a:lnTo>
                    <a:pt x="1140550" y="0"/>
                  </a:lnTo>
                  <a:lnTo>
                    <a:pt x="0" y="0"/>
                  </a:lnTo>
                  <a:lnTo>
                    <a:pt x="0" y="1377117"/>
                  </a:lnTo>
                  <a:close/>
                </a:path>
              </a:pathLst>
            </a:custGeom>
            <a:ln w="12149">
              <a:solidFill>
                <a:srgbClr val="000000"/>
              </a:solidFill>
            </a:ln>
          </p:spPr>
          <p:txBody>
            <a:bodyPr wrap="square" lIns="0" tIns="0" rIns="0" bIns="0" rtlCol="0"/>
            <a:lstStyle/>
            <a:p/>
          </p:txBody>
        </p:sp>
      </p:grpSp>
      <p:sp>
        <p:nvSpPr>
          <p:cNvPr id="30" name="object 30" descr=""/>
          <p:cNvSpPr txBox="1"/>
          <p:nvPr/>
        </p:nvSpPr>
        <p:spPr>
          <a:xfrm>
            <a:off x="9629105" y="4468392"/>
            <a:ext cx="617220" cy="163195"/>
          </a:xfrm>
          <a:prstGeom prst="rect">
            <a:avLst/>
          </a:prstGeom>
        </p:spPr>
        <p:txBody>
          <a:bodyPr wrap="square" lIns="0" tIns="0" rIns="0" bIns="0" rtlCol="0" vert="horz">
            <a:spAutoFit/>
          </a:bodyPr>
          <a:lstStyle/>
          <a:p>
            <a:pPr>
              <a:lnSpc>
                <a:spcPts val="1270"/>
              </a:lnSpc>
            </a:pPr>
            <a:r>
              <a:rPr dirty="0" sz="1150" spc="459">
                <a:latin typeface="Cambria"/>
                <a:cs typeface="Cambria"/>
              </a:rPr>
              <a:t>◻</a:t>
            </a:r>
            <a:r>
              <a:rPr dirty="0" sz="1150" spc="215">
                <a:latin typeface="Cambria"/>
                <a:cs typeface="Cambria"/>
              </a:rPr>
              <a:t> </a:t>
            </a:r>
            <a:r>
              <a:rPr dirty="0" sz="1150" spc="459">
                <a:latin typeface="Cambria"/>
                <a:cs typeface="Cambria"/>
              </a:rPr>
              <a:t>◻</a:t>
            </a:r>
            <a:r>
              <a:rPr dirty="0" sz="1150" spc="215">
                <a:latin typeface="Cambria"/>
                <a:cs typeface="Cambria"/>
              </a:rPr>
              <a:t> </a:t>
            </a:r>
            <a:r>
              <a:rPr dirty="0" sz="1150" spc="360">
                <a:latin typeface="Cambria"/>
                <a:cs typeface="Cambria"/>
              </a:rPr>
              <a:t>4</a:t>
            </a:r>
            <a:endParaRPr sz="1150">
              <a:latin typeface="Cambria"/>
              <a:cs typeface="Cambria"/>
            </a:endParaRPr>
          </a:p>
        </p:txBody>
      </p:sp>
      <p:sp>
        <p:nvSpPr>
          <p:cNvPr id="31" name="object 31" descr=""/>
          <p:cNvSpPr/>
          <p:nvPr/>
        </p:nvSpPr>
        <p:spPr>
          <a:xfrm>
            <a:off x="3372626" y="5073011"/>
            <a:ext cx="7414259" cy="344805"/>
          </a:xfrm>
          <a:custGeom>
            <a:avLst/>
            <a:gdLst/>
            <a:ahLst/>
            <a:cxnLst/>
            <a:rect l="l" t="t" r="r" b="b"/>
            <a:pathLst>
              <a:path w="7414259" h="344804">
                <a:moveTo>
                  <a:pt x="7242462" y="0"/>
                </a:moveTo>
                <a:lnTo>
                  <a:pt x="171083" y="0"/>
                </a:lnTo>
                <a:lnTo>
                  <a:pt x="117005" y="5264"/>
                </a:lnTo>
                <a:lnTo>
                  <a:pt x="70040" y="19925"/>
                </a:lnTo>
                <a:lnTo>
                  <a:pt x="33007" y="42282"/>
                </a:lnTo>
                <a:lnTo>
                  <a:pt x="8721" y="70634"/>
                </a:lnTo>
                <a:lnTo>
                  <a:pt x="0" y="103280"/>
                </a:lnTo>
                <a:lnTo>
                  <a:pt x="0" y="240992"/>
                </a:lnTo>
                <a:lnTo>
                  <a:pt x="33007" y="301985"/>
                </a:lnTo>
                <a:lnTo>
                  <a:pt x="70040" y="324343"/>
                </a:lnTo>
                <a:lnTo>
                  <a:pt x="117005" y="339007"/>
                </a:lnTo>
                <a:lnTo>
                  <a:pt x="171083" y="344273"/>
                </a:lnTo>
                <a:lnTo>
                  <a:pt x="7242462" y="344273"/>
                </a:lnTo>
                <a:lnTo>
                  <a:pt x="7296577" y="339007"/>
                </a:lnTo>
                <a:lnTo>
                  <a:pt x="7343574" y="324343"/>
                </a:lnTo>
                <a:lnTo>
                  <a:pt x="7380635" y="301985"/>
                </a:lnTo>
                <a:lnTo>
                  <a:pt x="7413667" y="240992"/>
                </a:lnTo>
                <a:lnTo>
                  <a:pt x="7413667" y="103280"/>
                </a:lnTo>
                <a:lnTo>
                  <a:pt x="7380635" y="42282"/>
                </a:lnTo>
                <a:lnTo>
                  <a:pt x="7343574" y="19925"/>
                </a:lnTo>
                <a:lnTo>
                  <a:pt x="7296577" y="5264"/>
                </a:lnTo>
                <a:lnTo>
                  <a:pt x="7242462" y="0"/>
                </a:lnTo>
                <a:close/>
              </a:path>
            </a:pathLst>
          </a:custGeom>
          <a:solidFill>
            <a:srgbClr val="C0C0C0"/>
          </a:solidFill>
        </p:spPr>
        <p:txBody>
          <a:bodyPr wrap="square" lIns="0" tIns="0" rIns="0" bIns="0" rtlCol="0"/>
          <a:lstStyle/>
          <a:p/>
        </p:txBody>
      </p:sp>
      <p:sp>
        <p:nvSpPr>
          <p:cNvPr id="32" name="object 32" descr=""/>
          <p:cNvSpPr txBox="1"/>
          <p:nvPr/>
        </p:nvSpPr>
        <p:spPr>
          <a:xfrm>
            <a:off x="2056079" y="5069483"/>
            <a:ext cx="1146810" cy="337820"/>
          </a:xfrm>
          <a:prstGeom prst="rect">
            <a:avLst/>
          </a:prstGeom>
        </p:spPr>
        <p:txBody>
          <a:bodyPr wrap="square" lIns="0" tIns="0" rIns="0" bIns="0" rtlCol="0" vert="horz">
            <a:spAutoFit/>
          </a:bodyPr>
          <a:lstStyle/>
          <a:p>
            <a:pPr algn="ctr">
              <a:lnSpc>
                <a:spcPts val="1265"/>
              </a:lnSpc>
            </a:pPr>
            <a:r>
              <a:rPr dirty="0" sz="1150" spc="459">
                <a:latin typeface="Cambria"/>
                <a:cs typeface="Cambria"/>
              </a:rPr>
              <a:t>◻</a:t>
            </a:r>
            <a:r>
              <a:rPr dirty="0" sz="1150" spc="215">
                <a:latin typeface="Cambria"/>
                <a:cs typeface="Cambria"/>
              </a:rPr>
              <a:t> </a:t>
            </a:r>
            <a:r>
              <a:rPr dirty="0" sz="1150" spc="459">
                <a:latin typeface="Cambria"/>
                <a:cs typeface="Cambria"/>
              </a:rPr>
              <a:t>◻</a:t>
            </a:r>
            <a:r>
              <a:rPr dirty="0" sz="1150" spc="215">
                <a:latin typeface="Cambria"/>
                <a:cs typeface="Cambria"/>
              </a:rPr>
              <a:t> </a:t>
            </a:r>
            <a:r>
              <a:rPr dirty="0" sz="1150" spc="459">
                <a:latin typeface="Cambria"/>
                <a:cs typeface="Cambria"/>
              </a:rPr>
              <a:t>◻</a:t>
            </a:r>
            <a:r>
              <a:rPr dirty="0" sz="1150" spc="220">
                <a:latin typeface="Cambria"/>
                <a:cs typeface="Cambria"/>
              </a:rPr>
              <a:t> </a:t>
            </a:r>
            <a:r>
              <a:rPr dirty="0" sz="1150" spc="459">
                <a:latin typeface="Cambria"/>
                <a:cs typeface="Cambria"/>
              </a:rPr>
              <a:t>◻</a:t>
            </a:r>
            <a:r>
              <a:rPr dirty="0" sz="1150" spc="215">
                <a:latin typeface="Cambria"/>
                <a:cs typeface="Cambria"/>
              </a:rPr>
              <a:t> </a:t>
            </a:r>
            <a:r>
              <a:rPr dirty="0" sz="1150" spc="409">
                <a:latin typeface="Cambria"/>
                <a:cs typeface="Cambria"/>
              </a:rPr>
              <a:t>◻</a:t>
            </a:r>
            <a:endParaRPr sz="1150">
              <a:latin typeface="Cambria"/>
              <a:cs typeface="Cambria"/>
            </a:endParaRPr>
          </a:p>
          <a:p>
            <a:pPr algn="ctr">
              <a:lnSpc>
                <a:spcPts val="1380"/>
              </a:lnSpc>
            </a:pPr>
            <a:r>
              <a:rPr dirty="0" sz="1150" spc="459">
                <a:latin typeface="Cambria"/>
                <a:cs typeface="Cambria"/>
              </a:rPr>
              <a:t>◻</a:t>
            </a:r>
            <a:r>
              <a:rPr dirty="0" sz="1150" spc="215">
                <a:latin typeface="Cambria"/>
                <a:cs typeface="Cambria"/>
              </a:rPr>
              <a:t> </a:t>
            </a:r>
            <a:r>
              <a:rPr dirty="0" sz="1150" spc="459">
                <a:latin typeface="Cambria"/>
                <a:cs typeface="Cambria"/>
              </a:rPr>
              <a:t>◻</a:t>
            </a:r>
            <a:r>
              <a:rPr dirty="0" sz="1150" spc="215">
                <a:latin typeface="Cambria"/>
                <a:cs typeface="Cambria"/>
              </a:rPr>
              <a:t> </a:t>
            </a:r>
            <a:r>
              <a:rPr dirty="0" sz="1150" spc="459">
                <a:latin typeface="Cambria"/>
                <a:cs typeface="Cambria"/>
              </a:rPr>
              <a:t>◻</a:t>
            </a:r>
            <a:r>
              <a:rPr dirty="0" sz="1150" spc="220">
                <a:latin typeface="Cambria"/>
                <a:cs typeface="Cambria"/>
              </a:rPr>
              <a:t> </a:t>
            </a:r>
            <a:r>
              <a:rPr dirty="0" sz="1150" spc="409">
                <a:latin typeface="Cambria"/>
                <a:cs typeface="Cambria"/>
              </a:rPr>
              <a:t>◻</a:t>
            </a:r>
            <a:endParaRPr sz="1150">
              <a:latin typeface="Cambria"/>
              <a:cs typeface="Cambria"/>
            </a:endParaRPr>
          </a:p>
        </p:txBody>
      </p:sp>
      <p:sp>
        <p:nvSpPr>
          <p:cNvPr id="33" name="object 33" descr=""/>
          <p:cNvSpPr/>
          <p:nvPr/>
        </p:nvSpPr>
        <p:spPr>
          <a:xfrm>
            <a:off x="3575050" y="3603650"/>
            <a:ext cx="946150" cy="400685"/>
          </a:xfrm>
          <a:custGeom>
            <a:avLst/>
            <a:gdLst/>
            <a:ahLst/>
            <a:cxnLst/>
            <a:rect l="l" t="t" r="r" b="b"/>
            <a:pathLst>
              <a:path w="946150" h="400685">
                <a:moveTo>
                  <a:pt x="945819" y="0"/>
                </a:moveTo>
                <a:lnTo>
                  <a:pt x="0" y="0"/>
                </a:lnTo>
                <a:lnTo>
                  <a:pt x="0" y="400151"/>
                </a:lnTo>
                <a:lnTo>
                  <a:pt x="945819" y="400151"/>
                </a:lnTo>
                <a:lnTo>
                  <a:pt x="945819" y="0"/>
                </a:lnTo>
                <a:close/>
              </a:path>
            </a:pathLst>
          </a:custGeom>
          <a:solidFill>
            <a:srgbClr val="F1E3A8"/>
          </a:solidFill>
        </p:spPr>
        <p:txBody>
          <a:bodyPr wrap="square" lIns="0" tIns="0" rIns="0" bIns="0" rtlCol="0"/>
          <a:lstStyle/>
          <a:p/>
        </p:txBody>
      </p:sp>
      <p:sp>
        <p:nvSpPr>
          <p:cNvPr id="34" name="object 34" descr=""/>
          <p:cNvSpPr txBox="1"/>
          <p:nvPr/>
        </p:nvSpPr>
        <p:spPr>
          <a:xfrm>
            <a:off x="3654297" y="3644623"/>
            <a:ext cx="902335" cy="330835"/>
          </a:xfrm>
          <a:prstGeom prst="rect">
            <a:avLst/>
          </a:prstGeom>
        </p:spPr>
        <p:txBody>
          <a:bodyPr wrap="square" lIns="0" tIns="12700" rIns="0" bIns="0" rtlCol="0" vert="horz">
            <a:spAutoFit/>
          </a:bodyPr>
          <a:lstStyle/>
          <a:p>
            <a:pPr marL="12700">
              <a:lnSpc>
                <a:spcPct val="100000"/>
              </a:lnSpc>
              <a:spcBef>
                <a:spcPts val="100"/>
              </a:spcBef>
            </a:pPr>
            <a:r>
              <a:rPr dirty="0" baseline="1388" sz="3000">
                <a:solidFill>
                  <a:srgbClr val="40458B"/>
                </a:solidFill>
                <a:latin typeface="黑体"/>
                <a:cs typeface="黑体"/>
              </a:rPr>
              <a:t>迭代</a:t>
            </a:r>
            <a:r>
              <a:rPr dirty="0" baseline="1388" sz="3000">
                <a:solidFill>
                  <a:srgbClr val="40458B"/>
                </a:solidFill>
                <a:latin typeface="Tahoma"/>
                <a:cs typeface="Tahoma"/>
              </a:rPr>
              <a:t>0</a:t>
            </a:r>
            <a:r>
              <a:rPr dirty="0" baseline="1388" sz="3000" spc="150">
                <a:solidFill>
                  <a:srgbClr val="40458B"/>
                </a:solidFill>
                <a:latin typeface="Tahoma"/>
                <a:cs typeface="Tahoma"/>
              </a:rPr>
              <a:t> </a:t>
            </a:r>
            <a:r>
              <a:rPr dirty="0" sz="1150" spc="360">
                <a:latin typeface="Cambria"/>
                <a:cs typeface="Cambria"/>
              </a:rPr>
              <a:t>0</a:t>
            </a:r>
            <a:endParaRPr sz="1150">
              <a:latin typeface="Cambria"/>
              <a:cs typeface="Cambria"/>
            </a:endParaRPr>
          </a:p>
        </p:txBody>
      </p:sp>
      <p:sp>
        <p:nvSpPr>
          <p:cNvPr id="35" name="object 35" descr=""/>
          <p:cNvSpPr/>
          <p:nvPr/>
        </p:nvSpPr>
        <p:spPr>
          <a:xfrm>
            <a:off x="5231638" y="3793515"/>
            <a:ext cx="864869" cy="400685"/>
          </a:xfrm>
          <a:custGeom>
            <a:avLst/>
            <a:gdLst/>
            <a:ahLst/>
            <a:cxnLst/>
            <a:rect l="l" t="t" r="r" b="b"/>
            <a:pathLst>
              <a:path w="864870" h="400685">
                <a:moveTo>
                  <a:pt x="864273" y="0"/>
                </a:moveTo>
                <a:lnTo>
                  <a:pt x="0" y="0"/>
                </a:lnTo>
                <a:lnTo>
                  <a:pt x="0" y="400151"/>
                </a:lnTo>
                <a:lnTo>
                  <a:pt x="864273" y="400151"/>
                </a:lnTo>
                <a:lnTo>
                  <a:pt x="864273" y="0"/>
                </a:lnTo>
                <a:close/>
              </a:path>
            </a:pathLst>
          </a:custGeom>
          <a:solidFill>
            <a:srgbClr val="F1E3A8"/>
          </a:solidFill>
        </p:spPr>
        <p:txBody>
          <a:bodyPr wrap="square" lIns="0" tIns="0" rIns="0" bIns="0" rtlCol="0"/>
          <a:lstStyle/>
          <a:p/>
        </p:txBody>
      </p:sp>
      <p:sp>
        <p:nvSpPr>
          <p:cNvPr id="36" name="object 36" descr=""/>
          <p:cNvSpPr txBox="1"/>
          <p:nvPr/>
        </p:nvSpPr>
        <p:spPr>
          <a:xfrm>
            <a:off x="5310885" y="3827526"/>
            <a:ext cx="676910" cy="330835"/>
          </a:xfrm>
          <a:prstGeom prst="rect">
            <a:avLst/>
          </a:prstGeom>
        </p:spPr>
        <p:txBody>
          <a:bodyPr wrap="square" lIns="0" tIns="12700" rIns="0" bIns="0" rtlCol="0" vert="horz">
            <a:spAutoFit/>
          </a:bodyPr>
          <a:lstStyle/>
          <a:p>
            <a:pPr marL="12700">
              <a:lnSpc>
                <a:spcPct val="100000"/>
              </a:lnSpc>
              <a:spcBef>
                <a:spcPts val="100"/>
              </a:spcBef>
            </a:pPr>
            <a:r>
              <a:rPr dirty="0" sz="2000">
                <a:solidFill>
                  <a:srgbClr val="40458B"/>
                </a:solidFill>
                <a:latin typeface="黑体"/>
                <a:cs typeface="黑体"/>
              </a:rPr>
              <a:t>迭代</a:t>
            </a:r>
            <a:r>
              <a:rPr dirty="0" sz="2000" spc="-50">
                <a:solidFill>
                  <a:srgbClr val="40458B"/>
                </a:solidFill>
                <a:latin typeface="Tahoma"/>
                <a:cs typeface="Tahoma"/>
              </a:rPr>
              <a:t>1</a:t>
            </a:r>
            <a:endParaRPr sz="2000">
              <a:latin typeface="Tahoma"/>
              <a:cs typeface="Tahoma"/>
            </a:endParaRPr>
          </a:p>
        </p:txBody>
      </p:sp>
      <p:sp>
        <p:nvSpPr>
          <p:cNvPr id="37" name="object 37" descr=""/>
          <p:cNvSpPr/>
          <p:nvPr/>
        </p:nvSpPr>
        <p:spPr>
          <a:xfrm>
            <a:off x="6662673" y="3972966"/>
            <a:ext cx="1017905" cy="400685"/>
          </a:xfrm>
          <a:custGeom>
            <a:avLst/>
            <a:gdLst/>
            <a:ahLst/>
            <a:cxnLst/>
            <a:rect l="l" t="t" r="r" b="b"/>
            <a:pathLst>
              <a:path w="1017904" h="400685">
                <a:moveTo>
                  <a:pt x="1017739" y="0"/>
                </a:moveTo>
                <a:lnTo>
                  <a:pt x="0" y="0"/>
                </a:lnTo>
                <a:lnTo>
                  <a:pt x="0" y="400151"/>
                </a:lnTo>
                <a:lnTo>
                  <a:pt x="1017739" y="400151"/>
                </a:lnTo>
                <a:lnTo>
                  <a:pt x="1017739" y="0"/>
                </a:lnTo>
                <a:close/>
              </a:path>
            </a:pathLst>
          </a:custGeom>
          <a:solidFill>
            <a:srgbClr val="F1E3A8"/>
          </a:solidFill>
        </p:spPr>
        <p:txBody>
          <a:bodyPr wrap="square" lIns="0" tIns="0" rIns="0" bIns="0" rtlCol="0"/>
          <a:lstStyle/>
          <a:p/>
        </p:txBody>
      </p:sp>
      <p:sp>
        <p:nvSpPr>
          <p:cNvPr id="38" name="object 38" descr=""/>
          <p:cNvSpPr txBox="1"/>
          <p:nvPr/>
        </p:nvSpPr>
        <p:spPr>
          <a:xfrm>
            <a:off x="6742303" y="4006977"/>
            <a:ext cx="676910" cy="330835"/>
          </a:xfrm>
          <a:prstGeom prst="rect">
            <a:avLst/>
          </a:prstGeom>
        </p:spPr>
        <p:txBody>
          <a:bodyPr wrap="square" lIns="0" tIns="12700" rIns="0" bIns="0" rtlCol="0" vert="horz">
            <a:spAutoFit/>
          </a:bodyPr>
          <a:lstStyle/>
          <a:p>
            <a:pPr marL="12700">
              <a:lnSpc>
                <a:spcPct val="100000"/>
              </a:lnSpc>
              <a:spcBef>
                <a:spcPts val="100"/>
              </a:spcBef>
            </a:pPr>
            <a:r>
              <a:rPr dirty="0" sz="2000">
                <a:solidFill>
                  <a:srgbClr val="40458B"/>
                </a:solidFill>
                <a:latin typeface="黑体"/>
                <a:cs typeface="黑体"/>
              </a:rPr>
              <a:t>迭代</a:t>
            </a:r>
            <a:r>
              <a:rPr dirty="0" sz="2000" spc="-50">
                <a:solidFill>
                  <a:srgbClr val="40458B"/>
                </a:solidFill>
                <a:latin typeface="Tahoma"/>
                <a:cs typeface="Tahoma"/>
              </a:rPr>
              <a:t>2</a:t>
            </a:r>
            <a:endParaRPr sz="2000">
              <a:latin typeface="Tahoma"/>
              <a:cs typeface="Tahoma"/>
            </a:endParaRPr>
          </a:p>
        </p:txBody>
      </p:sp>
      <p:sp>
        <p:nvSpPr>
          <p:cNvPr id="39" name="object 39" descr=""/>
          <p:cNvSpPr/>
          <p:nvPr/>
        </p:nvSpPr>
        <p:spPr>
          <a:xfrm>
            <a:off x="8093709" y="4173118"/>
            <a:ext cx="883285" cy="400685"/>
          </a:xfrm>
          <a:custGeom>
            <a:avLst/>
            <a:gdLst/>
            <a:ahLst/>
            <a:cxnLst/>
            <a:rect l="l" t="t" r="r" b="b"/>
            <a:pathLst>
              <a:path w="883284" h="400685">
                <a:moveTo>
                  <a:pt x="883119" y="0"/>
                </a:moveTo>
                <a:lnTo>
                  <a:pt x="0" y="0"/>
                </a:lnTo>
                <a:lnTo>
                  <a:pt x="0" y="400151"/>
                </a:lnTo>
                <a:lnTo>
                  <a:pt x="883119" y="400151"/>
                </a:lnTo>
                <a:lnTo>
                  <a:pt x="883119" y="0"/>
                </a:lnTo>
                <a:close/>
              </a:path>
            </a:pathLst>
          </a:custGeom>
          <a:solidFill>
            <a:srgbClr val="F1E3A8"/>
          </a:solidFill>
        </p:spPr>
        <p:txBody>
          <a:bodyPr wrap="square" lIns="0" tIns="0" rIns="0" bIns="0" rtlCol="0"/>
          <a:lstStyle/>
          <a:p/>
        </p:txBody>
      </p:sp>
      <p:sp>
        <p:nvSpPr>
          <p:cNvPr id="40" name="object 40" descr=""/>
          <p:cNvSpPr txBox="1"/>
          <p:nvPr/>
        </p:nvSpPr>
        <p:spPr>
          <a:xfrm>
            <a:off x="8173339" y="4207255"/>
            <a:ext cx="676910" cy="330835"/>
          </a:xfrm>
          <a:prstGeom prst="rect">
            <a:avLst/>
          </a:prstGeom>
        </p:spPr>
        <p:txBody>
          <a:bodyPr wrap="square" lIns="0" tIns="12700" rIns="0" bIns="0" rtlCol="0" vert="horz">
            <a:spAutoFit/>
          </a:bodyPr>
          <a:lstStyle/>
          <a:p>
            <a:pPr marL="12700">
              <a:lnSpc>
                <a:spcPct val="100000"/>
              </a:lnSpc>
              <a:spcBef>
                <a:spcPts val="100"/>
              </a:spcBef>
            </a:pPr>
            <a:r>
              <a:rPr dirty="0" sz="2000">
                <a:solidFill>
                  <a:srgbClr val="40458B"/>
                </a:solidFill>
                <a:latin typeface="黑体"/>
                <a:cs typeface="黑体"/>
              </a:rPr>
              <a:t>迭代</a:t>
            </a:r>
            <a:r>
              <a:rPr dirty="0" sz="2000" spc="-50">
                <a:solidFill>
                  <a:srgbClr val="40458B"/>
                </a:solidFill>
                <a:latin typeface="Tahoma"/>
                <a:cs typeface="Tahoma"/>
              </a:rPr>
              <a:t>3</a:t>
            </a:r>
            <a:endParaRPr sz="2000">
              <a:latin typeface="Tahoma"/>
              <a:cs typeface="Tahoma"/>
            </a:endParaRPr>
          </a:p>
        </p:txBody>
      </p:sp>
      <p:sp>
        <p:nvSpPr>
          <p:cNvPr id="41" name="object 41" descr=""/>
          <p:cNvSpPr/>
          <p:nvPr/>
        </p:nvSpPr>
        <p:spPr>
          <a:xfrm>
            <a:off x="9505442" y="4360697"/>
            <a:ext cx="883285" cy="400685"/>
          </a:xfrm>
          <a:custGeom>
            <a:avLst/>
            <a:gdLst/>
            <a:ahLst/>
            <a:cxnLst/>
            <a:rect l="l" t="t" r="r" b="b"/>
            <a:pathLst>
              <a:path w="883284" h="400685">
                <a:moveTo>
                  <a:pt x="883119" y="0"/>
                </a:moveTo>
                <a:lnTo>
                  <a:pt x="0" y="0"/>
                </a:lnTo>
                <a:lnTo>
                  <a:pt x="0" y="400151"/>
                </a:lnTo>
                <a:lnTo>
                  <a:pt x="883119" y="400151"/>
                </a:lnTo>
                <a:lnTo>
                  <a:pt x="883119" y="0"/>
                </a:lnTo>
                <a:close/>
              </a:path>
            </a:pathLst>
          </a:custGeom>
          <a:solidFill>
            <a:srgbClr val="F1E3A8"/>
          </a:solidFill>
        </p:spPr>
        <p:txBody>
          <a:bodyPr wrap="square" lIns="0" tIns="0" rIns="0" bIns="0" rtlCol="0"/>
          <a:lstStyle/>
          <a:p/>
        </p:txBody>
      </p:sp>
      <p:sp>
        <p:nvSpPr>
          <p:cNvPr id="42" name="object 42" descr=""/>
          <p:cNvSpPr txBox="1"/>
          <p:nvPr/>
        </p:nvSpPr>
        <p:spPr>
          <a:xfrm>
            <a:off x="9585452" y="4394403"/>
            <a:ext cx="676910" cy="331470"/>
          </a:xfrm>
          <a:prstGeom prst="rect">
            <a:avLst/>
          </a:prstGeom>
        </p:spPr>
        <p:txBody>
          <a:bodyPr wrap="square" lIns="0" tIns="13335" rIns="0" bIns="0" rtlCol="0" vert="horz">
            <a:spAutoFit/>
          </a:bodyPr>
          <a:lstStyle/>
          <a:p>
            <a:pPr marL="12700">
              <a:lnSpc>
                <a:spcPct val="100000"/>
              </a:lnSpc>
              <a:spcBef>
                <a:spcPts val="105"/>
              </a:spcBef>
            </a:pPr>
            <a:r>
              <a:rPr dirty="0" sz="2000">
                <a:solidFill>
                  <a:srgbClr val="40458B"/>
                </a:solidFill>
                <a:latin typeface="黑体"/>
                <a:cs typeface="黑体"/>
              </a:rPr>
              <a:t>迭代</a:t>
            </a:r>
            <a:r>
              <a:rPr dirty="0" sz="2000" spc="-50">
                <a:solidFill>
                  <a:srgbClr val="40458B"/>
                </a:solidFill>
                <a:latin typeface="Tahoma"/>
                <a:cs typeface="Tahoma"/>
              </a:rPr>
              <a:t>4</a:t>
            </a:r>
            <a:endParaRPr sz="2000">
              <a:latin typeface="Tahoma"/>
              <a:cs typeface="Tahoma"/>
            </a:endParaRPr>
          </a:p>
        </p:txBody>
      </p:sp>
      <p:sp>
        <p:nvSpPr>
          <p:cNvPr id="43" name="object 43" descr=""/>
          <p:cNvSpPr/>
          <p:nvPr/>
        </p:nvSpPr>
        <p:spPr>
          <a:xfrm>
            <a:off x="1487550" y="5006975"/>
            <a:ext cx="1800225" cy="830580"/>
          </a:xfrm>
          <a:custGeom>
            <a:avLst/>
            <a:gdLst/>
            <a:ahLst/>
            <a:cxnLst/>
            <a:rect l="l" t="t" r="r" b="b"/>
            <a:pathLst>
              <a:path w="1800225" h="830579">
                <a:moveTo>
                  <a:pt x="1800225" y="0"/>
                </a:moveTo>
                <a:lnTo>
                  <a:pt x="0" y="0"/>
                </a:lnTo>
                <a:lnTo>
                  <a:pt x="0" y="830262"/>
                </a:lnTo>
                <a:lnTo>
                  <a:pt x="1800225" y="830262"/>
                </a:lnTo>
                <a:lnTo>
                  <a:pt x="1800225" y="0"/>
                </a:lnTo>
                <a:close/>
              </a:path>
            </a:pathLst>
          </a:custGeom>
          <a:solidFill>
            <a:srgbClr val="F1E3A8"/>
          </a:solidFill>
        </p:spPr>
        <p:txBody>
          <a:bodyPr wrap="square" lIns="0" tIns="0" rIns="0" bIns="0" rtlCol="0"/>
          <a:lstStyle/>
          <a:p/>
        </p:txBody>
      </p:sp>
      <p:sp>
        <p:nvSpPr>
          <p:cNvPr id="44" name="object 44" descr=""/>
          <p:cNvSpPr txBox="1"/>
          <p:nvPr/>
        </p:nvSpPr>
        <p:spPr>
          <a:xfrm>
            <a:off x="1566417" y="5050282"/>
            <a:ext cx="6457315" cy="1490980"/>
          </a:xfrm>
          <a:prstGeom prst="rect">
            <a:avLst/>
          </a:prstGeom>
        </p:spPr>
        <p:txBody>
          <a:bodyPr wrap="square" lIns="0" tIns="31750" rIns="0" bIns="0" rtlCol="0" vert="horz">
            <a:spAutoFit/>
          </a:bodyPr>
          <a:lstStyle/>
          <a:p>
            <a:pPr marL="12700" marR="4912995">
              <a:lnSpc>
                <a:spcPts val="2810"/>
              </a:lnSpc>
              <a:spcBef>
                <a:spcPts val="250"/>
              </a:spcBef>
            </a:pPr>
            <a:r>
              <a:rPr dirty="0" sz="2400" spc="-10">
                <a:solidFill>
                  <a:srgbClr val="40458B"/>
                </a:solidFill>
                <a:latin typeface="黑体"/>
                <a:cs typeface="黑体"/>
              </a:rPr>
              <a:t>软流水形成</a:t>
            </a:r>
            <a:r>
              <a:rPr dirty="0" sz="2400" spc="-20">
                <a:solidFill>
                  <a:srgbClr val="40458B"/>
                </a:solidFill>
                <a:latin typeface="黑体"/>
                <a:cs typeface="黑体"/>
              </a:rPr>
              <a:t>的新迭代</a:t>
            </a:r>
            <a:endParaRPr sz="2400">
              <a:latin typeface="黑体"/>
              <a:cs typeface="黑体"/>
            </a:endParaRPr>
          </a:p>
          <a:p>
            <a:pPr marL="3181350">
              <a:lnSpc>
                <a:spcPct val="100000"/>
              </a:lnSpc>
              <a:spcBef>
                <a:spcPts val="2885"/>
              </a:spcBef>
            </a:pPr>
            <a:r>
              <a:rPr dirty="0" sz="2400" spc="-204">
                <a:solidFill>
                  <a:srgbClr val="40458B"/>
                </a:solidFill>
                <a:latin typeface="黑体"/>
                <a:cs typeface="黑体"/>
              </a:rPr>
              <a:t>图 </a:t>
            </a:r>
            <a:r>
              <a:rPr dirty="0" sz="2400" spc="-10">
                <a:solidFill>
                  <a:srgbClr val="40458B"/>
                </a:solidFill>
                <a:latin typeface="Tahoma"/>
                <a:cs typeface="Tahoma"/>
              </a:rPr>
              <a:t>6.6</a:t>
            </a:r>
            <a:r>
              <a:rPr dirty="0" sz="2400" spc="-20">
                <a:solidFill>
                  <a:srgbClr val="40458B"/>
                </a:solidFill>
                <a:latin typeface="黑体"/>
                <a:cs typeface="黑体"/>
              </a:rPr>
              <a:t>软流水的工作原理</a:t>
            </a:r>
            <a:endParaRPr sz="2400">
              <a:latin typeface="黑体"/>
              <a:cs typeface="黑体"/>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98/89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802638" y="45161"/>
            <a:ext cx="2465705" cy="514350"/>
          </a:xfrm>
          <a:prstGeom prst="rect"/>
        </p:spPr>
        <p:txBody>
          <a:bodyPr wrap="square" lIns="0" tIns="13335" rIns="0" bIns="0" rtlCol="0" vert="horz">
            <a:spAutoFit/>
          </a:bodyPr>
          <a:lstStyle/>
          <a:p>
            <a:pPr marL="12700">
              <a:lnSpc>
                <a:spcPct val="100000"/>
              </a:lnSpc>
              <a:spcBef>
                <a:spcPts val="105"/>
              </a:spcBef>
            </a:pPr>
            <a:r>
              <a:rPr dirty="0" u="none"/>
              <a:t>6.5.2</a:t>
            </a:r>
            <a:r>
              <a:rPr dirty="0" u="none" spc="-20"/>
              <a:t> 软流水</a:t>
            </a:r>
          </a:p>
        </p:txBody>
      </p:sp>
      <p:sp>
        <p:nvSpPr>
          <p:cNvPr id="10" name="object 10" descr=""/>
          <p:cNvSpPr txBox="1"/>
          <p:nvPr/>
        </p:nvSpPr>
        <p:spPr>
          <a:xfrm>
            <a:off x="197916" y="387153"/>
            <a:ext cx="11064875" cy="2894330"/>
          </a:xfrm>
          <a:prstGeom prst="rect">
            <a:avLst/>
          </a:prstGeom>
        </p:spPr>
        <p:txBody>
          <a:bodyPr wrap="square" lIns="0" tIns="167005" rIns="0" bIns="0" rtlCol="0" vert="horz">
            <a:spAutoFit/>
          </a:bodyPr>
          <a:lstStyle/>
          <a:p>
            <a:pPr marL="12700">
              <a:lnSpc>
                <a:spcPct val="100000"/>
              </a:lnSpc>
              <a:spcBef>
                <a:spcPts val="1315"/>
              </a:spcBef>
            </a:pPr>
            <a:r>
              <a:rPr dirty="0" sz="3200" spc="-15">
                <a:solidFill>
                  <a:srgbClr val="FF0000"/>
                </a:solidFill>
                <a:latin typeface="黑体"/>
                <a:cs typeface="黑体"/>
              </a:rPr>
              <a:t>软流水技术工作原理</a:t>
            </a:r>
            <a:endParaRPr sz="3200">
              <a:latin typeface="黑体"/>
              <a:cs typeface="黑体"/>
            </a:endParaRPr>
          </a:p>
          <a:p>
            <a:pPr marL="1099185" indent="-457200">
              <a:lnSpc>
                <a:spcPct val="100000"/>
              </a:lnSpc>
              <a:spcBef>
                <a:spcPts val="1060"/>
              </a:spcBef>
              <a:buClr>
                <a:srgbClr val="40458B"/>
              </a:buClr>
              <a:buSzPct val="89285"/>
              <a:buFont typeface="Wingdings"/>
              <a:buChar char=""/>
              <a:tabLst>
                <a:tab pos="1099185" algn="l"/>
              </a:tabLst>
            </a:pPr>
            <a:r>
              <a:rPr dirty="0" sz="2800" spc="-40">
                <a:solidFill>
                  <a:srgbClr val="0000CC"/>
                </a:solidFill>
                <a:latin typeface="黑体"/>
                <a:cs typeface="黑体"/>
              </a:rPr>
              <a:t>重排后的指令，以抽取的不同次的循环代码为主体进行新的循环</a:t>
            </a:r>
            <a:endParaRPr sz="2800">
              <a:latin typeface="黑体"/>
              <a:cs typeface="黑体"/>
            </a:endParaRPr>
          </a:p>
          <a:p>
            <a:pPr marL="1099185" indent="-457200">
              <a:lnSpc>
                <a:spcPct val="100000"/>
              </a:lnSpc>
              <a:spcBef>
                <a:spcPts val="1015"/>
              </a:spcBef>
              <a:buClr>
                <a:srgbClr val="40458B"/>
              </a:buClr>
              <a:buSzPct val="89285"/>
              <a:buFont typeface="Wingdings"/>
              <a:buChar char=""/>
              <a:tabLst>
                <a:tab pos="1099185" algn="l"/>
              </a:tabLst>
            </a:pPr>
            <a:r>
              <a:rPr dirty="0" sz="2800" spc="-40">
                <a:solidFill>
                  <a:srgbClr val="0000CC"/>
                </a:solidFill>
                <a:latin typeface="黑体"/>
                <a:cs typeface="黑体"/>
              </a:rPr>
              <a:t>每个迭代不必等到前一个迭代结束才开始</a:t>
            </a:r>
            <a:endParaRPr sz="2800">
              <a:latin typeface="黑体"/>
              <a:cs typeface="黑体"/>
            </a:endParaRPr>
          </a:p>
          <a:p>
            <a:pPr marL="1099185" indent="-457200">
              <a:lnSpc>
                <a:spcPct val="100000"/>
              </a:lnSpc>
              <a:spcBef>
                <a:spcPts val="1005"/>
              </a:spcBef>
              <a:buClr>
                <a:srgbClr val="40458B"/>
              </a:buClr>
              <a:buSzPct val="89285"/>
              <a:buFont typeface="Wingdings"/>
              <a:buChar char=""/>
              <a:tabLst>
                <a:tab pos="1099185" algn="l"/>
              </a:tabLst>
            </a:pPr>
            <a:r>
              <a:rPr dirty="0" sz="2800" spc="-40">
                <a:solidFill>
                  <a:srgbClr val="0000CC"/>
                </a:solidFill>
                <a:latin typeface="黑体"/>
                <a:cs typeface="黑体"/>
              </a:rPr>
              <a:t>不同迭代的指令同时工作在流水线中</a:t>
            </a:r>
            <a:endParaRPr sz="2800">
              <a:latin typeface="黑体"/>
              <a:cs typeface="黑体"/>
            </a:endParaRPr>
          </a:p>
          <a:p>
            <a:pPr marL="1099185" indent="-457200">
              <a:lnSpc>
                <a:spcPct val="100000"/>
              </a:lnSpc>
              <a:spcBef>
                <a:spcPts val="1010"/>
              </a:spcBef>
              <a:buClr>
                <a:srgbClr val="40458B"/>
              </a:buClr>
              <a:buSzPct val="89285"/>
              <a:buFont typeface="Wingdings"/>
              <a:buChar char=""/>
              <a:tabLst>
                <a:tab pos="1099185" algn="l"/>
              </a:tabLst>
            </a:pPr>
            <a:r>
              <a:rPr dirty="0" sz="2800" spc="-40">
                <a:solidFill>
                  <a:srgbClr val="0000CC"/>
                </a:solidFill>
                <a:latin typeface="黑体"/>
                <a:cs typeface="黑体"/>
              </a:rPr>
              <a:t>消除了数据依赖带来的空转等待</a:t>
            </a:r>
            <a:endParaRPr sz="2800">
              <a:latin typeface="黑体"/>
              <a:cs typeface="黑体"/>
            </a:endParaRPr>
          </a:p>
        </p:txBody>
      </p:sp>
      <p:grpSp>
        <p:nvGrpSpPr>
          <p:cNvPr id="11" name="object 11" descr=""/>
          <p:cNvGrpSpPr/>
          <p:nvPr/>
        </p:nvGrpSpPr>
        <p:grpSpPr>
          <a:xfrm>
            <a:off x="1200150" y="3297237"/>
            <a:ext cx="10185400" cy="3048000"/>
            <a:chOff x="1200150" y="3297237"/>
            <a:chExt cx="10185400" cy="3048000"/>
          </a:xfrm>
        </p:grpSpPr>
        <p:sp>
          <p:nvSpPr>
            <p:cNvPr id="12" name="object 12" descr=""/>
            <p:cNvSpPr/>
            <p:nvPr/>
          </p:nvSpPr>
          <p:spPr>
            <a:xfrm>
              <a:off x="1200150" y="3297237"/>
              <a:ext cx="10185400" cy="3048000"/>
            </a:xfrm>
            <a:custGeom>
              <a:avLst/>
              <a:gdLst/>
              <a:ahLst/>
              <a:cxnLst/>
              <a:rect l="l" t="t" r="r" b="b"/>
              <a:pathLst>
                <a:path w="10185400" h="3048000">
                  <a:moveTo>
                    <a:pt x="10185400" y="0"/>
                  </a:moveTo>
                  <a:lnTo>
                    <a:pt x="0" y="0"/>
                  </a:lnTo>
                  <a:lnTo>
                    <a:pt x="0" y="3048000"/>
                  </a:lnTo>
                  <a:lnTo>
                    <a:pt x="10185400" y="3048000"/>
                  </a:lnTo>
                  <a:lnTo>
                    <a:pt x="10185400" y="0"/>
                  </a:lnTo>
                  <a:close/>
                </a:path>
              </a:pathLst>
            </a:custGeom>
            <a:solidFill>
              <a:srgbClr val="F1E3A8"/>
            </a:solidFill>
          </p:spPr>
          <p:txBody>
            <a:bodyPr wrap="square" lIns="0" tIns="0" rIns="0" bIns="0" rtlCol="0"/>
            <a:lstStyle/>
            <a:p/>
          </p:txBody>
        </p:sp>
        <p:sp>
          <p:nvSpPr>
            <p:cNvPr id="13" name="object 13" descr=""/>
            <p:cNvSpPr/>
            <p:nvPr/>
          </p:nvSpPr>
          <p:spPr>
            <a:xfrm>
              <a:off x="3657758" y="4040167"/>
              <a:ext cx="1141095" cy="1377315"/>
            </a:xfrm>
            <a:custGeom>
              <a:avLst/>
              <a:gdLst/>
              <a:ahLst/>
              <a:cxnLst/>
              <a:rect l="l" t="t" r="r" b="b"/>
              <a:pathLst>
                <a:path w="1141095" h="1377314">
                  <a:moveTo>
                    <a:pt x="1140550" y="0"/>
                  </a:moveTo>
                  <a:lnTo>
                    <a:pt x="0" y="0"/>
                  </a:lnTo>
                  <a:lnTo>
                    <a:pt x="0" y="1377117"/>
                  </a:lnTo>
                  <a:lnTo>
                    <a:pt x="1140550" y="1377117"/>
                  </a:lnTo>
                  <a:lnTo>
                    <a:pt x="1140550" y="0"/>
                  </a:lnTo>
                  <a:close/>
                </a:path>
              </a:pathLst>
            </a:custGeom>
            <a:solidFill>
              <a:srgbClr val="FFFFFF"/>
            </a:solidFill>
          </p:spPr>
          <p:txBody>
            <a:bodyPr wrap="square" lIns="0" tIns="0" rIns="0" bIns="0" rtlCol="0"/>
            <a:lstStyle/>
            <a:p/>
          </p:txBody>
        </p:sp>
        <p:sp>
          <p:nvSpPr>
            <p:cNvPr id="14" name="object 14" descr=""/>
            <p:cNvSpPr/>
            <p:nvPr/>
          </p:nvSpPr>
          <p:spPr>
            <a:xfrm>
              <a:off x="3657758" y="4040167"/>
              <a:ext cx="1141095" cy="1377315"/>
            </a:xfrm>
            <a:custGeom>
              <a:avLst/>
              <a:gdLst/>
              <a:ahLst/>
              <a:cxnLst/>
              <a:rect l="l" t="t" r="r" b="b"/>
              <a:pathLst>
                <a:path w="1141095" h="1377314">
                  <a:moveTo>
                    <a:pt x="0" y="1377117"/>
                  </a:moveTo>
                  <a:lnTo>
                    <a:pt x="1140550" y="1377117"/>
                  </a:lnTo>
                  <a:lnTo>
                    <a:pt x="1140550" y="0"/>
                  </a:lnTo>
                  <a:lnTo>
                    <a:pt x="0" y="0"/>
                  </a:lnTo>
                  <a:lnTo>
                    <a:pt x="0" y="1377117"/>
                  </a:lnTo>
                  <a:close/>
                </a:path>
              </a:pathLst>
            </a:custGeom>
            <a:ln w="12149">
              <a:solidFill>
                <a:srgbClr val="000000"/>
              </a:solidFill>
            </a:ln>
          </p:spPr>
          <p:txBody>
            <a:bodyPr wrap="square" lIns="0" tIns="0" rIns="0" bIns="0" rtlCol="0"/>
            <a:lstStyle/>
            <a:p/>
          </p:txBody>
        </p:sp>
      </p:grpSp>
      <p:sp>
        <p:nvSpPr>
          <p:cNvPr id="15" name="object 15" descr=""/>
          <p:cNvSpPr txBox="1"/>
          <p:nvPr/>
        </p:nvSpPr>
        <p:spPr>
          <a:xfrm>
            <a:off x="3926253" y="3779894"/>
            <a:ext cx="422909" cy="163195"/>
          </a:xfrm>
          <a:prstGeom prst="rect">
            <a:avLst/>
          </a:prstGeom>
        </p:spPr>
        <p:txBody>
          <a:bodyPr wrap="square" lIns="0" tIns="0" rIns="0" bIns="0" rtlCol="0" vert="horz">
            <a:spAutoFit/>
          </a:bodyPr>
          <a:lstStyle/>
          <a:p>
            <a:pPr>
              <a:lnSpc>
                <a:spcPts val="1270"/>
              </a:lnSpc>
            </a:pPr>
            <a:r>
              <a:rPr dirty="0" sz="1150" spc="459">
                <a:latin typeface="Cambria"/>
                <a:cs typeface="Cambria"/>
              </a:rPr>
              <a:t>◻</a:t>
            </a:r>
            <a:r>
              <a:rPr dirty="0" sz="1150" spc="215">
                <a:latin typeface="Cambria"/>
                <a:cs typeface="Cambria"/>
              </a:rPr>
              <a:t> </a:t>
            </a:r>
            <a:r>
              <a:rPr dirty="0" sz="1150" spc="409">
                <a:latin typeface="Cambria"/>
                <a:cs typeface="Cambria"/>
              </a:rPr>
              <a:t>◻</a:t>
            </a:r>
            <a:endParaRPr sz="1150">
              <a:latin typeface="Cambria"/>
              <a:cs typeface="Cambria"/>
            </a:endParaRPr>
          </a:p>
        </p:txBody>
      </p:sp>
      <p:grpSp>
        <p:nvGrpSpPr>
          <p:cNvPr id="16" name="object 16" descr=""/>
          <p:cNvGrpSpPr/>
          <p:nvPr/>
        </p:nvGrpSpPr>
        <p:grpSpPr>
          <a:xfrm>
            <a:off x="5076774" y="4205630"/>
            <a:ext cx="1154430" cy="1390650"/>
            <a:chOff x="5076774" y="4205630"/>
            <a:chExt cx="1154430" cy="1390650"/>
          </a:xfrm>
        </p:grpSpPr>
        <p:sp>
          <p:nvSpPr>
            <p:cNvPr id="17" name="object 17" descr=""/>
            <p:cNvSpPr/>
            <p:nvPr/>
          </p:nvSpPr>
          <p:spPr>
            <a:xfrm>
              <a:off x="5083441" y="4212298"/>
              <a:ext cx="1141095" cy="1377315"/>
            </a:xfrm>
            <a:custGeom>
              <a:avLst/>
              <a:gdLst/>
              <a:ahLst/>
              <a:cxnLst/>
              <a:rect l="l" t="t" r="r" b="b"/>
              <a:pathLst>
                <a:path w="1141095" h="1377314">
                  <a:moveTo>
                    <a:pt x="1140550" y="0"/>
                  </a:moveTo>
                  <a:lnTo>
                    <a:pt x="0" y="0"/>
                  </a:lnTo>
                  <a:lnTo>
                    <a:pt x="0" y="1377117"/>
                  </a:lnTo>
                  <a:lnTo>
                    <a:pt x="1140550" y="1377117"/>
                  </a:lnTo>
                  <a:lnTo>
                    <a:pt x="1140550" y="0"/>
                  </a:lnTo>
                  <a:close/>
                </a:path>
              </a:pathLst>
            </a:custGeom>
            <a:solidFill>
              <a:srgbClr val="FFFFFF"/>
            </a:solidFill>
          </p:spPr>
          <p:txBody>
            <a:bodyPr wrap="square" lIns="0" tIns="0" rIns="0" bIns="0" rtlCol="0"/>
            <a:lstStyle/>
            <a:p/>
          </p:txBody>
        </p:sp>
        <p:sp>
          <p:nvSpPr>
            <p:cNvPr id="18" name="object 18" descr=""/>
            <p:cNvSpPr/>
            <p:nvPr/>
          </p:nvSpPr>
          <p:spPr>
            <a:xfrm>
              <a:off x="5083441" y="4212298"/>
              <a:ext cx="1141095" cy="1377315"/>
            </a:xfrm>
            <a:custGeom>
              <a:avLst/>
              <a:gdLst/>
              <a:ahLst/>
              <a:cxnLst/>
              <a:rect l="l" t="t" r="r" b="b"/>
              <a:pathLst>
                <a:path w="1141095" h="1377314">
                  <a:moveTo>
                    <a:pt x="0" y="1377117"/>
                  </a:moveTo>
                  <a:lnTo>
                    <a:pt x="1140550" y="1377117"/>
                  </a:lnTo>
                  <a:lnTo>
                    <a:pt x="1140550" y="0"/>
                  </a:lnTo>
                  <a:lnTo>
                    <a:pt x="0" y="0"/>
                  </a:lnTo>
                  <a:lnTo>
                    <a:pt x="0" y="1377117"/>
                  </a:lnTo>
                  <a:close/>
                </a:path>
              </a:pathLst>
            </a:custGeom>
            <a:ln w="12149">
              <a:solidFill>
                <a:srgbClr val="000000"/>
              </a:solidFill>
            </a:ln>
          </p:spPr>
          <p:txBody>
            <a:bodyPr wrap="square" lIns="0" tIns="0" rIns="0" bIns="0" rtlCol="0"/>
            <a:lstStyle/>
            <a:p/>
          </p:txBody>
        </p:sp>
      </p:grpSp>
      <p:sp>
        <p:nvSpPr>
          <p:cNvPr id="19" name="object 19" descr=""/>
          <p:cNvSpPr txBox="1"/>
          <p:nvPr/>
        </p:nvSpPr>
        <p:spPr>
          <a:xfrm>
            <a:off x="5352017" y="3951989"/>
            <a:ext cx="617220" cy="163195"/>
          </a:xfrm>
          <a:prstGeom prst="rect">
            <a:avLst/>
          </a:prstGeom>
        </p:spPr>
        <p:txBody>
          <a:bodyPr wrap="square" lIns="0" tIns="0" rIns="0" bIns="0" rtlCol="0" vert="horz">
            <a:spAutoFit/>
          </a:bodyPr>
          <a:lstStyle/>
          <a:p>
            <a:pPr>
              <a:lnSpc>
                <a:spcPts val="1270"/>
              </a:lnSpc>
            </a:pPr>
            <a:r>
              <a:rPr dirty="0" sz="1150" spc="459">
                <a:latin typeface="Cambria"/>
                <a:cs typeface="Cambria"/>
              </a:rPr>
              <a:t>◻</a:t>
            </a:r>
            <a:r>
              <a:rPr dirty="0" sz="1150" spc="215">
                <a:latin typeface="Cambria"/>
                <a:cs typeface="Cambria"/>
              </a:rPr>
              <a:t> </a:t>
            </a:r>
            <a:r>
              <a:rPr dirty="0" sz="1150" spc="459">
                <a:latin typeface="Cambria"/>
                <a:cs typeface="Cambria"/>
              </a:rPr>
              <a:t>◻</a:t>
            </a:r>
            <a:r>
              <a:rPr dirty="0" sz="1150" spc="215">
                <a:latin typeface="Cambria"/>
                <a:cs typeface="Cambria"/>
              </a:rPr>
              <a:t> </a:t>
            </a:r>
            <a:r>
              <a:rPr dirty="0" sz="1150" spc="360">
                <a:latin typeface="Cambria"/>
                <a:cs typeface="Cambria"/>
              </a:rPr>
              <a:t>1</a:t>
            </a:r>
            <a:endParaRPr sz="1150">
              <a:latin typeface="Cambria"/>
              <a:cs typeface="Cambria"/>
            </a:endParaRPr>
          </a:p>
        </p:txBody>
      </p:sp>
      <p:grpSp>
        <p:nvGrpSpPr>
          <p:cNvPr id="20" name="object 20" descr=""/>
          <p:cNvGrpSpPr/>
          <p:nvPr/>
        </p:nvGrpSpPr>
        <p:grpSpPr>
          <a:xfrm>
            <a:off x="6502537" y="4377761"/>
            <a:ext cx="1154430" cy="1390650"/>
            <a:chOff x="6502537" y="4377761"/>
            <a:chExt cx="1154430" cy="1390650"/>
          </a:xfrm>
        </p:grpSpPr>
        <p:sp>
          <p:nvSpPr>
            <p:cNvPr id="21" name="object 21" descr=""/>
            <p:cNvSpPr/>
            <p:nvPr/>
          </p:nvSpPr>
          <p:spPr>
            <a:xfrm>
              <a:off x="6509204" y="4384428"/>
              <a:ext cx="1141095" cy="1377315"/>
            </a:xfrm>
            <a:custGeom>
              <a:avLst/>
              <a:gdLst/>
              <a:ahLst/>
              <a:cxnLst/>
              <a:rect l="l" t="t" r="r" b="b"/>
              <a:pathLst>
                <a:path w="1141095" h="1377314">
                  <a:moveTo>
                    <a:pt x="1140550" y="0"/>
                  </a:moveTo>
                  <a:lnTo>
                    <a:pt x="0" y="0"/>
                  </a:lnTo>
                  <a:lnTo>
                    <a:pt x="0" y="1377117"/>
                  </a:lnTo>
                  <a:lnTo>
                    <a:pt x="1140550" y="1377117"/>
                  </a:lnTo>
                  <a:lnTo>
                    <a:pt x="1140550" y="0"/>
                  </a:lnTo>
                  <a:close/>
                </a:path>
              </a:pathLst>
            </a:custGeom>
            <a:solidFill>
              <a:srgbClr val="FFFFFF"/>
            </a:solidFill>
          </p:spPr>
          <p:txBody>
            <a:bodyPr wrap="square" lIns="0" tIns="0" rIns="0" bIns="0" rtlCol="0"/>
            <a:lstStyle/>
            <a:p/>
          </p:txBody>
        </p:sp>
        <p:sp>
          <p:nvSpPr>
            <p:cNvPr id="22" name="object 22" descr=""/>
            <p:cNvSpPr/>
            <p:nvPr/>
          </p:nvSpPr>
          <p:spPr>
            <a:xfrm>
              <a:off x="6509204" y="4384428"/>
              <a:ext cx="1141095" cy="1377315"/>
            </a:xfrm>
            <a:custGeom>
              <a:avLst/>
              <a:gdLst/>
              <a:ahLst/>
              <a:cxnLst/>
              <a:rect l="l" t="t" r="r" b="b"/>
              <a:pathLst>
                <a:path w="1141095" h="1377314">
                  <a:moveTo>
                    <a:pt x="0" y="1377117"/>
                  </a:moveTo>
                  <a:lnTo>
                    <a:pt x="1140550" y="1377117"/>
                  </a:lnTo>
                  <a:lnTo>
                    <a:pt x="1140550" y="0"/>
                  </a:lnTo>
                  <a:lnTo>
                    <a:pt x="0" y="0"/>
                  </a:lnTo>
                  <a:lnTo>
                    <a:pt x="0" y="1377117"/>
                  </a:lnTo>
                  <a:close/>
                </a:path>
              </a:pathLst>
            </a:custGeom>
            <a:ln w="12149">
              <a:solidFill>
                <a:srgbClr val="000000"/>
              </a:solidFill>
            </a:ln>
          </p:spPr>
          <p:txBody>
            <a:bodyPr wrap="square" lIns="0" tIns="0" rIns="0" bIns="0" rtlCol="0"/>
            <a:lstStyle/>
            <a:p/>
          </p:txBody>
        </p:sp>
      </p:grpSp>
      <p:sp>
        <p:nvSpPr>
          <p:cNvPr id="23" name="object 23" descr=""/>
          <p:cNvSpPr txBox="1"/>
          <p:nvPr/>
        </p:nvSpPr>
        <p:spPr>
          <a:xfrm>
            <a:off x="6777780" y="4124083"/>
            <a:ext cx="617220" cy="163195"/>
          </a:xfrm>
          <a:prstGeom prst="rect">
            <a:avLst/>
          </a:prstGeom>
        </p:spPr>
        <p:txBody>
          <a:bodyPr wrap="square" lIns="0" tIns="0" rIns="0" bIns="0" rtlCol="0" vert="horz">
            <a:spAutoFit/>
          </a:bodyPr>
          <a:lstStyle/>
          <a:p>
            <a:pPr>
              <a:lnSpc>
                <a:spcPts val="1270"/>
              </a:lnSpc>
            </a:pPr>
            <a:r>
              <a:rPr dirty="0" sz="1150" spc="459">
                <a:latin typeface="Cambria"/>
                <a:cs typeface="Cambria"/>
              </a:rPr>
              <a:t>◻</a:t>
            </a:r>
            <a:r>
              <a:rPr dirty="0" sz="1150" spc="215">
                <a:latin typeface="Cambria"/>
                <a:cs typeface="Cambria"/>
              </a:rPr>
              <a:t> </a:t>
            </a:r>
            <a:r>
              <a:rPr dirty="0" sz="1150" spc="459">
                <a:latin typeface="Cambria"/>
                <a:cs typeface="Cambria"/>
              </a:rPr>
              <a:t>◻</a:t>
            </a:r>
            <a:r>
              <a:rPr dirty="0" sz="1150" spc="215">
                <a:latin typeface="Cambria"/>
                <a:cs typeface="Cambria"/>
              </a:rPr>
              <a:t> </a:t>
            </a:r>
            <a:r>
              <a:rPr dirty="0" sz="1150" spc="360">
                <a:latin typeface="Cambria"/>
                <a:cs typeface="Cambria"/>
              </a:rPr>
              <a:t>2</a:t>
            </a:r>
            <a:endParaRPr sz="1150">
              <a:latin typeface="Cambria"/>
              <a:cs typeface="Cambria"/>
            </a:endParaRPr>
          </a:p>
        </p:txBody>
      </p:sp>
      <p:grpSp>
        <p:nvGrpSpPr>
          <p:cNvPr id="24" name="object 24" descr=""/>
          <p:cNvGrpSpPr/>
          <p:nvPr/>
        </p:nvGrpSpPr>
        <p:grpSpPr>
          <a:xfrm>
            <a:off x="7928099" y="4549891"/>
            <a:ext cx="1154430" cy="1390650"/>
            <a:chOff x="7928099" y="4549891"/>
            <a:chExt cx="1154430" cy="1390650"/>
          </a:xfrm>
        </p:grpSpPr>
        <p:sp>
          <p:nvSpPr>
            <p:cNvPr id="25" name="object 25" descr=""/>
            <p:cNvSpPr/>
            <p:nvPr/>
          </p:nvSpPr>
          <p:spPr>
            <a:xfrm>
              <a:off x="7934767" y="4556559"/>
              <a:ext cx="1141095" cy="1377315"/>
            </a:xfrm>
            <a:custGeom>
              <a:avLst/>
              <a:gdLst/>
              <a:ahLst/>
              <a:cxnLst/>
              <a:rect l="l" t="t" r="r" b="b"/>
              <a:pathLst>
                <a:path w="1141095" h="1377314">
                  <a:moveTo>
                    <a:pt x="1140550" y="0"/>
                  </a:moveTo>
                  <a:lnTo>
                    <a:pt x="0" y="0"/>
                  </a:lnTo>
                  <a:lnTo>
                    <a:pt x="0" y="1377117"/>
                  </a:lnTo>
                  <a:lnTo>
                    <a:pt x="1140550" y="1377117"/>
                  </a:lnTo>
                  <a:lnTo>
                    <a:pt x="1140550" y="0"/>
                  </a:lnTo>
                  <a:close/>
                </a:path>
              </a:pathLst>
            </a:custGeom>
            <a:solidFill>
              <a:srgbClr val="FFFFFF"/>
            </a:solidFill>
          </p:spPr>
          <p:txBody>
            <a:bodyPr wrap="square" lIns="0" tIns="0" rIns="0" bIns="0" rtlCol="0"/>
            <a:lstStyle/>
            <a:p/>
          </p:txBody>
        </p:sp>
        <p:sp>
          <p:nvSpPr>
            <p:cNvPr id="26" name="object 26" descr=""/>
            <p:cNvSpPr/>
            <p:nvPr/>
          </p:nvSpPr>
          <p:spPr>
            <a:xfrm>
              <a:off x="7934767" y="4556559"/>
              <a:ext cx="1141095" cy="1377315"/>
            </a:xfrm>
            <a:custGeom>
              <a:avLst/>
              <a:gdLst/>
              <a:ahLst/>
              <a:cxnLst/>
              <a:rect l="l" t="t" r="r" b="b"/>
              <a:pathLst>
                <a:path w="1141095" h="1377314">
                  <a:moveTo>
                    <a:pt x="0" y="1377117"/>
                  </a:moveTo>
                  <a:lnTo>
                    <a:pt x="1140550" y="1377117"/>
                  </a:lnTo>
                  <a:lnTo>
                    <a:pt x="1140550" y="0"/>
                  </a:lnTo>
                  <a:lnTo>
                    <a:pt x="0" y="0"/>
                  </a:lnTo>
                  <a:lnTo>
                    <a:pt x="0" y="1377117"/>
                  </a:lnTo>
                  <a:close/>
                </a:path>
              </a:pathLst>
            </a:custGeom>
            <a:ln w="12149">
              <a:solidFill>
                <a:srgbClr val="000000"/>
              </a:solidFill>
            </a:ln>
          </p:spPr>
          <p:txBody>
            <a:bodyPr wrap="square" lIns="0" tIns="0" rIns="0" bIns="0" rtlCol="0"/>
            <a:lstStyle/>
            <a:p/>
          </p:txBody>
        </p:sp>
      </p:grpSp>
      <p:sp>
        <p:nvSpPr>
          <p:cNvPr id="27" name="object 27" descr=""/>
          <p:cNvSpPr txBox="1"/>
          <p:nvPr/>
        </p:nvSpPr>
        <p:spPr>
          <a:xfrm>
            <a:off x="8203342" y="4296298"/>
            <a:ext cx="617220" cy="163195"/>
          </a:xfrm>
          <a:prstGeom prst="rect">
            <a:avLst/>
          </a:prstGeom>
        </p:spPr>
        <p:txBody>
          <a:bodyPr wrap="square" lIns="0" tIns="0" rIns="0" bIns="0" rtlCol="0" vert="horz">
            <a:spAutoFit/>
          </a:bodyPr>
          <a:lstStyle/>
          <a:p>
            <a:pPr>
              <a:lnSpc>
                <a:spcPts val="1270"/>
              </a:lnSpc>
            </a:pPr>
            <a:r>
              <a:rPr dirty="0" sz="1150" spc="459">
                <a:latin typeface="Cambria"/>
                <a:cs typeface="Cambria"/>
              </a:rPr>
              <a:t>◻</a:t>
            </a:r>
            <a:r>
              <a:rPr dirty="0" sz="1150" spc="215">
                <a:latin typeface="Cambria"/>
                <a:cs typeface="Cambria"/>
              </a:rPr>
              <a:t> </a:t>
            </a:r>
            <a:r>
              <a:rPr dirty="0" sz="1150" spc="459">
                <a:latin typeface="Cambria"/>
                <a:cs typeface="Cambria"/>
              </a:rPr>
              <a:t>◻</a:t>
            </a:r>
            <a:r>
              <a:rPr dirty="0" sz="1150" spc="215">
                <a:latin typeface="Cambria"/>
                <a:cs typeface="Cambria"/>
              </a:rPr>
              <a:t> </a:t>
            </a:r>
            <a:r>
              <a:rPr dirty="0" sz="1150" spc="360">
                <a:latin typeface="Cambria"/>
                <a:cs typeface="Cambria"/>
              </a:rPr>
              <a:t>3</a:t>
            </a:r>
            <a:endParaRPr sz="1150">
              <a:latin typeface="Cambria"/>
              <a:cs typeface="Cambria"/>
            </a:endParaRPr>
          </a:p>
        </p:txBody>
      </p:sp>
      <p:grpSp>
        <p:nvGrpSpPr>
          <p:cNvPr id="28" name="object 28" descr=""/>
          <p:cNvGrpSpPr/>
          <p:nvPr/>
        </p:nvGrpSpPr>
        <p:grpSpPr>
          <a:xfrm>
            <a:off x="9353862" y="4722028"/>
            <a:ext cx="1154430" cy="1390650"/>
            <a:chOff x="9353862" y="4722028"/>
            <a:chExt cx="1154430" cy="1390650"/>
          </a:xfrm>
        </p:grpSpPr>
        <p:sp>
          <p:nvSpPr>
            <p:cNvPr id="29" name="object 29" descr=""/>
            <p:cNvSpPr/>
            <p:nvPr/>
          </p:nvSpPr>
          <p:spPr>
            <a:xfrm>
              <a:off x="9360529" y="4728695"/>
              <a:ext cx="1141095" cy="1377315"/>
            </a:xfrm>
            <a:custGeom>
              <a:avLst/>
              <a:gdLst/>
              <a:ahLst/>
              <a:cxnLst/>
              <a:rect l="l" t="t" r="r" b="b"/>
              <a:pathLst>
                <a:path w="1141095" h="1377314">
                  <a:moveTo>
                    <a:pt x="1140550" y="0"/>
                  </a:moveTo>
                  <a:lnTo>
                    <a:pt x="0" y="0"/>
                  </a:lnTo>
                  <a:lnTo>
                    <a:pt x="0" y="1377117"/>
                  </a:lnTo>
                  <a:lnTo>
                    <a:pt x="1140550" y="1377117"/>
                  </a:lnTo>
                  <a:lnTo>
                    <a:pt x="1140550" y="0"/>
                  </a:lnTo>
                  <a:close/>
                </a:path>
              </a:pathLst>
            </a:custGeom>
            <a:solidFill>
              <a:srgbClr val="FFFFFF"/>
            </a:solidFill>
          </p:spPr>
          <p:txBody>
            <a:bodyPr wrap="square" lIns="0" tIns="0" rIns="0" bIns="0" rtlCol="0"/>
            <a:lstStyle/>
            <a:p/>
          </p:txBody>
        </p:sp>
        <p:sp>
          <p:nvSpPr>
            <p:cNvPr id="30" name="object 30" descr=""/>
            <p:cNvSpPr/>
            <p:nvPr/>
          </p:nvSpPr>
          <p:spPr>
            <a:xfrm>
              <a:off x="9360529" y="4728695"/>
              <a:ext cx="1141095" cy="1377315"/>
            </a:xfrm>
            <a:custGeom>
              <a:avLst/>
              <a:gdLst/>
              <a:ahLst/>
              <a:cxnLst/>
              <a:rect l="l" t="t" r="r" b="b"/>
              <a:pathLst>
                <a:path w="1141095" h="1377314">
                  <a:moveTo>
                    <a:pt x="0" y="1377117"/>
                  </a:moveTo>
                  <a:lnTo>
                    <a:pt x="1140550" y="1377117"/>
                  </a:lnTo>
                  <a:lnTo>
                    <a:pt x="1140550" y="0"/>
                  </a:lnTo>
                  <a:lnTo>
                    <a:pt x="0" y="0"/>
                  </a:lnTo>
                  <a:lnTo>
                    <a:pt x="0" y="1377117"/>
                  </a:lnTo>
                  <a:close/>
                </a:path>
              </a:pathLst>
            </a:custGeom>
            <a:ln w="12149">
              <a:solidFill>
                <a:srgbClr val="000000"/>
              </a:solidFill>
            </a:ln>
          </p:spPr>
          <p:txBody>
            <a:bodyPr wrap="square" lIns="0" tIns="0" rIns="0" bIns="0" rtlCol="0"/>
            <a:lstStyle/>
            <a:p/>
          </p:txBody>
        </p:sp>
      </p:grpSp>
      <p:sp>
        <p:nvSpPr>
          <p:cNvPr id="31" name="object 31" descr=""/>
          <p:cNvSpPr txBox="1"/>
          <p:nvPr/>
        </p:nvSpPr>
        <p:spPr>
          <a:xfrm>
            <a:off x="9629105" y="4468392"/>
            <a:ext cx="617220" cy="163195"/>
          </a:xfrm>
          <a:prstGeom prst="rect">
            <a:avLst/>
          </a:prstGeom>
        </p:spPr>
        <p:txBody>
          <a:bodyPr wrap="square" lIns="0" tIns="0" rIns="0" bIns="0" rtlCol="0" vert="horz">
            <a:spAutoFit/>
          </a:bodyPr>
          <a:lstStyle/>
          <a:p>
            <a:pPr>
              <a:lnSpc>
                <a:spcPts val="1270"/>
              </a:lnSpc>
            </a:pPr>
            <a:r>
              <a:rPr dirty="0" sz="1150" spc="459">
                <a:latin typeface="Cambria"/>
                <a:cs typeface="Cambria"/>
              </a:rPr>
              <a:t>◻</a:t>
            </a:r>
            <a:r>
              <a:rPr dirty="0" sz="1150" spc="215">
                <a:latin typeface="Cambria"/>
                <a:cs typeface="Cambria"/>
              </a:rPr>
              <a:t> </a:t>
            </a:r>
            <a:r>
              <a:rPr dirty="0" sz="1150" spc="459">
                <a:latin typeface="Cambria"/>
                <a:cs typeface="Cambria"/>
              </a:rPr>
              <a:t>◻</a:t>
            </a:r>
            <a:r>
              <a:rPr dirty="0" sz="1150" spc="215">
                <a:latin typeface="Cambria"/>
                <a:cs typeface="Cambria"/>
              </a:rPr>
              <a:t> </a:t>
            </a:r>
            <a:r>
              <a:rPr dirty="0" sz="1150" spc="360">
                <a:latin typeface="Cambria"/>
                <a:cs typeface="Cambria"/>
              </a:rPr>
              <a:t>4</a:t>
            </a:r>
            <a:endParaRPr sz="1150">
              <a:latin typeface="Cambria"/>
              <a:cs typeface="Cambria"/>
            </a:endParaRPr>
          </a:p>
        </p:txBody>
      </p:sp>
      <p:sp>
        <p:nvSpPr>
          <p:cNvPr id="32" name="object 32" descr=""/>
          <p:cNvSpPr/>
          <p:nvPr/>
        </p:nvSpPr>
        <p:spPr>
          <a:xfrm>
            <a:off x="3372626" y="5073011"/>
            <a:ext cx="7414259" cy="344805"/>
          </a:xfrm>
          <a:custGeom>
            <a:avLst/>
            <a:gdLst/>
            <a:ahLst/>
            <a:cxnLst/>
            <a:rect l="l" t="t" r="r" b="b"/>
            <a:pathLst>
              <a:path w="7414259" h="344804">
                <a:moveTo>
                  <a:pt x="7242462" y="0"/>
                </a:moveTo>
                <a:lnTo>
                  <a:pt x="171083" y="0"/>
                </a:lnTo>
                <a:lnTo>
                  <a:pt x="117005" y="5264"/>
                </a:lnTo>
                <a:lnTo>
                  <a:pt x="70040" y="19925"/>
                </a:lnTo>
                <a:lnTo>
                  <a:pt x="33007" y="42282"/>
                </a:lnTo>
                <a:lnTo>
                  <a:pt x="8721" y="70634"/>
                </a:lnTo>
                <a:lnTo>
                  <a:pt x="0" y="103280"/>
                </a:lnTo>
                <a:lnTo>
                  <a:pt x="0" y="240992"/>
                </a:lnTo>
                <a:lnTo>
                  <a:pt x="33007" y="301985"/>
                </a:lnTo>
                <a:lnTo>
                  <a:pt x="70040" y="324343"/>
                </a:lnTo>
                <a:lnTo>
                  <a:pt x="117005" y="339007"/>
                </a:lnTo>
                <a:lnTo>
                  <a:pt x="171083" y="344273"/>
                </a:lnTo>
                <a:lnTo>
                  <a:pt x="7242462" y="344273"/>
                </a:lnTo>
                <a:lnTo>
                  <a:pt x="7296577" y="339007"/>
                </a:lnTo>
                <a:lnTo>
                  <a:pt x="7343574" y="324343"/>
                </a:lnTo>
                <a:lnTo>
                  <a:pt x="7380635" y="301985"/>
                </a:lnTo>
                <a:lnTo>
                  <a:pt x="7413667" y="240992"/>
                </a:lnTo>
                <a:lnTo>
                  <a:pt x="7413667" y="103280"/>
                </a:lnTo>
                <a:lnTo>
                  <a:pt x="7380635" y="42282"/>
                </a:lnTo>
                <a:lnTo>
                  <a:pt x="7343574" y="19925"/>
                </a:lnTo>
                <a:lnTo>
                  <a:pt x="7296577" y="5264"/>
                </a:lnTo>
                <a:lnTo>
                  <a:pt x="7242462" y="0"/>
                </a:lnTo>
                <a:close/>
              </a:path>
            </a:pathLst>
          </a:custGeom>
          <a:solidFill>
            <a:srgbClr val="C0C0C0"/>
          </a:solidFill>
        </p:spPr>
        <p:txBody>
          <a:bodyPr wrap="square" lIns="0" tIns="0" rIns="0" bIns="0" rtlCol="0"/>
          <a:lstStyle/>
          <a:p/>
        </p:txBody>
      </p:sp>
      <p:sp>
        <p:nvSpPr>
          <p:cNvPr id="33" name="object 33" descr=""/>
          <p:cNvSpPr txBox="1"/>
          <p:nvPr/>
        </p:nvSpPr>
        <p:spPr>
          <a:xfrm>
            <a:off x="2056079" y="5069483"/>
            <a:ext cx="1146810" cy="337820"/>
          </a:xfrm>
          <a:prstGeom prst="rect">
            <a:avLst/>
          </a:prstGeom>
        </p:spPr>
        <p:txBody>
          <a:bodyPr wrap="square" lIns="0" tIns="0" rIns="0" bIns="0" rtlCol="0" vert="horz">
            <a:spAutoFit/>
          </a:bodyPr>
          <a:lstStyle/>
          <a:p>
            <a:pPr algn="ctr">
              <a:lnSpc>
                <a:spcPts val="1265"/>
              </a:lnSpc>
            </a:pPr>
            <a:r>
              <a:rPr dirty="0" sz="1150" spc="459">
                <a:latin typeface="Cambria"/>
                <a:cs typeface="Cambria"/>
              </a:rPr>
              <a:t>◻</a:t>
            </a:r>
            <a:r>
              <a:rPr dirty="0" sz="1150" spc="215">
                <a:latin typeface="Cambria"/>
                <a:cs typeface="Cambria"/>
              </a:rPr>
              <a:t> </a:t>
            </a:r>
            <a:r>
              <a:rPr dirty="0" sz="1150" spc="459">
                <a:latin typeface="Cambria"/>
                <a:cs typeface="Cambria"/>
              </a:rPr>
              <a:t>◻</a:t>
            </a:r>
            <a:r>
              <a:rPr dirty="0" sz="1150" spc="215">
                <a:latin typeface="Cambria"/>
                <a:cs typeface="Cambria"/>
              </a:rPr>
              <a:t> </a:t>
            </a:r>
            <a:r>
              <a:rPr dirty="0" sz="1150" spc="459">
                <a:latin typeface="Cambria"/>
                <a:cs typeface="Cambria"/>
              </a:rPr>
              <a:t>◻</a:t>
            </a:r>
            <a:r>
              <a:rPr dirty="0" sz="1150" spc="220">
                <a:latin typeface="Cambria"/>
                <a:cs typeface="Cambria"/>
              </a:rPr>
              <a:t> </a:t>
            </a:r>
            <a:r>
              <a:rPr dirty="0" sz="1150" spc="459">
                <a:latin typeface="Cambria"/>
                <a:cs typeface="Cambria"/>
              </a:rPr>
              <a:t>◻</a:t>
            </a:r>
            <a:r>
              <a:rPr dirty="0" sz="1150" spc="215">
                <a:latin typeface="Cambria"/>
                <a:cs typeface="Cambria"/>
              </a:rPr>
              <a:t> </a:t>
            </a:r>
            <a:r>
              <a:rPr dirty="0" sz="1150" spc="409">
                <a:latin typeface="Cambria"/>
                <a:cs typeface="Cambria"/>
              </a:rPr>
              <a:t>◻</a:t>
            </a:r>
            <a:endParaRPr sz="1150">
              <a:latin typeface="Cambria"/>
              <a:cs typeface="Cambria"/>
            </a:endParaRPr>
          </a:p>
          <a:p>
            <a:pPr algn="ctr">
              <a:lnSpc>
                <a:spcPts val="1380"/>
              </a:lnSpc>
            </a:pPr>
            <a:r>
              <a:rPr dirty="0" sz="1150" spc="459">
                <a:latin typeface="Cambria"/>
                <a:cs typeface="Cambria"/>
              </a:rPr>
              <a:t>◻</a:t>
            </a:r>
            <a:r>
              <a:rPr dirty="0" sz="1150" spc="215">
                <a:latin typeface="Cambria"/>
                <a:cs typeface="Cambria"/>
              </a:rPr>
              <a:t> </a:t>
            </a:r>
            <a:r>
              <a:rPr dirty="0" sz="1150" spc="459">
                <a:latin typeface="Cambria"/>
                <a:cs typeface="Cambria"/>
              </a:rPr>
              <a:t>◻</a:t>
            </a:r>
            <a:r>
              <a:rPr dirty="0" sz="1150" spc="215">
                <a:latin typeface="Cambria"/>
                <a:cs typeface="Cambria"/>
              </a:rPr>
              <a:t> </a:t>
            </a:r>
            <a:r>
              <a:rPr dirty="0" sz="1150" spc="459">
                <a:latin typeface="Cambria"/>
                <a:cs typeface="Cambria"/>
              </a:rPr>
              <a:t>◻</a:t>
            </a:r>
            <a:r>
              <a:rPr dirty="0" sz="1150" spc="220">
                <a:latin typeface="Cambria"/>
                <a:cs typeface="Cambria"/>
              </a:rPr>
              <a:t> </a:t>
            </a:r>
            <a:r>
              <a:rPr dirty="0" sz="1150" spc="409">
                <a:latin typeface="Cambria"/>
                <a:cs typeface="Cambria"/>
              </a:rPr>
              <a:t>◻</a:t>
            </a:r>
            <a:endParaRPr sz="1150">
              <a:latin typeface="Cambria"/>
              <a:cs typeface="Cambria"/>
            </a:endParaRPr>
          </a:p>
        </p:txBody>
      </p:sp>
      <p:sp>
        <p:nvSpPr>
          <p:cNvPr id="34" name="object 34" descr=""/>
          <p:cNvSpPr/>
          <p:nvPr/>
        </p:nvSpPr>
        <p:spPr>
          <a:xfrm>
            <a:off x="3575050" y="3603650"/>
            <a:ext cx="946150" cy="400685"/>
          </a:xfrm>
          <a:custGeom>
            <a:avLst/>
            <a:gdLst/>
            <a:ahLst/>
            <a:cxnLst/>
            <a:rect l="l" t="t" r="r" b="b"/>
            <a:pathLst>
              <a:path w="946150" h="400685">
                <a:moveTo>
                  <a:pt x="945819" y="0"/>
                </a:moveTo>
                <a:lnTo>
                  <a:pt x="0" y="0"/>
                </a:lnTo>
                <a:lnTo>
                  <a:pt x="0" y="400151"/>
                </a:lnTo>
                <a:lnTo>
                  <a:pt x="945819" y="400151"/>
                </a:lnTo>
                <a:lnTo>
                  <a:pt x="945819" y="0"/>
                </a:lnTo>
                <a:close/>
              </a:path>
            </a:pathLst>
          </a:custGeom>
          <a:solidFill>
            <a:srgbClr val="F1E3A8"/>
          </a:solidFill>
        </p:spPr>
        <p:txBody>
          <a:bodyPr wrap="square" lIns="0" tIns="0" rIns="0" bIns="0" rtlCol="0"/>
          <a:lstStyle/>
          <a:p/>
        </p:txBody>
      </p:sp>
      <p:sp>
        <p:nvSpPr>
          <p:cNvPr id="35" name="object 35" descr=""/>
          <p:cNvSpPr txBox="1"/>
          <p:nvPr/>
        </p:nvSpPr>
        <p:spPr>
          <a:xfrm>
            <a:off x="3654297" y="3644623"/>
            <a:ext cx="902335" cy="330835"/>
          </a:xfrm>
          <a:prstGeom prst="rect">
            <a:avLst/>
          </a:prstGeom>
        </p:spPr>
        <p:txBody>
          <a:bodyPr wrap="square" lIns="0" tIns="12700" rIns="0" bIns="0" rtlCol="0" vert="horz">
            <a:spAutoFit/>
          </a:bodyPr>
          <a:lstStyle/>
          <a:p>
            <a:pPr marL="12700">
              <a:lnSpc>
                <a:spcPct val="100000"/>
              </a:lnSpc>
              <a:spcBef>
                <a:spcPts val="100"/>
              </a:spcBef>
            </a:pPr>
            <a:r>
              <a:rPr dirty="0" baseline="1388" sz="3000">
                <a:solidFill>
                  <a:srgbClr val="40458B"/>
                </a:solidFill>
                <a:latin typeface="黑体"/>
                <a:cs typeface="黑体"/>
              </a:rPr>
              <a:t>迭代</a:t>
            </a:r>
            <a:r>
              <a:rPr dirty="0" baseline="1388" sz="3000">
                <a:solidFill>
                  <a:srgbClr val="40458B"/>
                </a:solidFill>
                <a:latin typeface="Tahoma"/>
                <a:cs typeface="Tahoma"/>
              </a:rPr>
              <a:t>0</a:t>
            </a:r>
            <a:r>
              <a:rPr dirty="0" baseline="1388" sz="3000" spc="150">
                <a:solidFill>
                  <a:srgbClr val="40458B"/>
                </a:solidFill>
                <a:latin typeface="Tahoma"/>
                <a:cs typeface="Tahoma"/>
              </a:rPr>
              <a:t> </a:t>
            </a:r>
            <a:r>
              <a:rPr dirty="0" sz="1150" spc="360">
                <a:latin typeface="Cambria"/>
                <a:cs typeface="Cambria"/>
              </a:rPr>
              <a:t>0</a:t>
            </a:r>
            <a:endParaRPr sz="1150">
              <a:latin typeface="Cambria"/>
              <a:cs typeface="Cambria"/>
            </a:endParaRPr>
          </a:p>
        </p:txBody>
      </p:sp>
      <p:sp>
        <p:nvSpPr>
          <p:cNvPr id="36" name="object 36" descr=""/>
          <p:cNvSpPr/>
          <p:nvPr/>
        </p:nvSpPr>
        <p:spPr>
          <a:xfrm>
            <a:off x="5231638" y="3793515"/>
            <a:ext cx="864869" cy="400685"/>
          </a:xfrm>
          <a:custGeom>
            <a:avLst/>
            <a:gdLst/>
            <a:ahLst/>
            <a:cxnLst/>
            <a:rect l="l" t="t" r="r" b="b"/>
            <a:pathLst>
              <a:path w="864870" h="400685">
                <a:moveTo>
                  <a:pt x="864273" y="0"/>
                </a:moveTo>
                <a:lnTo>
                  <a:pt x="0" y="0"/>
                </a:lnTo>
                <a:lnTo>
                  <a:pt x="0" y="400151"/>
                </a:lnTo>
                <a:lnTo>
                  <a:pt x="864273" y="400151"/>
                </a:lnTo>
                <a:lnTo>
                  <a:pt x="864273" y="0"/>
                </a:lnTo>
                <a:close/>
              </a:path>
            </a:pathLst>
          </a:custGeom>
          <a:solidFill>
            <a:srgbClr val="F1E3A8"/>
          </a:solidFill>
        </p:spPr>
        <p:txBody>
          <a:bodyPr wrap="square" lIns="0" tIns="0" rIns="0" bIns="0" rtlCol="0"/>
          <a:lstStyle/>
          <a:p/>
        </p:txBody>
      </p:sp>
      <p:sp>
        <p:nvSpPr>
          <p:cNvPr id="37" name="object 37" descr=""/>
          <p:cNvSpPr txBox="1"/>
          <p:nvPr/>
        </p:nvSpPr>
        <p:spPr>
          <a:xfrm>
            <a:off x="5310885" y="3827526"/>
            <a:ext cx="676910" cy="330835"/>
          </a:xfrm>
          <a:prstGeom prst="rect">
            <a:avLst/>
          </a:prstGeom>
        </p:spPr>
        <p:txBody>
          <a:bodyPr wrap="square" lIns="0" tIns="12700" rIns="0" bIns="0" rtlCol="0" vert="horz">
            <a:spAutoFit/>
          </a:bodyPr>
          <a:lstStyle/>
          <a:p>
            <a:pPr marL="12700">
              <a:lnSpc>
                <a:spcPct val="100000"/>
              </a:lnSpc>
              <a:spcBef>
                <a:spcPts val="100"/>
              </a:spcBef>
            </a:pPr>
            <a:r>
              <a:rPr dirty="0" sz="2000">
                <a:solidFill>
                  <a:srgbClr val="40458B"/>
                </a:solidFill>
                <a:latin typeface="黑体"/>
                <a:cs typeface="黑体"/>
              </a:rPr>
              <a:t>迭代</a:t>
            </a:r>
            <a:r>
              <a:rPr dirty="0" sz="2000" spc="-50">
                <a:solidFill>
                  <a:srgbClr val="40458B"/>
                </a:solidFill>
                <a:latin typeface="Tahoma"/>
                <a:cs typeface="Tahoma"/>
              </a:rPr>
              <a:t>1</a:t>
            </a:r>
            <a:endParaRPr sz="2000">
              <a:latin typeface="Tahoma"/>
              <a:cs typeface="Tahoma"/>
            </a:endParaRPr>
          </a:p>
        </p:txBody>
      </p:sp>
      <p:sp>
        <p:nvSpPr>
          <p:cNvPr id="38" name="object 38" descr=""/>
          <p:cNvSpPr/>
          <p:nvPr/>
        </p:nvSpPr>
        <p:spPr>
          <a:xfrm>
            <a:off x="6662673" y="3972966"/>
            <a:ext cx="1017905" cy="400685"/>
          </a:xfrm>
          <a:custGeom>
            <a:avLst/>
            <a:gdLst/>
            <a:ahLst/>
            <a:cxnLst/>
            <a:rect l="l" t="t" r="r" b="b"/>
            <a:pathLst>
              <a:path w="1017904" h="400685">
                <a:moveTo>
                  <a:pt x="1017739" y="0"/>
                </a:moveTo>
                <a:lnTo>
                  <a:pt x="0" y="0"/>
                </a:lnTo>
                <a:lnTo>
                  <a:pt x="0" y="400151"/>
                </a:lnTo>
                <a:lnTo>
                  <a:pt x="1017739" y="400151"/>
                </a:lnTo>
                <a:lnTo>
                  <a:pt x="1017739" y="0"/>
                </a:lnTo>
                <a:close/>
              </a:path>
            </a:pathLst>
          </a:custGeom>
          <a:solidFill>
            <a:srgbClr val="F1E3A8"/>
          </a:solidFill>
        </p:spPr>
        <p:txBody>
          <a:bodyPr wrap="square" lIns="0" tIns="0" rIns="0" bIns="0" rtlCol="0"/>
          <a:lstStyle/>
          <a:p/>
        </p:txBody>
      </p:sp>
      <p:sp>
        <p:nvSpPr>
          <p:cNvPr id="39" name="object 39" descr=""/>
          <p:cNvSpPr txBox="1"/>
          <p:nvPr/>
        </p:nvSpPr>
        <p:spPr>
          <a:xfrm>
            <a:off x="6742303" y="4006977"/>
            <a:ext cx="676910" cy="330835"/>
          </a:xfrm>
          <a:prstGeom prst="rect">
            <a:avLst/>
          </a:prstGeom>
        </p:spPr>
        <p:txBody>
          <a:bodyPr wrap="square" lIns="0" tIns="12700" rIns="0" bIns="0" rtlCol="0" vert="horz">
            <a:spAutoFit/>
          </a:bodyPr>
          <a:lstStyle/>
          <a:p>
            <a:pPr marL="12700">
              <a:lnSpc>
                <a:spcPct val="100000"/>
              </a:lnSpc>
              <a:spcBef>
                <a:spcPts val="100"/>
              </a:spcBef>
            </a:pPr>
            <a:r>
              <a:rPr dirty="0" sz="2000">
                <a:solidFill>
                  <a:srgbClr val="40458B"/>
                </a:solidFill>
                <a:latin typeface="黑体"/>
                <a:cs typeface="黑体"/>
              </a:rPr>
              <a:t>迭代</a:t>
            </a:r>
            <a:r>
              <a:rPr dirty="0" sz="2000" spc="-50">
                <a:solidFill>
                  <a:srgbClr val="40458B"/>
                </a:solidFill>
                <a:latin typeface="Tahoma"/>
                <a:cs typeface="Tahoma"/>
              </a:rPr>
              <a:t>2</a:t>
            </a:r>
            <a:endParaRPr sz="2000">
              <a:latin typeface="Tahoma"/>
              <a:cs typeface="Tahoma"/>
            </a:endParaRPr>
          </a:p>
        </p:txBody>
      </p:sp>
      <p:sp>
        <p:nvSpPr>
          <p:cNvPr id="40" name="object 40" descr=""/>
          <p:cNvSpPr/>
          <p:nvPr/>
        </p:nvSpPr>
        <p:spPr>
          <a:xfrm>
            <a:off x="8093709" y="4173118"/>
            <a:ext cx="883285" cy="400685"/>
          </a:xfrm>
          <a:custGeom>
            <a:avLst/>
            <a:gdLst/>
            <a:ahLst/>
            <a:cxnLst/>
            <a:rect l="l" t="t" r="r" b="b"/>
            <a:pathLst>
              <a:path w="883284" h="400685">
                <a:moveTo>
                  <a:pt x="883119" y="0"/>
                </a:moveTo>
                <a:lnTo>
                  <a:pt x="0" y="0"/>
                </a:lnTo>
                <a:lnTo>
                  <a:pt x="0" y="400151"/>
                </a:lnTo>
                <a:lnTo>
                  <a:pt x="883119" y="400151"/>
                </a:lnTo>
                <a:lnTo>
                  <a:pt x="883119" y="0"/>
                </a:lnTo>
                <a:close/>
              </a:path>
            </a:pathLst>
          </a:custGeom>
          <a:solidFill>
            <a:srgbClr val="F1E3A8"/>
          </a:solidFill>
        </p:spPr>
        <p:txBody>
          <a:bodyPr wrap="square" lIns="0" tIns="0" rIns="0" bIns="0" rtlCol="0"/>
          <a:lstStyle/>
          <a:p/>
        </p:txBody>
      </p:sp>
      <p:sp>
        <p:nvSpPr>
          <p:cNvPr id="41" name="object 41" descr=""/>
          <p:cNvSpPr txBox="1"/>
          <p:nvPr/>
        </p:nvSpPr>
        <p:spPr>
          <a:xfrm>
            <a:off x="8173339" y="4207255"/>
            <a:ext cx="676910" cy="330835"/>
          </a:xfrm>
          <a:prstGeom prst="rect">
            <a:avLst/>
          </a:prstGeom>
        </p:spPr>
        <p:txBody>
          <a:bodyPr wrap="square" lIns="0" tIns="12700" rIns="0" bIns="0" rtlCol="0" vert="horz">
            <a:spAutoFit/>
          </a:bodyPr>
          <a:lstStyle/>
          <a:p>
            <a:pPr marL="12700">
              <a:lnSpc>
                <a:spcPct val="100000"/>
              </a:lnSpc>
              <a:spcBef>
                <a:spcPts val="100"/>
              </a:spcBef>
            </a:pPr>
            <a:r>
              <a:rPr dirty="0" sz="2000">
                <a:solidFill>
                  <a:srgbClr val="40458B"/>
                </a:solidFill>
                <a:latin typeface="黑体"/>
                <a:cs typeface="黑体"/>
              </a:rPr>
              <a:t>迭代</a:t>
            </a:r>
            <a:r>
              <a:rPr dirty="0" sz="2000" spc="-50">
                <a:solidFill>
                  <a:srgbClr val="40458B"/>
                </a:solidFill>
                <a:latin typeface="Tahoma"/>
                <a:cs typeface="Tahoma"/>
              </a:rPr>
              <a:t>3</a:t>
            </a:r>
            <a:endParaRPr sz="2000">
              <a:latin typeface="Tahoma"/>
              <a:cs typeface="Tahoma"/>
            </a:endParaRPr>
          </a:p>
        </p:txBody>
      </p:sp>
      <p:sp>
        <p:nvSpPr>
          <p:cNvPr id="42" name="object 42" descr=""/>
          <p:cNvSpPr/>
          <p:nvPr/>
        </p:nvSpPr>
        <p:spPr>
          <a:xfrm>
            <a:off x="9505442" y="4360697"/>
            <a:ext cx="883285" cy="400685"/>
          </a:xfrm>
          <a:custGeom>
            <a:avLst/>
            <a:gdLst/>
            <a:ahLst/>
            <a:cxnLst/>
            <a:rect l="l" t="t" r="r" b="b"/>
            <a:pathLst>
              <a:path w="883284" h="400685">
                <a:moveTo>
                  <a:pt x="883119" y="0"/>
                </a:moveTo>
                <a:lnTo>
                  <a:pt x="0" y="0"/>
                </a:lnTo>
                <a:lnTo>
                  <a:pt x="0" y="400151"/>
                </a:lnTo>
                <a:lnTo>
                  <a:pt x="883119" y="400151"/>
                </a:lnTo>
                <a:lnTo>
                  <a:pt x="883119" y="0"/>
                </a:lnTo>
                <a:close/>
              </a:path>
            </a:pathLst>
          </a:custGeom>
          <a:solidFill>
            <a:srgbClr val="F1E3A8"/>
          </a:solidFill>
        </p:spPr>
        <p:txBody>
          <a:bodyPr wrap="square" lIns="0" tIns="0" rIns="0" bIns="0" rtlCol="0"/>
          <a:lstStyle/>
          <a:p/>
        </p:txBody>
      </p:sp>
      <p:sp>
        <p:nvSpPr>
          <p:cNvPr id="43" name="object 43" descr=""/>
          <p:cNvSpPr txBox="1"/>
          <p:nvPr/>
        </p:nvSpPr>
        <p:spPr>
          <a:xfrm>
            <a:off x="9585452" y="4394403"/>
            <a:ext cx="676910" cy="331470"/>
          </a:xfrm>
          <a:prstGeom prst="rect">
            <a:avLst/>
          </a:prstGeom>
        </p:spPr>
        <p:txBody>
          <a:bodyPr wrap="square" lIns="0" tIns="13335" rIns="0" bIns="0" rtlCol="0" vert="horz">
            <a:spAutoFit/>
          </a:bodyPr>
          <a:lstStyle/>
          <a:p>
            <a:pPr marL="12700">
              <a:lnSpc>
                <a:spcPct val="100000"/>
              </a:lnSpc>
              <a:spcBef>
                <a:spcPts val="105"/>
              </a:spcBef>
            </a:pPr>
            <a:r>
              <a:rPr dirty="0" sz="2000">
                <a:solidFill>
                  <a:srgbClr val="40458B"/>
                </a:solidFill>
                <a:latin typeface="黑体"/>
                <a:cs typeface="黑体"/>
              </a:rPr>
              <a:t>迭代</a:t>
            </a:r>
            <a:r>
              <a:rPr dirty="0" sz="2000" spc="-50">
                <a:solidFill>
                  <a:srgbClr val="40458B"/>
                </a:solidFill>
                <a:latin typeface="Tahoma"/>
                <a:cs typeface="Tahoma"/>
              </a:rPr>
              <a:t>4</a:t>
            </a:r>
            <a:endParaRPr sz="2000">
              <a:latin typeface="Tahoma"/>
              <a:cs typeface="Tahoma"/>
            </a:endParaRPr>
          </a:p>
        </p:txBody>
      </p:sp>
      <p:sp>
        <p:nvSpPr>
          <p:cNvPr id="44" name="object 44" descr=""/>
          <p:cNvSpPr/>
          <p:nvPr/>
        </p:nvSpPr>
        <p:spPr>
          <a:xfrm>
            <a:off x="1487550" y="5006975"/>
            <a:ext cx="1800225" cy="830580"/>
          </a:xfrm>
          <a:custGeom>
            <a:avLst/>
            <a:gdLst/>
            <a:ahLst/>
            <a:cxnLst/>
            <a:rect l="l" t="t" r="r" b="b"/>
            <a:pathLst>
              <a:path w="1800225" h="830579">
                <a:moveTo>
                  <a:pt x="1800225" y="0"/>
                </a:moveTo>
                <a:lnTo>
                  <a:pt x="0" y="0"/>
                </a:lnTo>
                <a:lnTo>
                  <a:pt x="0" y="830262"/>
                </a:lnTo>
                <a:lnTo>
                  <a:pt x="1800225" y="830262"/>
                </a:lnTo>
                <a:lnTo>
                  <a:pt x="1800225" y="0"/>
                </a:lnTo>
                <a:close/>
              </a:path>
            </a:pathLst>
          </a:custGeom>
          <a:solidFill>
            <a:srgbClr val="F1E3A8"/>
          </a:solidFill>
        </p:spPr>
        <p:txBody>
          <a:bodyPr wrap="square" lIns="0" tIns="0" rIns="0" bIns="0" rtlCol="0"/>
          <a:lstStyle/>
          <a:p/>
        </p:txBody>
      </p:sp>
      <p:sp>
        <p:nvSpPr>
          <p:cNvPr id="45" name="object 45" descr=""/>
          <p:cNvSpPr txBox="1"/>
          <p:nvPr/>
        </p:nvSpPr>
        <p:spPr>
          <a:xfrm>
            <a:off x="1566417" y="5050282"/>
            <a:ext cx="6457315" cy="1490980"/>
          </a:xfrm>
          <a:prstGeom prst="rect">
            <a:avLst/>
          </a:prstGeom>
        </p:spPr>
        <p:txBody>
          <a:bodyPr wrap="square" lIns="0" tIns="31750" rIns="0" bIns="0" rtlCol="0" vert="horz">
            <a:spAutoFit/>
          </a:bodyPr>
          <a:lstStyle/>
          <a:p>
            <a:pPr marL="12700" marR="4912995">
              <a:lnSpc>
                <a:spcPts val="2810"/>
              </a:lnSpc>
              <a:spcBef>
                <a:spcPts val="250"/>
              </a:spcBef>
            </a:pPr>
            <a:r>
              <a:rPr dirty="0" sz="2400" spc="-10">
                <a:solidFill>
                  <a:srgbClr val="40458B"/>
                </a:solidFill>
                <a:latin typeface="黑体"/>
                <a:cs typeface="黑体"/>
              </a:rPr>
              <a:t>软流水形成</a:t>
            </a:r>
            <a:r>
              <a:rPr dirty="0" sz="2400" spc="-20">
                <a:solidFill>
                  <a:srgbClr val="40458B"/>
                </a:solidFill>
                <a:latin typeface="黑体"/>
                <a:cs typeface="黑体"/>
              </a:rPr>
              <a:t>的新迭代</a:t>
            </a:r>
            <a:endParaRPr sz="2400">
              <a:latin typeface="黑体"/>
              <a:cs typeface="黑体"/>
            </a:endParaRPr>
          </a:p>
          <a:p>
            <a:pPr marL="3181350">
              <a:lnSpc>
                <a:spcPct val="100000"/>
              </a:lnSpc>
              <a:spcBef>
                <a:spcPts val="2885"/>
              </a:spcBef>
            </a:pPr>
            <a:r>
              <a:rPr dirty="0" sz="2400" spc="-204">
                <a:solidFill>
                  <a:srgbClr val="40458B"/>
                </a:solidFill>
                <a:latin typeface="黑体"/>
                <a:cs typeface="黑体"/>
              </a:rPr>
              <a:t>图 </a:t>
            </a:r>
            <a:r>
              <a:rPr dirty="0" sz="2400" spc="-10">
                <a:solidFill>
                  <a:srgbClr val="40458B"/>
                </a:solidFill>
                <a:latin typeface="Tahoma"/>
                <a:cs typeface="Tahoma"/>
              </a:rPr>
              <a:t>6.6</a:t>
            </a:r>
            <a:r>
              <a:rPr dirty="0" sz="2400" spc="-20">
                <a:solidFill>
                  <a:srgbClr val="40458B"/>
                </a:solidFill>
                <a:latin typeface="黑体"/>
                <a:cs typeface="黑体"/>
              </a:rPr>
              <a:t>软流水的工作原理</a:t>
            </a:r>
            <a:endParaRPr sz="2400">
              <a:latin typeface="黑体"/>
              <a:cs typeface="黑体"/>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629818" y="2793"/>
            <a:ext cx="1701800" cy="391160"/>
          </a:xfrm>
          <a:prstGeom prst="rect">
            <a:avLst/>
          </a:prstGeom>
        </p:spPr>
        <p:txBody>
          <a:bodyPr wrap="square" lIns="0" tIns="12700" rIns="0" bIns="0" rtlCol="0" vert="horz">
            <a:spAutoFit/>
          </a:bodyPr>
          <a:lstStyle/>
          <a:p>
            <a:pPr marL="12700">
              <a:lnSpc>
                <a:spcPct val="100000"/>
              </a:lnSpc>
              <a:spcBef>
                <a:spcPts val="100"/>
              </a:spcBef>
              <a:tabLst>
                <a:tab pos="469265" algn="l"/>
              </a:tabLst>
            </a:pPr>
            <a:r>
              <a:rPr dirty="0" sz="2400" spc="-25">
                <a:solidFill>
                  <a:srgbClr val="40458B"/>
                </a:solidFill>
                <a:latin typeface="Tahoma"/>
                <a:cs typeface="Tahoma"/>
              </a:rPr>
              <a:t>2.</a:t>
            </a:r>
            <a:r>
              <a:rPr dirty="0" sz="2400">
                <a:solidFill>
                  <a:srgbClr val="40458B"/>
                </a:solidFill>
                <a:latin typeface="Tahoma"/>
                <a:cs typeface="Tahoma"/>
              </a:rPr>
              <a:t>	</a:t>
            </a:r>
            <a:r>
              <a:rPr dirty="0" sz="2400" spc="-15">
                <a:solidFill>
                  <a:srgbClr val="E14B04"/>
                </a:solidFill>
                <a:latin typeface="黑体"/>
                <a:cs typeface="黑体"/>
              </a:rPr>
              <a:t>实例分析</a:t>
            </a:r>
            <a:endParaRPr sz="2400">
              <a:latin typeface="黑体"/>
              <a:cs typeface="黑体"/>
            </a:endParaRPr>
          </a:p>
        </p:txBody>
      </p:sp>
      <p:sp>
        <p:nvSpPr>
          <p:cNvPr id="3" name="object 3"/>
          <p:cNvSpPr txBox="1">
            <a:spLocks noGrp="1"/>
          </p:cNvSpPr>
          <p:nvPr>
            <p:ph type="title"/>
          </p:nvPr>
        </p:nvSpPr>
        <p:spPr>
          <a:xfrm>
            <a:off x="629818" y="413969"/>
            <a:ext cx="9224010" cy="391795"/>
          </a:xfrm>
          <a:prstGeom prst="rect"/>
        </p:spPr>
        <p:txBody>
          <a:bodyPr wrap="square" lIns="0" tIns="12700" rIns="0" bIns="0" rtlCol="0" vert="horz">
            <a:spAutoFit/>
          </a:bodyPr>
          <a:lstStyle/>
          <a:p>
            <a:pPr marL="12700">
              <a:lnSpc>
                <a:spcPct val="100000"/>
              </a:lnSpc>
              <a:spcBef>
                <a:spcPts val="100"/>
              </a:spcBef>
            </a:pPr>
            <a:r>
              <a:rPr dirty="0" u="none" sz="2400" spc="-25" b="1">
                <a:solidFill>
                  <a:srgbClr val="E14B04"/>
                </a:solidFill>
                <a:latin typeface="宋体"/>
                <a:cs typeface="宋体"/>
              </a:rPr>
              <a:t>例</a:t>
            </a:r>
            <a:r>
              <a:rPr dirty="0" u="none" sz="2400" b="1">
                <a:solidFill>
                  <a:srgbClr val="E14B04"/>
                </a:solidFill>
                <a:latin typeface="宋体"/>
                <a:cs typeface="宋体"/>
              </a:rPr>
              <a:t>6.11</a:t>
            </a:r>
            <a:r>
              <a:rPr dirty="0" u="none" sz="2400" spc="175" b="1">
                <a:solidFill>
                  <a:srgbClr val="E14B04"/>
                </a:solidFill>
                <a:latin typeface="宋体"/>
                <a:cs typeface="宋体"/>
              </a:rPr>
              <a:t> </a:t>
            </a:r>
            <a:r>
              <a:rPr dirty="0" u="none" sz="2400" spc="-25" b="1">
                <a:solidFill>
                  <a:srgbClr val="000000"/>
                </a:solidFill>
                <a:latin typeface="宋体"/>
                <a:cs typeface="宋体"/>
              </a:rPr>
              <a:t>试用软流水技术处理例</a:t>
            </a:r>
            <a:r>
              <a:rPr dirty="0" u="none" sz="2400" spc="-10" b="1">
                <a:solidFill>
                  <a:srgbClr val="6600FF"/>
                </a:solidFill>
                <a:latin typeface="宋体"/>
                <a:cs typeface="宋体"/>
              </a:rPr>
              <a:t>6.1</a:t>
            </a:r>
            <a:r>
              <a:rPr dirty="0" u="none" sz="2400" spc="-25" b="1">
                <a:solidFill>
                  <a:srgbClr val="000000"/>
                </a:solidFill>
                <a:latin typeface="宋体"/>
                <a:cs typeface="宋体"/>
              </a:rPr>
              <a:t>中的循环，假设数组</a:t>
            </a:r>
            <a:r>
              <a:rPr dirty="0" u="none" sz="2400" spc="-10" b="1">
                <a:solidFill>
                  <a:srgbClr val="6600FF"/>
                </a:solidFill>
                <a:latin typeface="宋体"/>
                <a:cs typeface="宋体"/>
              </a:rPr>
              <a:t>x</a:t>
            </a:r>
            <a:r>
              <a:rPr dirty="0" u="none" sz="2400" spc="-25" b="1">
                <a:solidFill>
                  <a:srgbClr val="000000"/>
                </a:solidFill>
                <a:latin typeface="宋体"/>
                <a:cs typeface="宋体"/>
              </a:rPr>
              <a:t>有</a:t>
            </a:r>
            <a:r>
              <a:rPr dirty="0" u="none" sz="2400" spc="-10" b="1">
                <a:solidFill>
                  <a:srgbClr val="6600FF"/>
                </a:solidFill>
                <a:latin typeface="宋体"/>
                <a:cs typeface="宋体"/>
              </a:rPr>
              <a:t>n</a:t>
            </a:r>
            <a:r>
              <a:rPr dirty="0" u="none" sz="2400" spc="-35" b="1">
                <a:solidFill>
                  <a:srgbClr val="000000"/>
                </a:solidFill>
                <a:latin typeface="宋体"/>
                <a:cs typeface="宋体"/>
              </a:rPr>
              <a:t>个元素。</a:t>
            </a:r>
            <a:endParaRPr sz="2400">
              <a:latin typeface="宋体"/>
              <a:cs typeface="宋体"/>
            </a:endParaRPr>
          </a:p>
        </p:txBody>
      </p:sp>
      <p:sp>
        <p:nvSpPr>
          <p:cNvPr id="4" name="object 4" descr=""/>
          <p:cNvSpPr txBox="1"/>
          <p:nvPr/>
        </p:nvSpPr>
        <p:spPr>
          <a:xfrm>
            <a:off x="629818" y="780414"/>
            <a:ext cx="9067800" cy="4451985"/>
          </a:xfrm>
          <a:prstGeom prst="rect">
            <a:avLst/>
          </a:prstGeom>
        </p:spPr>
        <p:txBody>
          <a:bodyPr wrap="square" lIns="0" tIns="12700" rIns="0" bIns="0" rtlCol="0" vert="horz">
            <a:spAutoFit/>
          </a:bodyPr>
          <a:lstStyle/>
          <a:p>
            <a:pPr marL="474345" marR="5080" indent="-462280">
              <a:lnSpc>
                <a:spcPct val="110000"/>
              </a:lnSpc>
              <a:spcBef>
                <a:spcPts val="100"/>
              </a:spcBef>
            </a:pPr>
            <a:r>
              <a:rPr dirty="0" sz="2400" b="1">
                <a:solidFill>
                  <a:srgbClr val="E14B04"/>
                </a:solidFill>
                <a:latin typeface="宋体"/>
                <a:cs typeface="宋体"/>
              </a:rPr>
              <a:t>解 </a:t>
            </a:r>
            <a:r>
              <a:rPr dirty="0" sz="2400" spc="-25" b="1">
                <a:latin typeface="宋体"/>
                <a:cs typeface="宋体"/>
              </a:rPr>
              <a:t>软流水需要从原循环的多个迭代中选择指令拼成新的循环，因此我们首先将原循环展开。</a:t>
            </a:r>
            <a:endParaRPr sz="2400">
              <a:latin typeface="宋体"/>
              <a:cs typeface="宋体"/>
            </a:endParaRPr>
          </a:p>
          <a:p>
            <a:pPr marL="1099185">
              <a:lnSpc>
                <a:spcPct val="100000"/>
              </a:lnSpc>
              <a:spcBef>
                <a:spcPts val="285"/>
              </a:spcBef>
              <a:tabLst>
                <a:tab pos="2755900" algn="l"/>
              </a:tabLst>
            </a:pPr>
            <a:r>
              <a:rPr dirty="0" sz="2400" spc="-25" b="1">
                <a:latin typeface="宋体"/>
                <a:cs typeface="宋体"/>
              </a:rPr>
              <a:t>迭代i：</a:t>
            </a:r>
            <a:r>
              <a:rPr dirty="0" sz="2400" b="1">
                <a:latin typeface="宋体"/>
                <a:cs typeface="宋体"/>
              </a:rPr>
              <a:t>	</a:t>
            </a:r>
            <a:r>
              <a:rPr dirty="0" sz="2400" spc="-25" b="1">
                <a:latin typeface="宋体"/>
                <a:cs typeface="宋体"/>
              </a:rPr>
              <a:t>；修改</a:t>
            </a:r>
            <a:r>
              <a:rPr dirty="0" sz="2400" spc="-10" b="1">
                <a:latin typeface="宋体"/>
                <a:cs typeface="宋体"/>
              </a:rPr>
              <a:t>x[i]</a:t>
            </a:r>
            <a:r>
              <a:rPr dirty="0" sz="2400" spc="-25" b="1">
                <a:latin typeface="宋体"/>
                <a:cs typeface="宋体"/>
              </a:rPr>
              <a:t>并保</a:t>
            </a:r>
            <a:r>
              <a:rPr dirty="0" sz="2400" spc="-50" b="1">
                <a:latin typeface="宋体"/>
                <a:cs typeface="宋体"/>
              </a:rPr>
              <a:t>存</a:t>
            </a:r>
            <a:endParaRPr sz="2400">
              <a:latin typeface="宋体"/>
              <a:cs typeface="宋体"/>
            </a:endParaRPr>
          </a:p>
          <a:p>
            <a:pPr marL="2755900" marR="3701415">
              <a:lnSpc>
                <a:spcPct val="110000"/>
              </a:lnSpc>
              <a:spcBef>
                <a:spcPts val="5"/>
              </a:spcBef>
              <a:tabLst>
                <a:tab pos="3670300" algn="l"/>
              </a:tabLst>
            </a:pPr>
            <a:r>
              <a:rPr dirty="0" sz="2400" spc="-25" b="1">
                <a:solidFill>
                  <a:srgbClr val="0000CC"/>
                </a:solidFill>
                <a:latin typeface="宋体"/>
                <a:cs typeface="宋体"/>
              </a:rPr>
              <a:t>L.D</a:t>
            </a:r>
            <a:r>
              <a:rPr dirty="0" sz="2400" b="1">
                <a:solidFill>
                  <a:srgbClr val="0000CC"/>
                </a:solidFill>
                <a:latin typeface="宋体"/>
                <a:cs typeface="宋体"/>
              </a:rPr>
              <a:t>	</a:t>
            </a:r>
            <a:r>
              <a:rPr dirty="0" sz="2400" spc="-10" b="1">
                <a:solidFill>
                  <a:srgbClr val="0000CC"/>
                </a:solidFill>
                <a:latin typeface="宋体"/>
                <a:cs typeface="宋体"/>
              </a:rPr>
              <a:t>F0，0（R1） </a:t>
            </a:r>
            <a:r>
              <a:rPr dirty="0" sz="2400" b="1">
                <a:solidFill>
                  <a:srgbClr val="0000CC"/>
                </a:solidFill>
                <a:latin typeface="宋体"/>
                <a:cs typeface="宋体"/>
              </a:rPr>
              <a:t>ADD.D</a:t>
            </a:r>
            <a:r>
              <a:rPr dirty="0" sz="2400" spc="-140" b="1">
                <a:solidFill>
                  <a:srgbClr val="0000CC"/>
                </a:solidFill>
                <a:latin typeface="宋体"/>
                <a:cs typeface="宋体"/>
              </a:rPr>
              <a:t> </a:t>
            </a:r>
            <a:r>
              <a:rPr dirty="0" sz="2400" spc="-10" b="1">
                <a:solidFill>
                  <a:srgbClr val="0000CC"/>
                </a:solidFill>
                <a:latin typeface="宋体"/>
                <a:cs typeface="宋体"/>
              </a:rPr>
              <a:t>F4，F0，F2</a:t>
            </a:r>
            <a:endParaRPr sz="2400">
              <a:latin typeface="宋体"/>
              <a:cs typeface="宋体"/>
            </a:endParaRPr>
          </a:p>
          <a:p>
            <a:pPr marL="2755900">
              <a:lnSpc>
                <a:spcPct val="100000"/>
              </a:lnSpc>
              <a:spcBef>
                <a:spcPts val="185"/>
              </a:spcBef>
              <a:tabLst>
                <a:tab pos="3670300" algn="l"/>
              </a:tabLst>
            </a:pPr>
            <a:r>
              <a:rPr dirty="0" sz="2500" spc="-25" b="1" i="1">
                <a:solidFill>
                  <a:srgbClr val="FF09FF"/>
                </a:solidFill>
                <a:latin typeface="宋体"/>
                <a:cs typeface="宋体"/>
              </a:rPr>
              <a:t>S.D</a:t>
            </a:r>
            <a:r>
              <a:rPr dirty="0" sz="2500" b="1" i="1">
                <a:solidFill>
                  <a:srgbClr val="FF09FF"/>
                </a:solidFill>
                <a:latin typeface="宋体"/>
                <a:cs typeface="宋体"/>
              </a:rPr>
              <a:t>	</a:t>
            </a:r>
            <a:r>
              <a:rPr dirty="0" sz="2500" spc="-10" b="1" i="1">
                <a:solidFill>
                  <a:srgbClr val="FF09FF"/>
                </a:solidFill>
                <a:latin typeface="宋体"/>
                <a:cs typeface="宋体"/>
              </a:rPr>
              <a:t>F4，0（R1）</a:t>
            </a:r>
            <a:endParaRPr sz="2500">
              <a:latin typeface="宋体"/>
              <a:cs typeface="宋体"/>
            </a:endParaRPr>
          </a:p>
          <a:p>
            <a:pPr marL="1099185">
              <a:lnSpc>
                <a:spcPct val="100000"/>
              </a:lnSpc>
              <a:spcBef>
                <a:spcPts val="275"/>
              </a:spcBef>
              <a:tabLst>
                <a:tab pos="2755900" algn="l"/>
              </a:tabLst>
            </a:pPr>
            <a:r>
              <a:rPr dirty="0" sz="2400" spc="-20" b="1">
                <a:latin typeface="宋体"/>
                <a:cs typeface="宋体"/>
              </a:rPr>
              <a:t>迭代i+1：</a:t>
            </a:r>
            <a:r>
              <a:rPr dirty="0" sz="2400" b="1">
                <a:latin typeface="宋体"/>
                <a:cs typeface="宋体"/>
              </a:rPr>
              <a:t>	</a:t>
            </a:r>
            <a:r>
              <a:rPr dirty="0" sz="2400" spc="-20" b="1">
                <a:latin typeface="宋体"/>
                <a:cs typeface="宋体"/>
              </a:rPr>
              <a:t>；修改x[i-1]并保</a:t>
            </a:r>
            <a:r>
              <a:rPr dirty="0" sz="2400" spc="-50" b="1">
                <a:latin typeface="宋体"/>
                <a:cs typeface="宋体"/>
              </a:rPr>
              <a:t>存</a:t>
            </a:r>
            <a:endParaRPr sz="2400">
              <a:latin typeface="宋体"/>
              <a:cs typeface="宋体"/>
            </a:endParaRPr>
          </a:p>
          <a:p>
            <a:pPr marL="2755900">
              <a:lnSpc>
                <a:spcPct val="100000"/>
              </a:lnSpc>
              <a:spcBef>
                <a:spcPts val="285"/>
              </a:spcBef>
              <a:tabLst>
                <a:tab pos="3670300" algn="l"/>
              </a:tabLst>
            </a:pPr>
            <a:r>
              <a:rPr dirty="0" sz="2400" spc="-25" b="1">
                <a:solidFill>
                  <a:srgbClr val="0000CC"/>
                </a:solidFill>
                <a:latin typeface="宋体"/>
                <a:cs typeface="宋体"/>
              </a:rPr>
              <a:t>L.D</a:t>
            </a:r>
            <a:r>
              <a:rPr dirty="0" sz="2400" b="1">
                <a:solidFill>
                  <a:srgbClr val="0000CC"/>
                </a:solidFill>
                <a:latin typeface="宋体"/>
                <a:cs typeface="宋体"/>
              </a:rPr>
              <a:t>	</a:t>
            </a:r>
            <a:r>
              <a:rPr dirty="0" sz="2400" spc="-10" b="1">
                <a:solidFill>
                  <a:srgbClr val="0000CC"/>
                </a:solidFill>
                <a:latin typeface="宋体"/>
                <a:cs typeface="宋体"/>
              </a:rPr>
              <a:t>F0，0（R1）</a:t>
            </a:r>
            <a:endParaRPr sz="2400">
              <a:latin typeface="宋体"/>
              <a:cs typeface="宋体"/>
            </a:endParaRPr>
          </a:p>
          <a:p>
            <a:pPr marL="2755900">
              <a:lnSpc>
                <a:spcPct val="100000"/>
              </a:lnSpc>
              <a:spcBef>
                <a:spcPts val="190"/>
              </a:spcBef>
            </a:pPr>
            <a:r>
              <a:rPr dirty="0" sz="2500" spc="-20" b="1" i="1">
                <a:solidFill>
                  <a:srgbClr val="FF09FF"/>
                </a:solidFill>
                <a:latin typeface="宋体"/>
                <a:cs typeface="宋体"/>
              </a:rPr>
              <a:t>ADD.D</a:t>
            </a:r>
            <a:r>
              <a:rPr dirty="0" sz="2500" spc="-285" b="1" i="1">
                <a:solidFill>
                  <a:srgbClr val="FF09FF"/>
                </a:solidFill>
                <a:latin typeface="宋体"/>
                <a:cs typeface="宋体"/>
              </a:rPr>
              <a:t> </a:t>
            </a:r>
            <a:r>
              <a:rPr dirty="0" sz="2500" spc="-10" b="1" i="1">
                <a:solidFill>
                  <a:srgbClr val="FF09FF"/>
                </a:solidFill>
                <a:latin typeface="宋体"/>
                <a:cs typeface="宋体"/>
              </a:rPr>
              <a:t>F4，F0，F2</a:t>
            </a:r>
            <a:endParaRPr sz="2500">
              <a:latin typeface="宋体"/>
              <a:cs typeface="宋体"/>
            </a:endParaRPr>
          </a:p>
          <a:p>
            <a:pPr marL="2755900">
              <a:lnSpc>
                <a:spcPct val="100000"/>
              </a:lnSpc>
              <a:spcBef>
                <a:spcPts val="265"/>
              </a:spcBef>
              <a:tabLst>
                <a:tab pos="3670300" algn="l"/>
              </a:tabLst>
            </a:pPr>
            <a:r>
              <a:rPr dirty="0" sz="2400" spc="-25" b="1">
                <a:solidFill>
                  <a:srgbClr val="0000CC"/>
                </a:solidFill>
                <a:latin typeface="宋体"/>
                <a:cs typeface="宋体"/>
              </a:rPr>
              <a:t>S.D</a:t>
            </a:r>
            <a:r>
              <a:rPr dirty="0" sz="2400" b="1">
                <a:solidFill>
                  <a:srgbClr val="0000CC"/>
                </a:solidFill>
                <a:latin typeface="宋体"/>
                <a:cs typeface="宋体"/>
              </a:rPr>
              <a:t>	</a:t>
            </a:r>
            <a:r>
              <a:rPr dirty="0" sz="2400" spc="-10" b="1">
                <a:solidFill>
                  <a:srgbClr val="0000CC"/>
                </a:solidFill>
                <a:latin typeface="宋体"/>
                <a:cs typeface="宋体"/>
              </a:rPr>
              <a:t>F4，0（R1）</a:t>
            </a:r>
            <a:endParaRPr sz="2400">
              <a:latin typeface="宋体"/>
              <a:cs typeface="宋体"/>
            </a:endParaRPr>
          </a:p>
          <a:p>
            <a:pPr marL="1099185">
              <a:lnSpc>
                <a:spcPct val="100000"/>
              </a:lnSpc>
              <a:spcBef>
                <a:spcPts val="290"/>
              </a:spcBef>
              <a:tabLst>
                <a:tab pos="2755900" algn="l"/>
              </a:tabLst>
            </a:pPr>
            <a:r>
              <a:rPr dirty="0" sz="2400" spc="-20" b="1">
                <a:latin typeface="宋体"/>
                <a:cs typeface="宋体"/>
              </a:rPr>
              <a:t>迭代i+2：</a:t>
            </a:r>
            <a:r>
              <a:rPr dirty="0" sz="2400" b="1">
                <a:latin typeface="宋体"/>
                <a:cs typeface="宋体"/>
              </a:rPr>
              <a:t>	</a:t>
            </a:r>
            <a:r>
              <a:rPr dirty="0" sz="2400" spc="-20" b="1">
                <a:latin typeface="宋体"/>
                <a:cs typeface="宋体"/>
              </a:rPr>
              <a:t>；修改x[i-2]并保</a:t>
            </a:r>
            <a:r>
              <a:rPr dirty="0" sz="2400" spc="-50" b="1">
                <a:latin typeface="宋体"/>
                <a:cs typeface="宋体"/>
              </a:rPr>
              <a:t>存</a:t>
            </a:r>
            <a:endParaRPr sz="2400">
              <a:latin typeface="宋体"/>
              <a:cs typeface="宋体"/>
            </a:endParaRPr>
          </a:p>
        </p:txBody>
      </p:sp>
      <p:sp>
        <p:nvSpPr>
          <p:cNvPr id="5" name="object 5" descr=""/>
          <p:cNvSpPr txBox="1"/>
          <p:nvPr/>
        </p:nvSpPr>
        <p:spPr>
          <a:xfrm>
            <a:off x="3373373" y="6048552"/>
            <a:ext cx="2627630" cy="391160"/>
          </a:xfrm>
          <a:prstGeom prst="rect">
            <a:avLst/>
          </a:prstGeom>
        </p:spPr>
        <p:txBody>
          <a:bodyPr wrap="square" lIns="0" tIns="12700" rIns="0" bIns="0" rtlCol="0" vert="horz">
            <a:spAutoFit/>
          </a:bodyPr>
          <a:lstStyle/>
          <a:p>
            <a:pPr marL="12700">
              <a:lnSpc>
                <a:spcPct val="100000"/>
              </a:lnSpc>
              <a:spcBef>
                <a:spcPts val="100"/>
              </a:spcBef>
              <a:tabLst>
                <a:tab pos="926465" algn="l"/>
              </a:tabLst>
            </a:pPr>
            <a:r>
              <a:rPr dirty="0" sz="2400" spc="-25" b="1">
                <a:solidFill>
                  <a:srgbClr val="0000CC"/>
                </a:solidFill>
                <a:latin typeface="宋体"/>
                <a:cs typeface="宋体"/>
              </a:rPr>
              <a:t>S.D</a:t>
            </a:r>
            <a:r>
              <a:rPr dirty="0" sz="2400" b="1">
                <a:solidFill>
                  <a:srgbClr val="0000CC"/>
                </a:solidFill>
                <a:latin typeface="宋体"/>
                <a:cs typeface="宋体"/>
              </a:rPr>
              <a:t>	</a:t>
            </a:r>
            <a:r>
              <a:rPr dirty="0" sz="2400" spc="-10" b="1">
                <a:solidFill>
                  <a:srgbClr val="0000CC"/>
                </a:solidFill>
                <a:latin typeface="宋体"/>
                <a:cs typeface="宋体"/>
              </a:rPr>
              <a:t>F4，0（R1）</a:t>
            </a:r>
            <a:endParaRPr sz="2400">
              <a:latin typeface="宋体"/>
              <a:cs typeface="宋体"/>
            </a:endParaRPr>
          </a:p>
        </p:txBody>
      </p:sp>
      <p:grpSp>
        <p:nvGrpSpPr>
          <p:cNvPr id="6" name="object 6" descr=""/>
          <p:cNvGrpSpPr/>
          <p:nvPr/>
        </p:nvGrpSpPr>
        <p:grpSpPr>
          <a:xfrm>
            <a:off x="6378638" y="1923358"/>
            <a:ext cx="5813425" cy="3450590"/>
            <a:chOff x="6378638" y="1923358"/>
            <a:chExt cx="5813425" cy="3450590"/>
          </a:xfrm>
        </p:grpSpPr>
        <p:pic>
          <p:nvPicPr>
            <p:cNvPr id="7" name="object 7" descr=""/>
            <p:cNvPicPr/>
            <p:nvPr/>
          </p:nvPicPr>
          <p:blipFill>
            <a:blip r:embed="rId2" cstate="print"/>
            <a:stretch>
              <a:fillRect/>
            </a:stretch>
          </p:blipFill>
          <p:spPr>
            <a:xfrm>
              <a:off x="7035800" y="1923358"/>
              <a:ext cx="5156200" cy="3450265"/>
            </a:xfrm>
            <a:prstGeom prst="rect">
              <a:avLst/>
            </a:prstGeom>
          </p:spPr>
        </p:pic>
        <p:sp>
          <p:nvSpPr>
            <p:cNvPr id="8" name="object 8" descr=""/>
            <p:cNvSpPr/>
            <p:nvPr/>
          </p:nvSpPr>
          <p:spPr>
            <a:xfrm>
              <a:off x="6383401" y="3933825"/>
              <a:ext cx="649605" cy="358775"/>
            </a:xfrm>
            <a:custGeom>
              <a:avLst/>
              <a:gdLst/>
              <a:ahLst/>
              <a:cxnLst/>
              <a:rect l="l" t="t" r="r" b="b"/>
              <a:pathLst>
                <a:path w="649604" h="358775">
                  <a:moveTo>
                    <a:pt x="180340" y="0"/>
                  </a:moveTo>
                  <a:lnTo>
                    <a:pt x="0" y="179324"/>
                  </a:lnTo>
                  <a:lnTo>
                    <a:pt x="180340" y="358775"/>
                  </a:lnTo>
                  <a:lnTo>
                    <a:pt x="180340" y="269113"/>
                  </a:lnTo>
                  <a:lnTo>
                    <a:pt x="649224" y="269113"/>
                  </a:lnTo>
                  <a:lnTo>
                    <a:pt x="649224" y="89662"/>
                  </a:lnTo>
                  <a:lnTo>
                    <a:pt x="180340" y="89662"/>
                  </a:lnTo>
                  <a:lnTo>
                    <a:pt x="180340" y="0"/>
                  </a:lnTo>
                  <a:close/>
                </a:path>
              </a:pathLst>
            </a:custGeom>
            <a:solidFill>
              <a:srgbClr val="EBD782"/>
            </a:solidFill>
          </p:spPr>
          <p:txBody>
            <a:bodyPr wrap="square" lIns="0" tIns="0" rIns="0" bIns="0" rtlCol="0"/>
            <a:lstStyle/>
            <a:p/>
          </p:txBody>
        </p:sp>
        <p:sp>
          <p:nvSpPr>
            <p:cNvPr id="9" name="object 9" descr=""/>
            <p:cNvSpPr/>
            <p:nvPr/>
          </p:nvSpPr>
          <p:spPr>
            <a:xfrm>
              <a:off x="6383401" y="3933825"/>
              <a:ext cx="649605" cy="358775"/>
            </a:xfrm>
            <a:custGeom>
              <a:avLst/>
              <a:gdLst/>
              <a:ahLst/>
              <a:cxnLst/>
              <a:rect l="l" t="t" r="r" b="b"/>
              <a:pathLst>
                <a:path w="649604" h="358775">
                  <a:moveTo>
                    <a:pt x="0" y="179324"/>
                  </a:moveTo>
                  <a:lnTo>
                    <a:pt x="180340" y="0"/>
                  </a:lnTo>
                  <a:lnTo>
                    <a:pt x="180340" y="89662"/>
                  </a:lnTo>
                  <a:lnTo>
                    <a:pt x="649224" y="89662"/>
                  </a:lnTo>
                  <a:lnTo>
                    <a:pt x="649224" y="269113"/>
                  </a:lnTo>
                  <a:lnTo>
                    <a:pt x="180340" y="269113"/>
                  </a:lnTo>
                  <a:lnTo>
                    <a:pt x="180340" y="358775"/>
                  </a:lnTo>
                  <a:lnTo>
                    <a:pt x="0" y="179324"/>
                  </a:lnTo>
                  <a:close/>
                </a:path>
              </a:pathLst>
            </a:custGeom>
            <a:ln w="9525">
              <a:solidFill>
                <a:srgbClr val="40458B"/>
              </a:solidFill>
            </a:ln>
          </p:spPr>
          <p:txBody>
            <a:bodyPr wrap="square" lIns="0" tIns="0" rIns="0" bIns="0" rtlCol="0"/>
            <a:lstStyle/>
            <a:p/>
          </p:txBody>
        </p:sp>
      </p:grpSp>
      <p:sp>
        <p:nvSpPr>
          <p:cNvPr id="10" name="object 10" descr=""/>
          <p:cNvSpPr txBox="1"/>
          <p:nvPr/>
        </p:nvSpPr>
        <p:spPr>
          <a:xfrm>
            <a:off x="258267" y="5192368"/>
            <a:ext cx="5767705" cy="845185"/>
          </a:xfrm>
          <a:prstGeom prst="rect">
            <a:avLst/>
          </a:prstGeom>
        </p:spPr>
        <p:txBody>
          <a:bodyPr wrap="square" lIns="0" tIns="50800" rIns="0" bIns="0" rtlCol="0" vert="horz">
            <a:spAutoFit/>
          </a:bodyPr>
          <a:lstStyle/>
          <a:p>
            <a:pPr marL="3127375">
              <a:lnSpc>
                <a:spcPct val="100000"/>
              </a:lnSpc>
              <a:spcBef>
                <a:spcPts val="400"/>
              </a:spcBef>
              <a:tabLst>
                <a:tab pos="4041775" algn="l"/>
              </a:tabLst>
            </a:pPr>
            <a:r>
              <a:rPr dirty="0" sz="2500" spc="-25" b="1" i="1">
                <a:solidFill>
                  <a:srgbClr val="FF09FF"/>
                </a:solidFill>
                <a:latin typeface="宋体"/>
                <a:cs typeface="宋体"/>
              </a:rPr>
              <a:t>L.D</a:t>
            </a:r>
            <a:r>
              <a:rPr dirty="0" sz="2500" b="1" i="1">
                <a:solidFill>
                  <a:srgbClr val="FF09FF"/>
                </a:solidFill>
                <a:latin typeface="宋体"/>
                <a:cs typeface="宋体"/>
              </a:rPr>
              <a:t>	</a:t>
            </a:r>
            <a:r>
              <a:rPr dirty="0" sz="2500" spc="-35" b="1" i="1">
                <a:solidFill>
                  <a:srgbClr val="FF09FF"/>
                </a:solidFill>
                <a:latin typeface="宋体"/>
                <a:cs typeface="宋体"/>
              </a:rPr>
              <a:t>F0，0（R1）</a:t>
            </a:r>
            <a:endParaRPr sz="2500">
              <a:latin typeface="宋体"/>
              <a:cs typeface="宋体"/>
            </a:endParaRPr>
          </a:p>
          <a:p>
            <a:pPr marL="50800">
              <a:lnSpc>
                <a:spcPct val="100000"/>
              </a:lnSpc>
              <a:spcBef>
                <a:spcPts val="270"/>
              </a:spcBef>
            </a:pPr>
            <a:r>
              <a:rPr dirty="0" baseline="-16203" sz="3600" spc="-135">
                <a:solidFill>
                  <a:srgbClr val="FF0000"/>
                </a:solidFill>
                <a:latin typeface="黑体"/>
                <a:cs typeface="黑体"/>
              </a:rPr>
              <a:t>原始代码中数据相关， </a:t>
            </a:r>
            <a:r>
              <a:rPr dirty="0" sz="2400" b="1">
                <a:solidFill>
                  <a:srgbClr val="0000CC"/>
                </a:solidFill>
                <a:latin typeface="宋体"/>
                <a:cs typeface="宋体"/>
              </a:rPr>
              <a:t>ADD.D</a:t>
            </a:r>
            <a:r>
              <a:rPr dirty="0" sz="2400" spc="-80" b="1">
                <a:solidFill>
                  <a:srgbClr val="0000CC"/>
                </a:solidFill>
                <a:latin typeface="宋体"/>
                <a:cs typeface="宋体"/>
              </a:rPr>
              <a:t> </a:t>
            </a:r>
            <a:r>
              <a:rPr dirty="0" sz="2400" spc="-10" b="1">
                <a:solidFill>
                  <a:srgbClr val="0000CC"/>
                </a:solidFill>
                <a:latin typeface="宋体"/>
                <a:cs typeface="宋体"/>
              </a:rPr>
              <a:t>F4，F0，F2</a:t>
            </a:r>
            <a:endParaRPr sz="2400">
              <a:latin typeface="宋体"/>
              <a:cs typeface="宋体"/>
            </a:endParaRPr>
          </a:p>
        </p:txBody>
      </p:sp>
      <p:sp>
        <p:nvSpPr>
          <p:cNvPr id="11" name="object 11" descr=""/>
          <p:cNvSpPr txBox="1"/>
          <p:nvPr/>
        </p:nvSpPr>
        <p:spPr>
          <a:xfrm>
            <a:off x="7223125" y="5530850"/>
            <a:ext cx="4608830" cy="1200150"/>
          </a:xfrm>
          <a:prstGeom prst="rect">
            <a:avLst/>
          </a:prstGeom>
          <a:ln w="9525">
            <a:solidFill>
              <a:srgbClr val="FF0000"/>
            </a:solidFill>
          </a:ln>
        </p:spPr>
        <p:txBody>
          <a:bodyPr wrap="square" lIns="0" tIns="60325" rIns="0" bIns="0" rtlCol="0" vert="horz">
            <a:spAutoFit/>
          </a:bodyPr>
          <a:lstStyle/>
          <a:p>
            <a:pPr marL="92075" marR="359410">
              <a:lnSpc>
                <a:spcPct val="98800"/>
              </a:lnSpc>
              <a:spcBef>
                <a:spcPts val="475"/>
              </a:spcBef>
            </a:pPr>
            <a:r>
              <a:rPr dirty="0" sz="2400" spc="-5">
                <a:solidFill>
                  <a:srgbClr val="40458B"/>
                </a:solidFill>
                <a:latin typeface="黑体"/>
                <a:cs typeface="黑体"/>
              </a:rPr>
              <a:t>暂不考虑循环控制相关指令</a:t>
            </a:r>
            <a:r>
              <a:rPr dirty="0" sz="2400" spc="-50">
                <a:solidFill>
                  <a:srgbClr val="40458B"/>
                </a:solidFill>
                <a:latin typeface="黑体"/>
                <a:cs typeface="黑体"/>
              </a:rPr>
              <a:t> </a:t>
            </a:r>
            <a:r>
              <a:rPr dirty="0" sz="2400" spc="-10">
                <a:solidFill>
                  <a:srgbClr val="40458B"/>
                </a:solidFill>
                <a:latin typeface="Tahoma"/>
                <a:cs typeface="Tahoma"/>
              </a:rPr>
              <a:t>(DADDIU</a:t>
            </a:r>
            <a:r>
              <a:rPr dirty="0" sz="2400">
                <a:solidFill>
                  <a:srgbClr val="40458B"/>
                </a:solidFill>
                <a:latin typeface="黑体"/>
                <a:cs typeface="黑体"/>
              </a:rPr>
              <a:t>和</a:t>
            </a:r>
            <a:r>
              <a:rPr dirty="0" sz="2400" spc="-20">
                <a:solidFill>
                  <a:srgbClr val="40458B"/>
                </a:solidFill>
                <a:latin typeface="Tahoma"/>
                <a:cs typeface="Tahoma"/>
              </a:rPr>
              <a:t>BNE):</a:t>
            </a:r>
            <a:r>
              <a:rPr dirty="0" sz="2400" spc="-10">
                <a:solidFill>
                  <a:srgbClr val="40458B"/>
                </a:solidFill>
                <a:latin typeface="黑体"/>
                <a:cs typeface="黑体"/>
              </a:rPr>
              <a:t>软流水处理前后都要处理控制相关</a:t>
            </a:r>
            <a:endParaRPr sz="2400">
              <a:latin typeface="黑体"/>
              <a:cs typeface="黑体"/>
            </a:endParaRPr>
          </a:p>
        </p:txBody>
      </p:sp>
      <p:grpSp>
        <p:nvGrpSpPr>
          <p:cNvPr id="12" name="object 12" descr=""/>
          <p:cNvGrpSpPr/>
          <p:nvPr/>
        </p:nvGrpSpPr>
        <p:grpSpPr>
          <a:xfrm>
            <a:off x="6566725" y="5735218"/>
            <a:ext cx="598170" cy="494665"/>
            <a:chOff x="6566725" y="5735218"/>
            <a:chExt cx="598170" cy="494665"/>
          </a:xfrm>
        </p:grpSpPr>
        <p:sp>
          <p:nvSpPr>
            <p:cNvPr id="13" name="object 13" descr=""/>
            <p:cNvSpPr/>
            <p:nvPr/>
          </p:nvSpPr>
          <p:spPr>
            <a:xfrm>
              <a:off x="6571488" y="5739981"/>
              <a:ext cx="588645" cy="485140"/>
            </a:xfrm>
            <a:custGeom>
              <a:avLst/>
              <a:gdLst/>
              <a:ahLst/>
              <a:cxnLst/>
              <a:rect l="l" t="t" r="r" b="b"/>
              <a:pathLst>
                <a:path w="588645" h="485139">
                  <a:moveTo>
                    <a:pt x="249808" y="0"/>
                  </a:moveTo>
                  <a:lnTo>
                    <a:pt x="0" y="49504"/>
                  </a:lnTo>
                  <a:lnTo>
                    <a:pt x="49148" y="299339"/>
                  </a:lnTo>
                  <a:lnTo>
                    <a:pt x="99313" y="224510"/>
                  </a:lnTo>
                  <a:lnTo>
                    <a:pt x="487933" y="484962"/>
                  </a:lnTo>
                  <a:lnTo>
                    <a:pt x="588263" y="335292"/>
                  </a:lnTo>
                  <a:lnTo>
                    <a:pt x="199643" y="74841"/>
                  </a:lnTo>
                  <a:lnTo>
                    <a:pt x="249808" y="0"/>
                  </a:lnTo>
                  <a:close/>
                </a:path>
              </a:pathLst>
            </a:custGeom>
            <a:solidFill>
              <a:srgbClr val="EBD782"/>
            </a:solidFill>
          </p:spPr>
          <p:txBody>
            <a:bodyPr wrap="square" lIns="0" tIns="0" rIns="0" bIns="0" rtlCol="0"/>
            <a:lstStyle/>
            <a:p/>
          </p:txBody>
        </p:sp>
        <p:sp>
          <p:nvSpPr>
            <p:cNvPr id="14" name="object 14" descr=""/>
            <p:cNvSpPr/>
            <p:nvPr/>
          </p:nvSpPr>
          <p:spPr>
            <a:xfrm>
              <a:off x="6571488" y="5739981"/>
              <a:ext cx="588645" cy="485140"/>
            </a:xfrm>
            <a:custGeom>
              <a:avLst/>
              <a:gdLst/>
              <a:ahLst/>
              <a:cxnLst/>
              <a:rect l="l" t="t" r="r" b="b"/>
              <a:pathLst>
                <a:path w="588645" h="485139">
                  <a:moveTo>
                    <a:pt x="0" y="49504"/>
                  </a:moveTo>
                  <a:lnTo>
                    <a:pt x="249808" y="0"/>
                  </a:lnTo>
                  <a:lnTo>
                    <a:pt x="199643" y="74841"/>
                  </a:lnTo>
                  <a:lnTo>
                    <a:pt x="588263" y="335292"/>
                  </a:lnTo>
                  <a:lnTo>
                    <a:pt x="487933" y="484962"/>
                  </a:lnTo>
                  <a:lnTo>
                    <a:pt x="99313" y="224510"/>
                  </a:lnTo>
                  <a:lnTo>
                    <a:pt x="49148" y="299339"/>
                  </a:lnTo>
                  <a:lnTo>
                    <a:pt x="0" y="49504"/>
                  </a:lnTo>
                  <a:close/>
                </a:path>
              </a:pathLst>
            </a:custGeom>
            <a:ln w="9525">
              <a:solidFill>
                <a:srgbClr val="40458B"/>
              </a:solidFill>
            </a:ln>
          </p:spPr>
          <p:txBody>
            <a:bodyPr wrap="square" lIns="0" tIns="0" rIns="0" bIns="0" rtlCol="0"/>
            <a:lstStyle/>
            <a:p/>
          </p:txBody>
        </p:sp>
      </p:grpSp>
      <p:sp>
        <p:nvSpPr>
          <p:cNvPr id="15" name="object 15" descr=""/>
          <p:cNvSpPr txBox="1"/>
          <p:nvPr/>
        </p:nvSpPr>
        <p:spPr>
          <a:xfrm>
            <a:off x="296367" y="6115303"/>
            <a:ext cx="2463800"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FF0000"/>
                </a:solidFill>
                <a:latin typeface="黑体"/>
                <a:cs typeface="黑体"/>
              </a:rPr>
              <a:t>存在大量空转气泡</a:t>
            </a:r>
            <a:endParaRPr sz="2400">
              <a:latin typeface="黑体"/>
              <a:cs typeface="黑体"/>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100/89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320141" y="129921"/>
            <a:ext cx="1701800" cy="391160"/>
          </a:xfrm>
          <a:prstGeom prst="rect">
            <a:avLst/>
          </a:prstGeom>
        </p:spPr>
        <p:txBody>
          <a:bodyPr wrap="square" lIns="0" tIns="12700" rIns="0" bIns="0" rtlCol="0" vert="horz">
            <a:spAutoFit/>
          </a:bodyPr>
          <a:lstStyle/>
          <a:p>
            <a:pPr marL="12700">
              <a:lnSpc>
                <a:spcPct val="100000"/>
              </a:lnSpc>
              <a:spcBef>
                <a:spcPts val="100"/>
              </a:spcBef>
              <a:tabLst>
                <a:tab pos="469265" algn="l"/>
              </a:tabLst>
            </a:pPr>
            <a:r>
              <a:rPr dirty="0" sz="2400" spc="-25">
                <a:solidFill>
                  <a:srgbClr val="40458B"/>
                </a:solidFill>
                <a:latin typeface="Tahoma"/>
                <a:cs typeface="Tahoma"/>
              </a:rPr>
              <a:t>2.</a:t>
            </a:r>
            <a:r>
              <a:rPr dirty="0" sz="2400">
                <a:solidFill>
                  <a:srgbClr val="40458B"/>
                </a:solidFill>
                <a:latin typeface="Tahoma"/>
                <a:cs typeface="Tahoma"/>
              </a:rPr>
              <a:t>	</a:t>
            </a:r>
            <a:r>
              <a:rPr dirty="0" sz="2400" spc="-15">
                <a:solidFill>
                  <a:srgbClr val="E14B04"/>
                </a:solidFill>
                <a:latin typeface="黑体"/>
                <a:cs typeface="黑体"/>
              </a:rPr>
              <a:t>实例分析</a:t>
            </a:r>
            <a:endParaRPr sz="2400">
              <a:latin typeface="黑体"/>
              <a:cs typeface="黑体"/>
            </a:endParaRPr>
          </a:p>
        </p:txBody>
      </p:sp>
      <p:sp>
        <p:nvSpPr>
          <p:cNvPr id="10" name="object 10"/>
          <p:cNvSpPr txBox="1">
            <a:spLocks noGrp="1"/>
          </p:cNvSpPr>
          <p:nvPr>
            <p:ph type="title"/>
          </p:nvPr>
        </p:nvSpPr>
        <p:spPr>
          <a:xfrm>
            <a:off x="320141" y="505166"/>
            <a:ext cx="9224010" cy="829944"/>
          </a:xfrm>
          <a:prstGeom prst="rect"/>
        </p:spPr>
        <p:txBody>
          <a:bodyPr wrap="square" lIns="0" tIns="12065" rIns="0" bIns="0" rtlCol="0" vert="horz">
            <a:spAutoFit/>
          </a:bodyPr>
          <a:lstStyle/>
          <a:p>
            <a:pPr marL="12700" marR="5080">
              <a:lnSpc>
                <a:spcPct val="110000"/>
              </a:lnSpc>
              <a:spcBef>
                <a:spcPts val="95"/>
              </a:spcBef>
            </a:pPr>
            <a:r>
              <a:rPr dirty="0" u="none" sz="2400" spc="-20" b="1">
                <a:solidFill>
                  <a:srgbClr val="E14B04"/>
                </a:solidFill>
                <a:latin typeface="宋体"/>
                <a:cs typeface="宋体"/>
              </a:rPr>
              <a:t>例</a:t>
            </a:r>
            <a:r>
              <a:rPr dirty="0" u="none" sz="2400" b="1">
                <a:solidFill>
                  <a:srgbClr val="E14B04"/>
                </a:solidFill>
                <a:latin typeface="宋体"/>
                <a:cs typeface="宋体"/>
              </a:rPr>
              <a:t>6.11 </a:t>
            </a:r>
            <a:r>
              <a:rPr dirty="0" u="none" sz="2400" spc="-20" b="1">
                <a:solidFill>
                  <a:srgbClr val="000000"/>
                </a:solidFill>
                <a:latin typeface="宋体"/>
                <a:cs typeface="宋体"/>
              </a:rPr>
              <a:t>试用软流水技术处理例</a:t>
            </a:r>
            <a:r>
              <a:rPr dirty="0" u="none" sz="2400" spc="-20" b="1">
                <a:solidFill>
                  <a:srgbClr val="6600FF"/>
                </a:solidFill>
                <a:latin typeface="宋体"/>
                <a:cs typeface="宋体"/>
              </a:rPr>
              <a:t>6.1</a:t>
            </a:r>
            <a:r>
              <a:rPr dirty="0" u="none" sz="2400" spc="-20" b="1">
                <a:solidFill>
                  <a:srgbClr val="000000"/>
                </a:solidFill>
                <a:latin typeface="宋体"/>
                <a:cs typeface="宋体"/>
              </a:rPr>
              <a:t>中的循环，假设数组</a:t>
            </a:r>
            <a:r>
              <a:rPr dirty="0" u="none" sz="2400" spc="-20" b="1">
                <a:solidFill>
                  <a:srgbClr val="6600FF"/>
                </a:solidFill>
                <a:latin typeface="宋体"/>
                <a:cs typeface="宋体"/>
              </a:rPr>
              <a:t>x</a:t>
            </a:r>
            <a:r>
              <a:rPr dirty="0" u="none" sz="2400" spc="-20" b="1">
                <a:solidFill>
                  <a:srgbClr val="000000"/>
                </a:solidFill>
                <a:latin typeface="宋体"/>
                <a:cs typeface="宋体"/>
              </a:rPr>
              <a:t>有</a:t>
            </a:r>
            <a:r>
              <a:rPr dirty="0" u="none" sz="2400" spc="-20" b="1">
                <a:solidFill>
                  <a:srgbClr val="6600FF"/>
                </a:solidFill>
                <a:latin typeface="宋体"/>
                <a:cs typeface="宋体"/>
              </a:rPr>
              <a:t>n</a:t>
            </a:r>
            <a:r>
              <a:rPr dirty="0" u="none" sz="2400" spc="-30" b="1">
                <a:solidFill>
                  <a:srgbClr val="000000"/>
                </a:solidFill>
                <a:latin typeface="宋体"/>
                <a:cs typeface="宋体"/>
              </a:rPr>
              <a:t>个元素。</a:t>
            </a:r>
            <a:r>
              <a:rPr dirty="0" u="none" sz="2400" spc="70" b="1">
                <a:solidFill>
                  <a:srgbClr val="E14B04"/>
                </a:solidFill>
                <a:latin typeface="宋体"/>
                <a:cs typeface="宋体"/>
              </a:rPr>
              <a:t>解 </a:t>
            </a:r>
            <a:r>
              <a:rPr dirty="0" u="none" sz="2400" spc="-30" b="1">
                <a:solidFill>
                  <a:srgbClr val="000000"/>
                </a:solidFill>
                <a:latin typeface="宋体"/>
                <a:cs typeface="宋体"/>
              </a:rPr>
              <a:t>软流水需要从原循环的多个迭代中选择指令拼成新的循环，因此</a:t>
            </a:r>
            <a:endParaRPr sz="2400">
              <a:latin typeface="宋体"/>
              <a:cs typeface="宋体"/>
            </a:endParaRPr>
          </a:p>
        </p:txBody>
      </p:sp>
      <p:sp>
        <p:nvSpPr>
          <p:cNvPr id="11" name="object 11" descr=""/>
          <p:cNvSpPr txBox="1"/>
          <p:nvPr/>
        </p:nvSpPr>
        <p:spPr>
          <a:xfrm>
            <a:off x="1406778" y="1712555"/>
            <a:ext cx="4284980" cy="829944"/>
          </a:xfrm>
          <a:prstGeom prst="rect">
            <a:avLst/>
          </a:prstGeom>
        </p:spPr>
        <p:txBody>
          <a:bodyPr wrap="square" lIns="0" tIns="48895" rIns="0" bIns="0" rtlCol="0" vert="horz">
            <a:spAutoFit/>
          </a:bodyPr>
          <a:lstStyle/>
          <a:p>
            <a:pPr marL="12700">
              <a:lnSpc>
                <a:spcPct val="100000"/>
              </a:lnSpc>
              <a:spcBef>
                <a:spcPts val="385"/>
              </a:spcBef>
              <a:tabLst>
                <a:tab pos="1669414" algn="l"/>
              </a:tabLst>
            </a:pPr>
            <a:r>
              <a:rPr dirty="0" sz="2400" spc="-20" b="1">
                <a:latin typeface="宋体"/>
                <a:cs typeface="宋体"/>
              </a:rPr>
              <a:t>迭代</a:t>
            </a:r>
            <a:r>
              <a:rPr dirty="0" sz="2400" spc="-25" b="1">
                <a:latin typeface="宋体"/>
                <a:cs typeface="宋体"/>
              </a:rPr>
              <a:t>i：</a:t>
            </a:r>
            <a:r>
              <a:rPr dirty="0" sz="2400" b="1">
                <a:latin typeface="宋体"/>
                <a:cs typeface="宋体"/>
              </a:rPr>
              <a:t>	</a:t>
            </a:r>
            <a:r>
              <a:rPr dirty="0" sz="2400" spc="-20" b="1">
                <a:latin typeface="宋体"/>
                <a:cs typeface="宋体"/>
              </a:rPr>
              <a:t>；修改x[i]并保</a:t>
            </a:r>
            <a:r>
              <a:rPr dirty="0" sz="2400" spc="-50" b="1">
                <a:latin typeface="宋体"/>
                <a:cs typeface="宋体"/>
              </a:rPr>
              <a:t>存</a:t>
            </a:r>
            <a:endParaRPr sz="2400">
              <a:latin typeface="宋体"/>
              <a:cs typeface="宋体"/>
            </a:endParaRPr>
          </a:p>
          <a:p>
            <a:pPr marL="1669414">
              <a:lnSpc>
                <a:spcPct val="100000"/>
              </a:lnSpc>
              <a:spcBef>
                <a:spcPts val="285"/>
              </a:spcBef>
              <a:tabLst>
                <a:tab pos="2583815" algn="l"/>
              </a:tabLst>
            </a:pPr>
            <a:r>
              <a:rPr dirty="0" sz="2400" spc="-25" b="1">
                <a:solidFill>
                  <a:srgbClr val="0000CC"/>
                </a:solidFill>
                <a:latin typeface="宋体"/>
                <a:cs typeface="宋体"/>
              </a:rPr>
              <a:t>L.D</a:t>
            </a:r>
            <a:r>
              <a:rPr dirty="0" sz="2400" b="1">
                <a:solidFill>
                  <a:srgbClr val="0000CC"/>
                </a:solidFill>
                <a:latin typeface="宋体"/>
                <a:cs typeface="宋体"/>
              </a:rPr>
              <a:t>	</a:t>
            </a:r>
            <a:r>
              <a:rPr dirty="0" sz="2400" spc="-10" b="1">
                <a:solidFill>
                  <a:srgbClr val="0000CC"/>
                </a:solidFill>
                <a:latin typeface="宋体"/>
                <a:cs typeface="宋体"/>
              </a:rPr>
              <a:t>F0，0（R1）</a:t>
            </a:r>
            <a:endParaRPr sz="2400">
              <a:latin typeface="宋体"/>
              <a:cs typeface="宋体"/>
            </a:endParaRPr>
          </a:p>
        </p:txBody>
      </p:sp>
      <p:sp>
        <p:nvSpPr>
          <p:cNvPr id="12" name="object 12" descr=""/>
          <p:cNvSpPr txBox="1"/>
          <p:nvPr/>
        </p:nvSpPr>
        <p:spPr>
          <a:xfrm>
            <a:off x="1406778" y="3358083"/>
            <a:ext cx="1405255" cy="391795"/>
          </a:xfrm>
          <a:prstGeom prst="rect">
            <a:avLst/>
          </a:prstGeom>
        </p:spPr>
        <p:txBody>
          <a:bodyPr wrap="square" lIns="0" tIns="12700" rIns="0" bIns="0" rtlCol="0" vert="horz">
            <a:spAutoFit/>
          </a:bodyPr>
          <a:lstStyle/>
          <a:p>
            <a:pPr marL="12700">
              <a:lnSpc>
                <a:spcPct val="100000"/>
              </a:lnSpc>
              <a:spcBef>
                <a:spcPts val="100"/>
              </a:spcBef>
            </a:pPr>
            <a:r>
              <a:rPr dirty="0" sz="2400" spc="-25" b="1">
                <a:latin typeface="宋体"/>
                <a:cs typeface="宋体"/>
              </a:rPr>
              <a:t>迭代</a:t>
            </a:r>
            <a:r>
              <a:rPr dirty="0" sz="2400" spc="-20" b="1">
                <a:latin typeface="宋体"/>
                <a:cs typeface="宋体"/>
              </a:rPr>
              <a:t>i+1：</a:t>
            </a:r>
            <a:endParaRPr sz="2400">
              <a:latin typeface="宋体"/>
              <a:cs typeface="宋体"/>
            </a:endParaRPr>
          </a:p>
        </p:txBody>
      </p:sp>
      <p:sp>
        <p:nvSpPr>
          <p:cNvPr id="13" name="object 13" descr=""/>
          <p:cNvSpPr txBox="1"/>
          <p:nvPr/>
        </p:nvSpPr>
        <p:spPr>
          <a:xfrm>
            <a:off x="1406778" y="4967681"/>
            <a:ext cx="1405255" cy="391795"/>
          </a:xfrm>
          <a:prstGeom prst="rect">
            <a:avLst/>
          </a:prstGeom>
        </p:spPr>
        <p:txBody>
          <a:bodyPr wrap="square" lIns="0" tIns="12700" rIns="0" bIns="0" rtlCol="0" vert="horz">
            <a:spAutoFit/>
          </a:bodyPr>
          <a:lstStyle/>
          <a:p>
            <a:pPr marL="12700">
              <a:lnSpc>
                <a:spcPct val="100000"/>
              </a:lnSpc>
              <a:spcBef>
                <a:spcPts val="100"/>
              </a:spcBef>
            </a:pPr>
            <a:r>
              <a:rPr dirty="0" sz="2400" spc="-25" b="1">
                <a:latin typeface="宋体"/>
                <a:cs typeface="宋体"/>
              </a:rPr>
              <a:t>迭代</a:t>
            </a:r>
            <a:r>
              <a:rPr dirty="0" sz="2400" spc="-20" b="1">
                <a:latin typeface="宋体"/>
                <a:cs typeface="宋体"/>
              </a:rPr>
              <a:t>i+2：</a:t>
            </a:r>
            <a:endParaRPr sz="2400">
              <a:latin typeface="宋体"/>
              <a:cs typeface="宋体"/>
            </a:endParaRPr>
          </a:p>
        </p:txBody>
      </p:sp>
      <p:sp>
        <p:nvSpPr>
          <p:cNvPr id="14" name="object 14" descr=""/>
          <p:cNvSpPr txBox="1"/>
          <p:nvPr/>
        </p:nvSpPr>
        <p:spPr>
          <a:xfrm>
            <a:off x="3063620" y="2534654"/>
            <a:ext cx="2787650" cy="4032250"/>
          </a:xfrm>
          <a:prstGeom prst="rect">
            <a:avLst/>
          </a:prstGeom>
        </p:spPr>
        <p:txBody>
          <a:bodyPr wrap="square" lIns="0" tIns="31750" rIns="0" bIns="0" rtlCol="0" vert="horz">
            <a:spAutoFit/>
          </a:bodyPr>
          <a:lstStyle/>
          <a:p>
            <a:pPr marL="12700">
              <a:lnSpc>
                <a:spcPct val="100000"/>
              </a:lnSpc>
              <a:spcBef>
                <a:spcPts val="250"/>
              </a:spcBef>
            </a:pPr>
            <a:r>
              <a:rPr dirty="0" sz="2400" b="1">
                <a:solidFill>
                  <a:srgbClr val="0000CC"/>
                </a:solidFill>
                <a:latin typeface="宋体"/>
                <a:cs typeface="宋体"/>
              </a:rPr>
              <a:t>ADD.D</a:t>
            </a:r>
            <a:r>
              <a:rPr dirty="0" sz="2400" spc="-140" b="1">
                <a:solidFill>
                  <a:srgbClr val="0000CC"/>
                </a:solidFill>
                <a:latin typeface="宋体"/>
                <a:cs typeface="宋体"/>
              </a:rPr>
              <a:t> </a:t>
            </a:r>
            <a:r>
              <a:rPr dirty="0" sz="2400" spc="-10" b="1">
                <a:solidFill>
                  <a:srgbClr val="0000CC"/>
                </a:solidFill>
                <a:latin typeface="宋体"/>
                <a:cs typeface="宋体"/>
              </a:rPr>
              <a:t>F4，F0，F2</a:t>
            </a:r>
            <a:endParaRPr sz="2400">
              <a:latin typeface="宋体"/>
              <a:cs typeface="宋体"/>
            </a:endParaRPr>
          </a:p>
          <a:p>
            <a:pPr marL="12700">
              <a:lnSpc>
                <a:spcPct val="100000"/>
              </a:lnSpc>
              <a:spcBef>
                <a:spcPts val="185"/>
              </a:spcBef>
              <a:tabLst>
                <a:tab pos="926465" algn="l"/>
              </a:tabLst>
            </a:pPr>
            <a:r>
              <a:rPr dirty="0" sz="2500" spc="-25" b="1" i="1">
                <a:solidFill>
                  <a:srgbClr val="FF09FF"/>
                </a:solidFill>
                <a:latin typeface="宋体"/>
                <a:cs typeface="宋体"/>
              </a:rPr>
              <a:t>S.D</a:t>
            </a:r>
            <a:r>
              <a:rPr dirty="0" sz="2500" b="1" i="1">
                <a:solidFill>
                  <a:srgbClr val="FF09FF"/>
                </a:solidFill>
                <a:latin typeface="宋体"/>
                <a:cs typeface="宋体"/>
              </a:rPr>
              <a:t>	</a:t>
            </a:r>
            <a:r>
              <a:rPr dirty="0" sz="2500" spc="-10" b="1" i="1">
                <a:solidFill>
                  <a:srgbClr val="FF09FF"/>
                </a:solidFill>
                <a:latin typeface="宋体"/>
                <a:cs typeface="宋体"/>
              </a:rPr>
              <a:t>F4，0（R1）</a:t>
            </a:r>
            <a:endParaRPr sz="2500">
              <a:latin typeface="宋体"/>
              <a:cs typeface="宋体"/>
            </a:endParaRPr>
          </a:p>
          <a:p>
            <a:pPr marL="12700">
              <a:lnSpc>
                <a:spcPct val="100000"/>
              </a:lnSpc>
              <a:spcBef>
                <a:spcPts val="270"/>
              </a:spcBef>
            </a:pPr>
            <a:r>
              <a:rPr dirty="0" sz="2400" spc="-25" b="1">
                <a:latin typeface="宋体"/>
                <a:cs typeface="宋体"/>
              </a:rPr>
              <a:t>；修改</a:t>
            </a:r>
            <a:r>
              <a:rPr dirty="0" sz="2400" spc="-10" b="1">
                <a:latin typeface="宋体"/>
                <a:cs typeface="宋体"/>
              </a:rPr>
              <a:t>x[i-1]</a:t>
            </a:r>
            <a:r>
              <a:rPr dirty="0" sz="2400" spc="-35" b="1">
                <a:latin typeface="宋体"/>
                <a:cs typeface="宋体"/>
              </a:rPr>
              <a:t>并保存</a:t>
            </a:r>
            <a:endParaRPr sz="2400">
              <a:latin typeface="宋体"/>
              <a:cs typeface="宋体"/>
            </a:endParaRPr>
          </a:p>
          <a:p>
            <a:pPr marL="12700">
              <a:lnSpc>
                <a:spcPct val="100000"/>
              </a:lnSpc>
              <a:spcBef>
                <a:spcPts val="290"/>
              </a:spcBef>
              <a:tabLst>
                <a:tab pos="926465" algn="l"/>
              </a:tabLst>
            </a:pPr>
            <a:r>
              <a:rPr dirty="0" sz="2400" spc="-25" b="1">
                <a:solidFill>
                  <a:srgbClr val="0000CC"/>
                </a:solidFill>
                <a:latin typeface="宋体"/>
                <a:cs typeface="宋体"/>
              </a:rPr>
              <a:t>L.D</a:t>
            </a:r>
            <a:r>
              <a:rPr dirty="0" sz="2400" b="1">
                <a:solidFill>
                  <a:srgbClr val="0000CC"/>
                </a:solidFill>
                <a:latin typeface="宋体"/>
                <a:cs typeface="宋体"/>
              </a:rPr>
              <a:t>	</a:t>
            </a:r>
            <a:r>
              <a:rPr dirty="0" sz="2400" spc="-10" b="1">
                <a:solidFill>
                  <a:srgbClr val="0000CC"/>
                </a:solidFill>
                <a:latin typeface="宋体"/>
                <a:cs typeface="宋体"/>
              </a:rPr>
              <a:t>F0，0（R1）</a:t>
            </a:r>
            <a:endParaRPr sz="2400">
              <a:latin typeface="宋体"/>
              <a:cs typeface="宋体"/>
            </a:endParaRPr>
          </a:p>
          <a:p>
            <a:pPr marL="12700">
              <a:lnSpc>
                <a:spcPct val="100000"/>
              </a:lnSpc>
              <a:spcBef>
                <a:spcPts val="190"/>
              </a:spcBef>
            </a:pPr>
            <a:r>
              <a:rPr dirty="0" sz="2500" spc="-20" b="1" i="1">
                <a:solidFill>
                  <a:srgbClr val="FF09FF"/>
                </a:solidFill>
                <a:latin typeface="宋体"/>
                <a:cs typeface="宋体"/>
              </a:rPr>
              <a:t>ADD.D</a:t>
            </a:r>
            <a:r>
              <a:rPr dirty="0" sz="2500" spc="-285" b="1" i="1">
                <a:solidFill>
                  <a:srgbClr val="FF09FF"/>
                </a:solidFill>
                <a:latin typeface="宋体"/>
                <a:cs typeface="宋体"/>
              </a:rPr>
              <a:t> </a:t>
            </a:r>
            <a:r>
              <a:rPr dirty="0" sz="2500" spc="-10" b="1" i="1">
                <a:solidFill>
                  <a:srgbClr val="FF09FF"/>
                </a:solidFill>
                <a:latin typeface="宋体"/>
                <a:cs typeface="宋体"/>
              </a:rPr>
              <a:t>F4，F0，F2</a:t>
            </a:r>
            <a:endParaRPr sz="2500">
              <a:latin typeface="宋体"/>
              <a:cs typeface="宋体"/>
            </a:endParaRPr>
          </a:p>
          <a:p>
            <a:pPr marL="12700">
              <a:lnSpc>
                <a:spcPct val="100000"/>
              </a:lnSpc>
              <a:spcBef>
                <a:spcPts val="265"/>
              </a:spcBef>
              <a:tabLst>
                <a:tab pos="926465" algn="l"/>
              </a:tabLst>
            </a:pPr>
            <a:r>
              <a:rPr dirty="0" sz="2400" spc="-25" b="1">
                <a:solidFill>
                  <a:srgbClr val="0000CC"/>
                </a:solidFill>
                <a:latin typeface="宋体"/>
                <a:cs typeface="宋体"/>
              </a:rPr>
              <a:t>S.D</a:t>
            </a:r>
            <a:r>
              <a:rPr dirty="0" sz="2400" b="1">
                <a:solidFill>
                  <a:srgbClr val="0000CC"/>
                </a:solidFill>
                <a:latin typeface="宋体"/>
                <a:cs typeface="宋体"/>
              </a:rPr>
              <a:t>	</a:t>
            </a:r>
            <a:r>
              <a:rPr dirty="0" sz="2400" spc="-10" b="1">
                <a:solidFill>
                  <a:srgbClr val="0000CC"/>
                </a:solidFill>
                <a:latin typeface="宋体"/>
                <a:cs typeface="宋体"/>
              </a:rPr>
              <a:t>F4，0（R1）</a:t>
            </a:r>
            <a:endParaRPr sz="2400">
              <a:latin typeface="宋体"/>
              <a:cs typeface="宋体"/>
            </a:endParaRPr>
          </a:p>
          <a:p>
            <a:pPr marL="12700">
              <a:lnSpc>
                <a:spcPct val="100000"/>
              </a:lnSpc>
              <a:spcBef>
                <a:spcPts val="290"/>
              </a:spcBef>
            </a:pPr>
            <a:r>
              <a:rPr dirty="0" sz="2400" spc="-25" b="1">
                <a:latin typeface="宋体"/>
                <a:cs typeface="宋体"/>
              </a:rPr>
              <a:t>；修改</a:t>
            </a:r>
            <a:r>
              <a:rPr dirty="0" sz="2400" spc="-10" b="1">
                <a:latin typeface="宋体"/>
                <a:cs typeface="宋体"/>
              </a:rPr>
              <a:t>x[i-2]</a:t>
            </a:r>
            <a:r>
              <a:rPr dirty="0" sz="2400" spc="-35" b="1">
                <a:latin typeface="宋体"/>
                <a:cs typeface="宋体"/>
              </a:rPr>
              <a:t>并保存</a:t>
            </a:r>
            <a:endParaRPr sz="2400">
              <a:latin typeface="宋体"/>
              <a:cs typeface="宋体"/>
            </a:endParaRPr>
          </a:p>
          <a:p>
            <a:pPr marL="12700">
              <a:lnSpc>
                <a:spcPct val="100000"/>
              </a:lnSpc>
              <a:spcBef>
                <a:spcPts val="190"/>
              </a:spcBef>
              <a:tabLst>
                <a:tab pos="926465" algn="l"/>
              </a:tabLst>
            </a:pPr>
            <a:r>
              <a:rPr dirty="0" sz="2500" spc="-25" b="1" i="1">
                <a:solidFill>
                  <a:srgbClr val="FF09FF"/>
                </a:solidFill>
                <a:latin typeface="宋体"/>
                <a:cs typeface="宋体"/>
              </a:rPr>
              <a:t>L.D</a:t>
            </a:r>
            <a:r>
              <a:rPr dirty="0" sz="2500" b="1" i="1">
                <a:solidFill>
                  <a:srgbClr val="FF09FF"/>
                </a:solidFill>
                <a:latin typeface="宋体"/>
                <a:cs typeface="宋体"/>
              </a:rPr>
              <a:t>	</a:t>
            </a:r>
            <a:r>
              <a:rPr dirty="0" sz="2500" spc="-10" b="1" i="1">
                <a:solidFill>
                  <a:srgbClr val="FF09FF"/>
                </a:solidFill>
                <a:latin typeface="宋体"/>
                <a:cs typeface="宋体"/>
              </a:rPr>
              <a:t>F0，0（R1）</a:t>
            </a:r>
            <a:endParaRPr sz="2500">
              <a:latin typeface="宋体"/>
              <a:cs typeface="宋体"/>
            </a:endParaRPr>
          </a:p>
          <a:p>
            <a:pPr marL="12700">
              <a:lnSpc>
                <a:spcPct val="100000"/>
              </a:lnSpc>
              <a:spcBef>
                <a:spcPts val="265"/>
              </a:spcBef>
            </a:pPr>
            <a:r>
              <a:rPr dirty="0" sz="2400" b="1">
                <a:solidFill>
                  <a:srgbClr val="0000CC"/>
                </a:solidFill>
                <a:latin typeface="宋体"/>
                <a:cs typeface="宋体"/>
              </a:rPr>
              <a:t>ADD.D</a:t>
            </a:r>
            <a:r>
              <a:rPr dirty="0" sz="2400" spc="-140" b="1">
                <a:solidFill>
                  <a:srgbClr val="0000CC"/>
                </a:solidFill>
                <a:latin typeface="宋体"/>
                <a:cs typeface="宋体"/>
              </a:rPr>
              <a:t> </a:t>
            </a:r>
            <a:r>
              <a:rPr dirty="0" sz="2400" spc="-10" b="1">
                <a:solidFill>
                  <a:srgbClr val="0000CC"/>
                </a:solidFill>
                <a:latin typeface="宋体"/>
                <a:cs typeface="宋体"/>
              </a:rPr>
              <a:t>F4，F0，F2</a:t>
            </a:r>
            <a:endParaRPr sz="2400">
              <a:latin typeface="宋体"/>
              <a:cs typeface="宋体"/>
            </a:endParaRPr>
          </a:p>
          <a:p>
            <a:pPr marL="12700">
              <a:lnSpc>
                <a:spcPct val="100000"/>
              </a:lnSpc>
              <a:spcBef>
                <a:spcPts val="290"/>
              </a:spcBef>
              <a:tabLst>
                <a:tab pos="926465" algn="l"/>
              </a:tabLst>
            </a:pPr>
            <a:r>
              <a:rPr dirty="0" sz="2400" spc="-25" b="1">
                <a:solidFill>
                  <a:srgbClr val="0000CC"/>
                </a:solidFill>
                <a:latin typeface="宋体"/>
                <a:cs typeface="宋体"/>
              </a:rPr>
              <a:t>S.D</a:t>
            </a:r>
            <a:r>
              <a:rPr dirty="0" sz="2400" b="1">
                <a:solidFill>
                  <a:srgbClr val="0000CC"/>
                </a:solidFill>
                <a:latin typeface="宋体"/>
                <a:cs typeface="宋体"/>
              </a:rPr>
              <a:t>	</a:t>
            </a:r>
            <a:r>
              <a:rPr dirty="0" sz="2400" spc="-10" b="1">
                <a:solidFill>
                  <a:srgbClr val="0000CC"/>
                </a:solidFill>
                <a:latin typeface="宋体"/>
                <a:cs typeface="宋体"/>
              </a:rPr>
              <a:t>F4，0（R1）</a:t>
            </a:r>
            <a:endParaRPr sz="2400">
              <a:latin typeface="宋体"/>
              <a:cs typeface="宋体"/>
            </a:endParaRPr>
          </a:p>
        </p:txBody>
      </p:sp>
      <p:grpSp>
        <p:nvGrpSpPr>
          <p:cNvPr id="15" name="object 15" descr=""/>
          <p:cNvGrpSpPr/>
          <p:nvPr/>
        </p:nvGrpSpPr>
        <p:grpSpPr>
          <a:xfrm>
            <a:off x="5761926" y="1815274"/>
            <a:ext cx="664210" cy="368300"/>
            <a:chOff x="5761926" y="1815274"/>
            <a:chExt cx="664210" cy="368300"/>
          </a:xfrm>
        </p:grpSpPr>
        <p:sp>
          <p:nvSpPr>
            <p:cNvPr id="16" name="object 16" descr=""/>
            <p:cNvSpPr/>
            <p:nvPr/>
          </p:nvSpPr>
          <p:spPr>
            <a:xfrm>
              <a:off x="5766689" y="1820036"/>
              <a:ext cx="654685" cy="358775"/>
            </a:xfrm>
            <a:custGeom>
              <a:avLst/>
              <a:gdLst/>
              <a:ahLst/>
              <a:cxnLst/>
              <a:rect l="l" t="t" r="r" b="b"/>
              <a:pathLst>
                <a:path w="654685" h="358775">
                  <a:moveTo>
                    <a:pt x="482346" y="0"/>
                  </a:moveTo>
                  <a:lnTo>
                    <a:pt x="478027" y="89662"/>
                  </a:lnTo>
                  <a:lnTo>
                    <a:pt x="8509" y="67055"/>
                  </a:lnTo>
                  <a:lnTo>
                    <a:pt x="0" y="246252"/>
                  </a:lnTo>
                  <a:lnTo>
                    <a:pt x="469519" y="268859"/>
                  </a:lnTo>
                  <a:lnTo>
                    <a:pt x="465200" y="358393"/>
                  </a:lnTo>
                  <a:lnTo>
                    <a:pt x="654431" y="187960"/>
                  </a:lnTo>
                  <a:lnTo>
                    <a:pt x="482346" y="0"/>
                  </a:lnTo>
                  <a:close/>
                </a:path>
              </a:pathLst>
            </a:custGeom>
            <a:solidFill>
              <a:srgbClr val="EBD782"/>
            </a:solidFill>
          </p:spPr>
          <p:txBody>
            <a:bodyPr wrap="square" lIns="0" tIns="0" rIns="0" bIns="0" rtlCol="0"/>
            <a:lstStyle/>
            <a:p/>
          </p:txBody>
        </p:sp>
        <p:sp>
          <p:nvSpPr>
            <p:cNvPr id="17" name="object 17" descr=""/>
            <p:cNvSpPr/>
            <p:nvPr/>
          </p:nvSpPr>
          <p:spPr>
            <a:xfrm>
              <a:off x="5766689" y="1820036"/>
              <a:ext cx="654685" cy="358775"/>
            </a:xfrm>
            <a:custGeom>
              <a:avLst/>
              <a:gdLst/>
              <a:ahLst/>
              <a:cxnLst/>
              <a:rect l="l" t="t" r="r" b="b"/>
              <a:pathLst>
                <a:path w="654685" h="358775">
                  <a:moveTo>
                    <a:pt x="654431" y="187960"/>
                  </a:moveTo>
                  <a:lnTo>
                    <a:pt x="465200" y="358393"/>
                  </a:lnTo>
                  <a:lnTo>
                    <a:pt x="469519" y="268859"/>
                  </a:lnTo>
                  <a:lnTo>
                    <a:pt x="0" y="246252"/>
                  </a:lnTo>
                  <a:lnTo>
                    <a:pt x="8509" y="67055"/>
                  </a:lnTo>
                  <a:lnTo>
                    <a:pt x="478027" y="89662"/>
                  </a:lnTo>
                  <a:lnTo>
                    <a:pt x="482346" y="0"/>
                  </a:lnTo>
                  <a:lnTo>
                    <a:pt x="654431" y="187960"/>
                  </a:lnTo>
                  <a:close/>
                </a:path>
              </a:pathLst>
            </a:custGeom>
            <a:ln w="9524">
              <a:solidFill>
                <a:srgbClr val="40458B"/>
              </a:solidFill>
            </a:ln>
          </p:spPr>
          <p:txBody>
            <a:bodyPr wrap="square" lIns="0" tIns="0" rIns="0" bIns="0" rtlCol="0"/>
            <a:lstStyle/>
            <a:p/>
          </p:txBody>
        </p:sp>
      </p:grpSp>
      <p:sp>
        <p:nvSpPr>
          <p:cNvPr id="18" name="object 18" descr=""/>
          <p:cNvSpPr txBox="1"/>
          <p:nvPr/>
        </p:nvSpPr>
        <p:spPr>
          <a:xfrm>
            <a:off x="119062" y="2730563"/>
            <a:ext cx="2232025" cy="462280"/>
          </a:xfrm>
          <a:prstGeom prst="rect">
            <a:avLst/>
          </a:prstGeom>
          <a:ln w="9525">
            <a:solidFill>
              <a:srgbClr val="FF0000"/>
            </a:solidFill>
          </a:ln>
        </p:spPr>
        <p:txBody>
          <a:bodyPr wrap="square" lIns="0" tIns="46355" rIns="0" bIns="0" rtlCol="0" vert="horz">
            <a:spAutoFit/>
          </a:bodyPr>
          <a:lstStyle/>
          <a:p>
            <a:pPr marL="91440">
              <a:lnSpc>
                <a:spcPct val="100000"/>
              </a:lnSpc>
              <a:spcBef>
                <a:spcPts val="365"/>
              </a:spcBef>
            </a:pPr>
            <a:r>
              <a:rPr dirty="0" sz="2400">
                <a:solidFill>
                  <a:srgbClr val="40458B"/>
                </a:solidFill>
                <a:latin typeface="黑体"/>
                <a:cs typeface="黑体"/>
              </a:rPr>
              <a:t>属于第</a:t>
            </a:r>
            <a:r>
              <a:rPr dirty="0" sz="2400" spc="-10">
                <a:solidFill>
                  <a:srgbClr val="40458B"/>
                </a:solidFill>
                <a:latin typeface="Tahoma"/>
                <a:cs typeface="Tahoma"/>
              </a:rPr>
              <a:t>i</a:t>
            </a:r>
            <a:r>
              <a:rPr dirty="0" sz="2400" spc="-20">
                <a:solidFill>
                  <a:srgbClr val="40458B"/>
                </a:solidFill>
                <a:latin typeface="黑体"/>
                <a:cs typeface="黑体"/>
              </a:rPr>
              <a:t>次迭代</a:t>
            </a:r>
            <a:endParaRPr sz="2400">
              <a:latin typeface="黑体"/>
              <a:cs typeface="黑体"/>
            </a:endParaRPr>
          </a:p>
        </p:txBody>
      </p:sp>
      <p:sp>
        <p:nvSpPr>
          <p:cNvPr id="19" name="object 19" descr=""/>
          <p:cNvSpPr txBox="1"/>
          <p:nvPr/>
        </p:nvSpPr>
        <p:spPr>
          <a:xfrm>
            <a:off x="781913" y="1346149"/>
            <a:ext cx="11054715" cy="391795"/>
          </a:xfrm>
          <a:prstGeom prst="rect">
            <a:avLst/>
          </a:prstGeom>
        </p:spPr>
        <p:txBody>
          <a:bodyPr wrap="square" lIns="0" tIns="12700" rIns="0" bIns="0" rtlCol="0" vert="horz">
            <a:spAutoFit/>
          </a:bodyPr>
          <a:lstStyle/>
          <a:p>
            <a:pPr marL="12700">
              <a:lnSpc>
                <a:spcPct val="100000"/>
              </a:lnSpc>
              <a:spcBef>
                <a:spcPts val="100"/>
              </a:spcBef>
              <a:tabLst>
                <a:tab pos="5554980" algn="l"/>
              </a:tabLst>
            </a:pPr>
            <a:r>
              <a:rPr dirty="0" sz="2400" spc="-20" b="1">
                <a:latin typeface="宋体"/>
                <a:cs typeface="宋体"/>
              </a:rPr>
              <a:t>我们首先将原循环展开</a:t>
            </a:r>
            <a:r>
              <a:rPr dirty="0" sz="2400" spc="-50" b="1">
                <a:latin typeface="宋体"/>
                <a:cs typeface="宋体"/>
              </a:rPr>
              <a:t>。</a:t>
            </a:r>
            <a:r>
              <a:rPr dirty="0" sz="2400" b="1">
                <a:latin typeface="宋体"/>
                <a:cs typeface="宋体"/>
              </a:rPr>
              <a:t>	</a:t>
            </a:r>
            <a:r>
              <a:rPr dirty="0" baseline="1157" sz="3600" spc="-15">
                <a:solidFill>
                  <a:srgbClr val="FF0000"/>
                </a:solidFill>
                <a:latin typeface="黑体"/>
                <a:cs typeface="黑体"/>
              </a:rPr>
              <a:t>原始代码中数据相关，存在大量空转气</a:t>
            </a:r>
            <a:r>
              <a:rPr dirty="0" baseline="1157" sz="3600" spc="-75">
                <a:solidFill>
                  <a:srgbClr val="FF0000"/>
                </a:solidFill>
                <a:latin typeface="黑体"/>
                <a:cs typeface="黑体"/>
              </a:rPr>
              <a:t>泡</a:t>
            </a:r>
            <a:endParaRPr baseline="1157" sz="3600">
              <a:latin typeface="黑体"/>
              <a:cs typeface="黑体"/>
            </a:endParaRPr>
          </a:p>
        </p:txBody>
      </p:sp>
      <p:sp>
        <p:nvSpPr>
          <p:cNvPr id="20" name="object 20" descr=""/>
          <p:cNvSpPr txBox="1"/>
          <p:nvPr/>
        </p:nvSpPr>
        <p:spPr>
          <a:xfrm>
            <a:off x="6324727" y="2093467"/>
            <a:ext cx="5511800" cy="734060"/>
          </a:xfrm>
          <a:prstGeom prst="rect">
            <a:avLst/>
          </a:prstGeom>
        </p:spPr>
        <p:txBody>
          <a:bodyPr wrap="square" lIns="0" tIns="43180" rIns="0" bIns="0" rtlCol="0" vert="horz">
            <a:spAutoFit/>
          </a:bodyPr>
          <a:lstStyle/>
          <a:p>
            <a:pPr marL="12700" marR="5080">
              <a:lnSpc>
                <a:spcPts val="2700"/>
              </a:lnSpc>
              <a:spcBef>
                <a:spcPts val="340"/>
              </a:spcBef>
            </a:pPr>
            <a:r>
              <a:rPr dirty="0" sz="2400" spc="-5">
                <a:solidFill>
                  <a:srgbClr val="FF0000"/>
                </a:solidFill>
                <a:latin typeface="黑体"/>
                <a:cs typeface="黑体"/>
              </a:rPr>
              <a:t>按照软流水操作：先取每个循环中的一部</a:t>
            </a:r>
            <a:r>
              <a:rPr dirty="0" sz="2400">
                <a:solidFill>
                  <a:srgbClr val="FF0000"/>
                </a:solidFill>
                <a:latin typeface="黑体"/>
                <a:cs typeface="黑体"/>
              </a:rPr>
              <a:t>分代码作为一个循环体，假设第</a:t>
            </a:r>
            <a:r>
              <a:rPr dirty="0" sz="2400">
                <a:solidFill>
                  <a:srgbClr val="FF0000"/>
                </a:solidFill>
                <a:latin typeface="Calibri"/>
                <a:cs typeface="Calibri"/>
              </a:rPr>
              <a:t>i</a:t>
            </a:r>
            <a:r>
              <a:rPr dirty="0" sz="2400" spc="-20">
                <a:solidFill>
                  <a:srgbClr val="FF0000"/>
                </a:solidFill>
                <a:latin typeface="黑体"/>
                <a:cs typeface="黑体"/>
              </a:rPr>
              <a:t>次循环</a:t>
            </a:r>
            <a:endParaRPr sz="2400">
              <a:latin typeface="黑体"/>
              <a:cs typeface="黑体"/>
            </a:endParaRPr>
          </a:p>
        </p:txBody>
      </p:sp>
      <p:sp>
        <p:nvSpPr>
          <p:cNvPr id="21" name="object 21" descr=""/>
          <p:cNvSpPr/>
          <p:nvPr/>
        </p:nvSpPr>
        <p:spPr>
          <a:xfrm>
            <a:off x="47625" y="4005262"/>
            <a:ext cx="2519680" cy="462280"/>
          </a:xfrm>
          <a:custGeom>
            <a:avLst/>
            <a:gdLst/>
            <a:ahLst/>
            <a:cxnLst/>
            <a:rect l="l" t="t" r="r" b="b"/>
            <a:pathLst>
              <a:path w="2519680" h="462279">
                <a:moveTo>
                  <a:pt x="0" y="461962"/>
                </a:moveTo>
                <a:lnTo>
                  <a:pt x="2519426" y="461962"/>
                </a:lnTo>
                <a:lnTo>
                  <a:pt x="2519426" y="0"/>
                </a:lnTo>
                <a:lnTo>
                  <a:pt x="0" y="0"/>
                </a:lnTo>
                <a:lnTo>
                  <a:pt x="0" y="461962"/>
                </a:lnTo>
                <a:close/>
              </a:path>
            </a:pathLst>
          </a:custGeom>
          <a:ln w="9525">
            <a:solidFill>
              <a:srgbClr val="FF0000"/>
            </a:solidFill>
          </a:ln>
        </p:spPr>
        <p:txBody>
          <a:bodyPr wrap="square" lIns="0" tIns="0" rIns="0" bIns="0" rtlCol="0"/>
          <a:lstStyle/>
          <a:p/>
        </p:txBody>
      </p:sp>
      <p:sp>
        <p:nvSpPr>
          <p:cNvPr id="22" name="object 22" descr=""/>
          <p:cNvSpPr txBox="1"/>
          <p:nvPr/>
        </p:nvSpPr>
        <p:spPr>
          <a:xfrm>
            <a:off x="126288" y="4039361"/>
            <a:ext cx="2313305"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黑体"/>
                <a:cs typeface="黑体"/>
              </a:rPr>
              <a:t>属于第</a:t>
            </a:r>
            <a:r>
              <a:rPr dirty="0" sz="2400" spc="-20">
                <a:solidFill>
                  <a:srgbClr val="40458B"/>
                </a:solidFill>
                <a:latin typeface="Tahoma"/>
                <a:cs typeface="Tahoma"/>
              </a:rPr>
              <a:t>i+1</a:t>
            </a:r>
            <a:r>
              <a:rPr dirty="0" sz="2400" spc="-20">
                <a:solidFill>
                  <a:srgbClr val="40458B"/>
                </a:solidFill>
                <a:latin typeface="黑体"/>
                <a:cs typeface="黑体"/>
              </a:rPr>
              <a:t>次迭代</a:t>
            </a:r>
            <a:endParaRPr sz="2400">
              <a:latin typeface="黑体"/>
              <a:cs typeface="黑体"/>
            </a:endParaRPr>
          </a:p>
        </p:txBody>
      </p:sp>
      <p:grpSp>
        <p:nvGrpSpPr>
          <p:cNvPr id="23" name="object 23" descr=""/>
          <p:cNvGrpSpPr/>
          <p:nvPr/>
        </p:nvGrpSpPr>
        <p:grpSpPr>
          <a:xfrm>
            <a:off x="8886888" y="3100387"/>
            <a:ext cx="370205" cy="657225"/>
            <a:chOff x="8886888" y="3100387"/>
            <a:chExt cx="370205" cy="657225"/>
          </a:xfrm>
        </p:grpSpPr>
        <p:sp>
          <p:nvSpPr>
            <p:cNvPr id="24" name="object 24" descr=""/>
            <p:cNvSpPr/>
            <p:nvPr/>
          </p:nvSpPr>
          <p:spPr>
            <a:xfrm>
              <a:off x="8891651" y="3105150"/>
              <a:ext cx="360680" cy="647700"/>
            </a:xfrm>
            <a:custGeom>
              <a:avLst/>
              <a:gdLst/>
              <a:ahLst/>
              <a:cxnLst/>
              <a:rect l="l" t="t" r="r" b="b"/>
              <a:pathLst>
                <a:path w="360679" h="647700">
                  <a:moveTo>
                    <a:pt x="270255" y="0"/>
                  </a:moveTo>
                  <a:lnTo>
                    <a:pt x="90043" y="0"/>
                  </a:lnTo>
                  <a:lnTo>
                    <a:pt x="90043" y="467740"/>
                  </a:lnTo>
                  <a:lnTo>
                    <a:pt x="0" y="467740"/>
                  </a:lnTo>
                  <a:lnTo>
                    <a:pt x="180085" y="647700"/>
                  </a:lnTo>
                  <a:lnTo>
                    <a:pt x="360299" y="467740"/>
                  </a:lnTo>
                  <a:lnTo>
                    <a:pt x="270255" y="467740"/>
                  </a:lnTo>
                  <a:lnTo>
                    <a:pt x="270255" y="0"/>
                  </a:lnTo>
                  <a:close/>
                </a:path>
              </a:pathLst>
            </a:custGeom>
            <a:solidFill>
              <a:srgbClr val="EBD782"/>
            </a:solidFill>
          </p:spPr>
          <p:txBody>
            <a:bodyPr wrap="square" lIns="0" tIns="0" rIns="0" bIns="0" rtlCol="0"/>
            <a:lstStyle/>
            <a:p/>
          </p:txBody>
        </p:sp>
        <p:sp>
          <p:nvSpPr>
            <p:cNvPr id="25" name="object 25" descr=""/>
            <p:cNvSpPr/>
            <p:nvPr/>
          </p:nvSpPr>
          <p:spPr>
            <a:xfrm>
              <a:off x="8891651" y="3105150"/>
              <a:ext cx="360680" cy="647700"/>
            </a:xfrm>
            <a:custGeom>
              <a:avLst/>
              <a:gdLst/>
              <a:ahLst/>
              <a:cxnLst/>
              <a:rect l="l" t="t" r="r" b="b"/>
              <a:pathLst>
                <a:path w="360679" h="647700">
                  <a:moveTo>
                    <a:pt x="180085" y="647700"/>
                  </a:moveTo>
                  <a:lnTo>
                    <a:pt x="0" y="467740"/>
                  </a:lnTo>
                  <a:lnTo>
                    <a:pt x="90043" y="467740"/>
                  </a:lnTo>
                  <a:lnTo>
                    <a:pt x="90043" y="0"/>
                  </a:lnTo>
                  <a:lnTo>
                    <a:pt x="270255" y="0"/>
                  </a:lnTo>
                  <a:lnTo>
                    <a:pt x="270255" y="467740"/>
                  </a:lnTo>
                  <a:lnTo>
                    <a:pt x="360299" y="467740"/>
                  </a:lnTo>
                  <a:lnTo>
                    <a:pt x="180085" y="647700"/>
                  </a:lnTo>
                  <a:close/>
                </a:path>
              </a:pathLst>
            </a:custGeom>
            <a:ln w="9525">
              <a:solidFill>
                <a:srgbClr val="40458B"/>
              </a:solidFill>
            </a:ln>
          </p:spPr>
          <p:txBody>
            <a:bodyPr wrap="square" lIns="0" tIns="0" rIns="0" bIns="0" rtlCol="0"/>
            <a:lstStyle/>
            <a:p/>
          </p:txBody>
        </p:sp>
      </p:grpSp>
      <p:sp>
        <p:nvSpPr>
          <p:cNvPr id="26" name="object 26" descr=""/>
          <p:cNvSpPr/>
          <p:nvPr/>
        </p:nvSpPr>
        <p:spPr>
          <a:xfrm>
            <a:off x="0" y="5654675"/>
            <a:ext cx="2491105" cy="460375"/>
          </a:xfrm>
          <a:custGeom>
            <a:avLst/>
            <a:gdLst/>
            <a:ahLst/>
            <a:cxnLst/>
            <a:rect l="l" t="t" r="r" b="b"/>
            <a:pathLst>
              <a:path w="2491105" h="460375">
                <a:moveTo>
                  <a:pt x="0" y="460375"/>
                </a:moveTo>
                <a:lnTo>
                  <a:pt x="2490851" y="460375"/>
                </a:lnTo>
                <a:lnTo>
                  <a:pt x="2490851" y="0"/>
                </a:lnTo>
                <a:lnTo>
                  <a:pt x="0" y="0"/>
                </a:lnTo>
              </a:path>
            </a:pathLst>
          </a:custGeom>
          <a:ln w="9525">
            <a:solidFill>
              <a:srgbClr val="FF0000"/>
            </a:solidFill>
          </a:ln>
        </p:spPr>
        <p:txBody>
          <a:bodyPr wrap="square" lIns="0" tIns="0" rIns="0" bIns="0" rtlCol="0"/>
          <a:lstStyle/>
          <a:p/>
        </p:txBody>
      </p:sp>
      <p:sp>
        <p:nvSpPr>
          <p:cNvPr id="27" name="object 27" descr=""/>
          <p:cNvSpPr txBox="1"/>
          <p:nvPr/>
        </p:nvSpPr>
        <p:spPr>
          <a:xfrm>
            <a:off x="50088" y="5689193"/>
            <a:ext cx="2313305"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黑体"/>
                <a:cs typeface="黑体"/>
              </a:rPr>
              <a:t>属于第</a:t>
            </a:r>
            <a:r>
              <a:rPr dirty="0" sz="2400" spc="-20">
                <a:solidFill>
                  <a:srgbClr val="40458B"/>
                </a:solidFill>
                <a:latin typeface="Tahoma"/>
                <a:cs typeface="Tahoma"/>
              </a:rPr>
              <a:t>i+2</a:t>
            </a:r>
            <a:r>
              <a:rPr dirty="0" sz="2400" spc="-20">
                <a:solidFill>
                  <a:srgbClr val="40458B"/>
                </a:solidFill>
                <a:latin typeface="黑体"/>
                <a:cs typeface="黑体"/>
              </a:rPr>
              <a:t>次迭代</a:t>
            </a:r>
            <a:endParaRPr sz="2400">
              <a:latin typeface="黑体"/>
              <a:cs typeface="黑体"/>
            </a:endParaRPr>
          </a:p>
        </p:txBody>
      </p:sp>
      <p:grpSp>
        <p:nvGrpSpPr>
          <p:cNvPr id="28" name="object 28" descr=""/>
          <p:cNvGrpSpPr/>
          <p:nvPr/>
        </p:nvGrpSpPr>
        <p:grpSpPr>
          <a:xfrm>
            <a:off x="2346388" y="3187763"/>
            <a:ext cx="586105" cy="246379"/>
            <a:chOff x="2346388" y="3187763"/>
            <a:chExt cx="586105" cy="246379"/>
          </a:xfrm>
        </p:grpSpPr>
        <p:sp>
          <p:nvSpPr>
            <p:cNvPr id="29" name="object 29" descr=""/>
            <p:cNvSpPr/>
            <p:nvPr/>
          </p:nvSpPr>
          <p:spPr>
            <a:xfrm>
              <a:off x="2351151" y="3192526"/>
              <a:ext cx="576580" cy="236854"/>
            </a:xfrm>
            <a:custGeom>
              <a:avLst/>
              <a:gdLst/>
              <a:ahLst/>
              <a:cxnLst/>
              <a:rect l="l" t="t" r="r" b="b"/>
              <a:pathLst>
                <a:path w="576580" h="236854">
                  <a:moveTo>
                    <a:pt x="457835" y="0"/>
                  </a:moveTo>
                  <a:lnTo>
                    <a:pt x="457835" y="59054"/>
                  </a:lnTo>
                  <a:lnTo>
                    <a:pt x="0" y="59054"/>
                  </a:lnTo>
                  <a:lnTo>
                    <a:pt x="0" y="177291"/>
                  </a:lnTo>
                  <a:lnTo>
                    <a:pt x="457835" y="177291"/>
                  </a:lnTo>
                  <a:lnTo>
                    <a:pt x="457835" y="236474"/>
                  </a:lnTo>
                  <a:lnTo>
                    <a:pt x="576199" y="118237"/>
                  </a:lnTo>
                  <a:lnTo>
                    <a:pt x="457835" y="0"/>
                  </a:lnTo>
                  <a:close/>
                </a:path>
              </a:pathLst>
            </a:custGeom>
            <a:solidFill>
              <a:srgbClr val="EBD782"/>
            </a:solidFill>
          </p:spPr>
          <p:txBody>
            <a:bodyPr wrap="square" lIns="0" tIns="0" rIns="0" bIns="0" rtlCol="0"/>
            <a:lstStyle/>
            <a:p/>
          </p:txBody>
        </p:sp>
        <p:sp>
          <p:nvSpPr>
            <p:cNvPr id="30" name="object 30" descr=""/>
            <p:cNvSpPr/>
            <p:nvPr/>
          </p:nvSpPr>
          <p:spPr>
            <a:xfrm>
              <a:off x="2351151" y="3192526"/>
              <a:ext cx="576580" cy="236854"/>
            </a:xfrm>
            <a:custGeom>
              <a:avLst/>
              <a:gdLst/>
              <a:ahLst/>
              <a:cxnLst/>
              <a:rect l="l" t="t" r="r" b="b"/>
              <a:pathLst>
                <a:path w="576580" h="236854">
                  <a:moveTo>
                    <a:pt x="0" y="59054"/>
                  </a:moveTo>
                  <a:lnTo>
                    <a:pt x="457835" y="59054"/>
                  </a:lnTo>
                  <a:lnTo>
                    <a:pt x="457835" y="0"/>
                  </a:lnTo>
                  <a:lnTo>
                    <a:pt x="576199" y="118237"/>
                  </a:lnTo>
                  <a:lnTo>
                    <a:pt x="457835" y="236474"/>
                  </a:lnTo>
                  <a:lnTo>
                    <a:pt x="457835" y="177291"/>
                  </a:lnTo>
                  <a:lnTo>
                    <a:pt x="0" y="177291"/>
                  </a:lnTo>
                  <a:lnTo>
                    <a:pt x="0" y="59054"/>
                  </a:lnTo>
                  <a:close/>
                </a:path>
              </a:pathLst>
            </a:custGeom>
            <a:ln w="9525">
              <a:solidFill>
                <a:srgbClr val="40458B"/>
              </a:solidFill>
            </a:ln>
          </p:spPr>
          <p:txBody>
            <a:bodyPr wrap="square" lIns="0" tIns="0" rIns="0" bIns="0" rtlCol="0"/>
            <a:lstStyle/>
            <a:p/>
          </p:txBody>
        </p:sp>
      </p:grpSp>
      <p:grpSp>
        <p:nvGrpSpPr>
          <p:cNvPr id="31" name="object 31" descr=""/>
          <p:cNvGrpSpPr/>
          <p:nvPr/>
        </p:nvGrpSpPr>
        <p:grpSpPr>
          <a:xfrm>
            <a:off x="2351087" y="4311713"/>
            <a:ext cx="586105" cy="244475"/>
            <a:chOff x="2351087" y="4311713"/>
            <a:chExt cx="586105" cy="244475"/>
          </a:xfrm>
        </p:grpSpPr>
        <p:sp>
          <p:nvSpPr>
            <p:cNvPr id="32" name="object 32" descr=""/>
            <p:cNvSpPr/>
            <p:nvPr/>
          </p:nvSpPr>
          <p:spPr>
            <a:xfrm>
              <a:off x="2355850" y="4316476"/>
              <a:ext cx="576580" cy="234950"/>
            </a:xfrm>
            <a:custGeom>
              <a:avLst/>
              <a:gdLst/>
              <a:ahLst/>
              <a:cxnLst/>
              <a:rect l="l" t="t" r="r" b="b"/>
              <a:pathLst>
                <a:path w="576580" h="234950">
                  <a:moveTo>
                    <a:pt x="457962" y="0"/>
                  </a:moveTo>
                  <a:lnTo>
                    <a:pt x="457962" y="58674"/>
                  </a:lnTo>
                  <a:lnTo>
                    <a:pt x="0" y="58674"/>
                  </a:lnTo>
                  <a:lnTo>
                    <a:pt x="0" y="176149"/>
                  </a:lnTo>
                  <a:lnTo>
                    <a:pt x="457962" y="176149"/>
                  </a:lnTo>
                  <a:lnTo>
                    <a:pt x="457962" y="234950"/>
                  </a:lnTo>
                  <a:lnTo>
                    <a:pt x="576326" y="117475"/>
                  </a:lnTo>
                  <a:lnTo>
                    <a:pt x="457962" y="0"/>
                  </a:lnTo>
                  <a:close/>
                </a:path>
              </a:pathLst>
            </a:custGeom>
            <a:solidFill>
              <a:srgbClr val="EBD782"/>
            </a:solidFill>
          </p:spPr>
          <p:txBody>
            <a:bodyPr wrap="square" lIns="0" tIns="0" rIns="0" bIns="0" rtlCol="0"/>
            <a:lstStyle/>
            <a:p/>
          </p:txBody>
        </p:sp>
        <p:sp>
          <p:nvSpPr>
            <p:cNvPr id="33" name="object 33" descr=""/>
            <p:cNvSpPr/>
            <p:nvPr/>
          </p:nvSpPr>
          <p:spPr>
            <a:xfrm>
              <a:off x="2355850" y="4316476"/>
              <a:ext cx="576580" cy="234950"/>
            </a:xfrm>
            <a:custGeom>
              <a:avLst/>
              <a:gdLst/>
              <a:ahLst/>
              <a:cxnLst/>
              <a:rect l="l" t="t" r="r" b="b"/>
              <a:pathLst>
                <a:path w="576580" h="234950">
                  <a:moveTo>
                    <a:pt x="0" y="58674"/>
                  </a:moveTo>
                  <a:lnTo>
                    <a:pt x="457962" y="58674"/>
                  </a:lnTo>
                  <a:lnTo>
                    <a:pt x="457962" y="0"/>
                  </a:lnTo>
                  <a:lnTo>
                    <a:pt x="576326" y="117475"/>
                  </a:lnTo>
                  <a:lnTo>
                    <a:pt x="457962" y="234950"/>
                  </a:lnTo>
                  <a:lnTo>
                    <a:pt x="457962" y="176149"/>
                  </a:lnTo>
                  <a:lnTo>
                    <a:pt x="0" y="176149"/>
                  </a:lnTo>
                  <a:lnTo>
                    <a:pt x="0" y="58674"/>
                  </a:lnTo>
                  <a:close/>
                </a:path>
              </a:pathLst>
            </a:custGeom>
            <a:ln w="9525">
              <a:solidFill>
                <a:srgbClr val="40458B"/>
              </a:solidFill>
            </a:ln>
          </p:spPr>
          <p:txBody>
            <a:bodyPr wrap="square" lIns="0" tIns="0" rIns="0" bIns="0" rtlCol="0"/>
            <a:lstStyle/>
            <a:p/>
          </p:txBody>
        </p:sp>
      </p:grpSp>
      <p:grpSp>
        <p:nvGrpSpPr>
          <p:cNvPr id="34" name="object 34" descr=""/>
          <p:cNvGrpSpPr/>
          <p:nvPr/>
        </p:nvGrpSpPr>
        <p:grpSpPr>
          <a:xfrm>
            <a:off x="2312987" y="5565838"/>
            <a:ext cx="586105" cy="246379"/>
            <a:chOff x="2312987" y="5565838"/>
            <a:chExt cx="586105" cy="246379"/>
          </a:xfrm>
        </p:grpSpPr>
        <p:sp>
          <p:nvSpPr>
            <p:cNvPr id="35" name="object 35" descr=""/>
            <p:cNvSpPr/>
            <p:nvPr/>
          </p:nvSpPr>
          <p:spPr>
            <a:xfrm>
              <a:off x="2317750" y="5570601"/>
              <a:ext cx="576580" cy="236854"/>
            </a:xfrm>
            <a:custGeom>
              <a:avLst/>
              <a:gdLst/>
              <a:ahLst/>
              <a:cxnLst/>
              <a:rect l="l" t="t" r="r" b="b"/>
              <a:pathLst>
                <a:path w="576580" h="236854">
                  <a:moveTo>
                    <a:pt x="457962" y="0"/>
                  </a:moveTo>
                  <a:lnTo>
                    <a:pt x="457962" y="59067"/>
                  </a:lnTo>
                  <a:lnTo>
                    <a:pt x="0" y="59067"/>
                  </a:lnTo>
                  <a:lnTo>
                    <a:pt x="0" y="177342"/>
                  </a:lnTo>
                  <a:lnTo>
                    <a:pt x="457962" y="177342"/>
                  </a:lnTo>
                  <a:lnTo>
                    <a:pt x="457962" y="236474"/>
                  </a:lnTo>
                  <a:lnTo>
                    <a:pt x="576326" y="118211"/>
                  </a:lnTo>
                  <a:lnTo>
                    <a:pt x="457962" y="0"/>
                  </a:lnTo>
                  <a:close/>
                </a:path>
              </a:pathLst>
            </a:custGeom>
            <a:solidFill>
              <a:srgbClr val="EBD782"/>
            </a:solidFill>
          </p:spPr>
          <p:txBody>
            <a:bodyPr wrap="square" lIns="0" tIns="0" rIns="0" bIns="0" rtlCol="0"/>
            <a:lstStyle/>
            <a:p/>
          </p:txBody>
        </p:sp>
        <p:sp>
          <p:nvSpPr>
            <p:cNvPr id="36" name="object 36" descr=""/>
            <p:cNvSpPr/>
            <p:nvPr/>
          </p:nvSpPr>
          <p:spPr>
            <a:xfrm>
              <a:off x="2317750" y="5570601"/>
              <a:ext cx="576580" cy="236854"/>
            </a:xfrm>
            <a:custGeom>
              <a:avLst/>
              <a:gdLst/>
              <a:ahLst/>
              <a:cxnLst/>
              <a:rect l="l" t="t" r="r" b="b"/>
              <a:pathLst>
                <a:path w="576580" h="236854">
                  <a:moveTo>
                    <a:pt x="0" y="59067"/>
                  </a:moveTo>
                  <a:lnTo>
                    <a:pt x="457962" y="59067"/>
                  </a:lnTo>
                  <a:lnTo>
                    <a:pt x="457962" y="0"/>
                  </a:lnTo>
                  <a:lnTo>
                    <a:pt x="576326" y="118211"/>
                  </a:lnTo>
                  <a:lnTo>
                    <a:pt x="457962" y="236474"/>
                  </a:lnTo>
                  <a:lnTo>
                    <a:pt x="457962" y="177342"/>
                  </a:lnTo>
                  <a:lnTo>
                    <a:pt x="0" y="177342"/>
                  </a:lnTo>
                  <a:lnTo>
                    <a:pt x="0" y="59067"/>
                  </a:lnTo>
                  <a:close/>
                </a:path>
              </a:pathLst>
            </a:custGeom>
            <a:ln w="9525">
              <a:solidFill>
                <a:srgbClr val="40458B"/>
              </a:solidFill>
            </a:ln>
          </p:spPr>
          <p:txBody>
            <a:bodyPr wrap="square" lIns="0" tIns="0" rIns="0" bIns="0" rtlCol="0"/>
            <a:lstStyle/>
            <a:p/>
          </p:txBody>
        </p:sp>
      </p:grpSp>
      <p:graphicFrame>
        <p:nvGraphicFramePr>
          <p:cNvPr id="37" name="object 37" descr=""/>
          <p:cNvGraphicFramePr>
            <a:graphicFrameLocks noGrp="1"/>
          </p:cNvGraphicFramePr>
          <p:nvPr/>
        </p:nvGraphicFramePr>
        <p:xfrm>
          <a:off x="6244716" y="3741160"/>
          <a:ext cx="4723130" cy="1417320"/>
        </p:xfrm>
        <a:graphic>
          <a:graphicData uri="http://schemas.openxmlformats.org/drawingml/2006/table">
            <a:tbl>
              <a:tblPr firstRow="1" bandRow="1">
                <a:tableStyleId>{2D5ABB26-0587-4C30-8999-92F81FD0307C}</a:tableStyleId>
              </a:tblPr>
              <a:tblGrid>
                <a:gridCol w="1016000"/>
                <a:gridCol w="1979930"/>
                <a:gridCol w="384809"/>
                <a:gridCol w="1265555"/>
              </a:tblGrid>
              <a:tr h="320675">
                <a:tc>
                  <a:txBody>
                    <a:bodyPr/>
                    <a:lstStyle/>
                    <a:p>
                      <a:pPr marL="31750">
                        <a:lnSpc>
                          <a:spcPts val="2430"/>
                        </a:lnSpc>
                      </a:pPr>
                      <a:r>
                        <a:rPr dirty="0" sz="2500" spc="-25" b="1" i="1">
                          <a:solidFill>
                            <a:srgbClr val="FF09FF"/>
                          </a:solidFill>
                          <a:latin typeface="宋体"/>
                          <a:cs typeface="宋体"/>
                        </a:rPr>
                        <a:t>S.D</a:t>
                      </a:r>
                      <a:endParaRPr sz="2500">
                        <a:latin typeface="宋体"/>
                        <a:cs typeface="宋体"/>
                      </a:endParaRPr>
                    </a:p>
                  </a:txBody>
                  <a:tcPr marL="0" marR="0" marB="0" marT="0"/>
                </a:tc>
                <a:tc>
                  <a:txBody>
                    <a:bodyPr/>
                    <a:lstStyle/>
                    <a:p>
                      <a:pPr marL="214629">
                        <a:lnSpc>
                          <a:spcPts val="2430"/>
                        </a:lnSpc>
                      </a:pPr>
                      <a:r>
                        <a:rPr dirty="0" sz="2500" spc="-10" b="1" i="1">
                          <a:solidFill>
                            <a:srgbClr val="FF09FF"/>
                          </a:solidFill>
                          <a:latin typeface="宋体"/>
                          <a:cs typeface="宋体"/>
                        </a:rPr>
                        <a:t>F4，0（R1）</a:t>
                      </a:r>
                      <a:endParaRPr sz="2500">
                        <a:latin typeface="宋体"/>
                        <a:cs typeface="宋体"/>
                      </a:endParaRPr>
                    </a:p>
                  </a:txBody>
                  <a:tcPr marL="0" marR="0" marB="0" marT="0"/>
                </a:tc>
                <a:tc>
                  <a:txBody>
                    <a:bodyPr/>
                    <a:lstStyle/>
                    <a:p>
                      <a:pPr marL="231140">
                        <a:lnSpc>
                          <a:spcPts val="2430"/>
                        </a:lnSpc>
                      </a:pPr>
                      <a:r>
                        <a:rPr dirty="0" sz="2500" spc="-90" b="1" i="1">
                          <a:solidFill>
                            <a:srgbClr val="FF09FF"/>
                          </a:solidFill>
                          <a:latin typeface="宋体"/>
                          <a:cs typeface="宋体"/>
                        </a:rPr>
                        <a:t>#</a:t>
                      </a:r>
                      <a:endParaRPr sz="2500">
                        <a:latin typeface="宋体"/>
                        <a:cs typeface="宋体"/>
                      </a:endParaRPr>
                    </a:p>
                  </a:txBody>
                  <a:tcPr marL="0" marR="0" marB="0" marT="0"/>
                </a:tc>
                <a:tc>
                  <a:txBody>
                    <a:bodyPr/>
                    <a:lstStyle/>
                    <a:p>
                      <a:pPr marL="155575">
                        <a:lnSpc>
                          <a:spcPts val="2430"/>
                        </a:lnSpc>
                      </a:pPr>
                      <a:r>
                        <a:rPr dirty="0" sz="2500" spc="-114" b="1" i="1">
                          <a:solidFill>
                            <a:srgbClr val="00AF50"/>
                          </a:solidFill>
                          <a:latin typeface="宋体"/>
                          <a:cs typeface="宋体"/>
                        </a:rPr>
                        <a:t>存</a:t>
                      </a:r>
                      <a:r>
                        <a:rPr dirty="0" sz="2500" spc="-20" b="1" i="1">
                          <a:solidFill>
                            <a:srgbClr val="00AF50"/>
                          </a:solidFill>
                          <a:latin typeface="宋体"/>
                          <a:cs typeface="宋体"/>
                        </a:rPr>
                        <a:t>X[i]</a:t>
                      </a:r>
                      <a:endParaRPr sz="2500">
                        <a:latin typeface="宋体"/>
                        <a:cs typeface="宋体"/>
                      </a:endParaRPr>
                    </a:p>
                  </a:txBody>
                  <a:tcPr marL="0" marR="0" marB="0" marT="0"/>
                </a:tc>
              </a:tr>
              <a:tr h="662305">
                <a:tc>
                  <a:txBody>
                    <a:bodyPr/>
                    <a:lstStyle/>
                    <a:p>
                      <a:pPr marL="31750">
                        <a:lnSpc>
                          <a:spcPct val="100000"/>
                        </a:lnSpc>
                        <a:spcBef>
                          <a:spcPts val="1465"/>
                        </a:spcBef>
                      </a:pPr>
                      <a:r>
                        <a:rPr dirty="0" sz="2500" spc="-10" b="1" i="1">
                          <a:solidFill>
                            <a:srgbClr val="FF09FF"/>
                          </a:solidFill>
                          <a:latin typeface="宋体"/>
                          <a:cs typeface="宋体"/>
                        </a:rPr>
                        <a:t>ADD.D</a:t>
                      </a:r>
                      <a:endParaRPr sz="2500">
                        <a:latin typeface="宋体"/>
                        <a:cs typeface="宋体"/>
                      </a:endParaRPr>
                    </a:p>
                  </a:txBody>
                  <a:tcPr marL="0" marR="0" marB="0" marT="186055"/>
                </a:tc>
                <a:tc>
                  <a:txBody>
                    <a:bodyPr/>
                    <a:lstStyle/>
                    <a:p>
                      <a:pPr marL="214629">
                        <a:lnSpc>
                          <a:spcPct val="100000"/>
                        </a:lnSpc>
                        <a:spcBef>
                          <a:spcPts val="1465"/>
                        </a:spcBef>
                      </a:pPr>
                      <a:r>
                        <a:rPr dirty="0" sz="2500" spc="-10" b="1" i="1">
                          <a:solidFill>
                            <a:srgbClr val="FF09FF"/>
                          </a:solidFill>
                          <a:latin typeface="宋体"/>
                          <a:cs typeface="宋体"/>
                        </a:rPr>
                        <a:t>F4，F0，F2</a:t>
                      </a:r>
                      <a:endParaRPr sz="2500">
                        <a:latin typeface="宋体"/>
                        <a:cs typeface="宋体"/>
                      </a:endParaRPr>
                    </a:p>
                  </a:txBody>
                  <a:tcPr marL="0" marR="0" marB="0" marT="186055"/>
                </a:tc>
                <a:tc>
                  <a:txBody>
                    <a:bodyPr/>
                    <a:lstStyle/>
                    <a:p>
                      <a:pPr marL="78740">
                        <a:lnSpc>
                          <a:spcPct val="100000"/>
                        </a:lnSpc>
                        <a:spcBef>
                          <a:spcPts val="1465"/>
                        </a:spcBef>
                      </a:pPr>
                      <a:r>
                        <a:rPr dirty="0" sz="2500" spc="-50" b="1" i="1">
                          <a:solidFill>
                            <a:srgbClr val="FF09FF"/>
                          </a:solidFill>
                          <a:latin typeface="宋体"/>
                          <a:cs typeface="宋体"/>
                        </a:rPr>
                        <a:t>#</a:t>
                      </a:r>
                      <a:endParaRPr sz="2500">
                        <a:latin typeface="宋体"/>
                        <a:cs typeface="宋体"/>
                      </a:endParaRPr>
                    </a:p>
                  </a:txBody>
                  <a:tcPr marL="0" marR="0" marB="0" marT="186055"/>
                </a:tc>
                <a:tc>
                  <a:txBody>
                    <a:bodyPr/>
                    <a:lstStyle/>
                    <a:p>
                      <a:pPr marL="3175">
                        <a:lnSpc>
                          <a:spcPct val="100000"/>
                        </a:lnSpc>
                        <a:spcBef>
                          <a:spcPts val="1465"/>
                        </a:spcBef>
                      </a:pPr>
                      <a:r>
                        <a:rPr dirty="0" sz="2500" spc="-114" b="1" i="1">
                          <a:solidFill>
                            <a:srgbClr val="00AF50"/>
                          </a:solidFill>
                          <a:latin typeface="宋体"/>
                          <a:cs typeface="宋体"/>
                        </a:rPr>
                        <a:t>算</a:t>
                      </a:r>
                      <a:r>
                        <a:rPr dirty="0" sz="2500" spc="-10" b="1" i="1">
                          <a:solidFill>
                            <a:srgbClr val="00AF50"/>
                          </a:solidFill>
                          <a:latin typeface="宋体"/>
                          <a:cs typeface="宋体"/>
                        </a:rPr>
                        <a:t>X[i]+s</a:t>
                      </a:r>
                      <a:endParaRPr sz="2500">
                        <a:latin typeface="宋体"/>
                        <a:cs typeface="宋体"/>
                      </a:endParaRPr>
                    </a:p>
                  </a:txBody>
                  <a:tcPr marL="0" marR="0" marB="0" marT="186055"/>
                </a:tc>
              </a:tr>
              <a:tr h="434340">
                <a:tc>
                  <a:txBody>
                    <a:bodyPr/>
                    <a:lstStyle/>
                    <a:p>
                      <a:pPr marL="31750">
                        <a:lnSpc>
                          <a:spcPts val="2755"/>
                        </a:lnSpc>
                        <a:spcBef>
                          <a:spcPts val="570"/>
                        </a:spcBef>
                      </a:pPr>
                      <a:r>
                        <a:rPr dirty="0" sz="2500" spc="-25" b="1" i="1">
                          <a:solidFill>
                            <a:srgbClr val="FF09FF"/>
                          </a:solidFill>
                          <a:latin typeface="宋体"/>
                          <a:cs typeface="宋体"/>
                        </a:rPr>
                        <a:t>L.D</a:t>
                      </a:r>
                      <a:endParaRPr sz="2500">
                        <a:latin typeface="宋体"/>
                        <a:cs typeface="宋体"/>
                      </a:endParaRPr>
                    </a:p>
                  </a:txBody>
                  <a:tcPr marL="0" marR="0" marB="0" marT="72390"/>
                </a:tc>
                <a:tc>
                  <a:txBody>
                    <a:bodyPr/>
                    <a:lstStyle/>
                    <a:p>
                      <a:pPr marL="214629">
                        <a:lnSpc>
                          <a:spcPts val="2755"/>
                        </a:lnSpc>
                        <a:spcBef>
                          <a:spcPts val="570"/>
                        </a:spcBef>
                      </a:pPr>
                      <a:r>
                        <a:rPr dirty="0" sz="2500" spc="-10" b="1" i="1">
                          <a:solidFill>
                            <a:srgbClr val="FF09FF"/>
                          </a:solidFill>
                          <a:latin typeface="宋体"/>
                          <a:cs typeface="宋体"/>
                        </a:rPr>
                        <a:t>F0，0（R1）</a:t>
                      </a:r>
                      <a:endParaRPr sz="2500">
                        <a:latin typeface="宋体"/>
                        <a:cs typeface="宋体"/>
                      </a:endParaRPr>
                    </a:p>
                  </a:txBody>
                  <a:tcPr marL="0" marR="0" marB="0" marT="72390"/>
                </a:tc>
                <a:tc>
                  <a:txBody>
                    <a:bodyPr/>
                    <a:lstStyle/>
                    <a:p>
                      <a:pPr marL="77470">
                        <a:lnSpc>
                          <a:spcPts val="2755"/>
                        </a:lnSpc>
                        <a:spcBef>
                          <a:spcPts val="570"/>
                        </a:spcBef>
                      </a:pPr>
                      <a:r>
                        <a:rPr dirty="0" sz="2500" spc="-50" b="1" i="1">
                          <a:solidFill>
                            <a:srgbClr val="FF09FF"/>
                          </a:solidFill>
                          <a:latin typeface="宋体"/>
                          <a:cs typeface="宋体"/>
                        </a:rPr>
                        <a:t>#</a:t>
                      </a:r>
                      <a:endParaRPr sz="2500">
                        <a:latin typeface="宋体"/>
                        <a:cs typeface="宋体"/>
                      </a:endParaRPr>
                    </a:p>
                  </a:txBody>
                  <a:tcPr marL="0" marR="0" marB="0" marT="72390"/>
                </a:tc>
                <a:tc>
                  <a:txBody>
                    <a:bodyPr/>
                    <a:lstStyle/>
                    <a:p>
                      <a:pPr marL="635">
                        <a:lnSpc>
                          <a:spcPts val="2755"/>
                        </a:lnSpc>
                        <a:spcBef>
                          <a:spcPts val="570"/>
                        </a:spcBef>
                      </a:pPr>
                      <a:r>
                        <a:rPr dirty="0" sz="2500" spc="-114" b="1" i="1">
                          <a:solidFill>
                            <a:srgbClr val="00AF50"/>
                          </a:solidFill>
                          <a:latin typeface="宋体"/>
                          <a:cs typeface="宋体"/>
                        </a:rPr>
                        <a:t>取</a:t>
                      </a:r>
                      <a:r>
                        <a:rPr dirty="0" sz="2500" spc="-20" b="1" i="1">
                          <a:solidFill>
                            <a:srgbClr val="00AF50"/>
                          </a:solidFill>
                          <a:latin typeface="宋体"/>
                          <a:cs typeface="宋体"/>
                        </a:rPr>
                        <a:t>X[i]</a:t>
                      </a:r>
                      <a:endParaRPr sz="2500">
                        <a:latin typeface="宋体"/>
                        <a:cs typeface="宋体"/>
                      </a:endParaRPr>
                    </a:p>
                  </a:txBody>
                  <a:tcPr marL="0" marR="0" marB="0" marT="72390"/>
                </a:tc>
              </a:tr>
            </a:tbl>
          </a:graphicData>
        </a:graphic>
      </p:graphicFrame>
      <p:grpSp>
        <p:nvGrpSpPr>
          <p:cNvPr id="38" name="object 38" descr=""/>
          <p:cNvGrpSpPr/>
          <p:nvPr/>
        </p:nvGrpSpPr>
        <p:grpSpPr>
          <a:xfrm>
            <a:off x="5803963" y="1314513"/>
            <a:ext cx="4353560" cy="5415280"/>
            <a:chOff x="5803963" y="1314513"/>
            <a:chExt cx="4353560" cy="5415280"/>
          </a:xfrm>
        </p:grpSpPr>
        <p:sp>
          <p:nvSpPr>
            <p:cNvPr id="39" name="object 39" descr=""/>
            <p:cNvSpPr/>
            <p:nvPr/>
          </p:nvSpPr>
          <p:spPr>
            <a:xfrm>
              <a:off x="5808726" y="1319275"/>
              <a:ext cx="0" cy="5405755"/>
            </a:xfrm>
            <a:custGeom>
              <a:avLst/>
              <a:gdLst/>
              <a:ahLst/>
              <a:cxnLst/>
              <a:rect l="l" t="t" r="r" b="b"/>
              <a:pathLst>
                <a:path w="0" h="5405755">
                  <a:moveTo>
                    <a:pt x="0" y="0"/>
                  </a:moveTo>
                  <a:lnTo>
                    <a:pt x="0" y="5405374"/>
                  </a:lnTo>
                </a:path>
              </a:pathLst>
            </a:custGeom>
            <a:ln w="9525">
              <a:solidFill>
                <a:srgbClr val="40458B"/>
              </a:solidFill>
            </a:ln>
          </p:spPr>
          <p:txBody>
            <a:bodyPr wrap="square" lIns="0" tIns="0" rIns="0" bIns="0" rtlCol="0"/>
            <a:lstStyle/>
            <a:p/>
          </p:txBody>
        </p:sp>
        <p:sp>
          <p:nvSpPr>
            <p:cNvPr id="40" name="object 40" descr=""/>
            <p:cNvSpPr/>
            <p:nvPr/>
          </p:nvSpPr>
          <p:spPr>
            <a:xfrm>
              <a:off x="7632700" y="5622823"/>
              <a:ext cx="2520315" cy="832485"/>
            </a:xfrm>
            <a:custGeom>
              <a:avLst/>
              <a:gdLst/>
              <a:ahLst/>
              <a:cxnLst/>
              <a:rect l="l" t="t" r="r" b="b"/>
              <a:pathLst>
                <a:path w="2520315" h="832485">
                  <a:moveTo>
                    <a:pt x="0" y="831951"/>
                  </a:moveTo>
                  <a:lnTo>
                    <a:pt x="2519806" y="831951"/>
                  </a:lnTo>
                  <a:lnTo>
                    <a:pt x="2519806" y="0"/>
                  </a:lnTo>
                  <a:lnTo>
                    <a:pt x="0" y="0"/>
                  </a:lnTo>
                  <a:lnTo>
                    <a:pt x="0" y="831951"/>
                  </a:lnTo>
                  <a:close/>
                </a:path>
              </a:pathLst>
            </a:custGeom>
            <a:ln w="9524">
              <a:solidFill>
                <a:srgbClr val="FF0000"/>
              </a:solidFill>
            </a:ln>
          </p:spPr>
          <p:txBody>
            <a:bodyPr wrap="square" lIns="0" tIns="0" rIns="0" bIns="0" rtlCol="0"/>
            <a:lstStyle/>
            <a:p/>
          </p:txBody>
        </p:sp>
      </p:grpSp>
      <p:sp>
        <p:nvSpPr>
          <p:cNvPr id="41" name="object 41" descr=""/>
          <p:cNvSpPr txBox="1"/>
          <p:nvPr/>
        </p:nvSpPr>
        <p:spPr>
          <a:xfrm>
            <a:off x="7712456" y="5666333"/>
            <a:ext cx="2159000" cy="748030"/>
          </a:xfrm>
          <a:prstGeom prst="rect">
            <a:avLst/>
          </a:prstGeom>
        </p:spPr>
        <p:txBody>
          <a:bodyPr wrap="square" lIns="0" tIns="12700" rIns="0" bIns="0" rtlCol="0" vert="horz">
            <a:spAutoFit/>
          </a:bodyPr>
          <a:lstStyle/>
          <a:p>
            <a:pPr marL="12700">
              <a:lnSpc>
                <a:spcPts val="2845"/>
              </a:lnSpc>
              <a:spcBef>
                <a:spcPts val="100"/>
              </a:spcBef>
            </a:pPr>
            <a:r>
              <a:rPr dirty="0" sz="2400" spc="-10">
                <a:solidFill>
                  <a:srgbClr val="FF0000"/>
                </a:solidFill>
                <a:latin typeface="黑体"/>
                <a:cs typeface="黑体"/>
              </a:rPr>
              <a:t>存取逻辑颠倒了</a:t>
            </a:r>
            <a:endParaRPr sz="2400">
              <a:latin typeface="黑体"/>
              <a:cs typeface="黑体"/>
            </a:endParaRPr>
          </a:p>
          <a:p>
            <a:pPr marL="12700">
              <a:lnSpc>
                <a:spcPts val="2845"/>
              </a:lnSpc>
            </a:pPr>
            <a:r>
              <a:rPr dirty="0" sz="2400" spc="-20">
                <a:solidFill>
                  <a:srgbClr val="FF0000"/>
                </a:solidFill>
                <a:latin typeface="黑体"/>
                <a:cs typeface="黑体"/>
              </a:rPr>
              <a:t>！！！！</a:t>
            </a:r>
            <a:endParaRPr sz="2400">
              <a:latin typeface="黑体"/>
              <a:cs typeface="黑体"/>
            </a:endParaRPr>
          </a:p>
        </p:txBody>
      </p:sp>
      <p:grpSp>
        <p:nvGrpSpPr>
          <p:cNvPr id="42" name="object 42" descr=""/>
          <p:cNvGrpSpPr/>
          <p:nvPr/>
        </p:nvGrpSpPr>
        <p:grpSpPr>
          <a:xfrm>
            <a:off x="10069131" y="5526087"/>
            <a:ext cx="657860" cy="640080"/>
            <a:chOff x="10069131" y="5526087"/>
            <a:chExt cx="657860" cy="640080"/>
          </a:xfrm>
        </p:grpSpPr>
        <p:sp>
          <p:nvSpPr>
            <p:cNvPr id="43" name="object 43" descr=""/>
            <p:cNvSpPr/>
            <p:nvPr/>
          </p:nvSpPr>
          <p:spPr>
            <a:xfrm>
              <a:off x="10073893" y="5530850"/>
              <a:ext cx="648335" cy="630555"/>
            </a:xfrm>
            <a:custGeom>
              <a:avLst/>
              <a:gdLst/>
              <a:ahLst/>
              <a:cxnLst/>
              <a:rect l="l" t="t" r="r" b="b"/>
              <a:pathLst>
                <a:path w="648334" h="630554">
                  <a:moveTo>
                    <a:pt x="435736" y="0"/>
                  </a:moveTo>
                  <a:lnTo>
                    <a:pt x="324103" y="169265"/>
                  </a:lnTo>
                  <a:lnTo>
                    <a:pt x="250571" y="66979"/>
                  </a:lnTo>
                  <a:lnTo>
                    <a:pt x="219455" y="184442"/>
                  </a:lnTo>
                  <a:lnTo>
                    <a:pt x="11049" y="66979"/>
                  </a:lnTo>
                  <a:lnTo>
                    <a:pt x="138810" y="222300"/>
                  </a:lnTo>
                  <a:lnTo>
                    <a:pt x="0" y="251421"/>
                  </a:lnTo>
                  <a:lnTo>
                    <a:pt x="111632" y="343636"/>
                  </a:lnTo>
                  <a:lnTo>
                    <a:pt x="4063" y="425703"/>
                  </a:lnTo>
                  <a:lnTo>
                    <a:pt x="170052" y="406742"/>
                  </a:lnTo>
                  <a:lnTo>
                    <a:pt x="142875" y="514134"/>
                  </a:lnTo>
                  <a:lnTo>
                    <a:pt x="231521" y="456056"/>
                  </a:lnTo>
                  <a:lnTo>
                    <a:pt x="254634" y="630377"/>
                  </a:lnTo>
                  <a:lnTo>
                    <a:pt x="315975" y="435863"/>
                  </a:lnTo>
                  <a:lnTo>
                    <a:pt x="397509" y="576008"/>
                  </a:lnTo>
                  <a:lnTo>
                    <a:pt x="420624" y="421919"/>
                  </a:lnTo>
                  <a:lnTo>
                    <a:pt x="544449" y="528091"/>
                  </a:lnTo>
                  <a:lnTo>
                    <a:pt x="505205" y="377697"/>
                  </a:lnTo>
                  <a:lnTo>
                    <a:pt x="648080" y="387858"/>
                  </a:lnTo>
                  <a:lnTo>
                    <a:pt x="528320" y="305701"/>
                  </a:lnTo>
                  <a:lnTo>
                    <a:pt x="632967" y="237477"/>
                  </a:lnTo>
                  <a:lnTo>
                    <a:pt x="501141" y="213487"/>
                  </a:lnTo>
                  <a:lnTo>
                    <a:pt x="551433" y="130073"/>
                  </a:lnTo>
                  <a:lnTo>
                    <a:pt x="424687" y="155409"/>
                  </a:lnTo>
                  <a:lnTo>
                    <a:pt x="435736" y="0"/>
                  </a:lnTo>
                  <a:close/>
                </a:path>
              </a:pathLst>
            </a:custGeom>
            <a:solidFill>
              <a:srgbClr val="EBD782"/>
            </a:solidFill>
          </p:spPr>
          <p:txBody>
            <a:bodyPr wrap="square" lIns="0" tIns="0" rIns="0" bIns="0" rtlCol="0"/>
            <a:lstStyle/>
            <a:p/>
          </p:txBody>
        </p:sp>
        <p:sp>
          <p:nvSpPr>
            <p:cNvPr id="44" name="object 44" descr=""/>
            <p:cNvSpPr/>
            <p:nvPr/>
          </p:nvSpPr>
          <p:spPr>
            <a:xfrm>
              <a:off x="10073893" y="5530850"/>
              <a:ext cx="648335" cy="630555"/>
            </a:xfrm>
            <a:custGeom>
              <a:avLst/>
              <a:gdLst/>
              <a:ahLst/>
              <a:cxnLst/>
              <a:rect l="l" t="t" r="r" b="b"/>
              <a:pathLst>
                <a:path w="648334" h="630554">
                  <a:moveTo>
                    <a:pt x="324103" y="169265"/>
                  </a:moveTo>
                  <a:lnTo>
                    <a:pt x="435736" y="0"/>
                  </a:lnTo>
                  <a:lnTo>
                    <a:pt x="424687" y="155409"/>
                  </a:lnTo>
                  <a:lnTo>
                    <a:pt x="551433" y="130073"/>
                  </a:lnTo>
                  <a:lnTo>
                    <a:pt x="501141" y="213487"/>
                  </a:lnTo>
                  <a:lnTo>
                    <a:pt x="632967" y="237477"/>
                  </a:lnTo>
                  <a:lnTo>
                    <a:pt x="528320" y="305701"/>
                  </a:lnTo>
                  <a:lnTo>
                    <a:pt x="648080" y="387858"/>
                  </a:lnTo>
                  <a:lnTo>
                    <a:pt x="505205" y="377697"/>
                  </a:lnTo>
                  <a:lnTo>
                    <a:pt x="544449" y="528091"/>
                  </a:lnTo>
                  <a:lnTo>
                    <a:pt x="420624" y="421919"/>
                  </a:lnTo>
                  <a:lnTo>
                    <a:pt x="397509" y="576008"/>
                  </a:lnTo>
                  <a:lnTo>
                    <a:pt x="315975" y="435863"/>
                  </a:lnTo>
                  <a:lnTo>
                    <a:pt x="254634" y="630377"/>
                  </a:lnTo>
                  <a:lnTo>
                    <a:pt x="231521" y="456056"/>
                  </a:lnTo>
                  <a:lnTo>
                    <a:pt x="142875" y="514134"/>
                  </a:lnTo>
                  <a:lnTo>
                    <a:pt x="170052" y="406742"/>
                  </a:lnTo>
                  <a:lnTo>
                    <a:pt x="4063" y="425703"/>
                  </a:lnTo>
                  <a:lnTo>
                    <a:pt x="111632" y="343636"/>
                  </a:lnTo>
                  <a:lnTo>
                    <a:pt x="0" y="251421"/>
                  </a:lnTo>
                  <a:lnTo>
                    <a:pt x="138810" y="222300"/>
                  </a:lnTo>
                  <a:lnTo>
                    <a:pt x="11049" y="66979"/>
                  </a:lnTo>
                  <a:lnTo>
                    <a:pt x="219455" y="184442"/>
                  </a:lnTo>
                  <a:lnTo>
                    <a:pt x="250571" y="66979"/>
                  </a:lnTo>
                  <a:lnTo>
                    <a:pt x="324103" y="169265"/>
                  </a:lnTo>
                  <a:close/>
                </a:path>
              </a:pathLst>
            </a:custGeom>
            <a:ln w="9525">
              <a:solidFill>
                <a:srgbClr val="40458B"/>
              </a:solidFill>
            </a:ln>
          </p:spPr>
          <p:txBody>
            <a:bodyPr wrap="square" lIns="0" tIns="0" rIns="0" bIns="0" rtlCol="0"/>
            <a:lstStyle/>
            <a:p/>
          </p:txBody>
        </p:sp>
      </p:gr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101/89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grpSp>
        <p:nvGrpSpPr>
          <p:cNvPr id="8" name="object 8" descr=""/>
          <p:cNvGrpSpPr/>
          <p:nvPr/>
        </p:nvGrpSpPr>
        <p:grpSpPr>
          <a:xfrm>
            <a:off x="6350" y="1800415"/>
            <a:ext cx="12185650" cy="5059680"/>
            <a:chOff x="6350" y="1800415"/>
            <a:chExt cx="12185650" cy="5059680"/>
          </a:xfrm>
        </p:grpSpPr>
        <p:sp>
          <p:nvSpPr>
            <p:cNvPr id="9" name="object 9"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10" name="object 10" descr=""/>
            <p:cNvSpPr/>
            <p:nvPr/>
          </p:nvSpPr>
          <p:spPr>
            <a:xfrm>
              <a:off x="5768085" y="1805177"/>
              <a:ext cx="325120" cy="358775"/>
            </a:xfrm>
            <a:custGeom>
              <a:avLst/>
              <a:gdLst/>
              <a:ahLst/>
              <a:cxnLst/>
              <a:rect l="l" t="t" r="r" b="b"/>
              <a:pathLst>
                <a:path w="325120" h="358775">
                  <a:moveTo>
                    <a:pt x="172212" y="0"/>
                  </a:moveTo>
                  <a:lnTo>
                    <a:pt x="167893" y="89535"/>
                  </a:lnTo>
                  <a:lnTo>
                    <a:pt x="8509" y="81914"/>
                  </a:lnTo>
                  <a:lnTo>
                    <a:pt x="0" y="261112"/>
                  </a:lnTo>
                  <a:lnTo>
                    <a:pt x="159258" y="268732"/>
                  </a:lnTo>
                  <a:lnTo>
                    <a:pt x="154939" y="358394"/>
                  </a:lnTo>
                  <a:lnTo>
                    <a:pt x="324612" y="186944"/>
                  </a:lnTo>
                  <a:lnTo>
                    <a:pt x="172212" y="0"/>
                  </a:lnTo>
                  <a:close/>
                </a:path>
              </a:pathLst>
            </a:custGeom>
            <a:solidFill>
              <a:srgbClr val="EBD782"/>
            </a:solidFill>
          </p:spPr>
          <p:txBody>
            <a:bodyPr wrap="square" lIns="0" tIns="0" rIns="0" bIns="0" rtlCol="0"/>
            <a:lstStyle/>
            <a:p/>
          </p:txBody>
        </p:sp>
        <p:sp>
          <p:nvSpPr>
            <p:cNvPr id="11" name="object 11" descr=""/>
            <p:cNvSpPr/>
            <p:nvPr/>
          </p:nvSpPr>
          <p:spPr>
            <a:xfrm>
              <a:off x="5768085" y="1805177"/>
              <a:ext cx="325120" cy="358775"/>
            </a:xfrm>
            <a:custGeom>
              <a:avLst/>
              <a:gdLst/>
              <a:ahLst/>
              <a:cxnLst/>
              <a:rect l="l" t="t" r="r" b="b"/>
              <a:pathLst>
                <a:path w="325120" h="358775">
                  <a:moveTo>
                    <a:pt x="324612" y="186944"/>
                  </a:moveTo>
                  <a:lnTo>
                    <a:pt x="154939" y="358394"/>
                  </a:lnTo>
                  <a:lnTo>
                    <a:pt x="159258" y="268732"/>
                  </a:lnTo>
                  <a:lnTo>
                    <a:pt x="0" y="261112"/>
                  </a:lnTo>
                  <a:lnTo>
                    <a:pt x="8509" y="81914"/>
                  </a:lnTo>
                  <a:lnTo>
                    <a:pt x="167893" y="89535"/>
                  </a:lnTo>
                  <a:lnTo>
                    <a:pt x="172212" y="0"/>
                  </a:lnTo>
                  <a:lnTo>
                    <a:pt x="324612" y="186944"/>
                  </a:lnTo>
                  <a:close/>
                </a:path>
              </a:pathLst>
            </a:custGeom>
            <a:ln w="9525">
              <a:solidFill>
                <a:srgbClr val="40458B"/>
              </a:solidFill>
            </a:ln>
          </p:spPr>
          <p:txBody>
            <a:bodyPr wrap="square" lIns="0" tIns="0" rIns="0" bIns="0" rtlCol="0"/>
            <a:lstStyle/>
            <a:p/>
          </p:txBody>
        </p:sp>
      </p:grpSp>
      <p:sp>
        <p:nvSpPr>
          <p:cNvPr id="12" name="object 12" descr=""/>
          <p:cNvSpPr txBox="1"/>
          <p:nvPr/>
        </p:nvSpPr>
        <p:spPr>
          <a:xfrm>
            <a:off x="137566" y="41275"/>
            <a:ext cx="1701800" cy="391160"/>
          </a:xfrm>
          <a:prstGeom prst="rect">
            <a:avLst/>
          </a:prstGeom>
        </p:spPr>
        <p:txBody>
          <a:bodyPr wrap="square" lIns="0" tIns="12700" rIns="0" bIns="0" rtlCol="0" vert="horz">
            <a:spAutoFit/>
          </a:bodyPr>
          <a:lstStyle/>
          <a:p>
            <a:pPr marL="12700">
              <a:lnSpc>
                <a:spcPct val="100000"/>
              </a:lnSpc>
              <a:spcBef>
                <a:spcPts val="100"/>
              </a:spcBef>
              <a:tabLst>
                <a:tab pos="469265" algn="l"/>
              </a:tabLst>
            </a:pPr>
            <a:r>
              <a:rPr dirty="0" sz="2400" spc="-25">
                <a:solidFill>
                  <a:srgbClr val="40458B"/>
                </a:solidFill>
                <a:latin typeface="Tahoma"/>
                <a:cs typeface="Tahoma"/>
              </a:rPr>
              <a:t>2.</a:t>
            </a:r>
            <a:r>
              <a:rPr dirty="0" sz="2400">
                <a:solidFill>
                  <a:srgbClr val="40458B"/>
                </a:solidFill>
                <a:latin typeface="Tahoma"/>
                <a:cs typeface="Tahoma"/>
              </a:rPr>
              <a:t>	</a:t>
            </a:r>
            <a:r>
              <a:rPr dirty="0" sz="2400" spc="-15">
                <a:solidFill>
                  <a:srgbClr val="E14B04"/>
                </a:solidFill>
                <a:latin typeface="黑体"/>
                <a:cs typeface="黑体"/>
              </a:rPr>
              <a:t>实例分析</a:t>
            </a:r>
            <a:endParaRPr sz="2400">
              <a:latin typeface="黑体"/>
              <a:cs typeface="黑体"/>
            </a:endParaRPr>
          </a:p>
        </p:txBody>
      </p:sp>
      <p:sp>
        <p:nvSpPr>
          <p:cNvPr id="13" name="object 13"/>
          <p:cNvSpPr txBox="1">
            <a:spLocks noGrp="1"/>
          </p:cNvSpPr>
          <p:nvPr>
            <p:ph type="title"/>
          </p:nvPr>
        </p:nvSpPr>
        <p:spPr>
          <a:xfrm>
            <a:off x="137566" y="416520"/>
            <a:ext cx="9224010" cy="829944"/>
          </a:xfrm>
          <a:prstGeom prst="rect"/>
        </p:spPr>
        <p:txBody>
          <a:bodyPr wrap="square" lIns="0" tIns="12065" rIns="0" bIns="0" rtlCol="0" vert="horz">
            <a:spAutoFit/>
          </a:bodyPr>
          <a:lstStyle/>
          <a:p>
            <a:pPr marL="12700" marR="5080">
              <a:lnSpc>
                <a:spcPct val="110000"/>
              </a:lnSpc>
              <a:spcBef>
                <a:spcPts val="95"/>
              </a:spcBef>
            </a:pPr>
            <a:r>
              <a:rPr dirty="0" u="none" sz="2400" spc="-20" b="1">
                <a:solidFill>
                  <a:srgbClr val="E14B04"/>
                </a:solidFill>
                <a:latin typeface="宋体"/>
                <a:cs typeface="宋体"/>
              </a:rPr>
              <a:t>例</a:t>
            </a:r>
            <a:r>
              <a:rPr dirty="0" u="none" sz="2400" b="1">
                <a:solidFill>
                  <a:srgbClr val="E14B04"/>
                </a:solidFill>
                <a:latin typeface="宋体"/>
                <a:cs typeface="宋体"/>
              </a:rPr>
              <a:t>6.11 </a:t>
            </a:r>
            <a:r>
              <a:rPr dirty="0" u="none" sz="2400" spc="-20" b="1">
                <a:solidFill>
                  <a:srgbClr val="000000"/>
                </a:solidFill>
                <a:latin typeface="宋体"/>
                <a:cs typeface="宋体"/>
              </a:rPr>
              <a:t>试用软流水技术处理例</a:t>
            </a:r>
            <a:r>
              <a:rPr dirty="0" u="none" sz="2400" spc="-25" b="1">
                <a:solidFill>
                  <a:srgbClr val="6600FF"/>
                </a:solidFill>
                <a:latin typeface="宋体"/>
                <a:cs typeface="宋体"/>
              </a:rPr>
              <a:t>6.1</a:t>
            </a:r>
            <a:r>
              <a:rPr dirty="0" u="none" sz="2400" spc="-20" b="1">
                <a:solidFill>
                  <a:srgbClr val="000000"/>
                </a:solidFill>
                <a:latin typeface="宋体"/>
                <a:cs typeface="宋体"/>
              </a:rPr>
              <a:t>中的循环，假设数组</a:t>
            </a:r>
            <a:r>
              <a:rPr dirty="0" u="none" sz="2400" spc="-20" b="1">
                <a:solidFill>
                  <a:srgbClr val="6600FF"/>
                </a:solidFill>
                <a:latin typeface="宋体"/>
                <a:cs typeface="宋体"/>
              </a:rPr>
              <a:t>x</a:t>
            </a:r>
            <a:r>
              <a:rPr dirty="0" u="none" sz="2400" spc="-20" b="1">
                <a:solidFill>
                  <a:srgbClr val="000000"/>
                </a:solidFill>
                <a:latin typeface="宋体"/>
                <a:cs typeface="宋体"/>
              </a:rPr>
              <a:t>有</a:t>
            </a:r>
            <a:r>
              <a:rPr dirty="0" u="none" sz="2400" spc="-20" b="1">
                <a:solidFill>
                  <a:srgbClr val="6600FF"/>
                </a:solidFill>
                <a:latin typeface="宋体"/>
                <a:cs typeface="宋体"/>
              </a:rPr>
              <a:t>n</a:t>
            </a:r>
            <a:r>
              <a:rPr dirty="0" u="none" sz="2400" spc="-30" b="1">
                <a:solidFill>
                  <a:srgbClr val="000000"/>
                </a:solidFill>
                <a:latin typeface="宋体"/>
                <a:cs typeface="宋体"/>
              </a:rPr>
              <a:t>个元素。</a:t>
            </a:r>
            <a:r>
              <a:rPr dirty="0" u="none" sz="2400" spc="70" b="1">
                <a:solidFill>
                  <a:srgbClr val="E14B04"/>
                </a:solidFill>
                <a:latin typeface="宋体"/>
                <a:cs typeface="宋体"/>
              </a:rPr>
              <a:t>解 </a:t>
            </a:r>
            <a:r>
              <a:rPr dirty="0" u="none" sz="2400" spc="-30" b="1">
                <a:solidFill>
                  <a:srgbClr val="000000"/>
                </a:solidFill>
                <a:latin typeface="宋体"/>
                <a:cs typeface="宋体"/>
              </a:rPr>
              <a:t>软流水需要从原循环的多个迭代中选择指令拼成新的循环，因此</a:t>
            </a:r>
            <a:endParaRPr sz="2400">
              <a:latin typeface="宋体"/>
              <a:cs typeface="宋体"/>
            </a:endParaRPr>
          </a:p>
        </p:txBody>
      </p:sp>
      <p:sp>
        <p:nvSpPr>
          <p:cNvPr id="14" name="object 14" descr=""/>
          <p:cNvSpPr txBox="1"/>
          <p:nvPr/>
        </p:nvSpPr>
        <p:spPr>
          <a:xfrm>
            <a:off x="599338" y="1221105"/>
            <a:ext cx="4909185" cy="1232535"/>
          </a:xfrm>
          <a:prstGeom prst="rect">
            <a:avLst/>
          </a:prstGeom>
        </p:spPr>
        <p:txBody>
          <a:bodyPr wrap="square" lIns="0" tIns="48895" rIns="0" bIns="0" rtlCol="0" vert="horz">
            <a:spAutoFit/>
          </a:bodyPr>
          <a:lstStyle/>
          <a:p>
            <a:pPr algn="ctr" marR="1506220">
              <a:lnSpc>
                <a:spcPct val="100000"/>
              </a:lnSpc>
              <a:spcBef>
                <a:spcPts val="385"/>
              </a:spcBef>
            </a:pPr>
            <a:r>
              <a:rPr dirty="0" sz="2400" spc="-25" b="1">
                <a:latin typeface="宋体"/>
                <a:cs typeface="宋体"/>
              </a:rPr>
              <a:t>我们首先将原循环展开。</a:t>
            </a:r>
            <a:endParaRPr sz="2400">
              <a:latin typeface="宋体"/>
              <a:cs typeface="宋体"/>
            </a:endParaRPr>
          </a:p>
          <a:p>
            <a:pPr algn="ctr" marL="476884">
              <a:lnSpc>
                <a:spcPct val="100000"/>
              </a:lnSpc>
              <a:spcBef>
                <a:spcPts val="290"/>
              </a:spcBef>
              <a:tabLst>
                <a:tab pos="2133600" algn="l"/>
              </a:tabLst>
            </a:pPr>
            <a:r>
              <a:rPr dirty="0" sz="2400" spc="-20" b="1">
                <a:latin typeface="宋体"/>
                <a:cs typeface="宋体"/>
              </a:rPr>
              <a:t>迭代</a:t>
            </a:r>
            <a:r>
              <a:rPr dirty="0" sz="2400" spc="-25" b="1">
                <a:latin typeface="宋体"/>
                <a:cs typeface="宋体"/>
              </a:rPr>
              <a:t>i：</a:t>
            </a:r>
            <a:r>
              <a:rPr dirty="0" sz="2400" b="1">
                <a:latin typeface="宋体"/>
                <a:cs typeface="宋体"/>
              </a:rPr>
              <a:t>	</a:t>
            </a:r>
            <a:r>
              <a:rPr dirty="0" sz="2400" spc="-20" b="1">
                <a:latin typeface="宋体"/>
                <a:cs typeface="宋体"/>
              </a:rPr>
              <a:t>；修改x[i]并保</a:t>
            </a:r>
            <a:r>
              <a:rPr dirty="0" sz="2400" spc="-50" b="1">
                <a:latin typeface="宋体"/>
                <a:cs typeface="宋体"/>
              </a:rPr>
              <a:t>存</a:t>
            </a:r>
            <a:endParaRPr sz="2400">
              <a:latin typeface="宋体"/>
              <a:cs typeface="宋体"/>
            </a:endParaRPr>
          </a:p>
          <a:p>
            <a:pPr marL="2294255">
              <a:lnSpc>
                <a:spcPct val="100000"/>
              </a:lnSpc>
              <a:spcBef>
                <a:spcPts val="290"/>
              </a:spcBef>
              <a:tabLst>
                <a:tab pos="3208655" algn="l"/>
              </a:tabLst>
            </a:pPr>
            <a:r>
              <a:rPr dirty="0" sz="2400" spc="-25" b="1">
                <a:solidFill>
                  <a:srgbClr val="0000CC"/>
                </a:solidFill>
                <a:latin typeface="宋体"/>
                <a:cs typeface="宋体"/>
              </a:rPr>
              <a:t>L.D</a:t>
            </a:r>
            <a:r>
              <a:rPr dirty="0" sz="2400" b="1">
                <a:solidFill>
                  <a:srgbClr val="0000CC"/>
                </a:solidFill>
                <a:latin typeface="宋体"/>
                <a:cs typeface="宋体"/>
              </a:rPr>
              <a:t>	</a:t>
            </a:r>
            <a:r>
              <a:rPr dirty="0" sz="2400" spc="-10" b="1">
                <a:solidFill>
                  <a:srgbClr val="0000CC"/>
                </a:solidFill>
                <a:latin typeface="宋体"/>
                <a:cs typeface="宋体"/>
              </a:rPr>
              <a:t>F0，0（R1）</a:t>
            </a:r>
            <a:endParaRPr sz="2400">
              <a:latin typeface="宋体"/>
              <a:cs typeface="宋体"/>
            </a:endParaRPr>
          </a:p>
        </p:txBody>
      </p:sp>
      <p:sp>
        <p:nvSpPr>
          <p:cNvPr id="15" name="object 15" descr=""/>
          <p:cNvSpPr txBox="1"/>
          <p:nvPr/>
        </p:nvSpPr>
        <p:spPr>
          <a:xfrm>
            <a:off x="1224178" y="3269741"/>
            <a:ext cx="1405255" cy="391160"/>
          </a:xfrm>
          <a:prstGeom prst="rect">
            <a:avLst/>
          </a:prstGeom>
        </p:spPr>
        <p:txBody>
          <a:bodyPr wrap="square" lIns="0" tIns="12700" rIns="0" bIns="0" rtlCol="0" vert="horz">
            <a:spAutoFit/>
          </a:bodyPr>
          <a:lstStyle/>
          <a:p>
            <a:pPr marL="12700">
              <a:lnSpc>
                <a:spcPct val="100000"/>
              </a:lnSpc>
              <a:spcBef>
                <a:spcPts val="100"/>
              </a:spcBef>
            </a:pPr>
            <a:r>
              <a:rPr dirty="0" sz="2400" spc="-20" b="1">
                <a:latin typeface="宋体"/>
                <a:cs typeface="宋体"/>
              </a:rPr>
              <a:t>迭代i+1：</a:t>
            </a:r>
            <a:endParaRPr sz="2400">
              <a:latin typeface="宋体"/>
              <a:cs typeface="宋体"/>
            </a:endParaRPr>
          </a:p>
        </p:txBody>
      </p:sp>
      <p:sp>
        <p:nvSpPr>
          <p:cNvPr id="16" name="object 16" descr=""/>
          <p:cNvSpPr txBox="1"/>
          <p:nvPr/>
        </p:nvSpPr>
        <p:spPr>
          <a:xfrm>
            <a:off x="1224178" y="4879035"/>
            <a:ext cx="1405890" cy="391795"/>
          </a:xfrm>
          <a:prstGeom prst="rect">
            <a:avLst/>
          </a:prstGeom>
        </p:spPr>
        <p:txBody>
          <a:bodyPr wrap="square" lIns="0" tIns="12700" rIns="0" bIns="0" rtlCol="0" vert="horz">
            <a:spAutoFit/>
          </a:bodyPr>
          <a:lstStyle/>
          <a:p>
            <a:pPr marL="12700">
              <a:lnSpc>
                <a:spcPct val="100000"/>
              </a:lnSpc>
              <a:spcBef>
                <a:spcPts val="100"/>
              </a:spcBef>
            </a:pPr>
            <a:r>
              <a:rPr dirty="0" sz="2400" spc="-25" b="1">
                <a:latin typeface="宋体"/>
                <a:cs typeface="宋体"/>
              </a:rPr>
              <a:t>迭代</a:t>
            </a:r>
            <a:r>
              <a:rPr dirty="0" sz="2400" spc="-20" b="1">
                <a:latin typeface="宋体"/>
                <a:cs typeface="宋体"/>
              </a:rPr>
              <a:t>i+2：</a:t>
            </a:r>
            <a:endParaRPr sz="2400">
              <a:latin typeface="宋体"/>
              <a:cs typeface="宋体"/>
            </a:endParaRPr>
          </a:p>
        </p:txBody>
      </p:sp>
      <p:sp>
        <p:nvSpPr>
          <p:cNvPr id="17" name="object 17" descr=""/>
          <p:cNvSpPr txBox="1"/>
          <p:nvPr/>
        </p:nvSpPr>
        <p:spPr>
          <a:xfrm>
            <a:off x="2881122" y="2446009"/>
            <a:ext cx="2787650" cy="4032250"/>
          </a:xfrm>
          <a:prstGeom prst="rect">
            <a:avLst/>
          </a:prstGeom>
        </p:spPr>
        <p:txBody>
          <a:bodyPr wrap="square" lIns="0" tIns="31750" rIns="0" bIns="0" rtlCol="0" vert="horz">
            <a:spAutoFit/>
          </a:bodyPr>
          <a:lstStyle/>
          <a:p>
            <a:pPr marL="12700">
              <a:lnSpc>
                <a:spcPct val="100000"/>
              </a:lnSpc>
              <a:spcBef>
                <a:spcPts val="250"/>
              </a:spcBef>
            </a:pPr>
            <a:r>
              <a:rPr dirty="0" sz="2400" b="1">
                <a:solidFill>
                  <a:srgbClr val="0000CC"/>
                </a:solidFill>
                <a:latin typeface="宋体"/>
                <a:cs typeface="宋体"/>
              </a:rPr>
              <a:t>ADD.D</a:t>
            </a:r>
            <a:r>
              <a:rPr dirty="0" sz="2400" spc="-140" b="1">
                <a:solidFill>
                  <a:srgbClr val="0000CC"/>
                </a:solidFill>
                <a:latin typeface="宋体"/>
                <a:cs typeface="宋体"/>
              </a:rPr>
              <a:t> </a:t>
            </a:r>
            <a:r>
              <a:rPr dirty="0" sz="2400" spc="-10" b="1">
                <a:solidFill>
                  <a:srgbClr val="0000CC"/>
                </a:solidFill>
                <a:latin typeface="宋体"/>
                <a:cs typeface="宋体"/>
              </a:rPr>
              <a:t>F4，F0，F2</a:t>
            </a:r>
            <a:endParaRPr sz="2400">
              <a:latin typeface="宋体"/>
              <a:cs typeface="宋体"/>
            </a:endParaRPr>
          </a:p>
          <a:p>
            <a:pPr marL="12700">
              <a:lnSpc>
                <a:spcPct val="100000"/>
              </a:lnSpc>
              <a:spcBef>
                <a:spcPts val="185"/>
              </a:spcBef>
              <a:tabLst>
                <a:tab pos="926465" algn="l"/>
              </a:tabLst>
            </a:pPr>
            <a:r>
              <a:rPr dirty="0" sz="2500" spc="-25" b="1" i="1">
                <a:solidFill>
                  <a:srgbClr val="FF09FF"/>
                </a:solidFill>
                <a:latin typeface="宋体"/>
                <a:cs typeface="宋体"/>
              </a:rPr>
              <a:t>S.D</a:t>
            </a:r>
            <a:r>
              <a:rPr dirty="0" sz="2500" b="1" i="1">
                <a:solidFill>
                  <a:srgbClr val="FF09FF"/>
                </a:solidFill>
                <a:latin typeface="宋体"/>
                <a:cs typeface="宋体"/>
              </a:rPr>
              <a:t>	</a:t>
            </a:r>
            <a:r>
              <a:rPr dirty="0" sz="2500" spc="-10" b="1" i="1">
                <a:solidFill>
                  <a:srgbClr val="FF09FF"/>
                </a:solidFill>
                <a:latin typeface="宋体"/>
                <a:cs typeface="宋体"/>
              </a:rPr>
              <a:t>F4，0（R1）</a:t>
            </a:r>
            <a:endParaRPr sz="2500">
              <a:latin typeface="宋体"/>
              <a:cs typeface="宋体"/>
            </a:endParaRPr>
          </a:p>
          <a:p>
            <a:pPr marL="12700">
              <a:lnSpc>
                <a:spcPct val="100000"/>
              </a:lnSpc>
              <a:spcBef>
                <a:spcPts val="270"/>
              </a:spcBef>
            </a:pPr>
            <a:r>
              <a:rPr dirty="0" sz="2400" spc="-20" b="1">
                <a:latin typeface="宋体"/>
                <a:cs typeface="宋体"/>
              </a:rPr>
              <a:t>；修改x[i-1]</a:t>
            </a:r>
            <a:r>
              <a:rPr dirty="0" sz="2400" spc="-35" b="1">
                <a:latin typeface="宋体"/>
                <a:cs typeface="宋体"/>
              </a:rPr>
              <a:t>并保存</a:t>
            </a:r>
            <a:endParaRPr sz="2400">
              <a:latin typeface="宋体"/>
              <a:cs typeface="宋体"/>
            </a:endParaRPr>
          </a:p>
          <a:p>
            <a:pPr marL="12700">
              <a:lnSpc>
                <a:spcPct val="100000"/>
              </a:lnSpc>
              <a:spcBef>
                <a:spcPts val="290"/>
              </a:spcBef>
              <a:tabLst>
                <a:tab pos="926465" algn="l"/>
              </a:tabLst>
            </a:pPr>
            <a:r>
              <a:rPr dirty="0" sz="2400" spc="-25" b="1">
                <a:solidFill>
                  <a:srgbClr val="0000CC"/>
                </a:solidFill>
                <a:latin typeface="宋体"/>
                <a:cs typeface="宋体"/>
              </a:rPr>
              <a:t>L.D</a:t>
            </a:r>
            <a:r>
              <a:rPr dirty="0" sz="2400" b="1">
                <a:solidFill>
                  <a:srgbClr val="0000CC"/>
                </a:solidFill>
                <a:latin typeface="宋体"/>
                <a:cs typeface="宋体"/>
              </a:rPr>
              <a:t>	</a:t>
            </a:r>
            <a:r>
              <a:rPr dirty="0" sz="2400" spc="-10" b="1">
                <a:solidFill>
                  <a:srgbClr val="0000CC"/>
                </a:solidFill>
                <a:latin typeface="宋体"/>
                <a:cs typeface="宋体"/>
              </a:rPr>
              <a:t>F0，0（R1）</a:t>
            </a:r>
            <a:endParaRPr sz="2400">
              <a:latin typeface="宋体"/>
              <a:cs typeface="宋体"/>
            </a:endParaRPr>
          </a:p>
          <a:p>
            <a:pPr marL="12700">
              <a:lnSpc>
                <a:spcPct val="100000"/>
              </a:lnSpc>
              <a:spcBef>
                <a:spcPts val="190"/>
              </a:spcBef>
            </a:pPr>
            <a:r>
              <a:rPr dirty="0" sz="2500" spc="-20" b="1" i="1">
                <a:solidFill>
                  <a:srgbClr val="FF09FF"/>
                </a:solidFill>
                <a:latin typeface="宋体"/>
                <a:cs typeface="宋体"/>
              </a:rPr>
              <a:t>ADD.D</a:t>
            </a:r>
            <a:r>
              <a:rPr dirty="0" sz="2500" spc="-285" b="1" i="1">
                <a:solidFill>
                  <a:srgbClr val="FF09FF"/>
                </a:solidFill>
                <a:latin typeface="宋体"/>
                <a:cs typeface="宋体"/>
              </a:rPr>
              <a:t> </a:t>
            </a:r>
            <a:r>
              <a:rPr dirty="0" sz="2500" spc="-10" b="1" i="1">
                <a:solidFill>
                  <a:srgbClr val="FF09FF"/>
                </a:solidFill>
                <a:latin typeface="宋体"/>
                <a:cs typeface="宋体"/>
              </a:rPr>
              <a:t>F4，F0，F2</a:t>
            </a:r>
            <a:endParaRPr sz="2500">
              <a:latin typeface="宋体"/>
              <a:cs typeface="宋体"/>
            </a:endParaRPr>
          </a:p>
          <a:p>
            <a:pPr marL="12700">
              <a:lnSpc>
                <a:spcPct val="100000"/>
              </a:lnSpc>
              <a:spcBef>
                <a:spcPts val="265"/>
              </a:spcBef>
              <a:tabLst>
                <a:tab pos="926465" algn="l"/>
              </a:tabLst>
            </a:pPr>
            <a:r>
              <a:rPr dirty="0" sz="2400" spc="-25" b="1">
                <a:solidFill>
                  <a:srgbClr val="0000CC"/>
                </a:solidFill>
                <a:latin typeface="宋体"/>
                <a:cs typeface="宋体"/>
              </a:rPr>
              <a:t>S.D</a:t>
            </a:r>
            <a:r>
              <a:rPr dirty="0" sz="2400" b="1">
                <a:solidFill>
                  <a:srgbClr val="0000CC"/>
                </a:solidFill>
                <a:latin typeface="宋体"/>
                <a:cs typeface="宋体"/>
              </a:rPr>
              <a:t>	</a:t>
            </a:r>
            <a:r>
              <a:rPr dirty="0" sz="2400" spc="-10" b="1">
                <a:solidFill>
                  <a:srgbClr val="0000CC"/>
                </a:solidFill>
                <a:latin typeface="宋体"/>
                <a:cs typeface="宋体"/>
              </a:rPr>
              <a:t>F4，0（R1）</a:t>
            </a:r>
            <a:endParaRPr sz="2400">
              <a:latin typeface="宋体"/>
              <a:cs typeface="宋体"/>
            </a:endParaRPr>
          </a:p>
          <a:p>
            <a:pPr marL="12700">
              <a:lnSpc>
                <a:spcPct val="100000"/>
              </a:lnSpc>
              <a:spcBef>
                <a:spcPts val="290"/>
              </a:spcBef>
            </a:pPr>
            <a:r>
              <a:rPr dirty="0" sz="2400" spc="-25" b="1">
                <a:latin typeface="宋体"/>
                <a:cs typeface="宋体"/>
              </a:rPr>
              <a:t>；修改</a:t>
            </a:r>
            <a:r>
              <a:rPr dirty="0" sz="2400" spc="-10" b="1">
                <a:latin typeface="宋体"/>
                <a:cs typeface="宋体"/>
              </a:rPr>
              <a:t>x[i-2]</a:t>
            </a:r>
            <a:r>
              <a:rPr dirty="0" sz="2400" spc="-35" b="1">
                <a:latin typeface="宋体"/>
                <a:cs typeface="宋体"/>
              </a:rPr>
              <a:t>并保存</a:t>
            </a:r>
            <a:endParaRPr sz="2400">
              <a:latin typeface="宋体"/>
              <a:cs typeface="宋体"/>
            </a:endParaRPr>
          </a:p>
          <a:p>
            <a:pPr marL="12700">
              <a:lnSpc>
                <a:spcPct val="100000"/>
              </a:lnSpc>
              <a:spcBef>
                <a:spcPts val="190"/>
              </a:spcBef>
              <a:tabLst>
                <a:tab pos="926465" algn="l"/>
              </a:tabLst>
            </a:pPr>
            <a:r>
              <a:rPr dirty="0" sz="2500" spc="-25" b="1" i="1">
                <a:solidFill>
                  <a:srgbClr val="FF09FF"/>
                </a:solidFill>
                <a:latin typeface="宋体"/>
                <a:cs typeface="宋体"/>
              </a:rPr>
              <a:t>L.D</a:t>
            </a:r>
            <a:r>
              <a:rPr dirty="0" sz="2500" b="1" i="1">
                <a:solidFill>
                  <a:srgbClr val="FF09FF"/>
                </a:solidFill>
                <a:latin typeface="宋体"/>
                <a:cs typeface="宋体"/>
              </a:rPr>
              <a:t>	</a:t>
            </a:r>
            <a:r>
              <a:rPr dirty="0" sz="2500" spc="-10" b="1" i="1">
                <a:solidFill>
                  <a:srgbClr val="FF09FF"/>
                </a:solidFill>
                <a:latin typeface="宋体"/>
                <a:cs typeface="宋体"/>
              </a:rPr>
              <a:t>F0，0（R1）</a:t>
            </a:r>
            <a:endParaRPr sz="2500">
              <a:latin typeface="宋体"/>
              <a:cs typeface="宋体"/>
            </a:endParaRPr>
          </a:p>
          <a:p>
            <a:pPr marL="12700">
              <a:lnSpc>
                <a:spcPct val="100000"/>
              </a:lnSpc>
              <a:spcBef>
                <a:spcPts val="265"/>
              </a:spcBef>
            </a:pPr>
            <a:r>
              <a:rPr dirty="0" sz="2400" b="1">
                <a:solidFill>
                  <a:srgbClr val="0000CC"/>
                </a:solidFill>
                <a:latin typeface="宋体"/>
                <a:cs typeface="宋体"/>
              </a:rPr>
              <a:t>ADD.D</a:t>
            </a:r>
            <a:r>
              <a:rPr dirty="0" sz="2400" spc="-140" b="1">
                <a:solidFill>
                  <a:srgbClr val="0000CC"/>
                </a:solidFill>
                <a:latin typeface="宋体"/>
                <a:cs typeface="宋体"/>
              </a:rPr>
              <a:t> </a:t>
            </a:r>
            <a:r>
              <a:rPr dirty="0" sz="2400" spc="-10" b="1">
                <a:solidFill>
                  <a:srgbClr val="0000CC"/>
                </a:solidFill>
                <a:latin typeface="宋体"/>
                <a:cs typeface="宋体"/>
              </a:rPr>
              <a:t>F4，F0，F2</a:t>
            </a:r>
            <a:endParaRPr sz="2400">
              <a:latin typeface="宋体"/>
              <a:cs typeface="宋体"/>
            </a:endParaRPr>
          </a:p>
          <a:p>
            <a:pPr marL="12700">
              <a:lnSpc>
                <a:spcPct val="100000"/>
              </a:lnSpc>
              <a:spcBef>
                <a:spcPts val="290"/>
              </a:spcBef>
              <a:tabLst>
                <a:tab pos="926465" algn="l"/>
              </a:tabLst>
            </a:pPr>
            <a:r>
              <a:rPr dirty="0" sz="2400" spc="-25" b="1">
                <a:solidFill>
                  <a:srgbClr val="0000CC"/>
                </a:solidFill>
                <a:latin typeface="宋体"/>
                <a:cs typeface="宋体"/>
              </a:rPr>
              <a:t>S.D</a:t>
            </a:r>
            <a:r>
              <a:rPr dirty="0" sz="2400" b="1">
                <a:solidFill>
                  <a:srgbClr val="0000CC"/>
                </a:solidFill>
                <a:latin typeface="宋体"/>
                <a:cs typeface="宋体"/>
              </a:rPr>
              <a:t>	</a:t>
            </a:r>
            <a:r>
              <a:rPr dirty="0" sz="2400" spc="-10" b="1">
                <a:solidFill>
                  <a:srgbClr val="0000CC"/>
                </a:solidFill>
                <a:latin typeface="宋体"/>
                <a:cs typeface="宋体"/>
              </a:rPr>
              <a:t>F4，0（R1）</a:t>
            </a:r>
            <a:endParaRPr sz="2400">
              <a:latin typeface="宋体"/>
              <a:cs typeface="宋体"/>
            </a:endParaRPr>
          </a:p>
        </p:txBody>
      </p:sp>
      <p:sp>
        <p:nvSpPr>
          <p:cNvPr id="18" name="object 18" descr=""/>
          <p:cNvSpPr txBox="1"/>
          <p:nvPr/>
        </p:nvSpPr>
        <p:spPr>
          <a:xfrm>
            <a:off x="119062" y="2730563"/>
            <a:ext cx="2232025" cy="462280"/>
          </a:xfrm>
          <a:prstGeom prst="rect">
            <a:avLst/>
          </a:prstGeom>
          <a:ln w="9525">
            <a:solidFill>
              <a:srgbClr val="FF0000"/>
            </a:solidFill>
          </a:ln>
        </p:spPr>
        <p:txBody>
          <a:bodyPr wrap="square" lIns="0" tIns="46355" rIns="0" bIns="0" rtlCol="0" vert="horz">
            <a:spAutoFit/>
          </a:bodyPr>
          <a:lstStyle/>
          <a:p>
            <a:pPr marL="91440">
              <a:lnSpc>
                <a:spcPct val="100000"/>
              </a:lnSpc>
              <a:spcBef>
                <a:spcPts val="365"/>
              </a:spcBef>
            </a:pPr>
            <a:r>
              <a:rPr dirty="0" sz="2400">
                <a:solidFill>
                  <a:srgbClr val="40458B"/>
                </a:solidFill>
                <a:latin typeface="黑体"/>
                <a:cs typeface="黑体"/>
              </a:rPr>
              <a:t>属于第</a:t>
            </a:r>
            <a:r>
              <a:rPr dirty="0" sz="2400" spc="-10">
                <a:solidFill>
                  <a:srgbClr val="40458B"/>
                </a:solidFill>
                <a:latin typeface="Tahoma"/>
                <a:cs typeface="Tahoma"/>
              </a:rPr>
              <a:t>i</a:t>
            </a:r>
            <a:r>
              <a:rPr dirty="0" sz="2400" spc="-20">
                <a:solidFill>
                  <a:srgbClr val="40458B"/>
                </a:solidFill>
                <a:latin typeface="黑体"/>
                <a:cs typeface="黑体"/>
              </a:rPr>
              <a:t>次迭代</a:t>
            </a:r>
            <a:endParaRPr sz="2400">
              <a:latin typeface="黑体"/>
              <a:cs typeface="黑体"/>
            </a:endParaRPr>
          </a:p>
        </p:txBody>
      </p:sp>
      <p:sp>
        <p:nvSpPr>
          <p:cNvPr id="19" name="object 19" descr=""/>
          <p:cNvSpPr txBox="1"/>
          <p:nvPr/>
        </p:nvSpPr>
        <p:spPr>
          <a:xfrm>
            <a:off x="6127750" y="1331163"/>
            <a:ext cx="5817235" cy="1846580"/>
          </a:xfrm>
          <a:prstGeom prst="rect">
            <a:avLst/>
          </a:prstGeom>
        </p:spPr>
        <p:txBody>
          <a:bodyPr wrap="square" lIns="0" tIns="12700" rIns="0" bIns="0" rtlCol="0" vert="horz">
            <a:spAutoFit/>
          </a:bodyPr>
          <a:lstStyle/>
          <a:p>
            <a:pPr marL="12700">
              <a:lnSpc>
                <a:spcPts val="2790"/>
              </a:lnSpc>
              <a:spcBef>
                <a:spcPts val="100"/>
              </a:spcBef>
            </a:pPr>
            <a:r>
              <a:rPr dirty="0" sz="2400" spc="-15">
                <a:solidFill>
                  <a:srgbClr val="FF0000"/>
                </a:solidFill>
                <a:latin typeface="黑体"/>
                <a:cs typeface="黑体"/>
              </a:rPr>
              <a:t>按照软流水操作：先取每个循环中的一部分</a:t>
            </a:r>
            <a:endParaRPr sz="2400">
              <a:latin typeface="黑体"/>
              <a:cs typeface="黑体"/>
            </a:endParaRPr>
          </a:p>
          <a:p>
            <a:pPr marL="12700">
              <a:lnSpc>
                <a:spcPts val="2790"/>
              </a:lnSpc>
            </a:pPr>
            <a:r>
              <a:rPr dirty="0" sz="2400">
                <a:solidFill>
                  <a:srgbClr val="FF0000"/>
                </a:solidFill>
                <a:latin typeface="黑体"/>
                <a:cs typeface="黑体"/>
              </a:rPr>
              <a:t>代码作为一个循环体，假设第</a:t>
            </a:r>
            <a:r>
              <a:rPr dirty="0" sz="2400">
                <a:solidFill>
                  <a:srgbClr val="FF0000"/>
                </a:solidFill>
                <a:latin typeface="Calibri"/>
                <a:cs typeface="Calibri"/>
              </a:rPr>
              <a:t>i</a:t>
            </a:r>
            <a:r>
              <a:rPr dirty="0" sz="2400" spc="-20">
                <a:solidFill>
                  <a:srgbClr val="FF0000"/>
                </a:solidFill>
                <a:latin typeface="黑体"/>
                <a:cs typeface="黑体"/>
              </a:rPr>
              <a:t>次循环</a:t>
            </a:r>
            <a:endParaRPr sz="2400">
              <a:latin typeface="黑体"/>
              <a:cs typeface="黑体"/>
            </a:endParaRPr>
          </a:p>
          <a:p>
            <a:pPr algn="just" marL="12700" marR="5080">
              <a:lnSpc>
                <a:spcPct val="98800"/>
              </a:lnSpc>
              <a:spcBef>
                <a:spcPts val="215"/>
              </a:spcBef>
            </a:pPr>
            <a:r>
              <a:rPr dirty="0" sz="2400">
                <a:solidFill>
                  <a:srgbClr val="FF0000"/>
                </a:solidFill>
                <a:latin typeface="黑体"/>
                <a:cs typeface="黑体"/>
              </a:rPr>
              <a:t>修改：</a:t>
            </a:r>
            <a:r>
              <a:rPr dirty="0" sz="2400">
                <a:solidFill>
                  <a:srgbClr val="00AF50"/>
                </a:solidFill>
                <a:latin typeface="黑体"/>
                <a:cs typeface="黑体"/>
              </a:rPr>
              <a:t>存上一次</a:t>
            </a:r>
            <a:r>
              <a:rPr dirty="0" sz="2400">
                <a:solidFill>
                  <a:srgbClr val="FF0000"/>
                </a:solidFill>
                <a:latin typeface="黑体"/>
                <a:cs typeface="黑体"/>
              </a:rPr>
              <a:t>循环计算出的结果，</a:t>
            </a:r>
            <a:r>
              <a:rPr dirty="0" sz="2400" spc="-20">
                <a:solidFill>
                  <a:srgbClr val="00AF50"/>
                </a:solidFill>
                <a:latin typeface="黑体"/>
                <a:cs typeface="黑体"/>
              </a:rPr>
              <a:t>计算下</a:t>
            </a:r>
            <a:r>
              <a:rPr dirty="0" sz="2400">
                <a:solidFill>
                  <a:srgbClr val="00AF50"/>
                </a:solidFill>
                <a:latin typeface="黑体"/>
                <a:cs typeface="黑体"/>
              </a:rPr>
              <a:t>一次</a:t>
            </a:r>
            <a:r>
              <a:rPr dirty="0" sz="2400" spc="-5">
                <a:solidFill>
                  <a:srgbClr val="FF0000"/>
                </a:solidFill>
                <a:latin typeface="黑体"/>
                <a:cs typeface="黑体"/>
              </a:rPr>
              <a:t>循环要存的值，</a:t>
            </a:r>
            <a:r>
              <a:rPr dirty="0" sz="2400">
                <a:solidFill>
                  <a:srgbClr val="00AF50"/>
                </a:solidFill>
                <a:latin typeface="黑体"/>
                <a:cs typeface="黑体"/>
              </a:rPr>
              <a:t>取下次</a:t>
            </a:r>
            <a:r>
              <a:rPr dirty="0" sz="2400" spc="-10">
                <a:solidFill>
                  <a:srgbClr val="FF0000"/>
                </a:solidFill>
                <a:latin typeface="黑体"/>
                <a:cs typeface="黑体"/>
              </a:rPr>
              <a:t>循环要计算的，</a:t>
            </a:r>
            <a:r>
              <a:rPr dirty="0" sz="2400" spc="-5">
                <a:solidFill>
                  <a:srgbClr val="FF0000"/>
                </a:solidFill>
                <a:latin typeface="黑体"/>
                <a:cs typeface="黑体"/>
              </a:rPr>
              <a:t>循环间的间隔确保大于轮流水线的延迟。</a:t>
            </a:r>
            <a:endParaRPr sz="2400">
              <a:latin typeface="黑体"/>
              <a:cs typeface="黑体"/>
            </a:endParaRPr>
          </a:p>
        </p:txBody>
      </p:sp>
      <p:sp>
        <p:nvSpPr>
          <p:cNvPr id="20" name="object 20" descr=""/>
          <p:cNvSpPr/>
          <p:nvPr/>
        </p:nvSpPr>
        <p:spPr>
          <a:xfrm>
            <a:off x="47625" y="4005262"/>
            <a:ext cx="2519680" cy="462280"/>
          </a:xfrm>
          <a:custGeom>
            <a:avLst/>
            <a:gdLst/>
            <a:ahLst/>
            <a:cxnLst/>
            <a:rect l="l" t="t" r="r" b="b"/>
            <a:pathLst>
              <a:path w="2519680" h="462279">
                <a:moveTo>
                  <a:pt x="0" y="461962"/>
                </a:moveTo>
                <a:lnTo>
                  <a:pt x="2519426" y="461962"/>
                </a:lnTo>
                <a:lnTo>
                  <a:pt x="2519426" y="0"/>
                </a:lnTo>
                <a:lnTo>
                  <a:pt x="0" y="0"/>
                </a:lnTo>
                <a:lnTo>
                  <a:pt x="0" y="461962"/>
                </a:lnTo>
                <a:close/>
              </a:path>
            </a:pathLst>
          </a:custGeom>
          <a:ln w="9525">
            <a:solidFill>
              <a:srgbClr val="FF0000"/>
            </a:solidFill>
          </a:ln>
        </p:spPr>
        <p:txBody>
          <a:bodyPr wrap="square" lIns="0" tIns="0" rIns="0" bIns="0" rtlCol="0"/>
          <a:lstStyle/>
          <a:p/>
        </p:txBody>
      </p:sp>
      <p:sp>
        <p:nvSpPr>
          <p:cNvPr id="21" name="object 21" descr=""/>
          <p:cNvSpPr txBox="1"/>
          <p:nvPr/>
        </p:nvSpPr>
        <p:spPr>
          <a:xfrm>
            <a:off x="126288" y="4039361"/>
            <a:ext cx="2313305"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黑体"/>
                <a:cs typeface="黑体"/>
              </a:rPr>
              <a:t>属于第</a:t>
            </a:r>
            <a:r>
              <a:rPr dirty="0" sz="2400" spc="-20">
                <a:solidFill>
                  <a:srgbClr val="40458B"/>
                </a:solidFill>
                <a:latin typeface="Tahoma"/>
                <a:cs typeface="Tahoma"/>
              </a:rPr>
              <a:t>i+1</a:t>
            </a:r>
            <a:r>
              <a:rPr dirty="0" sz="2400" spc="-20">
                <a:solidFill>
                  <a:srgbClr val="40458B"/>
                </a:solidFill>
                <a:latin typeface="黑体"/>
                <a:cs typeface="黑体"/>
              </a:rPr>
              <a:t>次迭代</a:t>
            </a:r>
            <a:endParaRPr sz="2400">
              <a:latin typeface="黑体"/>
              <a:cs typeface="黑体"/>
            </a:endParaRPr>
          </a:p>
        </p:txBody>
      </p:sp>
      <p:grpSp>
        <p:nvGrpSpPr>
          <p:cNvPr id="22" name="object 22" descr=""/>
          <p:cNvGrpSpPr/>
          <p:nvPr/>
        </p:nvGrpSpPr>
        <p:grpSpPr>
          <a:xfrm>
            <a:off x="8886888" y="3100387"/>
            <a:ext cx="370205" cy="657225"/>
            <a:chOff x="8886888" y="3100387"/>
            <a:chExt cx="370205" cy="657225"/>
          </a:xfrm>
        </p:grpSpPr>
        <p:sp>
          <p:nvSpPr>
            <p:cNvPr id="23" name="object 23" descr=""/>
            <p:cNvSpPr/>
            <p:nvPr/>
          </p:nvSpPr>
          <p:spPr>
            <a:xfrm>
              <a:off x="8891651" y="3105150"/>
              <a:ext cx="360680" cy="647700"/>
            </a:xfrm>
            <a:custGeom>
              <a:avLst/>
              <a:gdLst/>
              <a:ahLst/>
              <a:cxnLst/>
              <a:rect l="l" t="t" r="r" b="b"/>
              <a:pathLst>
                <a:path w="360679" h="647700">
                  <a:moveTo>
                    <a:pt x="270255" y="0"/>
                  </a:moveTo>
                  <a:lnTo>
                    <a:pt x="90043" y="0"/>
                  </a:lnTo>
                  <a:lnTo>
                    <a:pt x="90043" y="467740"/>
                  </a:lnTo>
                  <a:lnTo>
                    <a:pt x="0" y="467740"/>
                  </a:lnTo>
                  <a:lnTo>
                    <a:pt x="180085" y="647700"/>
                  </a:lnTo>
                  <a:lnTo>
                    <a:pt x="360299" y="467740"/>
                  </a:lnTo>
                  <a:lnTo>
                    <a:pt x="270255" y="467740"/>
                  </a:lnTo>
                  <a:lnTo>
                    <a:pt x="270255" y="0"/>
                  </a:lnTo>
                  <a:close/>
                </a:path>
              </a:pathLst>
            </a:custGeom>
            <a:solidFill>
              <a:srgbClr val="EBD782"/>
            </a:solidFill>
          </p:spPr>
          <p:txBody>
            <a:bodyPr wrap="square" lIns="0" tIns="0" rIns="0" bIns="0" rtlCol="0"/>
            <a:lstStyle/>
            <a:p/>
          </p:txBody>
        </p:sp>
        <p:sp>
          <p:nvSpPr>
            <p:cNvPr id="24" name="object 24" descr=""/>
            <p:cNvSpPr/>
            <p:nvPr/>
          </p:nvSpPr>
          <p:spPr>
            <a:xfrm>
              <a:off x="8891651" y="3105150"/>
              <a:ext cx="360680" cy="647700"/>
            </a:xfrm>
            <a:custGeom>
              <a:avLst/>
              <a:gdLst/>
              <a:ahLst/>
              <a:cxnLst/>
              <a:rect l="l" t="t" r="r" b="b"/>
              <a:pathLst>
                <a:path w="360679" h="647700">
                  <a:moveTo>
                    <a:pt x="180085" y="647700"/>
                  </a:moveTo>
                  <a:lnTo>
                    <a:pt x="0" y="467740"/>
                  </a:lnTo>
                  <a:lnTo>
                    <a:pt x="90043" y="467740"/>
                  </a:lnTo>
                  <a:lnTo>
                    <a:pt x="90043" y="0"/>
                  </a:lnTo>
                  <a:lnTo>
                    <a:pt x="270255" y="0"/>
                  </a:lnTo>
                  <a:lnTo>
                    <a:pt x="270255" y="467740"/>
                  </a:lnTo>
                  <a:lnTo>
                    <a:pt x="360299" y="467740"/>
                  </a:lnTo>
                  <a:lnTo>
                    <a:pt x="180085" y="647700"/>
                  </a:lnTo>
                  <a:close/>
                </a:path>
              </a:pathLst>
            </a:custGeom>
            <a:ln w="9525">
              <a:solidFill>
                <a:srgbClr val="40458B"/>
              </a:solidFill>
            </a:ln>
          </p:spPr>
          <p:txBody>
            <a:bodyPr wrap="square" lIns="0" tIns="0" rIns="0" bIns="0" rtlCol="0"/>
            <a:lstStyle/>
            <a:p/>
          </p:txBody>
        </p:sp>
      </p:grpSp>
      <p:sp>
        <p:nvSpPr>
          <p:cNvPr id="25" name="object 25" descr=""/>
          <p:cNvSpPr/>
          <p:nvPr/>
        </p:nvSpPr>
        <p:spPr>
          <a:xfrm>
            <a:off x="0" y="5654675"/>
            <a:ext cx="2491105" cy="460375"/>
          </a:xfrm>
          <a:custGeom>
            <a:avLst/>
            <a:gdLst/>
            <a:ahLst/>
            <a:cxnLst/>
            <a:rect l="l" t="t" r="r" b="b"/>
            <a:pathLst>
              <a:path w="2491105" h="460375">
                <a:moveTo>
                  <a:pt x="0" y="460375"/>
                </a:moveTo>
                <a:lnTo>
                  <a:pt x="2490851" y="460375"/>
                </a:lnTo>
                <a:lnTo>
                  <a:pt x="2490851" y="0"/>
                </a:lnTo>
                <a:lnTo>
                  <a:pt x="0" y="0"/>
                </a:lnTo>
              </a:path>
            </a:pathLst>
          </a:custGeom>
          <a:ln w="9525">
            <a:solidFill>
              <a:srgbClr val="FF0000"/>
            </a:solidFill>
          </a:ln>
        </p:spPr>
        <p:txBody>
          <a:bodyPr wrap="square" lIns="0" tIns="0" rIns="0" bIns="0" rtlCol="0"/>
          <a:lstStyle/>
          <a:p/>
        </p:txBody>
      </p:sp>
      <p:sp>
        <p:nvSpPr>
          <p:cNvPr id="26" name="object 26" descr=""/>
          <p:cNvSpPr txBox="1"/>
          <p:nvPr/>
        </p:nvSpPr>
        <p:spPr>
          <a:xfrm>
            <a:off x="50088" y="5689193"/>
            <a:ext cx="2313305"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黑体"/>
                <a:cs typeface="黑体"/>
              </a:rPr>
              <a:t>属于第</a:t>
            </a:r>
            <a:r>
              <a:rPr dirty="0" sz="2400" spc="-20">
                <a:solidFill>
                  <a:srgbClr val="40458B"/>
                </a:solidFill>
                <a:latin typeface="Tahoma"/>
                <a:cs typeface="Tahoma"/>
              </a:rPr>
              <a:t>i+2</a:t>
            </a:r>
            <a:r>
              <a:rPr dirty="0" sz="2400" spc="-20">
                <a:solidFill>
                  <a:srgbClr val="40458B"/>
                </a:solidFill>
                <a:latin typeface="黑体"/>
                <a:cs typeface="黑体"/>
              </a:rPr>
              <a:t>次迭代</a:t>
            </a:r>
            <a:endParaRPr sz="2400">
              <a:latin typeface="黑体"/>
              <a:cs typeface="黑体"/>
            </a:endParaRPr>
          </a:p>
        </p:txBody>
      </p:sp>
      <p:grpSp>
        <p:nvGrpSpPr>
          <p:cNvPr id="27" name="object 27" descr=""/>
          <p:cNvGrpSpPr/>
          <p:nvPr/>
        </p:nvGrpSpPr>
        <p:grpSpPr>
          <a:xfrm>
            <a:off x="2346388" y="3187763"/>
            <a:ext cx="586105" cy="246379"/>
            <a:chOff x="2346388" y="3187763"/>
            <a:chExt cx="586105" cy="246379"/>
          </a:xfrm>
        </p:grpSpPr>
        <p:sp>
          <p:nvSpPr>
            <p:cNvPr id="28" name="object 28" descr=""/>
            <p:cNvSpPr/>
            <p:nvPr/>
          </p:nvSpPr>
          <p:spPr>
            <a:xfrm>
              <a:off x="2351151" y="3192526"/>
              <a:ext cx="576580" cy="236854"/>
            </a:xfrm>
            <a:custGeom>
              <a:avLst/>
              <a:gdLst/>
              <a:ahLst/>
              <a:cxnLst/>
              <a:rect l="l" t="t" r="r" b="b"/>
              <a:pathLst>
                <a:path w="576580" h="236854">
                  <a:moveTo>
                    <a:pt x="457835" y="0"/>
                  </a:moveTo>
                  <a:lnTo>
                    <a:pt x="457835" y="59054"/>
                  </a:lnTo>
                  <a:lnTo>
                    <a:pt x="0" y="59054"/>
                  </a:lnTo>
                  <a:lnTo>
                    <a:pt x="0" y="177291"/>
                  </a:lnTo>
                  <a:lnTo>
                    <a:pt x="457835" y="177291"/>
                  </a:lnTo>
                  <a:lnTo>
                    <a:pt x="457835" y="236474"/>
                  </a:lnTo>
                  <a:lnTo>
                    <a:pt x="576199" y="118237"/>
                  </a:lnTo>
                  <a:lnTo>
                    <a:pt x="457835" y="0"/>
                  </a:lnTo>
                  <a:close/>
                </a:path>
              </a:pathLst>
            </a:custGeom>
            <a:solidFill>
              <a:srgbClr val="EBD782"/>
            </a:solidFill>
          </p:spPr>
          <p:txBody>
            <a:bodyPr wrap="square" lIns="0" tIns="0" rIns="0" bIns="0" rtlCol="0"/>
            <a:lstStyle/>
            <a:p/>
          </p:txBody>
        </p:sp>
        <p:sp>
          <p:nvSpPr>
            <p:cNvPr id="29" name="object 29" descr=""/>
            <p:cNvSpPr/>
            <p:nvPr/>
          </p:nvSpPr>
          <p:spPr>
            <a:xfrm>
              <a:off x="2351151" y="3192526"/>
              <a:ext cx="576580" cy="236854"/>
            </a:xfrm>
            <a:custGeom>
              <a:avLst/>
              <a:gdLst/>
              <a:ahLst/>
              <a:cxnLst/>
              <a:rect l="l" t="t" r="r" b="b"/>
              <a:pathLst>
                <a:path w="576580" h="236854">
                  <a:moveTo>
                    <a:pt x="0" y="59054"/>
                  </a:moveTo>
                  <a:lnTo>
                    <a:pt x="457835" y="59054"/>
                  </a:lnTo>
                  <a:lnTo>
                    <a:pt x="457835" y="0"/>
                  </a:lnTo>
                  <a:lnTo>
                    <a:pt x="576199" y="118237"/>
                  </a:lnTo>
                  <a:lnTo>
                    <a:pt x="457835" y="236474"/>
                  </a:lnTo>
                  <a:lnTo>
                    <a:pt x="457835" y="177291"/>
                  </a:lnTo>
                  <a:lnTo>
                    <a:pt x="0" y="177291"/>
                  </a:lnTo>
                  <a:lnTo>
                    <a:pt x="0" y="59054"/>
                  </a:lnTo>
                  <a:close/>
                </a:path>
              </a:pathLst>
            </a:custGeom>
            <a:ln w="9525">
              <a:solidFill>
                <a:srgbClr val="40458B"/>
              </a:solidFill>
            </a:ln>
          </p:spPr>
          <p:txBody>
            <a:bodyPr wrap="square" lIns="0" tIns="0" rIns="0" bIns="0" rtlCol="0"/>
            <a:lstStyle/>
            <a:p/>
          </p:txBody>
        </p:sp>
      </p:grpSp>
      <p:grpSp>
        <p:nvGrpSpPr>
          <p:cNvPr id="30" name="object 30" descr=""/>
          <p:cNvGrpSpPr/>
          <p:nvPr/>
        </p:nvGrpSpPr>
        <p:grpSpPr>
          <a:xfrm>
            <a:off x="2351087" y="4311713"/>
            <a:ext cx="586105" cy="244475"/>
            <a:chOff x="2351087" y="4311713"/>
            <a:chExt cx="586105" cy="244475"/>
          </a:xfrm>
        </p:grpSpPr>
        <p:sp>
          <p:nvSpPr>
            <p:cNvPr id="31" name="object 31" descr=""/>
            <p:cNvSpPr/>
            <p:nvPr/>
          </p:nvSpPr>
          <p:spPr>
            <a:xfrm>
              <a:off x="2355850" y="4316476"/>
              <a:ext cx="576580" cy="234950"/>
            </a:xfrm>
            <a:custGeom>
              <a:avLst/>
              <a:gdLst/>
              <a:ahLst/>
              <a:cxnLst/>
              <a:rect l="l" t="t" r="r" b="b"/>
              <a:pathLst>
                <a:path w="576580" h="234950">
                  <a:moveTo>
                    <a:pt x="457962" y="0"/>
                  </a:moveTo>
                  <a:lnTo>
                    <a:pt x="457962" y="58674"/>
                  </a:lnTo>
                  <a:lnTo>
                    <a:pt x="0" y="58674"/>
                  </a:lnTo>
                  <a:lnTo>
                    <a:pt x="0" y="176149"/>
                  </a:lnTo>
                  <a:lnTo>
                    <a:pt x="457962" y="176149"/>
                  </a:lnTo>
                  <a:lnTo>
                    <a:pt x="457962" y="234950"/>
                  </a:lnTo>
                  <a:lnTo>
                    <a:pt x="576326" y="117475"/>
                  </a:lnTo>
                  <a:lnTo>
                    <a:pt x="457962" y="0"/>
                  </a:lnTo>
                  <a:close/>
                </a:path>
              </a:pathLst>
            </a:custGeom>
            <a:solidFill>
              <a:srgbClr val="EBD782"/>
            </a:solidFill>
          </p:spPr>
          <p:txBody>
            <a:bodyPr wrap="square" lIns="0" tIns="0" rIns="0" bIns="0" rtlCol="0"/>
            <a:lstStyle/>
            <a:p/>
          </p:txBody>
        </p:sp>
        <p:sp>
          <p:nvSpPr>
            <p:cNvPr id="32" name="object 32" descr=""/>
            <p:cNvSpPr/>
            <p:nvPr/>
          </p:nvSpPr>
          <p:spPr>
            <a:xfrm>
              <a:off x="2355850" y="4316476"/>
              <a:ext cx="576580" cy="234950"/>
            </a:xfrm>
            <a:custGeom>
              <a:avLst/>
              <a:gdLst/>
              <a:ahLst/>
              <a:cxnLst/>
              <a:rect l="l" t="t" r="r" b="b"/>
              <a:pathLst>
                <a:path w="576580" h="234950">
                  <a:moveTo>
                    <a:pt x="0" y="58674"/>
                  </a:moveTo>
                  <a:lnTo>
                    <a:pt x="457962" y="58674"/>
                  </a:lnTo>
                  <a:lnTo>
                    <a:pt x="457962" y="0"/>
                  </a:lnTo>
                  <a:lnTo>
                    <a:pt x="576326" y="117475"/>
                  </a:lnTo>
                  <a:lnTo>
                    <a:pt x="457962" y="234950"/>
                  </a:lnTo>
                  <a:lnTo>
                    <a:pt x="457962" y="176149"/>
                  </a:lnTo>
                  <a:lnTo>
                    <a:pt x="0" y="176149"/>
                  </a:lnTo>
                  <a:lnTo>
                    <a:pt x="0" y="58674"/>
                  </a:lnTo>
                  <a:close/>
                </a:path>
              </a:pathLst>
            </a:custGeom>
            <a:ln w="9525">
              <a:solidFill>
                <a:srgbClr val="40458B"/>
              </a:solidFill>
            </a:ln>
          </p:spPr>
          <p:txBody>
            <a:bodyPr wrap="square" lIns="0" tIns="0" rIns="0" bIns="0" rtlCol="0"/>
            <a:lstStyle/>
            <a:p/>
          </p:txBody>
        </p:sp>
      </p:grpSp>
      <p:grpSp>
        <p:nvGrpSpPr>
          <p:cNvPr id="33" name="object 33" descr=""/>
          <p:cNvGrpSpPr/>
          <p:nvPr/>
        </p:nvGrpSpPr>
        <p:grpSpPr>
          <a:xfrm>
            <a:off x="2312987" y="5565838"/>
            <a:ext cx="586105" cy="246379"/>
            <a:chOff x="2312987" y="5565838"/>
            <a:chExt cx="586105" cy="246379"/>
          </a:xfrm>
        </p:grpSpPr>
        <p:sp>
          <p:nvSpPr>
            <p:cNvPr id="34" name="object 34" descr=""/>
            <p:cNvSpPr/>
            <p:nvPr/>
          </p:nvSpPr>
          <p:spPr>
            <a:xfrm>
              <a:off x="2317750" y="5570601"/>
              <a:ext cx="576580" cy="236854"/>
            </a:xfrm>
            <a:custGeom>
              <a:avLst/>
              <a:gdLst/>
              <a:ahLst/>
              <a:cxnLst/>
              <a:rect l="l" t="t" r="r" b="b"/>
              <a:pathLst>
                <a:path w="576580" h="236854">
                  <a:moveTo>
                    <a:pt x="457962" y="0"/>
                  </a:moveTo>
                  <a:lnTo>
                    <a:pt x="457962" y="59067"/>
                  </a:lnTo>
                  <a:lnTo>
                    <a:pt x="0" y="59067"/>
                  </a:lnTo>
                  <a:lnTo>
                    <a:pt x="0" y="177342"/>
                  </a:lnTo>
                  <a:lnTo>
                    <a:pt x="457962" y="177342"/>
                  </a:lnTo>
                  <a:lnTo>
                    <a:pt x="457962" y="236474"/>
                  </a:lnTo>
                  <a:lnTo>
                    <a:pt x="576326" y="118211"/>
                  </a:lnTo>
                  <a:lnTo>
                    <a:pt x="457962" y="0"/>
                  </a:lnTo>
                  <a:close/>
                </a:path>
              </a:pathLst>
            </a:custGeom>
            <a:solidFill>
              <a:srgbClr val="EBD782"/>
            </a:solidFill>
          </p:spPr>
          <p:txBody>
            <a:bodyPr wrap="square" lIns="0" tIns="0" rIns="0" bIns="0" rtlCol="0"/>
            <a:lstStyle/>
            <a:p/>
          </p:txBody>
        </p:sp>
        <p:sp>
          <p:nvSpPr>
            <p:cNvPr id="35" name="object 35" descr=""/>
            <p:cNvSpPr/>
            <p:nvPr/>
          </p:nvSpPr>
          <p:spPr>
            <a:xfrm>
              <a:off x="2317750" y="5570601"/>
              <a:ext cx="576580" cy="236854"/>
            </a:xfrm>
            <a:custGeom>
              <a:avLst/>
              <a:gdLst/>
              <a:ahLst/>
              <a:cxnLst/>
              <a:rect l="l" t="t" r="r" b="b"/>
              <a:pathLst>
                <a:path w="576580" h="236854">
                  <a:moveTo>
                    <a:pt x="0" y="59067"/>
                  </a:moveTo>
                  <a:lnTo>
                    <a:pt x="457962" y="59067"/>
                  </a:lnTo>
                  <a:lnTo>
                    <a:pt x="457962" y="0"/>
                  </a:lnTo>
                  <a:lnTo>
                    <a:pt x="576326" y="118211"/>
                  </a:lnTo>
                  <a:lnTo>
                    <a:pt x="457962" y="236474"/>
                  </a:lnTo>
                  <a:lnTo>
                    <a:pt x="457962" y="177342"/>
                  </a:lnTo>
                  <a:lnTo>
                    <a:pt x="0" y="177342"/>
                  </a:lnTo>
                  <a:lnTo>
                    <a:pt x="0" y="59067"/>
                  </a:lnTo>
                  <a:close/>
                </a:path>
              </a:pathLst>
            </a:custGeom>
            <a:ln w="9525">
              <a:solidFill>
                <a:srgbClr val="40458B"/>
              </a:solidFill>
            </a:ln>
          </p:spPr>
          <p:txBody>
            <a:bodyPr wrap="square" lIns="0" tIns="0" rIns="0" bIns="0" rtlCol="0"/>
            <a:lstStyle/>
            <a:p/>
          </p:txBody>
        </p:sp>
      </p:grpSp>
      <p:sp>
        <p:nvSpPr>
          <p:cNvPr id="36" name="object 36" descr=""/>
          <p:cNvSpPr txBox="1"/>
          <p:nvPr/>
        </p:nvSpPr>
        <p:spPr>
          <a:xfrm>
            <a:off x="6263766" y="3519927"/>
            <a:ext cx="4916170" cy="1671955"/>
          </a:xfrm>
          <a:prstGeom prst="rect">
            <a:avLst/>
          </a:prstGeom>
        </p:spPr>
        <p:txBody>
          <a:bodyPr wrap="square" lIns="0" tIns="12065" rIns="0" bIns="0" rtlCol="0" vert="horz">
            <a:spAutoFit/>
          </a:bodyPr>
          <a:lstStyle/>
          <a:p>
            <a:pPr marL="12700" marR="5080">
              <a:lnSpc>
                <a:spcPct val="144000"/>
              </a:lnSpc>
              <a:spcBef>
                <a:spcPts val="95"/>
              </a:spcBef>
              <a:tabLst>
                <a:tab pos="1211580" algn="l"/>
                <a:tab pos="3056255" algn="l"/>
                <a:tab pos="3208655" algn="l"/>
              </a:tabLst>
            </a:pPr>
            <a:r>
              <a:rPr dirty="0" sz="2500" spc="-25" b="1" i="1">
                <a:solidFill>
                  <a:srgbClr val="FF09FF"/>
                </a:solidFill>
                <a:latin typeface="宋体"/>
                <a:cs typeface="宋体"/>
              </a:rPr>
              <a:t>S.D</a:t>
            </a:r>
            <a:r>
              <a:rPr dirty="0" sz="2500" b="1" i="1">
                <a:solidFill>
                  <a:srgbClr val="FF09FF"/>
                </a:solidFill>
                <a:latin typeface="宋体"/>
                <a:cs typeface="宋体"/>
              </a:rPr>
              <a:t>	</a:t>
            </a:r>
            <a:r>
              <a:rPr dirty="0" sz="2500" spc="-10" b="1" i="1">
                <a:solidFill>
                  <a:srgbClr val="FF09FF"/>
                </a:solidFill>
                <a:latin typeface="宋体"/>
                <a:cs typeface="宋体"/>
              </a:rPr>
              <a:t>F4，0（R1）</a:t>
            </a:r>
            <a:r>
              <a:rPr dirty="0" sz="2500" b="1" i="1">
                <a:solidFill>
                  <a:srgbClr val="FF09FF"/>
                </a:solidFill>
                <a:latin typeface="宋体"/>
                <a:cs typeface="宋体"/>
              </a:rPr>
              <a:t>		#</a:t>
            </a:r>
            <a:r>
              <a:rPr dirty="0" sz="2500" spc="-90" b="1" i="1">
                <a:solidFill>
                  <a:srgbClr val="FF09FF"/>
                </a:solidFill>
                <a:latin typeface="宋体"/>
                <a:cs typeface="宋体"/>
              </a:rPr>
              <a:t> </a:t>
            </a:r>
            <a:r>
              <a:rPr dirty="0" sz="2500" spc="-114" b="1" i="1">
                <a:solidFill>
                  <a:srgbClr val="00AF50"/>
                </a:solidFill>
                <a:latin typeface="宋体"/>
                <a:cs typeface="宋体"/>
              </a:rPr>
              <a:t>存</a:t>
            </a:r>
            <a:r>
              <a:rPr dirty="0" sz="2500" spc="-20" b="1" i="1">
                <a:solidFill>
                  <a:srgbClr val="00AF50"/>
                </a:solidFill>
                <a:latin typeface="宋体"/>
                <a:cs typeface="宋体"/>
              </a:rPr>
              <a:t>X[i] </a:t>
            </a:r>
            <a:r>
              <a:rPr dirty="0" sz="2500" spc="-10" b="1" i="1">
                <a:solidFill>
                  <a:srgbClr val="FF09FF"/>
                </a:solidFill>
                <a:latin typeface="宋体"/>
                <a:cs typeface="宋体"/>
              </a:rPr>
              <a:t>ADD.D</a:t>
            </a:r>
            <a:r>
              <a:rPr dirty="0" sz="2500" b="1" i="1">
                <a:solidFill>
                  <a:srgbClr val="FF09FF"/>
                </a:solidFill>
                <a:latin typeface="宋体"/>
                <a:cs typeface="宋体"/>
              </a:rPr>
              <a:t>	</a:t>
            </a:r>
            <a:r>
              <a:rPr dirty="0" sz="2500" spc="-10" b="1" i="1">
                <a:solidFill>
                  <a:srgbClr val="FF09FF"/>
                </a:solidFill>
                <a:latin typeface="宋体"/>
                <a:cs typeface="宋体"/>
              </a:rPr>
              <a:t>F4，F0，F2</a:t>
            </a:r>
            <a:r>
              <a:rPr dirty="0" sz="2500" b="1" i="1">
                <a:solidFill>
                  <a:srgbClr val="FF09FF"/>
                </a:solidFill>
                <a:latin typeface="宋体"/>
                <a:cs typeface="宋体"/>
              </a:rPr>
              <a:t>	#</a:t>
            </a:r>
            <a:r>
              <a:rPr dirty="0" sz="2500" spc="-90" b="1" i="1">
                <a:solidFill>
                  <a:srgbClr val="FF09FF"/>
                </a:solidFill>
                <a:latin typeface="宋体"/>
                <a:cs typeface="宋体"/>
              </a:rPr>
              <a:t> </a:t>
            </a:r>
            <a:r>
              <a:rPr dirty="0" sz="2500" spc="-114" b="1" i="1">
                <a:solidFill>
                  <a:srgbClr val="00AF50"/>
                </a:solidFill>
                <a:latin typeface="宋体"/>
                <a:cs typeface="宋体"/>
              </a:rPr>
              <a:t>算</a:t>
            </a:r>
            <a:r>
              <a:rPr dirty="0" sz="2500" spc="-45" b="1" i="1">
                <a:solidFill>
                  <a:srgbClr val="00AF50"/>
                </a:solidFill>
                <a:latin typeface="宋体"/>
                <a:cs typeface="宋体"/>
              </a:rPr>
              <a:t>X[i+1]+s </a:t>
            </a:r>
            <a:r>
              <a:rPr dirty="0" sz="2500" spc="-25" b="1" i="1">
                <a:solidFill>
                  <a:srgbClr val="FF09FF"/>
                </a:solidFill>
                <a:latin typeface="宋体"/>
                <a:cs typeface="宋体"/>
              </a:rPr>
              <a:t>L.D</a:t>
            </a:r>
            <a:endParaRPr sz="2500">
              <a:latin typeface="宋体"/>
              <a:cs typeface="宋体"/>
            </a:endParaRPr>
          </a:p>
        </p:txBody>
      </p:sp>
      <p:sp>
        <p:nvSpPr>
          <p:cNvPr id="37" name="object 37" descr=""/>
          <p:cNvSpPr txBox="1"/>
          <p:nvPr/>
        </p:nvSpPr>
        <p:spPr>
          <a:xfrm>
            <a:off x="7463155" y="4780813"/>
            <a:ext cx="3561715" cy="411480"/>
          </a:xfrm>
          <a:prstGeom prst="rect">
            <a:avLst/>
          </a:prstGeom>
        </p:spPr>
        <p:txBody>
          <a:bodyPr wrap="square" lIns="0" tIns="16510" rIns="0" bIns="0" rtlCol="0" vert="horz">
            <a:spAutoFit/>
          </a:bodyPr>
          <a:lstStyle/>
          <a:p>
            <a:pPr marL="12700">
              <a:lnSpc>
                <a:spcPct val="100000"/>
              </a:lnSpc>
              <a:spcBef>
                <a:spcPts val="130"/>
              </a:spcBef>
            </a:pPr>
            <a:r>
              <a:rPr dirty="0" sz="2500" spc="-50" b="1" i="1">
                <a:solidFill>
                  <a:srgbClr val="FF09FF"/>
                </a:solidFill>
                <a:latin typeface="宋体"/>
                <a:cs typeface="宋体"/>
              </a:rPr>
              <a:t>F0，</a:t>
            </a:r>
            <a:r>
              <a:rPr dirty="0" sz="2500" spc="-50" b="1" i="1">
                <a:solidFill>
                  <a:srgbClr val="00AF50"/>
                </a:solidFill>
                <a:latin typeface="宋体"/>
                <a:cs typeface="宋体"/>
              </a:rPr>
              <a:t>16</a:t>
            </a:r>
            <a:r>
              <a:rPr dirty="0" sz="2500" spc="-50" b="1" i="1">
                <a:solidFill>
                  <a:srgbClr val="FF09FF"/>
                </a:solidFill>
                <a:latin typeface="宋体"/>
                <a:cs typeface="宋体"/>
              </a:rPr>
              <a:t>（R1）</a:t>
            </a:r>
            <a:r>
              <a:rPr dirty="0" sz="2500" spc="-120" b="1" i="1">
                <a:solidFill>
                  <a:srgbClr val="FF09FF"/>
                </a:solidFill>
                <a:latin typeface="宋体"/>
                <a:cs typeface="宋体"/>
              </a:rPr>
              <a:t> # </a:t>
            </a:r>
            <a:r>
              <a:rPr dirty="0" sz="2500" spc="-114" b="1" i="1">
                <a:solidFill>
                  <a:srgbClr val="00AF50"/>
                </a:solidFill>
                <a:latin typeface="宋体"/>
                <a:cs typeface="宋体"/>
              </a:rPr>
              <a:t>取</a:t>
            </a:r>
            <a:r>
              <a:rPr dirty="0" sz="2500" spc="-10" b="1" i="1">
                <a:solidFill>
                  <a:srgbClr val="00AF50"/>
                </a:solidFill>
                <a:latin typeface="宋体"/>
                <a:cs typeface="宋体"/>
              </a:rPr>
              <a:t>X[i+2]</a:t>
            </a:r>
            <a:endParaRPr sz="2500">
              <a:latin typeface="宋体"/>
              <a:cs typeface="宋体"/>
            </a:endParaRPr>
          </a:p>
        </p:txBody>
      </p:sp>
      <p:grpSp>
        <p:nvGrpSpPr>
          <p:cNvPr id="38" name="object 38" descr=""/>
          <p:cNvGrpSpPr/>
          <p:nvPr/>
        </p:nvGrpSpPr>
        <p:grpSpPr>
          <a:xfrm>
            <a:off x="5803963" y="1319275"/>
            <a:ext cx="4076700" cy="5405755"/>
            <a:chOff x="5803963" y="1319275"/>
            <a:chExt cx="4076700" cy="5405755"/>
          </a:xfrm>
        </p:grpSpPr>
        <p:sp>
          <p:nvSpPr>
            <p:cNvPr id="39" name="object 39" descr=""/>
            <p:cNvSpPr/>
            <p:nvPr/>
          </p:nvSpPr>
          <p:spPr>
            <a:xfrm>
              <a:off x="5808726" y="1319275"/>
              <a:ext cx="0" cy="5405755"/>
            </a:xfrm>
            <a:custGeom>
              <a:avLst/>
              <a:gdLst/>
              <a:ahLst/>
              <a:cxnLst/>
              <a:rect l="l" t="t" r="r" b="b"/>
              <a:pathLst>
                <a:path w="0" h="5405755">
                  <a:moveTo>
                    <a:pt x="0" y="0"/>
                  </a:moveTo>
                  <a:lnTo>
                    <a:pt x="0" y="5405374"/>
                  </a:lnTo>
                </a:path>
              </a:pathLst>
            </a:custGeom>
            <a:ln w="9525">
              <a:solidFill>
                <a:srgbClr val="40458B"/>
              </a:solidFill>
            </a:ln>
          </p:spPr>
          <p:txBody>
            <a:bodyPr wrap="square" lIns="0" tIns="0" rIns="0" bIns="0" rtlCol="0"/>
            <a:lstStyle/>
            <a:p/>
          </p:txBody>
        </p:sp>
        <p:sp>
          <p:nvSpPr>
            <p:cNvPr id="40" name="object 40" descr=""/>
            <p:cNvSpPr/>
            <p:nvPr/>
          </p:nvSpPr>
          <p:spPr>
            <a:xfrm>
              <a:off x="9552685" y="5886196"/>
              <a:ext cx="323215" cy="220345"/>
            </a:xfrm>
            <a:custGeom>
              <a:avLst/>
              <a:gdLst/>
              <a:ahLst/>
              <a:cxnLst/>
              <a:rect l="l" t="t" r="r" b="b"/>
              <a:pathLst>
                <a:path w="323215" h="220345">
                  <a:moveTo>
                    <a:pt x="217932" y="0"/>
                  </a:moveTo>
                  <a:lnTo>
                    <a:pt x="215265" y="54990"/>
                  </a:lnTo>
                  <a:lnTo>
                    <a:pt x="5334" y="44894"/>
                  </a:lnTo>
                  <a:lnTo>
                    <a:pt x="0" y="154876"/>
                  </a:lnTo>
                  <a:lnTo>
                    <a:pt x="210058" y="164960"/>
                  </a:lnTo>
                  <a:lnTo>
                    <a:pt x="207391" y="219951"/>
                  </a:lnTo>
                  <a:lnTo>
                    <a:pt x="323215" y="115290"/>
                  </a:lnTo>
                  <a:lnTo>
                    <a:pt x="217932" y="0"/>
                  </a:lnTo>
                  <a:close/>
                </a:path>
              </a:pathLst>
            </a:custGeom>
            <a:solidFill>
              <a:srgbClr val="EBD782"/>
            </a:solidFill>
          </p:spPr>
          <p:txBody>
            <a:bodyPr wrap="square" lIns="0" tIns="0" rIns="0" bIns="0" rtlCol="0"/>
            <a:lstStyle/>
            <a:p/>
          </p:txBody>
        </p:sp>
        <p:sp>
          <p:nvSpPr>
            <p:cNvPr id="41" name="object 41" descr=""/>
            <p:cNvSpPr/>
            <p:nvPr/>
          </p:nvSpPr>
          <p:spPr>
            <a:xfrm>
              <a:off x="9552685" y="5886196"/>
              <a:ext cx="323215" cy="220345"/>
            </a:xfrm>
            <a:custGeom>
              <a:avLst/>
              <a:gdLst/>
              <a:ahLst/>
              <a:cxnLst/>
              <a:rect l="l" t="t" r="r" b="b"/>
              <a:pathLst>
                <a:path w="323215" h="220345">
                  <a:moveTo>
                    <a:pt x="323215" y="115290"/>
                  </a:moveTo>
                  <a:lnTo>
                    <a:pt x="207391" y="219951"/>
                  </a:lnTo>
                  <a:lnTo>
                    <a:pt x="210058" y="164960"/>
                  </a:lnTo>
                  <a:lnTo>
                    <a:pt x="0" y="154876"/>
                  </a:lnTo>
                  <a:lnTo>
                    <a:pt x="5334" y="44894"/>
                  </a:lnTo>
                  <a:lnTo>
                    <a:pt x="215265" y="54990"/>
                  </a:lnTo>
                  <a:lnTo>
                    <a:pt x="217932" y="0"/>
                  </a:lnTo>
                  <a:lnTo>
                    <a:pt x="323215" y="115290"/>
                  </a:lnTo>
                  <a:close/>
                </a:path>
              </a:pathLst>
            </a:custGeom>
            <a:ln w="9525">
              <a:solidFill>
                <a:srgbClr val="40458B"/>
              </a:solidFill>
            </a:ln>
          </p:spPr>
          <p:txBody>
            <a:bodyPr wrap="square" lIns="0" tIns="0" rIns="0" bIns="0" rtlCol="0"/>
            <a:lstStyle/>
            <a:p/>
          </p:txBody>
        </p:sp>
      </p:grpSp>
      <p:sp>
        <p:nvSpPr>
          <p:cNvPr id="42" name="object 42" descr=""/>
          <p:cNvSpPr txBox="1"/>
          <p:nvPr/>
        </p:nvSpPr>
        <p:spPr>
          <a:xfrm>
            <a:off x="5938901" y="5564187"/>
            <a:ext cx="3542029" cy="708025"/>
          </a:xfrm>
          <a:prstGeom prst="rect">
            <a:avLst/>
          </a:prstGeom>
          <a:ln w="9525">
            <a:solidFill>
              <a:srgbClr val="FF0000"/>
            </a:solidFill>
          </a:ln>
        </p:spPr>
        <p:txBody>
          <a:bodyPr wrap="square" lIns="0" tIns="71120" rIns="0" bIns="0" rtlCol="0" vert="horz">
            <a:spAutoFit/>
          </a:bodyPr>
          <a:lstStyle/>
          <a:p>
            <a:pPr marL="92075" marR="139065">
              <a:lnSpc>
                <a:spcPts val="2340"/>
              </a:lnSpc>
              <a:spcBef>
                <a:spcPts val="560"/>
              </a:spcBef>
            </a:pPr>
            <a:r>
              <a:rPr dirty="0" sz="2000" spc="-10">
                <a:solidFill>
                  <a:srgbClr val="FF0000"/>
                </a:solidFill>
                <a:latin typeface="黑体"/>
                <a:cs typeface="黑体"/>
              </a:rPr>
              <a:t>存取逻辑合理</a:t>
            </a:r>
            <a:r>
              <a:rPr dirty="0" sz="2000">
                <a:solidFill>
                  <a:srgbClr val="FF0000"/>
                </a:solidFill>
                <a:latin typeface="黑体"/>
                <a:cs typeface="黑体"/>
              </a:rPr>
              <a:t>（</a:t>
            </a:r>
            <a:r>
              <a:rPr dirty="0" sz="2000" spc="-20">
                <a:solidFill>
                  <a:srgbClr val="00AF50"/>
                </a:solidFill>
                <a:latin typeface="黑体"/>
                <a:cs typeface="黑体"/>
              </a:rPr>
              <a:t>为了正确存取</a:t>
            </a:r>
            <a:r>
              <a:rPr dirty="0" sz="2000" spc="-5">
                <a:solidFill>
                  <a:srgbClr val="00AF50"/>
                </a:solidFill>
                <a:latin typeface="黑体"/>
                <a:cs typeface="黑体"/>
              </a:rPr>
              <a:t>改变偏移量</a:t>
            </a:r>
            <a:r>
              <a:rPr dirty="0" sz="2000" spc="-10">
                <a:solidFill>
                  <a:srgbClr val="FF0000"/>
                </a:solidFill>
                <a:latin typeface="黑体"/>
                <a:cs typeface="黑体"/>
              </a:rPr>
              <a:t>）</a:t>
            </a:r>
            <a:r>
              <a:rPr dirty="0" sz="2000" spc="-20">
                <a:solidFill>
                  <a:srgbClr val="FF0000"/>
                </a:solidFill>
                <a:latin typeface="黑体"/>
                <a:cs typeface="黑体"/>
              </a:rPr>
              <a:t>，相关消除！</a:t>
            </a:r>
            <a:endParaRPr sz="2000">
              <a:latin typeface="黑体"/>
              <a:cs typeface="黑体"/>
            </a:endParaRPr>
          </a:p>
        </p:txBody>
      </p:sp>
      <p:sp>
        <p:nvSpPr>
          <p:cNvPr id="43" name="object 43" descr=""/>
          <p:cNvSpPr txBox="1"/>
          <p:nvPr/>
        </p:nvSpPr>
        <p:spPr>
          <a:xfrm>
            <a:off x="9908413" y="5718175"/>
            <a:ext cx="2225040" cy="400050"/>
          </a:xfrm>
          <a:prstGeom prst="rect">
            <a:avLst/>
          </a:prstGeom>
          <a:ln w="9525">
            <a:solidFill>
              <a:srgbClr val="FF0000"/>
            </a:solidFill>
          </a:ln>
        </p:spPr>
        <p:txBody>
          <a:bodyPr wrap="square" lIns="0" tIns="47625" rIns="0" bIns="0" rtlCol="0" vert="horz">
            <a:spAutoFit/>
          </a:bodyPr>
          <a:lstStyle/>
          <a:p>
            <a:pPr marL="92075">
              <a:lnSpc>
                <a:spcPct val="100000"/>
              </a:lnSpc>
              <a:spcBef>
                <a:spcPts val="375"/>
              </a:spcBef>
            </a:pPr>
            <a:r>
              <a:rPr dirty="0" sz="2000" spc="-20">
                <a:solidFill>
                  <a:srgbClr val="FF0000"/>
                </a:solidFill>
                <a:latin typeface="黑体"/>
                <a:cs typeface="黑体"/>
              </a:rPr>
              <a:t>循环怎么结束？</a:t>
            </a:r>
            <a:endParaRPr sz="2000">
              <a:latin typeface="黑体"/>
              <a:cs typeface="黑体"/>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102/89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318617" y="129921"/>
            <a:ext cx="1701800" cy="391160"/>
          </a:xfrm>
          <a:prstGeom prst="rect">
            <a:avLst/>
          </a:prstGeom>
        </p:spPr>
        <p:txBody>
          <a:bodyPr wrap="square" lIns="0" tIns="12700" rIns="0" bIns="0" rtlCol="0" vert="horz">
            <a:spAutoFit/>
          </a:bodyPr>
          <a:lstStyle/>
          <a:p>
            <a:pPr marL="12700">
              <a:lnSpc>
                <a:spcPct val="100000"/>
              </a:lnSpc>
              <a:spcBef>
                <a:spcPts val="100"/>
              </a:spcBef>
              <a:tabLst>
                <a:tab pos="469265" algn="l"/>
              </a:tabLst>
            </a:pPr>
            <a:r>
              <a:rPr dirty="0" sz="2400" spc="-25">
                <a:solidFill>
                  <a:srgbClr val="40458B"/>
                </a:solidFill>
                <a:latin typeface="Tahoma"/>
                <a:cs typeface="Tahoma"/>
              </a:rPr>
              <a:t>2.</a:t>
            </a:r>
            <a:r>
              <a:rPr dirty="0" sz="2400">
                <a:solidFill>
                  <a:srgbClr val="40458B"/>
                </a:solidFill>
                <a:latin typeface="Tahoma"/>
                <a:cs typeface="Tahoma"/>
              </a:rPr>
              <a:t>	</a:t>
            </a:r>
            <a:r>
              <a:rPr dirty="0" sz="2400" spc="-15">
                <a:solidFill>
                  <a:srgbClr val="E14B04"/>
                </a:solidFill>
                <a:latin typeface="黑体"/>
                <a:cs typeface="黑体"/>
              </a:rPr>
              <a:t>实例分析</a:t>
            </a:r>
            <a:endParaRPr sz="2400">
              <a:latin typeface="黑体"/>
              <a:cs typeface="黑体"/>
            </a:endParaRPr>
          </a:p>
        </p:txBody>
      </p:sp>
      <p:sp>
        <p:nvSpPr>
          <p:cNvPr id="10" name="object 10"/>
          <p:cNvSpPr txBox="1">
            <a:spLocks noGrp="1"/>
          </p:cNvSpPr>
          <p:nvPr>
            <p:ph type="title"/>
          </p:nvPr>
        </p:nvSpPr>
        <p:spPr>
          <a:xfrm>
            <a:off x="318617" y="505166"/>
            <a:ext cx="9224010" cy="829944"/>
          </a:xfrm>
          <a:prstGeom prst="rect"/>
        </p:spPr>
        <p:txBody>
          <a:bodyPr wrap="square" lIns="0" tIns="12065" rIns="0" bIns="0" rtlCol="0" vert="horz">
            <a:spAutoFit/>
          </a:bodyPr>
          <a:lstStyle/>
          <a:p>
            <a:pPr marL="12700" marR="5080">
              <a:lnSpc>
                <a:spcPct val="110000"/>
              </a:lnSpc>
              <a:spcBef>
                <a:spcPts val="95"/>
              </a:spcBef>
            </a:pPr>
            <a:r>
              <a:rPr dirty="0" u="none" sz="2400" spc="-20" b="1">
                <a:solidFill>
                  <a:srgbClr val="E14B04"/>
                </a:solidFill>
                <a:latin typeface="宋体"/>
                <a:cs typeface="宋体"/>
              </a:rPr>
              <a:t>例</a:t>
            </a:r>
            <a:r>
              <a:rPr dirty="0" u="none" sz="2400" b="1">
                <a:solidFill>
                  <a:srgbClr val="E14B04"/>
                </a:solidFill>
                <a:latin typeface="宋体"/>
                <a:cs typeface="宋体"/>
              </a:rPr>
              <a:t>6.11 </a:t>
            </a:r>
            <a:r>
              <a:rPr dirty="0" u="none" sz="2400" spc="-20" b="1">
                <a:solidFill>
                  <a:srgbClr val="000000"/>
                </a:solidFill>
                <a:latin typeface="宋体"/>
                <a:cs typeface="宋体"/>
              </a:rPr>
              <a:t>试用软流水技术处理例</a:t>
            </a:r>
            <a:r>
              <a:rPr dirty="0" u="none" sz="2400" spc="-20" b="1">
                <a:solidFill>
                  <a:srgbClr val="6600FF"/>
                </a:solidFill>
                <a:latin typeface="宋体"/>
                <a:cs typeface="宋体"/>
              </a:rPr>
              <a:t>6.1</a:t>
            </a:r>
            <a:r>
              <a:rPr dirty="0" u="none" sz="2400" spc="-25" b="1">
                <a:solidFill>
                  <a:srgbClr val="000000"/>
                </a:solidFill>
                <a:latin typeface="宋体"/>
                <a:cs typeface="宋体"/>
              </a:rPr>
              <a:t>中的循环，假设数组</a:t>
            </a:r>
            <a:r>
              <a:rPr dirty="0" u="none" sz="2400" spc="-20" b="1">
                <a:solidFill>
                  <a:srgbClr val="6600FF"/>
                </a:solidFill>
                <a:latin typeface="宋体"/>
                <a:cs typeface="宋体"/>
              </a:rPr>
              <a:t>x</a:t>
            </a:r>
            <a:r>
              <a:rPr dirty="0" u="none" sz="2400" spc="-20" b="1">
                <a:solidFill>
                  <a:srgbClr val="000000"/>
                </a:solidFill>
                <a:latin typeface="宋体"/>
                <a:cs typeface="宋体"/>
              </a:rPr>
              <a:t>有</a:t>
            </a:r>
            <a:r>
              <a:rPr dirty="0" u="none" sz="2400" spc="-20" b="1">
                <a:solidFill>
                  <a:srgbClr val="6600FF"/>
                </a:solidFill>
                <a:latin typeface="宋体"/>
                <a:cs typeface="宋体"/>
              </a:rPr>
              <a:t>n</a:t>
            </a:r>
            <a:r>
              <a:rPr dirty="0" u="none" sz="2400" spc="-30" b="1">
                <a:solidFill>
                  <a:srgbClr val="000000"/>
                </a:solidFill>
                <a:latin typeface="宋体"/>
                <a:cs typeface="宋体"/>
              </a:rPr>
              <a:t>个元素。</a:t>
            </a:r>
            <a:r>
              <a:rPr dirty="0" u="none" sz="2400" spc="70" b="1">
                <a:solidFill>
                  <a:srgbClr val="E14B04"/>
                </a:solidFill>
                <a:latin typeface="宋体"/>
                <a:cs typeface="宋体"/>
              </a:rPr>
              <a:t>解 </a:t>
            </a:r>
            <a:r>
              <a:rPr dirty="0" u="none" sz="2400" spc="-30" b="1">
                <a:solidFill>
                  <a:srgbClr val="000000"/>
                </a:solidFill>
                <a:latin typeface="宋体"/>
                <a:cs typeface="宋体"/>
              </a:rPr>
              <a:t>软流水需要从原循环的多个迭代中选择指令拼成新的循环，因此</a:t>
            </a:r>
            <a:endParaRPr sz="2400">
              <a:latin typeface="宋体"/>
              <a:cs typeface="宋体"/>
            </a:endParaRPr>
          </a:p>
        </p:txBody>
      </p:sp>
      <p:sp>
        <p:nvSpPr>
          <p:cNvPr id="11" name="object 11" descr=""/>
          <p:cNvSpPr txBox="1"/>
          <p:nvPr/>
        </p:nvSpPr>
        <p:spPr>
          <a:xfrm>
            <a:off x="780389" y="1309877"/>
            <a:ext cx="4909820" cy="1232535"/>
          </a:xfrm>
          <a:prstGeom prst="rect">
            <a:avLst/>
          </a:prstGeom>
        </p:spPr>
        <p:txBody>
          <a:bodyPr wrap="square" lIns="0" tIns="48895" rIns="0" bIns="0" rtlCol="0" vert="horz">
            <a:spAutoFit/>
          </a:bodyPr>
          <a:lstStyle/>
          <a:p>
            <a:pPr algn="ctr" marR="1506220">
              <a:lnSpc>
                <a:spcPct val="100000"/>
              </a:lnSpc>
              <a:spcBef>
                <a:spcPts val="385"/>
              </a:spcBef>
            </a:pPr>
            <a:r>
              <a:rPr dirty="0" sz="2400" spc="-25" b="1">
                <a:latin typeface="宋体"/>
                <a:cs typeface="宋体"/>
              </a:rPr>
              <a:t>我们首先将原循环展开。</a:t>
            </a:r>
            <a:endParaRPr sz="2400">
              <a:latin typeface="宋体"/>
              <a:cs typeface="宋体"/>
            </a:endParaRPr>
          </a:p>
          <a:p>
            <a:pPr algn="ctr" marL="476250">
              <a:lnSpc>
                <a:spcPct val="100000"/>
              </a:lnSpc>
              <a:spcBef>
                <a:spcPts val="290"/>
              </a:spcBef>
              <a:tabLst>
                <a:tab pos="2132965" algn="l"/>
              </a:tabLst>
            </a:pPr>
            <a:r>
              <a:rPr dirty="0" sz="2400" spc="-20" b="1">
                <a:latin typeface="宋体"/>
                <a:cs typeface="宋体"/>
              </a:rPr>
              <a:t>迭代</a:t>
            </a:r>
            <a:r>
              <a:rPr dirty="0" sz="2400" spc="-25" b="1">
                <a:latin typeface="宋体"/>
                <a:cs typeface="宋体"/>
              </a:rPr>
              <a:t>i：</a:t>
            </a:r>
            <a:r>
              <a:rPr dirty="0" sz="2400" b="1">
                <a:latin typeface="宋体"/>
                <a:cs typeface="宋体"/>
              </a:rPr>
              <a:t>	</a:t>
            </a:r>
            <a:r>
              <a:rPr dirty="0" sz="2400" spc="-20" b="1">
                <a:latin typeface="宋体"/>
                <a:cs typeface="宋体"/>
              </a:rPr>
              <a:t>；修改x[i]并保</a:t>
            </a:r>
            <a:r>
              <a:rPr dirty="0" sz="2400" spc="-50" b="1">
                <a:latin typeface="宋体"/>
                <a:cs typeface="宋体"/>
              </a:rPr>
              <a:t>存</a:t>
            </a:r>
            <a:endParaRPr sz="2400">
              <a:latin typeface="宋体"/>
              <a:cs typeface="宋体"/>
            </a:endParaRPr>
          </a:p>
          <a:p>
            <a:pPr marL="2294255">
              <a:lnSpc>
                <a:spcPct val="100000"/>
              </a:lnSpc>
              <a:spcBef>
                <a:spcPts val="290"/>
              </a:spcBef>
              <a:tabLst>
                <a:tab pos="3208655" algn="l"/>
              </a:tabLst>
            </a:pPr>
            <a:r>
              <a:rPr dirty="0" sz="2400" spc="-25" b="1">
                <a:solidFill>
                  <a:srgbClr val="0000CC"/>
                </a:solidFill>
                <a:latin typeface="宋体"/>
                <a:cs typeface="宋体"/>
              </a:rPr>
              <a:t>L.D</a:t>
            </a:r>
            <a:r>
              <a:rPr dirty="0" sz="2400" b="1">
                <a:solidFill>
                  <a:srgbClr val="0000CC"/>
                </a:solidFill>
                <a:latin typeface="宋体"/>
                <a:cs typeface="宋体"/>
              </a:rPr>
              <a:t>	</a:t>
            </a:r>
            <a:r>
              <a:rPr dirty="0" sz="2400" spc="-10" b="1">
                <a:solidFill>
                  <a:srgbClr val="0000CC"/>
                </a:solidFill>
                <a:latin typeface="宋体"/>
                <a:cs typeface="宋体"/>
              </a:rPr>
              <a:t>F0，0（R1）</a:t>
            </a:r>
            <a:endParaRPr sz="2400">
              <a:latin typeface="宋体"/>
              <a:cs typeface="宋体"/>
            </a:endParaRPr>
          </a:p>
        </p:txBody>
      </p:sp>
      <p:sp>
        <p:nvSpPr>
          <p:cNvPr id="12" name="object 12" descr=""/>
          <p:cNvSpPr txBox="1"/>
          <p:nvPr/>
        </p:nvSpPr>
        <p:spPr>
          <a:xfrm>
            <a:off x="1405255" y="3358083"/>
            <a:ext cx="1405255" cy="391795"/>
          </a:xfrm>
          <a:prstGeom prst="rect">
            <a:avLst/>
          </a:prstGeom>
        </p:spPr>
        <p:txBody>
          <a:bodyPr wrap="square" lIns="0" tIns="12700" rIns="0" bIns="0" rtlCol="0" vert="horz">
            <a:spAutoFit/>
          </a:bodyPr>
          <a:lstStyle/>
          <a:p>
            <a:pPr marL="12700">
              <a:lnSpc>
                <a:spcPct val="100000"/>
              </a:lnSpc>
              <a:spcBef>
                <a:spcPts val="100"/>
              </a:spcBef>
            </a:pPr>
            <a:r>
              <a:rPr dirty="0" sz="2400" spc="-25" b="1">
                <a:latin typeface="宋体"/>
                <a:cs typeface="宋体"/>
              </a:rPr>
              <a:t>迭代</a:t>
            </a:r>
            <a:r>
              <a:rPr dirty="0" sz="2400" spc="-20" b="1">
                <a:latin typeface="宋体"/>
                <a:cs typeface="宋体"/>
              </a:rPr>
              <a:t>i+1：</a:t>
            </a:r>
            <a:endParaRPr sz="2400">
              <a:latin typeface="宋体"/>
              <a:cs typeface="宋体"/>
            </a:endParaRPr>
          </a:p>
        </p:txBody>
      </p:sp>
      <p:sp>
        <p:nvSpPr>
          <p:cNvPr id="13" name="object 13" descr=""/>
          <p:cNvSpPr txBox="1"/>
          <p:nvPr/>
        </p:nvSpPr>
        <p:spPr>
          <a:xfrm>
            <a:off x="1405255" y="4967681"/>
            <a:ext cx="1405255" cy="391795"/>
          </a:xfrm>
          <a:prstGeom prst="rect">
            <a:avLst/>
          </a:prstGeom>
        </p:spPr>
        <p:txBody>
          <a:bodyPr wrap="square" lIns="0" tIns="12700" rIns="0" bIns="0" rtlCol="0" vert="horz">
            <a:spAutoFit/>
          </a:bodyPr>
          <a:lstStyle/>
          <a:p>
            <a:pPr marL="12700">
              <a:lnSpc>
                <a:spcPct val="100000"/>
              </a:lnSpc>
              <a:spcBef>
                <a:spcPts val="100"/>
              </a:spcBef>
            </a:pPr>
            <a:r>
              <a:rPr dirty="0" sz="2400" spc="-25" b="1">
                <a:latin typeface="宋体"/>
                <a:cs typeface="宋体"/>
              </a:rPr>
              <a:t>迭代</a:t>
            </a:r>
            <a:r>
              <a:rPr dirty="0" sz="2400" spc="-20" b="1">
                <a:latin typeface="宋体"/>
                <a:cs typeface="宋体"/>
              </a:rPr>
              <a:t>i+2：</a:t>
            </a:r>
            <a:endParaRPr sz="2400">
              <a:latin typeface="宋体"/>
              <a:cs typeface="宋体"/>
            </a:endParaRPr>
          </a:p>
        </p:txBody>
      </p:sp>
      <p:sp>
        <p:nvSpPr>
          <p:cNvPr id="14" name="object 14" descr=""/>
          <p:cNvSpPr txBox="1"/>
          <p:nvPr/>
        </p:nvSpPr>
        <p:spPr>
          <a:xfrm>
            <a:off x="3062097" y="2534654"/>
            <a:ext cx="2788285" cy="4032250"/>
          </a:xfrm>
          <a:prstGeom prst="rect">
            <a:avLst/>
          </a:prstGeom>
        </p:spPr>
        <p:txBody>
          <a:bodyPr wrap="square" lIns="0" tIns="31750" rIns="0" bIns="0" rtlCol="0" vert="horz">
            <a:spAutoFit/>
          </a:bodyPr>
          <a:lstStyle/>
          <a:p>
            <a:pPr marL="12700">
              <a:lnSpc>
                <a:spcPct val="100000"/>
              </a:lnSpc>
              <a:spcBef>
                <a:spcPts val="250"/>
              </a:spcBef>
            </a:pPr>
            <a:r>
              <a:rPr dirty="0" sz="2400" b="1">
                <a:solidFill>
                  <a:srgbClr val="0000CC"/>
                </a:solidFill>
                <a:latin typeface="宋体"/>
                <a:cs typeface="宋体"/>
              </a:rPr>
              <a:t>ADD.D</a:t>
            </a:r>
            <a:r>
              <a:rPr dirty="0" sz="2400" spc="-140" b="1">
                <a:solidFill>
                  <a:srgbClr val="0000CC"/>
                </a:solidFill>
                <a:latin typeface="宋体"/>
                <a:cs typeface="宋体"/>
              </a:rPr>
              <a:t> </a:t>
            </a:r>
            <a:r>
              <a:rPr dirty="0" sz="2400" spc="-10" b="1">
                <a:solidFill>
                  <a:srgbClr val="0000CC"/>
                </a:solidFill>
                <a:latin typeface="宋体"/>
                <a:cs typeface="宋体"/>
              </a:rPr>
              <a:t>F4，F0，F2</a:t>
            </a:r>
            <a:endParaRPr sz="2400">
              <a:latin typeface="宋体"/>
              <a:cs typeface="宋体"/>
            </a:endParaRPr>
          </a:p>
          <a:p>
            <a:pPr marL="12700">
              <a:lnSpc>
                <a:spcPct val="100000"/>
              </a:lnSpc>
              <a:spcBef>
                <a:spcPts val="185"/>
              </a:spcBef>
              <a:tabLst>
                <a:tab pos="926465" algn="l"/>
              </a:tabLst>
            </a:pPr>
            <a:r>
              <a:rPr dirty="0" sz="2500" spc="-25" b="1" i="1">
                <a:solidFill>
                  <a:srgbClr val="FF09FF"/>
                </a:solidFill>
                <a:latin typeface="宋体"/>
                <a:cs typeface="宋体"/>
              </a:rPr>
              <a:t>S.D</a:t>
            </a:r>
            <a:r>
              <a:rPr dirty="0" sz="2500" b="1" i="1">
                <a:solidFill>
                  <a:srgbClr val="FF09FF"/>
                </a:solidFill>
                <a:latin typeface="宋体"/>
                <a:cs typeface="宋体"/>
              </a:rPr>
              <a:t>	</a:t>
            </a:r>
            <a:r>
              <a:rPr dirty="0" sz="2500" spc="-10" b="1" i="1">
                <a:solidFill>
                  <a:srgbClr val="FF09FF"/>
                </a:solidFill>
                <a:latin typeface="宋体"/>
                <a:cs typeface="宋体"/>
              </a:rPr>
              <a:t>F4，0（R1）</a:t>
            </a:r>
            <a:endParaRPr sz="2500">
              <a:latin typeface="宋体"/>
              <a:cs typeface="宋体"/>
            </a:endParaRPr>
          </a:p>
          <a:p>
            <a:pPr marL="12700">
              <a:lnSpc>
                <a:spcPct val="100000"/>
              </a:lnSpc>
              <a:spcBef>
                <a:spcPts val="270"/>
              </a:spcBef>
            </a:pPr>
            <a:r>
              <a:rPr dirty="0" sz="2400" spc="-25" b="1">
                <a:latin typeface="宋体"/>
                <a:cs typeface="宋体"/>
              </a:rPr>
              <a:t>；修改</a:t>
            </a:r>
            <a:r>
              <a:rPr dirty="0" sz="2400" spc="-10" b="1">
                <a:latin typeface="宋体"/>
                <a:cs typeface="宋体"/>
              </a:rPr>
              <a:t>x[i-1]</a:t>
            </a:r>
            <a:r>
              <a:rPr dirty="0" sz="2400" spc="-35" b="1">
                <a:latin typeface="宋体"/>
                <a:cs typeface="宋体"/>
              </a:rPr>
              <a:t>并保存</a:t>
            </a:r>
            <a:endParaRPr sz="2400">
              <a:latin typeface="宋体"/>
              <a:cs typeface="宋体"/>
            </a:endParaRPr>
          </a:p>
          <a:p>
            <a:pPr marL="12700">
              <a:lnSpc>
                <a:spcPct val="100000"/>
              </a:lnSpc>
              <a:spcBef>
                <a:spcPts val="290"/>
              </a:spcBef>
              <a:tabLst>
                <a:tab pos="926465" algn="l"/>
              </a:tabLst>
            </a:pPr>
            <a:r>
              <a:rPr dirty="0" sz="2400" spc="-25" b="1">
                <a:solidFill>
                  <a:srgbClr val="0000CC"/>
                </a:solidFill>
                <a:latin typeface="宋体"/>
                <a:cs typeface="宋体"/>
              </a:rPr>
              <a:t>L.D</a:t>
            </a:r>
            <a:r>
              <a:rPr dirty="0" sz="2400" b="1">
                <a:solidFill>
                  <a:srgbClr val="0000CC"/>
                </a:solidFill>
                <a:latin typeface="宋体"/>
                <a:cs typeface="宋体"/>
              </a:rPr>
              <a:t>	</a:t>
            </a:r>
            <a:r>
              <a:rPr dirty="0" sz="2400" spc="-10" b="1">
                <a:solidFill>
                  <a:srgbClr val="0000CC"/>
                </a:solidFill>
                <a:latin typeface="宋体"/>
                <a:cs typeface="宋体"/>
              </a:rPr>
              <a:t>F0，0（R1）</a:t>
            </a:r>
            <a:endParaRPr sz="2400">
              <a:latin typeface="宋体"/>
              <a:cs typeface="宋体"/>
            </a:endParaRPr>
          </a:p>
          <a:p>
            <a:pPr marL="12700">
              <a:lnSpc>
                <a:spcPct val="100000"/>
              </a:lnSpc>
              <a:spcBef>
                <a:spcPts val="190"/>
              </a:spcBef>
            </a:pPr>
            <a:r>
              <a:rPr dirty="0" sz="2500" spc="-20" b="1" i="1">
                <a:solidFill>
                  <a:srgbClr val="FF09FF"/>
                </a:solidFill>
                <a:latin typeface="宋体"/>
                <a:cs typeface="宋体"/>
              </a:rPr>
              <a:t>ADD.D</a:t>
            </a:r>
            <a:r>
              <a:rPr dirty="0" sz="2500" spc="-285" b="1" i="1">
                <a:solidFill>
                  <a:srgbClr val="FF09FF"/>
                </a:solidFill>
                <a:latin typeface="宋体"/>
                <a:cs typeface="宋体"/>
              </a:rPr>
              <a:t> </a:t>
            </a:r>
            <a:r>
              <a:rPr dirty="0" sz="2500" spc="-10" b="1" i="1">
                <a:solidFill>
                  <a:srgbClr val="FF09FF"/>
                </a:solidFill>
                <a:latin typeface="宋体"/>
                <a:cs typeface="宋体"/>
              </a:rPr>
              <a:t>F4，F0，F2</a:t>
            </a:r>
            <a:endParaRPr sz="2500">
              <a:latin typeface="宋体"/>
              <a:cs typeface="宋体"/>
            </a:endParaRPr>
          </a:p>
          <a:p>
            <a:pPr marL="12700">
              <a:lnSpc>
                <a:spcPct val="100000"/>
              </a:lnSpc>
              <a:spcBef>
                <a:spcPts val="265"/>
              </a:spcBef>
              <a:tabLst>
                <a:tab pos="926465" algn="l"/>
              </a:tabLst>
            </a:pPr>
            <a:r>
              <a:rPr dirty="0" sz="2400" spc="-25" b="1">
                <a:solidFill>
                  <a:srgbClr val="0000CC"/>
                </a:solidFill>
                <a:latin typeface="宋体"/>
                <a:cs typeface="宋体"/>
              </a:rPr>
              <a:t>S.D</a:t>
            </a:r>
            <a:r>
              <a:rPr dirty="0" sz="2400" b="1">
                <a:solidFill>
                  <a:srgbClr val="0000CC"/>
                </a:solidFill>
                <a:latin typeface="宋体"/>
                <a:cs typeface="宋体"/>
              </a:rPr>
              <a:t>	</a:t>
            </a:r>
            <a:r>
              <a:rPr dirty="0" sz="2400" spc="-10" b="1">
                <a:solidFill>
                  <a:srgbClr val="0000CC"/>
                </a:solidFill>
                <a:latin typeface="宋体"/>
                <a:cs typeface="宋体"/>
              </a:rPr>
              <a:t>F4，0（R1）</a:t>
            </a:r>
            <a:endParaRPr sz="2400">
              <a:latin typeface="宋体"/>
              <a:cs typeface="宋体"/>
            </a:endParaRPr>
          </a:p>
          <a:p>
            <a:pPr marL="12700">
              <a:lnSpc>
                <a:spcPct val="100000"/>
              </a:lnSpc>
              <a:spcBef>
                <a:spcPts val="290"/>
              </a:spcBef>
            </a:pPr>
            <a:r>
              <a:rPr dirty="0" sz="2400" spc="-25" b="1">
                <a:latin typeface="宋体"/>
                <a:cs typeface="宋体"/>
              </a:rPr>
              <a:t>；修改</a:t>
            </a:r>
            <a:r>
              <a:rPr dirty="0" sz="2400" spc="-10" b="1">
                <a:latin typeface="宋体"/>
                <a:cs typeface="宋体"/>
              </a:rPr>
              <a:t>x[i-2]</a:t>
            </a:r>
            <a:r>
              <a:rPr dirty="0" sz="2400" spc="-35" b="1">
                <a:latin typeface="宋体"/>
                <a:cs typeface="宋体"/>
              </a:rPr>
              <a:t>并保存</a:t>
            </a:r>
            <a:endParaRPr sz="2400">
              <a:latin typeface="宋体"/>
              <a:cs typeface="宋体"/>
            </a:endParaRPr>
          </a:p>
          <a:p>
            <a:pPr marL="12700">
              <a:lnSpc>
                <a:spcPct val="100000"/>
              </a:lnSpc>
              <a:spcBef>
                <a:spcPts val="190"/>
              </a:spcBef>
              <a:tabLst>
                <a:tab pos="926465" algn="l"/>
              </a:tabLst>
            </a:pPr>
            <a:r>
              <a:rPr dirty="0" sz="2500" spc="-25" b="1" i="1">
                <a:solidFill>
                  <a:srgbClr val="FF09FF"/>
                </a:solidFill>
                <a:latin typeface="宋体"/>
                <a:cs typeface="宋体"/>
              </a:rPr>
              <a:t>L.D</a:t>
            </a:r>
            <a:r>
              <a:rPr dirty="0" sz="2500" b="1" i="1">
                <a:solidFill>
                  <a:srgbClr val="FF09FF"/>
                </a:solidFill>
                <a:latin typeface="宋体"/>
                <a:cs typeface="宋体"/>
              </a:rPr>
              <a:t>	</a:t>
            </a:r>
            <a:r>
              <a:rPr dirty="0" sz="2500" spc="-10" b="1" i="1">
                <a:solidFill>
                  <a:srgbClr val="FF09FF"/>
                </a:solidFill>
                <a:latin typeface="宋体"/>
                <a:cs typeface="宋体"/>
              </a:rPr>
              <a:t>F0，0（R1）</a:t>
            </a:r>
            <a:endParaRPr sz="2500">
              <a:latin typeface="宋体"/>
              <a:cs typeface="宋体"/>
            </a:endParaRPr>
          </a:p>
          <a:p>
            <a:pPr marL="12700">
              <a:lnSpc>
                <a:spcPct val="100000"/>
              </a:lnSpc>
              <a:spcBef>
                <a:spcPts val="265"/>
              </a:spcBef>
            </a:pPr>
            <a:r>
              <a:rPr dirty="0" sz="2400" b="1">
                <a:solidFill>
                  <a:srgbClr val="0000CC"/>
                </a:solidFill>
                <a:latin typeface="宋体"/>
                <a:cs typeface="宋体"/>
              </a:rPr>
              <a:t>ADD.D</a:t>
            </a:r>
            <a:r>
              <a:rPr dirty="0" sz="2400" spc="-140" b="1">
                <a:solidFill>
                  <a:srgbClr val="0000CC"/>
                </a:solidFill>
                <a:latin typeface="宋体"/>
                <a:cs typeface="宋体"/>
              </a:rPr>
              <a:t> </a:t>
            </a:r>
            <a:r>
              <a:rPr dirty="0" sz="2400" spc="-10" b="1">
                <a:solidFill>
                  <a:srgbClr val="0000CC"/>
                </a:solidFill>
                <a:latin typeface="宋体"/>
                <a:cs typeface="宋体"/>
              </a:rPr>
              <a:t>F4，F0，F2</a:t>
            </a:r>
            <a:endParaRPr sz="2400">
              <a:latin typeface="宋体"/>
              <a:cs typeface="宋体"/>
            </a:endParaRPr>
          </a:p>
          <a:p>
            <a:pPr marL="12700">
              <a:lnSpc>
                <a:spcPct val="100000"/>
              </a:lnSpc>
              <a:spcBef>
                <a:spcPts val="290"/>
              </a:spcBef>
              <a:tabLst>
                <a:tab pos="926465" algn="l"/>
              </a:tabLst>
            </a:pPr>
            <a:r>
              <a:rPr dirty="0" sz="2400" spc="-25" b="1">
                <a:solidFill>
                  <a:srgbClr val="0000CC"/>
                </a:solidFill>
                <a:latin typeface="宋体"/>
                <a:cs typeface="宋体"/>
              </a:rPr>
              <a:t>S.D</a:t>
            </a:r>
            <a:r>
              <a:rPr dirty="0" sz="2400" b="1">
                <a:solidFill>
                  <a:srgbClr val="0000CC"/>
                </a:solidFill>
                <a:latin typeface="宋体"/>
                <a:cs typeface="宋体"/>
              </a:rPr>
              <a:t>	</a:t>
            </a:r>
            <a:r>
              <a:rPr dirty="0" sz="2400" spc="-10" b="1">
                <a:solidFill>
                  <a:srgbClr val="0000CC"/>
                </a:solidFill>
                <a:latin typeface="宋体"/>
                <a:cs typeface="宋体"/>
              </a:rPr>
              <a:t>F4，0（R1）</a:t>
            </a:r>
            <a:endParaRPr sz="2400">
              <a:latin typeface="宋体"/>
              <a:cs typeface="宋体"/>
            </a:endParaRPr>
          </a:p>
        </p:txBody>
      </p:sp>
      <p:grpSp>
        <p:nvGrpSpPr>
          <p:cNvPr id="15" name="object 15" descr=""/>
          <p:cNvGrpSpPr/>
          <p:nvPr/>
        </p:nvGrpSpPr>
        <p:grpSpPr>
          <a:xfrm>
            <a:off x="5763323" y="1800415"/>
            <a:ext cx="334645" cy="368300"/>
            <a:chOff x="5763323" y="1800415"/>
            <a:chExt cx="334645" cy="368300"/>
          </a:xfrm>
        </p:grpSpPr>
        <p:sp>
          <p:nvSpPr>
            <p:cNvPr id="16" name="object 16" descr=""/>
            <p:cNvSpPr/>
            <p:nvPr/>
          </p:nvSpPr>
          <p:spPr>
            <a:xfrm>
              <a:off x="5768085" y="1805177"/>
              <a:ext cx="325120" cy="358775"/>
            </a:xfrm>
            <a:custGeom>
              <a:avLst/>
              <a:gdLst/>
              <a:ahLst/>
              <a:cxnLst/>
              <a:rect l="l" t="t" r="r" b="b"/>
              <a:pathLst>
                <a:path w="325120" h="358775">
                  <a:moveTo>
                    <a:pt x="172212" y="0"/>
                  </a:moveTo>
                  <a:lnTo>
                    <a:pt x="167893" y="89535"/>
                  </a:lnTo>
                  <a:lnTo>
                    <a:pt x="8509" y="81914"/>
                  </a:lnTo>
                  <a:lnTo>
                    <a:pt x="0" y="261112"/>
                  </a:lnTo>
                  <a:lnTo>
                    <a:pt x="159258" y="268732"/>
                  </a:lnTo>
                  <a:lnTo>
                    <a:pt x="154939" y="358394"/>
                  </a:lnTo>
                  <a:lnTo>
                    <a:pt x="324612" y="186944"/>
                  </a:lnTo>
                  <a:lnTo>
                    <a:pt x="172212" y="0"/>
                  </a:lnTo>
                  <a:close/>
                </a:path>
              </a:pathLst>
            </a:custGeom>
            <a:solidFill>
              <a:srgbClr val="EBD782"/>
            </a:solidFill>
          </p:spPr>
          <p:txBody>
            <a:bodyPr wrap="square" lIns="0" tIns="0" rIns="0" bIns="0" rtlCol="0"/>
            <a:lstStyle/>
            <a:p/>
          </p:txBody>
        </p:sp>
        <p:sp>
          <p:nvSpPr>
            <p:cNvPr id="17" name="object 17" descr=""/>
            <p:cNvSpPr/>
            <p:nvPr/>
          </p:nvSpPr>
          <p:spPr>
            <a:xfrm>
              <a:off x="5768085" y="1805177"/>
              <a:ext cx="325120" cy="358775"/>
            </a:xfrm>
            <a:custGeom>
              <a:avLst/>
              <a:gdLst/>
              <a:ahLst/>
              <a:cxnLst/>
              <a:rect l="l" t="t" r="r" b="b"/>
              <a:pathLst>
                <a:path w="325120" h="358775">
                  <a:moveTo>
                    <a:pt x="324612" y="186944"/>
                  </a:moveTo>
                  <a:lnTo>
                    <a:pt x="154939" y="358394"/>
                  </a:lnTo>
                  <a:lnTo>
                    <a:pt x="159258" y="268732"/>
                  </a:lnTo>
                  <a:lnTo>
                    <a:pt x="0" y="261112"/>
                  </a:lnTo>
                  <a:lnTo>
                    <a:pt x="8509" y="81914"/>
                  </a:lnTo>
                  <a:lnTo>
                    <a:pt x="167893" y="89535"/>
                  </a:lnTo>
                  <a:lnTo>
                    <a:pt x="172212" y="0"/>
                  </a:lnTo>
                  <a:lnTo>
                    <a:pt x="324612" y="186944"/>
                  </a:lnTo>
                  <a:close/>
                </a:path>
              </a:pathLst>
            </a:custGeom>
            <a:ln w="9525">
              <a:solidFill>
                <a:srgbClr val="40458B"/>
              </a:solidFill>
            </a:ln>
          </p:spPr>
          <p:txBody>
            <a:bodyPr wrap="square" lIns="0" tIns="0" rIns="0" bIns="0" rtlCol="0"/>
            <a:lstStyle/>
            <a:p/>
          </p:txBody>
        </p:sp>
      </p:grpSp>
      <p:sp>
        <p:nvSpPr>
          <p:cNvPr id="18" name="object 18" descr=""/>
          <p:cNvSpPr txBox="1"/>
          <p:nvPr/>
        </p:nvSpPr>
        <p:spPr>
          <a:xfrm>
            <a:off x="119062" y="2730563"/>
            <a:ext cx="2232025" cy="462280"/>
          </a:xfrm>
          <a:prstGeom prst="rect">
            <a:avLst/>
          </a:prstGeom>
          <a:ln w="9525">
            <a:solidFill>
              <a:srgbClr val="FF0000"/>
            </a:solidFill>
          </a:ln>
        </p:spPr>
        <p:txBody>
          <a:bodyPr wrap="square" lIns="0" tIns="46355" rIns="0" bIns="0" rtlCol="0" vert="horz">
            <a:spAutoFit/>
          </a:bodyPr>
          <a:lstStyle/>
          <a:p>
            <a:pPr marL="91440">
              <a:lnSpc>
                <a:spcPct val="100000"/>
              </a:lnSpc>
              <a:spcBef>
                <a:spcPts val="365"/>
              </a:spcBef>
            </a:pPr>
            <a:r>
              <a:rPr dirty="0" sz="2400">
                <a:solidFill>
                  <a:srgbClr val="40458B"/>
                </a:solidFill>
                <a:latin typeface="黑体"/>
                <a:cs typeface="黑体"/>
              </a:rPr>
              <a:t>属于第</a:t>
            </a:r>
            <a:r>
              <a:rPr dirty="0" sz="2400" spc="-10">
                <a:solidFill>
                  <a:srgbClr val="40458B"/>
                </a:solidFill>
                <a:latin typeface="Tahoma"/>
                <a:cs typeface="Tahoma"/>
              </a:rPr>
              <a:t>i</a:t>
            </a:r>
            <a:r>
              <a:rPr dirty="0" sz="2400" spc="-20">
                <a:solidFill>
                  <a:srgbClr val="40458B"/>
                </a:solidFill>
                <a:latin typeface="黑体"/>
                <a:cs typeface="黑体"/>
              </a:rPr>
              <a:t>次迭代</a:t>
            </a:r>
            <a:endParaRPr sz="2400">
              <a:latin typeface="黑体"/>
              <a:cs typeface="黑体"/>
            </a:endParaRPr>
          </a:p>
        </p:txBody>
      </p:sp>
      <p:sp>
        <p:nvSpPr>
          <p:cNvPr id="19" name="object 19" descr=""/>
          <p:cNvSpPr txBox="1"/>
          <p:nvPr/>
        </p:nvSpPr>
        <p:spPr>
          <a:xfrm>
            <a:off x="6127750" y="1331163"/>
            <a:ext cx="5817235" cy="1846580"/>
          </a:xfrm>
          <a:prstGeom prst="rect">
            <a:avLst/>
          </a:prstGeom>
        </p:spPr>
        <p:txBody>
          <a:bodyPr wrap="square" lIns="0" tIns="12700" rIns="0" bIns="0" rtlCol="0" vert="horz">
            <a:spAutoFit/>
          </a:bodyPr>
          <a:lstStyle/>
          <a:p>
            <a:pPr marL="12700">
              <a:lnSpc>
                <a:spcPts val="2790"/>
              </a:lnSpc>
              <a:spcBef>
                <a:spcPts val="100"/>
              </a:spcBef>
            </a:pPr>
            <a:r>
              <a:rPr dirty="0" sz="2400" spc="-15">
                <a:solidFill>
                  <a:srgbClr val="FF0000"/>
                </a:solidFill>
                <a:latin typeface="黑体"/>
                <a:cs typeface="黑体"/>
              </a:rPr>
              <a:t>按照软流水操作：先取每个循环中的一部分</a:t>
            </a:r>
            <a:endParaRPr sz="2400">
              <a:latin typeface="黑体"/>
              <a:cs typeface="黑体"/>
            </a:endParaRPr>
          </a:p>
          <a:p>
            <a:pPr marL="12700">
              <a:lnSpc>
                <a:spcPts val="2790"/>
              </a:lnSpc>
            </a:pPr>
            <a:r>
              <a:rPr dirty="0" sz="2400">
                <a:solidFill>
                  <a:srgbClr val="FF0000"/>
                </a:solidFill>
                <a:latin typeface="黑体"/>
                <a:cs typeface="黑体"/>
              </a:rPr>
              <a:t>代码作为一个循环体，假设第</a:t>
            </a:r>
            <a:r>
              <a:rPr dirty="0" sz="2400">
                <a:solidFill>
                  <a:srgbClr val="FF0000"/>
                </a:solidFill>
                <a:latin typeface="Calibri"/>
                <a:cs typeface="Calibri"/>
              </a:rPr>
              <a:t>i</a:t>
            </a:r>
            <a:r>
              <a:rPr dirty="0" sz="2400" spc="-20">
                <a:solidFill>
                  <a:srgbClr val="FF0000"/>
                </a:solidFill>
                <a:latin typeface="黑体"/>
                <a:cs typeface="黑体"/>
              </a:rPr>
              <a:t>次循环</a:t>
            </a:r>
            <a:endParaRPr sz="2400">
              <a:latin typeface="黑体"/>
              <a:cs typeface="黑体"/>
            </a:endParaRPr>
          </a:p>
          <a:p>
            <a:pPr algn="just" marL="12700" marR="5080">
              <a:lnSpc>
                <a:spcPct val="98800"/>
              </a:lnSpc>
              <a:spcBef>
                <a:spcPts val="215"/>
              </a:spcBef>
            </a:pPr>
            <a:r>
              <a:rPr dirty="0" sz="2400">
                <a:solidFill>
                  <a:srgbClr val="FF0000"/>
                </a:solidFill>
                <a:latin typeface="黑体"/>
                <a:cs typeface="黑体"/>
              </a:rPr>
              <a:t>修改：</a:t>
            </a:r>
            <a:r>
              <a:rPr dirty="0" sz="2400">
                <a:solidFill>
                  <a:srgbClr val="00AF50"/>
                </a:solidFill>
                <a:latin typeface="黑体"/>
                <a:cs typeface="黑体"/>
              </a:rPr>
              <a:t>存上一次</a:t>
            </a:r>
            <a:r>
              <a:rPr dirty="0" sz="2400">
                <a:solidFill>
                  <a:srgbClr val="FF0000"/>
                </a:solidFill>
                <a:latin typeface="黑体"/>
                <a:cs typeface="黑体"/>
              </a:rPr>
              <a:t>循环计算出的结果，</a:t>
            </a:r>
            <a:r>
              <a:rPr dirty="0" sz="2400" spc="-20">
                <a:solidFill>
                  <a:srgbClr val="00AF50"/>
                </a:solidFill>
                <a:latin typeface="黑体"/>
                <a:cs typeface="黑体"/>
              </a:rPr>
              <a:t>计算下</a:t>
            </a:r>
            <a:r>
              <a:rPr dirty="0" sz="2400">
                <a:solidFill>
                  <a:srgbClr val="00AF50"/>
                </a:solidFill>
                <a:latin typeface="黑体"/>
                <a:cs typeface="黑体"/>
              </a:rPr>
              <a:t>一次</a:t>
            </a:r>
            <a:r>
              <a:rPr dirty="0" sz="2400" spc="-5">
                <a:solidFill>
                  <a:srgbClr val="FF0000"/>
                </a:solidFill>
                <a:latin typeface="黑体"/>
                <a:cs typeface="黑体"/>
              </a:rPr>
              <a:t>循环要存的值，</a:t>
            </a:r>
            <a:r>
              <a:rPr dirty="0" sz="2400">
                <a:solidFill>
                  <a:srgbClr val="00AF50"/>
                </a:solidFill>
                <a:latin typeface="黑体"/>
                <a:cs typeface="黑体"/>
              </a:rPr>
              <a:t>取下次</a:t>
            </a:r>
            <a:r>
              <a:rPr dirty="0" sz="2400" spc="-10">
                <a:solidFill>
                  <a:srgbClr val="FF0000"/>
                </a:solidFill>
                <a:latin typeface="黑体"/>
                <a:cs typeface="黑体"/>
              </a:rPr>
              <a:t>循环要计算的，</a:t>
            </a:r>
            <a:r>
              <a:rPr dirty="0" sz="2400" spc="-5">
                <a:solidFill>
                  <a:srgbClr val="FF0000"/>
                </a:solidFill>
                <a:latin typeface="黑体"/>
                <a:cs typeface="黑体"/>
              </a:rPr>
              <a:t>循环间的间隔确保大于轮流水线的延迟。</a:t>
            </a:r>
            <a:endParaRPr sz="2400">
              <a:latin typeface="黑体"/>
              <a:cs typeface="黑体"/>
            </a:endParaRPr>
          </a:p>
        </p:txBody>
      </p:sp>
      <p:sp>
        <p:nvSpPr>
          <p:cNvPr id="20" name="object 20" descr=""/>
          <p:cNvSpPr/>
          <p:nvPr/>
        </p:nvSpPr>
        <p:spPr>
          <a:xfrm>
            <a:off x="47625" y="4005262"/>
            <a:ext cx="2519680" cy="462280"/>
          </a:xfrm>
          <a:custGeom>
            <a:avLst/>
            <a:gdLst/>
            <a:ahLst/>
            <a:cxnLst/>
            <a:rect l="l" t="t" r="r" b="b"/>
            <a:pathLst>
              <a:path w="2519680" h="462279">
                <a:moveTo>
                  <a:pt x="0" y="461962"/>
                </a:moveTo>
                <a:lnTo>
                  <a:pt x="2519426" y="461962"/>
                </a:lnTo>
                <a:lnTo>
                  <a:pt x="2519426" y="0"/>
                </a:lnTo>
                <a:lnTo>
                  <a:pt x="0" y="0"/>
                </a:lnTo>
                <a:lnTo>
                  <a:pt x="0" y="461962"/>
                </a:lnTo>
                <a:close/>
              </a:path>
            </a:pathLst>
          </a:custGeom>
          <a:ln w="9525">
            <a:solidFill>
              <a:srgbClr val="FF0000"/>
            </a:solidFill>
          </a:ln>
        </p:spPr>
        <p:txBody>
          <a:bodyPr wrap="square" lIns="0" tIns="0" rIns="0" bIns="0" rtlCol="0"/>
          <a:lstStyle/>
          <a:p/>
        </p:txBody>
      </p:sp>
      <p:sp>
        <p:nvSpPr>
          <p:cNvPr id="21" name="object 21" descr=""/>
          <p:cNvSpPr txBox="1"/>
          <p:nvPr/>
        </p:nvSpPr>
        <p:spPr>
          <a:xfrm>
            <a:off x="126288" y="4039361"/>
            <a:ext cx="2313305"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黑体"/>
                <a:cs typeface="黑体"/>
              </a:rPr>
              <a:t>属于第</a:t>
            </a:r>
            <a:r>
              <a:rPr dirty="0" sz="2400" spc="-20">
                <a:solidFill>
                  <a:srgbClr val="40458B"/>
                </a:solidFill>
                <a:latin typeface="Tahoma"/>
                <a:cs typeface="Tahoma"/>
              </a:rPr>
              <a:t>i+1</a:t>
            </a:r>
            <a:r>
              <a:rPr dirty="0" sz="2400" spc="-20">
                <a:solidFill>
                  <a:srgbClr val="40458B"/>
                </a:solidFill>
                <a:latin typeface="黑体"/>
                <a:cs typeface="黑体"/>
              </a:rPr>
              <a:t>次迭代</a:t>
            </a:r>
            <a:endParaRPr sz="2400">
              <a:latin typeface="黑体"/>
              <a:cs typeface="黑体"/>
            </a:endParaRPr>
          </a:p>
        </p:txBody>
      </p:sp>
      <p:grpSp>
        <p:nvGrpSpPr>
          <p:cNvPr id="22" name="object 22" descr=""/>
          <p:cNvGrpSpPr/>
          <p:nvPr/>
        </p:nvGrpSpPr>
        <p:grpSpPr>
          <a:xfrm>
            <a:off x="8886888" y="3100387"/>
            <a:ext cx="370205" cy="657225"/>
            <a:chOff x="8886888" y="3100387"/>
            <a:chExt cx="370205" cy="657225"/>
          </a:xfrm>
        </p:grpSpPr>
        <p:sp>
          <p:nvSpPr>
            <p:cNvPr id="23" name="object 23" descr=""/>
            <p:cNvSpPr/>
            <p:nvPr/>
          </p:nvSpPr>
          <p:spPr>
            <a:xfrm>
              <a:off x="8891651" y="3105150"/>
              <a:ext cx="360680" cy="647700"/>
            </a:xfrm>
            <a:custGeom>
              <a:avLst/>
              <a:gdLst/>
              <a:ahLst/>
              <a:cxnLst/>
              <a:rect l="l" t="t" r="r" b="b"/>
              <a:pathLst>
                <a:path w="360679" h="647700">
                  <a:moveTo>
                    <a:pt x="270255" y="0"/>
                  </a:moveTo>
                  <a:lnTo>
                    <a:pt x="90043" y="0"/>
                  </a:lnTo>
                  <a:lnTo>
                    <a:pt x="90043" y="467740"/>
                  </a:lnTo>
                  <a:lnTo>
                    <a:pt x="0" y="467740"/>
                  </a:lnTo>
                  <a:lnTo>
                    <a:pt x="180085" y="647700"/>
                  </a:lnTo>
                  <a:lnTo>
                    <a:pt x="360299" y="467740"/>
                  </a:lnTo>
                  <a:lnTo>
                    <a:pt x="270255" y="467740"/>
                  </a:lnTo>
                  <a:lnTo>
                    <a:pt x="270255" y="0"/>
                  </a:lnTo>
                  <a:close/>
                </a:path>
              </a:pathLst>
            </a:custGeom>
            <a:solidFill>
              <a:srgbClr val="EBD782"/>
            </a:solidFill>
          </p:spPr>
          <p:txBody>
            <a:bodyPr wrap="square" lIns="0" tIns="0" rIns="0" bIns="0" rtlCol="0"/>
            <a:lstStyle/>
            <a:p/>
          </p:txBody>
        </p:sp>
        <p:sp>
          <p:nvSpPr>
            <p:cNvPr id="24" name="object 24" descr=""/>
            <p:cNvSpPr/>
            <p:nvPr/>
          </p:nvSpPr>
          <p:spPr>
            <a:xfrm>
              <a:off x="8891651" y="3105150"/>
              <a:ext cx="360680" cy="647700"/>
            </a:xfrm>
            <a:custGeom>
              <a:avLst/>
              <a:gdLst/>
              <a:ahLst/>
              <a:cxnLst/>
              <a:rect l="l" t="t" r="r" b="b"/>
              <a:pathLst>
                <a:path w="360679" h="647700">
                  <a:moveTo>
                    <a:pt x="180085" y="647700"/>
                  </a:moveTo>
                  <a:lnTo>
                    <a:pt x="0" y="467740"/>
                  </a:lnTo>
                  <a:lnTo>
                    <a:pt x="90043" y="467740"/>
                  </a:lnTo>
                  <a:lnTo>
                    <a:pt x="90043" y="0"/>
                  </a:lnTo>
                  <a:lnTo>
                    <a:pt x="270255" y="0"/>
                  </a:lnTo>
                  <a:lnTo>
                    <a:pt x="270255" y="467740"/>
                  </a:lnTo>
                  <a:lnTo>
                    <a:pt x="360299" y="467740"/>
                  </a:lnTo>
                  <a:lnTo>
                    <a:pt x="180085" y="647700"/>
                  </a:lnTo>
                  <a:close/>
                </a:path>
              </a:pathLst>
            </a:custGeom>
            <a:ln w="9525">
              <a:solidFill>
                <a:srgbClr val="40458B"/>
              </a:solidFill>
            </a:ln>
          </p:spPr>
          <p:txBody>
            <a:bodyPr wrap="square" lIns="0" tIns="0" rIns="0" bIns="0" rtlCol="0"/>
            <a:lstStyle/>
            <a:p/>
          </p:txBody>
        </p:sp>
      </p:grpSp>
      <p:sp>
        <p:nvSpPr>
          <p:cNvPr id="25" name="object 25" descr=""/>
          <p:cNvSpPr/>
          <p:nvPr/>
        </p:nvSpPr>
        <p:spPr>
          <a:xfrm>
            <a:off x="0" y="5654675"/>
            <a:ext cx="2491105" cy="460375"/>
          </a:xfrm>
          <a:custGeom>
            <a:avLst/>
            <a:gdLst/>
            <a:ahLst/>
            <a:cxnLst/>
            <a:rect l="l" t="t" r="r" b="b"/>
            <a:pathLst>
              <a:path w="2491105" h="460375">
                <a:moveTo>
                  <a:pt x="0" y="460375"/>
                </a:moveTo>
                <a:lnTo>
                  <a:pt x="2490851" y="460375"/>
                </a:lnTo>
                <a:lnTo>
                  <a:pt x="2490851" y="0"/>
                </a:lnTo>
                <a:lnTo>
                  <a:pt x="0" y="0"/>
                </a:lnTo>
              </a:path>
            </a:pathLst>
          </a:custGeom>
          <a:ln w="9525">
            <a:solidFill>
              <a:srgbClr val="FF0000"/>
            </a:solidFill>
          </a:ln>
        </p:spPr>
        <p:txBody>
          <a:bodyPr wrap="square" lIns="0" tIns="0" rIns="0" bIns="0" rtlCol="0"/>
          <a:lstStyle/>
          <a:p/>
        </p:txBody>
      </p:sp>
      <p:sp>
        <p:nvSpPr>
          <p:cNvPr id="26" name="object 26" descr=""/>
          <p:cNvSpPr txBox="1"/>
          <p:nvPr/>
        </p:nvSpPr>
        <p:spPr>
          <a:xfrm>
            <a:off x="50088" y="5689193"/>
            <a:ext cx="2313305"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黑体"/>
                <a:cs typeface="黑体"/>
              </a:rPr>
              <a:t>属于第</a:t>
            </a:r>
            <a:r>
              <a:rPr dirty="0" sz="2400" spc="-20">
                <a:solidFill>
                  <a:srgbClr val="40458B"/>
                </a:solidFill>
                <a:latin typeface="Tahoma"/>
                <a:cs typeface="Tahoma"/>
              </a:rPr>
              <a:t>i+2</a:t>
            </a:r>
            <a:r>
              <a:rPr dirty="0" sz="2400" spc="-20">
                <a:solidFill>
                  <a:srgbClr val="40458B"/>
                </a:solidFill>
                <a:latin typeface="黑体"/>
                <a:cs typeface="黑体"/>
              </a:rPr>
              <a:t>次迭代</a:t>
            </a:r>
            <a:endParaRPr sz="2400">
              <a:latin typeface="黑体"/>
              <a:cs typeface="黑体"/>
            </a:endParaRPr>
          </a:p>
        </p:txBody>
      </p:sp>
      <p:grpSp>
        <p:nvGrpSpPr>
          <p:cNvPr id="27" name="object 27" descr=""/>
          <p:cNvGrpSpPr/>
          <p:nvPr/>
        </p:nvGrpSpPr>
        <p:grpSpPr>
          <a:xfrm>
            <a:off x="2346388" y="3187763"/>
            <a:ext cx="586105" cy="246379"/>
            <a:chOff x="2346388" y="3187763"/>
            <a:chExt cx="586105" cy="246379"/>
          </a:xfrm>
        </p:grpSpPr>
        <p:sp>
          <p:nvSpPr>
            <p:cNvPr id="28" name="object 28" descr=""/>
            <p:cNvSpPr/>
            <p:nvPr/>
          </p:nvSpPr>
          <p:spPr>
            <a:xfrm>
              <a:off x="2351151" y="3192526"/>
              <a:ext cx="576580" cy="236854"/>
            </a:xfrm>
            <a:custGeom>
              <a:avLst/>
              <a:gdLst/>
              <a:ahLst/>
              <a:cxnLst/>
              <a:rect l="l" t="t" r="r" b="b"/>
              <a:pathLst>
                <a:path w="576580" h="236854">
                  <a:moveTo>
                    <a:pt x="457835" y="0"/>
                  </a:moveTo>
                  <a:lnTo>
                    <a:pt x="457835" y="59054"/>
                  </a:lnTo>
                  <a:lnTo>
                    <a:pt x="0" y="59054"/>
                  </a:lnTo>
                  <a:lnTo>
                    <a:pt x="0" y="177291"/>
                  </a:lnTo>
                  <a:lnTo>
                    <a:pt x="457835" y="177291"/>
                  </a:lnTo>
                  <a:lnTo>
                    <a:pt x="457835" y="236474"/>
                  </a:lnTo>
                  <a:lnTo>
                    <a:pt x="576199" y="118237"/>
                  </a:lnTo>
                  <a:lnTo>
                    <a:pt x="457835" y="0"/>
                  </a:lnTo>
                  <a:close/>
                </a:path>
              </a:pathLst>
            </a:custGeom>
            <a:solidFill>
              <a:srgbClr val="EBD782"/>
            </a:solidFill>
          </p:spPr>
          <p:txBody>
            <a:bodyPr wrap="square" lIns="0" tIns="0" rIns="0" bIns="0" rtlCol="0"/>
            <a:lstStyle/>
            <a:p/>
          </p:txBody>
        </p:sp>
        <p:sp>
          <p:nvSpPr>
            <p:cNvPr id="29" name="object 29" descr=""/>
            <p:cNvSpPr/>
            <p:nvPr/>
          </p:nvSpPr>
          <p:spPr>
            <a:xfrm>
              <a:off x="2351151" y="3192526"/>
              <a:ext cx="576580" cy="236854"/>
            </a:xfrm>
            <a:custGeom>
              <a:avLst/>
              <a:gdLst/>
              <a:ahLst/>
              <a:cxnLst/>
              <a:rect l="l" t="t" r="r" b="b"/>
              <a:pathLst>
                <a:path w="576580" h="236854">
                  <a:moveTo>
                    <a:pt x="0" y="59054"/>
                  </a:moveTo>
                  <a:lnTo>
                    <a:pt x="457835" y="59054"/>
                  </a:lnTo>
                  <a:lnTo>
                    <a:pt x="457835" y="0"/>
                  </a:lnTo>
                  <a:lnTo>
                    <a:pt x="576199" y="118237"/>
                  </a:lnTo>
                  <a:lnTo>
                    <a:pt x="457835" y="236474"/>
                  </a:lnTo>
                  <a:lnTo>
                    <a:pt x="457835" y="177291"/>
                  </a:lnTo>
                  <a:lnTo>
                    <a:pt x="0" y="177291"/>
                  </a:lnTo>
                  <a:lnTo>
                    <a:pt x="0" y="59054"/>
                  </a:lnTo>
                  <a:close/>
                </a:path>
              </a:pathLst>
            </a:custGeom>
            <a:ln w="9525">
              <a:solidFill>
                <a:srgbClr val="40458B"/>
              </a:solidFill>
            </a:ln>
          </p:spPr>
          <p:txBody>
            <a:bodyPr wrap="square" lIns="0" tIns="0" rIns="0" bIns="0" rtlCol="0"/>
            <a:lstStyle/>
            <a:p/>
          </p:txBody>
        </p:sp>
      </p:grpSp>
      <p:grpSp>
        <p:nvGrpSpPr>
          <p:cNvPr id="30" name="object 30" descr=""/>
          <p:cNvGrpSpPr/>
          <p:nvPr/>
        </p:nvGrpSpPr>
        <p:grpSpPr>
          <a:xfrm>
            <a:off x="2351087" y="4311713"/>
            <a:ext cx="586105" cy="244475"/>
            <a:chOff x="2351087" y="4311713"/>
            <a:chExt cx="586105" cy="244475"/>
          </a:xfrm>
        </p:grpSpPr>
        <p:sp>
          <p:nvSpPr>
            <p:cNvPr id="31" name="object 31" descr=""/>
            <p:cNvSpPr/>
            <p:nvPr/>
          </p:nvSpPr>
          <p:spPr>
            <a:xfrm>
              <a:off x="2355850" y="4316476"/>
              <a:ext cx="576580" cy="234950"/>
            </a:xfrm>
            <a:custGeom>
              <a:avLst/>
              <a:gdLst/>
              <a:ahLst/>
              <a:cxnLst/>
              <a:rect l="l" t="t" r="r" b="b"/>
              <a:pathLst>
                <a:path w="576580" h="234950">
                  <a:moveTo>
                    <a:pt x="457962" y="0"/>
                  </a:moveTo>
                  <a:lnTo>
                    <a:pt x="457962" y="58674"/>
                  </a:lnTo>
                  <a:lnTo>
                    <a:pt x="0" y="58674"/>
                  </a:lnTo>
                  <a:lnTo>
                    <a:pt x="0" y="176149"/>
                  </a:lnTo>
                  <a:lnTo>
                    <a:pt x="457962" y="176149"/>
                  </a:lnTo>
                  <a:lnTo>
                    <a:pt x="457962" y="234950"/>
                  </a:lnTo>
                  <a:lnTo>
                    <a:pt x="576326" y="117475"/>
                  </a:lnTo>
                  <a:lnTo>
                    <a:pt x="457962" y="0"/>
                  </a:lnTo>
                  <a:close/>
                </a:path>
              </a:pathLst>
            </a:custGeom>
            <a:solidFill>
              <a:srgbClr val="EBD782"/>
            </a:solidFill>
          </p:spPr>
          <p:txBody>
            <a:bodyPr wrap="square" lIns="0" tIns="0" rIns="0" bIns="0" rtlCol="0"/>
            <a:lstStyle/>
            <a:p/>
          </p:txBody>
        </p:sp>
        <p:sp>
          <p:nvSpPr>
            <p:cNvPr id="32" name="object 32" descr=""/>
            <p:cNvSpPr/>
            <p:nvPr/>
          </p:nvSpPr>
          <p:spPr>
            <a:xfrm>
              <a:off x="2355850" y="4316476"/>
              <a:ext cx="576580" cy="234950"/>
            </a:xfrm>
            <a:custGeom>
              <a:avLst/>
              <a:gdLst/>
              <a:ahLst/>
              <a:cxnLst/>
              <a:rect l="l" t="t" r="r" b="b"/>
              <a:pathLst>
                <a:path w="576580" h="234950">
                  <a:moveTo>
                    <a:pt x="0" y="58674"/>
                  </a:moveTo>
                  <a:lnTo>
                    <a:pt x="457962" y="58674"/>
                  </a:lnTo>
                  <a:lnTo>
                    <a:pt x="457962" y="0"/>
                  </a:lnTo>
                  <a:lnTo>
                    <a:pt x="576326" y="117475"/>
                  </a:lnTo>
                  <a:lnTo>
                    <a:pt x="457962" y="234950"/>
                  </a:lnTo>
                  <a:lnTo>
                    <a:pt x="457962" y="176149"/>
                  </a:lnTo>
                  <a:lnTo>
                    <a:pt x="0" y="176149"/>
                  </a:lnTo>
                  <a:lnTo>
                    <a:pt x="0" y="58674"/>
                  </a:lnTo>
                  <a:close/>
                </a:path>
              </a:pathLst>
            </a:custGeom>
            <a:ln w="9525">
              <a:solidFill>
                <a:srgbClr val="40458B"/>
              </a:solidFill>
            </a:ln>
          </p:spPr>
          <p:txBody>
            <a:bodyPr wrap="square" lIns="0" tIns="0" rIns="0" bIns="0" rtlCol="0"/>
            <a:lstStyle/>
            <a:p/>
          </p:txBody>
        </p:sp>
      </p:grpSp>
      <p:grpSp>
        <p:nvGrpSpPr>
          <p:cNvPr id="33" name="object 33" descr=""/>
          <p:cNvGrpSpPr/>
          <p:nvPr/>
        </p:nvGrpSpPr>
        <p:grpSpPr>
          <a:xfrm>
            <a:off x="2312987" y="5565838"/>
            <a:ext cx="586105" cy="246379"/>
            <a:chOff x="2312987" y="5565838"/>
            <a:chExt cx="586105" cy="246379"/>
          </a:xfrm>
        </p:grpSpPr>
        <p:sp>
          <p:nvSpPr>
            <p:cNvPr id="34" name="object 34" descr=""/>
            <p:cNvSpPr/>
            <p:nvPr/>
          </p:nvSpPr>
          <p:spPr>
            <a:xfrm>
              <a:off x="2317750" y="5570601"/>
              <a:ext cx="576580" cy="236854"/>
            </a:xfrm>
            <a:custGeom>
              <a:avLst/>
              <a:gdLst/>
              <a:ahLst/>
              <a:cxnLst/>
              <a:rect l="l" t="t" r="r" b="b"/>
              <a:pathLst>
                <a:path w="576580" h="236854">
                  <a:moveTo>
                    <a:pt x="457962" y="0"/>
                  </a:moveTo>
                  <a:lnTo>
                    <a:pt x="457962" y="59067"/>
                  </a:lnTo>
                  <a:lnTo>
                    <a:pt x="0" y="59067"/>
                  </a:lnTo>
                  <a:lnTo>
                    <a:pt x="0" y="177342"/>
                  </a:lnTo>
                  <a:lnTo>
                    <a:pt x="457962" y="177342"/>
                  </a:lnTo>
                  <a:lnTo>
                    <a:pt x="457962" y="236474"/>
                  </a:lnTo>
                  <a:lnTo>
                    <a:pt x="576326" y="118211"/>
                  </a:lnTo>
                  <a:lnTo>
                    <a:pt x="457962" y="0"/>
                  </a:lnTo>
                  <a:close/>
                </a:path>
              </a:pathLst>
            </a:custGeom>
            <a:solidFill>
              <a:srgbClr val="EBD782"/>
            </a:solidFill>
          </p:spPr>
          <p:txBody>
            <a:bodyPr wrap="square" lIns="0" tIns="0" rIns="0" bIns="0" rtlCol="0"/>
            <a:lstStyle/>
            <a:p/>
          </p:txBody>
        </p:sp>
        <p:sp>
          <p:nvSpPr>
            <p:cNvPr id="35" name="object 35" descr=""/>
            <p:cNvSpPr/>
            <p:nvPr/>
          </p:nvSpPr>
          <p:spPr>
            <a:xfrm>
              <a:off x="2317750" y="5570601"/>
              <a:ext cx="576580" cy="236854"/>
            </a:xfrm>
            <a:custGeom>
              <a:avLst/>
              <a:gdLst/>
              <a:ahLst/>
              <a:cxnLst/>
              <a:rect l="l" t="t" r="r" b="b"/>
              <a:pathLst>
                <a:path w="576580" h="236854">
                  <a:moveTo>
                    <a:pt x="0" y="59067"/>
                  </a:moveTo>
                  <a:lnTo>
                    <a:pt x="457962" y="59067"/>
                  </a:lnTo>
                  <a:lnTo>
                    <a:pt x="457962" y="0"/>
                  </a:lnTo>
                  <a:lnTo>
                    <a:pt x="576326" y="118211"/>
                  </a:lnTo>
                  <a:lnTo>
                    <a:pt x="457962" y="236474"/>
                  </a:lnTo>
                  <a:lnTo>
                    <a:pt x="457962" y="177342"/>
                  </a:lnTo>
                  <a:lnTo>
                    <a:pt x="0" y="177342"/>
                  </a:lnTo>
                  <a:lnTo>
                    <a:pt x="0" y="59067"/>
                  </a:lnTo>
                  <a:close/>
                </a:path>
              </a:pathLst>
            </a:custGeom>
            <a:ln w="9525">
              <a:solidFill>
                <a:srgbClr val="40458B"/>
              </a:solidFill>
            </a:ln>
          </p:spPr>
          <p:txBody>
            <a:bodyPr wrap="square" lIns="0" tIns="0" rIns="0" bIns="0" rtlCol="0"/>
            <a:lstStyle/>
            <a:p/>
          </p:txBody>
        </p:sp>
      </p:grpSp>
      <p:sp>
        <p:nvSpPr>
          <p:cNvPr id="36" name="object 36" descr=""/>
          <p:cNvSpPr txBox="1"/>
          <p:nvPr/>
        </p:nvSpPr>
        <p:spPr>
          <a:xfrm>
            <a:off x="6263766" y="3519927"/>
            <a:ext cx="4916170" cy="1671955"/>
          </a:xfrm>
          <a:prstGeom prst="rect">
            <a:avLst/>
          </a:prstGeom>
        </p:spPr>
        <p:txBody>
          <a:bodyPr wrap="square" lIns="0" tIns="12065" rIns="0" bIns="0" rtlCol="0" vert="horz">
            <a:spAutoFit/>
          </a:bodyPr>
          <a:lstStyle/>
          <a:p>
            <a:pPr marL="12700" marR="5080">
              <a:lnSpc>
                <a:spcPct val="144000"/>
              </a:lnSpc>
              <a:spcBef>
                <a:spcPts val="95"/>
              </a:spcBef>
              <a:tabLst>
                <a:tab pos="1211580" algn="l"/>
                <a:tab pos="3056255" algn="l"/>
                <a:tab pos="3208655" algn="l"/>
              </a:tabLst>
            </a:pPr>
            <a:r>
              <a:rPr dirty="0" sz="2500" spc="-25" b="1" i="1">
                <a:solidFill>
                  <a:srgbClr val="FF09FF"/>
                </a:solidFill>
                <a:latin typeface="宋体"/>
                <a:cs typeface="宋体"/>
              </a:rPr>
              <a:t>S.D</a:t>
            </a:r>
            <a:r>
              <a:rPr dirty="0" sz="2500" b="1" i="1">
                <a:solidFill>
                  <a:srgbClr val="FF09FF"/>
                </a:solidFill>
                <a:latin typeface="宋体"/>
                <a:cs typeface="宋体"/>
              </a:rPr>
              <a:t>	</a:t>
            </a:r>
            <a:r>
              <a:rPr dirty="0" sz="2500" spc="-10" b="1" i="1">
                <a:solidFill>
                  <a:srgbClr val="FF09FF"/>
                </a:solidFill>
                <a:latin typeface="宋体"/>
                <a:cs typeface="宋体"/>
              </a:rPr>
              <a:t>F4，0（R1）</a:t>
            </a:r>
            <a:r>
              <a:rPr dirty="0" sz="2500" b="1" i="1">
                <a:solidFill>
                  <a:srgbClr val="FF09FF"/>
                </a:solidFill>
                <a:latin typeface="宋体"/>
                <a:cs typeface="宋体"/>
              </a:rPr>
              <a:t>		#</a:t>
            </a:r>
            <a:r>
              <a:rPr dirty="0" sz="2500" spc="-90" b="1" i="1">
                <a:solidFill>
                  <a:srgbClr val="FF09FF"/>
                </a:solidFill>
                <a:latin typeface="宋体"/>
                <a:cs typeface="宋体"/>
              </a:rPr>
              <a:t> </a:t>
            </a:r>
            <a:r>
              <a:rPr dirty="0" sz="2500" spc="-114" b="1" i="1">
                <a:solidFill>
                  <a:srgbClr val="00AF50"/>
                </a:solidFill>
                <a:latin typeface="宋体"/>
                <a:cs typeface="宋体"/>
              </a:rPr>
              <a:t>存</a:t>
            </a:r>
            <a:r>
              <a:rPr dirty="0" sz="2500" spc="-20" b="1" i="1">
                <a:solidFill>
                  <a:srgbClr val="00AF50"/>
                </a:solidFill>
                <a:latin typeface="宋体"/>
                <a:cs typeface="宋体"/>
              </a:rPr>
              <a:t>X[i] </a:t>
            </a:r>
            <a:r>
              <a:rPr dirty="0" sz="2500" spc="-10" b="1" i="1">
                <a:solidFill>
                  <a:srgbClr val="FF09FF"/>
                </a:solidFill>
                <a:latin typeface="宋体"/>
                <a:cs typeface="宋体"/>
              </a:rPr>
              <a:t>ADD.D</a:t>
            </a:r>
            <a:r>
              <a:rPr dirty="0" sz="2500" b="1" i="1">
                <a:solidFill>
                  <a:srgbClr val="FF09FF"/>
                </a:solidFill>
                <a:latin typeface="宋体"/>
                <a:cs typeface="宋体"/>
              </a:rPr>
              <a:t>	</a:t>
            </a:r>
            <a:r>
              <a:rPr dirty="0" sz="2500" spc="-10" b="1" i="1">
                <a:solidFill>
                  <a:srgbClr val="FF09FF"/>
                </a:solidFill>
                <a:latin typeface="宋体"/>
                <a:cs typeface="宋体"/>
              </a:rPr>
              <a:t>F4，F0，F2</a:t>
            </a:r>
            <a:r>
              <a:rPr dirty="0" sz="2500" b="1" i="1">
                <a:solidFill>
                  <a:srgbClr val="FF09FF"/>
                </a:solidFill>
                <a:latin typeface="宋体"/>
                <a:cs typeface="宋体"/>
              </a:rPr>
              <a:t>	#</a:t>
            </a:r>
            <a:r>
              <a:rPr dirty="0" sz="2500" spc="-90" b="1" i="1">
                <a:solidFill>
                  <a:srgbClr val="FF09FF"/>
                </a:solidFill>
                <a:latin typeface="宋体"/>
                <a:cs typeface="宋体"/>
              </a:rPr>
              <a:t> </a:t>
            </a:r>
            <a:r>
              <a:rPr dirty="0" sz="2500" spc="-114" b="1" i="1">
                <a:solidFill>
                  <a:srgbClr val="00AF50"/>
                </a:solidFill>
                <a:latin typeface="宋体"/>
                <a:cs typeface="宋体"/>
              </a:rPr>
              <a:t>算</a:t>
            </a:r>
            <a:r>
              <a:rPr dirty="0" sz="2500" spc="-45" b="1" i="1">
                <a:solidFill>
                  <a:srgbClr val="00AF50"/>
                </a:solidFill>
                <a:latin typeface="宋体"/>
                <a:cs typeface="宋体"/>
              </a:rPr>
              <a:t>X[i+1]+s </a:t>
            </a:r>
            <a:r>
              <a:rPr dirty="0" sz="2500" spc="-25" b="1" i="1">
                <a:solidFill>
                  <a:srgbClr val="FF09FF"/>
                </a:solidFill>
                <a:latin typeface="宋体"/>
                <a:cs typeface="宋体"/>
              </a:rPr>
              <a:t>L.D</a:t>
            </a:r>
            <a:endParaRPr sz="2500">
              <a:latin typeface="宋体"/>
              <a:cs typeface="宋体"/>
            </a:endParaRPr>
          </a:p>
        </p:txBody>
      </p:sp>
      <p:sp>
        <p:nvSpPr>
          <p:cNvPr id="37" name="object 37" descr=""/>
          <p:cNvSpPr txBox="1"/>
          <p:nvPr/>
        </p:nvSpPr>
        <p:spPr>
          <a:xfrm>
            <a:off x="7463155" y="4780813"/>
            <a:ext cx="3561715" cy="411480"/>
          </a:xfrm>
          <a:prstGeom prst="rect">
            <a:avLst/>
          </a:prstGeom>
        </p:spPr>
        <p:txBody>
          <a:bodyPr wrap="square" lIns="0" tIns="16510" rIns="0" bIns="0" rtlCol="0" vert="horz">
            <a:spAutoFit/>
          </a:bodyPr>
          <a:lstStyle/>
          <a:p>
            <a:pPr marL="12700">
              <a:lnSpc>
                <a:spcPct val="100000"/>
              </a:lnSpc>
              <a:spcBef>
                <a:spcPts val="130"/>
              </a:spcBef>
            </a:pPr>
            <a:r>
              <a:rPr dirty="0" sz="2500" spc="-50" b="1" i="1">
                <a:solidFill>
                  <a:srgbClr val="FF09FF"/>
                </a:solidFill>
                <a:latin typeface="宋体"/>
                <a:cs typeface="宋体"/>
              </a:rPr>
              <a:t>F0，</a:t>
            </a:r>
            <a:r>
              <a:rPr dirty="0" sz="2500" spc="-50" b="1" i="1">
                <a:solidFill>
                  <a:srgbClr val="00AF50"/>
                </a:solidFill>
                <a:latin typeface="宋体"/>
                <a:cs typeface="宋体"/>
              </a:rPr>
              <a:t>16</a:t>
            </a:r>
            <a:r>
              <a:rPr dirty="0" sz="2500" spc="-50" b="1" i="1">
                <a:solidFill>
                  <a:srgbClr val="FF09FF"/>
                </a:solidFill>
                <a:latin typeface="宋体"/>
                <a:cs typeface="宋体"/>
              </a:rPr>
              <a:t>（R1）</a:t>
            </a:r>
            <a:r>
              <a:rPr dirty="0" sz="2500" spc="-120" b="1" i="1">
                <a:solidFill>
                  <a:srgbClr val="FF09FF"/>
                </a:solidFill>
                <a:latin typeface="宋体"/>
                <a:cs typeface="宋体"/>
              </a:rPr>
              <a:t> # </a:t>
            </a:r>
            <a:r>
              <a:rPr dirty="0" sz="2500" spc="-114" b="1" i="1">
                <a:solidFill>
                  <a:srgbClr val="00AF50"/>
                </a:solidFill>
                <a:latin typeface="宋体"/>
                <a:cs typeface="宋体"/>
              </a:rPr>
              <a:t>取</a:t>
            </a:r>
            <a:r>
              <a:rPr dirty="0" sz="2500" spc="-10" b="1" i="1">
                <a:solidFill>
                  <a:srgbClr val="00AF50"/>
                </a:solidFill>
                <a:latin typeface="宋体"/>
                <a:cs typeface="宋体"/>
              </a:rPr>
              <a:t>X[i+2]</a:t>
            </a:r>
            <a:endParaRPr sz="2500">
              <a:latin typeface="宋体"/>
              <a:cs typeface="宋体"/>
            </a:endParaRPr>
          </a:p>
        </p:txBody>
      </p:sp>
      <p:grpSp>
        <p:nvGrpSpPr>
          <p:cNvPr id="38" name="object 38" descr=""/>
          <p:cNvGrpSpPr/>
          <p:nvPr/>
        </p:nvGrpSpPr>
        <p:grpSpPr>
          <a:xfrm>
            <a:off x="5803963" y="1319275"/>
            <a:ext cx="4076700" cy="5405755"/>
            <a:chOff x="5803963" y="1319275"/>
            <a:chExt cx="4076700" cy="5405755"/>
          </a:xfrm>
        </p:grpSpPr>
        <p:sp>
          <p:nvSpPr>
            <p:cNvPr id="39" name="object 39" descr=""/>
            <p:cNvSpPr/>
            <p:nvPr/>
          </p:nvSpPr>
          <p:spPr>
            <a:xfrm>
              <a:off x="5808726" y="1319275"/>
              <a:ext cx="0" cy="5405755"/>
            </a:xfrm>
            <a:custGeom>
              <a:avLst/>
              <a:gdLst/>
              <a:ahLst/>
              <a:cxnLst/>
              <a:rect l="l" t="t" r="r" b="b"/>
              <a:pathLst>
                <a:path w="0" h="5405755">
                  <a:moveTo>
                    <a:pt x="0" y="0"/>
                  </a:moveTo>
                  <a:lnTo>
                    <a:pt x="0" y="5405374"/>
                  </a:lnTo>
                </a:path>
              </a:pathLst>
            </a:custGeom>
            <a:ln w="9525">
              <a:solidFill>
                <a:srgbClr val="40458B"/>
              </a:solidFill>
            </a:ln>
          </p:spPr>
          <p:txBody>
            <a:bodyPr wrap="square" lIns="0" tIns="0" rIns="0" bIns="0" rtlCol="0"/>
            <a:lstStyle/>
            <a:p/>
          </p:txBody>
        </p:sp>
        <p:sp>
          <p:nvSpPr>
            <p:cNvPr id="40" name="object 40" descr=""/>
            <p:cNvSpPr/>
            <p:nvPr/>
          </p:nvSpPr>
          <p:spPr>
            <a:xfrm>
              <a:off x="9552685" y="5886246"/>
              <a:ext cx="323215" cy="220345"/>
            </a:xfrm>
            <a:custGeom>
              <a:avLst/>
              <a:gdLst/>
              <a:ahLst/>
              <a:cxnLst/>
              <a:rect l="l" t="t" r="r" b="b"/>
              <a:pathLst>
                <a:path w="323215" h="220345">
                  <a:moveTo>
                    <a:pt x="217932" y="0"/>
                  </a:moveTo>
                  <a:lnTo>
                    <a:pt x="215265" y="55016"/>
                  </a:lnTo>
                  <a:lnTo>
                    <a:pt x="5334" y="44919"/>
                  </a:lnTo>
                  <a:lnTo>
                    <a:pt x="0" y="154940"/>
                  </a:lnTo>
                  <a:lnTo>
                    <a:pt x="209931" y="165023"/>
                  </a:lnTo>
                  <a:lnTo>
                    <a:pt x="207391" y="220040"/>
                  </a:lnTo>
                  <a:lnTo>
                    <a:pt x="323215" y="115328"/>
                  </a:lnTo>
                  <a:lnTo>
                    <a:pt x="217932" y="0"/>
                  </a:lnTo>
                  <a:close/>
                </a:path>
              </a:pathLst>
            </a:custGeom>
            <a:solidFill>
              <a:srgbClr val="EBD782"/>
            </a:solidFill>
          </p:spPr>
          <p:txBody>
            <a:bodyPr wrap="square" lIns="0" tIns="0" rIns="0" bIns="0" rtlCol="0"/>
            <a:lstStyle/>
            <a:p/>
          </p:txBody>
        </p:sp>
        <p:sp>
          <p:nvSpPr>
            <p:cNvPr id="41" name="object 41" descr=""/>
            <p:cNvSpPr/>
            <p:nvPr/>
          </p:nvSpPr>
          <p:spPr>
            <a:xfrm>
              <a:off x="9552685" y="5886246"/>
              <a:ext cx="323215" cy="220345"/>
            </a:xfrm>
            <a:custGeom>
              <a:avLst/>
              <a:gdLst/>
              <a:ahLst/>
              <a:cxnLst/>
              <a:rect l="l" t="t" r="r" b="b"/>
              <a:pathLst>
                <a:path w="323215" h="220345">
                  <a:moveTo>
                    <a:pt x="323215" y="115328"/>
                  </a:moveTo>
                  <a:lnTo>
                    <a:pt x="207391" y="220040"/>
                  </a:lnTo>
                  <a:lnTo>
                    <a:pt x="209931" y="165023"/>
                  </a:lnTo>
                  <a:lnTo>
                    <a:pt x="0" y="154940"/>
                  </a:lnTo>
                  <a:lnTo>
                    <a:pt x="5334" y="44919"/>
                  </a:lnTo>
                  <a:lnTo>
                    <a:pt x="215265" y="55016"/>
                  </a:lnTo>
                  <a:lnTo>
                    <a:pt x="217932" y="0"/>
                  </a:lnTo>
                  <a:lnTo>
                    <a:pt x="323215" y="115328"/>
                  </a:lnTo>
                  <a:close/>
                </a:path>
              </a:pathLst>
            </a:custGeom>
            <a:ln w="9525">
              <a:solidFill>
                <a:srgbClr val="40458B"/>
              </a:solidFill>
            </a:ln>
          </p:spPr>
          <p:txBody>
            <a:bodyPr wrap="square" lIns="0" tIns="0" rIns="0" bIns="0" rtlCol="0"/>
            <a:lstStyle/>
            <a:p/>
          </p:txBody>
        </p:sp>
      </p:grpSp>
      <p:sp>
        <p:nvSpPr>
          <p:cNvPr id="42" name="object 42" descr=""/>
          <p:cNvSpPr txBox="1"/>
          <p:nvPr/>
        </p:nvSpPr>
        <p:spPr>
          <a:xfrm>
            <a:off x="5938901" y="5564187"/>
            <a:ext cx="3542029" cy="708025"/>
          </a:xfrm>
          <a:prstGeom prst="rect">
            <a:avLst/>
          </a:prstGeom>
          <a:ln w="9525">
            <a:solidFill>
              <a:srgbClr val="FF0000"/>
            </a:solidFill>
          </a:ln>
        </p:spPr>
        <p:txBody>
          <a:bodyPr wrap="square" lIns="0" tIns="71120" rIns="0" bIns="0" rtlCol="0" vert="horz">
            <a:spAutoFit/>
          </a:bodyPr>
          <a:lstStyle/>
          <a:p>
            <a:pPr marL="92075" marR="139065">
              <a:lnSpc>
                <a:spcPts val="2340"/>
              </a:lnSpc>
              <a:spcBef>
                <a:spcPts val="560"/>
              </a:spcBef>
            </a:pPr>
            <a:r>
              <a:rPr dirty="0" sz="2000" spc="-10">
                <a:solidFill>
                  <a:srgbClr val="FF0000"/>
                </a:solidFill>
                <a:latin typeface="黑体"/>
                <a:cs typeface="黑体"/>
              </a:rPr>
              <a:t>存取逻辑合理</a:t>
            </a:r>
            <a:r>
              <a:rPr dirty="0" sz="2000">
                <a:solidFill>
                  <a:srgbClr val="FF0000"/>
                </a:solidFill>
                <a:latin typeface="黑体"/>
                <a:cs typeface="黑体"/>
              </a:rPr>
              <a:t>（</a:t>
            </a:r>
            <a:r>
              <a:rPr dirty="0" sz="2000" spc="-20">
                <a:solidFill>
                  <a:srgbClr val="00AF50"/>
                </a:solidFill>
                <a:latin typeface="黑体"/>
                <a:cs typeface="黑体"/>
              </a:rPr>
              <a:t>为了正确存取</a:t>
            </a:r>
            <a:r>
              <a:rPr dirty="0" sz="2000" spc="-5">
                <a:solidFill>
                  <a:srgbClr val="00AF50"/>
                </a:solidFill>
                <a:latin typeface="黑体"/>
                <a:cs typeface="黑体"/>
              </a:rPr>
              <a:t>改变偏移量</a:t>
            </a:r>
            <a:r>
              <a:rPr dirty="0" sz="2000" spc="-10">
                <a:solidFill>
                  <a:srgbClr val="FF0000"/>
                </a:solidFill>
                <a:latin typeface="黑体"/>
                <a:cs typeface="黑体"/>
              </a:rPr>
              <a:t>）</a:t>
            </a:r>
            <a:r>
              <a:rPr dirty="0" sz="2000" spc="-20">
                <a:solidFill>
                  <a:srgbClr val="FF0000"/>
                </a:solidFill>
                <a:latin typeface="黑体"/>
                <a:cs typeface="黑体"/>
              </a:rPr>
              <a:t>，相关消除！</a:t>
            </a:r>
            <a:endParaRPr sz="2000">
              <a:latin typeface="黑体"/>
              <a:cs typeface="黑体"/>
            </a:endParaRPr>
          </a:p>
        </p:txBody>
      </p:sp>
      <p:sp>
        <p:nvSpPr>
          <p:cNvPr id="43" name="object 43" descr=""/>
          <p:cNvSpPr txBox="1"/>
          <p:nvPr/>
        </p:nvSpPr>
        <p:spPr>
          <a:xfrm>
            <a:off x="9908413" y="5718175"/>
            <a:ext cx="2225040" cy="708025"/>
          </a:xfrm>
          <a:prstGeom prst="rect">
            <a:avLst/>
          </a:prstGeom>
          <a:ln w="9525">
            <a:solidFill>
              <a:srgbClr val="FF0000"/>
            </a:solidFill>
          </a:ln>
        </p:spPr>
        <p:txBody>
          <a:bodyPr wrap="square" lIns="0" tIns="71120" rIns="0" bIns="0" rtlCol="0" vert="horz">
            <a:spAutoFit/>
          </a:bodyPr>
          <a:lstStyle/>
          <a:p>
            <a:pPr marL="92075" marR="91440">
              <a:lnSpc>
                <a:spcPts val="2340"/>
              </a:lnSpc>
              <a:spcBef>
                <a:spcPts val="560"/>
              </a:spcBef>
            </a:pPr>
            <a:r>
              <a:rPr dirty="0" sz="2000" spc="-15">
                <a:solidFill>
                  <a:srgbClr val="FF0000"/>
                </a:solidFill>
                <a:latin typeface="黑体"/>
                <a:cs typeface="黑体"/>
              </a:rPr>
              <a:t>循环怎么结束？如</a:t>
            </a:r>
            <a:r>
              <a:rPr dirty="0" sz="2000" spc="-20">
                <a:solidFill>
                  <a:srgbClr val="FF0000"/>
                </a:solidFill>
                <a:latin typeface="黑体"/>
                <a:cs typeface="黑体"/>
              </a:rPr>
              <a:t>何确保不越界？</a:t>
            </a:r>
            <a:endParaRPr sz="2000">
              <a:latin typeface="黑体"/>
              <a:cs typeface="黑体"/>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103/89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641400" y="663066"/>
            <a:ext cx="9369425" cy="391160"/>
          </a:xfrm>
          <a:prstGeom prst="rect">
            <a:avLst/>
          </a:prstGeom>
        </p:spPr>
        <p:txBody>
          <a:bodyPr wrap="square" lIns="0" tIns="12700" rIns="0" bIns="0" rtlCol="0" vert="horz">
            <a:spAutoFit/>
          </a:bodyPr>
          <a:lstStyle/>
          <a:p>
            <a:pPr marL="12700">
              <a:lnSpc>
                <a:spcPct val="100000"/>
              </a:lnSpc>
              <a:spcBef>
                <a:spcPts val="100"/>
              </a:spcBef>
            </a:pPr>
            <a:r>
              <a:rPr dirty="0" sz="2400" spc="-20" b="1">
                <a:latin typeface="宋体"/>
                <a:cs typeface="宋体"/>
              </a:rPr>
              <a:t>从这</a:t>
            </a:r>
            <a:r>
              <a:rPr dirty="0" sz="2400" spc="-20" b="1">
                <a:solidFill>
                  <a:srgbClr val="6600FF"/>
                </a:solidFill>
                <a:latin typeface="宋体"/>
                <a:cs typeface="宋体"/>
              </a:rPr>
              <a:t>3</a:t>
            </a:r>
            <a:r>
              <a:rPr dirty="0" sz="2400" spc="-25" b="1">
                <a:latin typeface="宋体"/>
                <a:cs typeface="宋体"/>
              </a:rPr>
              <a:t>个迭代中分别选出一条指令，与原有的循环控制指令拼在一起得</a:t>
            </a:r>
            <a:endParaRPr sz="2400">
              <a:latin typeface="宋体"/>
              <a:cs typeface="宋体"/>
            </a:endParaRPr>
          </a:p>
        </p:txBody>
      </p:sp>
      <p:sp>
        <p:nvSpPr>
          <p:cNvPr id="10" name="object 10" descr=""/>
          <p:cNvSpPr txBox="1"/>
          <p:nvPr/>
        </p:nvSpPr>
        <p:spPr>
          <a:xfrm>
            <a:off x="636828" y="1028522"/>
            <a:ext cx="2475230" cy="391795"/>
          </a:xfrm>
          <a:prstGeom prst="rect">
            <a:avLst/>
          </a:prstGeom>
        </p:spPr>
        <p:txBody>
          <a:bodyPr wrap="square" lIns="0" tIns="12700" rIns="0" bIns="0" rtlCol="0" vert="horz">
            <a:spAutoFit/>
          </a:bodyPr>
          <a:lstStyle/>
          <a:p>
            <a:pPr marL="12700">
              <a:lnSpc>
                <a:spcPct val="100000"/>
              </a:lnSpc>
              <a:spcBef>
                <a:spcPts val="100"/>
              </a:spcBef>
            </a:pPr>
            <a:r>
              <a:rPr dirty="0" sz="2400" spc="-30" b="1">
                <a:latin typeface="宋体"/>
                <a:cs typeface="宋体"/>
              </a:rPr>
              <a:t>到一个新的迭代。</a:t>
            </a:r>
            <a:endParaRPr sz="2400">
              <a:latin typeface="宋体"/>
              <a:cs typeface="宋体"/>
            </a:endParaRPr>
          </a:p>
        </p:txBody>
      </p:sp>
      <p:sp>
        <p:nvSpPr>
          <p:cNvPr id="11" name="object 11" descr=""/>
          <p:cNvSpPr txBox="1"/>
          <p:nvPr/>
        </p:nvSpPr>
        <p:spPr>
          <a:xfrm>
            <a:off x="636828" y="1376552"/>
            <a:ext cx="3526790" cy="848360"/>
          </a:xfrm>
          <a:prstGeom prst="rect">
            <a:avLst/>
          </a:prstGeom>
        </p:spPr>
        <p:txBody>
          <a:bodyPr wrap="square" lIns="0" tIns="58419" rIns="0" bIns="0" rtlCol="0" vert="horz">
            <a:spAutoFit/>
          </a:bodyPr>
          <a:lstStyle/>
          <a:p>
            <a:pPr marL="12700">
              <a:lnSpc>
                <a:spcPct val="100000"/>
              </a:lnSpc>
              <a:spcBef>
                <a:spcPts val="459"/>
              </a:spcBef>
              <a:tabLst>
                <a:tab pos="1669414" algn="l"/>
              </a:tabLst>
            </a:pPr>
            <a:r>
              <a:rPr dirty="0" sz="2400" spc="-10" b="1">
                <a:solidFill>
                  <a:srgbClr val="008000"/>
                </a:solidFill>
                <a:latin typeface="宋体"/>
                <a:cs typeface="宋体"/>
              </a:rPr>
              <a:t>DADDUI</a:t>
            </a:r>
            <a:r>
              <a:rPr dirty="0" sz="2400" b="1">
                <a:solidFill>
                  <a:srgbClr val="008000"/>
                </a:solidFill>
                <a:latin typeface="宋体"/>
                <a:cs typeface="宋体"/>
              </a:rPr>
              <a:t>	</a:t>
            </a:r>
            <a:r>
              <a:rPr dirty="0" sz="2400" spc="-20" b="1">
                <a:solidFill>
                  <a:srgbClr val="008000"/>
                </a:solidFill>
                <a:latin typeface="宋体"/>
                <a:cs typeface="宋体"/>
              </a:rPr>
              <a:t>R1，R1，#-</a:t>
            </a:r>
            <a:r>
              <a:rPr dirty="0" sz="2400" spc="-25" b="1">
                <a:solidFill>
                  <a:srgbClr val="008000"/>
                </a:solidFill>
                <a:latin typeface="宋体"/>
                <a:cs typeface="宋体"/>
              </a:rPr>
              <a:t>16</a:t>
            </a:r>
            <a:endParaRPr sz="2400">
              <a:latin typeface="宋体"/>
              <a:cs typeface="宋体"/>
            </a:endParaRPr>
          </a:p>
          <a:p>
            <a:pPr marL="12700">
              <a:lnSpc>
                <a:spcPct val="100000"/>
              </a:lnSpc>
              <a:spcBef>
                <a:spcPts val="360"/>
              </a:spcBef>
              <a:tabLst>
                <a:tab pos="754380" algn="l"/>
              </a:tabLst>
            </a:pPr>
            <a:r>
              <a:rPr dirty="0" sz="2400" spc="-25" b="1">
                <a:solidFill>
                  <a:srgbClr val="008000"/>
                </a:solidFill>
                <a:latin typeface="宋体"/>
                <a:cs typeface="宋体"/>
              </a:rPr>
              <a:t>L.D</a:t>
            </a:r>
            <a:r>
              <a:rPr dirty="0" sz="2400" b="1">
                <a:solidFill>
                  <a:srgbClr val="008000"/>
                </a:solidFill>
                <a:latin typeface="宋体"/>
                <a:cs typeface="宋体"/>
              </a:rPr>
              <a:t>	</a:t>
            </a:r>
            <a:r>
              <a:rPr dirty="0" sz="2400" spc="-10" b="1">
                <a:solidFill>
                  <a:srgbClr val="008000"/>
                </a:solidFill>
                <a:latin typeface="宋体"/>
                <a:cs typeface="宋体"/>
              </a:rPr>
              <a:t>F0，16（R1）</a:t>
            </a:r>
            <a:endParaRPr sz="2400">
              <a:latin typeface="宋体"/>
              <a:cs typeface="宋体"/>
            </a:endParaRPr>
          </a:p>
        </p:txBody>
      </p:sp>
      <p:sp>
        <p:nvSpPr>
          <p:cNvPr id="12" name="object 12" descr=""/>
          <p:cNvSpPr txBox="1"/>
          <p:nvPr/>
        </p:nvSpPr>
        <p:spPr>
          <a:xfrm>
            <a:off x="5037201" y="1376552"/>
            <a:ext cx="3865245" cy="848360"/>
          </a:xfrm>
          <a:prstGeom prst="rect">
            <a:avLst/>
          </a:prstGeom>
        </p:spPr>
        <p:txBody>
          <a:bodyPr wrap="square" lIns="0" tIns="58419" rIns="0" bIns="0" rtlCol="0" vert="horz">
            <a:spAutoFit/>
          </a:bodyPr>
          <a:lstStyle/>
          <a:p>
            <a:pPr marL="12700">
              <a:lnSpc>
                <a:spcPct val="100000"/>
              </a:lnSpc>
              <a:spcBef>
                <a:spcPts val="459"/>
              </a:spcBef>
            </a:pPr>
            <a:r>
              <a:rPr dirty="0" sz="2400" spc="15" b="1">
                <a:solidFill>
                  <a:srgbClr val="008000"/>
                </a:solidFill>
                <a:latin typeface="宋体"/>
                <a:cs typeface="宋体"/>
              </a:rPr>
              <a:t>// </a:t>
            </a:r>
            <a:r>
              <a:rPr dirty="0" sz="2400" spc="-20" b="1">
                <a:solidFill>
                  <a:srgbClr val="008000"/>
                </a:solidFill>
                <a:latin typeface="宋体"/>
                <a:cs typeface="宋体"/>
              </a:rPr>
              <a:t>I1：R1保存x[n-2]</a:t>
            </a:r>
            <a:r>
              <a:rPr dirty="0" sz="2400" spc="-30" b="1">
                <a:solidFill>
                  <a:srgbClr val="008000"/>
                </a:solidFill>
                <a:latin typeface="宋体"/>
                <a:cs typeface="宋体"/>
              </a:rPr>
              <a:t>的地址</a:t>
            </a:r>
            <a:endParaRPr sz="2400">
              <a:latin typeface="宋体"/>
              <a:cs typeface="宋体"/>
            </a:endParaRPr>
          </a:p>
          <a:p>
            <a:pPr marL="12700">
              <a:lnSpc>
                <a:spcPct val="100000"/>
              </a:lnSpc>
              <a:spcBef>
                <a:spcPts val="360"/>
              </a:spcBef>
            </a:pPr>
            <a:r>
              <a:rPr dirty="0" sz="2400" spc="-5" b="1">
                <a:solidFill>
                  <a:srgbClr val="008000"/>
                </a:solidFill>
                <a:latin typeface="宋体"/>
                <a:cs typeface="宋体"/>
              </a:rPr>
              <a:t>// </a:t>
            </a:r>
            <a:r>
              <a:rPr dirty="0" sz="2400" spc="-20" b="1">
                <a:solidFill>
                  <a:srgbClr val="008000"/>
                </a:solidFill>
                <a:latin typeface="宋体"/>
                <a:cs typeface="宋体"/>
              </a:rPr>
              <a:t>I2：取x[n]</a:t>
            </a:r>
            <a:endParaRPr sz="2400">
              <a:latin typeface="宋体"/>
              <a:cs typeface="宋体"/>
            </a:endParaRPr>
          </a:p>
        </p:txBody>
      </p:sp>
      <p:sp>
        <p:nvSpPr>
          <p:cNvPr id="13" name="object 13" descr=""/>
          <p:cNvSpPr txBox="1"/>
          <p:nvPr/>
        </p:nvSpPr>
        <p:spPr>
          <a:xfrm>
            <a:off x="636828" y="2198851"/>
            <a:ext cx="3218815" cy="831215"/>
          </a:xfrm>
          <a:prstGeom prst="rect">
            <a:avLst/>
          </a:prstGeom>
        </p:spPr>
        <p:txBody>
          <a:bodyPr wrap="square" lIns="0" tIns="49530" rIns="0" bIns="0" rtlCol="0" vert="horz">
            <a:spAutoFit/>
          </a:bodyPr>
          <a:lstStyle/>
          <a:p>
            <a:pPr marL="12700">
              <a:lnSpc>
                <a:spcPct val="100000"/>
              </a:lnSpc>
              <a:spcBef>
                <a:spcPts val="390"/>
              </a:spcBef>
              <a:tabLst>
                <a:tab pos="1669414" algn="l"/>
              </a:tabLst>
            </a:pPr>
            <a:r>
              <a:rPr dirty="0" sz="2400" spc="-10" b="1">
                <a:solidFill>
                  <a:srgbClr val="008000"/>
                </a:solidFill>
                <a:latin typeface="宋体"/>
                <a:cs typeface="宋体"/>
              </a:rPr>
              <a:t>ADD.D</a:t>
            </a:r>
            <a:r>
              <a:rPr dirty="0" sz="2400" b="1">
                <a:solidFill>
                  <a:srgbClr val="008000"/>
                </a:solidFill>
                <a:latin typeface="宋体"/>
                <a:cs typeface="宋体"/>
              </a:rPr>
              <a:t>	</a:t>
            </a:r>
            <a:r>
              <a:rPr dirty="0" sz="2400" spc="-10" b="1">
                <a:solidFill>
                  <a:srgbClr val="008000"/>
                </a:solidFill>
                <a:latin typeface="宋体"/>
                <a:cs typeface="宋体"/>
              </a:rPr>
              <a:t>F4，F0，F2</a:t>
            </a:r>
            <a:endParaRPr sz="2400">
              <a:latin typeface="宋体"/>
              <a:cs typeface="宋体"/>
            </a:endParaRPr>
          </a:p>
          <a:p>
            <a:pPr marL="12700">
              <a:lnSpc>
                <a:spcPct val="100000"/>
              </a:lnSpc>
              <a:spcBef>
                <a:spcPts val="295"/>
              </a:spcBef>
              <a:tabLst>
                <a:tab pos="754380" algn="l"/>
              </a:tabLst>
            </a:pPr>
            <a:r>
              <a:rPr dirty="0" sz="2400" spc="-25" b="1">
                <a:solidFill>
                  <a:srgbClr val="008000"/>
                </a:solidFill>
                <a:latin typeface="宋体"/>
                <a:cs typeface="宋体"/>
              </a:rPr>
              <a:t>L.D</a:t>
            </a:r>
            <a:r>
              <a:rPr dirty="0" sz="2400" b="1">
                <a:solidFill>
                  <a:srgbClr val="008000"/>
                </a:solidFill>
                <a:latin typeface="宋体"/>
                <a:cs typeface="宋体"/>
              </a:rPr>
              <a:t>	</a:t>
            </a:r>
            <a:r>
              <a:rPr dirty="0" sz="2400" spc="-10" b="1">
                <a:solidFill>
                  <a:srgbClr val="008000"/>
                </a:solidFill>
                <a:latin typeface="宋体"/>
                <a:cs typeface="宋体"/>
              </a:rPr>
              <a:t>F0，8（R1）</a:t>
            </a:r>
            <a:endParaRPr sz="2400">
              <a:latin typeface="宋体"/>
              <a:cs typeface="宋体"/>
            </a:endParaRPr>
          </a:p>
        </p:txBody>
      </p:sp>
      <p:sp>
        <p:nvSpPr>
          <p:cNvPr id="14" name="object 14" descr=""/>
          <p:cNvSpPr txBox="1"/>
          <p:nvPr/>
        </p:nvSpPr>
        <p:spPr>
          <a:xfrm>
            <a:off x="179628" y="3024657"/>
            <a:ext cx="3980815" cy="411480"/>
          </a:xfrm>
          <a:prstGeom prst="rect">
            <a:avLst/>
          </a:prstGeom>
        </p:spPr>
        <p:txBody>
          <a:bodyPr wrap="square" lIns="0" tIns="16510" rIns="0" bIns="0" rtlCol="0" vert="horz">
            <a:spAutoFit/>
          </a:bodyPr>
          <a:lstStyle/>
          <a:p>
            <a:pPr marL="12700">
              <a:lnSpc>
                <a:spcPct val="100000"/>
              </a:lnSpc>
              <a:spcBef>
                <a:spcPts val="130"/>
              </a:spcBef>
              <a:tabLst>
                <a:tab pos="2126615" algn="l"/>
              </a:tabLst>
            </a:pPr>
            <a:r>
              <a:rPr dirty="0" sz="2400" spc="-10" b="1">
                <a:solidFill>
                  <a:srgbClr val="0000CC"/>
                </a:solidFill>
                <a:latin typeface="宋体"/>
                <a:cs typeface="宋体"/>
              </a:rPr>
              <a:t>Loop：</a:t>
            </a:r>
            <a:r>
              <a:rPr dirty="0" sz="2500" spc="-10" b="1" i="1">
                <a:solidFill>
                  <a:srgbClr val="FF09FF"/>
                </a:solidFill>
                <a:latin typeface="宋体"/>
                <a:cs typeface="宋体"/>
              </a:rPr>
              <a:t>S.D</a:t>
            </a:r>
            <a:r>
              <a:rPr dirty="0" sz="2500" b="1" i="1">
                <a:solidFill>
                  <a:srgbClr val="FF09FF"/>
                </a:solidFill>
                <a:latin typeface="宋体"/>
                <a:cs typeface="宋体"/>
              </a:rPr>
              <a:t>	</a:t>
            </a:r>
            <a:r>
              <a:rPr dirty="0" sz="2500" spc="-50" b="1" i="1">
                <a:solidFill>
                  <a:srgbClr val="FF09FF"/>
                </a:solidFill>
                <a:latin typeface="宋体"/>
                <a:cs typeface="宋体"/>
              </a:rPr>
              <a:t>F4，16（R1）</a:t>
            </a:r>
            <a:endParaRPr sz="2500">
              <a:latin typeface="宋体"/>
              <a:cs typeface="宋体"/>
            </a:endParaRPr>
          </a:p>
        </p:txBody>
      </p:sp>
      <p:sp>
        <p:nvSpPr>
          <p:cNvPr id="15" name="object 15" descr=""/>
          <p:cNvSpPr txBox="1"/>
          <p:nvPr/>
        </p:nvSpPr>
        <p:spPr>
          <a:xfrm>
            <a:off x="790752" y="3426672"/>
            <a:ext cx="2486025" cy="411480"/>
          </a:xfrm>
          <a:prstGeom prst="rect">
            <a:avLst/>
          </a:prstGeom>
        </p:spPr>
        <p:txBody>
          <a:bodyPr wrap="square" lIns="0" tIns="16510" rIns="0" bIns="0" rtlCol="0" vert="horz">
            <a:spAutoFit/>
          </a:bodyPr>
          <a:lstStyle/>
          <a:p>
            <a:pPr marL="12700">
              <a:lnSpc>
                <a:spcPct val="100000"/>
              </a:lnSpc>
              <a:spcBef>
                <a:spcPts val="130"/>
              </a:spcBef>
            </a:pPr>
            <a:r>
              <a:rPr dirty="0" sz="2500" b="1" i="1">
                <a:solidFill>
                  <a:srgbClr val="FF09FF"/>
                </a:solidFill>
                <a:latin typeface="宋体"/>
                <a:cs typeface="宋体"/>
              </a:rPr>
              <a:t>ADD.D</a:t>
            </a:r>
            <a:r>
              <a:rPr dirty="0" sz="2500" spc="-315" b="1" i="1">
                <a:solidFill>
                  <a:srgbClr val="FF09FF"/>
                </a:solidFill>
                <a:latin typeface="宋体"/>
                <a:cs typeface="宋体"/>
              </a:rPr>
              <a:t> </a:t>
            </a:r>
            <a:r>
              <a:rPr dirty="0" sz="2500" spc="-40" b="1" i="1">
                <a:solidFill>
                  <a:srgbClr val="FF09FF"/>
                </a:solidFill>
                <a:latin typeface="宋体"/>
                <a:cs typeface="宋体"/>
              </a:rPr>
              <a:t>F4，F0，F2</a:t>
            </a:r>
            <a:endParaRPr sz="2500">
              <a:latin typeface="宋体"/>
              <a:cs typeface="宋体"/>
            </a:endParaRPr>
          </a:p>
        </p:txBody>
      </p:sp>
      <p:sp>
        <p:nvSpPr>
          <p:cNvPr id="16" name="object 16" descr=""/>
          <p:cNvSpPr txBox="1"/>
          <p:nvPr/>
        </p:nvSpPr>
        <p:spPr>
          <a:xfrm>
            <a:off x="636828" y="3794504"/>
            <a:ext cx="487680" cy="845185"/>
          </a:xfrm>
          <a:prstGeom prst="rect">
            <a:avLst/>
          </a:prstGeom>
        </p:spPr>
        <p:txBody>
          <a:bodyPr wrap="square" lIns="0" tIns="51435" rIns="0" bIns="0" rtlCol="0" vert="horz">
            <a:spAutoFit/>
          </a:bodyPr>
          <a:lstStyle/>
          <a:p>
            <a:pPr marL="12700">
              <a:lnSpc>
                <a:spcPct val="100000"/>
              </a:lnSpc>
              <a:spcBef>
                <a:spcPts val="405"/>
              </a:spcBef>
            </a:pPr>
            <a:r>
              <a:rPr dirty="0" sz="2500" spc="-30" b="1" i="1">
                <a:solidFill>
                  <a:srgbClr val="FF09FF"/>
                </a:solidFill>
                <a:latin typeface="宋体"/>
                <a:cs typeface="宋体"/>
              </a:rPr>
              <a:t>L.D</a:t>
            </a:r>
            <a:endParaRPr sz="2500">
              <a:latin typeface="宋体"/>
              <a:cs typeface="宋体"/>
            </a:endParaRPr>
          </a:p>
          <a:p>
            <a:pPr marL="12700">
              <a:lnSpc>
                <a:spcPct val="100000"/>
              </a:lnSpc>
              <a:spcBef>
                <a:spcPts val="270"/>
              </a:spcBef>
            </a:pPr>
            <a:r>
              <a:rPr dirty="0" sz="2400" spc="-25" b="1">
                <a:solidFill>
                  <a:srgbClr val="0000CC"/>
                </a:solidFill>
                <a:latin typeface="宋体"/>
                <a:cs typeface="宋体"/>
              </a:rPr>
              <a:t>BNE</a:t>
            </a:r>
            <a:endParaRPr sz="2400">
              <a:latin typeface="宋体"/>
              <a:cs typeface="宋体"/>
            </a:endParaRPr>
          </a:p>
        </p:txBody>
      </p:sp>
      <p:sp>
        <p:nvSpPr>
          <p:cNvPr id="17" name="object 17" descr=""/>
          <p:cNvSpPr txBox="1"/>
          <p:nvPr/>
        </p:nvSpPr>
        <p:spPr>
          <a:xfrm>
            <a:off x="1378966" y="3794504"/>
            <a:ext cx="1870075" cy="845185"/>
          </a:xfrm>
          <a:prstGeom prst="rect">
            <a:avLst/>
          </a:prstGeom>
        </p:spPr>
        <p:txBody>
          <a:bodyPr wrap="square" lIns="0" tIns="51435" rIns="0" bIns="0" rtlCol="0" vert="horz">
            <a:spAutoFit/>
          </a:bodyPr>
          <a:lstStyle/>
          <a:p>
            <a:pPr marL="12700">
              <a:lnSpc>
                <a:spcPct val="100000"/>
              </a:lnSpc>
              <a:spcBef>
                <a:spcPts val="405"/>
              </a:spcBef>
            </a:pPr>
            <a:r>
              <a:rPr dirty="0" sz="2500" spc="-10" b="1" i="1">
                <a:solidFill>
                  <a:srgbClr val="FF09FF"/>
                </a:solidFill>
                <a:latin typeface="宋体"/>
                <a:cs typeface="宋体"/>
              </a:rPr>
              <a:t>F0，0（R1）</a:t>
            </a:r>
            <a:endParaRPr sz="2500">
              <a:latin typeface="宋体"/>
              <a:cs typeface="宋体"/>
            </a:endParaRPr>
          </a:p>
          <a:p>
            <a:pPr marL="12700">
              <a:lnSpc>
                <a:spcPct val="100000"/>
              </a:lnSpc>
              <a:spcBef>
                <a:spcPts val="270"/>
              </a:spcBef>
            </a:pPr>
            <a:r>
              <a:rPr dirty="0" sz="2400" spc="-10" b="1">
                <a:solidFill>
                  <a:srgbClr val="0000CC"/>
                </a:solidFill>
                <a:latin typeface="宋体"/>
                <a:cs typeface="宋体"/>
              </a:rPr>
              <a:t>R1，R2，Loop</a:t>
            </a:r>
            <a:endParaRPr sz="2400">
              <a:latin typeface="宋体"/>
              <a:cs typeface="宋体"/>
            </a:endParaRPr>
          </a:p>
        </p:txBody>
      </p:sp>
      <p:sp>
        <p:nvSpPr>
          <p:cNvPr id="18" name="object 18" descr=""/>
          <p:cNvSpPr txBox="1"/>
          <p:nvPr/>
        </p:nvSpPr>
        <p:spPr>
          <a:xfrm>
            <a:off x="4276471" y="2198851"/>
            <a:ext cx="4329430" cy="3648075"/>
          </a:xfrm>
          <a:prstGeom prst="rect">
            <a:avLst/>
          </a:prstGeom>
        </p:spPr>
        <p:txBody>
          <a:bodyPr wrap="square" lIns="0" tIns="49530" rIns="0" bIns="0" rtlCol="0" vert="horz">
            <a:spAutoFit/>
          </a:bodyPr>
          <a:lstStyle/>
          <a:p>
            <a:pPr marL="772795">
              <a:lnSpc>
                <a:spcPct val="100000"/>
              </a:lnSpc>
              <a:spcBef>
                <a:spcPts val="390"/>
              </a:spcBef>
            </a:pPr>
            <a:r>
              <a:rPr dirty="0" sz="2400" b="1">
                <a:solidFill>
                  <a:srgbClr val="008000"/>
                </a:solidFill>
                <a:latin typeface="宋体"/>
                <a:cs typeface="宋体"/>
              </a:rPr>
              <a:t>//</a:t>
            </a:r>
            <a:r>
              <a:rPr dirty="0" sz="2400" spc="-20" b="1">
                <a:solidFill>
                  <a:srgbClr val="008000"/>
                </a:solidFill>
                <a:latin typeface="宋体"/>
                <a:cs typeface="宋体"/>
              </a:rPr>
              <a:t> </a:t>
            </a:r>
            <a:r>
              <a:rPr dirty="0" sz="2400" b="1">
                <a:solidFill>
                  <a:srgbClr val="008000"/>
                </a:solidFill>
                <a:latin typeface="宋体"/>
                <a:cs typeface="宋体"/>
              </a:rPr>
              <a:t>I3：x[n]</a:t>
            </a:r>
            <a:r>
              <a:rPr dirty="0" sz="2400" spc="-20" b="1">
                <a:solidFill>
                  <a:srgbClr val="008000"/>
                </a:solidFill>
                <a:latin typeface="宋体"/>
                <a:cs typeface="宋体"/>
              </a:rPr>
              <a:t> </a:t>
            </a:r>
            <a:r>
              <a:rPr dirty="0" sz="2400" b="1">
                <a:solidFill>
                  <a:srgbClr val="008000"/>
                </a:solidFill>
                <a:latin typeface="宋体"/>
                <a:cs typeface="宋体"/>
              </a:rPr>
              <a:t>=</a:t>
            </a:r>
            <a:r>
              <a:rPr dirty="0" sz="2400" spc="-10" b="1">
                <a:solidFill>
                  <a:srgbClr val="008000"/>
                </a:solidFill>
                <a:latin typeface="宋体"/>
                <a:cs typeface="宋体"/>
              </a:rPr>
              <a:t> </a:t>
            </a:r>
            <a:r>
              <a:rPr dirty="0" sz="2400" b="1">
                <a:solidFill>
                  <a:srgbClr val="008000"/>
                </a:solidFill>
                <a:latin typeface="宋体"/>
                <a:cs typeface="宋体"/>
              </a:rPr>
              <a:t>x[n]</a:t>
            </a:r>
            <a:r>
              <a:rPr dirty="0" sz="2400" spc="-20" b="1">
                <a:solidFill>
                  <a:srgbClr val="008000"/>
                </a:solidFill>
                <a:latin typeface="宋体"/>
                <a:cs typeface="宋体"/>
              </a:rPr>
              <a:t> </a:t>
            </a:r>
            <a:r>
              <a:rPr dirty="0" sz="2400" b="1">
                <a:solidFill>
                  <a:srgbClr val="008000"/>
                </a:solidFill>
                <a:latin typeface="宋体"/>
                <a:cs typeface="宋体"/>
              </a:rPr>
              <a:t>+</a:t>
            </a:r>
            <a:r>
              <a:rPr dirty="0" sz="2400" spc="-20" b="1">
                <a:solidFill>
                  <a:srgbClr val="008000"/>
                </a:solidFill>
                <a:latin typeface="宋体"/>
                <a:cs typeface="宋体"/>
              </a:rPr>
              <a:t> </a:t>
            </a:r>
            <a:r>
              <a:rPr dirty="0" sz="2400" spc="-25" b="1">
                <a:solidFill>
                  <a:srgbClr val="008000"/>
                </a:solidFill>
                <a:latin typeface="宋体"/>
                <a:cs typeface="宋体"/>
              </a:rPr>
              <a:t>F2</a:t>
            </a:r>
            <a:endParaRPr sz="2400">
              <a:latin typeface="宋体"/>
              <a:cs typeface="宋体"/>
            </a:endParaRPr>
          </a:p>
          <a:p>
            <a:pPr marL="628015">
              <a:lnSpc>
                <a:spcPct val="100000"/>
              </a:lnSpc>
              <a:spcBef>
                <a:spcPts val="295"/>
              </a:spcBef>
            </a:pPr>
            <a:r>
              <a:rPr dirty="0" sz="2400" spc="5" b="1">
                <a:solidFill>
                  <a:srgbClr val="008000"/>
                </a:solidFill>
                <a:latin typeface="宋体"/>
                <a:cs typeface="宋体"/>
              </a:rPr>
              <a:t>// </a:t>
            </a:r>
            <a:r>
              <a:rPr dirty="0" sz="2400" spc="-20" b="1">
                <a:solidFill>
                  <a:srgbClr val="008000"/>
                </a:solidFill>
                <a:latin typeface="宋体"/>
                <a:cs typeface="宋体"/>
              </a:rPr>
              <a:t>I4：取x[n-</a:t>
            </a:r>
            <a:r>
              <a:rPr dirty="0" sz="2400" spc="-25" b="1">
                <a:solidFill>
                  <a:srgbClr val="008000"/>
                </a:solidFill>
                <a:latin typeface="宋体"/>
                <a:cs typeface="宋体"/>
              </a:rPr>
              <a:t>1]</a:t>
            </a:r>
            <a:endParaRPr sz="2400">
              <a:latin typeface="宋体"/>
              <a:cs typeface="宋体"/>
            </a:endParaRPr>
          </a:p>
          <a:p>
            <a:pPr marL="772795">
              <a:lnSpc>
                <a:spcPct val="100000"/>
              </a:lnSpc>
              <a:spcBef>
                <a:spcPts val="185"/>
              </a:spcBef>
            </a:pPr>
            <a:r>
              <a:rPr dirty="0" sz="2500" spc="-45" b="1" i="1">
                <a:solidFill>
                  <a:srgbClr val="0000CC"/>
                </a:solidFill>
                <a:latin typeface="宋体"/>
                <a:cs typeface="宋体"/>
              </a:rPr>
              <a:t>// </a:t>
            </a:r>
            <a:r>
              <a:rPr dirty="0" sz="2500" spc="-80" b="1" i="1">
                <a:solidFill>
                  <a:srgbClr val="0000CC"/>
                </a:solidFill>
                <a:latin typeface="宋体"/>
                <a:cs typeface="宋体"/>
              </a:rPr>
              <a:t>I5</a:t>
            </a:r>
            <a:r>
              <a:rPr dirty="0" sz="2500" spc="-100" b="1" i="1">
                <a:solidFill>
                  <a:srgbClr val="0000CC"/>
                </a:solidFill>
                <a:latin typeface="宋体"/>
                <a:cs typeface="宋体"/>
              </a:rPr>
              <a:t>：存</a:t>
            </a:r>
            <a:r>
              <a:rPr dirty="0" sz="2500" spc="-10" b="1" i="1">
                <a:solidFill>
                  <a:srgbClr val="0000CC"/>
                </a:solidFill>
                <a:latin typeface="宋体"/>
                <a:cs typeface="宋体"/>
              </a:rPr>
              <a:t>x[i+2]</a:t>
            </a:r>
            <a:endParaRPr sz="2500">
              <a:latin typeface="宋体"/>
              <a:cs typeface="宋体"/>
            </a:endParaRPr>
          </a:p>
          <a:p>
            <a:pPr marL="12700">
              <a:lnSpc>
                <a:spcPct val="100000"/>
              </a:lnSpc>
              <a:spcBef>
                <a:spcPts val="170"/>
              </a:spcBef>
            </a:pPr>
            <a:r>
              <a:rPr dirty="0" sz="2500" b="1" i="1">
                <a:solidFill>
                  <a:srgbClr val="0000CC"/>
                </a:solidFill>
                <a:latin typeface="宋体"/>
                <a:cs typeface="宋体"/>
              </a:rPr>
              <a:t>//</a:t>
            </a:r>
            <a:r>
              <a:rPr dirty="0" sz="2500" spc="-175" b="1" i="1">
                <a:solidFill>
                  <a:srgbClr val="0000CC"/>
                </a:solidFill>
                <a:latin typeface="宋体"/>
                <a:cs typeface="宋体"/>
              </a:rPr>
              <a:t> </a:t>
            </a:r>
            <a:r>
              <a:rPr dirty="0" sz="2500" spc="-40" b="1" i="1">
                <a:solidFill>
                  <a:srgbClr val="0000CC"/>
                </a:solidFill>
                <a:latin typeface="宋体"/>
                <a:cs typeface="宋体"/>
              </a:rPr>
              <a:t>I6：x[i+1]</a:t>
            </a:r>
            <a:r>
              <a:rPr dirty="0" sz="2500" spc="-175" b="1" i="1">
                <a:solidFill>
                  <a:srgbClr val="0000CC"/>
                </a:solidFill>
                <a:latin typeface="宋体"/>
                <a:cs typeface="宋体"/>
              </a:rPr>
              <a:t> </a:t>
            </a:r>
            <a:r>
              <a:rPr dirty="0" sz="2500" b="1" i="1">
                <a:solidFill>
                  <a:srgbClr val="0000CC"/>
                </a:solidFill>
                <a:latin typeface="宋体"/>
                <a:cs typeface="宋体"/>
              </a:rPr>
              <a:t>=</a:t>
            </a:r>
            <a:r>
              <a:rPr dirty="0" sz="2500" spc="-180" b="1" i="1">
                <a:solidFill>
                  <a:srgbClr val="0000CC"/>
                </a:solidFill>
                <a:latin typeface="宋体"/>
                <a:cs typeface="宋体"/>
              </a:rPr>
              <a:t> </a:t>
            </a:r>
            <a:r>
              <a:rPr dirty="0" sz="2500" spc="-20" b="1" i="1">
                <a:solidFill>
                  <a:srgbClr val="0000CC"/>
                </a:solidFill>
                <a:latin typeface="宋体"/>
                <a:cs typeface="宋体"/>
              </a:rPr>
              <a:t>x[i+1]</a:t>
            </a:r>
            <a:r>
              <a:rPr dirty="0" sz="2500" spc="-180" b="1" i="1">
                <a:solidFill>
                  <a:srgbClr val="0000CC"/>
                </a:solidFill>
                <a:latin typeface="宋体"/>
                <a:cs typeface="宋体"/>
              </a:rPr>
              <a:t> </a:t>
            </a:r>
            <a:r>
              <a:rPr dirty="0" sz="2500" b="1" i="1">
                <a:solidFill>
                  <a:srgbClr val="0000CC"/>
                </a:solidFill>
                <a:latin typeface="宋体"/>
                <a:cs typeface="宋体"/>
              </a:rPr>
              <a:t>+</a:t>
            </a:r>
            <a:r>
              <a:rPr dirty="0" sz="2500" spc="-180" b="1" i="1">
                <a:solidFill>
                  <a:srgbClr val="0000CC"/>
                </a:solidFill>
                <a:latin typeface="宋体"/>
                <a:cs typeface="宋体"/>
              </a:rPr>
              <a:t> </a:t>
            </a:r>
            <a:r>
              <a:rPr dirty="0" sz="2500" spc="-25" b="1" i="1">
                <a:solidFill>
                  <a:srgbClr val="0000CC"/>
                </a:solidFill>
                <a:latin typeface="宋体"/>
                <a:cs typeface="宋体"/>
              </a:rPr>
              <a:t>F2</a:t>
            </a:r>
            <a:endParaRPr sz="2500">
              <a:latin typeface="宋体"/>
              <a:cs typeface="宋体"/>
            </a:endParaRPr>
          </a:p>
          <a:p>
            <a:pPr marL="474345">
              <a:lnSpc>
                <a:spcPct val="100000"/>
              </a:lnSpc>
              <a:spcBef>
                <a:spcPts val="270"/>
              </a:spcBef>
            </a:pPr>
            <a:r>
              <a:rPr dirty="0" sz="2400" spc="-5" b="1">
                <a:solidFill>
                  <a:srgbClr val="0000CC"/>
                </a:solidFill>
                <a:latin typeface="宋体"/>
                <a:cs typeface="宋体"/>
              </a:rPr>
              <a:t>// </a:t>
            </a:r>
            <a:r>
              <a:rPr dirty="0" sz="2400" spc="-20" b="1">
                <a:solidFill>
                  <a:srgbClr val="0000CC"/>
                </a:solidFill>
                <a:latin typeface="宋体"/>
                <a:cs typeface="宋体"/>
              </a:rPr>
              <a:t>I7：取x[i]</a:t>
            </a:r>
            <a:endParaRPr sz="2400">
              <a:latin typeface="宋体"/>
              <a:cs typeface="宋体"/>
            </a:endParaRPr>
          </a:p>
          <a:p>
            <a:pPr marL="772795">
              <a:lnSpc>
                <a:spcPct val="100000"/>
              </a:lnSpc>
              <a:spcBef>
                <a:spcPts val="285"/>
              </a:spcBef>
            </a:pPr>
            <a:r>
              <a:rPr dirty="0" sz="2400" b="1">
                <a:solidFill>
                  <a:srgbClr val="0000CC"/>
                </a:solidFill>
                <a:latin typeface="宋体"/>
                <a:cs typeface="宋体"/>
              </a:rPr>
              <a:t>//</a:t>
            </a:r>
            <a:r>
              <a:rPr dirty="0" sz="2400" spc="-30" b="1">
                <a:solidFill>
                  <a:srgbClr val="0000CC"/>
                </a:solidFill>
                <a:latin typeface="宋体"/>
                <a:cs typeface="宋体"/>
              </a:rPr>
              <a:t> </a:t>
            </a:r>
            <a:r>
              <a:rPr dirty="0" sz="2400" spc="-25" b="1">
                <a:solidFill>
                  <a:srgbClr val="0000CC"/>
                </a:solidFill>
                <a:latin typeface="宋体"/>
                <a:cs typeface="宋体"/>
              </a:rPr>
              <a:t>I8</a:t>
            </a:r>
            <a:endParaRPr sz="2400">
              <a:latin typeface="宋体"/>
              <a:cs typeface="宋体"/>
            </a:endParaRPr>
          </a:p>
          <a:p>
            <a:pPr marL="772795">
              <a:lnSpc>
                <a:spcPct val="100000"/>
              </a:lnSpc>
              <a:spcBef>
                <a:spcPts val="290"/>
              </a:spcBef>
            </a:pPr>
            <a:r>
              <a:rPr dirty="0" sz="2400" spc="5" b="1">
                <a:solidFill>
                  <a:srgbClr val="FF3300"/>
                </a:solidFill>
                <a:latin typeface="宋体"/>
                <a:cs typeface="宋体"/>
              </a:rPr>
              <a:t>// </a:t>
            </a:r>
            <a:r>
              <a:rPr dirty="0" sz="2400" spc="-20" b="1">
                <a:solidFill>
                  <a:srgbClr val="FF3300"/>
                </a:solidFill>
                <a:latin typeface="宋体"/>
                <a:cs typeface="宋体"/>
              </a:rPr>
              <a:t>I9</a:t>
            </a:r>
            <a:r>
              <a:rPr dirty="0" sz="2400" spc="-25" b="1">
                <a:solidFill>
                  <a:srgbClr val="FF3300"/>
                </a:solidFill>
                <a:latin typeface="宋体"/>
                <a:cs typeface="宋体"/>
              </a:rPr>
              <a:t>：填充分支延迟槽</a:t>
            </a:r>
            <a:endParaRPr sz="2400">
              <a:latin typeface="宋体"/>
              <a:cs typeface="宋体"/>
            </a:endParaRPr>
          </a:p>
          <a:p>
            <a:pPr marL="628015">
              <a:lnSpc>
                <a:spcPct val="100000"/>
              </a:lnSpc>
              <a:spcBef>
                <a:spcPts val="290"/>
              </a:spcBef>
            </a:pPr>
            <a:r>
              <a:rPr dirty="0" sz="2400" b="1">
                <a:solidFill>
                  <a:srgbClr val="FF3300"/>
                </a:solidFill>
                <a:latin typeface="宋体"/>
                <a:cs typeface="宋体"/>
              </a:rPr>
              <a:t>// </a:t>
            </a:r>
            <a:r>
              <a:rPr dirty="0" sz="2400" spc="-10" b="1">
                <a:solidFill>
                  <a:srgbClr val="FF3300"/>
                </a:solidFill>
                <a:latin typeface="宋体"/>
                <a:cs typeface="宋体"/>
              </a:rPr>
              <a:t>I10</a:t>
            </a:r>
            <a:r>
              <a:rPr dirty="0" sz="2400" spc="-20" b="1">
                <a:solidFill>
                  <a:srgbClr val="FF3300"/>
                </a:solidFill>
                <a:latin typeface="宋体"/>
                <a:cs typeface="宋体"/>
              </a:rPr>
              <a:t>：存x[2]</a:t>
            </a:r>
            <a:endParaRPr sz="2400">
              <a:latin typeface="宋体"/>
              <a:cs typeface="宋体"/>
            </a:endParaRPr>
          </a:p>
          <a:p>
            <a:pPr marL="628015">
              <a:lnSpc>
                <a:spcPct val="100000"/>
              </a:lnSpc>
              <a:spcBef>
                <a:spcPts val="290"/>
              </a:spcBef>
            </a:pPr>
            <a:r>
              <a:rPr dirty="0" sz="2400" b="1">
                <a:solidFill>
                  <a:srgbClr val="FF3300"/>
                </a:solidFill>
                <a:latin typeface="宋体"/>
                <a:cs typeface="宋体"/>
              </a:rPr>
              <a:t>//</a:t>
            </a:r>
            <a:r>
              <a:rPr dirty="0" sz="2400" spc="-55" b="1">
                <a:solidFill>
                  <a:srgbClr val="FF3300"/>
                </a:solidFill>
                <a:latin typeface="宋体"/>
                <a:cs typeface="宋体"/>
              </a:rPr>
              <a:t> </a:t>
            </a:r>
            <a:r>
              <a:rPr dirty="0" sz="2400" b="1">
                <a:solidFill>
                  <a:srgbClr val="FF3300"/>
                </a:solidFill>
                <a:latin typeface="宋体"/>
                <a:cs typeface="宋体"/>
              </a:rPr>
              <a:t>I11：x[1]</a:t>
            </a:r>
            <a:r>
              <a:rPr dirty="0" sz="2400" spc="-40" b="1">
                <a:solidFill>
                  <a:srgbClr val="FF3300"/>
                </a:solidFill>
                <a:latin typeface="宋体"/>
                <a:cs typeface="宋体"/>
              </a:rPr>
              <a:t> </a:t>
            </a:r>
            <a:r>
              <a:rPr dirty="0" sz="2400" b="1">
                <a:solidFill>
                  <a:srgbClr val="FF3300"/>
                </a:solidFill>
                <a:latin typeface="宋体"/>
                <a:cs typeface="宋体"/>
              </a:rPr>
              <a:t>=</a:t>
            </a:r>
            <a:r>
              <a:rPr dirty="0" sz="2400" spc="-55" b="1">
                <a:solidFill>
                  <a:srgbClr val="FF3300"/>
                </a:solidFill>
                <a:latin typeface="宋体"/>
                <a:cs typeface="宋体"/>
              </a:rPr>
              <a:t> </a:t>
            </a:r>
            <a:r>
              <a:rPr dirty="0" sz="2400" b="1">
                <a:solidFill>
                  <a:srgbClr val="FF3300"/>
                </a:solidFill>
                <a:latin typeface="宋体"/>
                <a:cs typeface="宋体"/>
              </a:rPr>
              <a:t>x[1]</a:t>
            </a:r>
            <a:r>
              <a:rPr dirty="0" sz="2400" spc="-55" b="1">
                <a:solidFill>
                  <a:srgbClr val="FF3300"/>
                </a:solidFill>
                <a:latin typeface="宋体"/>
                <a:cs typeface="宋体"/>
              </a:rPr>
              <a:t> </a:t>
            </a:r>
            <a:r>
              <a:rPr dirty="0" sz="2400" b="1">
                <a:solidFill>
                  <a:srgbClr val="FF3300"/>
                </a:solidFill>
                <a:latin typeface="宋体"/>
                <a:cs typeface="宋体"/>
              </a:rPr>
              <a:t>+</a:t>
            </a:r>
            <a:r>
              <a:rPr dirty="0" sz="2400" spc="-55" b="1">
                <a:solidFill>
                  <a:srgbClr val="FF3300"/>
                </a:solidFill>
                <a:latin typeface="宋体"/>
                <a:cs typeface="宋体"/>
              </a:rPr>
              <a:t> </a:t>
            </a:r>
            <a:r>
              <a:rPr dirty="0" sz="2400" spc="-25" b="1">
                <a:solidFill>
                  <a:srgbClr val="FF3300"/>
                </a:solidFill>
                <a:latin typeface="宋体"/>
                <a:cs typeface="宋体"/>
              </a:rPr>
              <a:t>F2</a:t>
            </a:r>
            <a:endParaRPr sz="2400">
              <a:latin typeface="宋体"/>
              <a:cs typeface="宋体"/>
            </a:endParaRPr>
          </a:p>
        </p:txBody>
      </p:sp>
      <p:sp>
        <p:nvSpPr>
          <p:cNvPr id="19" name="object 19" descr=""/>
          <p:cNvSpPr txBox="1"/>
          <p:nvPr/>
        </p:nvSpPr>
        <p:spPr>
          <a:xfrm>
            <a:off x="636828" y="4614505"/>
            <a:ext cx="3371215" cy="1635125"/>
          </a:xfrm>
          <a:prstGeom prst="rect">
            <a:avLst/>
          </a:prstGeom>
        </p:spPr>
        <p:txBody>
          <a:bodyPr wrap="square" lIns="0" tIns="48895" rIns="0" bIns="0" rtlCol="0" vert="horz">
            <a:spAutoFit/>
          </a:bodyPr>
          <a:lstStyle/>
          <a:p>
            <a:pPr marL="12700">
              <a:lnSpc>
                <a:spcPct val="100000"/>
              </a:lnSpc>
              <a:spcBef>
                <a:spcPts val="385"/>
              </a:spcBef>
              <a:tabLst>
                <a:tab pos="1669414" algn="l"/>
              </a:tabLst>
            </a:pPr>
            <a:r>
              <a:rPr dirty="0" sz="2400" spc="-10" b="1">
                <a:solidFill>
                  <a:srgbClr val="FF3300"/>
                </a:solidFill>
                <a:latin typeface="宋体"/>
                <a:cs typeface="宋体"/>
              </a:rPr>
              <a:t>DADDUI</a:t>
            </a:r>
            <a:r>
              <a:rPr dirty="0" sz="2400" b="1">
                <a:solidFill>
                  <a:srgbClr val="FF3300"/>
                </a:solidFill>
                <a:latin typeface="宋体"/>
                <a:cs typeface="宋体"/>
              </a:rPr>
              <a:t>	</a:t>
            </a:r>
            <a:r>
              <a:rPr dirty="0" sz="2400" spc="-20" b="1">
                <a:solidFill>
                  <a:srgbClr val="FF3300"/>
                </a:solidFill>
                <a:latin typeface="宋体"/>
                <a:cs typeface="宋体"/>
              </a:rPr>
              <a:t>R1，R1，#-</a:t>
            </a:r>
            <a:r>
              <a:rPr dirty="0" sz="2400" spc="-50" b="1">
                <a:solidFill>
                  <a:srgbClr val="FF3300"/>
                </a:solidFill>
                <a:latin typeface="宋体"/>
                <a:cs typeface="宋体"/>
              </a:rPr>
              <a:t>8</a:t>
            </a:r>
            <a:endParaRPr sz="2400">
              <a:latin typeface="宋体"/>
              <a:cs typeface="宋体"/>
            </a:endParaRPr>
          </a:p>
          <a:p>
            <a:pPr marL="12700">
              <a:lnSpc>
                <a:spcPct val="100000"/>
              </a:lnSpc>
              <a:spcBef>
                <a:spcPts val="285"/>
              </a:spcBef>
              <a:tabLst>
                <a:tab pos="754380" algn="l"/>
              </a:tabLst>
            </a:pPr>
            <a:r>
              <a:rPr dirty="0" sz="2400" spc="-25" b="1">
                <a:solidFill>
                  <a:srgbClr val="FF3300"/>
                </a:solidFill>
                <a:latin typeface="宋体"/>
                <a:cs typeface="宋体"/>
              </a:rPr>
              <a:t>S.D</a:t>
            </a:r>
            <a:r>
              <a:rPr dirty="0" sz="2400" b="1">
                <a:solidFill>
                  <a:srgbClr val="FF3300"/>
                </a:solidFill>
                <a:latin typeface="宋体"/>
                <a:cs typeface="宋体"/>
              </a:rPr>
              <a:t>	</a:t>
            </a:r>
            <a:r>
              <a:rPr dirty="0" sz="2400" spc="-10" b="1">
                <a:solidFill>
                  <a:srgbClr val="FF3300"/>
                </a:solidFill>
                <a:latin typeface="宋体"/>
                <a:cs typeface="宋体"/>
              </a:rPr>
              <a:t>F0，8（R1）</a:t>
            </a:r>
            <a:endParaRPr sz="2400">
              <a:latin typeface="宋体"/>
              <a:cs typeface="宋体"/>
            </a:endParaRPr>
          </a:p>
          <a:p>
            <a:pPr marL="12700">
              <a:lnSpc>
                <a:spcPct val="100000"/>
              </a:lnSpc>
              <a:spcBef>
                <a:spcPts val="290"/>
              </a:spcBef>
              <a:tabLst>
                <a:tab pos="1669414" algn="l"/>
              </a:tabLst>
            </a:pPr>
            <a:r>
              <a:rPr dirty="0" sz="2400" spc="-10" b="1">
                <a:solidFill>
                  <a:srgbClr val="FF3300"/>
                </a:solidFill>
                <a:latin typeface="宋体"/>
                <a:cs typeface="宋体"/>
              </a:rPr>
              <a:t>ADD.D</a:t>
            </a:r>
            <a:r>
              <a:rPr dirty="0" sz="2400" b="1">
                <a:solidFill>
                  <a:srgbClr val="FF3300"/>
                </a:solidFill>
                <a:latin typeface="宋体"/>
                <a:cs typeface="宋体"/>
              </a:rPr>
              <a:t>	</a:t>
            </a:r>
            <a:r>
              <a:rPr dirty="0" sz="2400" spc="-10" b="1">
                <a:solidFill>
                  <a:srgbClr val="FF3300"/>
                </a:solidFill>
                <a:latin typeface="宋体"/>
                <a:cs typeface="宋体"/>
              </a:rPr>
              <a:t>F4，F0，F2</a:t>
            </a:r>
            <a:endParaRPr sz="2400">
              <a:latin typeface="宋体"/>
              <a:cs typeface="宋体"/>
            </a:endParaRPr>
          </a:p>
          <a:p>
            <a:pPr marL="12700">
              <a:lnSpc>
                <a:spcPct val="100000"/>
              </a:lnSpc>
              <a:spcBef>
                <a:spcPts val="290"/>
              </a:spcBef>
              <a:tabLst>
                <a:tab pos="754380" algn="l"/>
              </a:tabLst>
            </a:pPr>
            <a:r>
              <a:rPr dirty="0" sz="2400" spc="-25" b="1">
                <a:solidFill>
                  <a:srgbClr val="FF3300"/>
                </a:solidFill>
                <a:latin typeface="宋体"/>
                <a:cs typeface="宋体"/>
              </a:rPr>
              <a:t>S.D</a:t>
            </a:r>
            <a:r>
              <a:rPr dirty="0" sz="2400" b="1">
                <a:solidFill>
                  <a:srgbClr val="FF3300"/>
                </a:solidFill>
                <a:latin typeface="宋体"/>
                <a:cs typeface="宋体"/>
              </a:rPr>
              <a:t>	</a:t>
            </a:r>
            <a:r>
              <a:rPr dirty="0" sz="2400" spc="-10" b="1">
                <a:solidFill>
                  <a:srgbClr val="FF3300"/>
                </a:solidFill>
                <a:latin typeface="宋体"/>
                <a:cs typeface="宋体"/>
              </a:rPr>
              <a:t>F4，0（R1）</a:t>
            </a:r>
            <a:endParaRPr sz="2400">
              <a:latin typeface="宋体"/>
              <a:cs typeface="宋体"/>
            </a:endParaRPr>
          </a:p>
        </p:txBody>
      </p:sp>
      <p:sp>
        <p:nvSpPr>
          <p:cNvPr id="20" name="object 20" descr=""/>
          <p:cNvSpPr txBox="1"/>
          <p:nvPr/>
        </p:nvSpPr>
        <p:spPr>
          <a:xfrm>
            <a:off x="4584319" y="5858052"/>
            <a:ext cx="2178050" cy="391160"/>
          </a:xfrm>
          <a:prstGeom prst="rect">
            <a:avLst/>
          </a:prstGeom>
        </p:spPr>
        <p:txBody>
          <a:bodyPr wrap="square" lIns="0" tIns="12700" rIns="0" bIns="0" rtlCol="0" vert="horz">
            <a:spAutoFit/>
          </a:bodyPr>
          <a:lstStyle/>
          <a:p>
            <a:pPr marL="12700">
              <a:lnSpc>
                <a:spcPct val="100000"/>
              </a:lnSpc>
              <a:spcBef>
                <a:spcPts val="100"/>
              </a:spcBef>
            </a:pPr>
            <a:r>
              <a:rPr dirty="0" sz="2400" b="1">
                <a:solidFill>
                  <a:srgbClr val="FF3300"/>
                </a:solidFill>
                <a:latin typeface="宋体"/>
                <a:cs typeface="宋体"/>
              </a:rPr>
              <a:t>// </a:t>
            </a:r>
            <a:r>
              <a:rPr dirty="0" sz="2400" spc="-25" b="1">
                <a:solidFill>
                  <a:srgbClr val="FF3300"/>
                </a:solidFill>
                <a:latin typeface="宋体"/>
                <a:cs typeface="宋体"/>
              </a:rPr>
              <a:t>I12：存</a:t>
            </a:r>
            <a:r>
              <a:rPr dirty="0" sz="2400" spc="-20" b="1">
                <a:solidFill>
                  <a:srgbClr val="FF3300"/>
                </a:solidFill>
                <a:latin typeface="宋体"/>
                <a:cs typeface="宋体"/>
              </a:rPr>
              <a:t>x[1]</a:t>
            </a:r>
            <a:endParaRPr sz="2400">
              <a:latin typeface="宋体"/>
              <a:cs typeface="宋体"/>
            </a:endParaRPr>
          </a:p>
        </p:txBody>
      </p:sp>
      <p:sp>
        <p:nvSpPr>
          <p:cNvPr id="21" name="object 21"/>
          <p:cNvSpPr txBox="1">
            <a:spLocks noGrp="1"/>
          </p:cNvSpPr>
          <p:nvPr>
            <p:ph type="title"/>
          </p:nvPr>
        </p:nvSpPr>
        <p:spPr>
          <a:xfrm>
            <a:off x="1792604" y="36068"/>
            <a:ext cx="4907280" cy="513715"/>
          </a:xfrm>
          <a:prstGeom prst="rect"/>
        </p:spPr>
        <p:txBody>
          <a:bodyPr wrap="square" lIns="0" tIns="12700" rIns="0" bIns="0" rtlCol="0" vert="horz">
            <a:spAutoFit/>
          </a:bodyPr>
          <a:lstStyle/>
          <a:p>
            <a:pPr marL="12700">
              <a:lnSpc>
                <a:spcPct val="100000"/>
              </a:lnSpc>
              <a:spcBef>
                <a:spcPts val="100"/>
              </a:spcBef>
            </a:pPr>
            <a:r>
              <a:rPr dirty="0" u="none"/>
              <a:t>6.5</a:t>
            </a:r>
            <a:r>
              <a:rPr dirty="0" u="none" spc="-10"/>
              <a:t> 开发更多的指令级并行</a:t>
            </a:r>
          </a:p>
        </p:txBody>
      </p:sp>
      <p:grpSp>
        <p:nvGrpSpPr>
          <p:cNvPr id="22" name="object 22" descr=""/>
          <p:cNvGrpSpPr/>
          <p:nvPr/>
        </p:nvGrpSpPr>
        <p:grpSpPr>
          <a:xfrm>
            <a:off x="8439213" y="2247836"/>
            <a:ext cx="3710304" cy="3351529"/>
            <a:chOff x="8439213" y="2247836"/>
            <a:chExt cx="3710304" cy="3351529"/>
          </a:xfrm>
        </p:grpSpPr>
        <p:pic>
          <p:nvPicPr>
            <p:cNvPr id="23" name="object 23" descr=""/>
            <p:cNvPicPr/>
            <p:nvPr/>
          </p:nvPicPr>
          <p:blipFill>
            <a:blip r:embed="rId3" cstate="print"/>
            <a:stretch>
              <a:fillRect/>
            </a:stretch>
          </p:blipFill>
          <p:spPr>
            <a:xfrm>
              <a:off x="8984888" y="2272086"/>
              <a:ext cx="2943379" cy="3307912"/>
            </a:xfrm>
            <a:prstGeom prst="rect">
              <a:avLst/>
            </a:prstGeom>
          </p:spPr>
        </p:pic>
        <p:sp>
          <p:nvSpPr>
            <p:cNvPr id="24" name="object 24" descr=""/>
            <p:cNvSpPr/>
            <p:nvPr/>
          </p:nvSpPr>
          <p:spPr>
            <a:xfrm>
              <a:off x="8893175" y="2257361"/>
              <a:ext cx="3178175" cy="3332479"/>
            </a:xfrm>
            <a:custGeom>
              <a:avLst/>
              <a:gdLst/>
              <a:ahLst/>
              <a:cxnLst/>
              <a:rect l="l" t="t" r="r" b="b"/>
              <a:pathLst>
                <a:path w="3178175" h="3332479">
                  <a:moveTo>
                    <a:pt x="0" y="3332226"/>
                  </a:moveTo>
                  <a:lnTo>
                    <a:pt x="3178175" y="3332226"/>
                  </a:lnTo>
                  <a:lnTo>
                    <a:pt x="3178175" y="0"/>
                  </a:lnTo>
                  <a:lnTo>
                    <a:pt x="0" y="0"/>
                  </a:lnTo>
                  <a:lnTo>
                    <a:pt x="0" y="3332226"/>
                  </a:lnTo>
                  <a:close/>
                </a:path>
              </a:pathLst>
            </a:custGeom>
            <a:ln w="19050">
              <a:solidFill>
                <a:srgbClr val="EBD782"/>
              </a:solidFill>
            </a:ln>
          </p:spPr>
          <p:txBody>
            <a:bodyPr wrap="square" lIns="0" tIns="0" rIns="0" bIns="0" rtlCol="0"/>
            <a:lstStyle/>
            <a:p/>
          </p:txBody>
        </p:sp>
        <p:sp>
          <p:nvSpPr>
            <p:cNvPr id="25" name="object 25" descr=""/>
            <p:cNvSpPr/>
            <p:nvPr/>
          </p:nvSpPr>
          <p:spPr>
            <a:xfrm>
              <a:off x="8443976" y="3909948"/>
              <a:ext cx="576580" cy="215900"/>
            </a:xfrm>
            <a:custGeom>
              <a:avLst/>
              <a:gdLst/>
              <a:ahLst/>
              <a:cxnLst/>
              <a:rect l="l" t="t" r="r" b="b"/>
              <a:pathLst>
                <a:path w="576579" h="215900">
                  <a:moveTo>
                    <a:pt x="107950" y="0"/>
                  </a:moveTo>
                  <a:lnTo>
                    <a:pt x="0" y="108076"/>
                  </a:lnTo>
                  <a:lnTo>
                    <a:pt x="107950" y="215900"/>
                  </a:lnTo>
                  <a:lnTo>
                    <a:pt x="107950" y="161925"/>
                  </a:lnTo>
                  <a:lnTo>
                    <a:pt x="576199" y="161925"/>
                  </a:lnTo>
                  <a:lnTo>
                    <a:pt x="576199" y="53975"/>
                  </a:lnTo>
                  <a:lnTo>
                    <a:pt x="107950" y="53975"/>
                  </a:lnTo>
                  <a:lnTo>
                    <a:pt x="107950" y="0"/>
                  </a:lnTo>
                  <a:close/>
                </a:path>
              </a:pathLst>
            </a:custGeom>
            <a:solidFill>
              <a:srgbClr val="EBD782"/>
            </a:solidFill>
          </p:spPr>
          <p:txBody>
            <a:bodyPr wrap="square" lIns="0" tIns="0" rIns="0" bIns="0" rtlCol="0"/>
            <a:lstStyle/>
            <a:p/>
          </p:txBody>
        </p:sp>
        <p:sp>
          <p:nvSpPr>
            <p:cNvPr id="26" name="object 26" descr=""/>
            <p:cNvSpPr/>
            <p:nvPr/>
          </p:nvSpPr>
          <p:spPr>
            <a:xfrm>
              <a:off x="8443976" y="3909948"/>
              <a:ext cx="576580" cy="215900"/>
            </a:xfrm>
            <a:custGeom>
              <a:avLst/>
              <a:gdLst/>
              <a:ahLst/>
              <a:cxnLst/>
              <a:rect l="l" t="t" r="r" b="b"/>
              <a:pathLst>
                <a:path w="576579" h="215900">
                  <a:moveTo>
                    <a:pt x="0" y="108076"/>
                  </a:moveTo>
                  <a:lnTo>
                    <a:pt x="107950" y="0"/>
                  </a:lnTo>
                  <a:lnTo>
                    <a:pt x="107950" y="53975"/>
                  </a:lnTo>
                  <a:lnTo>
                    <a:pt x="576199" y="53975"/>
                  </a:lnTo>
                  <a:lnTo>
                    <a:pt x="576199" y="161925"/>
                  </a:lnTo>
                  <a:lnTo>
                    <a:pt x="107950" y="161925"/>
                  </a:lnTo>
                  <a:lnTo>
                    <a:pt x="107950" y="215900"/>
                  </a:lnTo>
                  <a:lnTo>
                    <a:pt x="0" y="108076"/>
                  </a:lnTo>
                  <a:close/>
                </a:path>
              </a:pathLst>
            </a:custGeom>
            <a:ln w="9525">
              <a:solidFill>
                <a:srgbClr val="40458B"/>
              </a:solidFill>
            </a:ln>
          </p:spPr>
          <p:txBody>
            <a:bodyPr wrap="square" lIns="0" tIns="0" rIns="0" bIns="0" rtlCol="0"/>
            <a:lstStyle/>
            <a:p/>
          </p:txBody>
        </p:sp>
        <p:sp>
          <p:nvSpPr>
            <p:cNvPr id="27" name="object 27" descr=""/>
            <p:cNvSpPr/>
            <p:nvPr/>
          </p:nvSpPr>
          <p:spPr>
            <a:xfrm>
              <a:off x="9696450" y="2905124"/>
              <a:ext cx="2447925" cy="2037080"/>
            </a:xfrm>
            <a:custGeom>
              <a:avLst/>
              <a:gdLst/>
              <a:ahLst/>
              <a:cxnLst/>
              <a:rect l="l" t="t" r="r" b="b"/>
              <a:pathLst>
                <a:path w="2447925" h="2037079">
                  <a:moveTo>
                    <a:pt x="0" y="2036826"/>
                  </a:moveTo>
                  <a:lnTo>
                    <a:pt x="2447925" y="2036826"/>
                  </a:lnTo>
                  <a:lnTo>
                    <a:pt x="2447925" y="0"/>
                  </a:lnTo>
                  <a:lnTo>
                    <a:pt x="0" y="0"/>
                  </a:lnTo>
                  <a:lnTo>
                    <a:pt x="0" y="2036826"/>
                  </a:lnTo>
                  <a:close/>
                </a:path>
              </a:pathLst>
            </a:custGeom>
            <a:ln w="9525">
              <a:solidFill>
                <a:srgbClr val="FF0000"/>
              </a:solidFill>
            </a:ln>
          </p:spPr>
          <p:txBody>
            <a:bodyPr wrap="square" lIns="0" tIns="0" rIns="0" bIns="0" rtlCol="0"/>
            <a:lstStyle/>
            <a:p/>
          </p:txBody>
        </p:sp>
      </p:grpSp>
      <p:sp>
        <p:nvSpPr>
          <p:cNvPr id="28" name="object 28" descr=""/>
          <p:cNvSpPr txBox="1"/>
          <p:nvPr/>
        </p:nvSpPr>
        <p:spPr>
          <a:xfrm>
            <a:off x="7004431" y="5884570"/>
            <a:ext cx="5258435"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40458B"/>
                </a:solidFill>
                <a:latin typeface="Tahoma"/>
                <a:cs typeface="Tahoma"/>
              </a:rPr>
              <a:t>https://blog.csdn.net/csdn_muxin/artic</a:t>
            </a:r>
            <a:endParaRPr sz="2400">
              <a:latin typeface="Tahoma"/>
              <a:cs typeface="Tahoma"/>
            </a:endParaRPr>
          </a:p>
        </p:txBody>
      </p:sp>
      <p:sp>
        <p:nvSpPr>
          <p:cNvPr id="29" name="object 29" descr=""/>
          <p:cNvSpPr txBox="1"/>
          <p:nvPr/>
        </p:nvSpPr>
        <p:spPr>
          <a:xfrm>
            <a:off x="7004431" y="6250330"/>
            <a:ext cx="2780665"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40458B"/>
                </a:solidFill>
                <a:latin typeface="Tahoma"/>
                <a:cs typeface="Tahoma"/>
              </a:rPr>
              <a:t>e/details/114491152</a:t>
            </a:r>
            <a:endParaRPr sz="2400">
              <a:latin typeface="Tahoma"/>
              <a:cs typeface="Tahoma"/>
            </a:endParaRPr>
          </a:p>
        </p:txBody>
      </p:sp>
      <p:sp>
        <p:nvSpPr>
          <p:cNvPr id="30" name="object 30" descr=""/>
          <p:cNvSpPr txBox="1"/>
          <p:nvPr/>
        </p:nvSpPr>
        <p:spPr>
          <a:xfrm>
            <a:off x="9264395" y="1143050"/>
            <a:ext cx="2604135" cy="708025"/>
          </a:xfrm>
          <a:prstGeom prst="rect">
            <a:avLst/>
          </a:prstGeom>
          <a:ln w="9525">
            <a:solidFill>
              <a:srgbClr val="FF0000"/>
            </a:solidFill>
          </a:ln>
        </p:spPr>
        <p:txBody>
          <a:bodyPr wrap="square" lIns="0" tIns="53975" rIns="0" bIns="0" rtlCol="0" vert="horz">
            <a:spAutoFit/>
          </a:bodyPr>
          <a:lstStyle/>
          <a:p>
            <a:pPr marL="92075">
              <a:lnSpc>
                <a:spcPts val="2370"/>
              </a:lnSpc>
              <a:spcBef>
                <a:spcPts val="425"/>
              </a:spcBef>
            </a:pPr>
            <a:r>
              <a:rPr dirty="0" sz="2000" spc="-15">
                <a:solidFill>
                  <a:srgbClr val="FF0000"/>
                </a:solidFill>
                <a:latin typeface="黑体"/>
                <a:cs typeface="黑体"/>
              </a:rPr>
              <a:t>和前面的推理过程循</a:t>
            </a:r>
            <a:endParaRPr sz="2000">
              <a:latin typeface="黑体"/>
              <a:cs typeface="黑体"/>
            </a:endParaRPr>
          </a:p>
          <a:p>
            <a:pPr marL="92075">
              <a:lnSpc>
                <a:spcPts val="2370"/>
              </a:lnSpc>
            </a:pPr>
            <a:r>
              <a:rPr dirty="0" sz="2000" spc="-20">
                <a:solidFill>
                  <a:srgbClr val="FF0000"/>
                </a:solidFill>
                <a:latin typeface="黑体"/>
                <a:cs typeface="黑体"/>
              </a:rPr>
              <a:t>环体迭代顺序有区别</a:t>
            </a:r>
            <a:endParaRPr sz="2000">
              <a:latin typeface="黑体"/>
              <a:cs typeface="黑体"/>
            </a:endParaRPr>
          </a:p>
        </p:txBody>
      </p:sp>
      <p:sp>
        <p:nvSpPr>
          <p:cNvPr id="31" name="object 31" descr=""/>
          <p:cNvSpPr/>
          <p:nvPr/>
        </p:nvSpPr>
        <p:spPr>
          <a:xfrm>
            <a:off x="3575050" y="1846452"/>
            <a:ext cx="5691505" cy="1812289"/>
          </a:xfrm>
          <a:custGeom>
            <a:avLst/>
            <a:gdLst/>
            <a:ahLst/>
            <a:cxnLst/>
            <a:rect l="l" t="t" r="r" b="b"/>
            <a:pathLst>
              <a:path w="5691505" h="1812289">
                <a:moveTo>
                  <a:pt x="61213" y="1739138"/>
                </a:moveTo>
                <a:lnTo>
                  <a:pt x="0" y="1798447"/>
                </a:lnTo>
                <a:lnTo>
                  <a:pt x="84074" y="1811909"/>
                </a:lnTo>
                <a:lnTo>
                  <a:pt x="75297" y="1783969"/>
                </a:lnTo>
                <a:lnTo>
                  <a:pt x="61975" y="1783969"/>
                </a:lnTo>
                <a:lnTo>
                  <a:pt x="59054" y="1774825"/>
                </a:lnTo>
                <a:lnTo>
                  <a:pt x="71219" y="1770989"/>
                </a:lnTo>
                <a:lnTo>
                  <a:pt x="61213" y="1739138"/>
                </a:lnTo>
                <a:close/>
              </a:path>
              <a:path w="5691505" h="1812289">
                <a:moveTo>
                  <a:pt x="71219" y="1770989"/>
                </a:moveTo>
                <a:lnTo>
                  <a:pt x="59054" y="1774825"/>
                </a:lnTo>
                <a:lnTo>
                  <a:pt x="61975" y="1783969"/>
                </a:lnTo>
                <a:lnTo>
                  <a:pt x="74096" y="1780147"/>
                </a:lnTo>
                <a:lnTo>
                  <a:pt x="71219" y="1770989"/>
                </a:lnTo>
                <a:close/>
              </a:path>
              <a:path w="5691505" h="1812289">
                <a:moveTo>
                  <a:pt x="74096" y="1780147"/>
                </a:moveTo>
                <a:lnTo>
                  <a:pt x="61975" y="1783969"/>
                </a:lnTo>
                <a:lnTo>
                  <a:pt x="75297" y="1783969"/>
                </a:lnTo>
                <a:lnTo>
                  <a:pt x="74096" y="1780147"/>
                </a:lnTo>
                <a:close/>
              </a:path>
              <a:path w="5691505" h="1812289">
                <a:moveTo>
                  <a:pt x="5688203" y="0"/>
                </a:moveTo>
                <a:lnTo>
                  <a:pt x="71219" y="1770989"/>
                </a:lnTo>
                <a:lnTo>
                  <a:pt x="74096" y="1780147"/>
                </a:lnTo>
                <a:lnTo>
                  <a:pt x="5690997" y="9144"/>
                </a:lnTo>
                <a:lnTo>
                  <a:pt x="5688203" y="0"/>
                </a:lnTo>
                <a:close/>
              </a:path>
            </a:pathLst>
          </a:custGeom>
          <a:solidFill>
            <a:srgbClr val="313776"/>
          </a:solidFill>
        </p:spPr>
        <p:txBody>
          <a:bodyPr wrap="square" lIns="0" tIns="0" rIns="0" bIns="0" rtlCol="0"/>
          <a:lstStyle/>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104/89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pic>
        <p:nvPicPr>
          <p:cNvPr id="9" name="object 9" descr=""/>
          <p:cNvPicPr/>
          <p:nvPr/>
        </p:nvPicPr>
        <p:blipFill>
          <a:blip r:embed="rId3" cstate="print"/>
          <a:stretch>
            <a:fillRect/>
          </a:stretch>
        </p:blipFill>
        <p:spPr>
          <a:xfrm>
            <a:off x="6492875" y="288925"/>
            <a:ext cx="5699125" cy="3014599"/>
          </a:xfrm>
          <a:prstGeom prst="rect">
            <a:avLst/>
          </a:prstGeom>
        </p:spPr>
      </p:pic>
      <p:sp>
        <p:nvSpPr>
          <p:cNvPr id="10" name="object 10" descr=""/>
          <p:cNvSpPr txBox="1"/>
          <p:nvPr/>
        </p:nvSpPr>
        <p:spPr>
          <a:xfrm>
            <a:off x="3832097" y="820673"/>
            <a:ext cx="3073400" cy="1943100"/>
          </a:xfrm>
          <a:prstGeom prst="rect">
            <a:avLst/>
          </a:prstGeom>
        </p:spPr>
        <p:txBody>
          <a:bodyPr wrap="square" lIns="0" tIns="12700" rIns="0" bIns="0" rtlCol="0" vert="horz">
            <a:spAutoFit/>
          </a:bodyPr>
          <a:lstStyle/>
          <a:p>
            <a:pPr marL="12700">
              <a:lnSpc>
                <a:spcPct val="100000"/>
              </a:lnSpc>
              <a:spcBef>
                <a:spcPts val="100"/>
              </a:spcBef>
            </a:pPr>
            <a:r>
              <a:rPr dirty="0" sz="2400" spc="-5">
                <a:solidFill>
                  <a:srgbClr val="FF0000"/>
                </a:solidFill>
                <a:latin typeface="黑体"/>
                <a:cs typeface="黑体"/>
              </a:rPr>
              <a:t>序号代表循环中的指令</a:t>
            </a:r>
            <a:endParaRPr sz="2400">
              <a:latin typeface="黑体"/>
              <a:cs typeface="黑体"/>
            </a:endParaRPr>
          </a:p>
          <a:p>
            <a:pPr>
              <a:lnSpc>
                <a:spcPct val="100000"/>
              </a:lnSpc>
            </a:pPr>
            <a:endParaRPr sz="2400">
              <a:latin typeface="黑体"/>
              <a:cs typeface="黑体"/>
            </a:endParaRPr>
          </a:p>
          <a:p>
            <a:pPr>
              <a:lnSpc>
                <a:spcPct val="100000"/>
              </a:lnSpc>
              <a:spcBef>
                <a:spcPts val="440"/>
              </a:spcBef>
            </a:pPr>
            <a:endParaRPr sz="2400">
              <a:latin typeface="黑体"/>
              <a:cs typeface="黑体"/>
            </a:endParaRPr>
          </a:p>
          <a:p>
            <a:pPr marL="194945" marR="736600">
              <a:lnSpc>
                <a:spcPts val="2810"/>
              </a:lnSpc>
            </a:pPr>
            <a:r>
              <a:rPr dirty="0" sz="2400" spc="-10">
                <a:solidFill>
                  <a:srgbClr val="FF0000"/>
                </a:solidFill>
                <a:latin typeface="黑体"/>
                <a:cs typeface="黑体"/>
              </a:rPr>
              <a:t>软件流水前循环迭代顺序执行</a:t>
            </a:r>
            <a:endParaRPr sz="2400">
              <a:latin typeface="黑体"/>
              <a:cs typeface="黑体"/>
            </a:endParaRPr>
          </a:p>
        </p:txBody>
      </p:sp>
      <p:grpSp>
        <p:nvGrpSpPr>
          <p:cNvPr id="11" name="object 11" descr=""/>
          <p:cNvGrpSpPr/>
          <p:nvPr/>
        </p:nvGrpSpPr>
        <p:grpSpPr>
          <a:xfrm>
            <a:off x="6070663" y="2292413"/>
            <a:ext cx="586105" cy="292100"/>
            <a:chOff x="6070663" y="2292413"/>
            <a:chExt cx="586105" cy="292100"/>
          </a:xfrm>
        </p:grpSpPr>
        <p:sp>
          <p:nvSpPr>
            <p:cNvPr id="12" name="object 12" descr=""/>
            <p:cNvSpPr/>
            <p:nvPr/>
          </p:nvSpPr>
          <p:spPr>
            <a:xfrm>
              <a:off x="6075426" y="2297176"/>
              <a:ext cx="576580" cy="282575"/>
            </a:xfrm>
            <a:custGeom>
              <a:avLst/>
              <a:gdLst/>
              <a:ahLst/>
              <a:cxnLst/>
              <a:rect l="l" t="t" r="r" b="b"/>
              <a:pathLst>
                <a:path w="576579" h="282575">
                  <a:moveTo>
                    <a:pt x="434213" y="0"/>
                  </a:moveTo>
                  <a:lnTo>
                    <a:pt x="434213" y="70612"/>
                  </a:lnTo>
                  <a:lnTo>
                    <a:pt x="0" y="70612"/>
                  </a:lnTo>
                  <a:lnTo>
                    <a:pt x="0" y="211836"/>
                  </a:lnTo>
                  <a:lnTo>
                    <a:pt x="434213" y="211836"/>
                  </a:lnTo>
                  <a:lnTo>
                    <a:pt x="434213" y="282575"/>
                  </a:lnTo>
                  <a:lnTo>
                    <a:pt x="576199" y="141224"/>
                  </a:lnTo>
                  <a:lnTo>
                    <a:pt x="434213" y="0"/>
                  </a:lnTo>
                  <a:close/>
                </a:path>
              </a:pathLst>
            </a:custGeom>
            <a:solidFill>
              <a:srgbClr val="EBD782"/>
            </a:solidFill>
          </p:spPr>
          <p:txBody>
            <a:bodyPr wrap="square" lIns="0" tIns="0" rIns="0" bIns="0" rtlCol="0"/>
            <a:lstStyle/>
            <a:p/>
          </p:txBody>
        </p:sp>
        <p:sp>
          <p:nvSpPr>
            <p:cNvPr id="13" name="object 13" descr=""/>
            <p:cNvSpPr/>
            <p:nvPr/>
          </p:nvSpPr>
          <p:spPr>
            <a:xfrm>
              <a:off x="6075426" y="2297176"/>
              <a:ext cx="576580" cy="282575"/>
            </a:xfrm>
            <a:custGeom>
              <a:avLst/>
              <a:gdLst/>
              <a:ahLst/>
              <a:cxnLst/>
              <a:rect l="l" t="t" r="r" b="b"/>
              <a:pathLst>
                <a:path w="576579" h="282575">
                  <a:moveTo>
                    <a:pt x="0" y="70612"/>
                  </a:moveTo>
                  <a:lnTo>
                    <a:pt x="434213" y="70612"/>
                  </a:lnTo>
                  <a:lnTo>
                    <a:pt x="434213" y="0"/>
                  </a:lnTo>
                  <a:lnTo>
                    <a:pt x="576199" y="141224"/>
                  </a:lnTo>
                  <a:lnTo>
                    <a:pt x="434213" y="282575"/>
                  </a:lnTo>
                  <a:lnTo>
                    <a:pt x="434213" y="211836"/>
                  </a:lnTo>
                  <a:lnTo>
                    <a:pt x="0" y="211836"/>
                  </a:lnTo>
                  <a:lnTo>
                    <a:pt x="0" y="70612"/>
                  </a:lnTo>
                  <a:close/>
                </a:path>
              </a:pathLst>
            </a:custGeom>
            <a:ln w="9525">
              <a:solidFill>
                <a:srgbClr val="40458B"/>
              </a:solidFill>
            </a:ln>
          </p:spPr>
          <p:txBody>
            <a:bodyPr wrap="square" lIns="0" tIns="0" rIns="0" bIns="0" rtlCol="0"/>
            <a:lstStyle/>
            <a:p/>
          </p:txBody>
        </p:sp>
      </p:grpSp>
      <p:sp>
        <p:nvSpPr>
          <p:cNvPr id="14" name="object 14" descr=""/>
          <p:cNvSpPr txBox="1"/>
          <p:nvPr/>
        </p:nvSpPr>
        <p:spPr>
          <a:xfrm>
            <a:off x="9967976" y="4263339"/>
            <a:ext cx="1854200" cy="748665"/>
          </a:xfrm>
          <a:prstGeom prst="rect">
            <a:avLst/>
          </a:prstGeom>
        </p:spPr>
        <p:txBody>
          <a:bodyPr wrap="square" lIns="0" tIns="12700" rIns="0" bIns="0" rtlCol="0" vert="horz">
            <a:spAutoFit/>
          </a:bodyPr>
          <a:lstStyle/>
          <a:p>
            <a:pPr marL="12700">
              <a:lnSpc>
                <a:spcPts val="2845"/>
              </a:lnSpc>
              <a:spcBef>
                <a:spcPts val="100"/>
              </a:spcBef>
            </a:pPr>
            <a:r>
              <a:rPr dirty="0" sz="2400" spc="-20">
                <a:solidFill>
                  <a:srgbClr val="FF0000"/>
                </a:solidFill>
                <a:latin typeface="黑体"/>
                <a:cs typeface="黑体"/>
              </a:rPr>
              <a:t>软件流水后循</a:t>
            </a:r>
            <a:endParaRPr sz="2400">
              <a:latin typeface="黑体"/>
              <a:cs typeface="黑体"/>
            </a:endParaRPr>
          </a:p>
          <a:p>
            <a:pPr marL="12700">
              <a:lnSpc>
                <a:spcPts val="2845"/>
              </a:lnSpc>
            </a:pPr>
            <a:r>
              <a:rPr dirty="0" sz="2400" spc="-10">
                <a:solidFill>
                  <a:srgbClr val="FF0000"/>
                </a:solidFill>
                <a:latin typeface="黑体"/>
                <a:cs typeface="黑体"/>
              </a:rPr>
              <a:t>环交替执行</a:t>
            </a:r>
            <a:endParaRPr sz="2400">
              <a:latin typeface="黑体"/>
              <a:cs typeface="黑体"/>
            </a:endParaRPr>
          </a:p>
        </p:txBody>
      </p:sp>
      <p:sp>
        <p:nvSpPr>
          <p:cNvPr id="15" name="object 15" descr=""/>
          <p:cNvSpPr txBox="1"/>
          <p:nvPr/>
        </p:nvSpPr>
        <p:spPr>
          <a:xfrm>
            <a:off x="5091176" y="3671887"/>
            <a:ext cx="3961129" cy="2441575"/>
          </a:xfrm>
          <a:prstGeom prst="rect">
            <a:avLst/>
          </a:prstGeom>
          <a:ln w="9525">
            <a:solidFill>
              <a:srgbClr val="6600FF"/>
            </a:solidFill>
          </a:ln>
        </p:spPr>
        <p:txBody>
          <a:bodyPr wrap="square" lIns="0" tIns="88265" rIns="0" bIns="0" rtlCol="0" vert="horz">
            <a:spAutoFit/>
          </a:bodyPr>
          <a:lstStyle/>
          <a:p>
            <a:pPr marL="91440">
              <a:lnSpc>
                <a:spcPct val="100000"/>
              </a:lnSpc>
              <a:spcBef>
                <a:spcPts val="695"/>
              </a:spcBef>
            </a:pPr>
            <a:r>
              <a:rPr dirty="0" sz="2000">
                <a:solidFill>
                  <a:srgbClr val="0E1115"/>
                </a:solidFill>
                <a:latin typeface="黑体"/>
                <a:cs typeface="黑体"/>
              </a:rPr>
              <a:t>周期</a:t>
            </a:r>
            <a:r>
              <a:rPr dirty="0" sz="2000">
                <a:solidFill>
                  <a:srgbClr val="0E1115"/>
                </a:solidFill>
                <a:latin typeface="Calibri"/>
                <a:cs typeface="Calibri"/>
              </a:rPr>
              <a:t>1</a:t>
            </a:r>
            <a:r>
              <a:rPr dirty="0" sz="2000" spc="10">
                <a:solidFill>
                  <a:srgbClr val="0E1115"/>
                </a:solidFill>
                <a:latin typeface="Calibri"/>
                <a:cs typeface="Calibri"/>
              </a:rPr>
              <a:t>: </a:t>
            </a:r>
            <a:r>
              <a:rPr dirty="0" sz="2000" spc="-20">
                <a:solidFill>
                  <a:srgbClr val="0E1115"/>
                </a:solidFill>
                <a:latin typeface="Calibri"/>
                <a:cs typeface="Calibri"/>
              </a:rPr>
              <a:t>Iter1-</a:t>
            </a:r>
            <a:r>
              <a:rPr dirty="0" sz="2000" spc="-50">
                <a:solidFill>
                  <a:srgbClr val="FF0000"/>
                </a:solidFill>
                <a:latin typeface="Calibri"/>
                <a:cs typeface="Calibri"/>
              </a:rPr>
              <a:t>1</a:t>
            </a:r>
            <a:endParaRPr sz="2000">
              <a:latin typeface="Calibri"/>
              <a:cs typeface="Calibri"/>
            </a:endParaRPr>
          </a:p>
          <a:p>
            <a:pPr marL="91440">
              <a:lnSpc>
                <a:spcPct val="100000"/>
              </a:lnSpc>
              <a:spcBef>
                <a:spcPts val="695"/>
              </a:spcBef>
            </a:pPr>
            <a:r>
              <a:rPr dirty="0" sz="2000">
                <a:solidFill>
                  <a:srgbClr val="0E1115"/>
                </a:solidFill>
                <a:latin typeface="黑体"/>
                <a:cs typeface="黑体"/>
              </a:rPr>
              <a:t>周期</a:t>
            </a:r>
            <a:r>
              <a:rPr dirty="0" sz="2000">
                <a:solidFill>
                  <a:srgbClr val="0E1115"/>
                </a:solidFill>
                <a:latin typeface="Calibri"/>
                <a:cs typeface="Calibri"/>
              </a:rPr>
              <a:t>2: </a:t>
            </a:r>
            <a:r>
              <a:rPr dirty="0" sz="2000" spc="-20">
                <a:solidFill>
                  <a:srgbClr val="0E1115"/>
                </a:solidFill>
                <a:latin typeface="Calibri"/>
                <a:cs typeface="Calibri"/>
              </a:rPr>
              <a:t>Iter1-</a:t>
            </a:r>
            <a:r>
              <a:rPr dirty="0" sz="2000">
                <a:solidFill>
                  <a:srgbClr val="5FA093"/>
                </a:solidFill>
                <a:latin typeface="Calibri"/>
                <a:cs typeface="Calibri"/>
              </a:rPr>
              <a:t>2</a:t>
            </a:r>
            <a:r>
              <a:rPr dirty="0" sz="2000" spc="30">
                <a:solidFill>
                  <a:srgbClr val="0E1115"/>
                </a:solidFill>
                <a:latin typeface="Calibri"/>
                <a:cs typeface="Calibri"/>
              </a:rPr>
              <a:t>, </a:t>
            </a:r>
            <a:r>
              <a:rPr dirty="0" sz="2000" spc="-20">
                <a:solidFill>
                  <a:srgbClr val="0E1115"/>
                </a:solidFill>
                <a:latin typeface="Calibri"/>
                <a:cs typeface="Calibri"/>
              </a:rPr>
              <a:t>Iter2-</a:t>
            </a:r>
            <a:r>
              <a:rPr dirty="0" sz="2000" spc="-50">
                <a:solidFill>
                  <a:srgbClr val="FF0000"/>
                </a:solidFill>
                <a:latin typeface="Calibri"/>
                <a:cs typeface="Calibri"/>
              </a:rPr>
              <a:t>1</a:t>
            </a:r>
            <a:endParaRPr sz="2000">
              <a:latin typeface="Calibri"/>
              <a:cs typeface="Calibri"/>
            </a:endParaRPr>
          </a:p>
          <a:p>
            <a:pPr marL="91440">
              <a:lnSpc>
                <a:spcPct val="100000"/>
              </a:lnSpc>
              <a:spcBef>
                <a:spcPts val="695"/>
              </a:spcBef>
            </a:pPr>
            <a:r>
              <a:rPr dirty="0" sz="2000">
                <a:solidFill>
                  <a:srgbClr val="0E1115"/>
                </a:solidFill>
                <a:latin typeface="黑体"/>
                <a:cs typeface="黑体"/>
              </a:rPr>
              <a:t>周期</a:t>
            </a:r>
            <a:r>
              <a:rPr dirty="0" sz="2000">
                <a:solidFill>
                  <a:srgbClr val="0E1115"/>
                </a:solidFill>
                <a:latin typeface="Calibri"/>
                <a:cs typeface="Calibri"/>
              </a:rPr>
              <a:t>3:</a:t>
            </a:r>
            <a:r>
              <a:rPr dirty="0" sz="2000" spc="-30">
                <a:solidFill>
                  <a:srgbClr val="0E1115"/>
                </a:solidFill>
                <a:latin typeface="Calibri"/>
                <a:cs typeface="Calibri"/>
              </a:rPr>
              <a:t> </a:t>
            </a:r>
            <a:r>
              <a:rPr dirty="0" sz="2000" spc="-10">
                <a:solidFill>
                  <a:srgbClr val="0E1115"/>
                </a:solidFill>
                <a:latin typeface="Calibri"/>
                <a:cs typeface="Calibri"/>
              </a:rPr>
              <a:t>Iter1</a:t>
            </a:r>
            <a:r>
              <a:rPr dirty="0" sz="2000" spc="-10">
                <a:solidFill>
                  <a:srgbClr val="FF09FF"/>
                </a:solidFill>
                <a:latin typeface="Calibri"/>
                <a:cs typeface="Calibri"/>
              </a:rPr>
              <a:t>-</a:t>
            </a:r>
            <a:r>
              <a:rPr dirty="0" sz="2000">
                <a:solidFill>
                  <a:srgbClr val="FF09FF"/>
                </a:solidFill>
                <a:latin typeface="Calibri"/>
                <a:cs typeface="Calibri"/>
              </a:rPr>
              <a:t>3</a:t>
            </a:r>
            <a:r>
              <a:rPr dirty="0" sz="2000">
                <a:solidFill>
                  <a:srgbClr val="0E1115"/>
                </a:solidFill>
                <a:latin typeface="Calibri"/>
                <a:cs typeface="Calibri"/>
              </a:rPr>
              <a:t>, </a:t>
            </a:r>
            <a:r>
              <a:rPr dirty="0" sz="2000" spc="-10">
                <a:solidFill>
                  <a:srgbClr val="0E1115"/>
                </a:solidFill>
                <a:latin typeface="Calibri"/>
                <a:cs typeface="Calibri"/>
              </a:rPr>
              <a:t>Iter2-</a:t>
            </a:r>
            <a:r>
              <a:rPr dirty="0" sz="2000">
                <a:solidFill>
                  <a:srgbClr val="5FA093"/>
                </a:solidFill>
                <a:latin typeface="Calibri"/>
                <a:cs typeface="Calibri"/>
              </a:rPr>
              <a:t>2</a:t>
            </a:r>
            <a:r>
              <a:rPr dirty="0" sz="2000">
                <a:solidFill>
                  <a:srgbClr val="0E1115"/>
                </a:solidFill>
                <a:latin typeface="Calibri"/>
                <a:cs typeface="Calibri"/>
              </a:rPr>
              <a:t>, </a:t>
            </a:r>
            <a:r>
              <a:rPr dirty="0" sz="2000" spc="-10">
                <a:solidFill>
                  <a:srgbClr val="0E1115"/>
                </a:solidFill>
                <a:latin typeface="Calibri"/>
                <a:cs typeface="Calibri"/>
              </a:rPr>
              <a:t>Iter3-</a:t>
            </a:r>
            <a:r>
              <a:rPr dirty="0" sz="2000" spc="-50">
                <a:solidFill>
                  <a:srgbClr val="FF0000"/>
                </a:solidFill>
                <a:latin typeface="Calibri"/>
                <a:cs typeface="Calibri"/>
              </a:rPr>
              <a:t>1</a:t>
            </a:r>
            <a:endParaRPr sz="2000">
              <a:latin typeface="Calibri"/>
              <a:cs typeface="Calibri"/>
            </a:endParaRPr>
          </a:p>
          <a:p>
            <a:pPr algn="just" marL="91440" marR="764540">
              <a:lnSpc>
                <a:spcPct val="129000"/>
              </a:lnSpc>
              <a:spcBef>
                <a:spcPts val="15"/>
              </a:spcBef>
            </a:pPr>
            <a:r>
              <a:rPr dirty="0" sz="2000">
                <a:solidFill>
                  <a:srgbClr val="0E1115"/>
                </a:solidFill>
                <a:latin typeface="黑体"/>
                <a:cs typeface="黑体"/>
              </a:rPr>
              <a:t>周期</a:t>
            </a:r>
            <a:r>
              <a:rPr dirty="0" sz="2000">
                <a:solidFill>
                  <a:srgbClr val="0E1115"/>
                </a:solidFill>
                <a:latin typeface="Calibri"/>
                <a:cs typeface="Calibri"/>
              </a:rPr>
              <a:t>4: </a:t>
            </a:r>
            <a:r>
              <a:rPr dirty="0" sz="2000" spc="-20">
                <a:solidFill>
                  <a:srgbClr val="0E1115"/>
                </a:solidFill>
                <a:latin typeface="Calibri"/>
                <a:cs typeface="Calibri"/>
              </a:rPr>
              <a:t>Iter2-</a:t>
            </a:r>
            <a:r>
              <a:rPr dirty="0" sz="2000">
                <a:solidFill>
                  <a:srgbClr val="FF09FF"/>
                </a:solidFill>
                <a:latin typeface="Calibri"/>
                <a:cs typeface="Calibri"/>
              </a:rPr>
              <a:t>3</a:t>
            </a:r>
            <a:r>
              <a:rPr dirty="0" sz="2000">
                <a:solidFill>
                  <a:srgbClr val="0E1115"/>
                </a:solidFill>
                <a:latin typeface="Calibri"/>
                <a:cs typeface="Calibri"/>
              </a:rPr>
              <a:t>, </a:t>
            </a:r>
            <a:r>
              <a:rPr dirty="0" sz="2000" spc="-20">
                <a:solidFill>
                  <a:srgbClr val="0E1115"/>
                </a:solidFill>
                <a:latin typeface="Calibri"/>
                <a:cs typeface="Calibri"/>
              </a:rPr>
              <a:t>Iter3-</a:t>
            </a:r>
            <a:r>
              <a:rPr dirty="0" sz="2000">
                <a:solidFill>
                  <a:srgbClr val="5FA093"/>
                </a:solidFill>
                <a:latin typeface="Calibri"/>
                <a:cs typeface="Calibri"/>
              </a:rPr>
              <a:t>2</a:t>
            </a:r>
            <a:r>
              <a:rPr dirty="0" sz="2000">
                <a:solidFill>
                  <a:srgbClr val="0E1115"/>
                </a:solidFill>
                <a:latin typeface="Calibri"/>
                <a:cs typeface="Calibri"/>
              </a:rPr>
              <a:t>, </a:t>
            </a:r>
            <a:r>
              <a:rPr dirty="0" sz="2000" spc="-20">
                <a:solidFill>
                  <a:srgbClr val="0E1115"/>
                </a:solidFill>
                <a:latin typeface="Calibri"/>
                <a:cs typeface="Calibri"/>
              </a:rPr>
              <a:t>Iter4-</a:t>
            </a:r>
            <a:r>
              <a:rPr dirty="0" sz="2000" spc="-50">
                <a:solidFill>
                  <a:srgbClr val="FF0000"/>
                </a:solidFill>
                <a:latin typeface="Calibri"/>
                <a:cs typeface="Calibri"/>
              </a:rPr>
              <a:t>1</a:t>
            </a:r>
            <a:r>
              <a:rPr dirty="0" sz="2000">
                <a:solidFill>
                  <a:srgbClr val="0E1115"/>
                </a:solidFill>
                <a:latin typeface="黑体"/>
                <a:cs typeface="黑体"/>
              </a:rPr>
              <a:t>周期</a:t>
            </a:r>
            <a:r>
              <a:rPr dirty="0" sz="2000">
                <a:solidFill>
                  <a:srgbClr val="0E1115"/>
                </a:solidFill>
                <a:latin typeface="Calibri"/>
                <a:cs typeface="Calibri"/>
              </a:rPr>
              <a:t>5: </a:t>
            </a:r>
            <a:r>
              <a:rPr dirty="0" sz="2000" spc="-20">
                <a:solidFill>
                  <a:srgbClr val="0E1115"/>
                </a:solidFill>
                <a:latin typeface="Calibri"/>
                <a:cs typeface="Calibri"/>
              </a:rPr>
              <a:t>Iter3-</a:t>
            </a:r>
            <a:r>
              <a:rPr dirty="0" sz="2000">
                <a:solidFill>
                  <a:srgbClr val="FF09FF"/>
                </a:solidFill>
                <a:latin typeface="Calibri"/>
                <a:cs typeface="Calibri"/>
              </a:rPr>
              <a:t>3</a:t>
            </a:r>
            <a:r>
              <a:rPr dirty="0" sz="2000">
                <a:solidFill>
                  <a:srgbClr val="0E1115"/>
                </a:solidFill>
                <a:latin typeface="Calibri"/>
                <a:cs typeface="Calibri"/>
              </a:rPr>
              <a:t>, </a:t>
            </a:r>
            <a:r>
              <a:rPr dirty="0" sz="2000" spc="-20">
                <a:solidFill>
                  <a:srgbClr val="0E1115"/>
                </a:solidFill>
                <a:latin typeface="Calibri"/>
                <a:cs typeface="Calibri"/>
              </a:rPr>
              <a:t>Iter4-</a:t>
            </a:r>
            <a:r>
              <a:rPr dirty="0" sz="2000">
                <a:solidFill>
                  <a:srgbClr val="5FA093"/>
                </a:solidFill>
                <a:latin typeface="Calibri"/>
                <a:cs typeface="Calibri"/>
              </a:rPr>
              <a:t>2</a:t>
            </a:r>
            <a:r>
              <a:rPr dirty="0" sz="2000">
                <a:solidFill>
                  <a:srgbClr val="0E1115"/>
                </a:solidFill>
                <a:latin typeface="Calibri"/>
                <a:cs typeface="Calibri"/>
              </a:rPr>
              <a:t>, </a:t>
            </a:r>
            <a:r>
              <a:rPr dirty="0" sz="2000" spc="-20">
                <a:solidFill>
                  <a:srgbClr val="0E1115"/>
                </a:solidFill>
                <a:latin typeface="Calibri"/>
                <a:cs typeface="Calibri"/>
              </a:rPr>
              <a:t>Iter5-</a:t>
            </a:r>
            <a:r>
              <a:rPr dirty="0" sz="2000" spc="-50">
                <a:solidFill>
                  <a:srgbClr val="FF0000"/>
                </a:solidFill>
                <a:latin typeface="Calibri"/>
                <a:cs typeface="Calibri"/>
              </a:rPr>
              <a:t>1</a:t>
            </a:r>
            <a:r>
              <a:rPr dirty="0" sz="2000">
                <a:solidFill>
                  <a:srgbClr val="0E1115"/>
                </a:solidFill>
                <a:latin typeface="黑体"/>
                <a:cs typeface="黑体"/>
              </a:rPr>
              <a:t>周期</a:t>
            </a:r>
            <a:r>
              <a:rPr dirty="0" sz="2000">
                <a:solidFill>
                  <a:srgbClr val="0E1115"/>
                </a:solidFill>
                <a:latin typeface="Calibri"/>
                <a:cs typeface="Calibri"/>
              </a:rPr>
              <a:t>6:</a:t>
            </a:r>
            <a:r>
              <a:rPr dirty="0" sz="2000" spc="-30">
                <a:solidFill>
                  <a:srgbClr val="0E1115"/>
                </a:solidFill>
                <a:latin typeface="Calibri"/>
                <a:cs typeface="Calibri"/>
              </a:rPr>
              <a:t> </a:t>
            </a:r>
            <a:r>
              <a:rPr dirty="0" sz="2000" spc="-10">
                <a:solidFill>
                  <a:srgbClr val="0E1115"/>
                </a:solidFill>
                <a:latin typeface="Calibri"/>
                <a:cs typeface="Calibri"/>
              </a:rPr>
              <a:t>Iter4-</a:t>
            </a:r>
            <a:r>
              <a:rPr dirty="0" sz="2000">
                <a:solidFill>
                  <a:srgbClr val="FF09FF"/>
                </a:solidFill>
                <a:latin typeface="Calibri"/>
                <a:cs typeface="Calibri"/>
              </a:rPr>
              <a:t>3</a:t>
            </a:r>
            <a:r>
              <a:rPr dirty="0" sz="2000">
                <a:solidFill>
                  <a:srgbClr val="0E1115"/>
                </a:solidFill>
                <a:latin typeface="Calibri"/>
                <a:cs typeface="Calibri"/>
              </a:rPr>
              <a:t>, </a:t>
            </a:r>
            <a:r>
              <a:rPr dirty="0" sz="2000" spc="-10">
                <a:solidFill>
                  <a:srgbClr val="0E1115"/>
                </a:solidFill>
                <a:latin typeface="Calibri"/>
                <a:cs typeface="Calibri"/>
              </a:rPr>
              <a:t>Iter5-</a:t>
            </a:r>
            <a:r>
              <a:rPr dirty="0" sz="2000">
                <a:solidFill>
                  <a:srgbClr val="5FA093"/>
                </a:solidFill>
                <a:latin typeface="Calibri"/>
                <a:cs typeface="Calibri"/>
              </a:rPr>
              <a:t>2</a:t>
            </a:r>
            <a:r>
              <a:rPr dirty="0" sz="2000">
                <a:solidFill>
                  <a:srgbClr val="0E1115"/>
                </a:solidFill>
                <a:latin typeface="Calibri"/>
                <a:cs typeface="Calibri"/>
              </a:rPr>
              <a:t>, </a:t>
            </a:r>
            <a:r>
              <a:rPr dirty="0" sz="2000" spc="-10">
                <a:solidFill>
                  <a:srgbClr val="0E1115"/>
                </a:solidFill>
                <a:latin typeface="Calibri"/>
                <a:cs typeface="Calibri"/>
              </a:rPr>
              <a:t>Iter6-</a:t>
            </a:r>
            <a:r>
              <a:rPr dirty="0" sz="2000" spc="-50">
                <a:solidFill>
                  <a:srgbClr val="FF0000"/>
                </a:solidFill>
                <a:latin typeface="Calibri"/>
                <a:cs typeface="Calibri"/>
              </a:rPr>
              <a:t>1</a:t>
            </a:r>
            <a:endParaRPr sz="2000">
              <a:latin typeface="Calibri"/>
              <a:cs typeface="Calibri"/>
            </a:endParaRPr>
          </a:p>
        </p:txBody>
      </p:sp>
      <p:grpSp>
        <p:nvGrpSpPr>
          <p:cNvPr id="16" name="object 16" descr=""/>
          <p:cNvGrpSpPr/>
          <p:nvPr/>
        </p:nvGrpSpPr>
        <p:grpSpPr>
          <a:xfrm>
            <a:off x="9158287" y="4578540"/>
            <a:ext cx="585470" cy="294005"/>
            <a:chOff x="9158287" y="4578540"/>
            <a:chExt cx="585470" cy="294005"/>
          </a:xfrm>
        </p:grpSpPr>
        <p:sp>
          <p:nvSpPr>
            <p:cNvPr id="17" name="object 17" descr=""/>
            <p:cNvSpPr/>
            <p:nvPr/>
          </p:nvSpPr>
          <p:spPr>
            <a:xfrm>
              <a:off x="9163050" y="4583303"/>
              <a:ext cx="575945" cy="284480"/>
            </a:xfrm>
            <a:custGeom>
              <a:avLst/>
              <a:gdLst/>
              <a:ahLst/>
              <a:cxnLst/>
              <a:rect l="l" t="t" r="r" b="b"/>
              <a:pathLst>
                <a:path w="575945" h="284479">
                  <a:moveTo>
                    <a:pt x="141985" y="0"/>
                  </a:moveTo>
                  <a:lnTo>
                    <a:pt x="0" y="141986"/>
                  </a:lnTo>
                  <a:lnTo>
                    <a:pt x="141985" y="283972"/>
                  </a:lnTo>
                  <a:lnTo>
                    <a:pt x="141985" y="212979"/>
                  </a:lnTo>
                  <a:lnTo>
                    <a:pt x="575945" y="212979"/>
                  </a:lnTo>
                  <a:lnTo>
                    <a:pt x="575945" y="70993"/>
                  </a:lnTo>
                  <a:lnTo>
                    <a:pt x="141985" y="70993"/>
                  </a:lnTo>
                  <a:lnTo>
                    <a:pt x="141985" y="0"/>
                  </a:lnTo>
                  <a:close/>
                </a:path>
              </a:pathLst>
            </a:custGeom>
            <a:solidFill>
              <a:srgbClr val="EBD782"/>
            </a:solidFill>
          </p:spPr>
          <p:txBody>
            <a:bodyPr wrap="square" lIns="0" tIns="0" rIns="0" bIns="0" rtlCol="0"/>
            <a:lstStyle/>
            <a:p/>
          </p:txBody>
        </p:sp>
        <p:sp>
          <p:nvSpPr>
            <p:cNvPr id="18" name="object 18" descr=""/>
            <p:cNvSpPr/>
            <p:nvPr/>
          </p:nvSpPr>
          <p:spPr>
            <a:xfrm>
              <a:off x="9163050" y="4583303"/>
              <a:ext cx="575945" cy="284480"/>
            </a:xfrm>
            <a:custGeom>
              <a:avLst/>
              <a:gdLst/>
              <a:ahLst/>
              <a:cxnLst/>
              <a:rect l="l" t="t" r="r" b="b"/>
              <a:pathLst>
                <a:path w="575945" h="284479">
                  <a:moveTo>
                    <a:pt x="575945" y="212979"/>
                  </a:moveTo>
                  <a:lnTo>
                    <a:pt x="141985" y="212979"/>
                  </a:lnTo>
                  <a:lnTo>
                    <a:pt x="141985" y="283972"/>
                  </a:lnTo>
                  <a:lnTo>
                    <a:pt x="0" y="141986"/>
                  </a:lnTo>
                  <a:lnTo>
                    <a:pt x="141985" y="0"/>
                  </a:lnTo>
                  <a:lnTo>
                    <a:pt x="141985" y="70993"/>
                  </a:lnTo>
                  <a:lnTo>
                    <a:pt x="575945" y="70993"/>
                  </a:lnTo>
                  <a:lnTo>
                    <a:pt x="575945" y="212979"/>
                  </a:lnTo>
                  <a:close/>
                </a:path>
              </a:pathLst>
            </a:custGeom>
            <a:ln w="9525">
              <a:solidFill>
                <a:srgbClr val="40458B"/>
              </a:solidFill>
            </a:ln>
          </p:spPr>
          <p:txBody>
            <a:bodyPr wrap="square" lIns="0" tIns="0" rIns="0" bIns="0" rtlCol="0"/>
            <a:lstStyle/>
            <a:p/>
          </p:txBody>
        </p:sp>
      </p:grpSp>
      <p:pic>
        <p:nvPicPr>
          <p:cNvPr id="19" name="object 19" descr=""/>
          <p:cNvPicPr/>
          <p:nvPr/>
        </p:nvPicPr>
        <p:blipFill>
          <a:blip r:embed="rId4" cstate="print"/>
          <a:stretch>
            <a:fillRect/>
          </a:stretch>
        </p:blipFill>
        <p:spPr>
          <a:xfrm>
            <a:off x="1588" y="485775"/>
            <a:ext cx="3784599" cy="6038850"/>
          </a:xfrm>
          <a:prstGeom prst="rect">
            <a:avLst/>
          </a:prstGeom>
        </p:spPr>
      </p:pic>
      <p:sp>
        <p:nvSpPr>
          <p:cNvPr id="20" name="object 20"/>
          <p:cNvSpPr txBox="1">
            <a:spLocks noGrp="1"/>
          </p:cNvSpPr>
          <p:nvPr>
            <p:ph type="title"/>
          </p:nvPr>
        </p:nvSpPr>
        <p:spPr>
          <a:xfrm>
            <a:off x="2934970" y="74421"/>
            <a:ext cx="3073400" cy="391160"/>
          </a:xfrm>
          <a:prstGeom prst="rect"/>
        </p:spPr>
        <p:txBody>
          <a:bodyPr wrap="square" lIns="0" tIns="12700" rIns="0" bIns="0" rtlCol="0" vert="horz">
            <a:spAutoFit/>
          </a:bodyPr>
          <a:lstStyle/>
          <a:p>
            <a:pPr marL="12700">
              <a:lnSpc>
                <a:spcPct val="100000"/>
              </a:lnSpc>
              <a:spcBef>
                <a:spcPts val="100"/>
              </a:spcBef>
            </a:pPr>
            <a:r>
              <a:rPr dirty="0" u="none" sz="2400" spc="-5">
                <a:solidFill>
                  <a:srgbClr val="FF0000"/>
                </a:solidFill>
              </a:rPr>
              <a:t>其他的软流水理解方案</a:t>
            </a:r>
            <a:endParaRPr sz="240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105/89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154025" y="497468"/>
            <a:ext cx="8667750" cy="1784350"/>
          </a:xfrm>
          <a:prstGeom prst="rect">
            <a:avLst/>
          </a:prstGeom>
        </p:spPr>
        <p:txBody>
          <a:bodyPr wrap="square" lIns="0" tIns="237490" rIns="0" bIns="0" rtlCol="0" vert="horz">
            <a:spAutoFit/>
          </a:bodyPr>
          <a:lstStyle/>
          <a:p>
            <a:pPr marL="12700">
              <a:lnSpc>
                <a:spcPct val="100000"/>
              </a:lnSpc>
              <a:spcBef>
                <a:spcPts val="1870"/>
              </a:spcBef>
            </a:pPr>
            <a:r>
              <a:rPr dirty="0" sz="2800" spc="-40">
                <a:solidFill>
                  <a:srgbClr val="E14B04"/>
                </a:solidFill>
                <a:latin typeface="黑体"/>
                <a:cs typeface="黑体"/>
              </a:rPr>
              <a:t>分析：</a:t>
            </a:r>
            <a:endParaRPr sz="2800">
              <a:latin typeface="黑体"/>
              <a:cs typeface="黑体"/>
            </a:endParaRPr>
          </a:p>
          <a:p>
            <a:pPr marL="983615" indent="-335280">
              <a:lnSpc>
                <a:spcPct val="100000"/>
              </a:lnSpc>
              <a:spcBef>
                <a:spcPts val="1515"/>
              </a:spcBef>
              <a:buClr>
                <a:srgbClr val="4668F5"/>
              </a:buClr>
              <a:buSzPct val="60416"/>
              <a:buFont typeface="Wingdings"/>
              <a:buChar char=""/>
              <a:tabLst>
                <a:tab pos="983615" algn="l"/>
              </a:tabLst>
            </a:pPr>
            <a:r>
              <a:rPr dirty="0" sz="2400" spc="-20" b="1">
                <a:solidFill>
                  <a:srgbClr val="FF5CFF"/>
                </a:solidFill>
                <a:latin typeface="宋体"/>
                <a:cs typeface="宋体"/>
              </a:rPr>
              <a:t>新循环的结束条件仍为：</a:t>
            </a:r>
            <a:r>
              <a:rPr dirty="0" sz="2400" spc="-10" b="1">
                <a:solidFill>
                  <a:srgbClr val="6600FF"/>
                </a:solidFill>
                <a:latin typeface="宋体"/>
                <a:cs typeface="宋体"/>
              </a:rPr>
              <a:t>R1=R2</a:t>
            </a:r>
            <a:endParaRPr sz="2400">
              <a:latin typeface="宋体"/>
              <a:cs typeface="宋体"/>
            </a:endParaRPr>
          </a:p>
          <a:p>
            <a:pPr marL="983615" indent="-335280">
              <a:lnSpc>
                <a:spcPct val="100000"/>
              </a:lnSpc>
              <a:spcBef>
                <a:spcPts val="1440"/>
              </a:spcBef>
              <a:buClr>
                <a:srgbClr val="4668F5"/>
              </a:buClr>
              <a:buSzPct val="60416"/>
              <a:buFont typeface="Wingdings"/>
              <a:buChar char=""/>
              <a:tabLst>
                <a:tab pos="983615" algn="l"/>
              </a:tabLst>
            </a:pPr>
            <a:r>
              <a:rPr dirty="0" sz="2400" spc="-20" b="1">
                <a:solidFill>
                  <a:srgbClr val="FF5CFF"/>
                </a:solidFill>
                <a:latin typeface="宋体"/>
                <a:cs typeface="宋体"/>
              </a:rPr>
              <a:t>新循环从元素</a:t>
            </a:r>
            <a:r>
              <a:rPr dirty="0" sz="2400" spc="-20" b="1">
                <a:solidFill>
                  <a:srgbClr val="6600FF"/>
                </a:solidFill>
                <a:latin typeface="宋体"/>
                <a:cs typeface="宋体"/>
              </a:rPr>
              <a:t>x[n-2]</a:t>
            </a:r>
            <a:r>
              <a:rPr dirty="0" sz="2400" spc="-20" b="1">
                <a:solidFill>
                  <a:srgbClr val="FF5CFF"/>
                </a:solidFill>
                <a:latin typeface="宋体"/>
                <a:cs typeface="宋体"/>
              </a:rPr>
              <a:t>开始从头处理的，元素</a:t>
            </a:r>
            <a:r>
              <a:rPr dirty="0" sz="2400" spc="-20" b="1">
                <a:solidFill>
                  <a:srgbClr val="6600FF"/>
                </a:solidFill>
                <a:latin typeface="宋体"/>
                <a:cs typeface="宋体"/>
              </a:rPr>
              <a:t>x[n]</a:t>
            </a:r>
            <a:r>
              <a:rPr dirty="0" sz="2400" spc="-20" b="1">
                <a:solidFill>
                  <a:srgbClr val="FF5CFF"/>
                </a:solidFill>
                <a:latin typeface="宋体"/>
                <a:cs typeface="宋体"/>
              </a:rPr>
              <a:t>与</a:t>
            </a:r>
            <a:r>
              <a:rPr dirty="0" sz="2400" spc="-25" b="1">
                <a:solidFill>
                  <a:srgbClr val="6600FF"/>
                </a:solidFill>
                <a:latin typeface="宋体"/>
                <a:cs typeface="宋体"/>
              </a:rPr>
              <a:t>x[n-1]</a:t>
            </a:r>
            <a:endParaRPr sz="2400">
              <a:latin typeface="宋体"/>
              <a:cs typeface="宋体"/>
            </a:endParaRPr>
          </a:p>
        </p:txBody>
      </p:sp>
      <p:sp>
        <p:nvSpPr>
          <p:cNvPr id="9" name="object 9" descr=""/>
          <p:cNvSpPr txBox="1"/>
          <p:nvPr/>
        </p:nvSpPr>
        <p:spPr>
          <a:xfrm>
            <a:off x="9104121" y="1890521"/>
            <a:ext cx="3088640" cy="391160"/>
          </a:xfrm>
          <a:prstGeom prst="rect">
            <a:avLst/>
          </a:prstGeom>
        </p:spPr>
        <p:txBody>
          <a:bodyPr wrap="square" lIns="0" tIns="12700" rIns="0" bIns="0" rtlCol="0" vert="horz">
            <a:spAutoFit/>
          </a:bodyPr>
          <a:lstStyle/>
          <a:p>
            <a:pPr marL="12700">
              <a:lnSpc>
                <a:spcPct val="100000"/>
              </a:lnSpc>
              <a:spcBef>
                <a:spcPts val="100"/>
              </a:spcBef>
            </a:pPr>
            <a:r>
              <a:rPr dirty="0" sz="2400" spc="-25" b="1">
                <a:solidFill>
                  <a:srgbClr val="FF5CFF"/>
                </a:solidFill>
                <a:latin typeface="宋体"/>
                <a:cs typeface="宋体"/>
              </a:rPr>
              <a:t>只是从半途开始处理。</a:t>
            </a:r>
            <a:endParaRPr sz="2400">
              <a:latin typeface="宋体"/>
              <a:cs typeface="宋体"/>
            </a:endParaRPr>
          </a:p>
        </p:txBody>
      </p:sp>
      <p:sp>
        <p:nvSpPr>
          <p:cNvPr id="10" name="object 10" descr=""/>
          <p:cNvSpPr txBox="1"/>
          <p:nvPr/>
        </p:nvSpPr>
        <p:spPr>
          <a:xfrm>
            <a:off x="629818" y="2329687"/>
            <a:ext cx="11406505" cy="3625215"/>
          </a:xfrm>
          <a:prstGeom prst="rect">
            <a:avLst/>
          </a:prstGeom>
        </p:spPr>
        <p:txBody>
          <a:bodyPr wrap="square" lIns="0" tIns="12700" rIns="0" bIns="0" rtlCol="0" vert="horz">
            <a:spAutoFit/>
          </a:bodyPr>
          <a:lstStyle/>
          <a:p>
            <a:pPr marL="277495" marR="158750" indent="-105410">
              <a:lnSpc>
                <a:spcPct val="130000"/>
              </a:lnSpc>
              <a:spcBef>
                <a:spcPts val="100"/>
              </a:spcBef>
              <a:buClr>
                <a:srgbClr val="4668F5"/>
              </a:buClr>
              <a:buSzPct val="60416"/>
              <a:buFont typeface="Wingdings"/>
              <a:buChar char=""/>
              <a:tabLst>
                <a:tab pos="277495" algn="l"/>
                <a:tab pos="507365" algn="l"/>
              </a:tabLst>
            </a:pPr>
            <a:r>
              <a:rPr dirty="0" sz="2400" spc="-20" b="1">
                <a:solidFill>
                  <a:srgbClr val="FF5CFF"/>
                </a:solidFill>
                <a:latin typeface="宋体"/>
                <a:cs typeface="宋体"/>
              </a:rPr>
              <a:t>	</a:t>
            </a:r>
            <a:r>
              <a:rPr dirty="0" sz="2400" spc="-20" b="1">
                <a:solidFill>
                  <a:srgbClr val="FF5CFF"/>
                </a:solidFill>
                <a:latin typeface="宋体"/>
                <a:cs typeface="宋体"/>
              </a:rPr>
              <a:t>新循环的最后一次迭代只处理完元素</a:t>
            </a:r>
            <a:r>
              <a:rPr dirty="0" sz="2400" spc="-20" b="1">
                <a:solidFill>
                  <a:srgbClr val="6600FF"/>
                </a:solidFill>
                <a:latin typeface="宋体"/>
                <a:cs typeface="宋体"/>
              </a:rPr>
              <a:t>x[3]</a:t>
            </a:r>
            <a:r>
              <a:rPr dirty="0" sz="2400" spc="-20" b="1">
                <a:solidFill>
                  <a:srgbClr val="FF5CFF"/>
                </a:solidFill>
                <a:latin typeface="宋体"/>
                <a:cs typeface="宋体"/>
              </a:rPr>
              <a:t>，</a:t>
            </a:r>
            <a:r>
              <a:rPr dirty="0" sz="2400" spc="-20" b="1">
                <a:solidFill>
                  <a:srgbClr val="6600FF"/>
                </a:solidFill>
                <a:latin typeface="宋体"/>
                <a:cs typeface="宋体"/>
              </a:rPr>
              <a:t>x[2]</a:t>
            </a:r>
            <a:r>
              <a:rPr dirty="0" sz="2400" spc="-20" b="1">
                <a:solidFill>
                  <a:srgbClr val="FF5CFF"/>
                </a:solidFill>
                <a:latin typeface="宋体"/>
                <a:cs typeface="宋体"/>
              </a:rPr>
              <a:t>刚被修改完结果尚未写回，</a:t>
            </a:r>
            <a:r>
              <a:rPr dirty="0" sz="2400" spc="-10" b="1">
                <a:solidFill>
                  <a:srgbClr val="6600FF"/>
                </a:solidFill>
                <a:latin typeface="宋体"/>
                <a:cs typeface="宋体"/>
              </a:rPr>
              <a:t>x[1]</a:t>
            </a:r>
            <a:r>
              <a:rPr dirty="0" sz="2400" spc="-25" b="1">
                <a:solidFill>
                  <a:srgbClr val="FF5CFF"/>
                </a:solidFill>
                <a:latin typeface="宋体"/>
                <a:cs typeface="宋体"/>
              </a:rPr>
              <a:t>刚被取出，需要被修改并写回。</a:t>
            </a:r>
            <a:endParaRPr sz="2400">
              <a:latin typeface="宋体"/>
              <a:cs typeface="宋体"/>
            </a:endParaRPr>
          </a:p>
          <a:p>
            <a:pPr marL="507365" indent="-334645">
              <a:lnSpc>
                <a:spcPct val="100000"/>
              </a:lnSpc>
              <a:spcBef>
                <a:spcPts val="1440"/>
              </a:spcBef>
              <a:buClr>
                <a:srgbClr val="4668F5"/>
              </a:buClr>
              <a:buSzPct val="60416"/>
              <a:buFont typeface="Wingdings"/>
              <a:buChar char=""/>
              <a:tabLst>
                <a:tab pos="507365" algn="l"/>
              </a:tabLst>
            </a:pPr>
            <a:r>
              <a:rPr dirty="0" sz="2400" spc="-25" b="1">
                <a:solidFill>
                  <a:srgbClr val="FF5CFF"/>
                </a:solidFill>
                <a:latin typeface="宋体"/>
                <a:cs typeface="宋体"/>
              </a:rPr>
              <a:t>新循环的每个迭代相当于流水执行了原循环的</a:t>
            </a:r>
            <a:r>
              <a:rPr dirty="0" sz="2400" spc="-10" b="1">
                <a:solidFill>
                  <a:srgbClr val="6600FF"/>
                </a:solidFill>
                <a:latin typeface="宋体"/>
                <a:cs typeface="宋体"/>
              </a:rPr>
              <a:t>3</a:t>
            </a:r>
            <a:r>
              <a:rPr dirty="0" sz="2400" spc="-25" b="1">
                <a:solidFill>
                  <a:srgbClr val="FF5CFF"/>
                </a:solidFill>
                <a:latin typeface="宋体"/>
                <a:cs typeface="宋体"/>
              </a:rPr>
              <a:t>个迭代。元素</a:t>
            </a:r>
            <a:r>
              <a:rPr dirty="0" sz="2400" spc="-10" b="1">
                <a:solidFill>
                  <a:srgbClr val="6600FF"/>
                </a:solidFill>
                <a:latin typeface="宋体"/>
                <a:cs typeface="宋体"/>
              </a:rPr>
              <a:t>x[n/n-1/2/1]</a:t>
            </a:r>
            <a:r>
              <a:rPr dirty="0" sz="2400" spc="-35" b="1">
                <a:solidFill>
                  <a:srgbClr val="FF5CFF"/>
                </a:solidFill>
                <a:latin typeface="宋体"/>
                <a:cs typeface="宋体"/>
              </a:rPr>
              <a:t>的处理</a:t>
            </a:r>
            <a:endParaRPr sz="2400">
              <a:latin typeface="宋体"/>
              <a:cs typeface="宋体"/>
            </a:endParaRPr>
          </a:p>
          <a:p>
            <a:pPr marL="277495">
              <a:lnSpc>
                <a:spcPct val="100000"/>
              </a:lnSpc>
              <a:spcBef>
                <a:spcPts val="865"/>
              </a:spcBef>
            </a:pPr>
            <a:r>
              <a:rPr dirty="0" sz="2400" spc="-25" b="1">
                <a:solidFill>
                  <a:srgbClr val="FF5CFF"/>
                </a:solidFill>
                <a:latin typeface="宋体"/>
                <a:cs typeface="宋体"/>
              </a:rPr>
              <a:t>相当于充满和排空这条“流水线”。</a:t>
            </a:r>
            <a:endParaRPr sz="2400">
              <a:latin typeface="宋体"/>
              <a:cs typeface="宋体"/>
            </a:endParaRPr>
          </a:p>
          <a:p>
            <a:pPr>
              <a:lnSpc>
                <a:spcPct val="100000"/>
              </a:lnSpc>
              <a:spcBef>
                <a:spcPts val="1130"/>
              </a:spcBef>
            </a:pPr>
            <a:endParaRPr sz="2400">
              <a:latin typeface="宋体"/>
              <a:cs typeface="宋体"/>
            </a:endParaRPr>
          </a:p>
          <a:p>
            <a:pPr algn="just" marL="12700" marR="409575">
              <a:lnSpc>
                <a:spcPct val="98800"/>
              </a:lnSpc>
            </a:pPr>
            <a:r>
              <a:rPr dirty="0" sz="2400" spc="-25" b="1">
                <a:solidFill>
                  <a:srgbClr val="FF0000"/>
                </a:solidFill>
                <a:latin typeface="黑体"/>
                <a:cs typeface="黑体"/>
              </a:rPr>
              <a:t>结论</a:t>
            </a:r>
            <a:r>
              <a:rPr dirty="0" sz="2400" spc="-15">
                <a:solidFill>
                  <a:srgbClr val="FF0000"/>
                </a:solidFill>
                <a:latin typeface="黑体"/>
                <a:cs typeface="黑体"/>
              </a:rPr>
              <a:t>：软流水通过将多个迭代的指令交错执行，极大地提高了指令级并行度，消除</a:t>
            </a:r>
            <a:r>
              <a:rPr dirty="0" sz="2400" spc="-5">
                <a:solidFill>
                  <a:srgbClr val="FF0000"/>
                </a:solidFill>
                <a:latin typeface="黑体"/>
                <a:cs typeface="黑体"/>
              </a:rPr>
              <a:t>了因长延迟带来的空转，从而显著提升了循环的执行效率。但这种优化是以增加代码复杂性和寄存器压力为代价的，通常由编译器自动完成。</a:t>
            </a:r>
            <a:endParaRPr sz="2400">
              <a:latin typeface="黑体"/>
              <a:cs typeface="黑体"/>
            </a:endParaRPr>
          </a:p>
        </p:txBody>
      </p:sp>
      <p:sp>
        <p:nvSpPr>
          <p:cNvPr id="11" name="object 11"/>
          <p:cNvSpPr txBox="1">
            <a:spLocks noGrp="1"/>
          </p:cNvSpPr>
          <p:nvPr>
            <p:ph type="title"/>
          </p:nvPr>
        </p:nvSpPr>
        <p:spPr>
          <a:xfrm>
            <a:off x="1403350" y="127838"/>
            <a:ext cx="10801350" cy="514350"/>
          </a:xfrm>
          <a:prstGeom prst="rect"/>
        </p:spPr>
        <p:txBody>
          <a:bodyPr wrap="square" lIns="0" tIns="13335" rIns="0" bIns="0" rtlCol="0" vert="horz">
            <a:spAutoFit/>
          </a:bodyPr>
          <a:lstStyle/>
          <a:p>
            <a:pPr marL="12700">
              <a:lnSpc>
                <a:spcPct val="100000"/>
              </a:lnSpc>
              <a:spcBef>
                <a:spcPts val="105"/>
              </a:spcBef>
              <a:tabLst>
                <a:tab pos="1239520" algn="l"/>
                <a:tab pos="10788015" algn="l"/>
              </a:tabLst>
            </a:pPr>
            <a:r>
              <a:rPr dirty="0"/>
              <a:t>	6.5</a:t>
            </a:r>
            <a:r>
              <a:rPr dirty="0" spc="-15"/>
              <a:t> </a:t>
            </a:r>
            <a:r>
              <a:rPr dirty="0"/>
              <a:t>开发更</a:t>
            </a:r>
            <a:r>
              <a:rPr dirty="0" spc="-25"/>
              <a:t>多</a:t>
            </a:r>
            <a:r>
              <a:rPr dirty="0"/>
              <a:t>的指</a:t>
            </a:r>
            <a:r>
              <a:rPr dirty="0" spc="-20"/>
              <a:t>令</a:t>
            </a:r>
            <a:r>
              <a:rPr dirty="0"/>
              <a:t>级并</a:t>
            </a:r>
            <a:r>
              <a:rPr dirty="0" spc="-50"/>
              <a:t>行</a:t>
            </a:r>
            <a:r>
              <a:rPr dirty="0"/>
              <a:t>	</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106/89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270763" y="609612"/>
            <a:ext cx="11626215" cy="1643380"/>
          </a:xfrm>
          <a:prstGeom prst="rect">
            <a:avLst/>
          </a:prstGeom>
        </p:spPr>
        <p:txBody>
          <a:bodyPr wrap="square" lIns="0" tIns="130175" rIns="0" bIns="0" rtlCol="0" vert="horz">
            <a:spAutoFit/>
          </a:bodyPr>
          <a:lstStyle/>
          <a:p>
            <a:pPr marL="467995" indent="-455295">
              <a:lnSpc>
                <a:spcPct val="100000"/>
              </a:lnSpc>
              <a:spcBef>
                <a:spcPts val="1025"/>
              </a:spcBef>
              <a:buClr>
                <a:srgbClr val="40458B"/>
              </a:buClr>
              <a:buFont typeface="Tahoma"/>
              <a:buAutoNum type="arabicPeriod" startAt="3"/>
              <a:tabLst>
                <a:tab pos="467995" algn="l"/>
              </a:tabLst>
            </a:pPr>
            <a:r>
              <a:rPr dirty="0" sz="2400" spc="-60">
                <a:solidFill>
                  <a:srgbClr val="E14B04"/>
                </a:solidFill>
                <a:latin typeface="黑体"/>
                <a:cs typeface="黑体"/>
              </a:rPr>
              <a:t>性能比较：软流水 </a:t>
            </a:r>
            <a:r>
              <a:rPr dirty="0" sz="2400">
                <a:solidFill>
                  <a:srgbClr val="E14B04"/>
                </a:solidFill>
                <a:latin typeface="Tahoma"/>
                <a:cs typeface="Tahoma"/>
              </a:rPr>
              <a:t>vs.</a:t>
            </a:r>
            <a:r>
              <a:rPr dirty="0" sz="2400" spc="5">
                <a:solidFill>
                  <a:srgbClr val="E14B04"/>
                </a:solidFill>
                <a:latin typeface="Tahoma"/>
                <a:cs typeface="Tahoma"/>
              </a:rPr>
              <a:t> </a:t>
            </a:r>
            <a:r>
              <a:rPr dirty="0" sz="2400" spc="-20">
                <a:solidFill>
                  <a:srgbClr val="E14B04"/>
                </a:solidFill>
                <a:latin typeface="黑体"/>
                <a:cs typeface="黑体"/>
              </a:rPr>
              <a:t>循环展开</a:t>
            </a:r>
            <a:endParaRPr sz="2400">
              <a:latin typeface="黑体"/>
              <a:cs typeface="黑体"/>
            </a:endParaRPr>
          </a:p>
          <a:p>
            <a:pPr lvl="1" marL="1383030" marR="5080" indent="-455930">
              <a:lnSpc>
                <a:spcPct val="110000"/>
              </a:lnSpc>
              <a:spcBef>
                <a:spcPts val="530"/>
              </a:spcBef>
              <a:buClr>
                <a:srgbClr val="4668F5"/>
              </a:buClr>
              <a:buSzPct val="60000"/>
              <a:buFont typeface="Wingdings"/>
              <a:buChar char=""/>
              <a:tabLst>
                <a:tab pos="1383030" algn="l"/>
              </a:tabLst>
            </a:pPr>
            <a:r>
              <a:rPr dirty="0" sz="2000" spc="-20" b="1">
                <a:solidFill>
                  <a:srgbClr val="FF5CFF"/>
                </a:solidFill>
                <a:latin typeface="宋体"/>
                <a:cs typeface="宋体"/>
              </a:rPr>
              <a:t>循环展开主要减少由分支指令和修改循环索引变量（</a:t>
            </a:r>
            <a:r>
              <a:rPr dirty="0" sz="2000" spc="-15" b="1">
                <a:solidFill>
                  <a:srgbClr val="FF5CFF"/>
                </a:solidFill>
                <a:latin typeface="宋体"/>
                <a:cs typeface="宋体"/>
              </a:rPr>
              <a:t>例如循环递增由</a:t>
            </a:r>
            <a:r>
              <a:rPr dirty="0" sz="2000" spc="-10" b="1">
                <a:solidFill>
                  <a:srgbClr val="FF5CFF"/>
                </a:solidFill>
                <a:latin typeface="宋体"/>
                <a:cs typeface="宋体"/>
              </a:rPr>
              <a:t>1</a:t>
            </a:r>
            <a:r>
              <a:rPr dirty="0" sz="2000" spc="-15" b="1">
                <a:solidFill>
                  <a:srgbClr val="FF5CFF"/>
                </a:solidFill>
                <a:latin typeface="宋体"/>
                <a:cs typeface="宋体"/>
              </a:rPr>
              <a:t>变为</a:t>
            </a:r>
            <a:r>
              <a:rPr dirty="0" sz="2000" spc="-20" b="1">
                <a:solidFill>
                  <a:srgbClr val="FF5CFF"/>
                </a:solidFill>
                <a:latin typeface="宋体"/>
                <a:cs typeface="宋体"/>
              </a:rPr>
              <a:t>4）</a:t>
            </a:r>
            <a:r>
              <a:rPr dirty="0" sz="2000" spc="-25" b="1">
                <a:solidFill>
                  <a:srgbClr val="FF5CFF"/>
                </a:solidFill>
                <a:latin typeface="宋体"/>
                <a:cs typeface="宋体"/>
              </a:rPr>
              <a:t>的指令所引起的循环控制开销，但将流水线充满和排空时的循环开销则并不会减少。</a:t>
            </a:r>
            <a:endParaRPr sz="2000">
              <a:latin typeface="宋体"/>
              <a:cs typeface="宋体"/>
            </a:endParaRPr>
          </a:p>
          <a:p>
            <a:pPr lvl="1" marL="1382395" indent="-455295">
              <a:lnSpc>
                <a:spcPct val="100000"/>
              </a:lnSpc>
              <a:spcBef>
                <a:spcPts val="720"/>
              </a:spcBef>
              <a:buClr>
                <a:srgbClr val="4668F5"/>
              </a:buClr>
              <a:buSzPct val="60000"/>
              <a:buFont typeface="Wingdings"/>
              <a:buChar char=""/>
              <a:tabLst>
                <a:tab pos="1382395" algn="l"/>
              </a:tabLst>
            </a:pPr>
            <a:r>
              <a:rPr dirty="0" sz="2000" spc="-25" b="1">
                <a:solidFill>
                  <a:srgbClr val="FF5CFF"/>
                </a:solidFill>
                <a:latin typeface="宋体"/>
                <a:cs typeface="宋体"/>
              </a:rPr>
              <a:t>软流水使迭代内的指令级并行达到最大。恰恰解决了上述的缺陷</a:t>
            </a:r>
            <a:endParaRPr sz="2000">
              <a:latin typeface="宋体"/>
              <a:cs typeface="宋体"/>
            </a:endParaRPr>
          </a:p>
        </p:txBody>
      </p:sp>
      <p:sp>
        <p:nvSpPr>
          <p:cNvPr id="9" name="object 9"/>
          <p:cNvSpPr txBox="1">
            <a:spLocks noGrp="1"/>
          </p:cNvSpPr>
          <p:nvPr>
            <p:ph type="title"/>
          </p:nvPr>
        </p:nvSpPr>
        <p:spPr>
          <a:xfrm>
            <a:off x="1403350" y="127838"/>
            <a:ext cx="10801350" cy="514350"/>
          </a:xfrm>
          <a:prstGeom prst="rect"/>
        </p:spPr>
        <p:txBody>
          <a:bodyPr wrap="square" lIns="0" tIns="13335" rIns="0" bIns="0" rtlCol="0" vert="horz">
            <a:spAutoFit/>
          </a:bodyPr>
          <a:lstStyle/>
          <a:p>
            <a:pPr marL="12700">
              <a:lnSpc>
                <a:spcPct val="100000"/>
              </a:lnSpc>
              <a:spcBef>
                <a:spcPts val="105"/>
              </a:spcBef>
              <a:tabLst>
                <a:tab pos="1239520" algn="l"/>
                <a:tab pos="10788015" algn="l"/>
              </a:tabLst>
            </a:pPr>
            <a:r>
              <a:rPr dirty="0"/>
              <a:t>	6.5</a:t>
            </a:r>
            <a:r>
              <a:rPr dirty="0" spc="-15"/>
              <a:t> </a:t>
            </a:r>
            <a:r>
              <a:rPr dirty="0"/>
              <a:t>开发更</a:t>
            </a:r>
            <a:r>
              <a:rPr dirty="0" spc="-25"/>
              <a:t>多</a:t>
            </a:r>
            <a:r>
              <a:rPr dirty="0"/>
              <a:t>的指</a:t>
            </a:r>
            <a:r>
              <a:rPr dirty="0" spc="-20"/>
              <a:t>令</a:t>
            </a:r>
            <a:r>
              <a:rPr dirty="0"/>
              <a:t>级并</a:t>
            </a:r>
            <a:r>
              <a:rPr dirty="0" spc="-50"/>
              <a:t>行</a:t>
            </a:r>
            <a:r>
              <a:rPr dirty="0"/>
              <a:t>	</a:t>
            </a:r>
          </a:p>
        </p:txBody>
      </p:sp>
      <p:grpSp>
        <p:nvGrpSpPr>
          <p:cNvPr id="10" name="object 10" descr=""/>
          <p:cNvGrpSpPr/>
          <p:nvPr/>
        </p:nvGrpSpPr>
        <p:grpSpPr>
          <a:xfrm>
            <a:off x="3315849" y="2629103"/>
            <a:ext cx="3956050" cy="1369695"/>
            <a:chOff x="3315849" y="2629103"/>
            <a:chExt cx="3956050" cy="1369695"/>
          </a:xfrm>
        </p:grpSpPr>
        <p:sp>
          <p:nvSpPr>
            <p:cNvPr id="11" name="object 11" descr=""/>
            <p:cNvSpPr/>
            <p:nvPr/>
          </p:nvSpPr>
          <p:spPr>
            <a:xfrm>
              <a:off x="3367790" y="2742514"/>
              <a:ext cx="0" cy="1215390"/>
            </a:xfrm>
            <a:custGeom>
              <a:avLst/>
              <a:gdLst/>
              <a:ahLst/>
              <a:cxnLst/>
              <a:rect l="l" t="t" r="r" b="b"/>
              <a:pathLst>
                <a:path w="0" h="1215389">
                  <a:moveTo>
                    <a:pt x="0" y="1215030"/>
                  </a:moveTo>
                  <a:lnTo>
                    <a:pt x="0" y="0"/>
                  </a:lnTo>
                </a:path>
              </a:pathLst>
            </a:custGeom>
            <a:ln w="23609">
              <a:solidFill>
                <a:srgbClr val="000000"/>
              </a:solidFill>
            </a:ln>
          </p:spPr>
          <p:txBody>
            <a:bodyPr wrap="square" lIns="0" tIns="0" rIns="0" bIns="0" rtlCol="0"/>
            <a:lstStyle/>
            <a:p/>
          </p:txBody>
        </p:sp>
        <p:sp>
          <p:nvSpPr>
            <p:cNvPr id="12" name="object 12" descr=""/>
            <p:cNvSpPr/>
            <p:nvPr/>
          </p:nvSpPr>
          <p:spPr>
            <a:xfrm>
              <a:off x="3315849" y="2629103"/>
              <a:ext cx="104139" cy="123825"/>
            </a:xfrm>
            <a:custGeom>
              <a:avLst/>
              <a:gdLst/>
              <a:ahLst/>
              <a:cxnLst/>
              <a:rect l="l" t="t" r="r" b="b"/>
              <a:pathLst>
                <a:path w="104139" h="123825">
                  <a:moveTo>
                    <a:pt x="51940" y="0"/>
                  </a:moveTo>
                  <a:lnTo>
                    <a:pt x="0" y="123721"/>
                  </a:lnTo>
                  <a:lnTo>
                    <a:pt x="103881" y="123721"/>
                  </a:lnTo>
                  <a:lnTo>
                    <a:pt x="51940" y="0"/>
                  </a:lnTo>
                  <a:close/>
                </a:path>
              </a:pathLst>
            </a:custGeom>
            <a:solidFill>
              <a:srgbClr val="000000"/>
            </a:solidFill>
          </p:spPr>
          <p:txBody>
            <a:bodyPr wrap="square" lIns="0" tIns="0" rIns="0" bIns="0" rtlCol="0"/>
            <a:lstStyle/>
            <a:p/>
          </p:txBody>
        </p:sp>
        <p:sp>
          <p:nvSpPr>
            <p:cNvPr id="13" name="object 13" descr=""/>
            <p:cNvSpPr/>
            <p:nvPr/>
          </p:nvSpPr>
          <p:spPr>
            <a:xfrm>
              <a:off x="3367790" y="3957545"/>
              <a:ext cx="3761104" cy="0"/>
            </a:xfrm>
            <a:custGeom>
              <a:avLst/>
              <a:gdLst/>
              <a:ahLst/>
              <a:cxnLst/>
              <a:rect l="l" t="t" r="r" b="b"/>
              <a:pathLst>
                <a:path w="3761104" h="0">
                  <a:moveTo>
                    <a:pt x="0" y="0"/>
                  </a:moveTo>
                  <a:lnTo>
                    <a:pt x="3761067" y="0"/>
                  </a:lnTo>
                </a:path>
              </a:pathLst>
            </a:custGeom>
            <a:ln w="18745">
              <a:solidFill>
                <a:srgbClr val="000000"/>
              </a:solidFill>
            </a:ln>
          </p:spPr>
          <p:txBody>
            <a:bodyPr wrap="square" lIns="0" tIns="0" rIns="0" bIns="0" rtlCol="0"/>
            <a:lstStyle/>
            <a:p/>
          </p:txBody>
        </p:sp>
        <p:sp>
          <p:nvSpPr>
            <p:cNvPr id="14" name="object 14" descr=""/>
            <p:cNvSpPr/>
            <p:nvPr/>
          </p:nvSpPr>
          <p:spPr>
            <a:xfrm>
              <a:off x="7115873" y="3916304"/>
              <a:ext cx="156210" cy="82550"/>
            </a:xfrm>
            <a:custGeom>
              <a:avLst/>
              <a:gdLst/>
              <a:ahLst/>
              <a:cxnLst/>
              <a:rect l="l" t="t" r="r" b="b"/>
              <a:pathLst>
                <a:path w="156209" h="82550">
                  <a:moveTo>
                    <a:pt x="0" y="0"/>
                  </a:moveTo>
                  <a:lnTo>
                    <a:pt x="0" y="82480"/>
                  </a:lnTo>
                  <a:lnTo>
                    <a:pt x="155821" y="41240"/>
                  </a:lnTo>
                  <a:lnTo>
                    <a:pt x="0" y="0"/>
                  </a:lnTo>
                  <a:close/>
                </a:path>
              </a:pathLst>
            </a:custGeom>
            <a:solidFill>
              <a:srgbClr val="000000"/>
            </a:solidFill>
          </p:spPr>
          <p:txBody>
            <a:bodyPr wrap="square" lIns="0" tIns="0" rIns="0" bIns="0" rtlCol="0"/>
            <a:lstStyle/>
            <a:p/>
          </p:txBody>
        </p:sp>
        <p:sp>
          <p:nvSpPr>
            <p:cNvPr id="15" name="object 15" descr=""/>
            <p:cNvSpPr/>
            <p:nvPr/>
          </p:nvSpPr>
          <p:spPr>
            <a:xfrm>
              <a:off x="3367790" y="3293324"/>
              <a:ext cx="558165" cy="664845"/>
            </a:xfrm>
            <a:custGeom>
              <a:avLst/>
              <a:gdLst/>
              <a:ahLst/>
              <a:cxnLst/>
              <a:rect l="l" t="t" r="r" b="b"/>
              <a:pathLst>
                <a:path w="558164" h="664845">
                  <a:moveTo>
                    <a:pt x="557692" y="0"/>
                  </a:moveTo>
                  <a:lnTo>
                    <a:pt x="0" y="664220"/>
                  </a:lnTo>
                  <a:lnTo>
                    <a:pt x="557692" y="664220"/>
                  </a:lnTo>
                  <a:lnTo>
                    <a:pt x="557692" y="0"/>
                  </a:lnTo>
                  <a:close/>
                </a:path>
              </a:pathLst>
            </a:custGeom>
            <a:solidFill>
              <a:srgbClr val="C0C0C0"/>
            </a:solidFill>
          </p:spPr>
          <p:txBody>
            <a:bodyPr wrap="square" lIns="0" tIns="0" rIns="0" bIns="0" rtlCol="0"/>
            <a:lstStyle/>
            <a:p/>
          </p:txBody>
        </p:sp>
        <p:sp>
          <p:nvSpPr>
            <p:cNvPr id="16" name="object 16" descr=""/>
            <p:cNvSpPr/>
            <p:nvPr/>
          </p:nvSpPr>
          <p:spPr>
            <a:xfrm>
              <a:off x="3367790" y="3293324"/>
              <a:ext cx="2788920" cy="664845"/>
            </a:xfrm>
            <a:custGeom>
              <a:avLst/>
              <a:gdLst/>
              <a:ahLst/>
              <a:cxnLst/>
              <a:rect l="l" t="t" r="r" b="b"/>
              <a:pathLst>
                <a:path w="2788920" h="664845">
                  <a:moveTo>
                    <a:pt x="0" y="664221"/>
                  </a:moveTo>
                  <a:lnTo>
                    <a:pt x="557692" y="0"/>
                  </a:lnTo>
                  <a:lnTo>
                    <a:pt x="557692" y="664221"/>
                  </a:lnTo>
                  <a:lnTo>
                    <a:pt x="0" y="664221"/>
                  </a:lnTo>
                  <a:close/>
                </a:path>
                <a:path w="2788920" h="664845">
                  <a:moveTo>
                    <a:pt x="557692" y="664221"/>
                  </a:moveTo>
                  <a:lnTo>
                    <a:pt x="2788579" y="664220"/>
                  </a:lnTo>
                  <a:lnTo>
                    <a:pt x="2788579" y="0"/>
                  </a:lnTo>
                  <a:lnTo>
                    <a:pt x="557692" y="0"/>
                  </a:lnTo>
                  <a:lnTo>
                    <a:pt x="557692" y="664221"/>
                  </a:lnTo>
                  <a:close/>
                </a:path>
              </a:pathLst>
            </a:custGeom>
            <a:ln w="12706">
              <a:solidFill>
                <a:srgbClr val="000000"/>
              </a:solidFill>
            </a:ln>
          </p:spPr>
          <p:txBody>
            <a:bodyPr wrap="square" lIns="0" tIns="0" rIns="0" bIns="0" rtlCol="0"/>
            <a:lstStyle/>
            <a:p/>
          </p:txBody>
        </p:sp>
        <p:sp>
          <p:nvSpPr>
            <p:cNvPr id="17" name="object 17" descr=""/>
            <p:cNvSpPr/>
            <p:nvPr/>
          </p:nvSpPr>
          <p:spPr>
            <a:xfrm>
              <a:off x="6156349" y="3293324"/>
              <a:ext cx="558165" cy="664845"/>
            </a:xfrm>
            <a:custGeom>
              <a:avLst/>
              <a:gdLst/>
              <a:ahLst/>
              <a:cxnLst/>
              <a:rect l="l" t="t" r="r" b="b"/>
              <a:pathLst>
                <a:path w="558165" h="664845">
                  <a:moveTo>
                    <a:pt x="0" y="0"/>
                  </a:moveTo>
                  <a:lnTo>
                    <a:pt x="0" y="664220"/>
                  </a:lnTo>
                  <a:lnTo>
                    <a:pt x="557574" y="664220"/>
                  </a:lnTo>
                  <a:lnTo>
                    <a:pt x="0" y="0"/>
                  </a:lnTo>
                  <a:close/>
                </a:path>
              </a:pathLst>
            </a:custGeom>
            <a:solidFill>
              <a:srgbClr val="C0C0C0"/>
            </a:solidFill>
          </p:spPr>
          <p:txBody>
            <a:bodyPr wrap="square" lIns="0" tIns="0" rIns="0" bIns="0" rtlCol="0"/>
            <a:lstStyle/>
            <a:p/>
          </p:txBody>
        </p:sp>
        <p:sp>
          <p:nvSpPr>
            <p:cNvPr id="18" name="object 18" descr=""/>
            <p:cNvSpPr/>
            <p:nvPr/>
          </p:nvSpPr>
          <p:spPr>
            <a:xfrm>
              <a:off x="6156349" y="3293324"/>
              <a:ext cx="558165" cy="664845"/>
            </a:xfrm>
            <a:custGeom>
              <a:avLst/>
              <a:gdLst/>
              <a:ahLst/>
              <a:cxnLst/>
              <a:rect l="l" t="t" r="r" b="b"/>
              <a:pathLst>
                <a:path w="558165" h="664845">
                  <a:moveTo>
                    <a:pt x="0" y="0"/>
                  </a:moveTo>
                  <a:lnTo>
                    <a:pt x="557574" y="664220"/>
                  </a:lnTo>
                  <a:lnTo>
                    <a:pt x="0" y="664220"/>
                  </a:lnTo>
                  <a:lnTo>
                    <a:pt x="0" y="0"/>
                  </a:lnTo>
                  <a:close/>
                </a:path>
              </a:pathLst>
            </a:custGeom>
            <a:ln w="12959">
              <a:solidFill>
                <a:srgbClr val="000000"/>
              </a:solidFill>
            </a:ln>
          </p:spPr>
          <p:txBody>
            <a:bodyPr wrap="square" lIns="0" tIns="0" rIns="0" bIns="0" rtlCol="0"/>
            <a:lstStyle/>
            <a:p/>
          </p:txBody>
        </p:sp>
      </p:grpSp>
      <p:sp>
        <p:nvSpPr>
          <p:cNvPr id="19" name="object 19" descr=""/>
          <p:cNvSpPr txBox="1"/>
          <p:nvPr/>
        </p:nvSpPr>
        <p:spPr>
          <a:xfrm>
            <a:off x="2397239" y="3187755"/>
            <a:ext cx="809625" cy="398780"/>
          </a:xfrm>
          <a:prstGeom prst="rect">
            <a:avLst/>
          </a:prstGeom>
        </p:spPr>
        <p:txBody>
          <a:bodyPr wrap="square" lIns="0" tIns="5715" rIns="0" bIns="0" rtlCol="0" vert="horz">
            <a:spAutoFit/>
          </a:bodyPr>
          <a:lstStyle/>
          <a:p>
            <a:pPr marL="111125" marR="5080" indent="-99060">
              <a:lnSpc>
                <a:spcPct val="103800"/>
              </a:lnSpc>
              <a:spcBef>
                <a:spcPts val="45"/>
              </a:spcBef>
            </a:pPr>
            <a:r>
              <a:rPr dirty="0" sz="1200" spc="320">
                <a:latin typeface="微软雅黑"/>
                <a:cs typeface="微软雅黑"/>
              </a:rPr>
              <a:t>可并行的</a:t>
            </a:r>
            <a:r>
              <a:rPr dirty="0" sz="1200" spc="330">
                <a:latin typeface="微软雅黑"/>
                <a:cs typeface="微软雅黑"/>
              </a:rPr>
              <a:t>指令数</a:t>
            </a:r>
            <a:endParaRPr sz="1200">
              <a:latin typeface="微软雅黑"/>
              <a:cs typeface="微软雅黑"/>
            </a:endParaRPr>
          </a:p>
        </p:txBody>
      </p:sp>
      <p:sp>
        <p:nvSpPr>
          <p:cNvPr id="20" name="object 20" descr=""/>
          <p:cNvSpPr txBox="1"/>
          <p:nvPr/>
        </p:nvSpPr>
        <p:spPr>
          <a:xfrm>
            <a:off x="6786217" y="3993896"/>
            <a:ext cx="410209" cy="209550"/>
          </a:xfrm>
          <a:prstGeom prst="rect">
            <a:avLst/>
          </a:prstGeom>
        </p:spPr>
        <p:txBody>
          <a:bodyPr wrap="square" lIns="0" tIns="13335" rIns="0" bIns="0" rtlCol="0" vert="horz">
            <a:spAutoFit/>
          </a:bodyPr>
          <a:lstStyle/>
          <a:p>
            <a:pPr marL="12700">
              <a:lnSpc>
                <a:spcPct val="100000"/>
              </a:lnSpc>
              <a:spcBef>
                <a:spcPts val="105"/>
              </a:spcBef>
            </a:pPr>
            <a:r>
              <a:rPr dirty="0" sz="1200" spc="280">
                <a:latin typeface="微软雅黑"/>
                <a:cs typeface="微软雅黑"/>
              </a:rPr>
              <a:t>时间</a:t>
            </a:r>
            <a:endParaRPr sz="1200">
              <a:latin typeface="微软雅黑"/>
              <a:cs typeface="微软雅黑"/>
            </a:endParaRPr>
          </a:p>
        </p:txBody>
      </p:sp>
      <p:sp>
        <p:nvSpPr>
          <p:cNvPr id="21" name="object 21" descr=""/>
          <p:cNvSpPr txBox="1"/>
          <p:nvPr/>
        </p:nvSpPr>
        <p:spPr>
          <a:xfrm>
            <a:off x="4658818" y="4171901"/>
            <a:ext cx="1041400" cy="208915"/>
          </a:xfrm>
          <a:prstGeom prst="rect">
            <a:avLst/>
          </a:prstGeom>
        </p:spPr>
        <p:txBody>
          <a:bodyPr wrap="square" lIns="0" tIns="12700" rIns="0" bIns="0" rtlCol="0" vert="horz">
            <a:spAutoFit/>
          </a:bodyPr>
          <a:lstStyle/>
          <a:p>
            <a:pPr marL="12700">
              <a:lnSpc>
                <a:spcPct val="100000"/>
              </a:lnSpc>
              <a:spcBef>
                <a:spcPts val="100"/>
              </a:spcBef>
            </a:pPr>
            <a:r>
              <a:rPr dirty="0" sz="1200" spc="200">
                <a:latin typeface="微软雅黑"/>
                <a:cs typeface="微软雅黑"/>
              </a:rPr>
              <a:t>（</a:t>
            </a:r>
            <a:r>
              <a:rPr dirty="0" sz="1200" spc="200">
                <a:latin typeface="Microsoft Sans Serif"/>
                <a:cs typeface="Microsoft Sans Serif"/>
              </a:rPr>
              <a:t>a</a:t>
            </a:r>
            <a:r>
              <a:rPr dirty="0" sz="1200" spc="175">
                <a:latin typeface="Microsoft Sans Serif"/>
                <a:cs typeface="Microsoft Sans Serif"/>
              </a:rPr>
              <a:t>) </a:t>
            </a:r>
            <a:r>
              <a:rPr dirty="0" sz="1200" spc="325">
                <a:latin typeface="微软雅黑"/>
                <a:cs typeface="微软雅黑"/>
              </a:rPr>
              <a:t>软流水</a:t>
            </a:r>
            <a:endParaRPr sz="1200">
              <a:latin typeface="微软雅黑"/>
              <a:cs typeface="微软雅黑"/>
            </a:endParaRPr>
          </a:p>
        </p:txBody>
      </p:sp>
      <p:sp>
        <p:nvSpPr>
          <p:cNvPr id="22" name="object 22" descr=""/>
          <p:cNvSpPr txBox="1"/>
          <p:nvPr/>
        </p:nvSpPr>
        <p:spPr>
          <a:xfrm>
            <a:off x="3473924" y="2854707"/>
            <a:ext cx="617220" cy="398780"/>
          </a:xfrm>
          <a:prstGeom prst="rect">
            <a:avLst/>
          </a:prstGeom>
        </p:spPr>
        <p:txBody>
          <a:bodyPr wrap="square" lIns="0" tIns="5715" rIns="0" bIns="0" rtlCol="0" vert="horz">
            <a:spAutoFit/>
          </a:bodyPr>
          <a:lstStyle/>
          <a:p>
            <a:pPr marL="111125" marR="5080" indent="-99060">
              <a:lnSpc>
                <a:spcPct val="103800"/>
              </a:lnSpc>
              <a:spcBef>
                <a:spcPts val="45"/>
              </a:spcBef>
            </a:pPr>
            <a:r>
              <a:rPr dirty="0" sz="1200" spc="330">
                <a:latin typeface="微软雅黑"/>
                <a:cs typeface="微软雅黑"/>
              </a:rPr>
              <a:t>充满流</a:t>
            </a:r>
            <a:r>
              <a:rPr dirty="0" sz="1200" spc="280">
                <a:latin typeface="微软雅黑"/>
                <a:cs typeface="微软雅黑"/>
              </a:rPr>
              <a:t>水线</a:t>
            </a:r>
            <a:endParaRPr sz="1200">
              <a:latin typeface="微软雅黑"/>
              <a:cs typeface="微软雅黑"/>
            </a:endParaRPr>
          </a:p>
        </p:txBody>
      </p:sp>
      <p:sp>
        <p:nvSpPr>
          <p:cNvPr id="23" name="object 23" descr=""/>
          <p:cNvSpPr txBox="1"/>
          <p:nvPr/>
        </p:nvSpPr>
        <p:spPr>
          <a:xfrm>
            <a:off x="5988811" y="2854707"/>
            <a:ext cx="617220" cy="398780"/>
          </a:xfrm>
          <a:prstGeom prst="rect">
            <a:avLst/>
          </a:prstGeom>
        </p:spPr>
        <p:txBody>
          <a:bodyPr wrap="square" lIns="0" tIns="5715" rIns="0" bIns="0" rtlCol="0" vert="horz">
            <a:spAutoFit/>
          </a:bodyPr>
          <a:lstStyle/>
          <a:p>
            <a:pPr marL="111125" marR="5080" indent="-99060">
              <a:lnSpc>
                <a:spcPct val="103800"/>
              </a:lnSpc>
              <a:spcBef>
                <a:spcPts val="45"/>
              </a:spcBef>
            </a:pPr>
            <a:r>
              <a:rPr dirty="0" sz="1200" spc="330">
                <a:latin typeface="微软雅黑"/>
                <a:cs typeface="微软雅黑"/>
              </a:rPr>
              <a:t>排空流</a:t>
            </a:r>
            <a:r>
              <a:rPr dirty="0" sz="1200" spc="280">
                <a:latin typeface="微软雅黑"/>
                <a:cs typeface="微软雅黑"/>
              </a:rPr>
              <a:t>水线</a:t>
            </a:r>
            <a:endParaRPr sz="1200">
              <a:latin typeface="微软雅黑"/>
              <a:cs typeface="微软雅黑"/>
            </a:endParaRPr>
          </a:p>
        </p:txBody>
      </p:sp>
      <p:graphicFrame>
        <p:nvGraphicFramePr>
          <p:cNvPr id="24" name="object 24" descr=""/>
          <p:cNvGraphicFramePr>
            <a:graphicFrameLocks noGrp="1"/>
          </p:cNvGraphicFramePr>
          <p:nvPr/>
        </p:nvGraphicFramePr>
        <p:xfrm>
          <a:off x="3355985" y="4504449"/>
          <a:ext cx="5812790" cy="1214755"/>
        </p:xfrm>
        <a:graphic>
          <a:graphicData uri="http://schemas.openxmlformats.org/drawingml/2006/table">
            <a:tbl>
              <a:tblPr firstRow="1" bandRow="1">
                <a:tableStyleId>{2D5ABB26-0587-4C30-8999-92F81FD0307C}</a:tableStyleId>
              </a:tblPr>
              <a:tblGrid>
                <a:gridCol w="446405"/>
                <a:gridCol w="390525"/>
                <a:gridCol w="446405"/>
                <a:gridCol w="390525"/>
                <a:gridCol w="446405"/>
                <a:gridCol w="390525"/>
                <a:gridCol w="446405"/>
                <a:gridCol w="390525"/>
                <a:gridCol w="446404"/>
                <a:gridCol w="390525"/>
                <a:gridCol w="446404"/>
                <a:gridCol w="390525"/>
                <a:gridCol w="694054"/>
              </a:tblGrid>
              <a:tr h="550545">
                <a:tc gridSpan="13">
                  <a:txBody>
                    <a:bodyPr/>
                    <a:lstStyle/>
                    <a:p>
                      <a:pPr>
                        <a:lnSpc>
                          <a:spcPct val="100000"/>
                        </a:lnSpc>
                      </a:pPr>
                      <a:endParaRPr sz="2000">
                        <a:latin typeface="Times New Roman"/>
                        <a:cs typeface="Times New Roman"/>
                      </a:endParaRPr>
                    </a:p>
                  </a:txBody>
                  <a:tcPr marL="0" marR="0" marB="0" marT="0">
                    <a:lnL w="28575">
                      <a:solidFill>
                        <a:srgbClr val="000000"/>
                      </a:solidFill>
                      <a:prstDash val="solid"/>
                    </a:ln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664210">
                <a:tc>
                  <a:txBody>
                    <a:bodyPr/>
                    <a:lstStyle/>
                    <a:p>
                      <a:pPr>
                        <a:lnSpc>
                          <a:spcPct val="100000"/>
                        </a:lnSpc>
                      </a:pPr>
                      <a:endParaRPr sz="2000">
                        <a:latin typeface="Times New Roman"/>
                        <a:cs typeface="Times New Roman"/>
                      </a:endParaRPr>
                    </a:p>
                  </a:txBody>
                  <a:tcPr marL="0" marR="0" marB="0" marT="0">
                    <a:lnL w="28575">
                      <a:solidFill>
                        <a:srgbClr val="000000"/>
                      </a:solidFill>
                      <a:prstDash val="solid"/>
                    </a:lnL>
                    <a:lnR w="19050">
                      <a:solidFill>
                        <a:srgbClr val="000000"/>
                      </a:solidFill>
                      <a:prstDash val="solid"/>
                    </a:lnR>
                    <a:lnB w="19050">
                      <a:solidFill>
                        <a:srgbClr val="000000"/>
                      </a:solidFill>
                      <a:prstDash val="solid"/>
                    </a:lnB>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B w="19050">
                      <a:solidFill>
                        <a:srgbClr val="000000"/>
                      </a:solidFill>
                      <a:prstDash val="solid"/>
                    </a:lnB>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B w="19050">
                      <a:solidFill>
                        <a:srgbClr val="000000"/>
                      </a:solidFill>
                      <a:prstDash val="solid"/>
                    </a:lnB>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B w="19050">
                      <a:solidFill>
                        <a:srgbClr val="000000"/>
                      </a:solidFill>
                      <a:prstDash val="solid"/>
                    </a:lnB>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B w="19050">
                      <a:solidFill>
                        <a:srgbClr val="000000"/>
                      </a:solidFill>
                      <a:prstDash val="solid"/>
                    </a:lnB>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B w="19050">
                      <a:solidFill>
                        <a:srgbClr val="000000"/>
                      </a:solidFill>
                      <a:prstDash val="solid"/>
                    </a:lnB>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B w="19050">
                      <a:solidFill>
                        <a:srgbClr val="000000"/>
                      </a:solidFill>
                      <a:prstDash val="solid"/>
                    </a:lnB>
                  </a:tcPr>
                </a:tc>
              </a:tr>
            </a:tbl>
          </a:graphicData>
        </a:graphic>
      </p:graphicFrame>
      <p:sp>
        <p:nvSpPr>
          <p:cNvPr id="25" name="object 25" descr=""/>
          <p:cNvSpPr/>
          <p:nvPr/>
        </p:nvSpPr>
        <p:spPr>
          <a:xfrm>
            <a:off x="3315849" y="4400411"/>
            <a:ext cx="104139" cy="123825"/>
          </a:xfrm>
          <a:custGeom>
            <a:avLst/>
            <a:gdLst/>
            <a:ahLst/>
            <a:cxnLst/>
            <a:rect l="l" t="t" r="r" b="b"/>
            <a:pathLst>
              <a:path w="104139" h="123825">
                <a:moveTo>
                  <a:pt x="51940" y="0"/>
                </a:moveTo>
                <a:lnTo>
                  <a:pt x="0" y="123721"/>
                </a:lnTo>
                <a:lnTo>
                  <a:pt x="103881" y="123721"/>
                </a:lnTo>
                <a:lnTo>
                  <a:pt x="51940" y="0"/>
                </a:lnTo>
                <a:close/>
              </a:path>
            </a:pathLst>
          </a:custGeom>
          <a:solidFill>
            <a:srgbClr val="000000"/>
          </a:solidFill>
        </p:spPr>
        <p:txBody>
          <a:bodyPr wrap="square" lIns="0" tIns="0" rIns="0" bIns="0" rtlCol="0"/>
          <a:lstStyle/>
          <a:p/>
        </p:txBody>
      </p:sp>
      <p:sp>
        <p:nvSpPr>
          <p:cNvPr id="26" name="object 26" descr=""/>
          <p:cNvSpPr/>
          <p:nvPr/>
        </p:nvSpPr>
        <p:spPr>
          <a:xfrm>
            <a:off x="9067775" y="5687534"/>
            <a:ext cx="156210" cy="82550"/>
          </a:xfrm>
          <a:custGeom>
            <a:avLst/>
            <a:gdLst/>
            <a:ahLst/>
            <a:cxnLst/>
            <a:rect l="l" t="t" r="r" b="b"/>
            <a:pathLst>
              <a:path w="156209" h="82550">
                <a:moveTo>
                  <a:pt x="0" y="0"/>
                </a:moveTo>
                <a:lnTo>
                  <a:pt x="0" y="82480"/>
                </a:lnTo>
                <a:lnTo>
                  <a:pt x="155821" y="41240"/>
                </a:lnTo>
                <a:lnTo>
                  <a:pt x="0" y="0"/>
                </a:lnTo>
                <a:close/>
              </a:path>
            </a:pathLst>
          </a:custGeom>
          <a:solidFill>
            <a:srgbClr val="000000"/>
          </a:solidFill>
        </p:spPr>
        <p:txBody>
          <a:bodyPr wrap="square" lIns="0" tIns="0" rIns="0" bIns="0" rtlCol="0"/>
          <a:lstStyle/>
          <a:p/>
        </p:txBody>
      </p:sp>
      <p:sp>
        <p:nvSpPr>
          <p:cNvPr id="27" name="object 27" descr=""/>
          <p:cNvSpPr txBox="1"/>
          <p:nvPr/>
        </p:nvSpPr>
        <p:spPr>
          <a:xfrm>
            <a:off x="2397239" y="4963984"/>
            <a:ext cx="810260" cy="399415"/>
          </a:xfrm>
          <a:prstGeom prst="rect">
            <a:avLst/>
          </a:prstGeom>
        </p:spPr>
        <p:txBody>
          <a:bodyPr wrap="square" lIns="0" tIns="13335" rIns="0" bIns="0" rtlCol="0" vert="horz">
            <a:spAutoFit/>
          </a:bodyPr>
          <a:lstStyle/>
          <a:p>
            <a:pPr marL="12700">
              <a:lnSpc>
                <a:spcPct val="100000"/>
              </a:lnSpc>
              <a:spcBef>
                <a:spcPts val="105"/>
              </a:spcBef>
            </a:pPr>
            <a:r>
              <a:rPr dirty="0" sz="1200" spc="320">
                <a:latin typeface="微软雅黑"/>
                <a:cs typeface="微软雅黑"/>
              </a:rPr>
              <a:t>可并行的</a:t>
            </a:r>
            <a:endParaRPr sz="1200">
              <a:latin typeface="微软雅黑"/>
              <a:cs typeface="微软雅黑"/>
            </a:endParaRPr>
          </a:p>
          <a:p>
            <a:pPr marL="111125">
              <a:lnSpc>
                <a:spcPct val="100000"/>
              </a:lnSpc>
              <a:spcBef>
                <a:spcPts val="55"/>
              </a:spcBef>
            </a:pPr>
            <a:r>
              <a:rPr dirty="0" sz="1200" spc="330">
                <a:latin typeface="微软雅黑"/>
                <a:cs typeface="微软雅黑"/>
              </a:rPr>
              <a:t>指令数</a:t>
            </a:r>
            <a:endParaRPr sz="1200">
              <a:latin typeface="微软雅黑"/>
              <a:cs typeface="微软雅黑"/>
            </a:endParaRPr>
          </a:p>
        </p:txBody>
      </p:sp>
      <p:grpSp>
        <p:nvGrpSpPr>
          <p:cNvPr id="28" name="object 28" descr=""/>
          <p:cNvGrpSpPr/>
          <p:nvPr/>
        </p:nvGrpSpPr>
        <p:grpSpPr>
          <a:xfrm>
            <a:off x="3361030" y="5057794"/>
            <a:ext cx="459740" cy="678180"/>
            <a:chOff x="3361030" y="5057794"/>
            <a:chExt cx="459740" cy="678180"/>
          </a:xfrm>
        </p:grpSpPr>
        <p:sp>
          <p:nvSpPr>
            <p:cNvPr id="29" name="object 29" descr=""/>
            <p:cNvSpPr/>
            <p:nvPr/>
          </p:nvSpPr>
          <p:spPr>
            <a:xfrm>
              <a:off x="3367790" y="5064554"/>
              <a:ext cx="446405" cy="664845"/>
            </a:xfrm>
            <a:custGeom>
              <a:avLst/>
              <a:gdLst/>
              <a:ahLst/>
              <a:cxnLst/>
              <a:rect l="l" t="t" r="r" b="b"/>
              <a:pathLst>
                <a:path w="446404" h="664845">
                  <a:moveTo>
                    <a:pt x="446157" y="0"/>
                  </a:moveTo>
                  <a:lnTo>
                    <a:pt x="0" y="664220"/>
                  </a:lnTo>
                  <a:lnTo>
                    <a:pt x="446157" y="664220"/>
                  </a:lnTo>
                  <a:lnTo>
                    <a:pt x="446157" y="0"/>
                  </a:lnTo>
                  <a:close/>
                </a:path>
              </a:pathLst>
            </a:custGeom>
            <a:solidFill>
              <a:srgbClr val="C0C0C0"/>
            </a:solidFill>
          </p:spPr>
          <p:txBody>
            <a:bodyPr wrap="square" lIns="0" tIns="0" rIns="0" bIns="0" rtlCol="0"/>
            <a:lstStyle/>
            <a:p/>
          </p:txBody>
        </p:sp>
        <p:sp>
          <p:nvSpPr>
            <p:cNvPr id="30" name="object 30" descr=""/>
            <p:cNvSpPr/>
            <p:nvPr/>
          </p:nvSpPr>
          <p:spPr>
            <a:xfrm>
              <a:off x="3367790" y="5064554"/>
              <a:ext cx="446405" cy="664845"/>
            </a:xfrm>
            <a:custGeom>
              <a:avLst/>
              <a:gdLst/>
              <a:ahLst/>
              <a:cxnLst/>
              <a:rect l="l" t="t" r="r" b="b"/>
              <a:pathLst>
                <a:path w="446404" h="664845">
                  <a:moveTo>
                    <a:pt x="0" y="664220"/>
                  </a:moveTo>
                  <a:lnTo>
                    <a:pt x="446157" y="0"/>
                  </a:lnTo>
                  <a:lnTo>
                    <a:pt x="446157" y="664220"/>
                  </a:lnTo>
                  <a:lnTo>
                    <a:pt x="0" y="664220"/>
                  </a:lnTo>
                  <a:close/>
                </a:path>
              </a:pathLst>
            </a:custGeom>
            <a:ln w="13258">
              <a:solidFill>
                <a:srgbClr val="000000"/>
              </a:solidFill>
            </a:ln>
          </p:spPr>
          <p:txBody>
            <a:bodyPr wrap="square" lIns="0" tIns="0" rIns="0" bIns="0" rtlCol="0"/>
            <a:lstStyle/>
            <a:p/>
          </p:txBody>
        </p:sp>
      </p:grpSp>
      <p:grpSp>
        <p:nvGrpSpPr>
          <p:cNvPr id="31" name="object 31" descr=""/>
          <p:cNvGrpSpPr/>
          <p:nvPr/>
        </p:nvGrpSpPr>
        <p:grpSpPr>
          <a:xfrm>
            <a:off x="4197490" y="5057794"/>
            <a:ext cx="459740" cy="678180"/>
            <a:chOff x="4197490" y="5057794"/>
            <a:chExt cx="459740" cy="678180"/>
          </a:xfrm>
        </p:grpSpPr>
        <p:sp>
          <p:nvSpPr>
            <p:cNvPr id="32" name="object 32" descr=""/>
            <p:cNvSpPr/>
            <p:nvPr/>
          </p:nvSpPr>
          <p:spPr>
            <a:xfrm>
              <a:off x="4204249" y="5064554"/>
              <a:ext cx="446405" cy="664845"/>
            </a:xfrm>
            <a:custGeom>
              <a:avLst/>
              <a:gdLst/>
              <a:ahLst/>
              <a:cxnLst/>
              <a:rect l="l" t="t" r="r" b="b"/>
              <a:pathLst>
                <a:path w="446404" h="664845">
                  <a:moveTo>
                    <a:pt x="0" y="0"/>
                  </a:moveTo>
                  <a:lnTo>
                    <a:pt x="0" y="664220"/>
                  </a:lnTo>
                  <a:lnTo>
                    <a:pt x="446216" y="664220"/>
                  </a:lnTo>
                  <a:lnTo>
                    <a:pt x="0" y="0"/>
                  </a:lnTo>
                  <a:close/>
                </a:path>
              </a:pathLst>
            </a:custGeom>
            <a:solidFill>
              <a:srgbClr val="C0C0C0"/>
            </a:solidFill>
          </p:spPr>
          <p:txBody>
            <a:bodyPr wrap="square" lIns="0" tIns="0" rIns="0" bIns="0" rtlCol="0"/>
            <a:lstStyle/>
            <a:p/>
          </p:txBody>
        </p:sp>
        <p:sp>
          <p:nvSpPr>
            <p:cNvPr id="33" name="object 33" descr=""/>
            <p:cNvSpPr/>
            <p:nvPr/>
          </p:nvSpPr>
          <p:spPr>
            <a:xfrm>
              <a:off x="4204249" y="5064554"/>
              <a:ext cx="446405" cy="664845"/>
            </a:xfrm>
            <a:custGeom>
              <a:avLst/>
              <a:gdLst/>
              <a:ahLst/>
              <a:cxnLst/>
              <a:rect l="l" t="t" r="r" b="b"/>
              <a:pathLst>
                <a:path w="446404" h="664845">
                  <a:moveTo>
                    <a:pt x="0" y="0"/>
                  </a:moveTo>
                  <a:lnTo>
                    <a:pt x="446216" y="664220"/>
                  </a:lnTo>
                  <a:lnTo>
                    <a:pt x="0" y="664220"/>
                  </a:lnTo>
                  <a:lnTo>
                    <a:pt x="0" y="0"/>
                  </a:lnTo>
                  <a:close/>
                </a:path>
              </a:pathLst>
            </a:custGeom>
            <a:ln w="13258">
              <a:solidFill>
                <a:srgbClr val="000000"/>
              </a:solidFill>
            </a:ln>
          </p:spPr>
          <p:txBody>
            <a:bodyPr wrap="square" lIns="0" tIns="0" rIns="0" bIns="0" rtlCol="0"/>
            <a:lstStyle/>
            <a:p/>
          </p:txBody>
        </p:sp>
        <p:sp>
          <p:nvSpPr>
            <p:cNvPr id="34" name="object 34" descr=""/>
            <p:cNvSpPr/>
            <p:nvPr/>
          </p:nvSpPr>
          <p:spPr>
            <a:xfrm>
              <a:off x="4204249" y="5064554"/>
              <a:ext cx="446405" cy="664845"/>
            </a:xfrm>
            <a:custGeom>
              <a:avLst/>
              <a:gdLst/>
              <a:ahLst/>
              <a:cxnLst/>
              <a:rect l="l" t="t" r="r" b="b"/>
              <a:pathLst>
                <a:path w="446404" h="664845">
                  <a:moveTo>
                    <a:pt x="446216" y="0"/>
                  </a:moveTo>
                  <a:lnTo>
                    <a:pt x="0" y="664220"/>
                  </a:lnTo>
                  <a:lnTo>
                    <a:pt x="446216" y="664220"/>
                  </a:lnTo>
                  <a:lnTo>
                    <a:pt x="446216" y="0"/>
                  </a:lnTo>
                  <a:close/>
                </a:path>
              </a:pathLst>
            </a:custGeom>
            <a:solidFill>
              <a:srgbClr val="C0C0C0"/>
            </a:solidFill>
          </p:spPr>
          <p:txBody>
            <a:bodyPr wrap="square" lIns="0" tIns="0" rIns="0" bIns="0" rtlCol="0"/>
            <a:lstStyle/>
            <a:p/>
          </p:txBody>
        </p:sp>
        <p:sp>
          <p:nvSpPr>
            <p:cNvPr id="35" name="object 35" descr=""/>
            <p:cNvSpPr/>
            <p:nvPr/>
          </p:nvSpPr>
          <p:spPr>
            <a:xfrm>
              <a:off x="4204249" y="5064554"/>
              <a:ext cx="446405" cy="664845"/>
            </a:xfrm>
            <a:custGeom>
              <a:avLst/>
              <a:gdLst/>
              <a:ahLst/>
              <a:cxnLst/>
              <a:rect l="l" t="t" r="r" b="b"/>
              <a:pathLst>
                <a:path w="446404" h="664845">
                  <a:moveTo>
                    <a:pt x="0" y="664220"/>
                  </a:moveTo>
                  <a:lnTo>
                    <a:pt x="446216" y="0"/>
                  </a:lnTo>
                  <a:lnTo>
                    <a:pt x="446216" y="664220"/>
                  </a:lnTo>
                  <a:lnTo>
                    <a:pt x="0" y="664220"/>
                  </a:lnTo>
                  <a:close/>
                </a:path>
              </a:pathLst>
            </a:custGeom>
            <a:ln w="13258">
              <a:solidFill>
                <a:srgbClr val="000000"/>
              </a:solidFill>
            </a:ln>
          </p:spPr>
          <p:txBody>
            <a:bodyPr wrap="square" lIns="0" tIns="0" rIns="0" bIns="0" rtlCol="0"/>
            <a:lstStyle/>
            <a:p/>
          </p:txBody>
        </p:sp>
        <p:sp>
          <p:nvSpPr>
            <p:cNvPr id="36" name="object 36" descr=""/>
            <p:cNvSpPr/>
            <p:nvPr/>
          </p:nvSpPr>
          <p:spPr>
            <a:xfrm>
              <a:off x="4427358" y="5396664"/>
              <a:ext cx="223520" cy="332105"/>
            </a:xfrm>
            <a:custGeom>
              <a:avLst/>
              <a:gdLst/>
              <a:ahLst/>
              <a:cxnLst/>
              <a:rect l="l" t="t" r="r" b="b"/>
              <a:pathLst>
                <a:path w="223520" h="332104">
                  <a:moveTo>
                    <a:pt x="0" y="0"/>
                  </a:moveTo>
                  <a:lnTo>
                    <a:pt x="223108" y="332110"/>
                  </a:lnTo>
                </a:path>
              </a:pathLst>
            </a:custGeom>
            <a:ln w="13258">
              <a:solidFill>
                <a:srgbClr val="000000"/>
              </a:solidFill>
            </a:ln>
          </p:spPr>
          <p:txBody>
            <a:bodyPr wrap="square" lIns="0" tIns="0" rIns="0" bIns="0" rtlCol="0"/>
            <a:lstStyle/>
            <a:p/>
          </p:txBody>
        </p:sp>
      </p:grpSp>
      <p:sp>
        <p:nvSpPr>
          <p:cNvPr id="37" name="object 37" descr=""/>
          <p:cNvSpPr txBox="1"/>
          <p:nvPr/>
        </p:nvSpPr>
        <p:spPr>
          <a:xfrm>
            <a:off x="8742252" y="5771218"/>
            <a:ext cx="409575" cy="208915"/>
          </a:xfrm>
          <a:prstGeom prst="rect">
            <a:avLst/>
          </a:prstGeom>
        </p:spPr>
        <p:txBody>
          <a:bodyPr wrap="square" lIns="0" tIns="12700" rIns="0" bIns="0" rtlCol="0" vert="horz">
            <a:spAutoFit/>
          </a:bodyPr>
          <a:lstStyle/>
          <a:p>
            <a:pPr marL="12700">
              <a:lnSpc>
                <a:spcPct val="100000"/>
              </a:lnSpc>
              <a:spcBef>
                <a:spcPts val="100"/>
              </a:spcBef>
            </a:pPr>
            <a:r>
              <a:rPr dirty="0" sz="1200" spc="280">
                <a:latin typeface="微软雅黑"/>
                <a:cs typeface="微软雅黑"/>
              </a:rPr>
              <a:t>时间</a:t>
            </a:r>
            <a:endParaRPr sz="1200">
              <a:latin typeface="微软雅黑"/>
              <a:cs typeface="微软雅黑"/>
            </a:endParaRPr>
          </a:p>
        </p:txBody>
      </p:sp>
      <p:sp>
        <p:nvSpPr>
          <p:cNvPr id="38" name="object 38" descr=""/>
          <p:cNvSpPr txBox="1"/>
          <p:nvPr/>
        </p:nvSpPr>
        <p:spPr>
          <a:xfrm>
            <a:off x="4700134" y="5948905"/>
            <a:ext cx="1234440" cy="208915"/>
          </a:xfrm>
          <a:prstGeom prst="rect">
            <a:avLst/>
          </a:prstGeom>
        </p:spPr>
        <p:txBody>
          <a:bodyPr wrap="square" lIns="0" tIns="12700" rIns="0" bIns="0" rtlCol="0" vert="horz">
            <a:spAutoFit/>
          </a:bodyPr>
          <a:lstStyle/>
          <a:p>
            <a:pPr marL="12700">
              <a:lnSpc>
                <a:spcPct val="100000"/>
              </a:lnSpc>
              <a:spcBef>
                <a:spcPts val="100"/>
              </a:spcBef>
            </a:pPr>
            <a:r>
              <a:rPr dirty="0" sz="1200" spc="200">
                <a:latin typeface="微软雅黑"/>
                <a:cs typeface="微软雅黑"/>
              </a:rPr>
              <a:t>（</a:t>
            </a:r>
            <a:r>
              <a:rPr dirty="0" sz="1200" spc="200">
                <a:latin typeface="Microsoft Sans Serif"/>
                <a:cs typeface="Microsoft Sans Serif"/>
              </a:rPr>
              <a:t>b</a:t>
            </a:r>
            <a:r>
              <a:rPr dirty="0" sz="1200" spc="175">
                <a:latin typeface="Microsoft Sans Serif"/>
                <a:cs typeface="Microsoft Sans Serif"/>
              </a:rPr>
              <a:t>) </a:t>
            </a:r>
            <a:r>
              <a:rPr dirty="0" sz="1200" spc="320">
                <a:latin typeface="微软雅黑"/>
                <a:cs typeface="微软雅黑"/>
              </a:rPr>
              <a:t>循环展开</a:t>
            </a:r>
            <a:endParaRPr sz="1200">
              <a:latin typeface="微软雅黑"/>
              <a:cs typeface="微软雅黑"/>
            </a:endParaRPr>
          </a:p>
        </p:txBody>
      </p:sp>
      <p:grpSp>
        <p:nvGrpSpPr>
          <p:cNvPr id="39" name="object 39" descr=""/>
          <p:cNvGrpSpPr/>
          <p:nvPr/>
        </p:nvGrpSpPr>
        <p:grpSpPr>
          <a:xfrm>
            <a:off x="5034048" y="5057794"/>
            <a:ext cx="459740" cy="678180"/>
            <a:chOff x="5034048" y="5057794"/>
            <a:chExt cx="459740" cy="678180"/>
          </a:xfrm>
        </p:grpSpPr>
        <p:sp>
          <p:nvSpPr>
            <p:cNvPr id="40" name="object 40" descr=""/>
            <p:cNvSpPr/>
            <p:nvPr/>
          </p:nvSpPr>
          <p:spPr>
            <a:xfrm>
              <a:off x="5040807" y="5064554"/>
              <a:ext cx="446405" cy="664845"/>
            </a:xfrm>
            <a:custGeom>
              <a:avLst/>
              <a:gdLst/>
              <a:ahLst/>
              <a:cxnLst/>
              <a:rect l="l" t="t" r="r" b="b"/>
              <a:pathLst>
                <a:path w="446404" h="664845">
                  <a:moveTo>
                    <a:pt x="0" y="0"/>
                  </a:moveTo>
                  <a:lnTo>
                    <a:pt x="0" y="664220"/>
                  </a:lnTo>
                  <a:lnTo>
                    <a:pt x="446216" y="664220"/>
                  </a:lnTo>
                  <a:lnTo>
                    <a:pt x="0" y="0"/>
                  </a:lnTo>
                  <a:close/>
                </a:path>
              </a:pathLst>
            </a:custGeom>
            <a:solidFill>
              <a:srgbClr val="C0C0C0"/>
            </a:solidFill>
          </p:spPr>
          <p:txBody>
            <a:bodyPr wrap="square" lIns="0" tIns="0" rIns="0" bIns="0" rtlCol="0"/>
            <a:lstStyle/>
            <a:p/>
          </p:txBody>
        </p:sp>
        <p:sp>
          <p:nvSpPr>
            <p:cNvPr id="41" name="object 41" descr=""/>
            <p:cNvSpPr/>
            <p:nvPr/>
          </p:nvSpPr>
          <p:spPr>
            <a:xfrm>
              <a:off x="5040807" y="5064554"/>
              <a:ext cx="446405" cy="664845"/>
            </a:xfrm>
            <a:custGeom>
              <a:avLst/>
              <a:gdLst/>
              <a:ahLst/>
              <a:cxnLst/>
              <a:rect l="l" t="t" r="r" b="b"/>
              <a:pathLst>
                <a:path w="446404" h="664845">
                  <a:moveTo>
                    <a:pt x="0" y="0"/>
                  </a:moveTo>
                  <a:lnTo>
                    <a:pt x="446216" y="664220"/>
                  </a:lnTo>
                  <a:lnTo>
                    <a:pt x="0" y="664220"/>
                  </a:lnTo>
                  <a:lnTo>
                    <a:pt x="0" y="0"/>
                  </a:lnTo>
                  <a:close/>
                </a:path>
              </a:pathLst>
            </a:custGeom>
            <a:ln w="13258">
              <a:solidFill>
                <a:srgbClr val="000000"/>
              </a:solidFill>
            </a:ln>
          </p:spPr>
          <p:txBody>
            <a:bodyPr wrap="square" lIns="0" tIns="0" rIns="0" bIns="0" rtlCol="0"/>
            <a:lstStyle/>
            <a:p/>
          </p:txBody>
        </p:sp>
        <p:sp>
          <p:nvSpPr>
            <p:cNvPr id="42" name="object 42" descr=""/>
            <p:cNvSpPr/>
            <p:nvPr/>
          </p:nvSpPr>
          <p:spPr>
            <a:xfrm>
              <a:off x="5040807" y="5064554"/>
              <a:ext cx="446405" cy="664845"/>
            </a:xfrm>
            <a:custGeom>
              <a:avLst/>
              <a:gdLst/>
              <a:ahLst/>
              <a:cxnLst/>
              <a:rect l="l" t="t" r="r" b="b"/>
              <a:pathLst>
                <a:path w="446404" h="664845">
                  <a:moveTo>
                    <a:pt x="446216" y="0"/>
                  </a:moveTo>
                  <a:lnTo>
                    <a:pt x="0" y="664220"/>
                  </a:lnTo>
                  <a:lnTo>
                    <a:pt x="446216" y="664220"/>
                  </a:lnTo>
                  <a:lnTo>
                    <a:pt x="446216" y="0"/>
                  </a:lnTo>
                  <a:close/>
                </a:path>
              </a:pathLst>
            </a:custGeom>
            <a:solidFill>
              <a:srgbClr val="C0C0C0"/>
            </a:solidFill>
          </p:spPr>
          <p:txBody>
            <a:bodyPr wrap="square" lIns="0" tIns="0" rIns="0" bIns="0" rtlCol="0"/>
            <a:lstStyle/>
            <a:p/>
          </p:txBody>
        </p:sp>
        <p:sp>
          <p:nvSpPr>
            <p:cNvPr id="43" name="object 43" descr=""/>
            <p:cNvSpPr/>
            <p:nvPr/>
          </p:nvSpPr>
          <p:spPr>
            <a:xfrm>
              <a:off x="5040807" y="5064554"/>
              <a:ext cx="446405" cy="664845"/>
            </a:xfrm>
            <a:custGeom>
              <a:avLst/>
              <a:gdLst/>
              <a:ahLst/>
              <a:cxnLst/>
              <a:rect l="l" t="t" r="r" b="b"/>
              <a:pathLst>
                <a:path w="446404" h="664845">
                  <a:moveTo>
                    <a:pt x="0" y="664220"/>
                  </a:moveTo>
                  <a:lnTo>
                    <a:pt x="446216" y="0"/>
                  </a:lnTo>
                  <a:lnTo>
                    <a:pt x="446216" y="664220"/>
                  </a:lnTo>
                  <a:lnTo>
                    <a:pt x="0" y="664220"/>
                  </a:lnTo>
                  <a:close/>
                </a:path>
              </a:pathLst>
            </a:custGeom>
            <a:ln w="13258">
              <a:solidFill>
                <a:srgbClr val="000000"/>
              </a:solidFill>
            </a:ln>
          </p:spPr>
          <p:txBody>
            <a:bodyPr wrap="square" lIns="0" tIns="0" rIns="0" bIns="0" rtlCol="0"/>
            <a:lstStyle/>
            <a:p/>
          </p:txBody>
        </p:sp>
        <p:sp>
          <p:nvSpPr>
            <p:cNvPr id="44" name="object 44" descr=""/>
            <p:cNvSpPr/>
            <p:nvPr/>
          </p:nvSpPr>
          <p:spPr>
            <a:xfrm>
              <a:off x="5263916" y="5396664"/>
              <a:ext cx="223520" cy="332105"/>
            </a:xfrm>
            <a:custGeom>
              <a:avLst/>
              <a:gdLst/>
              <a:ahLst/>
              <a:cxnLst/>
              <a:rect l="l" t="t" r="r" b="b"/>
              <a:pathLst>
                <a:path w="223520" h="332104">
                  <a:moveTo>
                    <a:pt x="0" y="0"/>
                  </a:moveTo>
                  <a:lnTo>
                    <a:pt x="223108" y="332110"/>
                  </a:lnTo>
                </a:path>
              </a:pathLst>
            </a:custGeom>
            <a:ln w="13258">
              <a:solidFill>
                <a:srgbClr val="000000"/>
              </a:solidFill>
            </a:ln>
          </p:spPr>
          <p:txBody>
            <a:bodyPr wrap="square" lIns="0" tIns="0" rIns="0" bIns="0" rtlCol="0"/>
            <a:lstStyle/>
            <a:p/>
          </p:txBody>
        </p:sp>
      </p:grpSp>
      <p:grpSp>
        <p:nvGrpSpPr>
          <p:cNvPr id="45" name="object 45" descr=""/>
          <p:cNvGrpSpPr/>
          <p:nvPr/>
        </p:nvGrpSpPr>
        <p:grpSpPr>
          <a:xfrm>
            <a:off x="5870606" y="5057794"/>
            <a:ext cx="459740" cy="678180"/>
            <a:chOff x="5870606" y="5057794"/>
            <a:chExt cx="459740" cy="678180"/>
          </a:xfrm>
        </p:grpSpPr>
        <p:sp>
          <p:nvSpPr>
            <p:cNvPr id="46" name="object 46" descr=""/>
            <p:cNvSpPr/>
            <p:nvPr/>
          </p:nvSpPr>
          <p:spPr>
            <a:xfrm>
              <a:off x="5877366" y="5064554"/>
              <a:ext cx="446405" cy="664845"/>
            </a:xfrm>
            <a:custGeom>
              <a:avLst/>
              <a:gdLst/>
              <a:ahLst/>
              <a:cxnLst/>
              <a:rect l="l" t="t" r="r" b="b"/>
              <a:pathLst>
                <a:path w="446404" h="664845">
                  <a:moveTo>
                    <a:pt x="0" y="0"/>
                  </a:moveTo>
                  <a:lnTo>
                    <a:pt x="0" y="664220"/>
                  </a:lnTo>
                  <a:lnTo>
                    <a:pt x="446216" y="664220"/>
                  </a:lnTo>
                  <a:lnTo>
                    <a:pt x="0" y="0"/>
                  </a:lnTo>
                  <a:close/>
                </a:path>
              </a:pathLst>
            </a:custGeom>
            <a:solidFill>
              <a:srgbClr val="C0C0C0"/>
            </a:solidFill>
          </p:spPr>
          <p:txBody>
            <a:bodyPr wrap="square" lIns="0" tIns="0" rIns="0" bIns="0" rtlCol="0"/>
            <a:lstStyle/>
            <a:p/>
          </p:txBody>
        </p:sp>
        <p:sp>
          <p:nvSpPr>
            <p:cNvPr id="47" name="object 47" descr=""/>
            <p:cNvSpPr/>
            <p:nvPr/>
          </p:nvSpPr>
          <p:spPr>
            <a:xfrm>
              <a:off x="5877366" y="5064554"/>
              <a:ext cx="446405" cy="664845"/>
            </a:xfrm>
            <a:custGeom>
              <a:avLst/>
              <a:gdLst/>
              <a:ahLst/>
              <a:cxnLst/>
              <a:rect l="l" t="t" r="r" b="b"/>
              <a:pathLst>
                <a:path w="446404" h="664845">
                  <a:moveTo>
                    <a:pt x="0" y="0"/>
                  </a:moveTo>
                  <a:lnTo>
                    <a:pt x="446216" y="664220"/>
                  </a:lnTo>
                  <a:lnTo>
                    <a:pt x="0" y="664220"/>
                  </a:lnTo>
                  <a:lnTo>
                    <a:pt x="0" y="0"/>
                  </a:lnTo>
                  <a:close/>
                </a:path>
              </a:pathLst>
            </a:custGeom>
            <a:ln w="13258">
              <a:solidFill>
                <a:srgbClr val="000000"/>
              </a:solidFill>
            </a:ln>
          </p:spPr>
          <p:txBody>
            <a:bodyPr wrap="square" lIns="0" tIns="0" rIns="0" bIns="0" rtlCol="0"/>
            <a:lstStyle/>
            <a:p/>
          </p:txBody>
        </p:sp>
        <p:sp>
          <p:nvSpPr>
            <p:cNvPr id="48" name="object 48" descr=""/>
            <p:cNvSpPr/>
            <p:nvPr/>
          </p:nvSpPr>
          <p:spPr>
            <a:xfrm>
              <a:off x="5877366" y="5064554"/>
              <a:ext cx="446405" cy="664845"/>
            </a:xfrm>
            <a:custGeom>
              <a:avLst/>
              <a:gdLst/>
              <a:ahLst/>
              <a:cxnLst/>
              <a:rect l="l" t="t" r="r" b="b"/>
              <a:pathLst>
                <a:path w="446404" h="664845">
                  <a:moveTo>
                    <a:pt x="446216" y="0"/>
                  </a:moveTo>
                  <a:lnTo>
                    <a:pt x="0" y="664220"/>
                  </a:lnTo>
                  <a:lnTo>
                    <a:pt x="446216" y="664220"/>
                  </a:lnTo>
                  <a:lnTo>
                    <a:pt x="446216" y="0"/>
                  </a:lnTo>
                  <a:close/>
                </a:path>
              </a:pathLst>
            </a:custGeom>
            <a:solidFill>
              <a:srgbClr val="C0C0C0"/>
            </a:solidFill>
          </p:spPr>
          <p:txBody>
            <a:bodyPr wrap="square" lIns="0" tIns="0" rIns="0" bIns="0" rtlCol="0"/>
            <a:lstStyle/>
            <a:p/>
          </p:txBody>
        </p:sp>
        <p:sp>
          <p:nvSpPr>
            <p:cNvPr id="49" name="object 49" descr=""/>
            <p:cNvSpPr/>
            <p:nvPr/>
          </p:nvSpPr>
          <p:spPr>
            <a:xfrm>
              <a:off x="5877366" y="5064554"/>
              <a:ext cx="446405" cy="664845"/>
            </a:xfrm>
            <a:custGeom>
              <a:avLst/>
              <a:gdLst/>
              <a:ahLst/>
              <a:cxnLst/>
              <a:rect l="l" t="t" r="r" b="b"/>
              <a:pathLst>
                <a:path w="446404" h="664845">
                  <a:moveTo>
                    <a:pt x="0" y="664220"/>
                  </a:moveTo>
                  <a:lnTo>
                    <a:pt x="446216" y="0"/>
                  </a:lnTo>
                  <a:lnTo>
                    <a:pt x="446216" y="664220"/>
                  </a:lnTo>
                  <a:lnTo>
                    <a:pt x="0" y="664220"/>
                  </a:lnTo>
                  <a:close/>
                </a:path>
              </a:pathLst>
            </a:custGeom>
            <a:ln w="13258">
              <a:solidFill>
                <a:srgbClr val="000000"/>
              </a:solidFill>
            </a:ln>
          </p:spPr>
          <p:txBody>
            <a:bodyPr wrap="square" lIns="0" tIns="0" rIns="0" bIns="0" rtlCol="0"/>
            <a:lstStyle/>
            <a:p/>
          </p:txBody>
        </p:sp>
        <p:sp>
          <p:nvSpPr>
            <p:cNvPr id="50" name="object 50" descr=""/>
            <p:cNvSpPr/>
            <p:nvPr/>
          </p:nvSpPr>
          <p:spPr>
            <a:xfrm>
              <a:off x="6100474" y="5396664"/>
              <a:ext cx="223520" cy="332105"/>
            </a:xfrm>
            <a:custGeom>
              <a:avLst/>
              <a:gdLst/>
              <a:ahLst/>
              <a:cxnLst/>
              <a:rect l="l" t="t" r="r" b="b"/>
              <a:pathLst>
                <a:path w="223520" h="332104">
                  <a:moveTo>
                    <a:pt x="0" y="0"/>
                  </a:moveTo>
                  <a:lnTo>
                    <a:pt x="223108" y="332110"/>
                  </a:lnTo>
                </a:path>
              </a:pathLst>
            </a:custGeom>
            <a:ln w="13258">
              <a:solidFill>
                <a:srgbClr val="000000"/>
              </a:solidFill>
            </a:ln>
          </p:spPr>
          <p:txBody>
            <a:bodyPr wrap="square" lIns="0" tIns="0" rIns="0" bIns="0" rtlCol="0"/>
            <a:lstStyle/>
            <a:p/>
          </p:txBody>
        </p:sp>
      </p:grpSp>
      <p:grpSp>
        <p:nvGrpSpPr>
          <p:cNvPr id="51" name="object 51" descr=""/>
          <p:cNvGrpSpPr/>
          <p:nvPr/>
        </p:nvGrpSpPr>
        <p:grpSpPr>
          <a:xfrm>
            <a:off x="6707164" y="5057794"/>
            <a:ext cx="459740" cy="678180"/>
            <a:chOff x="6707164" y="5057794"/>
            <a:chExt cx="459740" cy="678180"/>
          </a:xfrm>
        </p:grpSpPr>
        <p:sp>
          <p:nvSpPr>
            <p:cNvPr id="52" name="object 52" descr=""/>
            <p:cNvSpPr/>
            <p:nvPr/>
          </p:nvSpPr>
          <p:spPr>
            <a:xfrm>
              <a:off x="6713923" y="5064554"/>
              <a:ext cx="446405" cy="664845"/>
            </a:xfrm>
            <a:custGeom>
              <a:avLst/>
              <a:gdLst/>
              <a:ahLst/>
              <a:cxnLst/>
              <a:rect l="l" t="t" r="r" b="b"/>
              <a:pathLst>
                <a:path w="446404" h="664845">
                  <a:moveTo>
                    <a:pt x="0" y="0"/>
                  </a:moveTo>
                  <a:lnTo>
                    <a:pt x="0" y="664220"/>
                  </a:lnTo>
                  <a:lnTo>
                    <a:pt x="446216" y="664220"/>
                  </a:lnTo>
                  <a:lnTo>
                    <a:pt x="0" y="0"/>
                  </a:lnTo>
                  <a:close/>
                </a:path>
              </a:pathLst>
            </a:custGeom>
            <a:solidFill>
              <a:srgbClr val="C0C0C0"/>
            </a:solidFill>
          </p:spPr>
          <p:txBody>
            <a:bodyPr wrap="square" lIns="0" tIns="0" rIns="0" bIns="0" rtlCol="0"/>
            <a:lstStyle/>
            <a:p/>
          </p:txBody>
        </p:sp>
        <p:sp>
          <p:nvSpPr>
            <p:cNvPr id="53" name="object 53" descr=""/>
            <p:cNvSpPr/>
            <p:nvPr/>
          </p:nvSpPr>
          <p:spPr>
            <a:xfrm>
              <a:off x="6713923" y="5064554"/>
              <a:ext cx="446405" cy="664845"/>
            </a:xfrm>
            <a:custGeom>
              <a:avLst/>
              <a:gdLst/>
              <a:ahLst/>
              <a:cxnLst/>
              <a:rect l="l" t="t" r="r" b="b"/>
              <a:pathLst>
                <a:path w="446404" h="664845">
                  <a:moveTo>
                    <a:pt x="0" y="0"/>
                  </a:moveTo>
                  <a:lnTo>
                    <a:pt x="446216" y="664220"/>
                  </a:lnTo>
                  <a:lnTo>
                    <a:pt x="0" y="664220"/>
                  </a:lnTo>
                  <a:lnTo>
                    <a:pt x="0" y="0"/>
                  </a:lnTo>
                  <a:close/>
                </a:path>
              </a:pathLst>
            </a:custGeom>
            <a:ln w="13258">
              <a:solidFill>
                <a:srgbClr val="000000"/>
              </a:solidFill>
            </a:ln>
          </p:spPr>
          <p:txBody>
            <a:bodyPr wrap="square" lIns="0" tIns="0" rIns="0" bIns="0" rtlCol="0"/>
            <a:lstStyle/>
            <a:p/>
          </p:txBody>
        </p:sp>
        <p:sp>
          <p:nvSpPr>
            <p:cNvPr id="54" name="object 54" descr=""/>
            <p:cNvSpPr/>
            <p:nvPr/>
          </p:nvSpPr>
          <p:spPr>
            <a:xfrm>
              <a:off x="6713923" y="5064554"/>
              <a:ext cx="446405" cy="664845"/>
            </a:xfrm>
            <a:custGeom>
              <a:avLst/>
              <a:gdLst/>
              <a:ahLst/>
              <a:cxnLst/>
              <a:rect l="l" t="t" r="r" b="b"/>
              <a:pathLst>
                <a:path w="446404" h="664845">
                  <a:moveTo>
                    <a:pt x="446216" y="0"/>
                  </a:moveTo>
                  <a:lnTo>
                    <a:pt x="0" y="664220"/>
                  </a:lnTo>
                  <a:lnTo>
                    <a:pt x="446216" y="664220"/>
                  </a:lnTo>
                  <a:lnTo>
                    <a:pt x="446216" y="0"/>
                  </a:lnTo>
                  <a:close/>
                </a:path>
              </a:pathLst>
            </a:custGeom>
            <a:solidFill>
              <a:srgbClr val="C0C0C0"/>
            </a:solidFill>
          </p:spPr>
          <p:txBody>
            <a:bodyPr wrap="square" lIns="0" tIns="0" rIns="0" bIns="0" rtlCol="0"/>
            <a:lstStyle/>
            <a:p/>
          </p:txBody>
        </p:sp>
        <p:sp>
          <p:nvSpPr>
            <p:cNvPr id="55" name="object 55" descr=""/>
            <p:cNvSpPr/>
            <p:nvPr/>
          </p:nvSpPr>
          <p:spPr>
            <a:xfrm>
              <a:off x="6713923" y="5064554"/>
              <a:ext cx="446405" cy="664845"/>
            </a:xfrm>
            <a:custGeom>
              <a:avLst/>
              <a:gdLst/>
              <a:ahLst/>
              <a:cxnLst/>
              <a:rect l="l" t="t" r="r" b="b"/>
              <a:pathLst>
                <a:path w="446404" h="664845">
                  <a:moveTo>
                    <a:pt x="0" y="664220"/>
                  </a:moveTo>
                  <a:lnTo>
                    <a:pt x="446216" y="0"/>
                  </a:lnTo>
                  <a:lnTo>
                    <a:pt x="446216" y="664220"/>
                  </a:lnTo>
                  <a:lnTo>
                    <a:pt x="0" y="664220"/>
                  </a:lnTo>
                  <a:close/>
                </a:path>
              </a:pathLst>
            </a:custGeom>
            <a:ln w="13258">
              <a:solidFill>
                <a:srgbClr val="000000"/>
              </a:solidFill>
            </a:ln>
          </p:spPr>
          <p:txBody>
            <a:bodyPr wrap="square" lIns="0" tIns="0" rIns="0" bIns="0" rtlCol="0"/>
            <a:lstStyle/>
            <a:p/>
          </p:txBody>
        </p:sp>
        <p:sp>
          <p:nvSpPr>
            <p:cNvPr id="56" name="object 56" descr=""/>
            <p:cNvSpPr/>
            <p:nvPr/>
          </p:nvSpPr>
          <p:spPr>
            <a:xfrm>
              <a:off x="6937032" y="5396664"/>
              <a:ext cx="223520" cy="332105"/>
            </a:xfrm>
            <a:custGeom>
              <a:avLst/>
              <a:gdLst/>
              <a:ahLst/>
              <a:cxnLst/>
              <a:rect l="l" t="t" r="r" b="b"/>
              <a:pathLst>
                <a:path w="223520" h="332104">
                  <a:moveTo>
                    <a:pt x="0" y="0"/>
                  </a:moveTo>
                  <a:lnTo>
                    <a:pt x="223108" y="332110"/>
                  </a:lnTo>
                </a:path>
              </a:pathLst>
            </a:custGeom>
            <a:ln w="13258">
              <a:solidFill>
                <a:srgbClr val="000000"/>
              </a:solidFill>
            </a:ln>
          </p:spPr>
          <p:txBody>
            <a:bodyPr wrap="square" lIns="0" tIns="0" rIns="0" bIns="0" rtlCol="0"/>
            <a:lstStyle/>
            <a:p/>
          </p:txBody>
        </p:sp>
      </p:grpSp>
      <p:grpSp>
        <p:nvGrpSpPr>
          <p:cNvPr id="57" name="object 57" descr=""/>
          <p:cNvGrpSpPr/>
          <p:nvPr/>
        </p:nvGrpSpPr>
        <p:grpSpPr>
          <a:xfrm>
            <a:off x="7543722" y="5057794"/>
            <a:ext cx="459740" cy="678180"/>
            <a:chOff x="7543722" y="5057794"/>
            <a:chExt cx="459740" cy="678180"/>
          </a:xfrm>
        </p:grpSpPr>
        <p:sp>
          <p:nvSpPr>
            <p:cNvPr id="58" name="object 58" descr=""/>
            <p:cNvSpPr/>
            <p:nvPr/>
          </p:nvSpPr>
          <p:spPr>
            <a:xfrm>
              <a:off x="7550482" y="5064554"/>
              <a:ext cx="446405" cy="664845"/>
            </a:xfrm>
            <a:custGeom>
              <a:avLst/>
              <a:gdLst/>
              <a:ahLst/>
              <a:cxnLst/>
              <a:rect l="l" t="t" r="r" b="b"/>
              <a:pathLst>
                <a:path w="446404" h="664845">
                  <a:moveTo>
                    <a:pt x="0" y="0"/>
                  </a:moveTo>
                  <a:lnTo>
                    <a:pt x="0" y="664220"/>
                  </a:lnTo>
                  <a:lnTo>
                    <a:pt x="446216" y="664220"/>
                  </a:lnTo>
                  <a:lnTo>
                    <a:pt x="0" y="0"/>
                  </a:lnTo>
                  <a:close/>
                </a:path>
              </a:pathLst>
            </a:custGeom>
            <a:solidFill>
              <a:srgbClr val="C0C0C0"/>
            </a:solidFill>
          </p:spPr>
          <p:txBody>
            <a:bodyPr wrap="square" lIns="0" tIns="0" rIns="0" bIns="0" rtlCol="0"/>
            <a:lstStyle/>
            <a:p/>
          </p:txBody>
        </p:sp>
        <p:sp>
          <p:nvSpPr>
            <p:cNvPr id="59" name="object 59" descr=""/>
            <p:cNvSpPr/>
            <p:nvPr/>
          </p:nvSpPr>
          <p:spPr>
            <a:xfrm>
              <a:off x="7550482" y="5064554"/>
              <a:ext cx="446405" cy="664845"/>
            </a:xfrm>
            <a:custGeom>
              <a:avLst/>
              <a:gdLst/>
              <a:ahLst/>
              <a:cxnLst/>
              <a:rect l="l" t="t" r="r" b="b"/>
              <a:pathLst>
                <a:path w="446404" h="664845">
                  <a:moveTo>
                    <a:pt x="0" y="0"/>
                  </a:moveTo>
                  <a:lnTo>
                    <a:pt x="446216" y="664220"/>
                  </a:lnTo>
                  <a:lnTo>
                    <a:pt x="0" y="664220"/>
                  </a:lnTo>
                  <a:lnTo>
                    <a:pt x="0" y="0"/>
                  </a:lnTo>
                  <a:close/>
                </a:path>
              </a:pathLst>
            </a:custGeom>
            <a:ln w="13258">
              <a:solidFill>
                <a:srgbClr val="000000"/>
              </a:solidFill>
            </a:ln>
          </p:spPr>
          <p:txBody>
            <a:bodyPr wrap="square" lIns="0" tIns="0" rIns="0" bIns="0" rtlCol="0"/>
            <a:lstStyle/>
            <a:p/>
          </p:txBody>
        </p:sp>
        <p:sp>
          <p:nvSpPr>
            <p:cNvPr id="60" name="object 60" descr=""/>
            <p:cNvSpPr/>
            <p:nvPr/>
          </p:nvSpPr>
          <p:spPr>
            <a:xfrm>
              <a:off x="7550482" y="5064554"/>
              <a:ext cx="446405" cy="664845"/>
            </a:xfrm>
            <a:custGeom>
              <a:avLst/>
              <a:gdLst/>
              <a:ahLst/>
              <a:cxnLst/>
              <a:rect l="l" t="t" r="r" b="b"/>
              <a:pathLst>
                <a:path w="446404" h="664845">
                  <a:moveTo>
                    <a:pt x="446216" y="0"/>
                  </a:moveTo>
                  <a:lnTo>
                    <a:pt x="0" y="664220"/>
                  </a:lnTo>
                  <a:lnTo>
                    <a:pt x="446216" y="664220"/>
                  </a:lnTo>
                  <a:lnTo>
                    <a:pt x="446216" y="0"/>
                  </a:lnTo>
                  <a:close/>
                </a:path>
              </a:pathLst>
            </a:custGeom>
            <a:solidFill>
              <a:srgbClr val="C0C0C0"/>
            </a:solidFill>
          </p:spPr>
          <p:txBody>
            <a:bodyPr wrap="square" lIns="0" tIns="0" rIns="0" bIns="0" rtlCol="0"/>
            <a:lstStyle/>
            <a:p/>
          </p:txBody>
        </p:sp>
        <p:sp>
          <p:nvSpPr>
            <p:cNvPr id="61" name="object 61" descr=""/>
            <p:cNvSpPr/>
            <p:nvPr/>
          </p:nvSpPr>
          <p:spPr>
            <a:xfrm>
              <a:off x="7550482" y="5064554"/>
              <a:ext cx="446405" cy="664845"/>
            </a:xfrm>
            <a:custGeom>
              <a:avLst/>
              <a:gdLst/>
              <a:ahLst/>
              <a:cxnLst/>
              <a:rect l="l" t="t" r="r" b="b"/>
              <a:pathLst>
                <a:path w="446404" h="664845">
                  <a:moveTo>
                    <a:pt x="0" y="664220"/>
                  </a:moveTo>
                  <a:lnTo>
                    <a:pt x="446216" y="0"/>
                  </a:lnTo>
                  <a:lnTo>
                    <a:pt x="446216" y="664220"/>
                  </a:lnTo>
                  <a:lnTo>
                    <a:pt x="0" y="664220"/>
                  </a:lnTo>
                  <a:close/>
                </a:path>
              </a:pathLst>
            </a:custGeom>
            <a:ln w="13258">
              <a:solidFill>
                <a:srgbClr val="000000"/>
              </a:solidFill>
            </a:ln>
          </p:spPr>
          <p:txBody>
            <a:bodyPr wrap="square" lIns="0" tIns="0" rIns="0" bIns="0" rtlCol="0"/>
            <a:lstStyle/>
            <a:p/>
          </p:txBody>
        </p:sp>
        <p:sp>
          <p:nvSpPr>
            <p:cNvPr id="62" name="object 62" descr=""/>
            <p:cNvSpPr/>
            <p:nvPr/>
          </p:nvSpPr>
          <p:spPr>
            <a:xfrm>
              <a:off x="7773590" y="5396664"/>
              <a:ext cx="223520" cy="332105"/>
            </a:xfrm>
            <a:custGeom>
              <a:avLst/>
              <a:gdLst/>
              <a:ahLst/>
              <a:cxnLst/>
              <a:rect l="l" t="t" r="r" b="b"/>
              <a:pathLst>
                <a:path w="223520" h="332104">
                  <a:moveTo>
                    <a:pt x="0" y="0"/>
                  </a:moveTo>
                  <a:lnTo>
                    <a:pt x="223108" y="332110"/>
                  </a:lnTo>
                </a:path>
              </a:pathLst>
            </a:custGeom>
            <a:ln w="13258">
              <a:solidFill>
                <a:srgbClr val="000000"/>
              </a:solidFill>
            </a:ln>
          </p:spPr>
          <p:txBody>
            <a:bodyPr wrap="square" lIns="0" tIns="0" rIns="0" bIns="0" rtlCol="0"/>
            <a:lstStyle/>
            <a:p/>
          </p:txBody>
        </p:sp>
      </p:grpSp>
      <p:grpSp>
        <p:nvGrpSpPr>
          <p:cNvPr id="63" name="object 63" descr=""/>
          <p:cNvGrpSpPr/>
          <p:nvPr/>
        </p:nvGrpSpPr>
        <p:grpSpPr>
          <a:xfrm>
            <a:off x="8380279" y="5057794"/>
            <a:ext cx="459740" cy="678180"/>
            <a:chOff x="8380279" y="5057794"/>
            <a:chExt cx="459740" cy="678180"/>
          </a:xfrm>
        </p:grpSpPr>
        <p:sp>
          <p:nvSpPr>
            <p:cNvPr id="64" name="object 64" descr=""/>
            <p:cNvSpPr/>
            <p:nvPr/>
          </p:nvSpPr>
          <p:spPr>
            <a:xfrm>
              <a:off x="8387039" y="5064554"/>
              <a:ext cx="446405" cy="664845"/>
            </a:xfrm>
            <a:custGeom>
              <a:avLst/>
              <a:gdLst/>
              <a:ahLst/>
              <a:cxnLst/>
              <a:rect l="l" t="t" r="r" b="b"/>
              <a:pathLst>
                <a:path w="446404" h="664845">
                  <a:moveTo>
                    <a:pt x="0" y="0"/>
                  </a:moveTo>
                  <a:lnTo>
                    <a:pt x="0" y="664220"/>
                  </a:lnTo>
                  <a:lnTo>
                    <a:pt x="446216" y="664220"/>
                  </a:lnTo>
                  <a:lnTo>
                    <a:pt x="0" y="0"/>
                  </a:lnTo>
                  <a:close/>
                </a:path>
              </a:pathLst>
            </a:custGeom>
            <a:solidFill>
              <a:srgbClr val="C0C0C0"/>
            </a:solidFill>
          </p:spPr>
          <p:txBody>
            <a:bodyPr wrap="square" lIns="0" tIns="0" rIns="0" bIns="0" rtlCol="0"/>
            <a:lstStyle/>
            <a:p/>
          </p:txBody>
        </p:sp>
        <p:sp>
          <p:nvSpPr>
            <p:cNvPr id="65" name="object 65" descr=""/>
            <p:cNvSpPr/>
            <p:nvPr/>
          </p:nvSpPr>
          <p:spPr>
            <a:xfrm>
              <a:off x="8387039" y="5064554"/>
              <a:ext cx="446405" cy="664845"/>
            </a:xfrm>
            <a:custGeom>
              <a:avLst/>
              <a:gdLst/>
              <a:ahLst/>
              <a:cxnLst/>
              <a:rect l="l" t="t" r="r" b="b"/>
              <a:pathLst>
                <a:path w="446404" h="664845">
                  <a:moveTo>
                    <a:pt x="0" y="0"/>
                  </a:moveTo>
                  <a:lnTo>
                    <a:pt x="446216" y="664220"/>
                  </a:lnTo>
                  <a:lnTo>
                    <a:pt x="0" y="664220"/>
                  </a:lnTo>
                  <a:lnTo>
                    <a:pt x="0" y="0"/>
                  </a:lnTo>
                  <a:close/>
                </a:path>
              </a:pathLst>
            </a:custGeom>
            <a:ln w="13258">
              <a:solidFill>
                <a:srgbClr val="000000"/>
              </a:solidFill>
            </a:ln>
          </p:spPr>
          <p:txBody>
            <a:bodyPr wrap="square" lIns="0" tIns="0" rIns="0" bIns="0" rtlCol="0"/>
            <a:lstStyle/>
            <a:p/>
          </p:txBody>
        </p:sp>
      </p:gr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107/89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318617" y="547911"/>
            <a:ext cx="11481435" cy="5440045"/>
          </a:xfrm>
          <a:prstGeom prst="rect">
            <a:avLst/>
          </a:prstGeom>
        </p:spPr>
        <p:txBody>
          <a:bodyPr wrap="square" lIns="0" tIns="121920" rIns="0" bIns="0" rtlCol="0" vert="horz">
            <a:spAutoFit/>
          </a:bodyPr>
          <a:lstStyle/>
          <a:p>
            <a:pPr marL="389255" indent="-376555">
              <a:lnSpc>
                <a:spcPct val="100000"/>
              </a:lnSpc>
              <a:spcBef>
                <a:spcPts val="960"/>
              </a:spcBef>
              <a:buFont typeface="Tahoma"/>
              <a:buAutoNum type="arabicPeriod"/>
              <a:tabLst>
                <a:tab pos="389255" algn="l"/>
              </a:tabLst>
            </a:pPr>
            <a:r>
              <a:rPr dirty="0" sz="2400" spc="-20" b="1">
                <a:solidFill>
                  <a:srgbClr val="E14B04"/>
                </a:solidFill>
                <a:latin typeface="黑体"/>
                <a:cs typeface="黑体"/>
              </a:rPr>
              <a:t>分支预测（硬件方案</a:t>
            </a:r>
            <a:r>
              <a:rPr dirty="0" sz="2400" spc="-50" b="1">
                <a:solidFill>
                  <a:srgbClr val="E14B04"/>
                </a:solidFill>
                <a:latin typeface="黑体"/>
                <a:cs typeface="黑体"/>
              </a:rPr>
              <a:t>）</a:t>
            </a:r>
            <a:endParaRPr sz="2400">
              <a:latin typeface="黑体"/>
              <a:cs typeface="黑体"/>
            </a:endParaRPr>
          </a:p>
          <a:p>
            <a:pPr marL="368935">
              <a:lnSpc>
                <a:spcPct val="100000"/>
              </a:lnSpc>
              <a:spcBef>
                <a:spcPts val="865"/>
              </a:spcBef>
            </a:pPr>
            <a:r>
              <a:rPr dirty="0" sz="2400" spc="-10" b="1">
                <a:solidFill>
                  <a:srgbClr val="006FC0"/>
                </a:solidFill>
                <a:latin typeface="Tahoma"/>
                <a:cs typeface="Tahoma"/>
              </a:rPr>
              <a:t>****</a:t>
            </a:r>
            <a:r>
              <a:rPr dirty="0" sz="2400" spc="-30" b="1">
                <a:solidFill>
                  <a:srgbClr val="006FC0"/>
                </a:solidFill>
                <a:latin typeface="黑体"/>
                <a:cs typeface="黑体"/>
              </a:rPr>
              <a:t>硬件预测分支方向，若提前预测成功则执行成功分支，检测条件确实为真，</a:t>
            </a:r>
            <a:endParaRPr sz="2400">
              <a:latin typeface="黑体"/>
              <a:cs typeface="黑体"/>
            </a:endParaRPr>
          </a:p>
          <a:p>
            <a:pPr marL="355600">
              <a:lnSpc>
                <a:spcPct val="100000"/>
              </a:lnSpc>
              <a:spcBef>
                <a:spcPts val="290"/>
              </a:spcBef>
            </a:pPr>
            <a:r>
              <a:rPr dirty="0" sz="2400" spc="-25" b="1">
                <a:solidFill>
                  <a:srgbClr val="006FC0"/>
                </a:solidFill>
                <a:latin typeface="黑体"/>
                <a:cs typeface="黑体"/>
              </a:rPr>
              <a:t>结果提交；若预测错误，清空流水线</a:t>
            </a:r>
            <a:endParaRPr sz="2400">
              <a:latin typeface="黑体"/>
              <a:cs typeface="黑体"/>
            </a:endParaRPr>
          </a:p>
          <a:p>
            <a:pPr marL="389255" indent="-376555">
              <a:lnSpc>
                <a:spcPct val="100000"/>
              </a:lnSpc>
              <a:spcBef>
                <a:spcPts val="865"/>
              </a:spcBef>
              <a:buFont typeface="Tahoma"/>
              <a:buAutoNum type="arabicPeriod" startAt="2"/>
              <a:tabLst>
                <a:tab pos="389255" algn="l"/>
              </a:tabLst>
            </a:pPr>
            <a:r>
              <a:rPr dirty="0" sz="2400" spc="-20" b="1">
                <a:solidFill>
                  <a:srgbClr val="E14B04"/>
                </a:solidFill>
                <a:latin typeface="黑体"/>
                <a:cs typeface="黑体"/>
              </a:rPr>
              <a:t>谓词执行</a:t>
            </a:r>
            <a:r>
              <a:rPr dirty="0" sz="2400" spc="-10" b="1">
                <a:solidFill>
                  <a:srgbClr val="E14B04"/>
                </a:solidFill>
                <a:latin typeface="黑体"/>
                <a:cs typeface="黑体"/>
              </a:rPr>
              <a:t>（</a:t>
            </a:r>
            <a:r>
              <a:rPr dirty="0" sz="2400" spc="-10" b="1">
                <a:solidFill>
                  <a:srgbClr val="E14B04"/>
                </a:solidFill>
                <a:latin typeface="Tahoma"/>
                <a:cs typeface="Tahoma"/>
              </a:rPr>
              <a:t>EPIC</a:t>
            </a:r>
            <a:r>
              <a:rPr dirty="0" sz="2400" spc="-20" b="1">
                <a:solidFill>
                  <a:srgbClr val="E14B04"/>
                </a:solidFill>
                <a:latin typeface="黑体"/>
                <a:cs typeface="黑体"/>
              </a:rPr>
              <a:t>技术</a:t>
            </a:r>
            <a:r>
              <a:rPr dirty="0" sz="2400" spc="-50" b="1">
                <a:solidFill>
                  <a:srgbClr val="E14B04"/>
                </a:solidFill>
                <a:latin typeface="黑体"/>
                <a:cs typeface="黑体"/>
              </a:rPr>
              <a:t>）</a:t>
            </a:r>
            <a:endParaRPr sz="2400">
              <a:latin typeface="黑体"/>
              <a:cs typeface="黑体"/>
            </a:endParaRPr>
          </a:p>
          <a:p>
            <a:pPr marL="368935">
              <a:lnSpc>
                <a:spcPct val="100000"/>
              </a:lnSpc>
              <a:spcBef>
                <a:spcPts val="860"/>
              </a:spcBef>
            </a:pPr>
            <a:r>
              <a:rPr dirty="0" sz="2400" spc="-10" b="1">
                <a:solidFill>
                  <a:srgbClr val="006FC0"/>
                </a:solidFill>
                <a:latin typeface="Tahoma"/>
                <a:cs typeface="Tahoma"/>
              </a:rPr>
              <a:t>****</a:t>
            </a:r>
            <a:r>
              <a:rPr dirty="0" sz="2400" spc="-30" b="1">
                <a:solidFill>
                  <a:srgbClr val="006FC0"/>
                </a:solidFill>
                <a:latin typeface="黑体"/>
                <a:cs typeface="黑体"/>
              </a:rPr>
              <a:t>计算谓词条件，为真执行，为假执行空操作。消除分支，两条指令都进入流</a:t>
            </a:r>
            <a:endParaRPr sz="2400">
              <a:latin typeface="黑体"/>
              <a:cs typeface="黑体"/>
            </a:endParaRPr>
          </a:p>
          <a:p>
            <a:pPr marL="355600">
              <a:lnSpc>
                <a:spcPct val="100000"/>
              </a:lnSpc>
              <a:spcBef>
                <a:spcPts val="290"/>
              </a:spcBef>
            </a:pPr>
            <a:r>
              <a:rPr dirty="0" sz="2400" spc="-25" b="1">
                <a:solidFill>
                  <a:srgbClr val="006FC0"/>
                </a:solidFill>
                <a:latin typeface="黑体"/>
                <a:cs typeface="黑体"/>
              </a:rPr>
              <a:t>水线。将控制相关转换为数据相关。</a:t>
            </a:r>
            <a:endParaRPr sz="2400">
              <a:latin typeface="黑体"/>
              <a:cs typeface="黑体"/>
            </a:endParaRPr>
          </a:p>
          <a:p>
            <a:pPr algn="just" marL="389255" indent="-376555">
              <a:lnSpc>
                <a:spcPct val="100000"/>
              </a:lnSpc>
              <a:spcBef>
                <a:spcPts val="865"/>
              </a:spcBef>
              <a:buFont typeface="Tahoma"/>
              <a:buAutoNum type="arabicPeriod" startAt="3"/>
              <a:tabLst>
                <a:tab pos="389255" algn="l"/>
              </a:tabLst>
            </a:pPr>
            <a:r>
              <a:rPr dirty="0" sz="2400" spc="-20" b="1">
                <a:solidFill>
                  <a:srgbClr val="E14B04"/>
                </a:solidFill>
                <a:latin typeface="黑体"/>
                <a:cs typeface="黑体"/>
              </a:rPr>
              <a:t>控制前瞻（软件方案</a:t>
            </a:r>
            <a:r>
              <a:rPr dirty="0" sz="2400" spc="-50" b="1">
                <a:solidFill>
                  <a:srgbClr val="E14B04"/>
                </a:solidFill>
                <a:latin typeface="黑体"/>
                <a:cs typeface="黑体"/>
              </a:rPr>
              <a:t>）</a:t>
            </a:r>
            <a:endParaRPr sz="2400">
              <a:latin typeface="黑体"/>
              <a:cs typeface="黑体"/>
            </a:endParaRPr>
          </a:p>
          <a:p>
            <a:pPr algn="just" marL="355600" marR="5080" indent="-76200">
              <a:lnSpc>
                <a:spcPct val="110000"/>
              </a:lnSpc>
              <a:spcBef>
                <a:spcPts val="575"/>
              </a:spcBef>
            </a:pPr>
            <a:r>
              <a:rPr dirty="0" sz="2400" spc="-10" b="1">
                <a:solidFill>
                  <a:srgbClr val="006FC0"/>
                </a:solidFill>
                <a:latin typeface="Tahoma"/>
                <a:cs typeface="Tahoma"/>
              </a:rPr>
              <a:t>****</a:t>
            </a:r>
            <a:r>
              <a:rPr dirty="0" sz="2400" spc="-30" b="1">
                <a:solidFill>
                  <a:srgbClr val="006FC0"/>
                </a:solidFill>
                <a:latin typeface="黑体"/>
                <a:cs typeface="黑体"/>
              </a:rPr>
              <a:t>假设条件为真或为假概率高的一方，选择对应的路径，提前将指令加载到分支</a:t>
            </a:r>
            <a:r>
              <a:rPr dirty="0" sz="2400" spc="-25" b="1">
                <a:solidFill>
                  <a:srgbClr val="006FC0"/>
                </a:solidFill>
                <a:latin typeface="黑体"/>
                <a:cs typeface="黑体"/>
              </a:rPr>
              <a:t>指令前，然后执行，不触发异常；若条件确定为真，前瞻执行正确，该指令确保程序结果正常；若条件确定为假，前瞻失败，重新非前瞻地执行加载。</a:t>
            </a:r>
            <a:endParaRPr sz="2400">
              <a:latin typeface="黑体"/>
              <a:cs typeface="黑体"/>
            </a:endParaRPr>
          </a:p>
          <a:p>
            <a:pPr algn="just" marL="389255" indent="-376555">
              <a:lnSpc>
                <a:spcPct val="100000"/>
              </a:lnSpc>
              <a:spcBef>
                <a:spcPts val="865"/>
              </a:spcBef>
              <a:buFont typeface="Tahoma"/>
              <a:buAutoNum type="arabicPeriod" startAt="4"/>
              <a:tabLst>
                <a:tab pos="389255" algn="l"/>
              </a:tabLst>
            </a:pPr>
            <a:r>
              <a:rPr dirty="0" sz="2400" spc="-35" b="1">
                <a:solidFill>
                  <a:srgbClr val="E14B04"/>
                </a:solidFill>
                <a:latin typeface="黑体"/>
                <a:cs typeface="黑体"/>
              </a:rPr>
              <a:t>循环展开</a:t>
            </a:r>
            <a:endParaRPr sz="2400">
              <a:latin typeface="黑体"/>
              <a:cs typeface="黑体"/>
            </a:endParaRPr>
          </a:p>
          <a:p>
            <a:pPr marL="279400">
              <a:lnSpc>
                <a:spcPct val="100000"/>
              </a:lnSpc>
              <a:spcBef>
                <a:spcPts val="870"/>
              </a:spcBef>
            </a:pPr>
            <a:r>
              <a:rPr dirty="0" sz="2400" spc="-10" b="1">
                <a:solidFill>
                  <a:srgbClr val="006FC0"/>
                </a:solidFill>
                <a:latin typeface="Tahoma"/>
                <a:cs typeface="Tahoma"/>
              </a:rPr>
              <a:t>****</a:t>
            </a:r>
            <a:r>
              <a:rPr dirty="0" sz="2400" spc="-25" b="1">
                <a:solidFill>
                  <a:srgbClr val="006FC0"/>
                </a:solidFill>
                <a:latin typeface="黑体"/>
                <a:cs typeface="黑体"/>
              </a:rPr>
              <a:t>复制循环体，适当改变循环条件，挖掘指令间的并行，减少循环开销。</a:t>
            </a:r>
            <a:endParaRPr sz="2400">
              <a:latin typeface="黑体"/>
              <a:cs typeface="黑体"/>
            </a:endParaRPr>
          </a:p>
        </p:txBody>
      </p:sp>
      <p:sp>
        <p:nvSpPr>
          <p:cNvPr id="9" name="object 9"/>
          <p:cNvSpPr txBox="1">
            <a:spLocks noGrp="1"/>
          </p:cNvSpPr>
          <p:nvPr>
            <p:ph type="title"/>
          </p:nvPr>
        </p:nvSpPr>
        <p:spPr>
          <a:xfrm>
            <a:off x="1403350" y="127838"/>
            <a:ext cx="10801350" cy="514350"/>
          </a:xfrm>
          <a:prstGeom prst="rect"/>
        </p:spPr>
        <p:txBody>
          <a:bodyPr wrap="square" lIns="0" tIns="13335" rIns="0" bIns="0" rtlCol="0" vert="horz">
            <a:spAutoFit/>
          </a:bodyPr>
          <a:lstStyle/>
          <a:p>
            <a:pPr marL="12700">
              <a:lnSpc>
                <a:spcPct val="100000"/>
              </a:lnSpc>
              <a:spcBef>
                <a:spcPts val="105"/>
              </a:spcBef>
              <a:tabLst>
                <a:tab pos="1442720" algn="l"/>
                <a:tab pos="10788015" algn="l"/>
              </a:tabLst>
            </a:pPr>
            <a:r>
              <a:rPr dirty="0">
                <a:latin typeface="Times New Roman"/>
                <a:cs typeface="Times New Roman"/>
              </a:rPr>
              <a:t>	</a:t>
            </a:r>
            <a:r>
              <a:rPr dirty="0"/>
              <a:t>总结</a:t>
            </a:r>
            <a:r>
              <a:rPr dirty="0" spc="-15"/>
              <a:t>：</a:t>
            </a:r>
            <a:r>
              <a:rPr dirty="0"/>
              <a:t>控制</a:t>
            </a:r>
            <a:r>
              <a:rPr dirty="0" spc="-15"/>
              <a:t>相</a:t>
            </a:r>
            <a:r>
              <a:rPr dirty="0"/>
              <a:t>关解</a:t>
            </a:r>
            <a:r>
              <a:rPr dirty="0" spc="-15"/>
              <a:t>决</a:t>
            </a:r>
            <a:r>
              <a:rPr dirty="0"/>
              <a:t>方</a:t>
            </a:r>
            <a:r>
              <a:rPr dirty="0" spc="-50"/>
              <a:t>法</a:t>
            </a:r>
            <a:r>
              <a:rPr dirty="0"/>
              <a:t>	</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108/89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318617" y="547911"/>
            <a:ext cx="11343005" cy="4707890"/>
          </a:xfrm>
          <a:prstGeom prst="rect">
            <a:avLst/>
          </a:prstGeom>
        </p:spPr>
        <p:txBody>
          <a:bodyPr wrap="square" lIns="0" tIns="121920" rIns="0" bIns="0" rtlCol="0" vert="horz">
            <a:spAutoFit/>
          </a:bodyPr>
          <a:lstStyle/>
          <a:p>
            <a:pPr marL="389255" indent="-376555">
              <a:lnSpc>
                <a:spcPct val="100000"/>
              </a:lnSpc>
              <a:spcBef>
                <a:spcPts val="960"/>
              </a:spcBef>
              <a:buFont typeface="Tahoma"/>
              <a:buAutoNum type="arabicPeriod"/>
              <a:tabLst>
                <a:tab pos="389255" algn="l"/>
              </a:tabLst>
            </a:pPr>
            <a:r>
              <a:rPr dirty="0" sz="2400" spc="-25" b="1">
                <a:solidFill>
                  <a:srgbClr val="E14B04"/>
                </a:solidFill>
                <a:latin typeface="黑体"/>
                <a:cs typeface="黑体"/>
              </a:rPr>
              <a:t>指令间存在相关</a:t>
            </a:r>
            <a:endParaRPr sz="2400">
              <a:latin typeface="黑体"/>
              <a:cs typeface="黑体"/>
            </a:endParaRPr>
          </a:p>
          <a:p>
            <a:pPr marL="368935">
              <a:lnSpc>
                <a:spcPct val="100000"/>
              </a:lnSpc>
              <a:spcBef>
                <a:spcPts val="865"/>
              </a:spcBef>
            </a:pPr>
            <a:r>
              <a:rPr dirty="0" sz="2400" b="1">
                <a:solidFill>
                  <a:srgbClr val="006FC0"/>
                </a:solidFill>
                <a:latin typeface="Tahoma"/>
                <a:cs typeface="Tahoma"/>
              </a:rPr>
              <a:t>****</a:t>
            </a:r>
            <a:r>
              <a:rPr dirty="0" sz="2400" spc="25" b="1">
                <a:solidFill>
                  <a:srgbClr val="006FC0"/>
                </a:solidFill>
                <a:latin typeface="Tahoma"/>
                <a:cs typeface="Tahoma"/>
              </a:rPr>
              <a:t> </a:t>
            </a:r>
            <a:r>
              <a:rPr dirty="0" sz="2400" spc="-30" b="1">
                <a:solidFill>
                  <a:srgbClr val="006FC0"/>
                </a:solidFill>
                <a:latin typeface="黑体"/>
                <a:cs typeface="黑体"/>
              </a:rPr>
              <a:t>名相关、数据相关、控制相关</a:t>
            </a:r>
            <a:endParaRPr sz="2400">
              <a:latin typeface="黑体"/>
              <a:cs typeface="黑体"/>
            </a:endParaRPr>
          </a:p>
          <a:p>
            <a:pPr marL="389255" indent="-376555">
              <a:lnSpc>
                <a:spcPct val="100000"/>
              </a:lnSpc>
              <a:spcBef>
                <a:spcPts val="865"/>
              </a:spcBef>
              <a:buClr>
                <a:srgbClr val="006FC0"/>
              </a:buClr>
              <a:buFont typeface="Tahoma"/>
              <a:buAutoNum type="arabicPeriod" startAt="2"/>
              <a:tabLst>
                <a:tab pos="389255" algn="l"/>
              </a:tabLst>
            </a:pPr>
            <a:r>
              <a:rPr dirty="0" sz="2400" spc="-25" b="1">
                <a:solidFill>
                  <a:srgbClr val="E14B04"/>
                </a:solidFill>
                <a:latin typeface="黑体"/>
                <a:cs typeface="黑体"/>
              </a:rPr>
              <a:t>相关造成流水线冲突</a:t>
            </a:r>
            <a:endParaRPr sz="2400">
              <a:latin typeface="黑体"/>
              <a:cs typeface="黑体"/>
            </a:endParaRPr>
          </a:p>
          <a:p>
            <a:pPr marL="368935">
              <a:lnSpc>
                <a:spcPct val="100000"/>
              </a:lnSpc>
              <a:spcBef>
                <a:spcPts val="865"/>
              </a:spcBef>
            </a:pPr>
            <a:r>
              <a:rPr dirty="0" sz="2400" spc="-10" b="1">
                <a:solidFill>
                  <a:srgbClr val="006FC0"/>
                </a:solidFill>
                <a:latin typeface="Tahoma"/>
                <a:cs typeface="Tahoma"/>
              </a:rPr>
              <a:t>****</a:t>
            </a:r>
            <a:r>
              <a:rPr dirty="0" sz="2400" spc="-25" b="1">
                <a:solidFill>
                  <a:srgbClr val="006FC0"/>
                </a:solidFill>
                <a:latin typeface="黑体"/>
                <a:cs typeface="黑体"/>
              </a:rPr>
              <a:t>数据冲突，结构冲突，控制冲突。</a:t>
            </a:r>
            <a:endParaRPr sz="2400">
              <a:latin typeface="黑体"/>
              <a:cs typeface="黑体"/>
            </a:endParaRPr>
          </a:p>
          <a:p>
            <a:pPr marL="389255" indent="-376555">
              <a:lnSpc>
                <a:spcPct val="100000"/>
              </a:lnSpc>
              <a:spcBef>
                <a:spcPts val="865"/>
              </a:spcBef>
              <a:buFont typeface="Tahoma"/>
              <a:buAutoNum type="arabicPeriod" startAt="3"/>
              <a:tabLst>
                <a:tab pos="389255" algn="l"/>
              </a:tabLst>
            </a:pPr>
            <a:r>
              <a:rPr dirty="0" sz="2400" spc="-30" b="1">
                <a:solidFill>
                  <a:srgbClr val="E14B04"/>
                </a:solidFill>
                <a:latin typeface="黑体"/>
                <a:cs typeface="黑体"/>
              </a:rPr>
              <a:t>冲突降低了流水线效率，如何将冲突消除和减少</a:t>
            </a:r>
            <a:endParaRPr sz="2400">
              <a:latin typeface="黑体"/>
              <a:cs typeface="黑体"/>
            </a:endParaRPr>
          </a:p>
          <a:p>
            <a:pPr marL="389255" indent="-376555">
              <a:lnSpc>
                <a:spcPct val="100000"/>
              </a:lnSpc>
              <a:spcBef>
                <a:spcPts val="865"/>
              </a:spcBef>
              <a:buFont typeface="Tahoma"/>
              <a:buAutoNum type="arabicPeriod" startAt="3"/>
              <a:tabLst>
                <a:tab pos="389255" algn="l"/>
              </a:tabLst>
            </a:pPr>
            <a:r>
              <a:rPr dirty="0" sz="2400" spc="-30" b="1">
                <a:solidFill>
                  <a:srgbClr val="E14B04"/>
                </a:solidFill>
                <a:latin typeface="黑体"/>
                <a:cs typeface="黑体"/>
              </a:rPr>
              <a:t>两类方法</a:t>
            </a:r>
            <a:endParaRPr sz="2400">
              <a:latin typeface="黑体"/>
              <a:cs typeface="黑体"/>
            </a:endParaRPr>
          </a:p>
          <a:p>
            <a:pPr marL="279400">
              <a:lnSpc>
                <a:spcPct val="100000"/>
              </a:lnSpc>
              <a:spcBef>
                <a:spcPts val="865"/>
              </a:spcBef>
            </a:pPr>
            <a:r>
              <a:rPr dirty="0" sz="2400" spc="-10" b="1">
                <a:solidFill>
                  <a:srgbClr val="006FC0"/>
                </a:solidFill>
                <a:latin typeface="Tahoma"/>
                <a:cs typeface="Tahoma"/>
              </a:rPr>
              <a:t>****</a:t>
            </a:r>
            <a:r>
              <a:rPr dirty="0" sz="2400" spc="-25" b="1">
                <a:solidFill>
                  <a:srgbClr val="006FC0"/>
                </a:solidFill>
                <a:latin typeface="黑体"/>
                <a:cs typeface="黑体"/>
              </a:rPr>
              <a:t>硬件动态调度和软件静态调度</a:t>
            </a:r>
            <a:endParaRPr sz="2400">
              <a:latin typeface="黑体"/>
              <a:cs typeface="黑体"/>
            </a:endParaRPr>
          </a:p>
          <a:p>
            <a:pPr marL="301625" indent="-301625">
              <a:lnSpc>
                <a:spcPct val="100000"/>
              </a:lnSpc>
              <a:spcBef>
                <a:spcPts val="865"/>
              </a:spcBef>
              <a:buSzPct val="95833"/>
              <a:buFont typeface="Tahoma"/>
              <a:buAutoNum type="arabicPeriod" startAt="5"/>
              <a:tabLst>
                <a:tab pos="301625" algn="l"/>
              </a:tabLst>
            </a:pPr>
            <a:r>
              <a:rPr dirty="0" sz="2400" spc="-25" b="1">
                <a:solidFill>
                  <a:srgbClr val="E14B04"/>
                </a:solidFill>
                <a:latin typeface="黑体"/>
                <a:cs typeface="黑体"/>
              </a:rPr>
              <a:t>采用软硬件结合的方法提高指令执行的并行性</a:t>
            </a:r>
            <a:endParaRPr sz="2400">
              <a:latin typeface="黑体"/>
              <a:cs typeface="黑体"/>
            </a:endParaRPr>
          </a:p>
          <a:p>
            <a:pPr marL="301625" indent="-301625">
              <a:lnSpc>
                <a:spcPct val="100000"/>
              </a:lnSpc>
              <a:spcBef>
                <a:spcPts val="865"/>
              </a:spcBef>
              <a:buSzPct val="95833"/>
              <a:buFont typeface="Tahoma"/>
              <a:buAutoNum type="arabicPeriod" startAt="5"/>
              <a:tabLst>
                <a:tab pos="301625" algn="l"/>
              </a:tabLst>
            </a:pPr>
            <a:r>
              <a:rPr dirty="0" sz="2400" spc="-20" b="1">
                <a:solidFill>
                  <a:srgbClr val="E14B04"/>
                </a:solidFill>
                <a:latin typeface="黑体"/>
                <a:cs typeface="黑体"/>
              </a:rPr>
              <a:t>指令级并行已经成熟，进一步提高并行性需要在更大的粒度上进行（</a:t>
            </a:r>
            <a:r>
              <a:rPr dirty="0" sz="2400" spc="-25" b="1">
                <a:solidFill>
                  <a:srgbClr val="E14B04"/>
                </a:solidFill>
                <a:latin typeface="黑体"/>
                <a:cs typeface="黑体"/>
              </a:rPr>
              <a:t>多线程、多核</a:t>
            </a:r>
            <a:endParaRPr sz="2400">
              <a:latin typeface="黑体"/>
              <a:cs typeface="黑体"/>
            </a:endParaRPr>
          </a:p>
          <a:p>
            <a:pPr marL="355600">
              <a:lnSpc>
                <a:spcPct val="100000"/>
              </a:lnSpc>
              <a:spcBef>
                <a:spcPts val="285"/>
              </a:spcBef>
            </a:pPr>
            <a:r>
              <a:rPr dirty="0" sz="2400" spc="-20" b="1">
                <a:solidFill>
                  <a:srgbClr val="E14B04"/>
                </a:solidFill>
                <a:latin typeface="黑体"/>
                <a:cs typeface="黑体"/>
              </a:rPr>
              <a:t>、多处理器、多计算机等</a:t>
            </a:r>
            <a:r>
              <a:rPr dirty="0" sz="2400" spc="-50" b="1">
                <a:solidFill>
                  <a:srgbClr val="E14B04"/>
                </a:solidFill>
                <a:latin typeface="黑体"/>
                <a:cs typeface="黑体"/>
              </a:rPr>
              <a:t>）</a:t>
            </a:r>
            <a:endParaRPr sz="2400">
              <a:latin typeface="黑体"/>
              <a:cs typeface="黑体"/>
            </a:endParaRPr>
          </a:p>
        </p:txBody>
      </p:sp>
      <p:sp>
        <p:nvSpPr>
          <p:cNvPr id="9" name="object 9"/>
          <p:cNvSpPr txBox="1">
            <a:spLocks noGrp="1"/>
          </p:cNvSpPr>
          <p:nvPr>
            <p:ph type="title"/>
          </p:nvPr>
        </p:nvSpPr>
        <p:spPr>
          <a:xfrm>
            <a:off x="1403350" y="127838"/>
            <a:ext cx="10801350" cy="514350"/>
          </a:xfrm>
          <a:prstGeom prst="rect"/>
        </p:spPr>
        <p:txBody>
          <a:bodyPr wrap="square" lIns="0" tIns="13335" rIns="0" bIns="0" rtlCol="0" vert="horz">
            <a:spAutoFit/>
          </a:bodyPr>
          <a:lstStyle/>
          <a:p>
            <a:pPr marL="12700">
              <a:lnSpc>
                <a:spcPct val="100000"/>
              </a:lnSpc>
              <a:spcBef>
                <a:spcPts val="105"/>
              </a:spcBef>
              <a:tabLst>
                <a:tab pos="2052320" algn="l"/>
                <a:tab pos="10788015" algn="l"/>
              </a:tabLst>
            </a:pPr>
            <a:r>
              <a:rPr dirty="0">
                <a:latin typeface="Times New Roman"/>
                <a:cs typeface="Times New Roman"/>
              </a:rPr>
              <a:t>	</a:t>
            </a:r>
            <a:r>
              <a:rPr dirty="0"/>
              <a:t>总结</a:t>
            </a:r>
            <a:r>
              <a:rPr dirty="0" spc="-20"/>
              <a:t>：</a:t>
            </a:r>
            <a:r>
              <a:rPr dirty="0"/>
              <a:t>指令</a:t>
            </a:r>
            <a:r>
              <a:rPr dirty="0" spc="-20"/>
              <a:t>级</a:t>
            </a:r>
            <a:r>
              <a:rPr dirty="0"/>
              <a:t>并</a:t>
            </a:r>
            <a:r>
              <a:rPr dirty="0" spc="-50"/>
              <a:t>行</a:t>
            </a:r>
            <a:r>
              <a:rPr dirty="0"/>
              <a:t>	</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109/89</a:t>
            </a:r>
            <a:endParaRPr baseline="1736" sz="2400">
              <a:latin typeface="宋体"/>
              <a:cs typeface="宋体"/>
            </a:endParaRPr>
          </a:p>
        </p:txBody>
      </p:sp>
      <p:sp>
        <p:nvSpPr>
          <p:cNvPr id="3" name="object 3" descr=""/>
          <p:cNvSpPr/>
          <p:nvPr/>
        </p:nvSpPr>
        <p:spPr>
          <a:xfrm>
            <a:off x="1416050" y="549275"/>
            <a:ext cx="10775950" cy="0"/>
          </a:xfrm>
          <a:custGeom>
            <a:avLst/>
            <a:gdLst/>
            <a:ahLst/>
            <a:cxnLst/>
            <a:rect l="l" t="t" r="r" b="b"/>
            <a:pathLst>
              <a:path w="10775950" h="0">
                <a:moveTo>
                  <a:pt x="0" y="0"/>
                </a:moveTo>
                <a:lnTo>
                  <a:pt x="107759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90487" y="188976"/>
            <a:ext cx="1435735" cy="274955"/>
            <a:chOff x="90487" y="188976"/>
            <a:chExt cx="1435735" cy="274955"/>
          </a:xfrm>
        </p:grpSpPr>
        <p:sp>
          <p:nvSpPr>
            <p:cNvPr id="5" name="object 5"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6" name="object 6"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7" name="object 7"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8" name="object 8"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9" name="object 9" descr=""/>
          <p:cNvSpPr txBox="1"/>
          <p:nvPr/>
        </p:nvSpPr>
        <p:spPr>
          <a:xfrm>
            <a:off x="413715" y="962154"/>
            <a:ext cx="11419205" cy="3408045"/>
          </a:xfrm>
          <a:prstGeom prst="rect">
            <a:avLst/>
          </a:prstGeom>
        </p:spPr>
        <p:txBody>
          <a:bodyPr wrap="square" lIns="0" tIns="187960" rIns="0" bIns="0" rtlCol="0" vert="horz">
            <a:spAutoFit/>
          </a:bodyPr>
          <a:lstStyle/>
          <a:p>
            <a:pPr marL="12700">
              <a:lnSpc>
                <a:spcPct val="100000"/>
              </a:lnSpc>
              <a:spcBef>
                <a:spcPts val="1480"/>
              </a:spcBef>
            </a:pPr>
            <a:r>
              <a:rPr dirty="0" sz="2400" spc="-20">
                <a:solidFill>
                  <a:srgbClr val="E14B04"/>
                </a:solidFill>
                <a:latin typeface="Tahoma"/>
                <a:cs typeface="Tahoma"/>
              </a:rPr>
              <a:t>IA-</a:t>
            </a:r>
            <a:r>
              <a:rPr dirty="0" sz="2400" spc="-25">
                <a:solidFill>
                  <a:srgbClr val="E14B04"/>
                </a:solidFill>
                <a:latin typeface="Tahoma"/>
                <a:cs typeface="Tahoma"/>
              </a:rPr>
              <a:t>64</a:t>
            </a:r>
            <a:r>
              <a:rPr dirty="0" sz="2400" spc="-25">
                <a:solidFill>
                  <a:srgbClr val="E14B04"/>
                </a:solidFill>
                <a:latin typeface="黑体"/>
                <a:cs typeface="黑体"/>
              </a:rPr>
              <a:t>简介</a:t>
            </a:r>
            <a:endParaRPr sz="2400">
              <a:latin typeface="黑体"/>
              <a:cs typeface="黑体"/>
            </a:endParaRPr>
          </a:p>
          <a:p>
            <a:pPr marL="1097915" marR="5080" indent="-456565">
              <a:lnSpc>
                <a:spcPct val="130000"/>
              </a:lnSpc>
              <a:spcBef>
                <a:spcPts val="600"/>
              </a:spcBef>
              <a:buClr>
                <a:srgbClr val="40458B"/>
              </a:buClr>
              <a:buSzPct val="89285"/>
              <a:buFont typeface="Wingdings"/>
              <a:buChar char=""/>
              <a:tabLst>
                <a:tab pos="1097915" algn="l"/>
              </a:tabLst>
            </a:pPr>
            <a:r>
              <a:rPr dirty="0" sz="2800" spc="-10">
                <a:solidFill>
                  <a:srgbClr val="0000CC"/>
                </a:solidFill>
                <a:latin typeface="黑体"/>
                <a:cs typeface="黑体"/>
              </a:rPr>
              <a:t>IA-</a:t>
            </a:r>
            <a:r>
              <a:rPr dirty="0" sz="2800" spc="-25">
                <a:solidFill>
                  <a:srgbClr val="0000CC"/>
                </a:solidFill>
                <a:latin typeface="黑体"/>
                <a:cs typeface="黑体"/>
              </a:rPr>
              <a:t>64</a:t>
            </a:r>
            <a:r>
              <a:rPr dirty="0" sz="2800" spc="-35">
                <a:solidFill>
                  <a:srgbClr val="0000CC"/>
                </a:solidFill>
                <a:latin typeface="黑体"/>
                <a:cs typeface="黑体"/>
              </a:rPr>
              <a:t>是</a:t>
            </a:r>
            <a:r>
              <a:rPr dirty="0" sz="2800" spc="-20">
                <a:solidFill>
                  <a:srgbClr val="0000CC"/>
                </a:solidFill>
                <a:latin typeface="黑体"/>
                <a:cs typeface="黑体"/>
              </a:rPr>
              <a:t>Intel</a:t>
            </a:r>
            <a:r>
              <a:rPr dirty="0" sz="2800" spc="-25">
                <a:solidFill>
                  <a:srgbClr val="0000CC"/>
                </a:solidFill>
                <a:latin typeface="黑体"/>
                <a:cs typeface="黑体"/>
              </a:rPr>
              <a:t>与</a:t>
            </a:r>
            <a:r>
              <a:rPr dirty="0" sz="2800" spc="-30">
                <a:solidFill>
                  <a:srgbClr val="0000CC"/>
                </a:solidFill>
                <a:latin typeface="黑体"/>
                <a:cs typeface="黑体"/>
              </a:rPr>
              <a:t>HP</a:t>
            </a:r>
            <a:r>
              <a:rPr dirty="0" sz="2800" spc="-35">
                <a:solidFill>
                  <a:srgbClr val="0000CC"/>
                </a:solidFill>
                <a:latin typeface="黑体"/>
                <a:cs typeface="黑体"/>
              </a:rPr>
              <a:t>合作研制出的</a:t>
            </a:r>
            <a:r>
              <a:rPr dirty="0" sz="2800" spc="-25">
                <a:solidFill>
                  <a:srgbClr val="6600FF"/>
                </a:solidFill>
                <a:latin typeface="黑体"/>
                <a:cs typeface="黑体"/>
              </a:rPr>
              <a:t>64</a:t>
            </a:r>
            <a:r>
              <a:rPr dirty="0" sz="2800" spc="-35">
                <a:solidFill>
                  <a:srgbClr val="0000CC"/>
                </a:solidFill>
                <a:latin typeface="黑体"/>
                <a:cs typeface="黑体"/>
              </a:rPr>
              <a:t>位</a:t>
            </a:r>
            <a:r>
              <a:rPr dirty="0" sz="2800" spc="-20">
                <a:solidFill>
                  <a:srgbClr val="6600FF"/>
                </a:solidFill>
                <a:latin typeface="黑体"/>
                <a:cs typeface="黑体"/>
              </a:rPr>
              <a:t>EPIC</a:t>
            </a:r>
            <a:r>
              <a:rPr dirty="0" sz="2800" spc="-40">
                <a:solidFill>
                  <a:srgbClr val="0000CC"/>
                </a:solidFill>
                <a:latin typeface="黑体"/>
                <a:cs typeface="黑体"/>
              </a:rPr>
              <a:t>体系结构，其设计遵循以下原则：</a:t>
            </a:r>
            <a:endParaRPr sz="2800">
              <a:latin typeface="黑体"/>
              <a:cs typeface="黑体"/>
            </a:endParaRPr>
          </a:p>
          <a:p>
            <a:pPr lvl="1" marL="1809114" indent="-531495">
              <a:lnSpc>
                <a:spcPct val="100000"/>
              </a:lnSpc>
              <a:spcBef>
                <a:spcPts val="1515"/>
              </a:spcBef>
              <a:buClr>
                <a:srgbClr val="4668F5"/>
              </a:buClr>
              <a:buSzPct val="60416"/>
              <a:buFont typeface="Wingdings"/>
              <a:buChar char=""/>
              <a:tabLst>
                <a:tab pos="1809114" algn="l"/>
              </a:tabLst>
            </a:pPr>
            <a:r>
              <a:rPr dirty="0" sz="2400" spc="-20" b="1">
                <a:solidFill>
                  <a:srgbClr val="FF5CFF"/>
                </a:solidFill>
                <a:latin typeface="宋体"/>
                <a:cs typeface="宋体"/>
              </a:rPr>
              <a:t>按照</a:t>
            </a:r>
            <a:r>
              <a:rPr dirty="0" sz="2400" spc="-30" b="1">
                <a:solidFill>
                  <a:srgbClr val="FF5CFF"/>
                </a:solidFill>
                <a:latin typeface="Times New Roman"/>
                <a:cs typeface="Times New Roman"/>
              </a:rPr>
              <a:t>EPIC</a:t>
            </a:r>
            <a:r>
              <a:rPr dirty="0" sz="2400" spc="-25" b="1">
                <a:solidFill>
                  <a:srgbClr val="FF5CFF"/>
                </a:solidFill>
                <a:latin typeface="宋体"/>
                <a:cs typeface="宋体"/>
              </a:rPr>
              <a:t>的思想开发指令级并行；</a:t>
            </a:r>
            <a:endParaRPr sz="2400">
              <a:latin typeface="宋体"/>
              <a:cs typeface="宋体"/>
            </a:endParaRPr>
          </a:p>
          <a:p>
            <a:pPr lvl="1" marL="1809114" indent="-531495">
              <a:lnSpc>
                <a:spcPct val="100000"/>
              </a:lnSpc>
              <a:spcBef>
                <a:spcPts val="1440"/>
              </a:spcBef>
              <a:buClr>
                <a:srgbClr val="4668F5"/>
              </a:buClr>
              <a:buSzPct val="60416"/>
              <a:buFont typeface="Wingdings"/>
              <a:buChar char=""/>
              <a:tabLst>
                <a:tab pos="1809114" algn="l"/>
              </a:tabLst>
            </a:pPr>
            <a:r>
              <a:rPr dirty="0" sz="2400" spc="-25" b="1">
                <a:solidFill>
                  <a:srgbClr val="FF5CFF"/>
                </a:solidFill>
                <a:latin typeface="宋体"/>
                <a:cs typeface="宋体"/>
              </a:rPr>
              <a:t>提供大量的硬件资源实现指令级并行；</a:t>
            </a:r>
            <a:endParaRPr sz="2400">
              <a:latin typeface="宋体"/>
              <a:cs typeface="宋体"/>
            </a:endParaRPr>
          </a:p>
          <a:p>
            <a:pPr lvl="1" marL="1809114" indent="-531495">
              <a:lnSpc>
                <a:spcPct val="100000"/>
              </a:lnSpc>
              <a:spcBef>
                <a:spcPts val="1440"/>
              </a:spcBef>
              <a:buClr>
                <a:srgbClr val="4668F5"/>
              </a:buClr>
              <a:buSzPct val="60416"/>
              <a:buFont typeface="Wingdings"/>
              <a:buChar char=""/>
              <a:tabLst>
                <a:tab pos="1809114" algn="l"/>
              </a:tabLst>
            </a:pPr>
            <a:r>
              <a:rPr dirty="0" sz="2400" spc="-30" b="1">
                <a:solidFill>
                  <a:srgbClr val="FF5CFF"/>
                </a:solidFill>
                <a:latin typeface="宋体"/>
                <a:cs typeface="宋体"/>
              </a:rPr>
              <a:t>提供一系列辅助软件指令级并行开发技术的硬件机制。</a:t>
            </a:r>
            <a:endParaRPr sz="2400">
              <a:latin typeface="宋体"/>
              <a:cs typeface="宋体"/>
            </a:endParaRPr>
          </a:p>
        </p:txBody>
      </p:sp>
      <p:sp>
        <p:nvSpPr>
          <p:cNvPr id="10" name="object 10"/>
          <p:cNvSpPr txBox="1">
            <a:spLocks noGrp="1"/>
          </p:cNvSpPr>
          <p:nvPr>
            <p:ph type="title"/>
          </p:nvPr>
        </p:nvSpPr>
        <p:spPr>
          <a:xfrm>
            <a:off x="1827022" y="51942"/>
            <a:ext cx="5541645" cy="452120"/>
          </a:xfrm>
          <a:prstGeom prst="rect"/>
        </p:spPr>
        <p:txBody>
          <a:bodyPr wrap="square" lIns="0" tIns="12065" rIns="0" bIns="0" rtlCol="0" vert="horz">
            <a:spAutoFit/>
          </a:bodyPr>
          <a:lstStyle/>
          <a:p>
            <a:pPr marL="12700">
              <a:lnSpc>
                <a:spcPct val="100000"/>
              </a:lnSpc>
              <a:spcBef>
                <a:spcPts val="95"/>
              </a:spcBef>
            </a:pPr>
            <a:r>
              <a:rPr dirty="0" u="none" sz="2800">
                <a:solidFill>
                  <a:srgbClr val="000000"/>
                </a:solidFill>
              </a:rPr>
              <a:t>6.6</a:t>
            </a:r>
            <a:r>
              <a:rPr dirty="0" u="none" sz="2800" spc="-5">
                <a:solidFill>
                  <a:srgbClr val="000000"/>
                </a:solidFill>
              </a:rPr>
              <a:t> 实例：</a:t>
            </a:r>
            <a:r>
              <a:rPr dirty="0" u="none" sz="2800" spc="-20">
                <a:solidFill>
                  <a:srgbClr val="000000"/>
                </a:solidFill>
              </a:rPr>
              <a:t>IA-</a:t>
            </a:r>
            <a:r>
              <a:rPr dirty="0" u="none" sz="2800" spc="-25">
                <a:solidFill>
                  <a:srgbClr val="000000"/>
                </a:solidFill>
              </a:rPr>
              <a:t>64</a:t>
            </a:r>
            <a:r>
              <a:rPr dirty="0" u="none" sz="2800" spc="-35">
                <a:solidFill>
                  <a:srgbClr val="000000"/>
                </a:solidFill>
              </a:rPr>
              <a:t>体系结构</a:t>
            </a:r>
            <a:r>
              <a:rPr dirty="0" u="none" sz="2800" spc="-25">
                <a:solidFill>
                  <a:srgbClr val="000000"/>
                </a:solidFill>
              </a:rPr>
              <a:t>（</a:t>
            </a:r>
            <a:r>
              <a:rPr dirty="0" u="none" sz="2800" spc="-35">
                <a:solidFill>
                  <a:srgbClr val="FF0000"/>
                </a:solidFill>
              </a:rPr>
              <a:t>自学</a:t>
            </a:r>
            <a:r>
              <a:rPr dirty="0" u="none" sz="2800" spc="-50">
                <a:solidFill>
                  <a:srgbClr val="000000"/>
                </a:solidFill>
              </a:rPr>
              <a:t>）</a:t>
            </a:r>
            <a:endParaRPr sz="280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110/89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413715" y="954792"/>
            <a:ext cx="11368405" cy="4573270"/>
          </a:xfrm>
          <a:prstGeom prst="rect">
            <a:avLst/>
          </a:prstGeom>
        </p:spPr>
        <p:txBody>
          <a:bodyPr wrap="square" lIns="0" tIns="167640" rIns="0" bIns="0" rtlCol="0" vert="horz">
            <a:spAutoFit/>
          </a:bodyPr>
          <a:lstStyle/>
          <a:p>
            <a:pPr marL="467995" indent="-455295">
              <a:lnSpc>
                <a:spcPct val="100000"/>
              </a:lnSpc>
              <a:spcBef>
                <a:spcPts val="1320"/>
              </a:spcBef>
              <a:buClr>
                <a:srgbClr val="40458B"/>
              </a:buClr>
              <a:buAutoNum type="arabicPeriod" startAt="2"/>
              <a:tabLst>
                <a:tab pos="467995" algn="l"/>
              </a:tabLst>
            </a:pPr>
            <a:r>
              <a:rPr dirty="0" sz="2400">
                <a:solidFill>
                  <a:srgbClr val="E14B04"/>
                </a:solidFill>
                <a:latin typeface="Tahoma"/>
                <a:cs typeface="Tahoma"/>
              </a:rPr>
              <a:t>Intel</a:t>
            </a:r>
            <a:r>
              <a:rPr dirty="0" sz="2400" spc="35">
                <a:solidFill>
                  <a:srgbClr val="E14B04"/>
                </a:solidFill>
                <a:latin typeface="Tahoma"/>
                <a:cs typeface="Tahoma"/>
              </a:rPr>
              <a:t> </a:t>
            </a:r>
            <a:r>
              <a:rPr dirty="0" sz="2400" spc="-20">
                <a:solidFill>
                  <a:srgbClr val="E14B04"/>
                </a:solidFill>
                <a:latin typeface="Tahoma"/>
                <a:cs typeface="Tahoma"/>
              </a:rPr>
              <a:t>IA-</a:t>
            </a:r>
            <a:r>
              <a:rPr dirty="0" sz="2400" spc="-25">
                <a:solidFill>
                  <a:srgbClr val="E14B04"/>
                </a:solidFill>
                <a:latin typeface="Tahoma"/>
                <a:cs typeface="Tahoma"/>
              </a:rPr>
              <a:t>64</a:t>
            </a:r>
            <a:r>
              <a:rPr dirty="0" sz="2400">
                <a:solidFill>
                  <a:srgbClr val="E14B04"/>
                </a:solidFill>
                <a:latin typeface="黑体"/>
                <a:cs typeface="黑体"/>
              </a:rPr>
              <a:t>产品</a:t>
            </a:r>
            <a:r>
              <a:rPr dirty="0" sz="2400" spc="-30">
                <a:solidFill>
                  <a:srgbClr val="E14B04"/>
                </a:solidFill>
                <a:latin typeface="Tahoma"/>
                <a:cs typeface="Tahoma"/>
              </a:rPr>
              <a:t>——</a:t>
            </a:r>
            <a:r>
              <a:rPr dirty="0" sz="2400" spc="-10">
                <a:solidFill>
                  <a:srgbClr val="E14B04"/>
                </a:solidFill>
                <a:latin typeface="Tahoma"/>
                <a:cs typeface="Tahoma"/>
              </a:rPr>
              <a:t>Itanium</a:t>
            </a:r>
            <a:endParaRPr sz="2400">
              <a:latin typeface="Tahoma"/>
              <a:cs typeface="Tahoma"/>
            </a:endParaRPr>
          </a:p>
          <a:p>
            <a:pPr lvl="1" marL="1382395" indent="-455295">
              <a:lnSpc>
                <a:spcPct val="100000"/>
              </a:lnSpc>
              <a:spcBef>
                <a:spcPts val="1030"/>
              </a:spcBef>
              <a:buClr>
                <a:srgbClr val="4668F5"/>
              </a:buClr>
              <a:buSzPct val="60000"/>
              <a:buFont typeface="Wingdings"/>
              <a:buChar char=""/>
              <a:tabLst>
                <a:tab pos="1382395" algn="l"/>
              </a:tabLst>
            </a:pPr>
            <a:r>
              <a:rPr dirty="0" sz="2000" spc="-10" b="1">
                <a:solidFill>
                  <a:srgbClr val="FF5CFF"/>
                </a:solidFill>
                <a:latin typeface="宋体"/>
                <a:cs typeface="宋体"/>
              </a:rPr>
              <a:t>主频：</a:t>
            </a:r>
            <a:r>
              <a:rPr dirty="0" sz="2000" spc="-10" b="1">
                <a:solidFill>
                  <a:srgbClr val="6600FF"/>
                </a:solidFill>
                <a:latin typeface="Times New Roman"/>
                <a:cs typeface="Times New Roman"/>
              </a:rPr>
              <a:t>800MHz</a:t>
            </a:r>
            <a:endParaRPr sz="2000">
              <a:latin typeface="Times New Roman"/>
              <a:cs typeface="Times New Roman"/>
            </a:endParaRPr>
          </a:p>
          <a:p>
            <a:pPr lvl="1" marL="1382395" indent="-455295">
              <a:lnSpc>
                <a:spcPct val="100000"/>
              </a:lnSpc>
              <a:spcBef>
                <a:spcPts val="960"/>
              </a:spcBef>
              <a:buClr>
                <a:srgbClr val="4668F5"/>
              </a:buClr>
              <a:buSzPct val="60000"/>
              <a:buFont typeface="Wingdings"/>
              <a:buChar char=""/>
              <a:tabLst>
                <a:tab pos="1382395" algn="l"/>
              </a:tabLst>
            </a:pPr>
            <a:r>
              <a:rPr dirty="0" sz="2000" spc="-10" b="1">
                <a:solidFill>
                  <a:srgbClr val="FF5CFF"/>
                </a:solidFill>
                <a:latin typeface="宋体"/>
                <a:cs typeface="宋体"/>
              </a:rPr>
              <a:t>采用</a:t>
            </a:r>
            <a:r>
              <a:rPr dirty="0" sz="2000" b="1">
                <a:solidFill>
                  <a:srgbClr val="6600FF"/>
                </a:solidFill>
                <a:latin typeface="Times New Roman"/>
                <a:cs typeface="Times New Roman"/>
              </a:rPr>
              <a:t>3</a:t>
            </a:r>
            <a:r>
              <a:rPr dirty="0" sz="2000" spc="-10" b="1">
                <a:solidFill>
                  <a:srgbClr val="FF5CFF"/>
                </a:solidFill>
                <a:latin typeface="宋体"/>
                <a:cs typeface="宋体"/>
              </a:rPr>
              <a:t>级</a:t>
            </a:r>
            <a:r>
              <a:rPr dirty="0" sz="2000" spc="-20" b="1">
                <a:solidFill>
                  <a:srgbClr val="6600FF"/>
                </a:solidFill>
                <a:latin typeface="Times New Roman"/>
                <a:cs typeface="Times New Roman"/>
              </a:rPr>
              <a:t>Cache</a:t>
            </a:r>
            <a:endParaRPr sz="2000">
              <a:latin typeface="Times New Roman"/>
              <a:cs typeface="Times New Roman"/>
            </a:endParaRPr>
          </a:p>
          <a:p>
            <a:pPr lvl="2" marL="1763395" indent="-379095">
              <a:lnSpc>
                <a:spcPct val="100000"/>
              </a:lnSpc>
              <a:spcBef>
                <a:spcPts val="894"/>
              </a:spcBef>
              <a:buClr>
                <a:srgbClr val="FF09FF"/>
              </a:buClr>
              <a:buSzPct val="63888"/>
              <a:buFont typeface="Wingdings"/>
              <a:buChar char=""/>
              <a:tabLst>
                <a:tab pos="1763395" algn="l"/>
              </a:tabLst>
            </a:pPr>
            <a:r>
              <a:rPr dirty="0" sz="1800" spc="-10" b="1">
                <a:solidFill>
                  <a:srgbClr val="006FC0"/>
                </a:solidFill>
                <a:latin typeface="宋体"/>
                <a:cs typeface="宋体"/>
              </a:rPr>
              <a:t>第一级为分离的指令和数据</a:t>
            </a:r>
            <a:r>
              <a:rPr dirty="0" sz="1800" spc="-10" b="1">
                <a:solidFill>
                  <a:srgbClr val="006FC0"/>
                </a:solidFill>
                <a:latin typeface="Times New Roman"/>
                <a:cs typeface="Times New Roman"/>
              </a:rPr>
              <a:t>Cache</a:t>
            </a:r>
            <a:endParaRPr sz="1800">
              <a:latin typeface="Times New Roman"/>
              <a:cs typeface="Times New Roman"/>
            </a:endParaRPr>
          </a:p>
          <a:p>
            <a:pPr lvl="2" marL="1763395" indent="-379095">
              <a:lnSpc>
                <a:spcPct val="100000"/>
              </a:lnSpc>
              <a:spcBef>
                <a:spcPts val="865"/>
              </a:spcBef>
              <a:buClr>
                <a:srgbClr val="FF09FF"/>
              </a:buClr>
              <a:buSzPct val="63888"/>
              <a:buFont typeface="Wingdings"/>
              <a:buChar char=""/>
              <a:tabLst>
                <a:tab pos="1763395" algn="l"/>
              </a:tabLst>
            </a:pPr>
            <a:r>
              <a:rPr dirty="0" sz="1800" spc="-20" b="1">
                <a:solidFill>
                  <a:srgbClr val="006FC0"/>
                </a:solidFill>
                <a:latin typeface="宋体"/>
                <a:cs typeface="宋体"/>
              </a:rPr>
              <a:t>后两级为混合</a:t>
            </a:r>
            <a:r>
              <a:rPr dirty="0" sz="1800" spc="-10" b="1">
                <a:solidFill>
                  <a:srgbClr val="006FC0"/>
                </a:solidFill>
                <a:latin typeface="Times New Roman"/>
                <a:cs typeface="Times New Roman"/>
              </a:rPr>
              <a:t>Cache</a:t>
            </a:r>
            <a:endParaRPr sz="1800">
              <a:latin typeface="Times New Roman"/>
              <a:cs typeface="Times New Roman"/>
            </a:endParaRPr>
          </a:p>
          <a:p>
            <a:pPr lvl="2" marL="1763395" indent="-379095">
              <a:lnSpc>
                <a:spcPct val="100000"/>
              </a:lnSpc>
              <a:spcBef>
                <a:spcPts val="865"/>
              </a:spcBef>
              <a:buClr>
                <a:srgbClr val="FF09FF"/>
              </a:buClr>
              <a:buSzPct val="63888"/>
              <a:buFont typeface="Wingdings"/>
              <a:buChar char=""/>
              <a:tabLst>
                <a:tab pos="1763395" algn="l"/>
              </a:tabLst>
            </a:pPr>
            <a:r>
              <a:rPr dirty="0" sz="1800" spc="-10" b="1">
                <a:solidFill>
                  <a:srgbClr val="006FC0"/>
                </a:solidFill>
                <a:latin typeface="宋体"/>
                <a:cs typeface="宋体"/>
              </a:rPr>
              <a:t>第三级</a:t>
            </a:r>
            <a:r>
              <a:rPr dirty="0" sz="1800" spc="-10" b="1">
                <a:solidFill>
                  <a:srgbClr val="006FC0"/>
                </a:solidFill>
                <a:latin typeface="Times New Roman"/>
                <a:cs typeface="Times New Roman"/>
              </a:rPr>
              <a:t>Cache</a:t>
            </a:r>
            <a:r>
              <a:rPr dirty="0" sz="1800" spc="-10" b="1">
                <a:solidFill>
                  <a:srgbClr val="006FC0"/>
                </a:solidFill>
                <a:latin typeface="宋体"/>
                <a:cs typeface="宋体"/>
              </a:rPr>
              <a:t>（在片外</a:t>
            </a:r>
            <a:r>
              <a:rPr dirty="0" sz="1800" spc="-50" b="1">
                <a:solidFill>
                  <a:srgbClr val="006FC0"/>
                </a:solidFill>
                <a:latin typeface="宋体"/>
                <a:cs typeface="宋体"/>
              </a:rPr>
              <a:t>）</a:t>
            </a:r>
            <a:endParaRPr sz="1800">
              <a:latin typeface="宋体"/>
              <a:cs typeface="宋体"/>
            </a:endParaRPr>
          </a:p>
          <a:p>
            <a:pPr lvl="1" marL="1382395" indent="-455295">
              <a:lnSpc>
                <a:spcPct val="100000"/>
              </a:lnSpc>
              <a:spcBef>
                <a:spcPts val="925"/>
              </a:spcBef>
              <a:buClr>
                <a:srgbClr val="4668F5"/>
              </a:buClr>
              <a:buSzPct val="60000"/>
              <a:buFont typeface="Wingdings"/>
              <a:buChar char=""/>
              <a:tabLst>
                <a:tab pos="1382395" algn="l"/>
              </a:tabLst>
            </a:pPr>
            <a:r>
              <a:rPr dirty="0" sz="2000" spc="-10" b="1">
                <a:solidFill>
                  <a:srgbClr val="FF5CFF"/>
                </a:solidFill>
                <a:latin typeface="宋体"/>
                <a:cs typeface="宋体"/>
              </a:rPr>
              <a:t>流水线共分为</a:t>
            </a:r>
            <a:r>
              <a:rPr dirty="0" sz="2000" b="1">
                <a:solidFill>
                  <a:srgbClr val="6600FF"/>
                </a:solidFill>
                <a:latin typeface="Times New Roman"/>
                <a:cs typeface="Times New Roman"/>
              </a:rPr>
              <a:t>10</a:t>
            </a:r>
            <a:r>
              <a:rPr dirty="0" sz="2000" spc="-25" b="1">
                <a:solidFill>
                  <a:srgbClr val="FF5CFF"/>
                </a:solidFill>
                <a:latin typeface="宋体"/>
                <a:cs typeface="宋体"/>
              </a:rPr>
              <a:t>级，其中实现了一些基于硬件的动态指令调度机制，如分支预测、重命名</a:t>
            </a:r>
            <a:endParaRPr sz="2000">
              <a:latin typeface="宋体"/>
              <a:cs typeface="宋体"/>
            </a:endParaRPr>
          </a:p>
          <a:p>
            <a:pPr marL="1383030">
              <a:lnSpc>
                <a:spcPct val="100000"/>
              </a:lnSpc>
              <a:spcBef>
                <a:spcPts val="480"/>
              </a:spcBef>
            </a:pPr>
            <a:r>
              <a:rPr dirty="0" sz="2000" spc="-25" b="1">
                <a:solidFill>
                  <a:srgbClr val="FF5CFF"/>
                </a:solidFill>
                <a:latin typeface="宋体"/>
                <a:cs typeface="宋体"/>
              </a:rPr>
              <a:t>、记分牌等。</a:t>
            </a:r>
            <a:endParaRPr sz="2000">
              <a:latin typeface="宋体"/>
              <a:cs typeface="宋体"/>
            </a:endParaRPr>
          </a:p>
          <a:p>
            <a:pPr lvl="1" marL="1382395" indent="-455295">
              <a:lnSpc>
                <a:spcPct val="100000"/>
              </a:lnSpc>
              <a:spcBef>
                <a:spcPts val="965"/>
              </a:spcBef>
              <a:buClr>
                <a:srgbClr val="4668F5"/>
              </a:buClr>
              <a:buSzPct val="60000"/>
              <a:buFont typeface="Wingdings"/>
              <a:buChar char=""/>
              <a:tabLst>
                <a:tab pos="1382395" algn="l"/>
              </a:tabLst>
            </a:pPr>
            <a:r>
              <a:rPr dirty="0" sz="2000" spc="-25" b="1">
                <a:solidFill>
                  <a:srgbClr val="FF5CFF"/>
                </a:solidFill>
                <a:latin typeface="宋体"/>
                <a:cs typeface="宋体"/>
              </a:rPr>
              <a:t>提供了丰富的功能单元，所有的功能单元都是流水的。</a:t>
            </a:r>
            <a:endParaRPr sz="2000">
              <a:latin typeface="宋体"/>
              <a:cs typeface="宋体"/>
            </a:endParaRPr>
          </a:p>
          <a:p>
            <a:pPr lvl="1" marL="1383030" marR="133985" indent="-455930">
              <a:lnSpc>
                <a:spcPct val="120000"/>
              </a:lnSpc>
              <a:spcBef>
                <a:spcPts val="480"/>
              </a:spcBef>
              <a:buClr>
                <a:srgbClr val="4668F5"/>
              </a:buClr>
              <a:buSzPct val="60000"/>
              <a:buFont typeface="Wingdings"/>
              <a:buChar char=""/>
              <a:tabLst>
                <a:tab pos="1383030" algn="l"/>
              </a:tabLst>
            </a:pPr>
            <a:r>
              <a:rPr dirty="0" sz="2000" spc="-10" b="1">
                <a:solidFill>
                  <a:srgbClr val="FF5CFF"/>
                </a:solidFill>
                <a:latin typeface="宋体"/>
                <a:cs typeface="宋体"/>
              </a:rPr>
              <a:t>每个周期最多流出</a:t>
            </a:r>
            <a:r>
              <a:rPr dirty="0" sz="2000" b="1">
                <a:solidFill>
                  <a:srgbClr val="6600FF"/>
                </a:solidFill>
                <a:latin typeface="Times New Roman"/>
                <a:cs typeface="Times New Roman"/>
              </a:rPr>
              <a:t>6</a:t>
            </a:r>
            <a:r>
              <a:rPr dirty="0" sz="2000" spc="-20" b="1">
                <a:solidFill>
                  <a:srgbClr val="FF5CFF"/>
                </a:solidFill>
                <a:latin typeface="宋体"/>
                <a:cs typeface="宋体"/>
              </a:rPr>
              <a:t>条指令，最多可同时执行</a:t>
            </a:r>
            <a:r>
              <a:rPr dirty="0" sz="2000" spc="-10" b="1">
                <a:solidFill>
                  <a:srgbClr val="6600FF"/>
                </a:solidFill>
                <a:latin typeface="Times New Roman"/>
                <a:cs typeface="Times New Roman"/>
              </a:rPr>
              <a:t>3</a:t>
            </a:r>
            <a:r>
              <a:rPr dirty="0" sz="2000" spc="-15" b="1">
                <a:solidFill>
                  <a:srgbClr val="FF5CFF"/>
                </a:solidFill>
                <a:latin typeface="宋体"/>
                <a:cs typeface="宋体"/>
              </a:rPr>
              <a:t>条分支指令和</a:t>
            </a:r>
            <a:r>
              <a:rPr dirty="0" sz="2000" b="1">
                <a:solidFill>
                  <a:srgbClr val="FF5CFF"/>
                </a:solidFill>
                <a:latin typeface="Times New Roman"/>
                <a:cs typeface="Times New Roman"/>
              </a:rPr>
              <a:t>2</a:t>
            </a:r>
            <a:r>
              <a:rPr dirty="0" sz="2000" spc="-25" b="1">
                <a:solidFill>
                  <a:srgbClr val="FF5CFF"/>
                </a:solidFill>
                <a:latin typeface="宋体"/>
                <a:cs typeface="宋体"/>
              </a:rPr>
              <a:t>个访存操作，提高了分支处</a:t>
            </a:r>
            <a:r>
              <a:rPr dirty="0" sz="2000" spc="-15" b="1">
                <a:solidFill>
                  <a:srgbClr val="FF5CFF"/>
                </a:solidFill>
                <a:latin typeface="宋体"/>
                <a:cs typeface="宋体"/>
              </a:rPr>
              <a:t>理和存储访问的能力。</a:t>
            </a:r>
            <a:endParaRPr sz="2000">
              <a:latin typeface="宋体"/>
              <a:cs typeface="宋体"/>
            </a:endParaRPr>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338580" algn="l"/>
                <a:tab pos="10788015" algn="l"/>
              </a:tabLst>
            </a:pPr>
            <a:r>
              <a:rPr dirty="0"/>
              <a:t>	6.6</a:t>
            </a:r>
            <a:r>
              <a:rPr dirty="0" spc="5"/>
              <a:t> </a:t>
            </a:r>
            <a:r>
              <a:rPr dirty="0"/>
              <a:t>实例</a:t>
            </a:r>
            <a:r>
              <a:rPr dirty="0" spc="-10"/>
              <a:t>：IA-64</a:t>
            </a:r>
            <a:r>
              <a:rPr dirty="0"/>
              <a:t>体</a:t>
            </a:r>
            <a:r>
              <a:rPr dirty="0" spc="-20"/>
              <a:t>系</a:t>
            </a:r>
            <a:r>
              <a:rPr dirty="0"/>
              <a:t>结</a:t>
            </a:r>
            <a:r>
              <a:rPr dirty="0" spc="-50"/>
              <a:t>构</a:t>
            </a:r>
            <a:r>
              <a:rPr dirty="0"/>
              <a:t>	</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111/89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270763" y="1028385"/>
            <a:ext cx="11880850" cy="4163695"/>
          </a:xfrm>
          <a:prstGeom prst="rect">
            <a:avLst/>
          </a:prstGeom>
        </p:spPr>
        <p:txBody>
          <a:bodyPr wrap="square" lIns="0" tIns="156845" rIns="0" bIns="0" rtlCol="0" vert="horz">
            <a:spAutoFit/>
          </a:bodyPr>
          <a:lstStyle/>
          <a:p>
            <a:pPr marL="1097915" indent="-455930">
              <a:lnSpc>
                <a:spcPct val="100000"/>
              </a:lnSpc>
              <a:spcBef>
                <a:spcPts val="1235"/>
              </a:spcBef>
              <a:buClr>
                <a:srgbClr val="40458B"/>
              </a:buClr>
              <a:buSzPct val="89285"/>
              <a:buFont typeface="Wingdings"/>
              <a:buChar char=""/>
              <a:tabLst>
                <a:tab pos="1097915" algn="l"/>
              </a:tabLst>
            </a:pPr>
            <a:r>
              <a:rPr dirty="0" sz="2800" spc="-25">
                <a:solidFill>
                  <a:srgbClr val="0000CC"/>
                </a:solidFill>
                <a:latin typeface="黑体"/>
                <a:cs typeface="黑体"/>
              </a:rPr>
              <a:t>整数性能</a:t>
            </a:r>
            <a:r>
              <a:rPr dirty="0" sz="2800">
                <a:solidFill>
                  <a:srgbClr val="0000CC"/>
                </a:solidFill>
                <a:latin typeface="Times New Roman"/>
                <a:cs typeface="Times New Roman"/>
              </a:rPr>
              <a:t>(SPECint</a:t>
            </a:r>
            <a:r>
              <a:rPr dirty="0" sz="2800" spc="-105">
                <a:solidFill>
                  <a:srgbClr val="0000CC"/>
                </a:solidFill>
                <a:latin typeface="Times New Roman"/>
                <a:cs typeface="Times New Roman"/>
              </a:rPr>
              <a:t> </a:t>
            </a:r>
            <a:r>
              <a:rPr dirty="0" sz="2800" spc="-10">
                <a:solidFill>
                  <a:srgbClr val="0000CC"/>
                </a:solidFill>
                <a:latin typeface="Times New Roman"/>
                <a:cs typeface="Times New Roman"/>
              </a:rPr>
              <a:t>2000)</a:t>
            </a:r>
            <a:endParaRPr sz="2800">
              <a:latin typeface="Times New Roman"/>
              <a:cs typeface="Times New Roman"/>
            </a:endParaRPr>
          </a:p>
          <a:p>
            <a:pPr lvl="1" marL="1492250" indent="-214629">
              <a:lnSpc>
                <a:spcPct val="100000"/>
              </a:lnSpc>
              <a:spcBef>
                <a:spcPts val="825"/>
              </a:spcBef>
              <a:buClr>
                <a:srgbClr val="4668F5"/>
              </a:buClr>
              <a:buSzPct val="60000"/>
              <a:buFont typeface="Wingdings"/>
              <a:buChar char=""/>
              <a:tabLst>
                <a:tab pos="1492250" algn="l"/>
              </a:tabLst>
            </a:pPr>
            <a:r>
              <a:rPr dirty="0" sz="2000" spc="-15" b="1">
                <a:solidFill>
                  <a:srgbClr val="FF5CFF"/>
                </a:solidFill>
                <a:latin typeface="宋体"/>
                <a:cs typeface="宋体"/>
              </a:rPr>
              <a:t>主频为</a:t>
            </a:r>
            <a:r>
              <a:rPr dirty="0" sz="2000" spc="-10" b="1">
                <a:solidFill>
                  <a:srgbClr val="FF5CFF"/>
                </a:solidFill>
                <a:latin typeface="Times New Roman"/>
                <a:cs typeface="Times New Roman"/>
              </a:rPr>
              <a:t>800MHz</a:t>
            </a:r>
            <a:r>
              <a:rPr dirty="0" sz="2000" spc="-15" b="1">
                <a:solidFill>
                  <a:srgbClr val="FF5CFF"/>
                </a:solidFill>
                <a:latin typeface="宋体"/>
                <a:cs typeface="宋体"/>
              </a:rPr>
              <a:t>的</a:t>
            </a:r>
            <a:r>
              <a:rPr dirty="0" sz="2000" spc="-10" b="1">
                <a:solidFill>
                  <a:srgbClr val="FF5CFF"/>
                </a:solidFill>
                <a:latin typeface="Times New Roman"/>
                <a:cs typeface="Times New Roman"/>
              </a:rPr>
              <a:t>Itanium</a:t>
            </a:r>
            <a:r>
              <a:rPr dirty="0" sz="2000" spc="-20" b="1">
                <a:solidFill>
                  <a:srgbClr val="FF5CFF"/>
                </a:solidFill>
                <a:latin typeface="宋体"/>
                <a:cs typeface="宋体"/>
              </a:rPr>
              <a:t>性能仅为</a:t>
            </a:r>
            <a:r>
              <a:rPr dirty="0" sz="2000" spc="-20" b="1">
                <a:solidFill>
                  <a:srgbClr val="FF5CFF"/>
                </a:solidFill>
                <a:latin typeface="Times New Roman"/>
                <a:cs typeface="Times New Roman"/>
              </a:rPr>
              <a:t>2GHz</a:t>
            </a:r>
            <a:r>
              <a:rPr dirty="0" sz="2000" spc="-15" b="1">
                <a:solidFill>
                  <a:srgbClr val="FF5CFF"/>
                </a:solidFill>
                <a:latin typeface="宋体"/>
                <a:cs typeface="宋体"/>
              </a:rPr>
              <a:t>主频</a:t>
            </a:r>
            <a:r>
              <a:rPr dirty="0" sz="2000" b="1">
                <a:solidFill>
                  <a:srgbClr val="FF5CFF"/>
                </a:solidFill>
                <a:latin typeface="Times New Roman"/>
                <a:cs typeface="Times New Roman"/>
              </a:rPr>
              <a:t>Pentium</a:t>
            </a:r>
            <a:r>
              <a:rPr dirty="0" sz="2000" spc="25" b="1">
                <a:solidFill>
                  <a:srgbClr val="FF5CFF"/>
                </a:solidFill>
                <a:latin typeface="Times New Roman"/>
                <a:cs typeface="Times New Roman"/>
              </a:rPr>
              <a:t> </a:t>
            </a:r>
            <a:r>
              <a:rPr dirty="0" sz="2000" b="1">
                <a:solidFill>
                  <a:srgbClr val="FF5CFF"/>
                </a:solidFill>
                <a:latin typeface="Times New Roman"/>
                <a:cs typeface="Times New Roman"/>
              </a:rPr>
              <a:t>4</a:t>
            </a:r>
            <a:r>
              <a:rPr dirty="0" sz="2000" spc="-50" b="1">
                <a:solidFill>
                  <a:srgbClr val="FF5CFF"/>
                </a:solidFill>
                <a:latin typeface="宋体"/>
                <a:cs typeface="宋体"/>
              </a:rPr>
              <a:t>的</a:t>
            </a:r>
            <a:endParaRPr sz="2000">
              <a:latin typeface="宋体"/>
              <a:cs typeface="宋体"/>
            </a:endParaRPr>
          </a:p>
          <a:p>
            <a:pPr marL="1532255">
              <a:lnSpc>
                <a:spcPct val="100000"/>
              </a:lnSpc>
              <a:spcBef>
                <a:spcPts val="720"/>
              </a:spcBef>
            </a:pPr>
            <a:r>
              <a:rPr dirty="0" sz="2000" spc="-10" b="1">
                <a:solidFill>
                  <a:srgbClr val="6600FF"/>
                </a:solidFill>
                <a:latin typeface="Times New Roman"/>
                <a:cs typeface="Times New Roman"/>
              </a:rPr>
              <a:t>60%</a:t>
            </a:r>
            <a:r>
              <a:rPr dirty="0" sz="2000" spc="-10" b="1">
                <a:solidFill>
                  <a:srgbClr val="FF5CFF"/>
                </a:solidFill>
                <a:latin typeface="宋体"/>
                <a:cs typeface="宋体"/>
              </a:rPr>
              <a:t>，</a:t>
            </a:r>
            <a:r>
              <a:rPr dirty="0" sz="2000" spc="-10" b="1">
                <a:solidFill>
                  <a:srgbClr val="FF5CFF"/>
                </a:solidFill>
                <a:latin typeface="Times New Roman"/>
                <a:cs typeface="Times New Roman"/>
              </a:rPr>
              <a:t>1GHz</a:t>
            </a:r>
            <a:r>
              <a:rPr dirty="0" sz="2000" spc="-10" b="1">
                <a:solidFill>
                  <a:srgbClr val="FF5CFF"/>
                </a:solidFill>
                <a:latin typeface="宋体"/>
                <a:cs typeface="宋体"/>
              </a:rPr>
              <a:t>主频</a:t>
            </a:r>
            <a:r>
              <a:rPr dirty="0" sz="2000" b="1">
                <a:solidFill>
                  <a:srgbClr val="FF5CFF"/>
                </a:solidFill>
                <a:latin typeface="Times New Roman"/>
                <a:cs typeface="Times New Roman"/>
              </a:rPr>
              <a:t>Alpha</a:t>
            </a:r>
            <a:r>
              <a:rPr dirty="0" sz="2000" spc="45" b="1">
                <a:solidFill>
                  <a:srgbClr val="FF5CFF"/>
                </a:solidFill>
                <a:latin typeface="Times New Roman"/>
                <a:cs typeface="Times New Roman"/>
              </a:rPr>
              <a:t> </a:t>
            </a:r>
            <a:r>
              <a:rPr dirty="0" sz="2000" b="1">
                <a:solidFill>
                  <a:srgbClr val="FF5CFF"/>
                </a:solidFill>
                <a:latin typeface="Times New Roman"/>
                <a:cs typeface="Times New Roman"/>
              </a:rPr>
              <a:t>21264</a:t>
            </a:r>
            <a:r>
              <a:rPr dirty="0" sz="2000" spc="-20" b="1">
                <a:solidFill>
                  <a:srgbClr val="FF5CFF"/>
                </a:solidFill>
                <a:latin typeface="宋体"/>
                <a:cs typeface="宋体"/>
              </a:rPr>
              <a:t>的</a:t>
            </a:r>
            <a:r>
              <a:rPr dirty="0" sz="2000" spc="-20" b="1">
                <a:solidFill>
                  <a:srgbClr val="6600FF"/>
                </a:solidFill>
                <a:latin typeface="Times New Roman"/>
                <a:cs typeface="Times New Roman"/>
              </a:rPr>
              <a:t>68%</a:t>
            </a:r>
            <a:r>
              <a:rPr dirty="0" sz="2000" spc="-50" b="1">
                <a:solidFill>
                  <a:srgbClr val="6600FF"/>
                </a:solidFill>
                <a:latin typeface="宋体"/>
                <a:cs typeface="宋体"/>
              </a:rPr>
              <a:t>。</a:t>
            </a:r>
            <a:endParaRPr sz="2000">
              <a:latin typeface="宋体"/>
              <a:cs typeface="宋体"/>
            </a:endParaRPr>
          </a:p>
          <a:p>
            <a:pPr lvl="1" marL="1491615" indent="-213995">
              <a:lnSpc>
                <a:spcPct val="100000"/>
              </a:lnSpc>
              <a:spcBef>
                <a:spcPts val="720"/>
              </a:spcBef>
              <a:buClr>
                <a:srgbClr val="4668F5"/>
              </a:buClr>
              <a:buSzPct val="60000"/>
              <a:buFont typeface="Wingdings"/>
              <a:buChar char=""/>
              <a:tabLst>
                <a:tab pos="1491615" algn="l"/>
              </a:tabLst>
            </a:pPr>
            <a:r>
              <a:rPr dirty="0" sz="2000" b="1">
                <a:solidFill>
                  <a:srgbClr val="FF5CFF"/>
                </a:solidFill>
                <a:latin typeface="Times New Roman"/>
                <a:cs typeface="Times New Roman"/>
              </a:rPr>
              <a:t>Alpha</a:t>
            </a:r>
            <a:r>
              <a:rPr dirty="0" sz="2000" spc="50" b="1">
                <a:solidFill>
                  <a:srgbClr val="FF5CFF"/>
                </a:solidFill>
                <a:latin typeface="Times New Roman"/>
                <a:cs typeface="Times New Roman"/>
              </a:rPr>
              <a:t> </a:t>
            </a:r>
            <a:r>
              <a:rPr dirty="0" sz="2000" b="1">
                <a:solidFill>
                  <a:srgbClr val="FF5CFF"/>
                </a:solidFill>
                <a:latin typeface="Times New Roman"/>
                <a:cs typeface="Times New Roman"/>
              </a:rPr>
              <a:t>21264</a:t>
            </a:r>
            <a:r>
              <a:rPr dirty="0" sz="2000" spc="-15" b="1">
                <a:solidFill>
                  <a:srgbClr val="FF5CFF"/>
                </a:solidFill>
                <a:latin typeface="宋体"/>
                <a:cs typeface="宋体"/>
              </a:rPr>
              <a:t>主频的功耗比</a:t>
            </a:r>
            <a:r>
              <a:rPr dirty="0" sz="2000" spc="-10" b="1">
                <a:solidFill>
                  <a:srgbClr val="FF5CFF"/>
                </a:solidFill>
                <a:latin typeface="Times New Roman"/>
                <a:cs typeface="Times New Roman"/>
              </a:rPr>
              <a:t>Itanium</a:t>
            </a:r>
            <a:r>
              <a:rPr dirty="0" sz="2000" spc="-20" b="1">
                <a:solidFill>
                  <a:srgbClr val="FF5CFF"/>
                </a:solidFill>
                <a:latin typeface="宋体"/>
                <a:cs typeface="宋体"/>
              </a:rPr>
              <a:t>低</a:t>
            </a:r>
            <a:r>
              <a:rPr dirty="0" sz="2000" spc="-20" b="1">
                <a:solidFill>
                  <a:srgbClr val="6600FF"/>
                </a:solidFill>
                <a:latin typeface="Times New Roman"/>
                <a:cs typeface="Times New Roman"/>
              </a:rPr>
              <a:t>20%</a:t>
            </a:r>
            <a:r>
              <a:rPr dirty="0" sz="2000" spc="-50" b="1">
                <a:solidFill>
                  <a:srgbClr val="6600FF"/>
                </a:solidFill>
                <a:latin typeface="宋体"/>
                <a:cs typeface="宋体"/>
              </a:rPr>
              <a:t>。</a:t>
            </a:r>
            <a:endParaRPr sz="2000">
              <a:latin typeface="宋体"/>
              <a:cs typeface="宋体"/>
            </a:endParaRPr>
          </a:p>
          <a:p>
            <a:pPr marL="1097915" indent="-455930">
              <a:lnSpc>
                <a:spcPct val="100000"/>
              </a:lnSpc>
              <a:spcBef>
                <a:spcPts val="905"/>
              </a:spcBef>
              <a:buClr>
                <a:srgbClr val="40458B"/>
              </a:buClr>
              <a:buSzPct val="89285"/>
              <a:buFont typeface="Wingdings"/>
              <a:buChar char=""/>
              <a:tabLst>
                <a:tab pos="1097915" algn="l"/>
              </a:tabLst>
            </a:pPr>
            <a:r>
              <a:rPr dirty="0" sz="2800" spc="-30">
                <a:solidFill>
                  <a:srgbClr val="0000CC"/>
                </a:solidFill>
                <a:latin typeface="黑体"/>
                <a:cs typeface="黑体"/>
              </a:rPr>
              <a:t>浮点性能</a:t>
            </a:r>
            <a:r>
              <a:rPr dirty="0" sz="2800">
                <a:solidFill>
                  <a:srgbClr val="0000CC"/>
                </a:solidFill>
                <a:latin typeface="Times New Roman"/>
                <a:cs typeface="Times New Roman"/>
              </a:rPr>
              <a:t>(SPECfp</a:t>
            </a:r>
            <a:r>
              <a:rPr dirty="0" sz="2800" spc="-75">
                <a:solidFill>
                  <a:srgbClr val="0000CC"/>
                </a:solidFill>
                <a:latin typeface="Times New Roman"/>
                <a:cs typeface="Times New Roman"/>
              </a:rPr>
              <a:t> </a:t>
            </a:r>
            <a:r>
              <a:rPr dirty="0" sz="2800" spc="-10">
                <a:solidFill>
                  <a:srgbClr val="0000CC"/>
                </a:solidFill>
                <a:latin typeface="Times New Roman"/>
                <a:cs typeface="Times New Roman"/>
              </a:rPr>
              <a:t>2000)</a:t>
            </a:r>
            <a:endParaRPr sz="2800">
              <a:latin typeface="Times New Roman"/>
              <a:cs typeface="Times New Roman"/>
            </a:endParaRPr>
          </a:p>
          <a:p>
            <a:pPr lvl="1" marL="1468120" marR="4214495" indent="-190500">
              <a:lnSpc>
                <a:spcPct val="130000"/>
              </a:lnSpc>
              <a:spcBef>
                <a:spcPts val="105"/>
              </a:spcBef>
              <a:buSzPct val="60000"/>
              <a:buFont typeface="Wingdings"/>
              <a:buChar char=""/>
              <a:tabLst>
                <a:tab pos="1468120" algn="l"/>
                <a:tab pos="1491615" algn="l"/>
              </a:tabLst>
            </a:pPr>
            <a:r>
              <a:rPr dirty="0" sz="2000">
                <a:solidFill>
                  <a:srgbClr val="4668F5"/>
                </a:solidFill>
                <a:latin typeface="Times New Roman"/>
                <a:cs typeface="Times New Roman"/>
              </a:rPr>
              <a:t>	</a:t>
            </a:r>
            <a:r>
              <a:rPr dirty="0" sz="2000" b="1">
                <a:solidFill>
                  <a:srgbClr val="FF5CFF"/>
                </a:solidFill>
                <a:latin typeface="Times New Roman"/>
                <a:cs typeface="Times New Roman"/>
              </a:rPr>
              <a:t>800MHz</a:t>
            </a:r>
            <a:r>
              <a:rPr dirty="0" sz="2000" spc="-40" b="1">
                <a:solidFill>
                  <a:srgbClr val="FF5CFF"/>
                </a:solidFill>
                <a:latin typeface="Times New Roman"/>
                <a:cs typeface="Times New Roman"/>
              </a:rPr>
              <a:t> </a:t>
            </a:r>
            <a:r>
              <a:rPr dirty="0" sz="2000" b="1">
                <a:solidFill>
                  <a:srgbClr val="FF5CFF"/>
                </a:solidFill>
                <a:latin typeface="Times New Roman"/>
                <a:cs typeface="Times New Roman"/>
              </a:rPr>
              <a:t>Itanium</a:t>
            </a:r>
            <a:r>
              <a:rPr dirty="0" sz="2000" spc="-20" b="1">
                <a:solidFill>
                  <a:srgbClr val="FF5CFF"/>
                </a:solidFill>
                <a:latin typeface="宋体"/>
                <a:cs typeface="宋体"/>
              </a:rPr>
              <a:t>的性能是</a:t>
            </a:r>
            <a:r>
              <a:rPr dirty="0" sz="2000" b="1">
                <a:solidFill>
                  <a:srgbClr val="FF5CFF"/>
                </a:solidFill>
                <a:latin typeface="Times New Roman"/>
                <a:cs typeface="Times New Roman"/>
              </a:rPr>
              <a:t>2GHz</a:t>
            </a:r>
            <a:r>
              <a:rPr dirty="0" sz="2000" spc="-40" b="1">
                <a:solidFill>
                  <a:srgbClr val="FF5CFF"/>
                </a:solidFill>
                <a:latin typeface="Times New Roman"/>
                <a:cs typeface="Times New Roman"/>
              </a:rPr>
              <a:t> </a:t>
            </a:r>
            <a:r>
              <a:rPr dirty="0" sz="2000" b="1">
                <a:solidFill>
                  <a:srgbClr val="FF5CFF"/>
                </a:solidFill>
                <a:latin typeface="Times New Roman"/>
                <a:cs typeface="Times New Roman"/>
              </a:rPr>
              <a:t>Pentium</a:t>
            </a:r>
            <a:r>
              <a:rPr dirty="0" sz="2000" spc="-25" b="1">
                <a:solidFill>
                  <a:srgbClr val="FF5CFF"/>
                </a:solidFill>
                <a:latin typeface="Times New Roman"/>
                <a:cs typeface="Times New Roman"/>
              </a:rPr>
              <a:t> </a:t>
            </a:r>
            <a:r>
              <a:rPr dirty="0" sz="2000" b="1">
                <a:solidFill>
                  <a:srgbClr val="FF5CFF"/>
                </a:solidFill>
                <a:latin typeface="Times New Roman"/>
                <a:cs typeface="Times New Roman"/>
              </a:rPr>
              <a:t>4</a:t>
            </a:r>
            <a:r>
              <a:rPr dirty="0" sz="2000" spc="-10" b="1">
                <a:solidFill>
                  <a:srgbClr val="FF5CFF"/>
                </a:solidFill>
                <a:latin typeface="宋体"/>
                <a:cs typeface="宋体"/>
              </a:rPr>
              <a:t>的</a:t>
            </a:r>
            <a:r>
              <a:rPr dirty="0" sz="2000" b="1">
                <a:solidFill>
                  <a:srgbClr val="6600FF"/>
                </a:solidFill>
                <a:latin typeface="Times New Roman"/>
                <a:cs typeface="Times New Roman"/>
              </a:rPr>
              <a:t>1.04</a:t>
            </a:r>
            <a:r>
              <a:rPr dirty="0" sz="2000" spc="-25" b="1">
                <a:solidFill>
                  <a:srgbClr val="FF5CFF"/>
                </a:solidFill>
                <a:latin typeface="宋体"/>
                <a:cs typeface="宋体"/>
              </a:rPr>
              <a:t>倍，是</a:t>
            </a:r>
            <a:r>
              <a:rPr dirty="0" sz="2000" spc="-50" b="1">
                <a:solidFill>
                  <a:srgbClr val="FF5CFF"/>
                </a:solidFill>
                <a:latin typeface="宋体"/>
                <a:cs typeface="宋体"/>
              </a:rPr>
              <a:t> </a:t>
            </a:r>
            <a:r>
              <a:rPr dirty="0" sz="2000" b="1">
                <a:solidFill>
                  <a:srgbClr val="FF5CFF"/>
                </a:solidFill>
                <a:latin typeface="Times New Roman"/>
                <a:cs typeface="Times New Roman"/>
              </a:rPr>
              <a:t>1GHz</a:t>
            </a:r>
            <a:r>
              <a:rPr dirty="0" sz="2000" spc="-15" b="1">
                <a:solidFill>
                  <a:srgbClr val="FF5CFF"/>
                </a:solidFill>
                <a:latin typeface="Times New Roman"/>
                <a:cs typeface="Times New Roman"/>
              </a:rPr>
              <a:t> </a:t>
            </a:r>
            <a:r>
              <a:rPr dirty="0" sz="2000" b="1">
                <a:solidFill>
                  <a:srgbClr val="FF5CFF"/>
                </a:solidFill>
                <a:latin typeface="Times New Roman"/>
                <a:cs typeface="Times New Roman"/>
              </a:rPr>
              <a:t>Alpha</a:t>
            </a:r>
            <a:r>
              <a:rPr dirty="0" sz="2000" spc="15" b="1">
                <a:solidFill>
                  <a:srgbClr val="FF5CFF"/>
                </a:solidFill>
                <a:latin typeface="Times New Roman"/>
                <a:cs typeface="Times New Roman"/>
              </a:rPr>
              <a:t> </a:t>
            </a:r>
            <a:r>
              <a:rPr dirty="0" sz="2000" b="1">
                <a:solidFill>
                  <a:srgbClr val="FF5CFF"/>
                </a:solidFill>
                <a:latin typeface="Times New Roman"/>
                <a:cs typeface="Times New Roman"/>
              </a:rPr>
              <a:t>21264</a:t>
            </a:r>
            <a:r>
              <a:rPr dirty="0" sz="2000" spc="-10" b="1">
                <a:solidFill>
                  <a:srgbClr val="FF5CFF"/>
                </a:solidFill>
                <a:latin typeface="宋体"/>
                <a:cs typeface="宋体"/>
              </a:rPr>
              <a:t>的</a:t>
            </a:r>
            <a:r>
              <a:rPr dirty="0" sz="2000" spc="-10" b="1">
                <a:solidFill>
                  <a:srgbClr val="6600FF"/>
                </a:solidFill>
                <a:latin typeface="Times New Roman"/>
                <a:cs typeface="Times New Roman"/>
              </a:rPr>
              <a:t>1.20</a:t>
            </a:r>
            <a:r>
              <a:rPr dirty="0" sz="2000" spc="-30" b="1">
                <a:solidFill>
                  <a:srgbClr val="FF5CFF"/>
                </a:solidFill>
                <a:latin typeface="宋体"/>
                <a:cs typeface="宋体"/>
              </a:rPr>
              <a:t>倍。</a:t>
            </a:r>
            <a:endParaRPr sz="2000">
              <a:latin typeface="宋体"/>
              <a:cs typeface="宋体"/>
            </a:endParaRPr>
          </a:p>
          <a:p>
            <a:pPr marL="467995" indent="-455295">
              <a:lnSpc>
                <a:spcPct val="100000"/>
              </a:lnSpc>
              <a:spcBef>
                <a:spcPts val="815"/>
              </a:spcBef>
              <a:buClr>
                <a:srgbClr val="40458B"/>
              </a:buClr>
              <a:buAutoNum type="arabicPeriod" startAt="3"/>
              <a:tabLst>
                <a:tab pos="467995" algn="l"/>
              </a:tabLst>
            </a:pPr>
            <a:r>
              <a:rPr dirty="0" sz="2400">
                <a:solidFill>
                  <a:srgbClr val="E14B04"/>
                </a:solidFill>
                <a:latin typeface="Times New Roman"/>
                <a:cs typeface="Times New Roman"/>
              </a:rPr>
              <a:t>Intel</a:t>
            </a:r>
            <a:r>
              <a:rPr dirty="0" sz="2400" spc="5">
                <a:solidFill>
                  <a:srgbClr val="E14B04"/>
                </a:solidFill>
                <a:latin typeface="Times New Roman"/>
                <a:cs typeface="Times New Roman"/>
              </a:rPr>
              <a:t> </a:t>
            </a:r>
            <a:r>
              <a:rPr dirty="0" sz="2400" spc="-20">
                <a:solidFill>
                  <a:srgbClr val="E14B04"/>
                </a:solidFill>
                <a:latin typeface="Times New Roman"/>
                <a:cs typeface="Times New Roman"/>
              </a:rPr>
              <a:t>IA-</a:t>
            </a:r>
            <a:r>
              <a:rPr dirty="0" sz="2400" spc="-10">
                <a:solidFill>
                  <a:srgbClr val="E14B04"/>
                </a:solidFill>
                <a:latin typeface="Times New Roman"/>
                <a:cs typeface="Times New Roman"/>
              </a:rPr>
              <a:t>64</a:t>
            </a:r>
            <a:r>
              <a:rPr dirty="0" sz="2400" spc="-10">
                <a:solidFill>
                  <a:srgbClr val="E14B04"/>
                </a:solidFill>
                <a:latin typeface="黑体"/>
                <a:cs typeface="黑体"/>
              </a:rPr>
              <a:t>产品</a:t>
            </a:r>
            <a:r>
              <a:rPr dirty="0" sz="2400" spc="-5">
                <a:solidFill>
                  <a:srgbClr val="E14B04"/>
                </a:solidFill>
                <a:latin typeface="Times New Roman"/>
                <a:cs typeface="Times New Roman"/>
              </a:rPr>
              <a:t>——</a:t>
            </a:r>
            <a:r>
              <a:rPr dirty="0" sz="2400">
                <a:solidFill>
                  <a:srgbClr val="E14B04"/>
                </a:solidFill>
                <a:latin typeface="Times New Roman"/>
                <a:cs typeface="Times New Roman"/>
              </a:rPr>
              <a:t>Itanium </a:t>
            </a:r>
            <a:r>
              <a:rPr dirty="0" sz="2400" spc="-50">
                <a:solidFill>
                  <a:srgbClr val="E14B04"/>
                </a:solidFill>
                <a:latin typeface="Times New Roman"/>
                <a:cs typeface="Times New Roman"/>
              </a:rPr>
              <a:t>2</a:t>
            </a:r>
            <a:endParaRPr sz="2400">
              <a:latin typeface="Times New Roman"/>
              <a:cs typeface="Times New Roman"/>
            </a:endParaRPr>
          </a:p>
          <a:p>
            <a:pPr lvl="1" marL="1097915" indent="-455930">
              <a:lnSpc>
                <a:spcPct val="100000"/>
              </a:lnSpc>
              <a:spcBef>
                <a:spcPts val="960"/>
              </a:spcBef>
              <a:buClr>
                <a:srgbClr val="40458B"/>
              </a:buClr>
              <a:buSzPct val="89285"/>
              <a:buFont typeface="Wingdings"/>
              <a:buChar char=""/>
              <a:tabLst>
                <a:tab pos="1097915" algn="l"/>
              </a:tabLst>
            </a:pPr>
            <a:r>
              <a:rPr dirty="0" sz="2800" spc="-35">
                <a:solidFill>
                  <a:srgbClr val="0000CC"/>
                </a:solidFill>
                <a:latin typeface="黑体"/>
                <a:cs typeface="黑体"/>
              </a:rPr>
              <a:t>其性能在不经过任何调试和优化的条件下比</a:t>
            </a:r>
            <a:r>
              <a:rPr dirty="0" sz="2800" spc="-20">
                <a:solidFill>
                  <a:srgbClr val="0000CC"/>
                </a:solidFill>
                <a:latin typeface="Times New Roman"/>
                <a:cs typeface="Times New Roman"/>
              </a:rPr>
              <a:t>Itanium</a:t>
            </a:r>
            <a:r>
              <a:rPr dirty="0" sz="2800" spc="-25">
                <a:solidFill>
                  <a:srgbClr val="0000CC"/>
                </a:solidFill>
                <a:latin typeface="黑体"/>
                <a:cs typeface="黑体"/>
              </a:rPr>
              <a:t>提高</a:t>
            </a:r>
            <a:r>
              <a:rPr dirty="0" sz="2800" spc="-25">
                <a:solidFill>
                  <a:srgbClr val="6600FF"/>
                </a:solidFill>
                <a:latin typeface="Times New Roman"/>
                <a:cs typeface="Times New Roman"/>
              </a:rPr>
              <a:t>50%</a:t>
            </a:r>
            <a:r>
              <a:rPr dirty="0" sz="2800" spc="-25">
                <a:solidFill>
                  <a:srgbClr val="0000CC"/>
                </a:solidFill>
                <a:latin typeface="黑体"/>
                <a:cs typeface="黑体"/>
              </a:rPr>
              <a:t>到</a:t>
            </a:r>
            <a:r>
              <a:rPr dirty="0" sz="2800" spc="-25">
                <a:solidFill>
                  <a:srgbClr val="6600FF"/>
                </a:solidFill>
                <a:latin typeface="Times New Roman"/>
                <a:cs typeface="Times New Roman"/>
              </a:rPr>
              <a:t>100%</a:t>
            </a:r>
            <a:r>
              <a:rPr dirty="0" sz="2800" spc="-50">
                <a:solidFill>
                  <a:srgbClr val="0000CC"/>
                </a:solidFill>
                <a:latin typeface="黑体"/>
                <a:cs typeface="黑体"/>
              </a:rPr>
              <a:t>。</a:t>
            </a:r>
            <a:endParaRPr sz="2800">
              <a:latin typeface="黑体"/>
              <a:cs typeface="黑体"/>
            </a:endParaRPr>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341755" algn="l"/>
                <a:tab pos="10788015" algn="l"/>
              </a:tabLst>
            </a:pPr>
            <a:r>
              <a:rPr dirty="0"/>
              <a:t>	6.6</a:t>
            </a:r>
            <a:r>
              <a:rPr dirty="0" spc="5"/>
              <a:t> </a:t>
            </a:r>
            <a:r>
              <a:rPr dirty="0" spc="-10"/>
              <a:t>实例：IA-64</a:t>
            </a:r>
            <a:r>
              <a:rPr dirty="0"/>
              <a:t>体</a:t>
            </a:r>
            <a:r>
              <a:rPr dirty="0" spc="-20"/>
              <a:t>系</a:t>
            </a:r>
            <a:r>
              <a:rPr dirty="0"/>
              <a:t>结</a:t>
            </a:r>
            <a:r>
              <a:rPr dirty="0" spc="-50"/>
              <a:t>构</a:t>
            </a:r>
            <a:r>
              <a:rPr dirty="0"/>
              <a:t>	</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112/89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tabLst>
                <a:tab pos="575310" algn="l"/>
                <a:tab pos="10788015" algn="l"/>
              </a:tabLst>
            </a:pPr>
            <a:r>
              <a:rPr dirty="0"/>
              <a:t>	6.6</a:t>
            </a:r>
            <a:r>
              <a:rPr dirty="0" spc="10"/>
              <a:t> </a:t>
            </a:r>
            <a:r>
              <a:rPr dirty="0"/>
              <a:t>实例</a:t>
            </a:r>
            <a:r>
              <a:rPr dirty="0" spc="-10"/>
              <a:t>：IA-64</a:t>
            </a:r>
            <a:r>
              <a:rPr dirty="0"/>
              <a:t>体</a:t>
            </a:r>
            <a:r>
              <a:rPr dirty="0" spc="-15"/>
              <a:t>系</a:t>
            </a:r>
            <a:r>
              <a:rPr dirty="0"/>
              <a:t>结</a:t>
            </a:r>
            <a:r>
              <a:rPr dirty="0" spc="-50"/>
              <a:t>构</a:t>
            </a:r>
            <a:r>
              <a:rPr dirty="0"/>
              <a:t>	</a:t>
            </a:r>
          </a:p>
        </p:txBody>
      </p:sp>
      <p:sp>
        <p:nvSpPr>
          <p:cNvPr id="9" name="object 9" descr=""/>
          <p:cNvSpPr txBox="1"/>
          <p:nvPr/>
        </p:nvSpPr>
        <p:spPr>
          <a:xfrm>
            <a:off x="4879975" y="1886204"/>
            <a:ext cx="3226435" cy="330835"/>
          </a:xfrm>
          <a:prstGeom prst="rect">
            <a:avLst/>
          </a:prstGeom>
        </p:spPr>
        <p:txBody>
          <a:bodyPr wrap="square" lIns="0" tIns="13335" rIns="0" bIns="0" rtlCol="0" vert="horz">
            <a:spAutoFit/>
          </a:bodyPr>
          <a:lstStyle/>
          <a:p>
            <a:pPr marL="12700">
              <a:lnSpc>
                <a:spcPct val="100000"/>
              </a:lnSpc>
              <a:spcBef>
                <a:spcPts val="105"/>
              </a:spcBef>
            </a:pPr>
            <a:r>
              <a:rPr dirty="0" sz="2000" spc="-10" b="1">
                <a:solidFill>
                  <a:srgbClr val="080808"/>
                </a:solidFill>
                <a:latin typeface="宋体"/>
                <a:cs typeface="宋体"/>
              </a:rPr>
              <a:t>IA-64</a:t>
            </a:r>
            <a:r>
              <a:rPr dirty="0" sz="2000" spc="-25" b="1">
                <a:solidFill>
                  <a:srgbClr val="080808"/>
                </a:solidFill>
                <a:latin typeface="宋体"/>
                <a:cs typeface="宋体"/>
              </a:rPr>
              <a:t>功能单元和操作的类型</a:t>
            </a:r>
            <a:endParaRPr sz="2000">
              <a:latin typeface="宋体"/>
              <a:cs typeface="宋体"/>
            </a:endParaRPr>
          </a:p>
        </p:txBody>
      </p:sp>
      <p:graphicFrame>
        <p:nvGraphicFramePr>
          <p:cNvPr id="10" name="object 10" descr=""/>
          <p:cNvGraphicFramePr>
            <a:graphicFrameLocks noGrp="1"/>
          </p:cNvGraphicFramePr>
          <p:nvPr/>
        </p:nvGraphicFramePr>
        <p:xfrm>
          <a:off x="1841500" y="2343150"/>
          <a:ext cx="8729980" cy="3885565"/>
        </p:xfrm>
        <a:graphic>
          <a:graphicData uri="http://schemas.openxmlformats.org/drawingml/2006/table">
            <a:tbl>
              <a:tblPr firstRow="1" bandRow="1">
                <a:tableStyleId>{2D5ABB26-0587-4C30-8999-92F81FD0307C}</a:tableStyleId>
              </a:tblPr>
              <a:tblGrid>
                <a:gridCol w="1722755"/>
                <a:gridCol w="1230630"/>
                <a:gridCol w="2016760"/>
                <a:gridCol w="3672839"/>
              </a:tblGrid>
              <a:tr h="442595">
                <a:tc>
                  <a:txBody>
                    <a:bodyPr/>
                    <a:lstStyle/>
                    <a:p>
                      <a:pPr algn="ctr">
                        <a:lnSpc>
                          <a:spcPct val="100000"/>
                        </a:lnSpc>
                        <a:spcBef>
                          <a:spcPts val="470"/>
                        </a:spcBef>
                      </a:pPr>
                      <a:r>
                        <a:rPr dirty="0" sz="2000" spc="-10" b="1">
                          <a:solidFill>
                            <a:srgbClr val="E14B04"/>
                          </a:solidFill>
                          <a:latin typeface="微软雅黑"/>
                          <a:cs typeface="微软雅黑"/>
                        </a:rPr>
                        <a:t>功能单元类型</a:t>
                      </a:r>
                      <a:endParaRPr sz="2000">
                        <a:latin typeface="微软雅黑"/>
                        <a:cs typeface="微软雅黑"/>
                      </a:endParaRPr>
                    </a:p>
                  </a:txBody>
                  <a:tcPr marL="0" marR="0" marB="0" marT="5969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70"/>
                        </a:spcBef>
                      </a:pPr>
                      <a:r>
                        <a:rPr dirty="0" sz="2000" spc="-15" b="1">
                          <a:solidFill>
                            <a:srgbClr val="E14B04"/>
                          </a:solidFill>
                          <a:latin typeface="微软雅黑"/>
                          <a:cs typeface="微软雅黑"/>
                        </a:rPr>
                        <a:t>操作类型</a:t>
                      </a:r>
                      <a:endParaRPr sz="2000">
                        <a:latin typeface="微软雅黑"/>
                        <a:cs typeface="微软雅黑"/>
                      </a:endParaRPr>
                    </a:p>
                  </a:txBody>
                  <a:tcPr marL="0" marR="0" marB="0" marT="5969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470"/>
                        </a:spcBef>
                      </a:pPr>
                      <a:r>
                        <a:rPr dirty="0" sz="2000" spc="-25" b="1">
                          <a:solidFill>
                            <a:srgbClr val="E14B04"/>
                          </a:solidFill>
                          <a:latin typeface="微软雅黑"/>
                          <a:cs typeface="微软雅黑"/>
                        </a:rPr>
                        <a:t>描述</a:t>
                      </a:r>
                      <a:endParaRPr sz="2000">
                        <a:latin typeface="微软雅黑"/>
                        <a:cs typeface="微软雅黑"/>
                      </a:endParaRPr>
                    </a:p>
                  </a:txBody>
                  <a:tcPr marL="0" marR="0" marB="0" marT="5969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470"/>
                        </a:spcBef>
                      </a:pPr>
                      <a:r>
                        <a:rPr dirty="0" sz="2000" spc="-15" b="1">
                          <a:solidFill>
                            <a:srgbClr val="E14B04"/>
                          </a:solidFill>
                          <a:latin typeface="微软雅黑"/>
                          <a:cs typeface="微软雅黑"/>
                        </a:rPr>
                        <a:t>操作实例</a:t>
                      </a:r>
                      <a:endParaRPr sz="2000">
                        <a:latin typeface="微软雅黑"/>
                        <a:cs typeface="微软雅黑"/>
                      </a:endParaRPr>
                    </a:p>
                  </a:txBody>
                  <a:tcPr marL="0" marR="0" marB="0" marT="5969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42595">
                <a:tc rowSpan="2">
                  <a:txBody>
                    <a:bodyPr/>
                    <a:lstStyle/>
                    <a:p>
                      <a:pPr>
                        <a:lnSpc>
                          <a:spcPct val="100000"/>
                        </a:lnSpc>
                        <a:spcBef>
                          <a:spcPts val="1275"/>
                        </a:spcBef>
                      </a:pPr>
                      <a:endParaRPr sz="2000">
                        <a:latin typeface="Times New Roman"/>
                        <a:cs typeface="Times New Roman"/>
                      </a:endParaRPr>
                    </a:p>
                    <a:p>
                      <a:pPr marL="549275">
                        <a:lnSpc>
                          <a:spcPct val="100000"/>
                        </a:lnSpc>
                      </a:pPr>
                      <a:r>
                        <a:rPr dirty="0" sz="2000" b="1">
                          <a:solidFill>
                            <a:srgbClr val="008000"/>
                          </a:solidFill>
                          <a:latin typeface="Times New Roman"/>
                          <a:cs typeface="Times New Roman"/>
                        </a:rPr>
                        <a:t>I-</a:t>
                      </a:r>
                      <a:r>
                        <a:rPr dirty="0" sz="2000" spc="-20" b="1">
                          <a:solidFill>
                            <a:srgbClr val="008000"/>
                          </a:solidFill>
                          <a:latin typeface="Times New Roman"/>
                          <a:cs typeface="Times New Roman"/>
                        </a:rPr>
                        <a:t>unit</a:t>
                      </a:r>
                      <a:endParaRPr sz="2000">
                        <a:latin typeface="Times New Roman"/>
                        <a:cs typeface="Times New Roman"/>
                      </a:endParaRPr>
                    </a:p>
                  </a:txBody>
                  <a:tcPr marL="0" marR="0" marB="0" marT="16192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80"/>
                        </a:spcBef>
                      </a:pPr>
                      <a:r>
                        <a:rPr dirty="0" sz="2000" spc="-50" b="1">
                          <a:solidFill>
                            <a:srgbClr val="40458B"/>
                          </a:solidFill>
                          <a:latin typeface="Times New Roman"/>
                          <a:cs typeface="Times New Roman"/>
                        </a:rPr>
                        <a:t>A</a:t>
                      </a:r>
                      <a:endParaRPr sz="2000">
                        <a:latin typeface="Times New Roman"/>
                        <a:cs typeface="Times New Roman"/>
                      </a:endParaRPr>
                    </a:p>
                  </a:txBody>
                  <a:tcPr marL="0" marR="0" marB="0" marT="6096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65"/>
                        </a:spcBef>
                      </a:pPr>
                      <a:r>
                        <a:rPr dirty="0" sz="2000" spc="-10" b="1">
                          <a:solidFill>
                            <a:srgbClr val="40458B"/>
                          </a:solidFill>
                          <a:latin typeface="微软雅黑"/>
                          <a:cs typeface="微软雅黑"/>
                        </a:rPr>
                        <a:t>整数</a:t>
                      </a:r>
                      <a:r>
                        <a:rPr dirty="0" sz="2000" spc="-25" b="1">
                          <a:solidFill>
                            <a:srgbClr val="40458B"/>
                          </a:solidFill>
                          <a:latin typeface="Times New Roman"/>
                          <a:cs typeface="Times New Roman"/>
                        </a:rPr>
                        <a:t>ALU</a:t>
                      </a:r>
                      <a:r>
                        <a:rPr dirty="0" sz="2000" spc="-30" b="1">
                          <a:solidFill>
                            <a:srgbClr val="40458B"/>
                          </a:solidFill>
                          <a:latin typeface="微软雅黑"/>
                          <a:cs typeface="微软雅黑"/>
                        </a:rPr>
                        <a:t>运算</a:t>
                      </a:r>
                      <a:endParaRPr sz="2000">
                        <a:latin typeface="微软雅黑"/>
                        <a:cs typeface="微软雅黑"/>
                      </a:endParaRPr>
                    </a:p>
                  </a:txBody>
                  <a:tcPr marL="0" marR="0" marB="0" marT="5905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465"/>
                        </a:spcBef>
                      </a:pPr>
                      <a:r>
                        <a:rPr dirty="0" sz="2000" spc="-5" b="1">
                          <a:solidFill>
                            <a:srgbClr val="40458B"/>
                          </a:solidFill>
                          <a:latin typeface="微软雅黑"/>
                          <a:cs typeface="微软雅黑"/>
                        </a:rPr>
                        <a:t>加，减，与，或，比较</a:t>
                      </a:r>
                      <a:endParaRPr sz="2000">
                        <a:latin typeface="微软雅黑"/>
                        <a:cs typeface="微软雅黑"/>
                      </a:endParaRPr>
                    </a:p>
                  </a:txBody>
                  <a:tcPr marL="0" marR="0" marB="0" marT="5905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785495">
                <a:tc vMerge="1">
                  <a:txBody>
                    <a:bodyPr/>
                    <a:lstStyle/>
                    <a:p>
                      <a:pPr/>
                    </a:p>
                  </a:txBody>
                  <a:tcPr marL="0" marR="0" marB="0" marT="16192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830"/>
                        </a:spcBef>
                      </a:pPr>
                      <a:r>
                        <a:rPr dirty="0" sz="2000" spc="-50" b="1">
                          <a:solidFill>
                            <a:srgbClr val="40458B"/>
                          </a:solidFill>
                          <a:latin typeface="Times New Roman"/>
                          <a:cs typeface="Times New Roman"/>
                        </a:rPr>
                        <a:t>I</a:t>
                      </a:r>
                      <a:endParaRPr sz="2000">
                        <a:latin typeface="Times New Roman"/>
                        <a:cs typeface="Times New Roman"/>
                      </a:endParaRPr>
                    </a:p>
                  </a:txBody>
                  <a:tcPr marL="0" marR="0" marB="0" marT="2324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1270">
                        <a:lnSpc>
                          <a:spcPct val="100000"/>
                        </a:lnSpc>
                        <a:spcBef>
                          <a:spcPts val="1820"/>
                        </a:spcBef>
                      </a:pPr>
                      <a:r>
                        <a:rPr dirty="0" sz="2000" spc="-10" b="1">
                          <a:solidFill>
                            <a:srgbClr val="40458B"/>
                          </a:solidFill>
                          <a:latin typeface="微软雅黑"/>
                          <a:cs typeface="微软雅黑"/>
                        </a:rPr>
                        <a:t>非</a:t>
                      </a:r>
                      <a:r>
                        <a:rPr dirty="0" sz="2000" spc="-25" b="1">
                          <a:solidFill>
                            <a:srgbClr val="40458B"/>
                          </a:solidFill>
                          <a:latin typeface="Times New Roman"/>
                          <a:cs typeface="Times New Roman"/>
                        </a:rPr>
                        <a:t>ALU</a:t>
                      </a:r>
                      <a:r>
                        <a:rPr dirty="0" sz="2000" spc="-20" b="1">
                          <a:solidFill>
                            <a:srgbClr val="40458B"/>
                          </a:solidFill>
                          <a:latin typeface="微软雅黑"/>
                          <a:cs typeface="微软雅黑"/>
                        </a:rPr>
                        <a:t>整数运算</a:t>
                      </a:r>
                      <a:endParaRPr sz="2000">
                        <a:latin typeface="微软雅黑"/>
                        <a:cs typeface="微软雅黑"/>
                      </a:endParaRPr>
                    </a:p>
                  </a:txBody>
                  <a:tcPr marL="0" marR="0" marB="0" marT="2311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620"/>
                        </a:spcBef>
                      </a:pPr>
                      <a:r>
                        <a:rPr dirty="0" sz="2000" spc="-10" b="1">
                          <a:solidFill>
                            <a:srgbClr val="40458B"/>
                          </a:solidFill>
                          <a:latin typeface="微软雅黑"/>
                          <a:cs typeface="微软雅黑"/>
                        </a:rPr>
                        <a:t>整数和多媒体移位、位测试、</a:t>
                      </a:r>
                      <a:endParaRPr sz="2000">
                        <a:latin typeface="微软雅黑"/>
                        <a:cs typeface="微软雅黑"/>
                      </a:endParaRPr>
                    </a:p>
                    <a:p>
                      <a:pPr marL="92075">
                        <a:lnSpc>
                          <a:spcPct val="100000"/>
                        </a:lnSpc>
                      </a:pPr>
                      <a:r>
                        <a:rPr dirty="0" sz="2000" spc="-25" b="1">
                          <a:solidFill>
                            <a:srgbClr val="40458B"/>
                          </a:solidFill>
                          <a:latin typeface="微软雅黑"/>
                          <a:cs typeface="微软雅黑"/>
                        </a:rPr>
                        <a:t>移动</a:t>
                      </a:r>
                      <a:endParaRPr sz="2000">
                        <a:latin typeface="微软雅黑"/>
                        <a:cs typeface="微软雅黑"/>
                      </a:endParaRPr>
                    </a:p>
                  </a:txBody>
                  <a:tcPr marL="0" marR="0" marB="0" marT="787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42595">
                <a:tc rowSpan="2">
                  <a:txBody>
                    <a:bodyPr/>
                    <a:lstStyle/>
                    <a:p>
                      <a:pPr marL="477520">
                        <a:lnSpc>
                          <a:spcPct val="100000"/>
                        </a:lnSpc>
                        <a:spcBef>
                          <a:spcPts val="2225"/>
                        </a:spcBef>
                      </a:pPr>
                      <a:r>
                        <a:rPr dirty="0" sz="2000" b="1">
                          <a:solidFill>
                            <a:srgbClr val="008000"/>
                          </a:solidFill>
                          <a:latin typeface="Times New Roman"/>
                          <a:cs typeface="Times New Roman"/>
                        </a:rPr>
                        <a:t>M-</a:t>
                      </a:r>
                      <a:r>
                        <a:rPr dirty="0" sz="2000" spc="-20" b="1">
                          <a:solidFill>
                            <a:srgbClr val="008000"/>
                          </a:solidFill>
                          <a:latin typeface="Times New Roman"/>
                          <a:cs typeface="Times New Roman"/>
                        </a:rPr>
                        <a:t>unit</a:t>
                      </a:r>
                      <a:endParaRPr sz="2000">
                        <a:latin typeface="Times New Roman"/>
                        <a:cs typeface="Times New Roman"/>
                      </a:endParaRPr>
                    </a:p>
                  </a:txBody>
                  <a:tcPr marL="0" marR="0" marB="0" marT="2825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84"/>
                        </a:spcBef>
                      </a:pPr>
                      <a:r>
                        <a:rPr dirty="0" sz="2000" spc="-50" b="1">
                          <a:solidFill>
                            <a:srgbClr val="40458B"/>
                          </a:solidFill>
                          <a:latin typeface="Times New Roman"/>
                          <a:cs typeface="Times New Roman"/>
                        </a:rPr>
                        <a:t>A</a:t>
                      </a:r>
                      <a:endParaRPr sz="2000">
                        <a:latin typeface="Times New Roman"/>
                        <a:cs typeface="Times New Roman"/>
                      </a:endParaRPr>
                    </a:p>
                  </a:txBody>
                  <a:tcPr marL="0" marR="0" marB="0" marT="61594">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70"/>
                        </a:spcBef>
                      </a:pPr>
                      <a:r>
                        <a:rPr dirty="0" sz="2000" b="1">
                          <a:solidFill>
                            <a:srgbClr val="40458B"/>
                          </a:solidFill>
                          <a:latin typeface="微软雅黑"/>
                          <a:cs typeface="微软雅黑"/>
                        </a:rPr>
                        <a:t>整数</a:t>
                      </a:r>
                      <a:r>
                        <a:rPr dirty="0" sz="2000" spc="-20" b="1">
                          <a:solidFill>
                            <a:srgbClr val="40458B"/>
                          </a:solidFill>
                          <a:latin typeface="Times New Roman"/>
                          <a:cs typeface="Times New Roman"/>
                        </a:rPr>
                        <a:t>ALU</a:t>
                      </a:r>
                      <a:r>
                        <a:rPr dirty="0" sz="2000" spc="-25" b="1">
                          <a:solidFill>
                            <a:srgbClr val="40458B"/>
                          </a:solidFill>
                          <a:latin typeface="微软雅黑"/>
                          <a:cs typeface="微软雅黑"/>
                        </a:rPr>
                        <a:t>运算</a:t>
                      </a:r>
                      <a:endParaRPr sz="2000">
                        <a:latin typeface="微软雅黑"/>
                        <a:cs typeface="微软雅黑"/>
                      </a:endParaRPr>
                    </a:p>
                  </a:txBody>
                  <a:tcPr marL="0" marR="0" marB="0" marT="5969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470"/>
                        </a:spcBef>
                      </a:pPr>
                      <a:r>
                        <a:rPr dirty="0" sz="2000" spc="-5" b="1">
                          <a:solidFill>
                            <a:srgbClr val="40458B"/>
                          </a:solidFill>
                          <a:latin typeface="微软雅黑"/>
                          <a:cs typeface="微软雅黑"/>
                        </a:rPr>
                        <a:t>加，减，与，或，比较</a:t>
                      </a:r>
                      <a:endParaRPr sz="2000">
                        <a:latin typeface="微软雅黑"/>
                        <a:cs typeface="微软雅黑"/>
                      </a:endParaRPr>
                    </a:p>
                  </a:txBody>
                  <a:tcPr marL="0" marR="0" marB="0" marT="5969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42595">
                <a:tc vMerge="1">
                  <a:txBody>
                    <a:bodyPr/>
                    <a:lstStyle/>
                    <a:p>
                      <a:pPr/>
                    </a:p>
                  </a:txBody>
                  <a:tcPr marL="0" marR="0" marB="0" marT="2825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80"/>
                        </a:spcBef>
                      </a:pPr>
                      <a:r>
                        <a:rPr dirty="0" sz="2000" spc="-50" b="1">
                          <a:solidFill>
                            <a:srgbClr val="40458B"/>
                          </a:solidFill>
                          <a:latin typeface="Times New Roman"/>
                          <a:cs typeface="Times New Roman"/>
                        </a:rPr>
                        <a:t>M</a:t>
                      </a:r>
                      <a:endParaRPr sz="2000">
                        <a:latin typeface="Times New Roman"/>
                        <a:cs typeface="Times New Roman"/>
                      </a:endParaRPr>
                    </a:p>
                  </a:txBody>
                  <a:tcPr marL="0" marR="0" marB="0" marT="6096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470"/>
                        </a:spcBef>
                      </a:pPr>
                      <a:r>
                        <a:rPr dirty="0" sz="2000" spc="-15" b="1">
                          <a:solidFill>
                            <a:srgbClr val="40458B"/>
                          </a:solidFill>
                          <a:latin typeface="微软雅黑"/>
                          <a:cs typeface="微软雅黑"/>
                        </a:rPr>
                        <a:t>访存操作</a:t>
                      </a:r>
                      <a:endParaRPr sz="2000">
                        <a:latin typeface="微软雅黑"/>
                        <a:cs typeface="微软雅黑"/>
                      </a:endParaRPr>
                    </a:p>
                  </a:txBody>
                  <a:tcPr marL="0" marR="0" marB="0" marT="5969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470"/>
                        </a:spcBef>
                      </a:pPr>
                      <a:r>
                        <a:rPr dirty="0" sz="2000" spc="-5" b="1">
                          <a:solidFill>
                            <a:srgbClr val="40458B"/>
                          </a:solidFill>
                          <a:latin typeface="微软雅黑"/>
                          <a:cs typeface="微软雅黑"/>
                        </a:rPr>
                        <a:t>整数</a:t>
                      </a:r>
                      <a:r>
                        <a:rPr dirty="0" sz="2000" b="1">
                          <a:solidFill>
                            <a:srgbClr val="40458B"/>
                          </a:solidFill>
                          <a:latin typeface="Times New Roman"/>
                          <a:cs typeface="Times New Roman"/>
                        </a:rPr>
                        <a:t>/</a:t>
                      </a:r>
                      <a:r>
                        <a:rPr dirty="0" sz="2000" b="1">
                          <a:solidFill>
                            <a:srgbClr val="40458B"/>
                          </a:solidFill>
                          <a:latin typeface="微软雅黑"/>
                          <a:cs typeface="微软雅黑"/>
                        </a:rPr>
                        <a:t>浮点</a:t>
                      </a:r>
                      <a:r>
                        <a:rPr dirty="0" sz="2000" b="1">
                          <a:solidFill>
                            <a:srgbClr val="40458B"/>
                          </a:solidFill>
                          <a:latin typeface="Times New Roman"/>
                          <a:cs typeface="Times New Roman"/>
                        </a:rPr>
                        <a:t>load,</a:t>
                      </a:r>
                      <a:r>
                        <a:rPr dirty="0" sz="2000" spc="-15" b="1">
                          <a:solidFill>
                            <a:srgbClr val="40458B"/>
                          </a:solidFill>
                          <a:latin typeface="Times New Roman"/>
                          <a:cs typeface="Times New Roman"/>
                        </a:rPr>
                        <a:t> </a:t>
                      </a:r>
                      <a:r>
                        <a:rPr dirty="0" sz="2000" spc="-10" b="1">
                          <a:solidFill>
                            <a:srgbClr val="40458B"/>
                          </a:solidFill>
                          <a:latin typeface="Times New Roman"/>
                          <a:cs typeface="Times New Roman"/>
                        </a:rPr>
                        <a:t>store</a:t>
                      </a:r>
                      <a:r>
                        <a:rPr dirty="0" sz="2000" spc="-25" b="1">
                          <a:solidFill>
                            <a:srgbClr val="40458B"/>
                          </a:solidFill>
                          <a:latin typeface="微软雅黑"/>
                          <a:cs typeface="微软雅黑"/>
                        </a:rPr>
                        <a:t>操作</a:t>
                      </a:r>
                      <a:endParaRPr sz="2000">
                        <a:latin typeface="微软雅黑"/>
                        <a:cs typeface="微软雅黑"/>
                      </a:endParaRPr>
                    </a:p>
                  </a:txBody>
                  <a:tcPr marL="0" marR="0" marB="0" marT="5969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44500">
                <a:tc>
                  <a:txBody>
                    <a:bodyPr/>
                    <a:lstStyle/>
                    <a:p>
                      <a:pPr algn="ctr">
                        <a:lnSpc>
                          <a:spcPct val="100000"/>
                        </a:lnSpc>
                        <a:spcBef>
                          <a:spcPts val="490"/>
                        </a:spcBef>
                      </a:pPr>
                      <a:r>
                        <a:rPr dirty="0" sz="2000" spc="-10" b="1">
                          <a:solidFill>
                            <a:srgbClr val="008000"/>
                          </a:solidFill>
                          <a:latin typeface="Times New Roman"/>
                          <a:cs typeface="Times New Roman"/>
                        </a:rPr>
                        <a:t>F-</a:t>
                      </a:r>
                      <a:r>
                        <a:rPr dirty="0" sz="2000" spc="-20" b="1">
                          <a:solidFill>
                            <a:srgbClr val="008000"/>
                          </a:solidFill>
                          <a:latin typeface="Times New Roman"/>
                          <a:cs typeface="Times New Roman"/>
                        </a:rPr>
                        <a:t>unit</a:t>
                      </a:r>
                      <a:endParaRPr sz="2000">
                        <a:latin typeface="Times New Roman"/>
                        <a:cs typeface="Times New Roman"/>
                      </a:endParaRPr>
                    </a:p>
                  </a:txBody>
                  <a:tcPr marL="0" marR="0" marB="0" marT="622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90"/>
                        </a:spcBef>
                      </a:pPr>
                      <a:r>
                        <a:rPr dirty="0" sz="2000" spc="-50" b="1">
                          <a:solidFill>
                            <a:srgbClr val="40458B"/>
                          </a:solidFill>
                          <a:latin typeface="Times New Roman"/>
                          <a:cs typeface="Times New Roman"/>
                        </a:rPr>
                        <a:t>F</a:t>
                      </a:r>
                      <a:endParaRPr sz="2000">
                        <a:latin typeface="Times New Roman"/>
                        <a:cs typeface="Times New Roman"/>
                      </a:endParaRPr>
                    </a:p>
                  </a:txBody>
                  <a:tcPr marL="0" marR="0" marB="0" marT="622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475"/>
                        </a:spcBef>
                      </a:pPr>
                      <a:r>
                        <a:rPr dirty="0" sz="2000" spc="-15" b="1">
                          <a:solidFill>
                            <a:srgbClr val="40458B"/>
                          </a:solidFill>
                          <a:latin typeface="微软雅黑"/>
                          <a:cs typeface="微软雅黑"/>
                        </a:rPr>
                        <a:t>浮点操作</a:t>
                      </a:r>
                      <a:endParaRPr sz="2000">
                        <a:latin typeface="微软雅黑"/>
                        <a:cs typeface="微软雅黑"/>
                      </a:endParaRPr>
                    </a:p>
                  </a:txBody>
                  <a:tcPr marL="0" marR="0" marB="0" marT="6032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475"/>
                        </a:spcBef>
                      </a:pPr>
                      <a:r>
                        <a:rPr dirty="0" sz="2000" spc="-10" b="1">
                          <a:solidFill>
                            <a:srgbClr val="40458B"/>
                          </a:solidFill>
                          <a:latin typeface="微软雅黑"/>
                          <a:cs typeface="微软雅黑"/>
                        </a:rPr>
                        <a:t>各种浮点运算</a:t>
                      </a:r>
                      <a:endParaRPr sz="2000">
                        <a:latin typeface="微软雅黑"/>
                        <a:cs typeface="微软雅黑"/>
                      </a:endParaRPr>
                    </a:p>
                  </a:txBody>
                  <a:tcPr marL="0" marR="0" marB="0" marT="6032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42595">
                <a:tc>
                  <a:txBody>
                    <a:bodyPr/>
                    <a:lstStyle/>
                    <a:p>
                      <a:pPr algn="ctr">
                        <a:lnSpc>
                          <a:spcPct val="100000"/>
                        </a:lnSpc>
                        <a:spcBef>
                          <a:spcPts val="484"/>
                        </a:spcBef>
                      </a:pPr>
                      <a:r>
                        <a:rPr dirty="0" sz="2000" spc="-10" b="1">
                          <a:solidFill>
                            <a:srgbClr val="008000"/>
                          </a:solidFill>
                          <a:latin typeface="Times New Roman"/>
                          <a:cs typeface="Times New Roman"/>
                        </a:rPr>
                        <a:t>B-</a:t>
                      </a:r>
                      <a:r>
                        <a:rPr dirty="0" sz="2000" spc="-20" b="1">
                          <a:solidFill>
                            <a:srgbClr val="008000"/>
                          </a:solidFill>
                          <a:latin typeface="Times New Roman"/>
                          <a:cs typeface="Times New Roman"/>
                        </a:rPr>
                        <a:t>unit</a:t>
                      </a:r>
                      <a:endParaRPr sz="2000">
                        <a:latin typeface="Times New Roman"/>
                        <a:cs typeface="Times New Roman"/>
                      </a:endParaRPr>
                    </a:p>
                  </a:txBody>
                  <a:tcPr marL="0" marR="0" marB="0" marT="61594">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84"/>
                        </a:spcBef>
                      </a:pPr>
                      <a:r>
                        <a:rPr dirty="0" sz="2000" spc="-50" b="1">
                          <a:solidFill>
                            <a:srgbClr val="40458B"/>
                          </a:solidFill>
                          <a:latin typeface="Times New Roman"/>
                          <a:cs typeface="Times New Roman"/>
                        </a:rPr>
                        <a:t>B</a:t>
                      </a:r>
                      <a:endParaRPr sz="2000">
                        <a:latin typeface="Times New Roman"/>
                        <a:cs typeface="Times New Roman"/>
                      </a:endParaRPr>
                    </a:p>
                  </a:txBody>
                  <a:tcPr marL="0" marR="0" marB="0" marT="61594">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470"/>
                        </a:spcBef>
                      </a:pPr>
                      <a:r>
                        <a:rPr dirty="0" sz="2000" spc="-15" b="1">
                          <a:solidFill>
                            <a:srgbClr val="40458B"/>
                          </a:solidFill>
                          <a:latin typeface="微软雅黑"/>
                          <a:cs typeface="微软雅黑"/>
                        </a:rPr>
                        <a:t>分支操作</a:t>
                      </a:r>
                      <a:endParaRPr sz="2000">
                        <a:latin typeface="微软雅黑"/>
                        <a:cs typeface="微软雅黑"/>
                      </a:endParaRPr>
                    </a:p>
                  </a:txBody>
                  <a:tcPr marL="0" marR="0" marB="0" marT="5969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470"/>
                        </a:spcBef>
                      </a:pPr>
                      <a:r>
                        <a:rPr dirty="0" sz="2000" spc="-10" b="1">
                          <a:solidFill>
                            <a:srgbClr val="40458B"/>
                          </a:solidFill>
                          <a:latin typeface="微软雅黑"/>
                          <a:cs typeface="微软雅黑"/>
                        </a:rPr>
                        <a:t>条件分支、无条件分支、调用</a:t>
                      </a:r>
                      <a:endParaRPr sz="2000">
                        <a:latin typeface="微软雅黑"/>
                        <a:cs typeface="微软雅黑"/>
                      </a:endParaRPr>
                    </a:p>
                  </a:txBody>
                  <a:tcPr marL="0" marR="0" marB="0" marT="5969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42595">
                <a:tc>
                  <a:txBody>
                    <a:bodyPr/>
                    <a:lstStyle/>
                    <a:p>
                      <a:pPr algn="ctr">
                        <a:lnSpc>
                          <a:spcPct val="100000"/>
                        </a:lnSpc>
                        <a:spcBef>
                          <a:spcPts val="484"/>
                        </a:spcBef>
                      </a:pPr>
                      <a:r>
                        <a:rPr dirty="0" sz="2000" spc="-25" b="1">
                          <a:solidFill>
                            <a:srgbClr val="008000"/>
                          </a:solidFill>
                          <a:latin typeface="Times New Roman"/>
                          <a:cs typeface="Times New Roman"/>
                        </a:rPr>
                        <a:t>L+X</a:t>
                      </a:r>
                      <a:endParaRPr sz="2000">
                        <a:latin typeface="Times New Roman"/>
                        <a:cs typeface="Times New Roman"/>
                      </a:endParaRPr>
                    </a:p>
                  </a:txBody>
                  <a:tcPr marL="0" marR="0" marB="0" marT="61594">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84"/>
                        </a:spcBef>
                      </a:pPr>
                      <a:r>
                        <a:rPr dirty="0" sz="2000" spc="-25" b="1">
                          <a:solidFill>
                            <a:srgbClr val="40458B"/>
                          </a:solidFill>
                          <a:latin typeface="Times New Roman"/>
                          <a:cs typeface="Times New Roman"/>
                        </a:rPr>
                        <a:t>L+X</a:t>
                      </a:r>
                      <a:endParaRPr sz="2000">
                        <a:latin typeface="Times New Roman"/>
                        <a:cs typeface="Times New Roman"/>
                      </a:endParaRPr>
                    </a:p>
                  </a:txBody>
                  <a:tcPr marL="0" marR="0" marB="0" marT="61594">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475"/>
                        </a:spcBef>
                      </a:pPr>
                      <a:r>
                        <a:rPr dirty="0" sz="2000" spc="-15" b="1">
                          <a:solidFill>
                            <a:srgbClr val="40458B"/>
                          </a:solidFill>
                          <a:latin typeface="微软雅黑"/>
                          <a:cs typeface="微软雅黑"/>
                        </a:rPr>
                        <a:t>扩展操作</a:t>
                      </a:r>
                      <a:endParaRPr sz="2000">
                        <a:latin typeface="微软雅黑"/>
                        <a:cs typeface="微软雅黑"/>
                      </a:endParaRPr>
                    </a:p>
                  </a:txBody>
                  <a:tcPr marL="0" marR="0" marB="0" marT="6032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475"/>
                        </a:spcBef>
                      </a:pPr>
                      <a:r>
                        <a:rPr dirty="0" sz="2000" spc="-5" b="1">
                          <a:solidFill>
                            <a:srgbClr val="40458B"/>
                          </a:solidFill>
                          <a:latin typeface="微软雅黑"/>
                          <a:cs typeface="微软雅黑"/>
                        </a:rPr>
                        <a:t>空操作、扩展的立即数</a:t>
                      </a:r>
                      <a:endParaRPr sz="2000">
                        <a:latin typeface="微软雅黑"/>
                        <a:cs typeface="微软雅黑"/>
                      </a:endParaRPr>
                    </a:p>
                  </a:txBody>
                  <a:tcPr marL="0" marR="0" marB="0" marT="6032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1" name="object 11" descr=""/>
          <p:cNvSpPr txBox="1"/>
          <p:nvPr/>
        </p:nvSpPr>
        <p:spPr>
          <a:xfrm>
            <a:off x="1926717" y="753821"/>
            <a:ext cx="2968625" cy="391795"/>
          </a:xfrm>
          <a:prstGeom prst="rect">
            <a:avLst/>
          </a:prstGeom>
        </p:spPr>
        <p:txBody>
          <a:bodyPr wrap="square" lIns="0" tIns="0" rIns="0" bIns="0" rtlCol="0" vert="horz">
            <a:spAutoFit/>
          </a:bodyPr>
          <a:lstStyle/>
          <a:p>
            <a:pPr marL="12700">
              <a:lnSpc>
                <a:spcPts val="3020"/>
              </a:lnSpc>
            </a:pPr>
            <a:r>
              <a:rPr dirty="0" sz="2600">
                <a:solidFill>
                  <a:srgbClr val="0000CC"/>
                </a:solidFill>
                <a:latin typeface="黑体"/>
                <a:cs typeface="黑体"/>
              </a:rPr>
              <a:t>6.6.1</a:t>
            </a:r>
            <a:r>
              <a:rPr dirty="0" sz="2600" spc="15">
                <a:solidFill>
                  <a:srgbClr val="0000CC"/>
                </a:solidFill>
                <a:latin typeface="黑体"/>
                <a:cs typeface="黑体"/>
              </a:rPr>
              <a:t> </a:t>
            </a:r>
            <a:r>
              <a:rPr dirty="0" sz="2400" spc="-40">
                <a:solidFill>
                  <a:srgbClr val="0000CC"/>
                </a:solidFill>
                <a:latin typeface="Tahoma"/>
                <a:cs typeface="Tahoma"/>
              </a:rPr>
              <a:t>IA-</a:t>
            </a:r>
            <a:r>
              <a:rPr dirty="0" sz="2400" spc="-25">
                <a:solidFill>
                  <a:srgbClr val="0000CC"/>
                </a:solidFill>
                <a:latin typeface="Tahoma"/>
                <a:cs typeface="Tahoma"/>
              </a:rPr>
              <a:t>64</a:t>
            </a:r>
            <a:r>
              <a:rPr dirty="0" sz="2400" spc="-20">
                <a:solidFill>
                  <a:srgbClr val="0000CC"/>
                </a:solidFill>
                <a:latin typeface="黑体"/>
                <a:cs typeface="黑体"/>
              </a:rPr>
              <a:t>指令格式</a:t>
            </a:r>
            <a:endParaRPr sz="2400">
              <a:latin typeface="黑体"/>
              <a:cs typeface="黑体"/>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113/89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1438402" y="1209446"/>
            <a:ext cx="9928860" cy="4054475"/>
          </a:xfrm>
          <a:prstGeom prst="rect">
            <a:avLst/>
          </a:prstGeom>
        </p:spPr>
        <p:txBody>
          <a:bodyPr wrap="square" lIns="0" tIns="12700" rIns="0" bIns="0" rtlCol="0" vert="horz">
            <a:spAutoFit/>
          </a:bodyPr>
          <a:lstStyle/>
          <a:p>
            <a:pPr marL="468630" marR="67945" indent="-456565">
              <a:lnSpc>
                <a:spcPct val="120100"/>
              </a:lnSpc>
              <a:spcBef>
                <a:spcPts val="100"/>
              </a:spcBef>
              <a:buClr>
                <a:srgbClr val="40458B"/>
              </a:buClr>
              <a:buSzPct val="89285"/>
              <a:buFont typeface="Wingdings"/>
              <a:buChar char=""/>
              <a:tabLst>
                <a:tab pos="468630" algn="l"/>
              </a:tabLst>
            </a:pPr>
            <a:r>
              <a:rPr dirty="0" sz="2800" spc="-20">
                <a:solidFill>
                  <a:srgbClr val="0000CC"/>
                </a:solidFill>
                <a:latin typeface="Times New Roman"/>
                <a:cs typeface="Times New Roman"/>
              </a:rPr>
              <a:t>IA-</a:t>
            </a:r>
            <a:r>
              <a:rPr dirty="0" sz="2800" spc="-10">
                <a:solidFill>
                  <a:srgbClr val="0000CC"/>
                </a:solidFill>
                <a:latin typeface="Times New Roman"/>
                <a:cs typeface="Times New Roman"/>
              </a:rPr>
              <a:t>64</a:t>
            </a:r>
            <a:r>
              <a:rPr dirty="0" sz="2800" spc="-40">
                <a:solidFill>
                  <a:srgbClr val="0000CC"/>
                </a:solidFill>
                <a:latin typeface="黑体"/>
                <a:cs typeface="黑体"/>
              </a:rPr>
              <a:t>的目标代码被划分为多个指令组，并按照流出的时间顺序依次排列，编译器指出组边界。</a:t>
            </a:r>
            <a:endParaRPr sz="2800">
              <a:latin typeface="黑体"/>
              <a:cs typeface="黑体"/>
            </a:endParaRPr>
          </a:p>
          <a:p>
            <a:pPr marL="468630" indent="-455930">
              <a:lnSpc>
                <a:spcPct val="100000"/>
              </a:lnSpc>
              <a:spcBef>
                <a:spcPts val="1345"/>
              </a:spcBef>
              <a:buClr>
                <a:srgbClr val="40458B"/>
              </a:buClr>
              <a:buSzPct val="89285"/>
              <a:buFont typeface="Wingdings"/>
              <a:buChar char=""/>
              <a:tabLst>
                <a:tab pos="468630" algn="l"/>
              </a:tabLst>
            </a:pPr>
            <a:r>
              <a:rPr dirty="0" sz="2800" spc="-20">
                <a:solidFill>
                  <a:srgbClr val="0000CC"/>
                </a:solidFill>
                <a:latin typeface="Times New Roman"/>
                <a:cs typeface="Times New Roman"/>
              </a:rPr>
              <a:t>IA-</a:t>
            </a:r>
            <a:r>
              <a:rPr dirty="0" sz="2800" spc="-10">
                <a:solidFill>
                  <a:srgbClr val="0000CC"/>
                </a:solidFill>
                <a:latin typeface="Times New Roman"/>
                <a:cs typeface="Times New Roman"/>
              </a:rPr>
              <a:t>64</a:t>
            </a:r>
            <a:r>
              <a:rPr dirty="0" sz="2800" spc="-35">
                <a:solidFill>
                  <a:srgbClr val="0000CC"/>
                </a:solidFill>
                <a:latin typeface="黑体"/>
                <a:cs typeface="黑体"/>
              </a:rPr>
              <a:t>的指令被称为“</a:t>
            </a:r>
            <a:r>
              <a:rPr dirty="0" sz="2800" spc="-10">
                <a:solidFill>
                  <a:srgbClr val="0000CC"/>
                </a:solidFill>
                <a:latin typeface="Times New Roman"/>
                <a:cs typeface="Times New Roman"/>
              </a:rPr>
              <a:t>bundle”</a:t>
            </a:r>
            <a:r>
              <a:rPr dirty="0" sz="2800" spc="-25">
                <a:solidFill>
                  <a:srgbClr val="0000CC"/>
                </a:solidFill>
                <a:latin typeface="黑体"/>
                <a:cs typeface="黑体"/>
              </a:rPr>
              <a:t>，长</a:t>
            </a:r>
            <a:r>
              <a:rPr dirty="0" sz="2800" spc="-20">
                <a:solidFill>
                  <a:srgbClr val="6600FF"/>
                </a:solidFill>
                <a:latin typeface="Times New Roman"/>
                <a:cs typeface="Times New Roman"/>
              </a:rPr>
              <a:t>128</a:t>
            </a:r>
            <a:r>
              <a:rPr dirty="0" sz="2800" spc="-35">
                <a:solidFill>
                  <a:srgbClr val="0000CC"/>
                </a:solidFill>
                <a:latin typeface="黑体"/>
                <a:cs typeface="黑体"/>
              </a:rPr>
              <a:t>位，包含</a:t>
            </a:r>
            <a:r>
              <a:rPr dirty="0" sz="2800" spc="-20">
                <a:solidFill>
                  <a:srgbClr val="6600FF"/>
                </a:solidFill>
                <a:latin typeface="Times New Roman"/>
                <a:cs typeface="Times New Roman"/>
              </a:rPr>
              <a:t>123</a:t>
            </a:r>
            <a:r>
              <a:rPr dirty="0" sz="2800" spc="-40">
                <a:solidFill>
                  <a:srgbClr val="0000CC"/>
                </a:solidFill>
                <a:latin typeface="黑体"/>
                <a:cs typeface="黑体"/>
              </a:rPr>
              <a:t>位操作信息</a:t>
            </a:r>
            <a:endParaRPr sz="2800">
              <a:latin typeface="黑体"/>
              <a:cs typeface="黑体"/>
            </a:endParaRPr>
          </a:p>
          <a:p>
            <a:pPr marL="468630">
              <a:lnSpc>
                <a:spcPct val="100000"/>
              </a:lnSpc>
              <a:spcBef>
                <a:spcPts val="670"/>
              </a:spcBef>
            </a:pPr>
            <a:r>
              <a:rPr dirty="0" sz="2800" spc="-25">
                <a:solidFill>
                  <a:srgbClr val="0000CC"/>
                </a:solidFill>
                <a:latin typeface="黑体"/>
                <a:cs typeface="黑体"/>
              </a:rPr>
              <a:t>（</a:t>
            </a:r>
            <a:r>
              <a:rPr dirty="0" sz="2800" spc="-25">
                <a:solidFill>
                  <a:srgbClr val="6600FF"/>
                </a:solidFill>
                <a:latin typeface="Times New Roman"/>
                <a:cs typeface="Times New Roman"/>
              </a:rPr>
              <a:t>3</a:t>
            </a:r>
            <a:r>
              <a:rPr dirty="0" sz="2800" spc="-30">
                <a:solidFill>
                  <a:srgbClr val="6600FF"/>
                </a:solidFill>
                <a:latin typeface="黑体"/>
                <a:cs typeface="黑体"/>
              </a:rPr>
              <a:t>个操作×</a:t>
            </a:r>
            <a:r>
              <a:rPr dirty="0" sz="2800" spc="-25">
                <a:solidFill>
                  <a:srgbClr val="6600FF"/>
                </a:solidFill>
                <a:latin typeface="Times New Roman"/>
                <a:cs typeface="Times New Roman"/>
              </a:rPr>
              <a:t>41</a:t>
            </a:r>
            <a:r>
              <a:rPr dirty="0" sz="2800" spc="-40">
                <a:solidFill>
                  <a:srgbClr val="6600FF"/>
                </a:solidFill>
                <a:latin typeface="黑体"/>
                <a:cs typeface="黑体"/>
              </a:rPr>
              <a:t>位</a:t>
            </a:r>
            <a:r>
              <a:rPr dirty="0" sz="2800">
                <a:solidFill>
                  <a:srgbClr val="6600FF"/>
                </a:solidFill>
                <a:latin typeface="Times New Roman"/>
                <a:cs typeface="Times New Roman"/>
              </a:rPr>
              <a:t>/</a:t>
            </a:r>
            <a:r>
              <a:rPr dirty="0" sz="2800" spc="-40">
                <a:solidFill>
                  <a:srgbClr val="6600FF"/>
                </a:solidFill>
                <a:latin typeface="黑体"/>
                <a:cs typeface="黑体"/>
              </a:rPr>
              <a:t>操作</a:t>
            </a:r>
            <a:r>
              <a:rPr dirty="0" sz="2800">
                <a:solidFill>
                  <a:srgbClr val="6600FF"/>
                </a:solidFill>
                <a:latin typeface="Times New Roman"/>
                <a:cs typeface="Times New Roman"/>
              </a:rPr>
              <a:t>=123</a:t>
            </a:r>
            <a:r>
              <a:rPr dirty="0" sz="2800" spc="-40">
                <a:solidFill>
                  <a:srgbClr val="6600FF"/>
                </a:solidFill>
                <a:latin typeface="黑体"/>
                <a:cs typeface="黑体"/>
              </a:rPr>
              <a:t>位</a:t>
            </a:r>
            <a:r>
              <a:rPr dirty="0" sz="2800" spc="-35">
                <a:solidFill>
                  <a:srgbClr val="0000CC"/>
                </a:solidFill>
                <a:latin typeface="黑体"/>
                <a:cs typeface="黑体"/>
              </a:rPr>
              <a:t>）</a:t>
            </a:r>
            <a:r>
              <a:rPr dirty="0" sz="2800" spc="-25">
                <a:solidFill>
                  <a:srgbClr val="0000CC"/>
                </a:solidFill>
                <a:latin typeface="黑体"/>
                <a:cs typeface="黑体"/>
              </a:rPr>
              <a:t>和</a:t>
            </a:r>
            <a:r>
              <a:rPr dirty="0" sz="2800" spc="-30">
                <a:solidFill>
                  <a:srgbClr val="6600FF"/>
                </a:solidFill>
                <a:latin typeface="Times New Roman"/>
                <a:cs typeface="Times New Roman"/>
              </a:rPr>
              <a:t>5</a:t>
            </a:r>
            <a:r>
              <a:rPr dirty="0" sz="2800" spc="-40">
                <a:solidFill>
                  <a:srgbClr val="0000CC"/>
                </a:solidFill>
                <a:latin typeface="黑体"/>
                <a:cs typeface="黑体"/>
              </a:rPr>
              <a:t>位模板信息。</a:t>
            </a:r>
            <a:endParaRPr sz="2800">
              <a:latin typeface="黑体"/>
              <a:cs typeface="黑体"/>
            </a:endParaRPr>
          </a:p>
          <a:p>
            <a:pPr marL="468630" indent="-455930">
              <a:lnSpc>
                <a:spcPct val="100000"/>
              </a:lnSpc>
              <a:spcBef>
                <a:spcPts val="1345"/>
              </a:spcBef>
              <a:buClr>
                <a:srgbClr val="40458B"/>
              </a:buClr>
              <a:buSzPct val="89285"/>
              <a:buFont typeface="Wingdings"/>
              <a:buChar char=""/>
              <a:tabLst>
                <a:tab pos="468630" algn="l"/>
              </a:tabLst>
            </a:pPr>
            <a:r>
              <a:rPr dirty="0" sz="2800" spc="-40">
                <a:solidFill>
                  <a:srgbClr val="0000CC"/>
                </a:solidFill>
                <a:latin typeface="黑体"/>
                <a:cs typeface="黑体"/>
              </a:rPr>
              <a:t>模板位的作用</a:t>
            </a:r>
            <a:endParaRPr sz="2800">
              <a:latin typeface="黑体"/>
              <a:cs typeface="黑体"/>
            </a:endParaRPr>
          </a:p>
          <a:p>
            <a:pPr lvl="1" marL="862330" indent="-213995">
              <a:lnSpc>
                <a:spcPct val="100000"/>
              </a:lnSpc>
              <a:spcBef>
                <a:spcPts val="1090"/>
              </a:spcBef>
              <a:buClr>
                <a:srgbClr val="4668F5"/>
              </a:buClr>
              <a:buSzPct val="60000"/>
              <a:buFont typeface="Wingdings"/>
              <a:buChar char=""/>
              <a:tabLst>
                <a:tab pos="862330" algn="l"/>
              </a:tabLst>
            </a:pPr>
            <a:r>
              <a:rPr dirty="0" sz="2000" spc="-15" b="1">
                <a:solidFill>
                  <a:srgbClr val="FF5CFF"/>
                </a:solidFill>
                <a:latin typeface="宋体"/>
                <a:cs typeface="宋体"/>
              </a:rPr>
              <a:t>简化译码，模板信息指明了</a:t>
            </a:r>
            <a:r>
              <a:rPr dirty="0" sz="2000" spc="-10" b="1">
                <a:solidFill>
                  <a:srgbClr val="FF5CFF"/>
                </a:solidFill>
                <a:latin typeface="Times New Roman"/>
                <a:cs typeface="Times New Roman"/>
              </a:rPr>
              <a:t>bundle</a:t>
            </a:r>
            <a:r>
              <a:rPr dirty="0" sz="2000" spc="-10" b="1">
                <a:solidFill>
                  <a:srgbClr val="FF5CFF"/>
                </a:solidFill>
                <a:latin typeface="宋体"/>
                <a:cs typeface="宋体"/>
              </a:rPr>
              <a:t>中</a:t>
            </a:r>
            <a:r>
              <a:rPr dirty="0" sz="2000" spc="-10" b="1">
                <a:solidFill>
                  <a:srgbClr val="6600FF"/>
                </a:solidFill>
                <a:latin typeface="Times New Roman"/>
                <a:cs typeface="Times New Roman"/>
              </a:rPr>
              <a:t>3</a:t>
            </a:r>
            <a:r>
              <a:rPr dirty="0" sz="2000" spc="-25" b="1">
                <a:solidFill>
                  <a:srgbClr val="FF5CFF"/>
                </a:solidFill>
                <a:latin typeface="宋体"/>
                <a:cs typeface="宋体"/>
              </a:rPr>
              <a:t>个操作的类型以及</a:t>
            </a:r>
            <a:endParaRPr sz="2000">
              <a:latin typeface="宋体"/>
              <a:cs typeface="宋体"/>
            </a:endParaRPr>
          </a:p>
          <a:p>
            <a:pPr marL="838835">
              <a:lnSpc>
                <a:spcPct val="100000"/>
              </a:lnSpc>
              <a:spcBef>
                <a:spcPts val="960"/>
              </a:spcBef>
            </a:pPr>
            <a:r>
              <a:rPr dirty="0" sz="2000" spc="-30" b="1">
                <a:solidFill>
                  <a:srgbClr val="FF5CFF"/>
                </a:solidFill>
                <a:latin typeface="宋体"/>
                <a:cs typeface="宋体"/>
              </a:rPr>
              <a:t>它们分别需要在哪类功能单元上执行。</a:t>
            </a:r>
            <a:endParaRPr sz="2000">
              <a:latin typeface="宋体"/>
              <a:cs typeface="宋体"/>
            </a:endParaRPr>
          </a:p>
          <a:p>
            <a:pPr lvl="1" marL="862330" indent="-213995">
              <a:lnSpc>
                <a:spcPct val="100000"/>
              </a:lnSpc>
              <a:spcBef>
                <a:spcPts val="960"/>
              </a:spcBef>
              <a:buClr>
                <a:srgbClr val="4668F5"/>
              </a:buClr>
              <a:buSzPct val="60000"/>
              <a:buFont typeface="Wingdings"/>
              <a:buChar char=""/>
              <a:tabLst>
                <a:tab pos="862330" algn="l"/>
              </a:tabLst>
            </a:pPr>
            <a:r>
              <a:rPr dirty="0" sz="2000" spc="-25" b="1">
                <a:solidFill>
                  <a:srgbClr val="FF5CFF"/>
                </a:solidFill>
                <a:latin typeface="宋体"/>
                <a:cs typeface="宋体"/>
              </a:rPr>
              <a:t>显式指出指令组边界，模板中定义了停止位。</a:t>
            </a:r>
            <a:endParaRPr sz="2000">
              <a:latin typeface="宋体"/>
              <a:cs typeface="宋体"/>
            </a:endParaRPr>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341755" algn="l"/>
                <a:tab pos="10788015" algn="l"/>
              </a:tabLst>
            </a:pPr>
            <a:r>
              <a:rPr dirty="0"/>
              <a:t>	6.6</a:t>
            </a:r>
            <a:r>
              <a:rPr dirty="0" spc="5"/>
              <a:t> </a:t>
            </a:r>
            <a:r>
              <a:rPr dirty="0" spc="-10"/>
              <a:t>实例：IA-64</a:t>
            </a:r>
            <a:r>
              <a:rPr dirty="0"/>
              <a:t>体</a:t>
            </a:r>
            <a:r>
              <a:rPr dirty="0" spc="-20"/>
              <a:t>系</a:t>
            </a:r>
            <a:r>
              <a:rPr dirty="0"/>
              <a:t>结</a:t>
            </a:r>
            <a:r>
              <a:rPr dirty="0" spc="-50"/>
              <a:t>构</a:t>
            </a:r>
            <a:r>
              <a:rPr dirty="0"/>
              <a:t>	</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114/89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341755" algn="l"/>
                <a:tab pos="10788015" algn="l"/>
              </a:tabLst>
            </a:pPr>
            <a:r>
              <a:rPr dirty="0"/>
              <a:t>	6.6</a:t>
            </a:r>
            <a:r>
              <a:rPr dirty="0" spc="5"/>
              <a:t> </a:t>
            </a:r>
            <a:r>
              <a:rPr dirty="0" spc="-10"/>
              <a:t>实例：IA-64</a:t>
            </a:r>
            <a:r>
              <a:rPr dirty="0"/>
              <a:t>体</a:t>
            </a:r>
            <a:r>
              <a:rPr dirty="0" spc="-20"/>
              <a:t>系</a:t>
            </a:r>
            <a:r>
              <a:rPr dirty="0"/>
              <a:t>结</a:t>
            </a:r>
            <a:r>
              <a:rPr dirty="0" spc="-50"/>
              <a:t>构</a:t>
            </a:r>
            <a:r>
              <a:rPr dirty="0"/>
              <a:t>	</a:t>
            </a:r>
          </a:p>
        </p:txBody>
      </p:sp>
      <p:graphicFrame>
        <p:nvGraphicFramePr>
          <p:cNvPr id="9" name="object 9" descr=""/>
          <p:cNvGraphicFramePr>
            <a:graphicFrameLocks noGrp="1"/>
          </p:cNvGraphicFramePr>
          <p:nvPr/>
        </p:nvGraphicFramePr>
        <p:xfrm>
          <a:off x="2020951" y="1766951"/>
          <a:ext cx="4062729" cy="4692014"/>
        </p:xfrm>
        <a:graphic>
          <a:graphicData uri="http://schemas.openxmlformats.org/drawingml/2006/table">
            <a:tbl>
              <a:tblPr firstRow="1" bandRow="1">
                <a:tableStyleId>{2D5ABB26-0587-4C30-8999-92F81FD0307C}</a:tableStyleId>
              </a:tblPr>
              <a:tblGrid>
                <a:gridCol w="982344"/>
                <a:gridCol w="996950"/>
                <a:gridCol w="996950"/>
                <a:gridCol w="996950"/>
              </a:tblGrid>
              <a:tr h="670560">
                <a:tc>
                  <a:txBody>
                    <a:bodyPr/>
                    <a:lstStyle/>
                    <a:p>
                      <a:pPr algn="ctr">
                        <a:lnSpc>
                          <a:spcPct val="100000"/>
                        </a:lnSpc>
                        <a:spcBef>
                          <a:spcPts val="1560"/>
                        </a:spcBef>
                      </a:pPr>
                      <a:r>
                        <a:rPr dirty="0" sz="1900" spc="-35" b="1">
                          <a:solidFill>
                            <a:srgbClr val="E14B04"/>
                          </a:solidFill>
                          <a:latin typeface="宋体"/>
                          <a:cs typeface="宋体"/>
                        </a:rPr>
                        <a:t>模板值</a:t>
                      </a:r>
                      <a:endParaRPr sz="1900">
                        <a:latin typeface="宋体"/>
                        <a:cs typeface="宋体"/>
                      </a:endParaRPr>
                    </a:p>
                  </a:txBody>
                  <a:tcPr marL="0" marR="0" marB="0" marT="19812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420"/>
                        </a:spcBef>
                      </a:pPr>
                      <a:r>
                        <a:rPr dirty="0" sz="1900" spc="-25" b="1">
                          <a:solidFill>
                            <a:srgbClr val="E14B04"/>
                          </a:solidFill>
                          <a:latin typeface="宋体"/>
                          <a:cs typeface="宋体"/>
                        </a:rPr>
                        <a:t>操作槽</a:t>
                      </a:r>
                      <a:endParaRPr sz="1900">
                        <a:latin typeface="宋体"/>
                        <a:cs typeface="宋体"/>
                      </a:endParaRPr>
                    </a:p>
                    <a:p>
                      <a:pPr algn="ctr">
                        <a:lnSpc>
                          <a:spcPct val="100000"/>
                        </a:lnSpc>
                      </a:pPr>
                      <a:r>
                        <a:rPr dirty="0" sz="1900" spc="-50" b="1">
                          <a:solidFill>
                            <a:srgbClr val="E14B04"/>
                          </a:solidFill>
                          <a:latin typeface="宋体"/>
                          <a:cs typeface="宋体"/>
                        </a:rPr>
                        <a:t>0</a:t>
                      </a:r>
                      <a:endParaRPr sz="1900">
                        <a:latin typeface="宋体"/>
                        <a:cs typeface="宋体"/>
                      </a:endParaRPr>
                    </a:p>
                  </a:txBody>
                  <a:tcPr marL="0" marR="0" marB="0" marT="533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420"/>
                        </a:spcBef>
                      </a:pPr>
                      <a:r>
                        <a:rPr dirty="0" sz="1900" spc="-25" b="1">
                          <a:solidFill>
                            <a:srgbClr val="E14B04"/>
                          </a:solidFill>
                          <a:latin typeface="宋体"/>
                          <a:cs typeface="宋体"/>
                        </a:rPr>
                        <a:t>操作槽</a:t>
                      </a:r>
                      <a:endParaRPr sz="1900">
                        <a:latin typeface="宋体"/>
                        <a:cs typeface="宋体"/>
                      </a:endParaRPr>
                    </a:p>
                    <a:p>
                      <a:pPr algn="ctr">
                        <a:lnSpc>
                          <a:spcPct val="100000"/>
                        </a:lnSpc>
                      </a:pPr>
                      <a:r>
                        <a:rPr dirty="0" sz="1900" spc="-50" b="1">
                          <a:solidFill>
                            <a:srgbClr val="E14B04"/>
                          </a:solidFill>
                          <a:latin typeface="宋体"/>
                          <a:cs typeface="宋体"/>
                        </a:rPr>
                        <a:t>1</a:t>
                      </a:r>
                      <a:endParaRPr sz="1900">
                        <a:latin typeface="宋体"/>
                        <a:cs typeface="宋体"/>
                      </a:endParaRPr>
                    </a:p>
                  </a:txBody>
                  <a:tcPr marL="0" marR="0" marB="0" marT="533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420"/>
                        </a:spcBef>
                      </a:pPr>
                      <a:r>
                        <a:rPr dirty="0" sz="1900" spc="-25" b="1">
                          <a:solidFill>
                            <a:srgbClr val="E14B04"/>
                          </a:solidFill>
                          <a:latin typeface="宋体"/>
                          <a:cs typeface="宋体"/>
                        </a:rPr>
                        <a:t>操作槽</a:t>
                      </a:r>
                      <a:endParaRPr sz="1900">
                        <a:latin typeface="宋体"/>
                        <a:cs typeface="宋体"/>
                      </a:endParaRPr>
                    </a:p>
                    <a:p>
                      <a:pPr algn="ctr">
                        <a:lnSpc>
                          <a:spcPct val="100000"/>
                        </a:lnSpc>
                      </a:pPr>
                      <a:r>
                        <a:rPr dirty="0" sz="1900" spc="-50" b="1">
                          <a:solidFill>
                            <a:srgbClr val="E14B04"/>
                          </a:solidFill>
                          <a:latin typeface="宋体"/>
                          <a:cs typeface="宋体"/>
                        </a:rPr>
                        <a:t>2</a:t>
                      </a:r>
                      <a:endParaRPr sz="1900">
                        <a:latin typeface="宋体"/>
                        <a:cs typeface="宋体"/>
                      </a:endParaRPr>
                    </a:p>
                  </a:txBody>
                  <a:tcPr marL="0" marR="0" marB="0" marT="533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4645">
                <a:tc>
                  <a:txBody>
                    <a:bodyPr/>
                    <a:lstStyle/>
                    <a:p>
                      <a:pPr algn="ctr">
                        <a:lnSpc>
                          <a:spcPct val="100000"/>
                        </a:lnSpc>
                        <a:spcBef>
                          <a:spcPts val="310"/>
                        </a:spcBef>
                      </a:pPr>
                      <a:r>
                        <a:rPr dirty="0" sz="1600" spc="-50" b="1">
                          <a:solidFill>
                            <a:srgbClr val="008000"/>
                          </a:solidFill>
                          <a:latin typeface="Times New Roman"/>
                          <a:cs typeface="Times New Roman"/>
                        </a:rPr>
                        <a:t>0</a:t>
                      </a:r>
                      <a:endParaRPr sz="1600">
                        <a:latin typeface="Times New Roman"/>
                        <a:cs typeface="Times New Roman"/>
                      </a:endParaRPr>
                    </a:p>
                  </a:txBody>
                  <a:tcPr marL="0" marR="0" marB="0" marT="393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dirty="0" sz="1600" spc="-50" b="1">
                          <a:solidFill>
                            <a:srgbClr val="080808"/>
                          </a:solidFill>
                          <a:latin typeface="Times New Roman"/>
                          <a:cs typeface="Times New Roman"/>
                        </a:rPr>
                        <a:t>M</a:t>
                      </a:r>
                      <a:endParaRPr sz="1600">
                        <a:latin typeface="Times New Roman"/>
                        <a:cs typeface="Times New Roman"/>
                      </a:endParaRPr>
                    </a:p>
                  </a:txBody>
                  <a:tcPr marL="0" marR="0" marB="0" marT="393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dirty="0" sz="1600" spc="-50" b="1">
                          <a:solidFill>
                            <a:srgbClr val="080808"/>
                          </a:solidFill>
                          <a:latin typeface="Times New Roman"/>
                          <a:cs typeface="Times New Roman"/>
                        </a:rPr>
                        <a:t>I</a:t>
                      </a:r>
                      <a:endParaRPr sz="1600">
                        <a:latin typeface="Times New Roman"/>
                        <a:cs typeface="Times New Roman"/>
                      </a:endParaRPr>
                    </a:p>
                  </a:txBody>
                  <a:tcPr marL="0" marR="0" marB="0" marT="393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dirty="0" sz="1600" spc="-50" b="1">
                          <a:solidFill>
                            <a:srgbClr val="080808"/>
                          </a:solidFill>
                          <a:latin typeface="Times New Roman"/>
                          <a:cs typeface="Times New Roman"/>
                        </a:rPr>
                        <a:t>I</a:t>
                      </a:r>
                      <a:endParaRPr sz="1600">
                        <a:latin typeface="Times New Roman"/>
                        <a:cs typeface="Times New Roman"/>
                      </a:endParaRPr>
                    </a:p>
                  </a:txBody>
                  <a:tcPr marL="0" marR="0" marB="0" marT="393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5280">
                <a:tc>
                  <a:txBody>
                    <a:bodyPr/>
                    <a:lstStyle/>
                    <a:p>
                      <a:pPr algn="ctr">
                        <a:lnSpc>
                          <a:spcPct val="100000"/>
                        </a:lnSpc>
                        <a:spcBef>
                          <a:spcPts val="310"/>
                        </a:spcBef>
                      </a:pPr>
                      <a:r>
                        <a:rPr dirty="0" sz="1600" spc="-50" b="1">
                          <a:solidFill>
                            <a:srgbClr val="008000"/>
                          </a:solidFill>
                          <a:latin typeface="Times New Roman"/>
                          <a:cs typeface="Times New Roman"/>
                        </a:rPr>
                        <a:t>1</a:t>
                      </a:r>
                      <a:endParaRPr sz="1600">
                        <a:latin typeface="Times New Roman"/>
                        <a:cs typeface="Times New Roman"/>
                      </a:endParaRPr>
                    </a:p>
                  </a:txBody>
                  <a:tcPr marL="0" marR="0" marB="0" marT="393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dirty="0" sz="1600" spc="-50" b="1">
                          <a:solidFill>
                            <a:srgbClr val="080808"/>
                          </a:solidFill>
                          <a:latin typeface="Times New Roman"/>
                          <a:cs typeface="Times New Roman"/>
                        </a:rPr>
                        <a:t>M</a:t>
                      </a:r>
                      <a:endParaRPr sz="1600">
                        <a:latin typeface="Times New Roman"/>
                        <a:cs typeface="Times New Roman"/>
                      </a:endParaRPr>
                    </a:p>
                  </a:txBody>
                  <a:tcPr marL="0" marR="0" marB="0" marT="393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dirty="0" sz="1600" spc="-50" b="1">
                          <a:solidFill>
                            <a:srgbClr val="080808"/>
                          </a:solidFill>
                          <a:latin typeface="Times New Roman"/>
                          <a:cs typeface="Times New Roman"/>
                        </a:rPr>
                        <a:t>I</a:t>
                      </a:r>
                      <a:endParaRPr sz="1600">
                        <a:latin typeface="Times New Roman"/>
                        <a:cs typeface="Times New Roman"/>
                      </a:endParaRPr>
                    </a:p>
                  </a:txBody>
                  <a:tcPr marL="0" marR="0" marB="0" marT="393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dirty="0" sz="1600" spc="-20" b="1">
                          <a:solidFill>
                            <a:srgbClr val="080808"/>
                          </a:solidFill>
                          <a:latin typeface="Times New Roman"/>
                          <a:cs typeface="Times New Roman"/>
                        </a:rPr>
                        <a:t>I</a:t>
                      </a:r>
                      <a:r>
                        <a:rPr dirty="0" sz="1600" spc="-20" b="1">
                          <a:solidFill>
                            <a:srgbClr val="080808"/>
                          </a:solidFill>
                          <a:latin typeface="微软雅黑"/>
                          <a:cs typeface="微软雅黑"/>
                        </a:rPr>
                        <a:t>（</a:t>
                      </a:r>
                      <a:r>
                        <a:rPr dirty="0" sz="1600" spc="-20" b="1">
                          <a:solidFill>
                            <a:srgbClr val="080808"/>
                          </a:solidFill>
                          <a:latin typeface="Times New Roman"/>
                          <a:cs typeface="Times New Roman"/>
                        </a:rPr>
                        <a:t>s</a:t>
                      </a:r>
                      <a:r>
                        <a:rPr dirty="0" sz="1600" spc="-20" b="1">
                          <a:solidFill>
                            <a:srgbClr val="080808"/>
                          </a:solidFill>
                          <a:latin typeface="微软雅黑"/>
                          <a:cs typeface="微软雅黑"/>
                        </a:rPr>
                        <a:t>）</a:t>
                      </a:r>
                      <a:endParaRPr sz="1600">
                        <a:latin typeface="微软雅黑"/>
                        <a:cs typeface="微软雅黑"/>
                      </a:endParaRPr>
                    </a:p>
                  </a:txBody>
                  <a:tcPr marL="0" marR="0" marB="0" marT="38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4645">
                <a:tc>
                  <a:txBody>
                    <a:bodyPr/>
                    <a:lstStyle/>
                    <a:p>
                      <a:pPr algn="ctr">
                        <a:lnSpc>
                          <a:spcPct val="100000"/>
                        </a:lnSpc>
                        <a:spcBef>
                          <a:spcPts val="310"/>
                        </a:spcBef>
                      </a:pPr>
                      <a:r>
                        <a:rPr dirty="0" sz="1600" spc="-50" b="1">
                          <a:solidFill>
                            <a:srgbClr val="008000"/>
                          </a:solidFill>
                          <a:latin typeface="Times New Roman"/>
                          <a:cs typeface="Times New Roman"/>
                        </a:rPr>
                        <a:t>2</a:t>
                      </a:r>
                      <a:endParaRPr sz="1600">
                        <a:latin typeface="Times New Roman"/>
                        <a:cs typeface="Times New Roman"/>
                      </a:endParaRPr>
                    </a:p>
                  </a:txBody>
                  <a:tcPr marL="0" marR="0" marB="0" marT="393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dirty="0" sz="1600" spc="-50" b="1">
                          <a:solidFill>
                            <a:srgbClr val="080808"/>
                          </a:solidFill>
                          <a:latin typeface="Times New Roman"/>
                          <a:cs typeface="Times New Roman"/>
                        </a:rPr>
                        <a:t>M</a:t>
                      </a:r>
                      <a:endParaRPr sz="1600">
                        <a:latin typeface="Times New Roman"/>
                        <a:cs typeface="Times New Roman"/>
                      </a:endParaRPr>
                    </a:p>
                  </a:txBody>
                  <a:tcPr marL="0" marR="0" marB="0" marT="393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dirty="0" sz="1600" spc="-20" b="1">
                          <a:solidFill>
                            <a:srgbClr val="080808"/>
                          </a:solidFill>
                          <a:latin typeface="Times New Roman"/>
                          <a:cs typeface="Times New Roman"/>
                        </a:rPr>
                        <a:t>I</a:t>
                      </a:r>
                      <a:r>
                        <a:rPr dirty="0" sz="1600" spc="-20" b="1">
                          <a:solidFill>
                            <a:srgbClr val="080808"/>
                          </a:solidFill>
                          <a:latin typeface="微软雅黑"/>
                          <a:cs typeface="微软雅黑"/>
                        </a:rPr>
                        <a:t>（</a:t>
                      </a:r>
                      <a:r>
                        <a:rPr dirty="0" sz="1600" spc="-20" b="1">
                          <a:solidFill>
                            <a:srgbClr val="080808"/>
                          </a:solidFill>
                          <a:latin typeface="Times New Roman"/>
                          <a:cs typeface="Times New Roman"/>
                        </a:rPr>
                        <a:t>s</a:t>
                      </a:r>
                      <a:r>
                        <a:rPr dirty="0" sz="1600" spc="-20" b="1">
                          <a:solidFill>
                            <a:srgbClr val="080808"/>
                          </a:solidFill>
                          <a:latin typeface="微软雅黑"/>
                          <a:cs typeface="微软雅黑"/>
                        </a:rPr>
                        <a:t>）</a:t>
                      </a:r>
                      <a:endParaRPr sz="1600">
                        <a:latin typeface="微软雅黑"/>
                        <a:cs typeface="微软雅黑"/>
                      </a:endParaRPr>
                    </a:p>
                  </a:txBody>
                  <a:tcPr marL="0" marR="0" marB="0" marT="38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dirty="0" sz="1600" spc="-50" b="1">
                          <a:solidFill>
                            <a:srgbClr val="080808"/>
                          </a:solidFill>
                          <a:latin typeface="Times New Roman"/>
                          <a:cs typeface="Times New Roman"/>
                        </a:rPr>
                        <a:t>I</a:t>
                      </a:r>
                      <a:endParaRPr sz="1600">
                        <a:latin typeface="Times New Roman"/>
                        <a:cs typeface="Times New Roman"/>
                      </a:endParaRPr>
                    </a:p>
                  </a:txBody>
                  <a:tcPr marL="0" marR="0" marB="0" marT="393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5280">
                <a:tc>
                  <a:txBody>
                    <a:bodyPr/>
                    <a:lstStyle/>
                    <a:p>
                      <a:pPr algn="ctr">
                        <a:lnSpc>
                          <a:spcPct val="100000"/>
                        </a:lnSpc>
                        <a:spcBef>
                          <a:spcPts val="315"/>
                        </a:spcBef>
                      </a:pPr>
                      <a:r>
                        <a:rPr dirty="0" sz="1600" spc="-50" b="1">
                          <a:solidFill>
                            <a:srgbClr val="008000"/>
                          </a:solidFill>
                          <a:latin typeface="Times New Roman"/>
                          <a:cs typeface="Times New Roman"/>
                        </a:rPr>
                        <a:t>3</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dirty="0" sz="1600" spc="-50" b="1">
                          <a:solidFill>
                            <a:srgbClr val="080808"/>
                          </a:solidFill>
                          <a:latin typeface="Times New Roman"/>
                          <a:cs typeface="Times New Roman"/>
                        </a:rPr>
                        <a:t>M</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dirty="0" sz="1600" spc="-20" b="1">
                          <a:solidFill>
                            <a:srgbClr val="080808"/>
                          </a:solidFill>
                          <a:latin typeface="Times New Roman"/>
                          <a:cs typeface="Times New Roman"/>
                        </a:rPr>
                        <a:t>I</a:t>
                      </a:r>
                      <a:r>
                        <a:rPr dirty="0" sz="1600" spc="-20" b="1">
                          <a:solidFill>
                            <a:srgbClr val="080808"/>
                          </a:solidFill>
                          <a:latin typeface="微软雅黑"/>
                          <a:cs typeface="微软雅黑"/>
                        </a:rPr>
                        <a:t>（</a:t>
                      </a:r>
                      <a:r>
                        <a:rPr dirty="0" sz="1600" spc="-20" b="1">
                          <a:solidFill>
                            <a:srgbClr val="080808"/>
                          </a:solidFill>
                          <a:latin typeface="Times New Roman"/>
                          <a:cs typeface="Times New Roman"/>
                        </a:rPr>
                        <a:t>s</a:t>
                      </a:r>
                      <a:r>
                        <a:rPr dirty="0" sz="1600" spc="-20" b="1">
                          <a:solidFill>
                            <a:srgbClr val="080808"/>
                          </a:solidFill>
                          <a:latin typeface="微软雅黑"/>
                          <a:cs typeface="微软雅黑"/>
                        </a:rPr>
                        <a:t>）</a:t>
                      </a:r>
                      <a:endParaRPr sz="1600">
                        <a:latin typeface="微软雅黑"/>
                        <a:cs typeface="微软雅黑"/>
                      </a:endParaRPr>
                    </a:p>
                  </a:txBody>
                  <a:tcPr marL="0" marR="0" marB="0" marT="38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dirty="0" sz="1600" spc="-20" b="1">
                          <a:solidFill>
                            <a:srgbClr val="080808"/>
                          </a:solidFill>
                          <a:latin typeface="Times New Roman"/>
                          <a:cs typeface="Times New Roman"/>
                        </a:rPr>
                        <a:t>I</a:t>
                      </a:r>
                      <a:r>
                        <a:rPr dirty="0" sz="1600" spc="-20" b="1">
                          <a:solidFill>
                            <a:srgbClr val="080808"/>
                          </a:solidFill>
                          <a:latin typeface="微软雅黑"/>
                          <a:cs typeface="微软雅黑"/>
                        </a:rPr>
                        <a:t>（</a:t>
                      </a:r>
                      <a:r>
                        <a:rPr dirty="0" sz="1600" spc="-20" b="1">
                          <a:solidFill>
                            <a:srgbClr val="080808"/>
                          </a:solidFill>
                          <a:latin typeface="Times New Roman"/>
                          <a:cs typeface="Times New Roman"/>
                        </a:rPr>
                        <a:t>s</a:t>
                      </a:r>
                      <a:r>
                        <a:rPr dirty="0" sz="1600" spc="-20" b="1">
                          <a:solidFill>
                            <a:srgbClr val="080808"/>
                          </a:solidFill>
                          <a:latin typeface="微软雅黑"/>
                          <a:cs typeface="微软雅黑"/>
                        </a:rPr>
                        <a:t>）</a:t>
                      </a:r>
                      <a:endParaRPr sz="1600">
                        <a:latin typeface="微软雅黑"/>
                        <a:cs typeface="微软雅黑"/>
                      </a:endParaRPr>
                    </a:p>
                  </a:txBody>
                  <a:tcPr marL="0" marR="0" marB="0" marT="38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5280">
                <a:tc>
                  <a:txBody>
                    <a:bodyPr/>
                    <a:lstStyle/>
                    <a:p>
                      <a:pPr algn="ctr">
                        <a:lnSpc>
                          <a:spcPct val="100000"/>
                        </a:lnSpc>
                        <a:spcBef>
                          <a:spcPts val="315"/>
                        </a:spcBef>
                      </a:pPr>
                      <a:r>
                        <a:rPr dirty="0" sz="1600" spc="-50" b="1">
                          <a:solidFill>
                            <a:srgbClr val="008000"/>
                          </a:solidFill>
                          <a:latin typeface="Times New Roman"/>
                          <a:cs typeface="Times New Roman"/>
                        </a:rPr>
                        <a:t>4</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dirty="0" sz="1600" spc="-50" b="1">
                          <a:solidFill>
                            <a:srgbClr val="080808"/>
                          </a:solidFill>
                          <a:latin typeface="Times New Roman"/>
                          <a:cs typeface="Times New Roman"/>
                        </a:rPr>
                        <a:t>M</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dirty="0" sz="1600" spc="-50" b="1">
                          <a:solidFill>
                            <a:srgbClr val="080808"/>
                          </a:solidFill>
                          <a:latin typeface="Times New Roman"/>
                          <a:cs typeface="Times New Roman"/>
                        </a:rPr>
                        <a:t>L</a:t>
                      </a:r>
                      <a:endParaRPr sz="1600">
                        <a:latin typeface="Times New Roman"/>
                        <a:cs typeface="Times New Roman"/>
                      </a:endParaRPr>
                    </a:p>
                  </a:txBody>
                  <a:tcPr marL="0" marR="0" marB="0" marT="40005">
                    <a:lnL w="12700">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1905">
                        <a:lnSpc>
                          <a:spcPct val="100000"/>
                        </a:lnSpc>
                        <a:spcBef>
                          <a:spcPts val="315"/>
                        </a:spcBef>
                      </a:pPr>
                      <a:r>
                        <a:rPr dirty="0" sz="1600" spc="-50" b="1">
                          <a:solidFill>
                            <a:srgbClr val="080808"/>
                          </a:solidFill>
                          <a:latin typeface="Times New Roman"/>
                          <a:cs typeface="Times New Roman"/>
                        </a:rPr>
                        <a:t>X</a:t>
                      </a:r>
                      <a:endParaRPr sz="1600">
                        <a:latin typeface="Times New Roman"/>
                        <a:cs typeface="Times New Roman"/>
                      </a:endParaRPr>
                    </a:p>
                  </a:txBody>
                  <a:tcPr marL="0" marR="0" marB="0" marT="40005">
                    <a:lnL w="952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5280">
                <a:tc>
                  <a:txBody>
                    <a:bodyPr/>
                    <a:lstStyle/>
                    <a:p>
                      <a:pPr algn="ctr">
                        <a:lnSpc>
                          <a:spcPct val="100000"/>
                        </a:lnSpc>
                        <a:spcBef>
                          <a:spcPts val="315"/>
                        </a:spcBef>
                      </a:pPr>
                      <a:r>
                        <a:rPr dirty="0" sz="1600" spc="-50" b="1">
                          <a:solidFill>
                            <a:srgbClr val="008000"/>
                          </a:solidFill>
                          <a:latin typeface="Times New Roman"/>
                          <a:cs typeface="Times New Roman"/>
                        </a:rPr>
                        <a:t>5</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dirty="0" sz="1600" spc="-50" b="1">
                          <a:solidFill>
                            <a:srgbClr val="080808"/>
                          </a:solidFill>
                          <a:latin typeface="Times New Roman"/>
                          <a:cs typeface="Times New Roman"/>
                        </a:rPr>
                        <a:t>M</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dirty="0" sz="1600" spc="-50" b="1">
                          <a:solidFill>
                            <a:srgbClr val="080808"/>
                          </a:solidFill>
                          <a:latin typeface="Times New Roman"/>
                          <a:cs typeface="Times New Roman"/>
                        </a:rPr>
                        <a:t>L</a:t>
                      </a:r>
                      <a:endParaRPr sz="1600">
                        <a:latin typeface="Times New Roman"/>
                        <a:cs typeface="Times New Roman"/>
                      </a:endParaRPr>
                    </a:p>
                  </a:txBody>
                  <a:tcPr marL="0" marR="0" marB="0" marT="40005">
                    <a:lnL w="12700">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300"/>
                        </a:spcBef>
                      </a:pPr>
                      <a:r>
                        <a:rPr dirty="0" sz="1600" spc="-20" b="1">
                          <a:solidFill>
                            <a:srgbClr val="080808"/>
                          </a:solidFill>
                          <a:latin typeface="Times New Roman"/>
                          <a:cs typeface="Times New Roman"/>
                        </a:rPr>
                        <a:t>X</a:t>
                      </a:r>
                      <a:r>
                        <a:rPr dirty="0" sz="1600" spc="-20" b="1">
                          <a:solidFill>
                            <a:srgbClr val="080808"/>
                          </a:solidFill>
                          <a:latin typeface="微软雅黑"/>
                          <a:cs typeface="微软雅黑"/>
                        </a:rPr>
                        <a:t>（</a:t>
                      </a:r>
                      <a:r>
                        <a:rPr dirty="0" sz="1600" spc="-20" b="1">
                          <a:solidFill>
                            <a:srgbClr val="080808"/>
                          </a:solidFill>
                          <a:latin typeface="Times New Roman"/>
                          <a:cs typeface="Times New Roman"/>
                        </a:rPr>
                        <a:t>s</a:t>
                      </a:r>
                      <a:r>
                        <a:rPr dirty="0" sz="1600" spc="-20" b="1">
                          <a:solidFill>
                            <a:srgbClr val="080808"/>
                          </a:solidFill>
                          <a:latin typeface="微软雅黑"/>
                          <a:cs typeface="微软雅黑"/>
                        </a:rPr>
                        <a:t>）</a:t>
                      </a:r>
                      <a:endParaRPr sz="1600">
                        <a:latin typeface="微软雅黑"/>
                        <a:cs typeface="微软雅黑"/>
                      </a:endParaRPr>
                    </a:p>
                  </a:txBody>
                  <a:tcPr marL="0" marR="0" marB="0" marT="38100">
                    <a:lnL w="952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5280">
                <a:tc>
                  <a:txBody>
                    <a:bodyPr/>
                    <a:lstStyle/>
                    <a:p>
                      <a:pPr algn="ctr">
                        <a:lnSpc>
                          <a:spcPct val="100000"/>
                        </a:lnSpc>
                        <a:spcBef>
                          <a:spcPts val="315"/>
                        </a:spcBef>
                      </a:pPr>
                      <a:r>
                        <a:rPr dirty="0" sz="1600" spc="-50" b="1">
                          <a:solidFill>
                            <a:srgbClr val="008000"/>
                          </a:solidFill>
                          <a:latin typeface="Times New Roman"/>
                          <a:cs typeface="Times New Roman"/>
                        </a:rPr>
                        <a:t>8</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dirty="0" sz="1600" spc="-50" b="1">
                          <a:solidFill>
                            <a:srgbClr val="080808"/>
                          </a:solidFill>
                          <a:latin typeface="Times New Roman"/>
                          <a:cs typeface="Times New Roman"/>
                        </a:rPr>
                        <a:t>M</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dirty="0" sz="1600" spc="-50" b="1">
                          <a:solidFill>
                            <a:srgbClr val="080808"/>
                          </a:solidFill>
                          <a:latin typeface="Times New Roman"/>
                          <a:cs typeface="Times New Roman"/>
                        </a:rPr>
                        <a:t>M</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dirty="0" sz="1600" spc="-50" b="1">
                          <a:solidFill>
                            <a:srgbClr val="080808"/>
                          </a:solidFill>
                          <a:latin typeface="Times New Roman"/>
                          <a:cs typeface="Times New Roman"/>
                        </a:rPr>
                        <a:t>I</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4645">
                <a:tc>
                  <a:txBody>
                    <a:bodyPr/>
                    <a:lstStyle/>
                    <a:p>
                      <a:pPr algn="ctr">
                        <a:lnSpc>
                          <a:spcPct val="100000"/>
                        </a:lnSpc>
                        <a:spcBef>
                          <a:spcPts val="315"/>
                        </a:spcBef>
                      </a:pPr>
                      <a:r>
                        <a:rPr dirty="0" sz="1600" spc="-50" b="1">
                          <a:solidFill>
                            <a:srgbClr val="008000"/>
                          </a:solidFill>
                          <a:latin typeface="Times New Roman"/>
                          <a:cs typeface="Times New Roman"/>
                        </a:rPr>
                        <a:t>9</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dirty="0" sz="1600" spc="-50" b="1">
                          <a:solidFill>
                            <a:srgbClr val="080808"/>
                          </a:solidFill>
                          <a:latin typeface="Times New Roman"/>
                          <a:cs typeface="Times New Roman"/>
                        </a:rPr>
                        <a:t>M</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dirty="0" sz="1600" spc="-50" b="1">
                          <a:solidFill>
                            <a:srgbClr val="080808"/>
                          </a:solidFill>
                          <a:latin typeface="Times New Roman"/>
                          <a:cs typeface="Times New Roman"/>
                        </a:rPr>
                        <a:t>M</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dirty="0" sz="1600" spc="-20" b="1">
                          <a:solidFill>
                            <a:srgbClr val="080808"/>
                          </a:solidFill>
                          <a:latin typeface="Times New Roman"/>
                          <a:cs typeface="Times New Roman"/>
                        </a:rPr>
                        <a:t>I</a:t>
                      </a:r>
                      <a:r>
                        <a:rPr dirty="0" sz="1600" spc="-20" b="1">
                          <a:solidFill>
                            <a:srgbClr val="080808"/>
                          </a:solidFill>
                          <a:latin typeface="微软雅黑"/>
                          <a:cs typeface="微软雅黑"/>
                        </a:rPr>
                        <a:t>（</a:t>
                      </a:r>
                      <a:r>
                        <a:rPr dirty="0" sz="1600" spc="-20" b="1">
                          <a:solidFill>
                            <a:srgbClr val="080808"/>
                          </a:solidFill>
                          <a:latin typeface="Times New Roman"/>
                          <a:cs typeface="Times New Roman"/>
                        </a:rPr>
                        <a:t>s</a:t>
                      </a:r>
                      <a:r>
                        <a:rPr dirty="0" sz="1600" spc="-20" b="1">
                          <a:solidFill>
                            <a:srgbClr val="080808"/>
                          </a:solidFill>
                          <a:latin typeface="微软雅黑"/>
                          <a:cs typeface="微软雅黑"/>
                        </a:rPr>
                        <a:t>）</a:t>
                      </a:r>
                      <a:endParaRPr sz="1600">
                        <a:latin typeface="微软雅黑"/>
                        <a:cs typeface="微软雅黑"/>
                      </a:endParaRPr>
                    </a:p>
                  </a:txBody>
                  <a:tcPr marL="0" marR="0" marB="0" marT="387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5280">
                <a:tc>
                  <a:txBody>
                    <a:bodyPr/>
                    <a:lstStyle/>
                    <a:p>
                      <a:pPr algn="ctr" marL="635">
                        <a:lnSpc>
                          <a:spcPct val="100000"/>
                        </a:lnSpc>
                        <a:spcBef>
                          <a:spcPts val="315"/>
                        </a:spcBef>
                      </a:pPr>
                      <a:r>
                        <a:rPr dirty="0" sz="1600" spc="-25" b="1">
                          <a:solidFill>
                            <a:srgbClr val="008000"/>
                          </a:solidFill>
                          <a:latin typeface="Times New Roman"/>
                          <a:cs typeface="Times New Roman"/>
                        </a:rPr>
                        <a:t>10</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dirty="0" sz="1600" spc="-20" b="1">
                          <a:solidFill>
                            <a:srgbClr val="080808"/>
                          </a:solidFill>
                          <a:latin typeface="Times New Roman"/>
                          <a:cs typeface="Times New Roman"/>
                        </a:rPr>
                        <a:t>M</a:t>
                      </a:r>
                      <a:r>
                        <a:rPr dirty="0" sz="1600" spc="-20" b="1">
                          <a:solidFill>
                            <a:srgbClr val="080808"/>
                          </a:solidFill>
                          <a:latin typeface="微软雅黑"/>
                          <a:cs typeface="微软雅黑"/>
                        </a:rPr>
                        <a:t>（</a:t>
                      </a:r>
                      <a:r>
                        <a:rPr dirty="0" sz="1600" spc="-20" b="1">
                          <a:solidFill>
                            <a:srgbClr val="080808"/>
                          </a:solidFill>
                          <a:latin typeface="Times New Roman"/>
                          <a:cs typeface="Times New Roman"/>
                        </a:rPr>
                        <a:t>s</a:t>
                      </a:r>
                      <a:r>
                        <a:rPr dirty="0" sz="1600" spc="-20" b="1">
                          <a:solidFill>
                            <a:srgbClr val="080808"/>
                          </a:solidFill>
                          <a:latin typeface="微软雅黑"/>
                          <a:cs typeface="微软雅黑"/>
                        </a:rPr>
                        <a:t>）</a:t>
                      </a:r>
                      <a:endParaRPr sz="1600">
                        <a:latin typeface="微软雅黑"/>
                        <a:cs typeface="微软雅黑"/>
                      </a:endParaRPr>
                    </a:p>
                  </a:txBody>
                  <a:tcPr marL="0" marR="0" marB="0" marT="387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dirty="0" sz="1600" spc="-50" b="1">
                          <a:solidFill>
                            <a:srgbClr val="080808"/>
                          </a:solidFill>
                          <a:latin typeface="Times New Roman"/>
                          <a:cs typeface="Times New Roman"/>
                        </a:rPr>
                        <a:t>M</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dirty="0" sz="1600" spc="-50" b="1">
                          <a:solidFill>
                            <a:srgbClr val="080808"/>
                          </a:solidFill>
                          <a:latin typeface="Times New Roman"/>
                          <a:cs typeface="Times New Roman"/>
                        </a:rPr>
                        <a:t>I</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5280">
                <a:tc>
                  <a:txBody>
                    <a:bodyPr/>
                    <a:lstStyle/>
                    <a:p>
                      <a:pPr algn="ctr" marR="3810">
                        <a:lnSpc>
                          <a:spcPct val="100000"/>
                        </a:lnSpc>
                        <a:spcBef>
                          <a:spcPts val="320"/>
                        </a:spcBef>
                      </a:pPr>
                      <a:r>
                        <a:rPr dirty="0" sz="1600" spc="-25" b="1">
                          <a:solidFill>
                            <a:srgbClr val="008000"/>
                          </a:solidFill>
                          <a:latin typeface="Times New Roman"/>
                          <a:cs typeface="Times New Roman"/>
                        </a:rPr>
                        <a:t>11</a:t>
                      </a:r>
                      <a:endParaRPr sz="16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dirty="0" sz="1600" spc="-20" b="1">
                          <a:solidFill>
                            <a:srgbClr val="080808"/>
                          </a:solidFill>
                          <a:latin typeface="Times New Roman"/>
                          <a:cs typeface="Times New Roman"/>
                        </a:rPr>
                        <a:t>M</a:t>
                      </a:r>
                      <a:r>
                        <a:rPr dirty="0" sz="1600" spc="-20" b="1">
                          <a:solidFill>
                            <a:srgbClr val="080808"/>
                          </a:solidFill>
                          <a:latin typeface="微软雅黑"/>
                          <a:cs typeface="微软雅黑"/>
                        </a:rPr>
                        <a:t>（</a:t>
                      </a:r>
                      <a:r>
                        <a:rPr dirty="0" sz="1600" spc="-20" b="1">
                          <a:solidFill>
                            <a:srgbClr val="080808"/>
                          </a:solidFill>
                          <a:latin typeface="Times New Roman"/>
                          <a:cs typeface="Times New Roman"/>
                        </a:rPr>
                        <a:t>s</a:t>
                      </a:r>
                      <a:r>
                        <a:rPr dirty="0" sz="1600" spc="-20" b="1">
                          <a:solidFill>
                            <a:srgbClr val="080808"/>
                          </a:solidFill>
                          <a:latin typeface="微软雅黑"/>
                          <a:cs typeface="微软雅黑"/>
                        </a:rPr>
                        <a:t>）</a:t>
                      </a:r>
                      <a:endParaRPr sz="1600">
                        <a:latin typeface="微软雅黑"/>
                        <a:cs typeface="微软雅黑"/>
                      </a:endParaRPr>
                    </a:p>
                  </a:txBody>
                  <a:tcPr marL="0" marR="0" marB="0" marT="387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0"/>
                        </a:spcBef>
                      </a:pPr>
                      <a:r>
                        <a:rPr dirty="0" sz="1600" spc="-50" b="1">
                          <a:solidFill>
                            <a:srgbClr val="080808"/>
                          </a:solidFill>
                          <a:latin typeface="Times New Roman"/>
                          <a:cs typeface="Times New Roman"/>
                        </a:rPr>
                        <a:t>M</a:t>
                      </a:r>
                      <a:endParaRPr sz="16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dirty="0" sz="1600" spc="-20" b="1">
                          <a:solidFill>
                            <a:srgbClr val="080808"/>
                          </a:solidFill>
                          <a:latin typeface="Times New Roman"/>
                          <a:cs typeface="Times New Roman"/>
                        </a:rPr>
                        <a:t>I</a:t>
                      </a:r>
                      <a:r>
                        <a:rPr dirty="0" sz="1600" spc="-20" b="1">
                          <a:solidFill>
                            <a:srgbClr val="080808"/>
                          </a:solidFill>
                          <a:latin typeface="微软雅黑"/>
                          <a:cs typeface="微软雅黑"/>
                        </a:rPr>
                        <a:t>（</a:t>
                      </a:r>
                      <a:r>
                        <a:rPr dirty="0" sz="1600" spc="-20" b="1">
                          <a:solidFill>
                            <a:srgbClr val="080808"/>
                          </a:solidFill>
                          <a:latin typeface="Times New Roman"/>
                          <a:cs typeface="Times New Roman"/>
                        </a:rPr>
                        <a:t>s</a:t>
                      </a:r>
                      <a:r>
                        <a:rPr dirty="0" sz="1600" spc="-20" b="1">
                          <a:solidFill>
                            <a:srgbClr val="080808"/>
                          </a:solidFill>
                          <a:latin typeface="微软雅黑"/>
                          <a:cs typeface="微软雅黑"/>
                        </a:rPr>
                        <a:t>）</a:t>
                      </a:r>
                      <a:endParaRPr sz="1600">
                        <a:latin typeface="微软雅黑"/>
                        <a:cs typeface="微软雅黑"/>
                      </a:endParaRPr>
                    </a:p>
                  </a:txBody>
                  <a:tcPr marL="0" marR="0" marB="0" marT="387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5280">
                <a:tc>
                  <a:txBody>
                    <a:bodyPr/>
                    <a:lstStyle/>
                    <a:p>
                      <a:pPr algn="ctr" marL="635">
                        <a:lnSpc>
                          <a:spcPct val="100000"/>
                        </a:lnSpc>
                        <a:spcBef>
                          <a:spcPts val="315"/>
                        </a:spcBef>
                      </a:pPr>
                      <a:r>
                        <a:rPr dirty="0" sz="1600" spc="-25" b="1">
                          <a:solidFill>
                            <a:srgbClr val="008000"/>
                          </a:solidFill>
                          <a:latin typeface="Times New Roman"/>
                          <a:cs typeface="Times New Roman"/>
                        </a:rPr>
                        <a:t>12</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dirty="0" sz="1600" spc="-50" b="1">
                          <a:solidFill>
                            <a:srgbClr val="080808"/>
                          </a:solidFill>
                          <a:latin typeface="Times New Roman"/>
                          <a:cs typeface="Times New Roman"/>
                        </a:rPr>
                        <a:t>M</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315"/>
                        </a:spcBef>
                      </a:pPr>
                      <a:r>
                        <a:rPr dirty="0" sz="1600" spc="-50" b="1">
                          <a:solidFill>
                            <a:srgbClr val="080808"/>
                          </a:solidFill>
                          <a:latin typeface="Times New Roman"/>
                          <a:cs typeface="Times New Roman"/>
                        </a:rPr>
                        <a:t>F</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dirty="0" sz="1600" spc="-50" b="1">
                          <a:solidFill>
                            <a:srgbClr val="080808"/>
                          </a:solidFill>
                          <a:latin typeface="Times New Roman"/>
                          <a:cs typeface="Times New Roman"/>
                        </a:rPr>
                        <a:t>I</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5280">
                <a:tc>
                  <a:txBody>
                    <a:bodyPr/>
                    <a:lstStyle/>
                    <a:p>
                      <a:pPr algn="ctr" marL="635">
                        <a:lnSpc>
                          <a:spcPct val="100000"/>
                        </a:lnSpc>
                        <a:spcBef>
                          <a:spcPts val="315"/>
                        </a:spcBef>
                      </a:pPr>
                      <a:r>
                        <a:rPr dirty="0" sz="1600" spc="-25" b="1">
                          <a:solidFill>
                            <a:srgbClr val="008000"/>
                          </a:solidFill>
                          <a:latin typeface="Times New Roman"/>
                          <a:cs typeface="Times New Roman"/>
                        </a:rPr>
                        <a:t>13</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dirty="0" sz="1600" spc="-50" b="1">
                          <a:solidFill>
                            <a:srgbClr val="080808"/>
                          </a:solidFill>
                          <a:latin typeface="Times New Roman"/>
                          <a:cs typeface="Times New Roman"/>
                        </a:rPr>
                        <a:t>M</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1270">
                        <a:lnSpc>
                          <a:spcPct val="100000"/>
                        </a:lnSpc>
                        <a:spcBef>
                          <a:spcPts val="315"/>
                        </a:spcBef>
                      </a:pPr>
                      <a:r>
                        <a:rPr dirty="0" sz="1600" spc="-50" b="1">
                          <a:solidFill>
                            <a:srgbClr val="080808"/>
                          </a:solidFill>
                          <a:latin typeface="Times New Roman"/>
                          <a:cs typeface="Times New Roman"/>
                        </a:rPr>
                        <a:t>F</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dirty="0" sz="1600" spc="-20" b="1">
                          <a:solidFill>
                            <a:srgbClr val="080808"/>
                          </a:solidFill>
                          <a:latin typeface="Times New Roman"/>
                          <a:cs typeface="Times New Roman"/>
                        </a:rPr>
                        <a:t>I</a:t>
                      </a:r>
                      <a:r>
                        <a:rPr dirty="0" sz="1600" spc="-20" b="1">
                          <a:solidFill>
                            <a:srgbClr val="080808"/>
                          </a:solidFill>
                          <a:latin typeface="微软雅黑"/>
                          <a:cs typeface="微软雅黑"/>
                        </a:rPr>
                        <a:t>（</a:t>
                      </a:r>
                      <a:r>
                        <a:rPr dirty="0" sz="1600" spc="-20" b="1">
                          <a:solidFill>
                            <a:srgbClr val="080808"/>
                          </a:solidFill>
                          <a:latin typeface="Times New Roman"/>
                          <a:cs typeface="Times New Roman"/>
                        </a:rPr>
                        <a:t>s</a:t>
                      </a:r>
                      <a:r>
                        <a:rPr dirty="0" sz="1600" spc="-20" b="1">
                          <a:solidFill>
                            <a:srgbClr val="080808"/>
                          </a:solidFill>
                          <a:latin typeface="微软雅黑"/>
                          <a:cs typeface="微软雅黑"/>
                        </a:rPr>
                        <a:t>）</a:t>
                      </a:r>
                      <a:endParaRPr sz="1600">
                        <a:latin typeface="微软雅黑"/>
                        <a:cs typeface="微软雅黑"/>
                      </a:endParaRPr>
                    </a:p>
                  </a:txBody>
                  <a:tcPr marL="0" marR="0" marB="0" marT="387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graphicFrame>
        <p:nvGraphicFramePr>
          <p:cNvPr id="10" name="object 10" descr=""/>
          <p:cNvGraphicFramePr>
            <a:graphicFrameLocks noGrp="1"/>
          </p:cNvGraphicFramePr>
          <p:nvPr/>
        </p:nvGraphicFramePr>
        <p:xfrm>
          <a:off x="6126226" y="1766951"/>
          <a:ext cx="4121150" cy="4692014"/>
        </p:xfrm>
        <a:graphic>
          <a:graphicData uri="http://schemas.openxmlformats.org/drawingml/2006/table">
            <a:tbl>
              <a:tblPr firstRow="1" bandRow="1">
                <a:tableStyleId>{2D5ABB26-0587-4C30-8999-92F81FD0307C}</a:tableStyleId>
              </a:tblPr>
              <a:tblGrid>
                <a:gridCol w="1007744"/>
                <a:gridCol w="1007744"/>
                <a:gridCol w="1007744"/>
                <a:gridCol w="1007744"/>
              </a:tblGrid>
              <a:tr h="670560">
                <a:tc>
                  <a:txBody>
                    <a:bodyPr/>
                    <a:lstStyle/>
                    <a:p>
                      <a:pPr algn="ctr" marL="2540">
                        <a:lnSpc>
                          <a:spcPct val="100000"/>
                        </a:lnSpc>
                        <a:spcBef>
                          <a:spcPts val="1560"/>
                        </a:spcBef>
                      </a:pPr>
                      <a:r>
                        <a:rPr dirty="0" sz="1900" spc="-25" b="1">
                          <a:solidFill>
                            <a:srgbClr val="E14B04"/>
                          </a:solidFill>
                          <a:latin typeface="宋体"/>
                          <a:cs typeface="宋体"/>
                        </a:rPr>
                        <a:t>模板值</a:t>
                      </a:r>
                      <a:endParaRPr sz="1900">
                        <a:latin typeface="宋体"/>
                        <a:cs typeface="宋体"/>
                      </a:endParaRPr>
                    </a:p>
                  </a:txBody>
                  <a:tcPr marL="0" marR="0" marB="0" marT="19812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1905">
                        <a:lnSpc>
                          <a:spcPct val="100000"/>
                        </a:lnSpc>
                        <a:spcBef>
                          <a:spcPts val="420"/>
                        </a:spcBef>
                      </a:pPr>
                      <a:r>
                        <a:rPr dirty="0" sz="1900" spc="-25" b="1">
                          <a:solidFill>
                            <a:srgbClr val="E14B04"/>
                          </a:solidFill>
                          <a:latin typeface="宋体"/>
                          <a:cs typeface="宋体"/>
                        </a:rPr>
                        <a:t>操作槽</a:t>
                      </a:r>
                      <a:endParaRPr sz="1900">
                        <a:latin typeface="宋体"/>
                        <a:cs typeface="宋体"/>
                      </a:endParaRPr>
                    </a:p>
                    <a:p>
                      <a:pPr algn="ctr">
                        <a:lnSpc>
                          <a:spcPct val="100000"/>
                        </a:lnSpc>
                      </a:pPr>
                      <a:r>
                        <a:rPr dirty="0" sz="1900" spc="-50" b="1">
                          <a:solidFill>
                            <a:srgbClr val="E14B04"/>
                          </a:solidFill>
                          <a:latin typeface="宋体"/>
                          <a:cs typeface="宋体"/>
                        </a:rPr>
                        <a:t>0</a:t>
                      </a:r>
                      <a:endParaRPr sz="1900">
                        <a:latin typeface="宋体"/>
                        <a:cs typeface="宋体"/>
                      </a:endParaRPr>
                    </a:p>
                  </a:txBody>
                  <a:tcPr marL="0" marR="0" marB="0" marT="533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2540">
                        <a:lnSpc>
                          <a:spcPct val="100000"/>
                        </a:lnSpc>
                        <a:spcBef>
                          <a:spcPts val="420"/>
                        </a:spcBef>
                      </a:pPr>
                      <a:r>
                        <a:rPr dirty="0" sz="1900" spc="-25" b="1">
                          <a:solidFill>
                            <a:srgbClr val="E14B04"/>
                          </a:solidFill>
                          <a:latin typeface="宋体"/>
                          <a:cs typeface="宋体"/>
                        </a:rPr>
                        <a:t>操作槽</a:t>
                      </a:r>
                      <a:endParaRPr sz="1900">
                        <a:latin typeface="宋体"/>
                        <a:cs typeface="宋体"/>
                      </a:endParaRPr>
                    </a:p>
                    <a:p>
                      <a:pPr algn="ctr">
                        <a:lnSpc>
                          <a:spcPct val="100000"/>
                        </a:lnSpc>
                      </a:pPr>
                      <a:r>
                        <a:rPr dirty="0" sz="1900" spc="-50" b="1">
                          <a:solidFill>
                            <a:srgbClr val="E14B04"/>
                          </a:solidFill>
                          <a:latin typeface="宋体"/>
                          <a:cs typeface="宋体"/>
                        </a:rPr>
                        <a:t>1</a:t>
                      </a:r>
                      <a:endParaRPr sz="1900">
                        <a:latin typeface="宋体"/>
                        <a:cs typeface="宋体"/>
                      </a:endParaRPr>
                    </a:p>
                  </a:txBody>
                  <a:tcPr marL="0" marR="0" marB="0" marT="533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2540">
                        <a:lnSpc>
                          <a:spcPct val="100000"/>
                        </a:lnSpc>
                        <a:spcBef>
                          <a:spcPts val="420"/>
                        </a:spcBef>
                      </a:pPr>
                      <a:r>
                        <a:rPr dirty="0" sz="1900" spc="-25" b="1">
                          <a:solidFill>
                            <a:srgbClr val="E14B04"/>
                          </a:solidFill>
                          <a:latin typeface="宋体"/>
                          <a:cs typeface="宋体"/>
                        </a:rPr>
                        <a:t>操作槽</a:t>
                      </a:r>
                      <a:endParaRPr sz="1900">
                        <a:latin typeface="宋体"/>
                        <a:cs typeface="宋体"/>
                      </a:endParaRPr>
                    </a:p>
                    <a:p>
                      <a:pPr algn="ctr">
                        <a:lnSpc>
                          <a:spcPct val="100000"/>
                        </a:lnSpc>
                      </a:pPr>
                      <a:r>
                        <a:rPr dirty="0" sz="1900" spc="-50" b="1">
                          <a:solidFill>
                            <a:srgbClr val="E14B04"/>
                          </a:solidFill>
                          <a:latin typeface="宋体"/>
                          <a:cs typeface="宋体"/>
                        </a:rPr>
                        <a:t>2</a:t>
                      </a:r>
                      <a:endParaRPr sz="1900">
                        <a:latin typeface="宋体"/>
                        <a:cs typeface="宋体"/>
                      </a:endParaRPr>
                    </a:p>
                  </a:txBody>
                  <a:tcPr marL="0" marR="0" marB="0" marT="533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4645">
                <a:tc>
                  <a:txBody>
                    <a:bodyPr/>
                    <a:lstStyle/>
                    <a:p>
                      <a:pPr algn="ctr" marL="635">
                        <a:lnSpc>
                          <a:spcPct val="100000"/>
                        </a:lnSpc>
                        <a:spcBef>
                          <a:spcPts val="310"/>
                        </a:spcBef>
                      </a:pPr>
                      <a:r>
                        <a:rPr dirty="0" sz="1600" spc="-25" b="1">
                          <a:solidFill>
                            <a:srgbClr val="008000"/>
                          </a:solidFill>
                          <a:latin typeface="Times New Roman"/>
                          <a:cs typeface="Times New Roman"/>
                        </a:rPr>
                        <a:t>14</a:t>
                      </a:r>
                      <a:endParaRPr sz="1600">
                        <a:latin typeface="Times New Roman"/>
                        <a:cs typeface="Times New Roman"/>
                      </a:endParaRPr>
                    </a:p>
                  </a:txBody>
                  <a:tcPr marL="0" marR="0" marB="0" marT="393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dirty="0" sz="1600" spc="-50" b="1">
                          <a:solidFill>
                            <a:srgbClr val="080808"/>
                          </a:solidFill>
                          <a:latin typeface="Times New Roman"/>
                          <a:cs typeface="Times New Roman"/>
                        </a:rPr>
                        <a:t>M</a:t>
                      </a:r>
                      <a:endParaRPr sz="1600">
                        <a:latin typeface="Times New Roman"/>
                        <a:cs typeface="Times New Roman"/>
                      </a:endParaRPr>
                    </a:p>
                  </a:txBody>
                  <a:tcPr marL="0" marR="0" marB="0" marT="393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dirty="0" sz="1600" spc="-50" b="1">
                          <a:solidFill>
                            <a:srgbClr val="080808"/>
                          </a:solidFill>
                          <a:latin typeface="Times New Roman"/>
                          <a:cs typeface="Times New Roman"/>
                        </a:rPr>
                        <a:t>M</a:t>
                      </a:r>
                      <a:endParaRPr sz="1600">
                        <a:latin typeface="Times New Roman"/>
                        <a:cs typeface="Times New Roman"/>
                      </a:endParaRPr>
                    </a:p>
                  </a:txBody>
                  <a:tcPr marL="0" marR="0" marB="0" marT="393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3175">
                        <a:lnSpc>
                          <a:spcPct val="100000"/>
                        </a:lnSpc>
                        <a:spcBef>
                          <a:spcPts val="310"/>
                        </a:spcBef>
                      </a:pPr>
                      <a:r>
                        <a:rPr dirty="0" sz="1600" spc="-50" b="1">
                          <a:solidFill>
                            <a:srgbClr val="080808"/>
                          </a:solidFill>
                          <a:latin typeface="Times New Roman"/>
                          <a:cs typeface="Times New Roman"/>
                        </a:rPr>
                        <a:t>F</a:t>
                      </a:r>
                      <a:endParaRPr sz="1600">
                        <a:latin typeface="Times New Roman"/>
                        <a:cs typeface="Times New Roman"/>
                      </a:endParaRPr>
                    </a:p>
                  </a:txBody>
                  <a:tcPr marL="0" marR="0" marB="0" marT="393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5280">
                <a:tc>
                  <a:txBody>
                    <a:bodyPr/>
                    <a:lstStyle/>
                    <a:p>
                      <a:pPr algn="ctr" marL="635">
                        <a:lnSpc>
                          <a:spcPct val="100000"/>
                        </a:lnSpc>
                        <a:spcBef>
                          <a:spcPts val="310"/>
                        </a:spcBef>
                      </a:pPr>
                      <a:r>
                        <a:rPr dirty="0" sz="1600" spc="-25" b="1">
                          <a:solidFill>
                            <a:srgbClr val="008000"/>
                          </a:solidFill>
                          <a:latin typeface="Times New Roman"/>
                          <a:cs typeface="Times New Roman"/>
                        </a:rPr>
                        <a:t>15</a:t>
                      </a:r>
                      <a:endParaRPr sz="1600">
                        <a:latin typeface="Times New Roman"/>
                        <a:cs typeface="Times New Roman"/>
                      </a:endParaRPr>
                    </a:p>
                  </a:txBody>
                  <a:tcPr marL="0" marR="0" marB="0" marT="393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dirty="0" sz="1600" spc="-50" b="1">
                          <a:solidFill>
                            <a:srgbClr val="080808"/>
                          </a:solidFill>
                          <a:latin typeface="Times New Roman"/>
                          <a:cs typeface="Times New Roman"/>
                        </a:rPr>
                        <a:t>M</a:t>
                      </a:r>
                      <a:endParaRPr sz="1600">
                        <a:latin typeface="Times New Roman"/>
                        <a:cs typeface="Times New Roman"/>
                      </a:endParaRPr>
                    </a:p>
                  </a:txBody>
                  <a:tcPr marL="0" marR="0" marB="0" marT="393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dirty="0" sz="1600" spc="-50" b="1">
                          <a:solidFill>
                            <a:srgbClr val="080808"/>
                          </a:solidFill>
                          <a:latin typeface="Times New Roman"/>
                          <a:cs typeface="Times New Roman"/>
                        </a:rPr>
                        <a:t>M</a:t>
                      </a:r>
                      <a:endParaRPr sz="1600">
                        <a:latin typeface="Times New Roman"/>
                        <a:cs typeface="Times New Roman"/>
                      </a:endParaRPr>
                    </a:p>
                  </a:txBody>
                  <a:tcPr marL="0" marR="0" marB="0" marT="393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2540">
                        <a:lnSpc>
                          <a:spcPct val="100000"/>
                        </a:lnSpc>
                        <a:spcBef>
                          <a:spcPts val="300"/>
                        </a:spcBef>
                      </a:pPr>
                      <a:r>
                        <a:rPr dirty="0" sz="1600" spc="-20" b="1">
                          <a:solidFill>
                            <a:srgbClr val="080808"/>
                          </a:solidFill>
                          <a:latin typeface="Times New Roman"/>
                          <a:cs typeface="Times New Roman"/>
                        </a:rPr>
                        <a:t>F</a:t>
                      </a:r>
                      <a:r>
                        <a:rPr dirty="0" sz="1600" spc="-20" b="1">
                          <a:solidFill>
                            <a:srgbClr val="080808"/>
                          </a:solidFill>
                          <a:latin typeface="微软雅黑"/>
                          <a:cs typeface="微软雅黑"/>
                        </a:rPr>
                        <a:t>（</a:t>
                      </a:r>
                      <a:r>
                        <a:rPr dirty="0" sz="1600" spc="-20" b="1">
                          <a:solidFill>
                            <a:srgbClr val="080808"/>
                          </a:solidFill>
                          <a:latin typeface="Times New Roman"/>
                          <a:cs typeface="Times New Roman"/>
                        </a:rPr>
                        <a:t>s</a:t>
                      </a:r>
                      <a:r>
                        <a:rPr dirty="0" sz="1600" spc="-20" b="1">
                          <a:solidFill>
                            <a:srgbClr val="080808"/>
                          </a:solidFill>
                          <a:latin typeface="微软雅黑"/>
                          <a:cs typeface="微软雅黑"/>
                        </a:rPr>
                        <a:t>）</a:t>
                      </a:r>
                      <a:endParaRPr sz="1600">
                        <a:latin typeface="微软雅黑"/>
                        <a:cs typeface="微软雅黑"/>
                      </a:endParaRPr>
                    </a:p>
                  </a:txBody>
                  <a:tcPr marL="0" marR="0" marB="0" marT="38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4645">
                <a:tc>
                  <a:txBody>
                    <a:bodyPr/>
                    <a:lstStyle/>
                    <a:p>
                      <a:pPr algn="ctr" marL="635">
                        <a:lnSpc>
                          <a:spcPct val="100000"/>
                        </a:lnSpc>
                        <a:spcBef>
                          <a:spcPts val="310"/>
                        </a:spcBef>
                      </a:pPr>
                      <a:r>
                        <a:rPr dirty="0" sz="1600" spc="-25" b="1">
                          <a:solidFill>
                            <a:srgbClr val="008000"/>
                          </a:solidFill>
                          <a:latin typeface="Times New Roman"/>
                          <a:cs typeface="Times New Roman"/>
                        </a:rPr>
                        <a:t>16</a:t>
                      </a:r>
                      <a:endParaRPr sz="1600">
                        <a:latin typeface="Times New Roman"/>
                        <a:cs typeface="Times New Roman"/>
                      </a:endParaRPr>
                    </a:p>
                  </a:txBody>
                  <a:tcPr marL="0" marR="0" marB="0" marT="393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dirty="0" sz="1600" spc="-50" b="1">
                          <a:solidFill>
                            <a:srgbClr val="080808"/>
                          </a:solidFill>
                          <a:latin typeface="Times New Roman"/>
                          <a:cs typeface="Times New Roman"/>
                        </a:rPr>
                        <a:t>M</a:t>
                      </a:r>
                      <a:endParaRPr sz="1600">
                        <a:latin typeface="Times New Roman"/>
                        <a:cs typeface="Times New Roman"/>
                      </a:endParaRPr>
                    </a:p>
                  </a:txBody>
                  <a:tcPr marL="0" marR="0" marB="0" marT="393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310"/>
                        </a:spcBef>
                      </a:pPr>
                      <a:r>
                        <a:rPr dirty="0" sz="1600" spc="-50" b="1">
                          <a:solidFill>
                            <a:srgbClr val="080808"/>
                          </a:solidFill>
                          <a:latin typeface="Times New Roman"/>
                          <a:cs typeface="Times New Roman"/>
                        </a:rPr>
                        <a:t>I</a:t>
                      </a:r>
                      <a:endParaRPr sz="1600">
                        <a:latin typeface="Times New Roman"/>
                        <a:cs typeface="Times New Roman"/>
                      </a:endParaRPr>
                    </a:p>
                  </a:txBody>
                  <a:tcPr marL="0" marR="0" marB="0" marT="393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2540">
                        <a:lnSpc>
                          <a:spcPct val="100000"/>
                        </a:lnSpc>
                        <a:spcBef>
                          <a:spcPts val="310"/>
                        </a:spcBef>
                      </a:pPr>
                      <a:r>
                        <a:rPr dirty="0" sz="1600" spc="-50" b="1">
                          <a:solidFill>
                            <a:srgbClr val="080808"/>
                          </a:solidFill>
                          <a:latin typeface="Times New Roman"/>
                          <a:cs typeface="Times New Roman"/>
                        </a:rPr>
                        <a:t>B</a:t>
                      </a:r>
                      <a:endParaRPr sz="1600">
                        <a:latin typeface="Times New Roman"/>
                        <a:cs typeface="Times New Roman"/>
                      </a:endParaRPr>
                    </a:p>
                  </a:txBody>
                  <a:tcPr marL="0" marR="0" marB="0" marT="393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5280">
                <a:tc>
                  <a:txBody>
                    <a:bodyPr/>
                    <a:lstStyle/>
                    <a:p>
                      <a:pPr algn="ctr" marL="635">
                        <a:lnSpc>
                          <a:spcPct val="100000"/>
                        </a:lnSpc>
                        <a:spcBef>
                          <a:spcPts val="315"/>
                        </a:spcBef>
                      </a:pPr>
                      <a:r>
                        <a:rPr dirty="0" sz="1600" spc="-25" b="1">
                          <a:solidFill>
                            <a:srgbClr val="008000"/>
                          </a:solidFill>
                          <a:latin typeface="Times New Roman"/>
                          <a:cs typeface="Times New Roman"/>
                        </a:rPr>
                        <a:t>17</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dirty="0" sz="1600" spc="-50" b="1">
                          <a:solidFill>
                            <a:srgbClr val="080808"/>
                          </a:solidFill>
                          <a:latin typeface="Times New Roman"/>
                          <a:cs typeface="Times New Roman"/>
                        </a:rPr>
                        <a:t>M</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315"/>
                        </a:spcBef>
                      </a:pPr>
                      <a:r>
                        <a:rPr dirty="0" sz="1600" spc="-50" b="1">
                          <a:solidFill>
                            <a:srgbClr val="080808"/>
                          </a:solidFill>
                          <a:latin typeface="Times New Roman"/>
                          <a:cs typeface="Times New Roman"/>
                        </a:rPr>
                        <a:t>I</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2540">
                        <a:lnSpc>
                          <a:spcPct val="100000"/>
                        </a:lnSpc>
                        <a:spcBef>
                          <a:spcPts val="300"/>
                        </a:spcBef>
                      </a:pPr>
                      <a:r>
                        <a:rPr dirty="0" sz="1600" spc="-20" b="1">
                          <a:solidFill>
                            <a:srgbClr val="080808"/>
                          </a:solidFill>
                          <a:latin typeface="Times New Roman"/>
                          <a:cs typeface="Times New Roman"/>
                        </a:rPr>
                        <a:t>B</a:t>
                      </a:r>
                      <a:r>
                        <a:rPr dirty="0" sz="1600" spc="-20" b="1">
                          <a:solidFill>
                            <a:srgbClr val="080808"/>
                          </a:solidFill>
                          <a:latin typeface="微软雅黑"/>
                          <a:cs typeface="微软雅黑"/>
                        </a:rPr>
                        <a:t>（</a:t>
                      </a:r>
                      <a:r>
                        <a:rPr dirty="0" sz="1600" spc="-20" b="1">
                          <a:solidFill>
                            <a:srgbClr val="080808"/>
                          </a:solidFill>
                          <a:latin typeface="Times New Roman"/>
                          <a:cs typeface="Times New Roman"/>
                        </a:rPr>
                        <a:t>s</a:t>
                      </a:r>
                      <a:r>
                        <a:rPr dirty="0" sz="1600" spc="-20" b="1">
                          <a:solidFill>
                            <a:srgbClr val="080808"/>
                          </a:solidFill>
                          <a:latin typeface="微软雅黑"/>
                          <a:cs typeface="微软雅黑"/>
                        </a:rPr>
                        <a:t>）</a:t>
                      </a:r>
                      <a:endParaRPr sz="1600">
                        <a:latin typeface="微软雅黑"/>
                        <a:cs typeface="微软雅黑"/>
                      </a:endParaRPr>
                    </a:p>
                  </a:txBody>
                  <a:tcPr marL="0" marR="0" marB="0" marT="38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5280">
                <a:tc>
                  <a:txBody>
                    <a:bodyPr/>
                    <a:lstStyle/>
                    <a:p>
                      <a:pPr algn="ctr" marL="635">
                        <a:lnSpc>
                          <a:spcPct val="100000"/>
                        </a:lnSpc>
                        <a:spcBef>
                          <a:spcPts val="315"/>
                        </a:spcBef>
                      </a:pPr>
                      <a:r>
                        <a:rPr dirty="0" sz="1600" spc="-25" b="1">
                          <a:solidFill>
                            <a:srgbClr val="008000"/>
                          </a:solidFill>
                          <a:latin typeface="Times New Roman"/>
                          <a:cs typeface="Times New Roman"/>
                        </a:rPr>
                        <a:t>18</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dirty="0" sz="1600" spc="-50" b="1">
                          <a:solidFill>
                            <a:srgbClr val="080808"/>
                          </a:solidFill>
                          <a:latin typeface="Times New Roman"/>
                          <a:cs typeface="Times New Roman"/>
                        </a:rPr>
                        <a:t>M</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1905">
                        <a:lnSpc>
                          <a:spcPct val="100000"/>
                        </a:lnSpc>
                        <a:spcBef>
                          <a:spcPts val="315"/>
                        </a:spcBef>
                      </a:pPr>
                      <a:r>
                        <a:rPr dirty="0" sz="1600" spc="-50" b="1">
                          <a:solidFill>
                            <a:srgbClr val="080808"/>
                          </a:solidFill>
                          <a:latin typeface="Times New Roman"/>
                          <a:cs typeface="Times New Roman"/>
                        </a:rPr>
                        <a:t>B</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2540">
                        <a:lnSpc>
                          <a:spcPct val="100000"/>
                        </a:lnSpc>
                        <a:spcBef>
                          <a:spcPts val="315"/>
                        </a:spcBef>
                      </a:pPr>
                      <a:r>
                        <a:rPr dirty="0" sz="1600" spc="-50" b="1">
                          <a:solidFill>
                            <a:srgbClr val="080808"/>
                          </a:solidFill>
                          <a:latin typeface="Times New Roman"/>
                          <a:cs typeface="Times New Roman"/>
                        </a:rPr>
                        <a:t>B</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5280">
                <a:tc>
                  <a:txBody>
                    <a:bodyPr/>
                    <a:lstStyle/>
                    <a:p>
                      <a:pPr algn="ctr" marL="635">
                        <a:lnSpc>
                          <a:spcPct val="100000"/>
                        </a:lnSpc>
                        <a:spcBef>
                          <a:spcPts val="315"/>
                        </a:spcBef>
                      </a:pPr>
                      <a:r>
                        <a:rPr dirty="0" sz="1600" spc="-25" b="1">
                          <a:solidFill>
                            <a:srgbClr val="008000"/>
                          </a:solidFill>
                          <a:latin typeface="Times New Roman"/>
                          <a:cs typeface="Times New Roman"/>
                        </a:rPr>
                        <a:t>19</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dirty="0" sz="1600" spc="-50" b="1">
                          <a:solidFill>
                            <a:srgbClr val="080808"/>
                          </a:solidFill>
                          <a:latin typeface="Times New Roman"/>
                          <a:cs typeface="Times New Roman"/>
                        </a:rPr>
                        <a:t>M</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1905">
                        <a:lnSpc>
                          <a:spcPct val="100000"/>
                        </a:lnSpc>
                        <a:spcBef>
                          <a:spcPts val="315"/>
                        </a:spcBef>
                      </a:pPr>
                      <a:r>
                        <a:rPr dirty="0" sz="1600" spc="-50" b="1">
                          <a:solidFill>
                            <a:srgbClr val="080808"/>
                          </a:solidFill>
                          <a:latin typeface="Times New Roman"/>
                          <a:cs typeface="Times New Roman"/>
                        </a:rPr>
                        <a:t>B</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3175">
                        <a:lnSpc>
                          <a:spcPct val="100000"/>
                        </a:lnSpc>
                        <a:spcBef>
                          <a:spcPts val="300"/>
                        </a:spcBef>
                      </a:pPr>
                      <a:r>
                        <a:rPr dirty="0" sz="1600" spc="-20" b="1">
                          <a:solidFill>
                            <a:srgbClr val="080808"/>
                          </a:solidFill>
                          <a:latin typeface="Times New Roman"/>
                          <a:cs typeface="Times New Roman"/>
                        </a:rPr>
                        <a:t>B</a:t>
                      </a:r>
                      <a:r>
                        <a:rPr dirty="0" sz="1600" spc="-20" b="1">
                          <a:solidFill>
                            <a:srgbClr val="080808"/>
                          </a:solidFill>
                          <a:latin typeface="微软雅黑"/>
                          <a:cs typeface="微软雅黑"/>
                        </a:rPr>
                        <a:t>（</a:t>
                      </a:r>
                      <a:r>
                        <a:rPr dirty="0" sz="1600" spc="-20" b="1">
                          <a:solidFill>
                            <a:srgbClr val="080808"/>
                          </a:solidFill>
                          <a:latin typeface="Times New Roman"/>
                          <a:cs typeface="Times New Roman"/>
                        </a:rPr>
                        <a:t>s</a:t>
                      </a:r>
                      <a:r>
                        <a:rPr dirty="0" sz="1600" spc="-20" b="1">
                          <a:solidFill>
                            <a:srgbClr val="080808"/>
                          </a:solidFill>
                          <a:latin typeface="微软雅黑"/>
                          <a:cs typeface="微软雅黑"/>
                        </a:rPr>
                        <a:t>）</a:t>
                      </a:r>
                      <a:endParaRPr sz="1600">
                        <a:latin typeface="微软雅黑"/>
                        <a:cs typeface="微软雅黑"/>
                      </a:endParaRPr>
                    </a:p>
                  </a:txBody>
                  <a:tcPr marL="0" marR="0" marB="0" marT="38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5280">
                <a:tc>
                  <a:txBody>
                    <a:bodyPr/>
                    <a:lstStyle/>
                    <a:p>
                      <a:pPr algn="ctr" marL="635">
                        <a:lnSpc>
                          <a:spcPct val="100000"/>
                        </a:lnSpc>
                        <a:spcBef>
                          <a:spcPts val="315"/>
                        </a:spcBef>
                      </a:pPr>
                      <a:r>
                        <a:rPr dirty="0" sz="1600" spc="-25" b="1">
                          <a:solidFill>
                            <a:srgbClr val="008000"/>
                          </a:solidFill>
                          <a:latin typeface="Times New Roman"/>
                          <a:cs typeface="Times New Roman"/>
                        </a:rPr>
                        <a:t>22</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1270">
                        <a:lnSpc>
                          <a:spcPct val="100000"/>
                        </a:lnSpc>
                        <a:spcBef>
                          <a:spcPts val="315"/>
                        </a:spcBef>
                      </a:pPr>
                      <a:r>
                        <a:rPr dirty="0" sz="1600" spc="-50" b="1">
                          <a:solidFill>
                            <a:srgbClr val="080808"/>
                          </a:solidFill>
                          <a:latin typeface="Times New Roman"/>
                          <a:cs typeface="Times New Roman"/>
                        </a:rPr>
                        <a:t>B</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1905">
                        <a:lnSpc>
                          <a:spcPct val="100000"/>
                        </a:lnSpc>
                        <a:spcBef>
                          <a:spcPts val="315"/>
                        </a:spcBef>
                      </a:pPr>
                      <a:r>
                        <a:rPr dirty="0" sz="1600" spc="-50" b="1">
                          <a:solidFill>
                            <a:srgbClr val="080808"/>
                          </a:solidFill>
                          <a:latin typeface="Times New Roman"/>
                          <a:cs typeface="Times New Roman"/>
                        </a:rPr>
                        <a:t>B</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2540">
                        <a:lnSpc>
                          <a:spcPct val="100000"/>
                        </a:lnSpc>
                        <a:spcBef>
                          <a:spcPts val="315"/>
                        </a:spcBef>
                      </a:pPr>
                      <a:r>
                        <a:rPr dirty="0" sz="1600" spc="-50" b="1">
                          <a:solidFill>
                            <a:srgbClr val="080808"/>
                          </a:solidFill>
                          <a:latin typeface="Times New Roman"/>
                          <a:cs typeface="Times New Roman"/>
                        </a:rPr>
                        <a:t>B</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4645">
                <a:tc>
                  <a:txBody>
                    <a:bodyPr/>
                    <a:lstStyle/>
                    <a:p>
                      <a:pPr algn="ctr" marL="635">
                        <a:lnSpc>
                          <a:spcPct val="100000"/>
                        </a:lnSpc>
                        <a:spcBef>
                          <a:spcPts val="315"/>
                        </a:spcBef>
                      </a:pPr>
                      <a:r>
                        <a:rPr dirty="0" sz="1600" spc="-25" b="1">
                          <a:solidFill>
                            <a:srgbClr val="008000"/>
                          </a:solidFill>
                          <a:latin typeface="Times New Roman"/>
                          <a:cs typeface="Times New Roman"/>
                        </a:rPr>
                        <a:t>23</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1270">
                        <a:lnSpc>
                          <a:spcPct val="100000"/>
                        </a:lnSpc>
                        <a:spcBef>
                          <a:spcPts val="315"/>
                        </a:spcBef>
                      </a:pPr>
                      <a:r>
                        <a:rPr dirty="0" sz="1600" spc="-50" b="1">
                          <a:solidFill>
                            <a:srgbClr val="080808"/>
                          </a:solidFill>
                          <a:latin typeface="Times New Roman"/>
                          <a:cs typeface="Times New Roman"/>
                        </a:rPr>
                        <a:t>B</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1905">
                        <a:lnSpc>
                          <a:spcPct val="100000"/>
                        </a:lnSpc>
                        <a:spcBef>
                          <a:spcPts val="315"/>
                        </a:spcBef>
                      </a:pPr>
                      <a:r>
                        <a:rPr dirty="0" sz="1600" spc="-50" b="1">
                          <a:solidFill>
                            <a:srgbClr val="080808"/>
                          </a:solidFill>
                          <a:latin typeface="Times New Roman"/>
                          <a:cs typeface="Times New Roman"/>
                        </a:rPr>
                        <a:t>B</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2540">
                        <a:lnSpc>
                          <a:spcPct val="100000"/>
                        </a:lnSpc>
                        <a:spcBef>
                          <a:spcPts val="305"/>
                        </a:spcBef>
                      </a:pPr>
                      <a:r>
                        <a:rPr dirty="0" sz="1600" spc="-20" b="1">
                          <a:solidFill>
                            <a:srgbClr val="080808"/>
                          </a:solidFill>
                          <a:latin typeface="Times New Roman"/>
                          <a:cs typeface="Times New Roman"/>
                        </a:rPr>
                        <a:t>B</a:t>
                      </a:r>
                      <a:r>
                        <a:rPr dirty="0" sz="1600" spc="-20" b="1">
                          <a:solidFill>
                            <a:srgbClr val="080808"/>
                          </a:solidFill>
                          <a:latin typeface="微软雅黑"/>
                          <a:cs typeface="微软雅黑"/>
                        </a:rPr>
                        <a:t>（</a:t>
                      </a:r>
                      <a:r>
                        <a:rPr dirty="0" sz="1600" spc="-20" b="1">
                          <a:solidFill>
                            <a:srgbClr val="080808"/>
                          </a:solidFill>
                          <a:latin typeface="Times New Roman"/>
                          <a:cs typeface="Times New Roman"/>
                        </a:rPr>
                        <a:t>s</a:t>
                      </a:r>
                      <a:r>
                        <a:rPr dirty="0" sz="1600" spc="-20" b="1">
                          <a:solidFill>
                            <a:srgbClr val="080808"/>
                          </a:solidFill>
                          <a:latin typeface="微软雅黑"/>
                          <a:cs typeface="微软雅黑"/>
                        </a:rPr>
                        <a:t>）</a:t>
                      </a:r>
                      <a:endParaRPr sz="1600">
                        <a:latin typeface="微软雅黑"/>
                        <a:cs typeface="微软雅黑"/>
                      </a:endParaRPr>
                    </a:p>
                  </a:txBody>
                  <a:tcPr marL="0" marR="0" marB="0" marT="387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5280">
                <a:tc>
                  <a:txBody>
                    <a:bodyPr/>
                    <a:lstStyle/>
                    <a:p>
                      <a:pPr algn="ctr" marL="635">
                        <a:lnSpc>
                          <a:spcPct val="100000"/>
                        </a:lnSpc>
                        <a:spcBef>
                          <a:spcPts val="315"/>
                        </a:spcBef>
                      </a:pPr>
                      <a:r>
                        <a:rPr dirty="0" sz="1600" spc="-25" b="1">
                          <a:solidFill>
                            <a:srgbClr val="008000"/>
                          </a:solidFill>
                          <a:latin typeface="Times New Roman"/>
                          <a:cs typeface="Times New Roman"/>
                        </a:rPr>
                        <a:t>24</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dirty="0" sz="1600" spc="-50" b="1">
                          <a:solidFill>
                            <a:srgbClr val="080808"/>
                          </a:solidFill>
                          <a:latin typeface="Times New Roman"/>
                          <a:cs typeface="Times New Roman"/>
                        </a:rPr>
                        <a:t>M</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315"/>
                        </a:spcBef>
                      </a:pPr>
                      <a:r>
                        <a:rPr dirty="0" sz="1600" spc="-50" b="1">
                          <a:solidFill>
                            <a:srgbClr val="080808"/>
                          </a:solidFill>
                          <a:latin typeface="Times New Roman"/>
                          <a:cs typeface="Times New Roman"/>
                        </a:rPr>
                        <a:t>M</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2540">
                        <a:lnSpc>
                          <a:spcPct val="100000"/>
                        </a:lnSpc>
                        <a:spcBef>
                          <a:spcPts val="315"/>
                        </a:spcBef>
                      </a:pPr>
                      <a:r>
                        <a:rPr dirty="0" sz="1600" spc="-50" b="1">
                          <a:solidFill>
                            <a:srgbClr val="080808"/>
                          </a:solidFill>
                          <a:latin typeface="Times New Roman"/>
                          <a:cs typeface="Times New Roman"/>
                        </a:rPr>
                        <a:t>B</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5280">
                <a:tc>
                  <a:txBody>
                    <a:bodyPr/>
                    <a:lstStyle/>
                    <a:p>
                      <a:pPr algn="ctr" marL="635">
                        <a:lnSpc>
                          <a:spcPct val="100000"/>
                        </a:lnSpc>
                        <a:spcBef>
                          <a:spcPts val="320"/>
                        </a:spcBef>
                      </a:pPr>
                      <a:r>
                        <a:rPr dirty="0" sz="1600" spc="-25" b="1">
                          <a:solidFill>
                            <a:srgbClr val="008000"/>
                          </a:solidFill>
                          <a:latin typeface="Times New Roman"/>
                          <a:cs typeface="Times New Roman"/>
                        </a:rPr>
                        <a:t>25</a:t>
                      </a:r>
                      <a:endParaRPr sz="16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0"/>
                        </a:spcBef>
                      </a:pPr>
                      <a:r>
                        <a:rPr dirty="0" sz="1600" spc="-50" b="1">
                          <a:solidFill>
                            <a:srgbClr val="080808"/>
                          </a:solidFill>
                          <a:latin typeface="Times New Roman"/>
                          <a:cs typeface="Times New Roman"/>
                        </a:rPr>
                        <a:t>M</a:t>
                      </a:r>
                      <a:endParaRPr sz="16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0"/>
                        </a:spcBef>
                      </a:pPr>
                      <a:r>
                        <a:rPr dirty="0" sz="1600" spc="-50" b="1">
                          <a:solidFill>
                            <a:srgbClr val="080808"/>
                          </a:solidFill>
                          <a:latin typeface="Times New Roman"/>
                          <a:cs typeface="Times New Roman"/>
                        </a:rPr>
                        <a:t>M</a:t>
                      </a:r>
                      <a:endParaRPr sz="16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2540">
                        <a:lnSpc>
                          <a:spcPct val="100000"/>
                        </a:lnSpc>
                        <a:spcBef>
                          <a:spcPts val="305"/>
                        </a:spcBef>
                      </a:pPr>
                      <a:r>
                        <a:rPr dirty="0" sz="1600" spc="-20" b="1">
                          <a:solidFill>
                            <a:srgbClr val="080808"/>
                          </a:solidFill>
                          <a:latin typeface="Times New Roman"/>
                          <a:cs typeface="Times New Roman"/>
                        </a:rPr>
                        <a:t>B</a:t>
                      </a:r>
                      <a:r>
                        <a:rPr dirty="0" sz="1600" spc="-20" b="1">
                          <a:solidFill>
                            <a:srgbClr val="080808"/>
                          </a:solidFill>
                          <a:latin typeface="微软雅黑"/>
                          <a:cs typeface="微软雅黑"/>
                        </a:rPr>
                        <a:t>（</a:t>
                      </a:r>
                      <a:r>
                        <a:rPr dirty="0" sz="1600" spc="-20" b="1">
                          <a:solidFill>
                            <a:srgbClr val="080808"/>
                          </a:solidFill>
                          <a:latin typeface="Times New Roman"/>
                          <a:cs typeface="Times New Roman"/>
                        </a:rPr>
                        <a:t>s</a:t>
                      </a:r>
                      <a:r>
                        <a:rPr dirty="0" sz="1600" spc="-20" b="1">
                          <a:solidFill>
                            <a:srgbClr val="080808"/>
                          </a:solidFill>
                          <a:latin typeface="微软雅黑"/>
                          <a:cs typeface="微软雅黑"/>
                        </a:rPr>
                        <a:t>）</a:t>
                      </a:r>
                      <a:endParaRPr sz="1600">
                        <a:latin typeface="微软雅黑"/>
                        <a:cs typeface="微软雅黑"/>
                      </a:endParaRPr>
                    </a:p>
                  </a:txBody>
                  <a:tcPr marL="0" marR="0" marB="0" marT="387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5280">
                <a:tc>
                  <a:txBody>
                    <a:bodyPr/>
                    <a:lstStyle/>
                    <a:p>
                      <a:pPr algn="ctr" marL="635">
                        <a:lnSpc>
                          <a:spcPct val="100000"/>
                        </a:lnSpc>
                        <a:spcBef>
                          <a:spcPts val="315"/>
                        </a:spcBef>
                      </a:pPr>
                      <a:r>
                        <a:rPr dirty="0" sz="1600" spc="-25" b="1">
                          <a:solidFill>
                            <a:srgbClr val="008000"/>
                          </a:solidFill>
                          <a:latin typeface="Times New Roman"/>
                          <a:cs typeface="Times New Roman"/>
                        </a:rPr>
                        <a:t>28</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dirty="0" sz="1600" spc="-50" b="1">
                          <a:solidFill>
                            <a:srgbClr val="080808"/>
                          </a:solidFill>
                          <a:latin typeface="Times New Roman"/>
                          <a:cs typeface="Times New Roman"/>
                        </a:rPr>
                        <a:t>M</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2540">
                        <a:lnSpc>
                          <a:spcPct val="100000"/>
                        </a:lnSpc>
                        <a:spcBef>
                          <a:spcPts val="315"/>
                        </a:spcBef>
                      </a:pPr>
                      <a:r>
                        <a:rPr dirty="0" sz="1600" spc="-50" b="1">
                          <a:solidFill>
                            <a:srgbClr val="080808"/>
                          </a:solidFill>
                          <a:latin typeface="Times New Roman"/>
                          <a:cs typeface="Times New Roman"/>
                        </a:rPr>
                        <a:t>F</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2540">
                        <a:lnSpc>
                          <a:spcPct val="100000"/>
                        </a:lnSpc>
                        <a:spcBef>
                          <a:spcPts val="315"/>
                        </a:spcBef>
                      </a:pPr>
                      <a:r>
                        <a:rPr dirty="0" sz="1600" spc="-50" b="1">
                          <a:solidFill>
                            <a:srgbClr val="080808"/>
                          </a:solidFill>
                          <a:latin typeface="Times New Roman"/>
                          <a:cs typeface="Times New Roman"/>
                        </a:rPr>
                        <a:t>B</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5280">
                <a:tc>
                  <a:txBody>
                    <a:bodyPr/>
                    <a:lstStyle/>
                    <a:p>
                      <a:pPr algn="ctr" marL="635">
                        <a:lnSpc>
                          <a:spcPct val="100000"/>
                        </a:lnSpc>
                        <a:spcBef>
                          <a:spcPts val="315"/>
                        </a:spcBef>
                      </a:pPr>
                      <a:r>
                        <a:rPr dirty="0" sz="1600" spc="-25" b="1">
                          <a:solidFill>
                            <a:srgbClr val="008000"/>
                          </a:solidFill>
                          <a:latin typeface="Times New Roman"/>
                          <a:cs typeface="Times New Roman"/>
                        </a:rPr>
                        <a:t>29</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dirty="0" sz="1600" spc="-50" b="1">
                          <a:solidFill>
                            <a:srgbClr val="080808"/>
                          </a:solidFill>
                          <a:latin typeface="Times New Roman"/>
                          <a:cs typeface="Times New Roman"/>
                        </a:rPr>
                        <a:t>M</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3175">
                        <a:lnSpc>
                          <a:spcPct val="100000"/>
                        </a:lnSpc>
                        <a:spcBef>
                          <a:spcPts val="315"/>
                        </a:spcBef>
                      </a:pPr>
                      <a:r>
                        <a:rPr dirty="0" sz="1600" spc="-50" b="1">
                          <a:solidFill>
                            <a:srgbClr val="080808"/>
                          </a:solidFill>
                          <a:latin typeface="Times New Roman"/>
                          <a:cs typeface="Times New Roman"/>
                        </a:rPr>
                        <a:t>F</a:t>
                      </a:r>
                      <a:endParaRPr sz="16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3175">
                        <a:lnSpc>
                          <a:spcPct val="100000"/>
                        </a:lnSpc>
                        <a:spcBef>
                          <a:spcPts val="305"/>
                        </a:spcBef>
                      </a:pPr>
                      <a:r>
                        <a:rPr dirty="0" sz="1600" spc="-20" b="1">
                          <a:solidFill>
                            <a:srgbClr val="080808"/>
                          </a:solidFill>
                          <a:latin typeface="Times New Roman"/>
                          <a:cs typeface="Times New Roman"/>
                        </a:rPr>
                        <a:t>B</a:t>
                      </a:r>
                      <a:r>
                        <a:rPr dirty="0" sz="1600" spc="-20" b="1">
                          <a:solidFill>
                            <a:srgbClr val="080808"/>
                          </a:solidFill>
                          <a:latin typeface="微软雅黑"/>
                          <a:cs typeface="微软雅黑"/>
                        </a:rPr>
                        <a:t>（</a:t>
                      </a:r>
                      <a:r>
                        <a:rPr dirty="0" sz="1600" spc="-20" b="1">
                          <a:solidFill>
                            <a:srgbClr val="080808"/>
                          </a:solidFill>
                          <a:latin typeface="Times New Roman"/>
                          <a:cs typeface="Times New Roman"/>
                        </a:rPr>
                        <a:t>s</a:t>
                      </a:r>
                      <a:r>
                        <a:rPr dirty="0" sz="1600" spc="-20" b="1">
                          <a:solidFill>
                            <a:srgbClr val="080808"/>
                          </a:solidFill>
                          <a:latin typeface="微软雅黑"/>
                          <a:cs typeface="微软雅黑"/>
                        </a:rPr>
                        <a:t>）</a:t>
                      </a:r>
                      <a:endParaRPr sz="1600">
                        <a:latin typeface="微软雅黑"/>
                        <a:cs typeface="微软雅黑"/>
                      </a:endParaRPr>
                    </a:p>
                  </a:txBody>
                  <a:tcPr marL="0" marR="0" marB="0" marT="387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1" name="object 11" descr=""/>
          <p:cNvSpPr txBox="1"/>
          <p:nvPr/>
        </p:nvSpPr>
        <p:spPr>
          <a:xfrm>
            <a:off x="4786376" y="1238250"/>
            <a:ext cx="2460625" cy="330835"/>
          </a:xfrm>
          <a:prstGeom prst="rect">
            <a:avLst/>
          </a:prstGeom>
        </p:spPr>
        <p:txBody>
          <a:bodyPr wrap="square" lIns="0" tIns="13335" rIns="0" bIns="0" rtlCol="0" vert="horz">
            <a:spAutoFit/>
          </a:bodyPr>
          <a:lstStyle/>
          <a:p>
            <a:pPr marL="12700">
              <a:lnSpc>
                <a:spcPct val="100000"/>
              </a:lnSpc>
              <a:spcBef>
                <a:spcPts val="105"/>
              </a:spcBef>
            </a:pPr>
            <a:r>
              <a:rPr dirty="0" sz="2000" spc="-10" b="1">
                <a:solidFill>
                  <a:srgbClr val="40458B"/>
                </a:solidFill>
                <a:latin typeface="宋体"/>
                <a:cs typeface="宋体"/>
              </a:rPr>
              <a:t>IA-64</a:t>
            </a:r>
            <a:r>
              <a:rPr dirty="0" sz="2000" spc="-25" b="1">
                <a:solidFill>
                  <a:srgbClr val="40458B"/>
                </a:solidFill>
                <a:latin typeface="宋体"/>
                <a:cs typeface="宋体"/>
              </a:rPr>
              <a:t>模板值及其含义</a:t>
            </a:r>
            <a:endParaRPr sz="2000">
              <a:latin typeface="宋体"/>
              <a:cs typeface="宋体"/>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115/89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1134567" y="912978"/>
            <a:ext cx="10226040" cy="3805554"/>
          </a:xfrm>
          <a:prstGeom prst="rect">
            <a:avLst/>
          </a:prstGeom>
        </p:spPr>
        <p:txBody>
          <a:bodyPr wrap="square" lIns="0" tIns="134620" rIns="0" bIns="0" rtlCol="0" vert="horz">
            <a:spAutoFit/>
          </a:bodyPr>
          <a:lstStyle/>
          <a:p>
            <a:pPr marL="527685">
              <a:lnSpc>
                <a:spcPct val="100000"/>
              </a:lnSpc>
              <a:spcBef>
                <a:spcPts val="1060"/>
              </a:spcBef>
            </a:pPr>
            <a:r>
              <a:rPr dirty="0" sz="2000" spc="-10" b="1">
                <a:solidFill>
                  <a:srgbClr val="E14B04"/>
                </a:solidFill>
                <a:latin typeface="宋体"/>
                <a:cs typeface="宋体"/>
              </a:rPr>
              <a:t>例</a:t>
            </a:r>
            <a:r>
              <a:rPr dirty="0" sz="2000" b="1">
                <a:solidFill>
                  <a:srgbClr val="E14B04"/>
                </a:solidFill>
                <a:latin typeface="宋体"/>
                <a:cs typeface="宋体"/>
              </a:rPr>
              <a:t>6.12</a:t>
            </a:r>
            <a:r>
              <a:rPr dirty="0" sz="2000" spc="-10" b="1">
                <a:solidFill>
                  <a:srgbClr val="E14B04"/>
                </a:solidFill>
                <a:latin typeface="宋体"/>
                <a:cs typeface="宋体"/>
              </a:rPr>
              <a:t> </a:t>
            </a:r>
            <a:r>
              <a:rPr dirty="0" sz="2000" spc="-10" b="1">
                <a:latin typeface="宋体"/>
                <a:cs typeface="宋体"/>
              </a:rPr>
              <a:t>将例</a:t>
            </a:r>
            <a:r>
              <a:rPr dirty="0" sz="2000" spc="-10" b="1">
                <a:solidFill>
                  <a:srgbClr val="6600FF"/>
                </a:solidFill>
                <a:latin typeface="宋体"/>
                <a:cs typeface="宋体"/>
              </a:rPr>
              <a:t>6.1</a:t>
            </a:r>
            <a:r>
              <a:rPr dirty="0" sz="2000" spc="-15" b="1">
                <a:latin typeface="宋体"/>
                <a:cs typeface="宋体"/>
              </a:rPr>
              <a:t>中的代码展开</a:t>
            </a:r>
            <a:r>
              <a:rPr dirty="0" sz="2000" spc="-15" b="1">
                <a:solidFill>
                  <a:srgbClr val="6600FF"/>
                </a:solidFill>
                <a:latin typeface="宋体"/>
                <a:cs typeface="宋体"/>
              </a:rPr>
              <a:t>7</a:t>
            </a:r>
            <a:r>
              <a:rPr dirty="0" sz="2000" spc="-15" b="1">
                <a:latin typeface="宋体"/>
                <a:cs typeface="宋体"/>
              </a:rPr>
              <a:t>次并生成</a:t>
            </a:r>
            <a:r>
              <a:rPr dirty="0" sz="2000" spc="-20" b="1">
                <a:latin typeface="宋体"/>
                <a:cs typeface="宋体"/>
              </a:rPr>
              <a:t>IA-</a:t>
            </a:r>
            <a:r>
              <a:rPr dirty="0" sz="2000" spc="-10" b="1">
                <a:latin typeface="宋体"/>
                <a:cs typeface="宋体"/>
              </a:rPr>
              <a:t>64</a:t>
            </a:r>
            <a:r>
              <a:rPr dirty="0" sz="2000" spc="-25" b="1">
                <a:latin typeface="宋体"/>
                <a:cs typeface="宋体"/>
              </a:rPr>
              <a:t>指令，使得：</a:t>
            </a:r>
            <a:endParaRPr sz="2000">
              <a:latin typeface="宋体"/>
              <a:cs typeface="宋体"/>
            </a:endParaRPr>
          </a:p>
          <a:p>
            <a:pPr marL="1677670" indent="-508634">
              <a:lnSpc>
                <a:spcPct val="100000"/>
              </a:lnSpc>
              <a:spcBef>
                <a:spcPts val="960"/>
              </a:spcBef>
              <a:buAutoNum type="arabicParenBoth"/>
              <a:tabLst>
                <a:tab pos="1677670" algn="l"/>
              </a:tabLst>
            </a:pPr>
            <a:r>
              <a:rPr dirty="0" sz="2000" spc="-10" b="1">
                <a:latin typeface="宋体"/>
                <a:cs typeface="宋体"/>
              </a:rPr>
              <a:t>bundle</a:t>
            </a:r>
            <a:r>
              <a:rPr dirty="0" sz="2000" spc="-25" b="1">
                <a:latin typeface="宋体"/>
                <a:cs typeface="宋体"/>
              </a:rPr>
              <a:t>数最少；</a:t>
            </a:r>
            <a:endParaRPr sz="2000">
              <a:latin typeface="宋体"/>
              <a:cs typeface="宋体"/>
            </a:endParaRPr>
          </a:p>
          <a:p>
            <a:pPr marL="1677035" indent="-508000">
              <a:lnSpc>
                <a:spcPct val="100000"/>
              </a:lnSpc>
              <a:spcBef>
                <a:spcPts val="960"/>
              </a:spcBef>
              <a:buAutoNum type="arabicParenBoth"/>
              <a:tabLst>
                <a:tab pos="1677035" algn="l"/>
              </a:tabLst>
            </a:pPr>
            <a:r>
              <a:rPr dirty="0" sz="2000" spc="-20" b="1">
                <a:latin typeface="宋体"/>
                <a:cs typeface="宋体"/>
              </a:rPr>
              <a:t>执行时间最短。</a:t>
            </a:r>
            <a:endParaRPr sz="2000">
              <a:latin typeface="宋体"/>
              <a:cs typeface="宋体"/>
            </a:endParaRPr>
          </a:p>
          <a:p>
            <a:pPr marL="12700" marR="2393950" indent="514984">
              <a:lnSpc>
                <a:spcPct val="140000"/>
              </a:lnSpc>
            </a:pPr>
            <a:r>
              <a:rPr dirty="0" sz="2000" spc="-10" b="1">
                <a:latin typeface="宋体"/>
                <a:cs typeface="宋体"/>
              </a:rPr>
              <a:t>假设每时钟周期可流出</a:t>
            </a:r>
            <a:r>
              <a:rPr dirty="0" sz="2000" spc="-15" b="1">
                <a:solidFill>
                  <a:srgbClr val="6600FF"/>
                </a:solidFill>
                <a:latin typeface="宋体"/>
                <a:cs typeface="宋体"/>
              </a:rPr>
              <a:t>1</a:t>
            </a:r>
            <a:r>
              <a:rPr dirty="0" sz="2000" spc="-10" b="1">
                <a:latin typeface="宋体"/>
                <a:cs typeface="宋体"/>
              </a:rPr>
              <a:t>个</a:t>
            </a:r>
            <a:r>
              <a:rPr dirty="0" sz="2000" spc="-20" b="1">
                <a:latin typeface="宋体"/>
                <a:cs typeface="宋体"/>
              </a:rPr>
              <a:t>bundle，bundle</a:t>
            </a:r>
            <a:r>
              <a:rPr dirty="0" sz="2000" spc="-25" b="1">
                <a:latin typeface="宋体"/>
                <a:cs typeface="宋体"/>
              </a:rPr>
              <a:t>中任何操作的暂停将导</a:t>
            </a:r>
            <a:r>
              <a:rPr dirty="0" sz="2000" spc="-20" b="1">
                <a:latin typeface="宋体"/>
                <a:cs typeface="宋体"/>
              </a:rPr>
              <a:t>致整个流水线暂停。各操作延迟如表6.1</a:t>
            </a:r>
            <a:r>
              <a:rPr dirty="0" sz="2000" spc="-25" b="1">
                <a:latin typeface="宋体"/>
                <a:cs typeface="宋体"/>
              </a:rPr>
              <a:t>所示。</a:t>
            </a:r>
            <a:endParaRPr sz="2000">
              <a:latin typeface="宋体"/>
              <a:cs typeface="宋体"/>
            </a:endParaRPr>
          </a:p>
          <a:p>
            <a:pPr marL="527685">
              <a:lnSpc>
                <a:spcPct val="100000"/>
              </a:lnSpc>
              <a:spcBef>
                <a:spcPts val="960"/>
              </a:spcBef>
            </a:pPr>
            <a:r>
              <a:rPr dirty="0" sz="2000" spc="10" b="1">
                <a:solidFill>
                  <a:srgbClr val="E14B04"/>
                </a:solidFill>
                <a:latin typeface="宋体"/>
                <a:cs typeface="宋体"/>
              </a:rPr>
              <a:t>解 </a:t>
            </a:r>
            <a:r>
              <a:rPr dirty="0" sz="2000" spc="-15" b="1">
                <a:latin typeface="宋体"/>
                <a:cs typeface="宋体"/>
              </a:rPr>
              <a:t>调度结果中“</a:t>
            </a:r>
            <a:r>
              <a:rPr dirty="0" sz="2000" spc="-20" b="1">
                <a:solidFill>
                  <a:srgbClr val="6600FF"/>
                </a:solidFill>
                <a:latin typeface="宋体"/>
                <a:cs typeface="宋体"/>
              </a:rPr>
              <a:t>s</a:t>
            </a:r>
            <a:r>
              <a:rPr dirty="0" sz="2000" spc="-20" b="1">
                <a:latin typeface="宋体"/>
                <a:cs typeface="宋体"/>
              </a:rPr>
              <a:t>”表示停止位，</a:t>
            </a:r>
            <a:r>
              <a:rPr dirty="0" sz="2000" spc="-10" b="1">
                <a:solidFill>
                  <a:srgbClr val="6600FF"/>
                </a:solidFill>
                <a:latin typeface="宋体"/>
                <a:cs typeface="宋体"/>
              </a:rPr>
              <a:t>nop</a:t>
            </a:r>
            <a:r>
              <a:rPr dirty="0" sz="2000" spc="-25" b="1">
                <a:latin typeface="宋体"/>
                <a:cs typeface="宋体"/>
              </a:rPr>
              <a:t>表示空操作。</a:t>
            </a:r>
            <a:endParaRPr sz="2000">
              <a:latin typeface="宋体"/>
              <a:cs typeface="宋体"/>
            </a:endParaRPr>
          </a:p>
          <a:p>
            <a:pPr marL="1382395" indent="-455295">
              <a:lnSpc>
                <a:spcPct val="100000"/>
              </a:lnSpc>
              <a:spcBef>
                <a:spcPts val="965"/>
              </a:spcBef>
              <a:buClr>
                <a:srgbClr val="4668F5"/>
              </a:buClr>
              <a:buSzPct val="60000"/>
              <a:buFont typeface="Wingdings"/>
              <a:buChar char=""/>
              <a:tabLst>
                <a:tab pos="1382395" algn="l"/>
              </a:tabLst>
            </a:pPr>
            <a:r>
              <a:rPr dirty="0" sz="2000" spc="-10" b="1">
                <a:solidFill>
                  <a:srgbClr val="FF5CFF"/>
                </a:solidFill>
                <a:latin typeface="宋体"/>
                <a:cs typeface="宋体"/>
              </a:rPr>
              <a:t>第一种情况下只有</a:t>
            </a:r>
            <a:r>
              <a:rPr dirty="0" sz="2000" spc="-10" b="1">
                <a:solidFill>
                  <a:srgbClr val="6600FF"/>
                </a:solidFill>
                <a:latin typeface="宋体"/>
                <a:cs typeface="宋体"/>
              </a:rPr>
              <a:t>9</a:t>
            </a:r>
            <a:r>
              <a:rPr dirty="0" sz="2000" spc="-10" b="1">
                <a:solidFill>
                  <a:srgbClr val="FF5CFF"/>
                </a:solidFill>
                <a:latin typeface="宋体"/>
                <a:cs typeface="宋体"/>
              </a:rPr>
              <a:t>个</a:t>
            </a:r>
            <a:r>
              <a:rPr dirty="0" sz="2000" spc="-20" b="1">
                <a:solidFill>
                  <a:srgbClr val="FF5CFF"/>
                </a:solidFill>
                <a:latin typeface="宋体"/>
                <a:cs typeface="宋体"/>
              </a:rPr>
              <a:t>bundle，</a:t>
            </a:r>
            <a:r>
              <a:rPr dirty="0" sz="2000" spc="-20" b="1">
                <a:solidFill>
                  <a:srgbClr val="6600FF"/>
                </a:solidFill>
                <a:latin typeface="宋体"/>
                <a:cs typeface="宋体"/>
              </a:rPr>
              <a:t>15%</a:t>
            </a:r>
            <a:r>
              <a:rPr dirty="0" sz="2000" spc="-20" b="1">
                <a:solidFill>
                  <a:srgbClr val="FF5CFF"/>
                </a:solidFill>
                <a:latin typeface="宋体"/>
                <a:cs typeface="宋体"/>
              </a:rPr>
              <a:t>的槽为空，但需要</a:t>
            </a:r>
            <a:r>
              <a:rPr dirty="0" sz="2000" spc="-15" b="1">
                <a:solidFill>
                  <a:srgbClr val="6600FF"/>
                </a:solidFill>
                <a:latin typeface="宋体"/>
                <a:cs typeface="宋体"/>
              </a:rPr>
              <a:t>21</a:t>
            </a:r>
            <a:r>
              <a:rPr dirty="0" sz="2000" spc="-25" b="1">
                <a:solidFill>
                  <a:srgbClr val="FF5CFF"/>
                </a:solidFill>
                <a:latin typeface="宋体"/>
                <a:cs typeface="宋体"/>
              </a:rPr>
              <a:t>个周期才能完成。</a:t>
            </a:r>
            <a:endParaRPr sz="2000">
              <a:latin typeface="宋体"/>
              <a:cs typeface="宋体"/>
            </a:endParaRPr>
          </a:p>
          <a:p>
            <a:pPr marL="1383030" marR="5080" indent="-455930">
              <a:lnSpc>
                <a:spcPct val="120000"/>
              </a:lnSpc>
              <a:spcBef>
                <a:spcPts val="480"/>
              </a:spcBef>
              <a:buClr>
                <a:srgbClr val="4668F5"/>
              </a:buClr>
              <a:buSzPct val="60000"/>
              <a:buFont typeface="Wingdings"/>
              <a:buChar char=""/>
              <a:tabLst>
                <a:tab pos="1383030" algn="l"/>
              </a:tabLst>
            </a:pPr>
            <a:r>
              <a:rPr dirty="0" sz="2000" spc="-20" b="1">
                <a:solidFill>
                  <a:srgbClr val="FF5CFF"/>
                </a:solidFill>
                <a:latin typeface="宋体"/>
                <a:cs typeface="宋体"/>
              </a:rPr>
              <a:t>第二种情况代码体积和空槽均有所增加，需要</a:t>
            </a:r>
            <a:r>
              <a:rPr dirty="0" sz="2000" spc="-10" b="1">
                <a:solidFill>
                  <a:srgbClr val="6600FF"/>
                </a:solidFill>
                <a:latin typeface="宋体"/>
                <a:cs typeface="宋体"/>
              </a:rPr>
              <a:t>11</a:t>
            </a:r>
            <a:r>
              <a:rPr dirty="0" sz="2000" spc="-10" b="1">
                <a:solidFill>
                  <a:srgbClr val="FF5CFF"/>
                </a:solidFill>
                <a:latin typeface="宋体"/>
                <a:cs typeface="宋体"/>
              </a:rPr>
              <a:t>个</a:t>
            </a:r>
            <a:r>
              <a:rPr dirty="0" sz="2000" spc="-20" b="1">
                <a:solidFill>
                  <a:srgbClr val="FF5CFF"/>
                </a:solidFill>
                <a:latin typeface="宋体"/>
                <a:cs typeface="宋体"/>
              </a:rPr>
              <a:t>bundle，有</a:t>
            </a:r>
            <a:r>
              <a:rPr dirty="0" sz="2000" spc="-10" b="1">
                <a:solidFill>
                  <a:srgbClr val="6600FF"/>
                </a:solidFill>
                <a:latin typeface="宋体"/>
                <a:cs typeface="宋体"/>
              </a:rPr>
              <a:t>30%</a:t>
            </a:r>
            <a:r>
              <a:rPr dirty="0" sz="2000" spc="-25" b="1">
                <a:solidFill>
                  <a:srgbClr val="FF5CFF"/>
                </a:solidFill>
                <a:latin typeface="宋体"/>
                <a:cs typeface="宋体"/>
              </a:rPr>
              <a:t>的槽是空槽，</a:t>
            </a:r>
            <a:r>
              <a:rPr dirty="0" sz="2000" spc="-10" b="1">
                <a:solidFill>
                  <a:srgbClr val="FF5CFF"/>
                </a:solidFill>
                <a:latin typeface="宋体"/>
                <a:cs typeface="宋体"/>
              </a:rPr>
              <a:t>但执行时间大大缩短，仅用</a:t>
            </a:r>
            <a:r>
              <a:rPr dirty="0" sz="2000" spc="-15" b="1">
                <a:solidFill>
                  <a:srgbClr val="6600FF"/>
                </a:solidFill>
                <a:latin typeface="宋体"/>
                <a:cs typeface="宋体"/>
              </a:rPr>
              <a:t>12</a:t>
            </a:r>
            <a:r>
              <a:rPr dirty="0" sz="2000" spc="-30" b="1">
                <a:solidFill>
                  <a:srgbClr val="FF5CFF"/>
                </a:solidFill>
                <a:latin typeface="宋体"/>
                <a:cs typeface="宋体"/>
              </a:rPr>
              <a:t>个周期就可以完成 。</a:t>
            </a:r>
            <a:endParaRPr sz="2000">
              <a:latin typeface="宋体"/>
              <a:cs typeface="宋体"/>
            </a:endParaRPr>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341755" algn="l"/>
                <a:tab pos="10788015" algn="l"/>
              </a:tabLst>
            </a:pPr>
            <a:r>
              <a:rPr dirty="0"/>
              <a:t>	6.6</a:t>
            </a:r>
            <a:r>
              <a:rPr dirty="0" spc="5"/>
              <a:t> </a:t>
            </a:r>
            <a:r>
              <a:rPr dirty="0" spc="-10"/>
              <a:t>实例：IA-64</a:t>
            </a:r>
            <a:r>
              <a:rPr dirty="0"/>
              <a:t>体</a:t>
            </a:r>
            <a:r>
              <a:rPr dirty="0" spc="-20"/>
              <a:t>系</a:t>
            </a:r>
            <a:r>
              <a:rPr dirty="0"/>
              <a:t>结</a:t>
            </a:r>
            <a:r>
              <a:rPr dirty="0" spc="-50"/>
              <a:t>构</a:t>
            </a:r>
            <a:r>
              <a:rPr dirty="0"/>
              <a:t>	</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116/89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702665" y="982471"/>
            <a:ext cx="2212975" cy="330835"/>
          </a:xfrm>
          <a:prstGeom prst="rect">
            <a:avLst/>
          </a:prstGeom>
        </p:spPr>
        <p:txBody>
          <a:bodyPr wrap="square" lIns="0" tIns="13335" rIns="0" bIns="0" rtlCol="0" vert="horz">
            <a:spAutoFit/>
          </a:bodyPr>
          <a:lstStyle/>
          <a:p>
            <a:pPr marL="12700">
              <a:lnSpc>
                <a:spcPct val="100000"/>
              </a:lnSpc>
              <a:spcBef>
                <a:spcPts val="105"/>
              </a:spcBef>
            </a:pPr>
            <a:r>
              <a:rPr dirty="0" sz="2000" b="1">
                <a:solidFill>
                  <a:srgbClr val="E14B04"/>
                </a:solidFill>
                <a:latin typeface="宋体"/>
                <a:cs typeface="宋体"/>
              </a:rPr>
              <a:t>解 </a:t>
            </a:r>
            <a:r>
              <a:rPr dirty="0" sz="2000" b="1">
                <a:latin typeface="宋体"/>
                <a:cs typeface="宋体"/>
              </a:rPr>
              <a:t>(1) </a:t>
            </a:r>
            <a:r>
              <a:rPr dirty="0" sz="2000" spc="-10" b="1">
                <a:latin typeface="宋体"/>
                <a:cs typeface="宋体"/>
              </a:rPr>
              <a:t>bundle</a:t>
            </a:r>
            <a:r>
              <a:rPr dirty="0" sz="2000" spc="-30" b="1">
                <a:latin typeface="宋体"/>
                <a:cs typeface="宋体"/>
              </a:rPr>
              <a:t>最少</a:t>
            </a:r>
            <a:endParaRPr sz="2000">
              <a:latin typeface="宋体"/>
              <a:cs typeface="宋体"/>
            </a:endParaRPr>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341755" algn="l"/>
                <a:tab pos="10788015" algn="l"/>
              </a:tabLst>
            </a:pPr>
            <a:r>
              <a:rPr dirty="0"/>
              <a:t>	6.6</a:t>
            </a:r>
            <a:r>
              <a:rPr dirty="0" spc="5"/>
              <a:t> </a:t>
            </a:r>
            <a:r>
              <a:rPr dirty="0" spc="-10"/>
              <a:t>实例：IA-64</a:t>
            </a:r>
            <a:r>
              <a:rPr dirty="0"/>
              <a:t>体</a:t>
            </a:r>
            <a:r>
              <a:rPr dirty="0" spc="-20"/>
              <a:t>系</a:t>
            </a:r>
            <a:r>
              <a:rPr dirty="0"/>
              <a:t>结</a:t>
            </a:r>
            <a:r>
              <a:rPr dirty="0" spc="-50"/>
              <a:t>构</a:t>
            </a:r>
            <a:r>
              <a:rPr dirty="0"/>
              <a:t>	</a:t>
            </a:r>
          </a:p>
        </p:txBody>
      </p:sp>
      <p:graphicFrame>
        <p:nvGraphicFramePr>
          <p:cNvPr id="10" name="object 10" descr=""/>
          <p:cNvGraphicFramePr>
            <a:graphicFrameLocks noGrp="1"/>
          </p:cNvGraphicFramePr>
          <p:nvPr/>
        </p:nvGraphicFramePr>
        <p:xfrm>
          <a:off x="1049337" y="1501775"/>
          <a:ext cx="8803005" cy="4876165"/>
        </p:xfrm>
        <a:graphic>
          <a:graphicData uri="http://schemas.openxmlformats.org/drawingml/2006/table">
            <a:tbl>
              <a:tblPr firstRow="1" bandRow="1">
                <a:tableStyleId>{2D5ABB26-0587-4C30-8999-92F81FD0307C}</a:tableStyleId>
              </a:tblPr>
              <a:tblGrid>
                <a:gridCol w="1246505"/>
                <a:gridCol w="1886585"/>
                <a:gridCol w="2070734"/>
                <a:gridCol w="2454909"/>
                <a:gridCol w="1057909"/>
              </a:tblGrid>
              <a:tr h="345440">
                <a:tc>
                  <a:txBody>
                    <a:bodyPr/>
                    <a:lstStyle/>
                    <a:p>
                      <a:pPr marL="91440">
                        <a:lnSpc>
                          <a:spcPct val="100000"/>
                        </a:lnSpc>
                        <a:spcBef>
                          <a:spcPts val="355"/>
                        </a:spcBef>
                      </a:pPr>
                      <a:r>
                        <a:rPr dirty="0" sz="1600" spc="-40" b="1">
                          <a:solidFill>
                            <a:srgbClr val="E14B04"/>
                          </a:solidFill>
                          <a:latin typeface="宋体"/>
                          <a:cs typeface="宋体"/>
                        </a:rPr>
                        <a:t>模板</a:t>
                      </a:r>
                      <a:endParaRPr sz="1600">
                        <a:latin typeface="宋体"/>
                        <a:cs typeface="宋体"/>
                      </a:endParaRPr>
                    </a:p>
                  </a:txBody>
                  <a:tcPr marL="0" marR="0" marB="0" marT="4508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0"/>
                        </a:spcBef>
                      </a:pPr>
                      <a:r>
                        <a:rPr dirty="0" sz="1600" spc="-30" b="1">
                          <a:solidFill>
                            <a:srgbClr val="E14B04"/>
                          </a:solidFill>
                          <a:latin typeface="宋体"/>
                          <a:cs typeface="宋体"/>
                        </a:rPr>
                        <a:t>操作槽</a:t>
                      </a:r>
                      <a:r>
                        <a:rPr dirty="0" sz="1600" spc="-50" b="1">
                          <a:solidFill>
                            <a:srgbClr val="E14B04"/>
                          </a:solidFill>
                          <a:latin typeface="Times New Roman"/>
                          <a:cs typeface="Times New Roman"/>
                        </a:rPr>
                        <a:t>0</a:t>
                      </a:r>
                      <a:endParaRPr sz="16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0"/>
                        </a:spcBef>
                      </a:pPr>
                      <a:r>
                        <a:rPr dirty="0" sz="1600" spc="-30" b="1">
                          <a:solidFill>
                            <a:srgbClr val="E14B04"/>
                          </a:solidFill>
                          <a:latin typeface="宋体"/>
                          <a:cs typeface="宋体"/>
                        </a:rPr>
                        <a:t>操作槽</a:t>
                      </a:r>
                      <a:r>
                        <a:rPr dirty="0" sz="1600" spc="-50" b="1">
                          <a:solidFill>
                            <a:srgbClr val="E14B04"/>
                          </a:solidFill>
                          <a:latin typeface="Times New Roman"/>
                          <a:cs typeface="Times New Roman"/>
                        </a:rPr>
                        <a:t>1</a:t>
                      </a:r>
                      <a:endParaRPr sz="16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dirty="0" sz="1600" spc="-30" b="1">
                          <a:solidFill>
                            <a:srgbClr val="E14B04"/>
                          </a:solidFill>
                          <a:latin typeface="宋体"/>
                          <a:cs typeface="宋体"/>
                        </a:rPr>
                        <a:t>操作槽</a:t>
                      </a:r>
                      <a:r>
                        <a:rPr dirty="0" sz="1600" spc="-50" b="1">
                          <a:solidFill>
                            <a:srgbClr val="E14B04"/>
                          </a:solidFill>
                          <a:latin typeface="Times New Roman"/>
                          <a:cs typeface="Times New Roman"/>
                        </a:rPr>
                        <a:t>2</a:t>
                      </a:r>
                      <a:endParaRPr sz="16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R="48260">
                        <a:lnSpc>
                          <a:spcPct val="100000"/>
                        </a:lnSpc>
                        <a:spcBef>
                          <a:spcPts val="355"/>
                        </a:spcBef>
                      </a:pPr>
                      <a:r>
                        <a:rPr dirty="0" sz="1600" spc="-35" b="1">
                          <a:solidFill>
                            <a:srgbClr val="E14B04"/>
                          </a:solidFill>
                          <a:latin typeface="宋体"/>
                          <a:cs typeface="宋体"/>
                        </a:rPr>
                        <a:t>执行时间</a:t>
                      </a:r>
                      <a:endParaRPr sz="1600">
                        <a:latin typeface="宋体"/>
                        <a:cs typeface="宋体"/>
                      </a:endParaRPr>
                    </a:p>
                  </a:txBody>
                  <a:tcPr marL="0" marR="0" marB="0" marT="4508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47345">
                <a:tc>
                  <a:txBody>
                    <a:bodyPr/>
                    <a:lstStyle/>
                    <a:p>
                      <a:pPr marL="91440">
                        <a:lnSpc>
                          <a:spcPct val="100000"/>
                        </a:lnSpc>
                        <a:spcBef>
                          <a:spcPts val="325"/>
                        </a:spcBef>
                      </a:pPr>
                      <a:r>
                        <a:rPr dirty="0" sz="1500" b="1">
                          <a:solidFill>
                            <a:srgbClr val="008000"/>
                          </a:solidFill>
                          <a:latin typeface="Times New Roman"/>
                          <a:cs typeface="Times New Roman"/>
                        </a:rPr>
                        <a:t>9</a:t>
                      </a:r>
                      <a:r>
                        <a:rPr dirty="0" sz="1500" b="1">
                          <a:solidFill>
                            <a:srgbClr val="008000"/>
                          </a:solidFill>
                          <a:latin typeface="宋体"/>
                          <a:cs typeface="宋体"/>
                        </a:rPr>
                        <a:t>：</a:t>
                      </a:r>
                      <a:r>
                        <a:rPr dirty="0" sz="1500" b="1">
                          <a:solidFill>
                            <a:srgbClr val="008000"/>
                          </a:solidFill>
                          <a:latin typeface="Times New Roman"/>
                          <a:cs typeface="Times New Roman"/>
                        </a:rPr>
                        <a:t>M</a:t>
                      </a:r>
                      <a:r>
                        <a:rPr dirty="0" sz="1500" spc="-25" b="1">
                          <a:solidFill>
                            <a:srgbClr val="008000"/>
                          </a:solidFill>
                          <a:latin typeface="Times New Roman"/>
                          <a:cs typeface="Times New Roman"/>
                        </a:rPr>
                        <a:t> </a:t>
                      </a:r>
                      <a:r>
                        <a:rPr dirty="0" sz="1500" b="1">
                          <a:solidFill>
                            <a:srgbClr val="008000"/>
                          </a:solidFill>
                          <a:latin typeface="Times New Roman"/>
                          <a:cs typeface="Times New Roman"/>
                        </a:rPr>
                        <a:t>M</a:t>
                      </a:r>
                      <a:r>
                        <a:rPr dirty="0" sz="1500" spc="10" b="1">
                          <a:solidFill>
                            <a:srgbClr val="008000"/>
                          </a:solidFill>
                          <a:latin typeface="Times New Roman"/>
                          <a:cs typeface="Times New Roman"/>
                        </a:rPr>
                        <a:t> </a:t>
                      </a:r>
                      <a:r>
                        <a:rPr dirty="0" sz="1500" spc="-60" b="1">
                          <a:solidFill>
                            <a:srgbClr val="008000"/>
                          </a:solidFill>
                          <a:latin typeface="Times New Roman"/>
                          <a:cs typeface="Times New Roman"/>
                        </a:rPr>
                        <a:t>I</a:t>
                      </a:r>
                      <a:endParaRPr sz="1500">
                        <a:latin typeface="Times New Roman"/>
                        <a:cs typeface="Times New Roman"/>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5"/>
                        </a:spcBef>
                      </a:pPr>
                      <a:r>
                        <a:rPr dirty="0" sz="1500" b="1">
                          <a:solidFill>
                            <a:srgbClr val="40458B"/>
                          </a:solidFill>
                          <a:latin typeface="Times New Roman"/>
                          <a:cs typeface="Times New Roman"/>
                        </a:rPr>
                        <a:t>L.D</a:t>
                      </a:r>
                      <a:r>
                        <a:rPr dirty="0" sz="1500" spc="-25" b="1">
                          <a:solidFill>
                            <a:srgbClr val="40458B"/>
                          </a:solidFill>
                          <a:latin typeface="Times New Roman"/>
                          <a:cs typeface="Times New Roman"/>
                        </a:rPr>
                        <a:t> </a:t>
                      </a:r>
                      <a:r>
                        <a:rPr dirty="0" sz="1500" spc="-10" b="1">
                          <a:solidFill>
                            <a:srgbClr val="40458B"/>
                          </a:solidFill>
                          <a:latin typeface="Times New Roman"/>
                          <a:cs typeface="Times New Roman"/>
                        </a:rPr>
                        <a:t>F0</a:t>
                      </a:r>
                      <a:r>
                        <a:rPr dirty="0" sz="1500" spc="-10" b="1">
                          <a:solidFill>
                            <a:srgbClr val="40458B"/>
                          </a:solidFill>
                          <a:latin typeface="宋体"/>
                          <a:cs typeface="宋体"/>
                        </a:rPr>
                        <a:t>，</a:t>
                      </a:r>
                      <a:r>
                        <a:rPr dirty="0" sz="1500" spc="-10" b="1">
                          <a:solidFill>
                            <a:srgbClr val="40458B"/>
                          </a:solidFill>
                          <a:latin typeface="Times New Roman"/>
                          <a:cs typeface="Times New Roman"/>
                        </a:rPr>
                        <a:t>0</a:t>
                      </a:r>
                      <a:r>
                        <a:rPr dirty="0" sz="1500" spc="-10" b="1">
                          <a:solidFill>
                            <a:srgbClr val="40458B"/>
                          </a:solidFill>
                          <a:latin typeface="宋体"/>
                          <a:cs typeface="宋体"/>
                        </a:rPr>
                        <a:t>（</a:t>
                      </a:r>
                      <a:r>
                        <a:rPr dirty="0" sz="1500" spc="-10" b="1">
                          <a:solidFill>
                            <a:srgbClr val="40458B"/>
                          </a:solidFill>
                          <a:latin typeface="Times New Roman"/>
                          <a:cs typeface="Times New Roman"/>
                        </a:rPr>
                        <a:t>R1</a:t>
                      </a:r>
                      <a:r>
                        <a:rPr dirty="0" sz="1500" spc="-10" b="1">
                          <a:solidFill>
                            <a:srgbClr val="40458B"/>
                          </a:solidFill>
                          <a:latin typeface="宋体"/>
                          <a:cs typeface="宋体"/>
                        </a:rPr>
                        <a:t>）</a:t>
                      </a:r>
                      <a:endParaRPr sz="1500">
                        <a:latin typeface="宋体"/>
                        <a:cs typeface="宋体"/>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5"/>
                        </a:spcBef>
                      </a:pPr>
                      <a:r>
                        <a:rPr dirty="0" sz="1500" b="1">
                          <a:solidFill>
                            <a:srgbClr val="40458B"/>
                          </a:solidFill>
                          <a:latin typeface="Times New Roman"/>
                          <a:cs typeface="Times New Roman"/>
                        </a:rPr>
                        <a:t>L.D</a:t>
                      </a:r>
                      <a:r>
                        <a:rPr dirty="0" sz="1500" spc="-15" b="1">
                          <a:solidFill>
                            <a:srgbClr val="40458B"/>
                          </a:solidFill>
                          <a:latin typeface="Times New Roman"/>
                          <a:cs typeface="Times New Roman"/>
                        </a:rPr>
                        <a:t> </a:t>
                      </a:r>
                      <a:r>
                        <a:rPr dirty="0" sz="1500" b="1">
                          <a:solidFill>
                            <a:srgbClr val="40458B"/>
                          </a:solidFill>
                          <a:latin typeface="Times New Roman"/>
                          <a:cs typeface="Times New Roman"/>
                        </a:rPr>
                        <a:t>F6</a:t>
                      </a:r>
                      <a:r>
                        <a:rPr dirty="0" sz="1500" b="1">
                          <a:solidFill>
                            <a:srgbClr val="40458B"/>
                          </a:solidFill>
                          <a:latin typeface="宋体"/>
                          <a:cs typeface="宋体"/>
                        </a:rPr>
                        <a:t>，</a:t>
                      </a:r>
                      <a:r>
                        <a:rPr dirty="0" sz="1500" b="1">
                          <a:solidFill>
                            <a:srgbClr val="40458B"/>
                          </a:solidFill>
                          <a:latin typeface="Times New Roman"/>
                          <a:cs typeface="Times New Roman"/>
                        </a:rPr>
                        <a:t>-</a:t>
                      </a:r>
                      <a:r>
                        <a:rPr dirty="0" sz="1500" spc="-20" b="1">
                          <a:solidFill>
                            <a:srgbClr val="40458B"/>
                          </a:solidFill>
                          <a:latin typeface="Times New Roman"/>
                          <a:cs typeface="Times New Roman"/>
                        </a:rPr>
                        <a:t>8</a:t>
                      </a:r>
                      <a:r>
                        <a:rPr dirty="0" sz="1500" spc="-20" b="1">
                          <a:solidFill>
                            <a:srgbClr val="40458B"/>
                          </a:solidFill>
                          <a:latin typeface="宋体"/>
                          <a:cs typeface="宋体"/>
                        </a:rPr>
                        <a:t>（</a:t>
                      </a:r>
                      <a:r>
                        <a:rPr dirty="0" sz="1500" spc="-20" b="1">
                          <a:solidFill>
                            <a:srgbClr val="40458B"/>
                          </a:solidFill>
                          <a:latin typeface="Times New Roman"/>
                          <a:cs typeface="Times New Roman"/>
                        </a:rPr>
                        <a:t>R1</a:t>
                      </a:r>
                      <a:r>
                        <a:rPr dirty="0" sz="1500" spc="-20" b="1">
                          <a:solidFill>
                            <a:srgbClr val="40458B"/>
                          </a:solidFill>
                          <a:latin typeface="宋体"/>
                          <a:cs typeface="宋体"/>
                        </a:rPr>
                        <a:t>）</a:t>
                      </a:r>
                      <a:endParaRPr sz="1500">
                        <a:latin typeface="宋体"/>
                        <a:cs typeface="宋体"/>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15"/>
                        </a:spcBef>
                        <a:tabLst>
                          <a:tab pos="1256030" algn="l"/>
                        </a:tabLst>
                      </a:pPr>
                      <a:r>
                        <a:rPr dirty="0" sz="1500" spc="-25" b="1">
                          <a:solidFill>
                            <a:srgbClr val="40458B"/>
                          </a:solidFill>
                          <a:latin typeface="Times New Roman"/>
                          <a:cs typeface="Times New Roman"/>
                        </a:rPr>
                        <a:t>nop</a:t>
                      </a:r>
                      <a:r>
                        <a:rPr dirty="0" sz="1500" b="1">
                          <a:solidFill>
                            <a:srgbClr val="40458B"/>
                          </a:solidFill>
                          <a:latin typeface="Times New Roman"/>
                          <a:cs typeface="Times New Roman"/>
                        </a:rPr>
                        <a:t>	</a:t>
                      </a:r>
                      <a:r>
                        <a:rPr dirty="0" sz="1500" spc="-25" b="1">
                          <a:solidFill>
                            <a:srgbClr val="40458B"/>
                          </a:solidFill>
                          <a:latin typeface="Times New Roman"/>
                          <a:cs typeface="Times New Roman"/>
                        </a:rPr>
                        <a:t>(s)</a:t>
                      </a:r>
                      <a:endParaRPr sz="15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1270">
                        <a:lnSpc>
                          <a:spcPct val="100000"/>
                        </a:lnSpc>
                        <a:spcBef>
                          <a:spcPts val="315"/>
                        </a:spcBef>
                      </a:pPr>
                      <a:r>
                        <a:rPr dirty="0" sz="1500" spc="-50" b="1">
                          <a:solidFill>
                            <a:srgbClr val="40458B"/>
                          </a:solidFill>
                          <a:latin typeface="Times New Roman"/>
                          <a:cs typeface="Times New Roman"/>
                        </a:rPr>
                        <a:t>1</a:t>
                      </a:r>
                      <a:endParaRPr sz="15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548005">
                <a:tc>
                  <a:txBody>
                    <a:bodyPr/>
                    <a:lstStyle/>
                    <a:p>
                      <a:pPr marL="91440">
                        <a:lnSpc>
                          <a:spcPct val="100000"/>
                        </a:lnSpc>
                        <a:spcBef>
                          <a:spcPts val="325"/>
                        </a:spcBef>
                      </a:pPr>
                      <a:r>
                        <a:rPr dirty="0" sz="1500" b="1">
                          <a:solidFill>
                            <a:srgbClr val="008000"/>
                          </a:solidFill>
                          <a:latin typeface="Times New Roman"/>
                          <a:cs typeface="Times New Roman"/>
                        </a:rPr>
                        <a:t>14</a:t>
                      </a:r>
                      <a:r>
                        <a:rPr dirty="0" sz="1500" b="1">
                          <a:solidFill>
                            <a:srgbClr val="008000"/>
                          </a:solidFill>
                          <a:latin typeface="宋体"/>
                          <a:cs typeface="宋体"/>
                        </a:rPr>
                        <a:t>：</a:t>
                      </a:r>
                      <a:r>
                        <a:rPr dirty="0" sz="1500" b="1">
                          <a:solidFill>
                            <a:srgbClr val="008000"/>
                          </a:solidFill>
                          <a:latin typeface="Times New Roman"/>
                          <a:cs typeface="Times New Roman"/>
                        </a:rPr>
                        <a:t>M</a:t>
                      </a:r>
                      <a:r>
                        <a:rPr dirty="0" sz="1500" spc="-25" b="1">
                          <a:solidFill>
                            <a:srgbClr val="008000"/>
                          </a:solidFill>
                          <a:latin typeface="Times New Roman"/>
                          <a:cs typeface="Times New Roman"/>
                        </a:rPr>
                        <a:t> </a:t>
                      </a:r>
                      <a:r>
                        <a:rPr dirty="0" sz="1500" b="1">
                          <a:solidFill>
                            <a:srgbClr val="008000"/>
                          </a:solidFill>
                          <a:latin typeface="Times New Roman"/>
                          <a:cs typeface="Times New Roman"/>
                        </a:rPr>
                        <a:t>M</a:t>
                      </a:r>
                      <a:r>
                        <a:rPr dirty="0" sz="1500" spc="15" b="1">
                          <a:solidFill>
                            <a:srgbClr val="008000"/>
                          </a:solidFill>
                          <a:latin typeface="Times New Roman"/>
                          <a:cs typeface="Times New Roman"/>
                        </a:rPr>
                        <a:t> </a:t>
                      </a:r>
                      <a:r>
                        <a:rPr dirty="0" sz="1500" spc="-50" b="1">
                          <a:solidFill>
                            <a:srgbClr val="008000"/>
                          </a:solidFill>
                          <a:latin typeface="Times New Roman"/>
                          <a:cs typeface="Times New Roman"/>
                        </a:rPr>
                        <a:t>F</a:t>
                      </a:r>
                      <a:endParaRPr sz="1500">
                        <a:latin typeface="Times New Roman"/>
                        <a:cs typeface="Times New Roman"/>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5"/>
                        </a:spcBef>
                      </a:pPr>
                      <a:r>
                        <a:rPr dirty="0" sz="1500" b="1">
                          <a:solidFill>
                            <a:srgbClr val="40458B"/>
                          </a:solidFill>
                          <a:latin typeface="Times New Roman"/>
                          <a:cs typeface="Times New Roman"/>
                        </a:rPr>
                        <a:t>L.D</a:t>
                      </a:r>
                      <a:r>
                        <a:rPr dirty="0" sz="1500" spc="-20" b="1">
                          <a:solidFill>
                            <a:srgbClr val="40458B"/>
                          </a:solidFill>
                          <a:latin typeface="Times New Roman"/>
                          <a:cs typeface="Times New Roman"/>
                        </a:rPr>
                        <a:t> </a:t>
                      </a:r>
                      <a:r>
                        <a:rPr dirty="0" sz="1500" b="1">
                          <a:solidFill>
                            <a:srgbClr val="40458B"/>
                          </a:solidFill>
                          <a:latin typeface="Times New Roman"/>
                          <a:cs typeface="Times New Roman"/>
                        </a:rPr>
                        <a:t>F10</a:t>
                      </a:r>
                      <a:r>
                        <a:rPr dirty="0" sz="1500" b="1">
                          <a:solidFill>
                            <a:srgbClr val="40458B"/>
                          </a:solidFill>
                          <a:latin typeface="宋体"/>
                          <a:cs typeface="宋体"/>
                        </a:rPr>
                        <a:t>，</a:t>
                      </a:r>
                      <a:r>
                        <a:rPr dirty="0" sz="1500" b="1">
                          <a:solidFill>
                            <a:srgbClr val="40458B"/>
                          </a:solidFill>
                          <a:latin typeface="Times New Roman"/>
                          <a:cs typeface="Times New Roman"/>
                        </a:rPr>
                        <a:t>-</a:t>
                      </a:r>
                      <a:r>
                        <a:rPr dirty="0" sz="1500" spc="-10" b="1">
                          <a:solidFill>
                            <a:srgbClr val="40458B"/>
                          </a:solidFill>
                          <a:latin typeface="Times New Roman"/>
                          <a:cs typeface="Times New Roman"/>
                        </a:rPr>
                        <a:t>16</a:t>
                      </a:r>
                      <a:r>
                        <a:rPr dirty="0" sz="1500" spc="-10" b="1">
                          <a:solidFill>
                            <a:srgbClr val="40458B"/>
                          </a:solidFill>
                          <a:latin typeface="宋体"/>
                          <a:cs typeface="宋体"/>
                        </a:rPr>
                        <a:t>（</a:t>
                      </a:r>
                      <a:r>
                        <a:rPr dirty="0" sz="1500" spc="-10" b="1">
                          <a:solidFill>
                            <a:srgbClr val="40458B"/>
                          </a:solidFill>
                          <a:latin typeface="Times New Roman"/>
                          <a:cs typeface="Times New Roman"/>
                        </a:rPr>
                        <a:t>R1</a:t>
                      </a:r>
                      <a:endParaRPr sz="1500">
                        <a:latin typeface="Times New Roman"/>
                        <a:cs typeface="Times New Roman"/>
                      </a:endParaRPr>
                    </a:p>
                    <a:p>
                      <a:pPr marL="91440">
                        <a:lnSpc>
                          <a:spcPct val="100000"/>
                        </a:lnSpc>
                        <a:spcBef>
                          <a:spcPts val="40"/>
                        </a:spcBef>
                      </a:pPr>
                      <a:r>
                        <a:rPr dirty="0" sz="1500" spc="-50" b="1">
                          <a:solidFill>
                            <a:srgbClr val="40458B"/>
                          </a:solidFill>
                          <a:latin typeface="宋体"/>
                          <a:cs typeface="宋体"/>
                        </a:rPr>
                        <a:t>）</a:t>
                      </a:r>
                      <a:endParaRPr sz="1500">
                        <a:latin typeface="宋体"/>
                        <a:cs typeface="宋体"/>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5"/>
                        </a:spcBef>
                      </a:pPr>
                      <a:r>
                        <a:rPr dirty="0" sz="1500" b="1">
                          <a:solidFill>
                            <a:srgbClr val="40458B"/>
                          </a:solidFill>
                          <a:latin typeface="Times New Roman"/>
                          <a:cs typeface="Times New Roman"/>
                        </a:rPr>
                        <a:t>L.D</a:t>
                      </a:r>
                      <a:r>
                        <a:rPr dirty="0" sz="1500" spc="-15" b="1">
                          <a:solidFill>
                            <a:srgbClr val="40458B"/>
                          </a:solidFill>
                          <a:latin typeface="Times New Roman"/>
                          <a:cs typeface="Times New Roman"/>
                        </a:rPr>
                        <a:t> </a:t>
                      </a:r>
                      <a:r>
                        <a:rPr dirty="0" sz="1500" b="1">
                          <a:solidFill>
                            <a:srgbClr val="40458B"/>
                          </a:solidFill>
                          <a:latin typeface="Times New Roman"/>
                          <a:cs typeface="Times New Roman"/>
                        </a:rPr>
                        <a:t>F14</a:t>
                      </a:r>
                      <a:r>
                        <a:rPr dirty="0" sz="1500" b="1">
                          <a:solidFill>
                            <a:srgbClr val="40458B"/>
                          </a:solidFill>
                          <a:latin typeface="宋体"/>
                          <a:cs typeface="宋体"/>
                        </a:rPr>
                        <a:t>，</a:t>
                      </a:r>
                      <a:r>
                        <a:rPr dirty="0" sz="1500" b="1">
                          <a:solidFill>
                            <a:srgbClr val="40458B"/>
                          </a:solidFill>
                          <a:latin typeface="Times New Roman"/>
                          <a:cs typeface="Times New Roman"/>
                        </a:rPr>
                        <a:t>-</a:t>
                      </a:r>
                      <a:r>
                        <a:rPr dirty="0" sz="1500" spc="-10" b="1">
                          <a:solidFill>
                            <a:srgbClr val="40458B"/>
                          </a:solidFill>
                          <a:latin typeface="Times New Roman"/>
                          <a:cs typeface="Times New Roman"/>
                        </a:rPr>
                        <a:t>24</a:t>
                      </a:r>
                      <a:r>
                        <a:rPr dirty="0" sz="1500" spc="-10" b="1">
                          <a:solidFill>
                            <a:srgbClr val="40458B"/>
                          </a:solidFill>
                          <a:latin typeface="宋体"/>
                          <a:cs typeface="宋体"/>
                        </a:rPr>
                        <a:t>（</a:t>
                      </a:r>
                      <a:r>
                        <a:rPr dirty="0" sz="1500" spc="-10" b="1">
                          <a:solidFill>
                            <a:srgbClr val="40458B"/>
                          </a:solidFill>
                          <a:latin typeface="Times New Roman"/>
                          <a:cs typeface="Times New Roman"/>
                        </a:rPr>
                        <a:t>R1</a:t>
                      </a:r>
                      <a:r>
                        <a:rPr dirty="0" sz="1500" spc="-10" b="1">
                          <a:solidFill>
                            <a:srgbClr val="40458B"/>
                          </a:solidFill>
                          <a:latin typeface="宋体"/>
                          <a:cs typeface="宋体"/>
                        </a:rPr>
                        <a:t>）</a:t>
                      </a:r>
                      <a:endParaRPr sz="1500">
                        <a:latin typeface="宋体"/>
                        <a:cs typeface="宋体"/>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5"/>
                        </a:spcBef>
                      </a:pPr>
                      <a:r>
                        <a:rPr dirty="0" sz="1500" b="1">
                          <a:solidFill>
                            <a:srgbClr val="40458B"/>
                          </a:solidFill>
                          <a:latin typeface="Times New Roman"/>
                          <a:cs typeface="Times New Roman"/>
                        </a:rPr>
                        <a:t>ADD.D</a:t>
                      </a:r>
                      <a:r>
                        <a:rPr dirty="0" sz="1500" spc="-50" b="1">
                          <a:solidFill>
                            <a:srgbClr val="40458B"/>
                          </a:solidFill>
                          <a:latin typeface="Times New Roman"/>
                          <a:cs typeface="Times New Roman"/>
                        </a:rPr>
                        <a:t> </a:t>
                      </a:r>
                      <a:r>
                        <a:rPr dirty="0" sz="1500" spc="-10" b="1">
                          <a:solidFill>
                            <a:srgbClr val="40458B"/>
                          </a:solidFill>
                          <a:latin typeface="Times New Roman"/>
                          <a:cs typeface="Times New Roman"/>
                        </a:rPr>
                        <a:t>F4</a:t>
                      </a:r>
                      <a:r>
                        <a:rPr dirty="0" sz="1500" spc="-10" b="1">
                          <a:solidFill>
                            <a:srgbClr val="40458B"/>
                          </a:solidFill>
                          <a:latin typeface="宋体"/>
                          <a:cs typeface="宋体"/>
                        </a:rPr>
                        <a:t>，</a:t>
                      </a:r>
                      <a:r>
                        <a:rPr dirty="0" sz="1500" spc="-10" b="1">
                          <a:solidFill>
                            <a:srgbClr val="40458B"/>
                          </a:solidFill>
                          <a:latin typeface="Times New Roman"/>
                          <a:cs typeface="Times New Roman"/>
                        </a:rPr>
                        <a:t>F0</a:t>
                      </a:r>
                      <a:r>
                        <a:rPr dirty="0" sz="1500" spc="-10" b="1">
                          <a:solidFill>
                            <a:srgbClr val="40458B"/>
                          </a:solidFill>
                          <a:latin typeface="宋体"/>
                          <a:cs typeface="宋体"/>
                        </a:rPr>
                        <a:t>，</a:t>
                      </a:r>
                      <a:r>
                        <a:rPr dirty="0" sz="1500" spc="-10" b="1">
                          <a:solidFill>
                            <a:srgbClr val="40458B"/>
                          </a:solidFill>
                          <a:latin typeface="Times New Roman"/>
                          <a:cs typeface="Times New Roman"/>
                        </a:rPr>
                        <a:t>F2</a:t>
                      </a:r>
                      <a:endParaRPr sz="1500">
                        <a:latin typeface="Times New Roman"/>
                        <a:cs typeface="Times New Roman"/>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1270">
                        <a:lnSpc>
                          <a:spcPct val="100000"/>
                        </a:lnSpc>
                        <a:spcBef>
                          <a:spcPts val="315"/>
                        </a:spcBef>
                      </a:pPr>
                      <a:r>
                        <a:rPr dirty="0" sz="1500" spc="-50" b="1">
                          <a:solidFill>
                            <a:srgbClr val="40458B"/>
                          </a:solidFill>
                          <a:latin typeface="Times New Roman"/>
                          <a:cs typeface="Times New Roman"/>
                        </a:rPr>
                        <a:t>3</a:t>
                      </a:r>
                      <a:endParaRPr sz="15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548005">
                <a:tc>
                  <a:txBody>
                    <a:bodyPr/>
                    <a:lstStyle/>
                    <a:p>
                      <a:pPr marL="91440">
                        <a:lnSpc>
                          <a:spcPct val="100000"/>
                        </a:lnSpc>
                        <a:spcBef>
                          <a:spcPts val="330"/>
                        </a:spcBef>
                      </a:pPr>
                      <a:r>
                        <a:rPr dirty="0" sz="1500" b="1">
                          <a:solidFill>
                            <a:srgbClr val="008000"/>
                          </a:solidFill>
                          <a:latin typeface="Times New Roman"/>
                          <a:cs typeface="Times New Roman"/>
                        </a:rPr>
                        <a:t>15</a:t>
                      </a:r>
                      <a:r>
                        <a:rPr dirty="0" sz="1500" b="1">
                          <a:solidFill>
                            <a:srgbClr val="008000"/>
                          </a:solidFill>
                          <a:latin typeface="宋体"/>
                          <a:cs typeface="宋体"/>
                        </a:rPr>
                        <a:t>：</a:t>
                      </a:r>
                      <a:r>
                        <a:rPr dirty="0" sz="1500" b="1">
                          <a:solidFill>
                            <a:srgbClr val="008000"/>
                          </a:solidFill>
                          <a:latin typeface="Times New Roman"/>
                          <a:cs typeface="Times New Roman"/>
                        </a:rPr>
                        <a:t>M</a:t>
                      </a:r>
                      <a:r>
                        <a:rPr dirty="0" sz="1500" spc="-25" b="1">
                          <a:solidFill>
                            <a:srgbClr val="008000"/>
                          </a:solidFill>
                          <a:latin typeface="Times New Roman"/>
                          <a:cs typeface="Times New Roman"/>
                        </a:rPr>
                        <a:t> </a:t>
                      </a:r>
                      <a:r>
                        <a:rPr dirty="0" sz="1500" b="1">
                          <a:solidFill>
                            <a:srgbClr val="008000"/>
                          </a:solidFill>
                          <a:latin typeface="Times New Roman"/>
                          <a:cs typeface="Times New Roman"/>
                        </a:rPr>
                        <a:t>M</a:t>
                      </a:r>
                      <a:r>
                        <a:rPr dirty="0" sz="1500" spc="15" b="1">
                          <a:solidFill>
                            <a:srgbClr val="008000"/>
                          </a:solidFill>
                          <a:latin typeface="Times New Roman"/>
                          <a:cs typeface="Times New Roman"/>
                        </a:rPr>
                        <a:t> </a:t>
                      </a:r>
                      <a:r>
                        <a:rPr dirty="0" sz="1500" spc="-50" b="1">
                          <a:solidFill>
                            <a:srgbClr val="008000"/>
                          </a:solidFill>
                          <a:latin typeface="Times New Roman"/>
                          <a:cs typeface="Times New Roman"/>
                        </a:rPr>
                        <a:t>F</a:t>
                      </a:r>
                      <a:endParaRPr sz="15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30"/>
                        </a:spcBef>
                      </a:pPr>
                      <a:r>
                        <a:rPr dirty="0" sz="1500" b="1">
                          <a:solidFill>
                            <a:srgbClr val="40458B"/>
                          </a:solidFill>
                          <a:latin typeface="Times New Roman"/>
                          <a:cs typeface="Times New Roman"/>
                        </a:rPr>
                        <a:t>L.D</a:t>
                      </a:r>
                      <a:r>
                        <a:rPr dirty="0" sz="1500" spc="-20" b="1">
                          <a:solidFill>
                            <a:srgbClr val="40458B"/>
                          </a:solidFill>
                          <a:latin typeface="Times New Roman"/>
                          <a:cs typeface="Times New Roman"/>
                        </a:rPr>
                        <a:t> </a:t>
                      </a:r>
                      <a:r>
                        <a:rPr dirty="0" sz="1500" b="1">
                          <a:solidFill>
                            <a:srgbClr val="40458B"/>
                          </a:solidFill>
                          <a:latin typeface="Times New Roman"/>
                          <a:cs typeface="Times New Roman"/>
                        </a:rPr>
                        <a:t>F18</a:t>
                      </a:r>
                      <a:r>
                        <a:rPr dirty="0" sz="1500" b="1">
                          <a:solidFill>
                            <a:srgbClr val="40458B"/>
                          </a:solidFill>
                          <a:latin typeface="宋体"/>
                          <a:cs typeface="宋体"/>
                        </a:rPr>
                        <a:t>，</a:t>
                      </a:r>
                      <a:r>
                        <a:rPr dirty="0" sz="1500" b="1">
                          <a:solidFill>
                            <a:srgbClr val="40458B"/>
                          </a:solidFill>
                          <a:latin typeface="Times New Roman"/>
                          <a:cs typeface="Times New Roman"/>
                        </a:rPr>
                        <a:t>-</a:t>
                      </a:r>
                      <a:r>
                        <a:rPr dirty="0" sz="1500" spc="-10" b="1">
                          <a:solidFill>
                            <a:srgbClr val="40458B"/>
                          </a:solidFill>
                          <a:latin typeface="Times New Roman"/>
                          <a:cs typeface="Times New Roman"/>
                        </a:rPr>
                        <a:t>32</a:t>
                      </a:r>
                      <a:r>
                        <a:rPr dirty="0" sz="1500" spc="-10" b="1">
                          <a:solidFill>
                            <a:srgbClr val="40458B"/>
                          </a:solidFill>
                          <a:latin typeface="宋体"/>
                          <a:cs typeface="宋体"/>
                        </a:rPr>
                        <a:t>（</a:t>
                      </a:r>
                      <a:r>
                        <a:rPr dirty="0" sz="1500" spc="-10" b="1">
                          <a:solidFill>
                            <a:srgbClr val="40458B"/>
                          </a:solidFill>
                          <a:latin typeface="Times New Roman"/>
                          <a:cs typeface="Times New Roman"/>
                        </a:rPr>
                        <a:t>R1</a:t>
                      </a:r>
                      <a:endParaRPr sz="1500">
                        <a:latin typeface="Times New Roman"/>
                        <a:cs typeface="Times New Roman"/>
                      </a:endParaRPr>
                    </a:p>
                    <a:p>
                      <a:pPr marL="91440">
                        <a:lnSpc>
                          <a:spcPct val="100000"/>
                        </a:lnSpc>
                        <a:spcBef>
                          <a:spcPts val="35"/>
                        </a:spcBef>
                      </a:pPr>
                      <a:r>
                        <a:rPr dirty="0" sz="1500" spc="-50" b="1">
                          <a:solidFill>
                            <a:srgbClr val="40458B"/>
                          </a:solidFill>
                          <a:latin typeface="宋体"/>
                          <a:cs typeface="宋体"/>
                        </a:rPr>
                        <a:t>）</a:t>
                      </a:r>
                      <a:endParaRPr sz="1500">
                        <a:latin typeface="宋体"/>
                        <a:cs typeface="宋体"/>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30"/>
                        </a:spcBef>
                      </a:pPr>
                      <a:r>
                        <a:rPr dirty="0" sz="1500" b="1">
                          <a:solidFill>
                            <a:srgbClr val="40458B"/>
                          </a:solidFill>
                          <a:latin typeface="Times New Roman"/>
                          <a:cs typeface="Times New Roman"/>
                        </a:rPr>
                        <a:t>L.D</a:t>
                      </a:r>
                      <a:r>
                        <a:rPr dirty="0" sz="1500" spc="-15" b="1">
                          <a:solidFill>
                            <a:srgbClr val="40458B"/>
                          </a:solidFill>
                          <a:latin typeface="Times New Roman"/>
                          <a:cs typeface="Times New Roman"/>
                        </a:rPr>
                        <a:t> </a:t>
                      </a:r>
                      <a:r>
                        <a:rPr dirty="0" sz="1500" b="1">
                          <a:solidFill>
                            <a:srgbClr val="40458B"/>
                          </a:solidFill>
                          <a:latin typeface="Times New Roman"/>
                          <a:cs typeface="Times New Roman"/>
                        </a:rPr>
                        <a:t>F22</a:t>
                      </a:r>
                      <a:r>
                        <a:rPr dirty="0" sz="1500" b="1">
                          <a:solidFill>
                            <a:srgbClr val="40458B"/>
                          </a:solidFill>
                          <a:latin typeface="宋体"/>
                          <a:cs typeface="宋体"/>
                        </a:rPr>
                        <a:t>，</a:t>
                      </a:r>
                      <a:r>
                        <a:rPr dirty="0" sz="1500" b="1">
                          <a:solidFill>
                            <a:srgbClr val="40458B"/>
                          </a:solidFill>
                          <a:latin typeface="Times New Roman"/>
                          <a:cs typeface="Times New Roman"/>
                        </a:rPr>
                        <a:t>-</a:t>
                      </a:r>
                      <a:r>
                        <a:rPr dirty="0" sz="1500" spc="-10" b="1">
                          <a:solidFill>
                            <a:srgbClr val="40458B"/>
                          </a:solidFill>
                          <a:latin typeface="Times New Roman"/>
                          <a:cs typeface="Times New Roman"/>
                        </a:rPr>
                        <a:t>40</a:t>
                      </a:r>
                      <a:r>
                        <a:rPr dirty="0" sz="1500" spc="-10" b="1">
                          <a:solidFill>
                            <a:srgbClr val="40458B"/>
                          </a:solidFill>
                          <a:latin typeface="宋体"/>
                          <a:cs typeface="宋体"/>
                        </a:rPr>
                        <a:t>（</a:t>
                      </a:r>
                      <a:r>
                        <a:rPr dirty="0" sz="1500" spc="-10" b="1">
                          <a:solidFill>
                            <a:srgbClr val="40458B"/>
                          </a:solidFill>
                          <a:latin typeface="Times New Roman"/>
                          <a:cs typeface="Times New Roman"/>
                        </a:rPr>
                        <a:t>R1</a:t>
                      </a:r>
                      <a:r>
                        <a:rPr dirty="0" sz="1500" spc="-10" b="1">
                          <a:solidFill>
                            <a:srgbClr val="40458B"/>
                          </a:solidFill>
                          <a:latin typeface="宋体"/>
                          <a:cs typeface="宋体"/>
                        </a:rPr>
                        <a:t>）</a:t>
                      </a:r>
                      <a:endParaRPr sz="1500">
                        <a:latin typeface="宋体"/>
                        <a:cs typeface="宋体"/>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30"/>
                        </a:spcBef>
                        <a:tabLst>
                          <a:tab pos="1945005" algn="l"/>
                        </a:tabLst>
                      </a:pPr>
                      <a:r>
                        <a:rPr dirty="0" sz="1500" b="1">
                          <a:solidFill>
                            <a:srgbClr val="40458B"/>
                          </a:solidFill>
                          <a:latin typeface="Times New Roman"/>
                          <a:cs typeface="Times New Roman"/>
                        </a:rPr>
                        <a:t>ADD.D</a:t>
                      </a:r>
                      <a:r>
                        <a:rPr dirty="0" sz="1500" spc="-50" b="1">
                          <a:solidFill>
                            <a:srgbClr val="40458B"/>
                          </a:solidFill>
                          <a:latin typeface="Times New Roman"/>
                          <a:cs typeface="Times New Roman"/>
                        </a:rPr>
                        <a:t> </a:t>
                      </a:r>
                      <a:r>
                        <a:rPr dirty="0" sz="1500" spc="-10" b="1">
                          <a:solidFill>
                            <a:srgbClr val="40458B"/>
                          </a:solidFill>
                          <a:latin typeface="Times New Roman"/>
                          <a:cs typeface="Times New Roman"/>
                        </a:rPr>
                        <a:t>F8</a:t>
                      </a:r>
                      <a:r>
                        <a:rPr dirty="0" sz="1500" spc="-10" b="1">
                          <a:solidFill>
                            <a:srgbClr val="40458B"/>
                          </a:solidFill>
                          <a:latin typeface="宋体"/>
                          <a:cs typeface="宋体"/>
                        </a:rPr>
                        <a:t>，</a:t>
                      </a:r>
                      <a:r>
                        <a:rPr dirty="0" sz="1500" spc="-10" b="1">
                          <a:solidFill>
                            <a:srgbClr val="40458B"/>
                          </a:solidFill>
                          <a:latin typeface="Times New Roman"/>
                          <a:cs typeface="Times New Roman"/>
                        </a:rPr>
                        <a:t>F6</a:t>
                      </a:r>
                      <a:r>
                        <a:rPr dirty="0" sz="1500" spc="-10" b="1">
                          <a:solidFill>
                            <a:srgbClr val="40458B"/>
                          </a:solidFill>
                          <a:latin typeface="宋体"/>
                          <a:cs typeface="宋体"/>
                        </a:rPr>
                        <a:t>，</a:t>
                      </a:r>
                      <a:r>
                        <a:rPr dirty="0" sz="1500" spc="-10" b="1">
                          <a:solidFill>
                            <a:srgbClr val="40458B"/>
                          </a:solidFill>
                          <a:latin typeface="Times New Roman"/>
                          <a:cs typeface="Times New Roman"/>
                        </a:rPr>
                        <a:t>F2</a:t>
                      </a:r>
                      <a:r>
                        <a:rPr dirty="0" sz="1500" b="1">
                          <a:solidFill>
                            <a:srgbClr val="40458B"/>
                          </a:solidFill>
                          <a:latin typeface="Times New Roman"/>
                          <a:cs typeface="Times New Roman"/>
                        </a:rPr>
                        <a:t>	</a:t>
                      </a:r>
                      <a:r>
                        <a:rPr dirty="0" sz="1500" spc="-25" b="1">
                          <a:solidFill>
                            <a:srgbClr val="40458B"/>
                          </a:solidFill>
                          <a:latin typeface="Times New Roman"/>
                          <a:cs typeface="Times New Roman"/>
                        </a:rPr>
                        <a:t>(s)</a:t>
                      </a:r>
                      <a:endParaRPr sz="15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1270">
                        <a:lnSpc>
                          <a:spcPct val="100000"/>
                        </a:lnSpc>
                        <a:spcBef>
                          <a:spcPts val="315"/>
                        </a:spcBef>
                      </a:pPr>
                      <a:r>
                        <a:rPr dirty="0" sz="1500" spc="-50" b="1">
                          <a:solidFill>
                            <a:srgbClr val="40458B"/>
                          </a:solidFill>
                          <a:latin typeface="Times New Roman"/>
                          <a:cs typeface="Times New Roman"/>
                        </a:rPr>
                        <a:t>4</a:t>
                      </a:r>
                      <a:endParaRPr sz="15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548640">
                <a:tc>
                  <a:txBody>
                    <a:bodyPr/>
                    <a:lstStyle/>
                    <a:p>
                      <a:pPr marL="91440">
                        <a:lnSpc>
                          <a:spcPct val="100000"/>
                        </a:lnSpc>
                        <a:spcBef>
                          <a:spcPts val="330"/>
                        </a:spcBef>
                      </a:pPr>
                      <a:r>
                        <a:rPr dirty="0" sz="1500" b="1">
                          <a:solidFill>
                            <a:srgbClr val="008000"/>
                          </a:solidFill>
                          <a:latin typeface="Times New Roman"/>
                          <a:cs typeface="Times New Roman"/>
                        </a:rPr>
                        <a:t>15</a:t>
                      </a:r>
                      <a:r>
                        <a:rPr dirty="0" sz="1500" b="1">
                          <a:solidFill>
                            <a:srgbClr val="008000"/>
                          </a:solidFill>
                          <a:latin typeface="宋体"/>
                          <a:cs typeface="宋体"/>
                        </a:rPr>
                        <a:t>：</a:t>
                      </a:r>
                      <a:r>
                        <a:rPr dirty="0" sz="1500" b="1">
                          <a:solidFill>
                            <a:srgbClr val="008000"/>
                          </a:solidFill>
                          <a:latin typeface="Times New Roman"/>
                          <a:cs typeface="Times New Roman"/>
                        </a:rPr>
                        <a:t>M</a:t>
                      </a:r>
                      <a:r>
                        <a:rPr dirty="0" sz="1500" spc="-25" b="1">
                          <a:solidFill>
                            <a:srgbClr val="008000"/>
                          </a:solidFill>
                          <a:latin typeface="Times New Roman"/>
                          <a:cs typeface="Times New Roman"/>
                        </a:rPr>
                        <a:t> </a:t>
                      </a:r>
                      <a:r>
                        <a:rPr dirty="0" sz="1500" b="1">
                          <a:solidFill>
                            <a:srgbClr val="008000"/>
                          </a:solidFill>
                          <a:latin typeface="Times New Roman"/>
                          <a:cs typeface="Times New Roman"/>
                        </a:rPr>
                        <a:t>M</a:t>
                      </a:r>
                      <a:r>
                        <a:rPr dirty="0" sz="1500" spc="15" b="1">
                          <a:solidFill>
                            <a:srgbClr val="008000"/>
                          </a:solidFill>
                          <a:latin typeface="Times New Roman"/>
                          <a:cs typeface="Times New Roman"/>
                        </a:rPr>
                        <a:t> </a:t>
                      </a:r>
                      <a:r>
                        <a:rPr dirty="0" sz="1500" spc="-50" b="1">
                          <a:solidFill>
                            <a:srgbClr val="008000"/>
                          </a:solidFill>
                          <a:latin typeface="Times New Roman"/>
                          <a:cs typeface="Times New Roman"/>
                        </a:rPr>
                        <a:t>F</a:t>
                      </a:r>
                      <a:endParaRPr sz="15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30"/>
                        </a:spcBef>
                      </a:pPr>
                      <a:r>
                        <a:rPr dirty="0" sz="1500" b="1">
                          <a:solidFill>
                            <a:srgbClr val="40458B"/>
                          </a:solidFill>
                          <a:latin typeface="Times New Roman"/>
                          <a:cs typeface="Times New Roman"/>
                        </a:rPr>
                        <a:t>L.D</a:t>
                      </a:r>
                      <a:r>
                        <a:rPr dirty="0" sz="1500" spc="-20" b="1">
                          <a:solidFill>
                            <a:srgbClr val="40458B"/>
                          </a:solidFill>
                          <a:latin typeface="Times New Roman"/>
                          <a:cs typeface="Times New Roman"/>
                        </a:rPr>
                        <a:t> </a:t>
                      </a:r>
                      <a:r>
                        <a:rPr dirty="0" sz="1500" b="1">
                          <a:solidFill>
                            <a:srgbClr val="40458B"/>
                          </a:solidFill>
                          <a:latin typeface="Times New Roman"/>
                          <a:cs typeface="Times New Roman"/>
                        </a:rPr>
                        <a:t>F26</a:t>
                      </a:r>
                      <a:r>
                        <a:rPr dirty="0" sz="1500" b="1">
                          <a:solidFill>
                            <a:srgbClr val="40458B"/>
                          </a:solidFill>
                          <a:latin typeface="宋体"/>
                          <a:cs typeface="宋体"/>
                        </a:rPr>
                        <a:t>，</a:t>
                      </a:r>
                      <a:r>
                        <a:rPr dirty="0" sz="1500" b="1">
                          <a:solidFill>
                            <a:srgbClr val="40458B"/>
                          </a:solidFill>
                          <a:latin typeface="Times New Roman"/>
                          <a:cs typeface="Times New Roman"/>
                        </a:rPr>
                        <a:t>-</a:t>
                      </a:r>
                      <a:r>
                        <a:rPr dirty="0" sz="1500" spc="-10" b="1">
                          <a:solidFill>
                            <a:srgbClr val="40458B"/>
                          </a:solidFill>
                          <a:latin typeface="Times New Roman"/>
                          <a:cs typeface="Times New Roman"/>
                        </a:rPr>
                        <a:t>48</a:t>
                      </a:r>
                      <a:r>
                        <a:rPr dirty="0" sz="1500" spc="-10" b="1">
                          <a:solidFill>
                            <a:srgbClr val="40458B"/>
                          </a:solidFill>
                          <a:latin typeface="宋体"/>
                          <a:cs typeface="宋体"/>
                        </a:rPr>
                        <a:t>（</a:t>
                      </a:r>
                      <a:r>
                        <a:rPr dirty="0" sz="1500" spc="-10" b="1">
                          <a:solidFill>
                            <a:srgbClr val="40458B"/>
                          </a:solidFill>
                          <a:latin typeface="Times New Roman"/>
                          <a:cs typeface="Times New Roman"/>
                        </a:rPr>
                        <a:t>R1</a:t>
                      </a:r>
                      <a:endParaRPr sz="1500">
                        <a:latin typeface="Times New Roman"/>
                        <a:cs typeface="Times New Roman"/>
                      </a:endParaRPr>
                    </a:p>
                    <a:p>
                      <a:pPr marL="91440">
                        <a:lnSpc>
                          <a:spcPct val="100000"/>
                        </a:lnSpc>
                        <a:spcBef>
                          <a:spcPts val="35"/>
                        </a:spcBef>
                      </a:pPr>
                      <a:r>
                        <a:rPr dirty="0" sz="1500" spc="-50" b="1">
                          <a:solidFill>
                            <a:srgbClr val="40458B"/>
                          </a:solidFill>
                          <a:latin typeface="宋体"/>
                          <a:cs typeface="宋体"/>
                        </a:rPr>
                        <a:t>）</a:t>
                      </a:r>
                      <a:endParaRPr sz="1500">
                        <a:latin typeface="宋体"/>
                        <a:cs typeface="宋体"/>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30"/>
                        </a:spcBef>
                      </a:pPr>
                      <a:r>
                        <a:rPr dirty="0" sz="1500" b="1">
                          <a:solidFill>
                            <a:srgbClr val="40458B"/>
                          </a:solidFill>
                          <a:latin typeface="Times New Roman"/>
                          <a:cs typeface="Times New Roman"/>
                        </a:rPr>
                        <a:t>S.D</a:t>
                      </a:r>
                      <a:r>
                        <a:rPr dirty="0" sz="1500" spc="-30" b="1">
                          <a:solidFill>
                            <a:srgbClr val="40458B"/>
                          </a:solidFill>
                          <a:latin typeface="Times New Roman"/>
                          <a:cs typeface="Times New Roman"/>
                        </a:rPr>
                        <a:t> </a:t>
                      </a:r>
                      <a:r>
                        <a:rPr dirty="0" sz="1500" spc="-10" b="1">
                          <a:solidFill>
                            <a:srgbClr val="40458B"/>
                          </a:solidFill>
                          <a:latin typeface="Times New Roman"/>
                          <a:cs typeface="Times New Roman"/>
                        </a:rPr>
                        <a:t>F4</a:t>
                      </a:r>
                      <a:r>
                        <a:rPr dirty="0" sz="1500" spc="-10" b="1">
                          <a:solidFill>
                            <a:srgbClr val="40458B"/>
                          </a:solidFill>
                          <a:latin typeface="宋体"/>
                          <a:cs typeface="宋体"/>
                        </a:rPr>
                        <a:t>，</a:t>
                      </a:r>
                      <a:r>
                        <a:rPr dirty="0" sz="1500" spc="-10" b="1">
                          <a:solidFill>
                            <a:srgbClr val="40458B"/>
                          </a:solidFill>
                          <a:latin typeface="Times New Roman"/>
                          <a:cs typeface="Times New Roman"/>
                        </a:rPr>
                        <a:t>0</a:t>
                      </a:r>
                      <a:r>
                        <a:rPr dirty="0" sz="1500" spc="-10" b="1">
                          <a:solidFill>
                            <a:srgbClr val="40458B"/>
                          </a:solidFill>
                          <a:latin typeface="宋体"/>
                          <a:cs typeface="宋体"/>
                        </a:rPr>
                        <a:t>（</a:t>
                      </a:r>
                      <a:r>
                        <a:rPr dirty="0" sz="1500" spc="-10" b="1">
                          <a:solidFill>
                            <a:srgbClr val="40458B"/>
                          </a:solidFill>
                          <a:latin typeface="Times New Roman"/>
                          <a:cs typeface="Times New Roman"/>
                        </a:rPr>
                        <a:t>R1</a:t>
                      </a:r>
                      <a:r>
                        <a:rPr dirty="0" sz="1500" spc="-10" b="1">
                          <a:solidFill>
                            <a:srgbClr val="40458B"/>
                          </a:solidFill>
                          <a:latin typeface="宋体"/>
                          <a:cs typeface="宋体"/>
                        </a:rPr>
                        <a:t>）</a:t>
                      </a:r>
                      <a:endParaRPr sz="1500">
                        <a:latin typeface="宋体"/>
                        <a:cs typeface="宋体"/>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30"/>
                        </a:spcBef>
                      </a:pPr>
                      <a:r>
                        <a:rPr dirty="0" sz="1500" b="1">
                          <a:solidFill>
                            <a:srgbClr val="40458B"/>
                          </a:solidFill>
                          <a:latin typeface="Times New Roman"/>
                          <a:cs typeface="Times New Roman"/>
                        </a:rPr>
                        <a:t>ADD.D F12</a:t>
                      </a:r>
                      <a:r>
                        <a:rPr dirty="0" sz="1500" b="1">
                          <a:solidFill>
                            <a:srgbClr val="40458B"/>
                          </a:solidFill>
                          <a:latin typeface="宋体"/>
                          <a:cs typeface="宋体"/>
                        </a:rPr>
                        <a:t>，</a:t>
                      </a:r>
                      <a:r>
                        <a:rPr dirty="0" sz="1500" b="1">
                          <a:solidFill>
                            <a:srgbClr val="40458B"/>
                          </a:solidFill>
                          <a:latin typeface="Times New Roman"/>
                          <a:cs typeface="Times New Roman"/>
                        </a:rPr>
                        <a:t>F10</a:t>
                      </a:r>
                      <a:r>
                        <a:rPr dirty="0" sz="1500" b="1">
                          <a:solidFill>
                            <a:srgbClr val="40458B"/>
                          </a:solidFill>
                          <a:latin typeface="宋体"/>
                          <a:cs typeface="宋体"/>
                        </a:rPr>
                        <a:t>，</a:t>
                      </a:r>
                      <a:r>
                        <a:rPr dirty="0" sz="1500" b="1">
                          <a:solidFill>
                            <a:srgbClr val="40458B"/>
                          </a:solidFill>
                          <a:latin typeface="Times New Roman"/>
                          <a:cs typeface="Times New Roman"/>
                        </a:rPr>
                        <a:t>F2</a:t>
                      </a:r>
                      <a:r>
                        <a:rPr dirty="0" sz="1500" spc="300" b="1">
                          <a:solidFill>
                            <a:srgbClr val="40458B"/>
                          </a:solidFill>
                          <a:latin typeface="Times New Roman"/>
                          <a:cs typeface="Times New Roman"/>
                        </a:rPr>
                        <a:t> </a:t>
                      </a:r>
                      <a:r>
                        <a:rPr dirty="0" sz="1500" spc="-25" b="1">
                          <a:solidFill>
                            <a:srgbClr val="40458B"/>
                          </a:solidFill>
                          <a:latin typeface="Times New Roman"/>
                          <a:cs typeface="Times New Roman"/>
                        </a:rPr>
                        <a:t>(s)</a:t>
                      </a:r>
                      <a:endParaRPr sz="15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1270">
                        <a:lnSpc>
                          <a:spcPct val="100000"/>
                        </a:lnSpc>
                        <a:spcBef>
                          <a:spcPts val="315"/>
                        </a:spcBef>
                      </a:pPr>
                      <a:r>
                        <a:rPr dirty="0" sz="1500" spc="-50" b="1">
                          <a:solidFill>
                            <a:srgbClr val="40458B"/>
                          </a:solidFill>
                          <a:latin typeface="Times New Roman"/>
                          <a:cs typeface="Times New Roman"/>
                        </a:rPr>
                        <a:t>6</a:t>
                      </a:r>
                      <a:endParaRPr sz="15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46075">
                <a:tc>
                  <a:txBody>
                    <a:bodyPr/>
                    <a:lstStyle/>
                    <a:p>
                      <a:pPr marL="91440">
                        <a:lnSpc>
                          <a:spcPct val="100000"/>
                        </a:lnSpc>
                        <a:spcBef>
                          <a:spcPts val="330"/>
                        </a:spcBef>
                      </a:pPr>
                      <a:r>
                        <a:rPr dirty="0" sz="1500" b="1">
                          <a:solidFill>
                            <a:srgbClr val="008000"/>
                          </a:solidFill>
                          <a:latin typeface="Times New Roman"/>
                          <a:cs typeface="Times New Roman"/>
                        </a:rPr>
                        <a:t>15</a:t>
                      </a:r>
                      <a:r>
                        <a:rPr dirty="0" sz="1500" b="1">
                          <a:solidFill>
                            <a:srgbClr val="008000"/>
                          </a:solidFill>
                          <a:latin typeface="宋体"/>
                          <a:cs typeface="宋体"/>
                        </a:rPr>
                        <a:t>：</a:t>
                      </a:r>
                      <a:r>
                        <a:rPr dirty="0" sz="1500" b="1">
                          <a:solidFill>
                            <a:srgbClr val="008000"/>
                          </a:solidFill>
                          <a:latin typeface="Times New Roman"/>
                          <a:cs typeface="Times New Roman"/>
                        </a:rPr>
                        <a:t>M</a:t>
                      </a:r>
                      <a:r>
                        <a:rPr dirty="0" sz="1500" spc="-30" b="1">
                          <a:solidFill>
                            <a:srgbClr val="008000"/>
                          </a:solidFill>
                          <a:latin typeface="Times New Roman"/>
                          <a:cs typeface="Times New Roman"/>
                        </a:rPr>
                        <a:t> </a:t>
                      </a:r>
                      <a:r>
                        <a:rPr dirty="0" sz="1500" b="1">
                          <a:solidFill>
                            <a:srgbClr val="008000"/>
                          </a:solidFill>
                          <a:latin typeface="Times New Roman"/>
                          <a:cs typeface="Times New Roman"/>
                        </a:rPr>
                        <a:t>M </a:t>
                      </a:r>
                      <a:r>
                        <a:rPr dirty="0" sz="1500" spc="-50" b="1">
                          <a:solidFill>
                            <a:srgbClr val="008000"/>
                          </a:solidFill>
                          <a:latin typeface="Times New Roman"/>
                          <a:cs typeface="Times New Roman"/>
                        </a:rPr>
                        <a:t>F</a:t>
                      </a:r>
                      <a:endParaRPr sz="15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30"/>
                        </a:spcBef>
                      </a:pPr>
                      <a:r>
                        <a:rPr dirty="0" sz="1500" b="1">
                          <a:solidFill>
                            <a:srgbClr val="40458B"/>
                          </a:solidFill>
                          <a:latin typeface="Times New Roman"/>
                          <a:cs typeface="Times New Roman"/>
                        </a:rPr>
                        <a:t>S.D</a:t>
                      </a:r>
                      <a:r>
                        <a:rPr dirty="0" sz="1500" spc="-35" b="1">
                          <a:solidFill>
                            <a:srgbClr val="40458B"/>
                          </a:solidFill>
                          <a:latin typeface="Times New Roman"/>
                          <a:cs typeface="Times New Roman"/>
                        </a:rPr>
                        <a:t> </a:t>
                      </a:r>
                      <a:r>
                        <a:rPr dirty="0" sz="1500" b="1">
                          <a:solidFill>
                            <a:srgbClr val="40458B"/>
                          </a:solidFill>
                          <a:latin typeface="Times New Roman"/>
                          <a:cs typeface="Times New Roman"/>
                        </a:rPr>
                        <a:t>F8</a:t>
                      </a:r>
                      <a:r>
                        <a:rPr dirty="0" sz="1500" b="1">
                          <a:solidFill>
                            <a:srgbClr val="40458B"/>
                          </a:solidFill>
                          <a:latin typeface="宋体"/>
                          <a:cs typeface="宋体"/>
                        </a:rPr>
                        <a:t>，</a:t>
                      </a:r>
                      <a:r>
                        <a:rPr dirty="0" sz="1500" b="1">
                          <a:solidFill>
                            <a:srgbClr val="40458B"/>
                          </a:solidFill>
                          <a:latin typeface="Times New Roman"/>
                          <a:cs typeface="Times New Roman"/>
                        </a:rPr>
                        <a:t>-</a:t>
                      </a:r>
                      <a:r>
                        <a:rPr dirty="0" sz="1500" spc="-20" b="1">
                          <a:solidFill>
                            <a:srgbClr val="40458B"/>
                          </a:solidFill>
                          <a:latin typeface="Times New Roman"/>
                          <a:cs typeface="Times New Roman"/>
                        </a:rPr>
                        <a:t>8</a:t>
                      </a:r>
                      <a:r>
                        <a:rPr dirty="0" sz="1500" spc="-20" b="1">
                          <a:solidFill>
                            <a:srgbClr val="40458B"/>
                          </a:solidFill>
                          <a:latin typeface="宋体"/>
                          <a:cs typeface="宋体"/>
                        </a:rPr>
                        <a:t>（</a:t>
                      </a:r>
                      <a:r>
                        <a:rPr dirty="0" sz="1500" spc="-20" b="1">
                          <a:solidFill>
                            <a:srgbClr val="40458B"/>
                          </a:solidFill>
                          <a:latin typeface="Times New Roman"/>
                          <a:cs typeface="Times New Roman"/>
                        </a:rPr>
                        <a:t>R1</a:t>
                      </a:r>
                      <a:r>
                        <a:rPr dirty="0" sz="1500" spc="-20" b="1">
                          <a:solidFill>
                            <a:srgbClr val="40458B"/>
                          </a:solidFill>
                          <a:latin typeface="宋体"/>
                          <a:cs typeface="宋体"/>
                        </a:rPr>
                        <a:t>）</a:t>
                      </a:r>
                      <a:endParaRPr sz="1500">
                        <a:latin typeface="宋体"/>
                        <a:cs typeface="宋体"/>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30"/>
                        </a:spcBef>
                      </a:pPr>
                      <a:r>
                        <a:rPr dirty="0" sz="1500" b="1">
                          <a:solidFill>
                            <a:srgbClr val="40458B"/>
                          </a:solidFill>
                          <a:latin typeface="Times New Roman"/>
                          <a:cs typeface="Times New Roman"/>
                        </a:rPr>
                        <a:t>S.D</a:t>
                      </a:r>
                      <a:r>
                        <a:rPr dirty="0" sz="1500" spc="-30" b="1">
                          <a:solidFill>
                            <a:srgbClr val="40458B"/>
                          </a:solidFill>
                          <a:latin typeface="Times New Roman"/>
                          <a:cs typeface="Times New Roman"/>
                        </a:rPr>
                        <a:t> </a:t>
                      </a:r>
                      <a:r>
                        <a:rPr dirty="0" sz="1500" b="1">
                          <a:solidFill>
                            <a:srgbClr val="40458B"/>
                          </a:solidFill>
                          <a:latin typeface="Times New Roman"/>
                          <a:cs typeface="Times New Roman"/>
                        </a:rPr>
                        <a:t>F12</a:t>
                      </a:r>
                      <a:r>
                        <a:rPr dirty="0" sz="1500" b="1">
                          <a:solidFill>
                            <a:srgbClr val="40458B"/>
                          </a:solidFill>
                          <a:latin typeface="宋体"/>
                          <a:cs typeface="宋体"/>
                        </a:rPr>
                        <a:t>，</a:t>
                      </a:r>
                      <a:r>
                        <a:rPr dirty="0" sz="1500" b="1">
                          <a:solidFill>
                            <a:srgbClr val="40458B"/>
                          </a:solidFill>
                          <a:latin typeface="Times New Roman"/>
                          <a:cs typeface="Times New Roman"/>
                        </a:rPr>
                        <a:t>-</a:t>
                      </a:r>
                      <a:r>
                        <a:rPr dirty="0" sz="1500" spc="-10" b="1">
                          <a:solidFill>
                            <a:srgbClr val="40458B"/>
                          </a:solidFill>
                          <a:latin typeface="Times New Roman"/>
                          <a:cs typeface="Times New Roman"/>
                        </a:rPr>
                        <a:t>16</a:t>
                      </a:r>
                      <a:r>
                        <a:rPr dirty="0" sz="1500" spc="-10" b="1">
                          <a:solidFill>
                            <a:srgbClr val="40458B"/>
                          </a:solidFill>
                          <a:latin typeface="宋体"/>
                          <a:cs typeface="宋体"/>
                        </a:rPr>
                        <a:t>（</a:t>
                      </a:r>
                      <a:r>
                        <a:rPr dirty="0" sz="1500" spc="-10" b="1">
                          <a:solidFill>
                            <a:srgbClr val="40458B"/>
                          </a:solidFill>
                          <a:latin typeface="Times New Roman"/>
                          <a:cs typeface="Times New Roman"/>
                        </a:rPr>
                        <a:t>R1</a:t>
                      </a:r>
                      <a:r>
                        <a:rPr dirty="0" sz="1500" spc="-10" b="1">
                          <a:solidFill>
                            <a:srgbClr val="40458B"/>
                          </a:solidFill>
                          <a:latin typeface="宋体"/>
                          <a:cs typeface="宋体"/>
                        </a:rPr>
                        <a:t>）</a:t>
                      </a:r>
                      <a:endParaRPr sz="1500">
                        <a:latin typeface="宋体"/>
                        <a:cs typeface="宋体"/>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30"/>
                        </a:spcBef>
                      </a:pPr>
                      <a:r>
                        <a:rPr dirty="0" sz="1500" b="1">
                          <a:solidFill>
                            <a:srgbClr val="40458B"/>
                          </a:solidFill>
                          <a:latin typeface="Times New Roman"/>
                          <a:cs typeface="Times New Roman"/>
                        </a:rPr>
                        <a:t>ADD.D</a:t>
                      </a:r>
                      <a:r>
                        <a:rPr dirty="0" sz="1500" spc="-10" b="1">
                          <a:solidFill>
                            <a:srgbClr val="40458B"/>
                          </a:solidFill>
                          <a:latin typeface="Times New Roman"/>
                          <a:cs typeface="Times New Roman"/>
                        </a:rPr>
                        <a:t> </a:t>
                      </a:r>
                      <a:r>
                        <a:rPr dirty="0" sz="1500" b="1">
                          <a:solidFill>
                            <a:srgbClr val="40458B"/>
                          </a:solidFill>
                          <a:latin typeface="Times New Roman"/>
                          <a:cs typeface="Times New Roman"/>
                        </a:rPr>
                        <a:t>F16</a:t>
                      </a:r>
                      <a:r>
                        <a:rPr dirty="0" sz="1500" b="1">
                          <a:solidFill>
                            <a:srgbClr val="40458B"/>
                          </a:solidFill>
                          <a:latin typeface="宋体"/>
                          <a:cs typeface="宋体"/>
                        </a:rPr>
                        <a:t>，</a:t>
                      </a:r>
                      <a:r>
                        <a:rPr dirty="0" sz="1500" b="1">
                          <a:solidFill>
                            <a:srgbClr val="40458B"/>
                          </a:solidFill>
                          <a:latin typeface="Times New Roman"/>
                          <a:cs typeface="Times New Roman"/>
                        </a:rPr>
                        <a:t>F14</a:t>
                      </a:r>
                      <a:r>
                        <a:rPr dirty="0" sz="1500" b="1">
                          <a:solidFill>
                            <a:srgbClr val="40458B"/>
                          </a:solidFill>
                          <a:latin typeface="宋体"/>
                          <a:cs typeface="宋体"/>
                        </a:rPr>
                        <a:t>，</a:t>
                      </a:r>
                      <a:r>
                        <a:rPr dirty="0" sz="1500" b="1">
                          <a:solidFill>
                            <a:srgbClr val="40458B"/>
                          </a:solidFill>
                          <a:latin typeface="Times New Roman"/>
                          <a:cs typeface="Times New Roman"/>
                        </a:rPr>
                        <a:t>F2</a:t>
                      </a:r>
                      <a:r>
                        <a:rPr dirty="0" sz="1500" spc="290" b="1">
                          <a:solidFill>
                            <a:srgbClr val="40458B"/>
                          </a:solidFill>
                          <a:latin typeface="Times New Roman"/>
                          <a:cs typeface="Times New Roman"/>
                        </a:rPr>
                        <a:t> </a:t>
                      </a:r>
                      <a:r>
                        <a:rPr dirty="0" sz="1500" spc="-25" b="1">
                          <a:solidFill>
                            <a:srgbClr val="40458B"/>
                          </a:solidFill>
                          <a:latin typeface="Times New Roman"/>
                          <a:cs typeface="Times New Roman"/>
                        </a:rPr>
                        <a:t>(s)</a:t>
                      </a:r>
                      <a:endParaRPr sz="15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1270">
                        <a:lnSpc>
                          <a:spcPct val="100000"/>
                        </a:lnSpc>
                        <a:spcBef>
                          <a:spcPts val="315"/>
                        </a:spcBef>
                      </a:pPr>
                      <a:r>
                        <a:rPr dirty="0" sz="1500" spc="-50" b="1">
                          <a:solidFill>
                            <a:srgbClr val="40458B"/>
                          </a:solidFill>
                          <a:latin typeface="Times New Roman"/>
                          <a:cs typeface="Times New Roman"/>
                        </a:rPr>
                        <a:t>9</a:t>
                      </a:r>
                      <a:endParaRPr sz="15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548005">
                <a:tc>
                  <a:txBody>
                    <a:bodyPr/>
                    <a:lstStyle/>
                    <a:p>
                      <a:pPr marL="91440">
                        <a:lnSpc>
                          <a:spcPct val="100000"/>
                        </a:lnSpc>
                        <a:spcBef>
                          <a:spcPts val="330"/>
                        </a:spcBef>
                      </a:pPr>
                      <a:r>
                        <a:rPr dirty="0" sz="1500" b="1">
                          <a:solidFill>
                            <a:srgbClr val="008000"/>
                          </a:solidFill>
                          <a:latin typeface="Times New Roman"/>
                          <a:cs typeface="Times New Roman"/>
                        </a:rPr>
                        <a:t>15</a:t>
                      </a:r>
                      <a:r>
                        <a:rPr dirty="0" sz="1500" b="1">
                          <a:solidFill>
                            <a:srgbClr val="008000"/>
                          </a:solidFill>
                          <a:latin typeface="宋体"/>
                          <a:cs typeface="宋体"/>
                        </a:rPr>
                        <a:t>：</a:t>
                      </a:r>
                      <a:r>
                        <a:rPr dirty="0" sz="1500" b="1">
                          <a:solidFill>
                            <a:srgbClr val="008000"/>
                          </a:solidFill>
                          <a:latin typeface="Times New Roman"/>
                          <a:cs typeface="Times New Roman"/>
                        </a:rPr>
                        <a:t>M</a:t>
                      </a:r>
                      <a:r>
                        <a:rPr dirty="0" sz="1500" spc="-25" b="1">
                          <a:solidFill>
                            <a:srgbClr val="008000"/>
                          </a:solidFill>
                          <a:latin typeface="Times New Roman"/>
                          <a:cs typeface="Times New Roman"/>
                        </a:rPr>
                        <a:t> </a:t>
                      </a:r>
                      <a:r>
                        <a:rPr dirty="0" sz="1500" b="1">
                          <a:solidFill>
                            <a:srgbClr val="008000"/>
                          </a:solidFill>
                          <a:latin typeface="Times New Roman"/>
                          <a:cs typeface="Times New Roman"/>
                        </a:rPr>
                        <a:t>M</a:t>
                      </a:r>
                      <a:r>
                        <a:rPr dirty="0" sz="1500" spc="15" b="1">
                          <a:solidFill>
                            <a:srgbClr val="008000"/>
                          </a:solidFill>
                          <a:latin typeface="Times New Roman"/>
                          <a:cs typeface="Times New Roman"/>
                        </a:rPr>
                        <a:t> </a:t>
                      </a:r>
                      <a:r>
                        <a:rPr dirty="0" sz="1500" spc="-50" b="1">
                          <a:solidFill>
                            <a:srgbClr val="008000"/>
                          </a:solidFill>
                          <a:latin typeface="Times New Roman"/>
                          <a:cs typeface="Times New Roman"/>
                        </a:rPr>
                        <a:t>F</a:t>
                      </a:r>
                      <a:endParaRPr sz="15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30"/>
                        </a:spcBef>
                      </a:pPr>
                      <a:r>
                        <a:rPr dirty="0" sz="1500" b="1">
                          <a:solidFill>
                            <a:srgbClr val="40458B"/>
                          </a:solidFill>
                          <a:latin typeface="Times New Roman"/>
                          <a:cs typeface="Times New Roman"/>
                        </a:rPr>
                        <a:t>S.D</a:t>
                      </a:r>
                      <a:r>
                        <a:rPr dirty="0" sz="1500" spc="-20" b="1">
                          <a:solidFill>
                            <a:srgbClr val="40458B"/>
                          </a:solidFill>
                          <a:latin typeface="Times New Roman"/>
                          <a:cs typeface="Times New Roman"/>
                        </a:rPr>
                        <a:t> </a:t>
                      </a:r>
                      <a:r>
                        <a:rPr dirty="0" sz="1500" b="1">
                          <a:solidFill>
                            <a:srgbClr val="40458B"/>
                          </a:solidFill>
                          <a:latin typeface="Times New Roman"/>
                          <a:cs typeface="Times New Roman"/>
                        </a:rPr>
                        <a:t>F16</a:t>
                      </a:r>
                      <a:r>
                        <a:rPr dirty="0" sz="1500" b="1">
                          <a:solidFill>
                            <a:srgbClr val="40458B"/>
                          </a:solidFill>
                          <a:latin typeface="宋体"/>
                          <a:cs typeface="宋体"/>
                        </a:rPr>
                        <a:t>，</a:t>
                      </a:r>
                      <a:r>
                        <a:rPr dirty="0" sz="1500" b="1">
                          <a:solidFill>
                            <a:srgbClr val="40458B"/>
                          </a:solidFill>
                          <a:latin typeface="Times New Roman"/>
                          <a:cs typeface="Times New Roman"/>
                        </a:rPr>
                        <a:t>-</a:t>
                      </a:r>
                      <a:r>
                        <a:rPr dirty="0" sz="1500" spc="-10" b="1">
                          <a:solidFill>
                            <a:srgbClr val="40458B"/>
                          </a:solidFill>
                          <a:latin typeface="Times New Roman"/>
                          <a:cs typeface="Times New Roman"/>
                        </a:rPr>
                        <a:t>24</a:t>
                      </a:r>
                      <a:r>
                        <a:rPr dirty="0" sz="1500" spc="-10" b="1">
                          <a:solidFill>
                            <a:srgbClr val="40458B"/>
                          </a:solidFill>
                          <a:latin typeface="宋体"/>
                          <a:cs typeface="宋体"/>
                        </a:rPr>
                        <a:t>（</a:t>
                      </a:r>
                      <a:r>
                        <a:rPr dirty="0" sz="1500" spc="-10" b="1">
                          <a:solidFill>
                            <a:srgbClr val="40458B"/>
                          </a:solidFill>
                          <a:latin typeface="Times New Roman"/>
                          <a:cs typeface="Times New Roman"/>
                        </a:rPr>
                        <a:t>R1</a:t>
                      </a:r>
                      <a:endParaRPr sz="1500">
                        <a:latin typeface="Times New Roman"/>
                        <a:cs typeface="Times New Roman"/>
                      </a:endParaRPr>
                    </a:p>
                    <a:p>
                      <a:pPr marL="91440">
                        <a:lnSpc>
                          <a:spcPct val="100000"/>
                        </a:lnSpc>
                        <a:spcBef>
                          <a:spcPts val="35"/>
                        </a:spcBef>
                      </a:pPr>
                      <a:r>
                        <a:rPr dirty="0" sz="1500" spc="-50" b="1">
                          <a:solidFill>
                            <a:srgbClr val="40458B"/>
                          </a:solidFill>
                          <a:latin typeface="宋体"/>
                          <a:cs typeface="宋体"/>
                        </a:rPr>
                        <a:t>）</a:t>
                      </a:r>
                      <a:endParaRPr sz="1500">
                        <a:latin typeface="宋体"/>
                        <a:cs typeface="宋体"/>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0"/>
                        </a:spcBef>
                      </a:pPr>
                      <a:r>
                        <a:rPr dirty="0" sz="1500" spc="-25" b="1">
                          <a:solidFill>
                            <a:srgbClr val="40458B"/>
                          </a:solidFill>
                          <a:latin typeface="Times New Roman"/>
                          <a:cs typeface="Times New Roman"/>
                        </a:rPr>
                        <a:t>nop</a:t>
                      </a:r>
                      <a:endParaRPr sz="15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30"/>
                        </a:spcBef>
                      </a:pPr>
                      <a:r>
                        <a:rPr dirty="0" sz="1500" b="1">
                          <a:solidFill>
                            <a:srgbClr val="40458B"/>
                          </a:solidFill>
                          <a:latin typeface="Times New Roman"/>
                          <a:cs typeface="Times New Roman"/>
                        </a:rPr>
                        <a:t>ADD.D F20</a:t>
                      </a:r>
                      <a:r>
                        <a:rPr dirty="0" sz="1500" b="1">
                          <a:solidFill>
                            <a:srgbClr val="40458B"/>
                          </a:solidFill>
                          <a:latin typeface="宋体"/>
                          <a:cs typeface="宋体"/>
                        </a:rPr>
                        <a:t>，</a:t>
                      </a:r>
                      <a:r>
                        <a:rPr dirty="0" sz="1500" b="1">
                          <a:solidFill>
                            <a:srgbClr val="40458B"/>
                          </a:solidFill>
                          <a:latin typeface="Times New Roman"/>
                          <a:cs typeface="Times New Roman"/>
                        </a:rPr>
                        <a:t>F18</a:t>
                      </a:r>
                      <a:r>
                        <a:rPr dirty="0" sz="1500" b="1">
                          <a:solidFill>
                            <a:srgbClr val="40458B"/>
                          </a:solidFill>
                          <a:latin typeface="宋体"/>
                          <a:cs typeface="宋体"/>
                        </a:rPr>
                        <a:t>，</a:t>
                      </a:r>
                      <a:r>
                        <a:rPr dirty="0" sz="1500" b="1">
                          <a:solidFill>
                            <a:srgbClr val="40458B"/>
                          </a:solidFill>
                          <a:latin typeface="Times New Roman"/>
                          <a:cs typeface="Times New Roman"/>
                        </a:rPr>
                        <a:t>F2</a:t>
                      </a:r>
                      <a:r>
                        <a:rPr dirty="0" sz="1500" spc="300" b="1">
                          <a:solidFill>
                            <a:srgbClr val="40458B"/>
                          </a:solidFill>
                          <a:latin typeface="Times New Roman"/>
                          <a:cs typeface="Times New Roman"/>
                        </a:rPr>
                        <a:t> </a:t>
                      </a:r>
                      <a:r>
                        <a:rPr dirty="0" sz="1500" spc="-25" b="1">
                          <a:solidFill>
                            <a:srgbClr val="40458B"/>
                          </a:solidFill>
                          <a:latin typeface="Times New Roman"/>
                          <a:cs typeface="Times New Roman"/>
                        </a:rPr>
                        <a:t>(s)</a:t>
                      </a:r>
                      <a:endParaRPr sz="15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320"/>
                        </a:spcBef>
                      </a:pPr>
                      <a:r>
                        <a:rPr dirty="0" sz="1500" spc="-25" b="1">
                          <a:solidFill>
                            <a:srgbClr val="40458B"/>
                          </a:solidFill>
                          <a:latin typeface="Times New Roman"/>
                          <a:cs typeface="Times New Roman"/>
                        </a:rPr>
                        <a:t>12</a:t>
                      </a:r>
                      <a:endParaRPr sz="15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548005">
                <a:tc>
                  <a:txBody>
                    <a:bodyPr/>
                    <a:lstStyle/>
                    <a:p>
                      <a:pPr marL="91440">
                        <a:lnSpc>
                          <a:spcPct val="100000"/>
                        </a:lnSpc>
                        <a:spcBef>
                          <a:spcPts val="330"/>
                        </a:spcBef>
                      </a:pPr>
                      <a:r>
                        <a:rPr dirty="0" sz="1500" b="1">
                          <a:solidFill>
                            <a:srgbClr val="008000"/>
                          </a:solidFill>
                          <a:latin typeface="Times New Roman"/>
                          <a:cs typeface="Times New Roman"/>
                        </a:rPr>
                        <a:t>15</a:t>
                      </a:r>
                      <a:r>
                        <a:rPr dirty="0" sz="1500" b="1">
                          <a:solidFill>
                            <a:srgbClr val="008000"/>
                          </a:solidFill>
                          <a:latin typeface="宋体"/>
                          <a:cs typeface="宋体"/>
                        </a:rPr>
                        <a:t>：</a:t>
                      </a:r>
                      <a:r>
                        <a:rPr dirty="0" sz="1500" b="1">
                          <a:solidFill>
                            <a:srgbClr val="008000"/>
                          </a:solidFill>
                          <a:latin typeface="Times New Roman"/>
                          <a:cs typeface="Times New Roman"/>
                        </a:rPr>
                        <a:t>M</a:t>
                      </a:r>
                      <a:r>
                        <a:rPr dirty="0" sz="1500" spc="-25" b="1">
                          <a:solidFill>
                            <a:srgbClr val="008000"/>
                          </a:solidFill>
                          <a:latin typeface="Times New Roman"/>
                          <a:cs typeface="Times New Roman"/>
                        </a:rPr>
                        <a:t> </a:t>
                      </a:r>
                      <a:r>
                        <a:rPr dirty="0" sz="1500" b="1">
                          <a:solidFill>
                            <a:srgbClr val="008000"/>
                          </a:solidFill>
                          <a:latin typeface="Times New Roman"/>
                          <a:cs typeface="Times New Roman"/>
                        </a:rPr>
                        <a:t>M</a:t>
                      </a:r>
                      <a:r>
                        <a:rPr dirty="0" sz="1500" spc="15" b="1">
                          <a:solidFill>
                            <a:srgbClr val="008000"/>
                          </a:solidFill>
                          <a:latin typeface="Times New Roman"/>
                          <a:cs typeface="Times New Roman"/>
                        </a:rPr>
                        <a:t> </a:t>
                      </a:r>
                      <a:r>
                        <a:rPr dirty="0" sz="1500" spc="-50" b="1">
                          <a:solidFill>
                            <a:srgbClr val="008000"/>
                          </a:solidFill>
                          <a:latin typeface="Times New Roman"/>
                          <a:cs typeface="Times New Roman"/>
                        </a:rPr>
                        <a:t>F</a:t>
                      </a:r>
                      <a:endParaRPr sz="15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30"/>
                        </a:spcBef>
                      </a:pPr>
                      <a:r>
                        <a:rPr dirty="0" sz="1500" b="1">
                          <a:solidFill>
                            <a:srgbClr val="40458B"/>
                          </a:solidFill>
                          <a:latin typeface="Times New Roman"/>
                          <a:cs typeface="Times New Roman"/>
                        </a:rPr>
                        <a:t>S.D</a:t>
                      </a:r>
                      <a:r>
                        <a:rPr dirty="0" sz="1500" spc="-20" b="1">
                          <a:solidFill>
                            <a:srgbClr val="40458B"/>
                          </a:solidFill>
                          <a:latin typeface="Times New Roman"/>
                          <a:cs typeface="Times New Roman"/>
                        </a:rPr>
                        <a:t> </a:t>
                      </a:r>
                      <a:r>
                        <a:rPr dirty="0" sz="1500" b="1">
                          <a:solidFill>
                            <a:srgbClr val="40458B"/>
                          </a:solidFill>
                          <a:latin typeface="Times New Roman"/>
                          <a:cs typeface="Times New Roman"/>
                        </a:rPr>
                        <a:t>F20</a:t>
                      </a:r>
                      <a:r>
                        <a:rPr dirty="0" sz="1500" b="1">
                          <a:solidFill>
                            <a:srgbClr val="40458B"/>
                          </a:solidFill>
                          <a:latin typeface="宋体"/>
                          <a:cs typeface="宋体"/>
                        </a:rPr>
                        <a:t>，</a:t>
                      </a:r>
                      <a:r>
                        <a:rPr dirty="0" sz="1500" b="1">
                          <a:solidFill>
                            <a:srgbClr val="40458B"/>
                          </a:solidFill>
                          <a:latin typeface="Times New Roman"/>
                          <a:cs typeface="Times New Roman"/>
                        </a:rPr>
                        <a:t>-</a:t>
                      </a:r>
                      <a:r>
                        <a:rPr dirty="0" sz="1500" spc="-10" b="1">
                          <a:solidFill>
                            <a:srgbClr val="40458B"/>
                          </a:solidFill>
                          <a:latin typeface="Times New Roman"/>
                          <a:cs typeface="Times New Roman"/>
                        </a:rPr>
                        <a:t>32</a:t>
                      </a:r>
                      <a:r>
                        <a:rPr dirty="0" sz="1500" spc="-10" b="1">
                          <a:solidFill>
                            <a:srgbClr val="40458B"/>
                          </a:solidFill>
                          <a:latin typeface="宋体"/>
                          <a:cs typeface="宋体"/>
                        </a:rPr>
                        <a:t>（</a:t>
                      </a:r>
                      <a:r>
                        <a:rPr dirty="0" sz="1500" spc="-10" b="1">
                          <a:solidFill>
                            <a:srgbClr val="40458B"/>
                          </a:solidFill>
                          <a:latin typeface="Times New Roman"/>
                          <a:cs typeface="Times New Roman"/>
                        </a:rPr>
                        <a:t>R1</a:t>
                      </a:r>
                      <a:endParaRPr sz="1500">
                        <a:latin typeface="Times New Roman"/>
                        <a:cs typeface="Times New Roman"/>
                      </a:endParaRPr>
                    </a:p>
                    <a:p>
                      <a:pPr marL="91440">
                        <a:lnSpc>
                          <a:spcPct val="100000"/>
                        </a:lnSpc>
                        <a:spcBef>
                          <a:spcPts val="35"/>
                        </a:spcBef>
                      </a:pPr>
                      <a:r>
                        <a:rPr dirty="0" sz="1500" spc="-50" b="1">
                          <a:solidFill>
                            <a:srgbClr val="40458B"/>
                          </a:solidFill>
                          <a:latin typeface="宋体"/>
                          <a:cs typeface="宋体"/>
                        </a:rPr>
                        <a:t>）</a:t>
                      </a:r>
                      <a:endParaRPr sz="1500">
                        <a:latin typeface="宋体"/>
                        <a:cs typeface="宋体"/>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0"/>
                        </a:spcBef>
                      </a:pPr>
                      <a:r>
                        <a:rPr dirty="0" sz="1500" spc="-25" b="1">
                          <a:solidFill>
                            <a:srgbClr val="40458B"/>
                          </a:solidFill>
                          <a:latin typeface="Times New Roman"/>
                          <a:cs typeface="Times New Roman"/>
                        </a:rPr>
                        <a:t>nop</a:t>
                      </a:r>
                      <a:endParaRPr sz="15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30"/>
                        </a:spcBef>
                      </a:pPr>
                      <a:r>
                        <a:rPr dirty="0" sz="1500" b="1">
                          <a:solidFill>
                            <a:srgbClr val="40458B"/>
                          </a:solidFill>
                          <a:latin typeface="Times New Roman"/>
                          <a:cs typeface="Times New Roman"/>
                        </a:rPr>
                        <a:t>ADD.D F24</a:t>
                      </a:r>
                      <a:r>
                        <a:rPr dirty="0" sz="1500" b="1">
                          <a:solidFill>
                            <a:srgbClr val="40458B"/>
                          </a:solidFill>
                          <a:latin typeface="宋体"/>
                          <a:cs typeface="宋体"/>
                        </a:rPr>
                        <a:t>，</a:t>
                      </a:r>
                      <a:r>
                        <a:rPr dirty="0" sz="1500" b="1">
                          <a:solidFill>
                            <a:srgbClr val="40458B"/>
                          </a:solidFill>
                          <a:latin typeface="Times New Roman"/>
                          <a:cs typeface="Times New Roman"/>
                        </a:rPr>
                        <a:t>F22</a:t>
                      </a:r>
                      <a:r>
                        <a:rPr dirty="0" sz="1500" b="1">
                          <a:solidFill>
                            <a:srgbClr val="40458B"/>
                          </a:solidFill>
                          <a:latin typeface="宋体"/>
                          <a:cs typeface="宋体"/>
                        </a:rPr>
                        <a:t>，</a:t>
                      </a:r>
                      <a:r>
                        <a:rPr dirty="0" sz="1500" b="1">
                          <a:solidFill>
                            <a:srgbClr val="40458B"/>
                          </a:solidFill>
                          <a:latin typeface="Times New Roman"/>
                          <a:cs typeface="Times New Roman"/>
                        </a:rPr>
                        <a:t>F2</a:t>
                      </a:r>
                      <a:r>
                        <a:rPr dirty="0" sz="1500" spc="300" b="1">
                          <a:solidFill>
                            <a:srgbClr val="40458B"/>
                          </a:solidFill>
                          <a:latin typeface="Times New Roman"/>
                          <a:cs typeface="Times New Roman"/>
                        </a:rPr>
                        <a:t> </a:t>
                      </a:r>
                      <a:r>
                        <a:rPr dirty="0" sz="1500" spc="-25" b="1">
                          <a:solidFill>
                            <a:srgbClr val="40458B"/>
                          </a:solidFill>
                          <a:latin typeface="Times New Roman"/>
                          <a:cs typeface="Times New Roman"/>
                        </a:rPr>
                        <a:t>(s)</a:t>
                      </a:r>
                      <a:endParaRPr sz="15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320"/>
                        </a:spcBef>
                      </a:pPr>
                      <a:r>
                        <a:rPr dirty="0" sz="1500" spc="-25" b="1">
                          <a:solidFill>
                            <a:srgbClr val="40458B"/>
                          </a:solidFill>
                          <a:latin typeface="Times New Roman"/>
                          <a:cs typeface="Times New Roman"/>
                        </a:rPr>
                        <a:t>15</a:t>
                      </a:r>
                      <a:endParaRPr sz="15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548640">
                <a:tc>
                  <a:txBody>
                    <a:bodyPr/>
                    <a:lstStyle/>
                    <a:p>
                      <a:pPr marL="91440">
                        <a:lnSpc>
                          <a:spcPct val="100000"/>
                        </a:lnSpc>
                        <a:spcBef>
                          <a:spcPts val="334"/>
                        </a:spcBef>
                      </a:pPr>
                      <a:r>
                        <a:rPr dirty="0" sz="1500" b="1">
                          <a:solidFill>
                            <a:srgbClr val="008000"/>
                          </a:solidFill>
                          <a:latin typeface="Times New Roman"/>
                          <a:cs typeface="Times New Roman"/>
                        </a:rPr>
                        <a:t>15</a:t>
                      </a:r>
                      <a:r>
                        <a:rPr dirty="0" sz="1500" b="1">
                          <a:solidFill>
                            <a:srgbClr val="008000"/>
                          </a:solidFill>
                          <a:latin typeface="宋体"/>
                          <a:cs typeface="宋体"/>
                        </a:rPr>
                        <a:t>：</a:t>
                      </a:r>
                      <a:r>
                        <a:rPr dirty="0" sz="1500" b="1">
                          <a:solidFill>
                            <a:srgbClr val="008000"/>
                          </a:solidFill>
                          <a:latin typeface="Times New Roman"/>
                          <a:cs typeface="Times New Roman"/>
                        </a:rPr>
                        <a:t>M</a:t>
                      </a:r>
                      <a:r>
                        <a:rPr dirty="0" sz="1500" spc="-25" b="1">
                          <a:solidFill>
                            <a:srgbClr val="008000"/>
                          </a:solidFill>
                          <a:latin typeface="Times New Roman"/>
                          <a:cs typeface="Times New Roman"/>
                        </a:rPr>
                        <a:t> </a:t>
                      </a:r>
                      <a:r>
                        <a:rPr dirty="0" sz="1500" b="1">
                          <a:solidFill>
                            <a:srgbClr val="008000"/>
                          </a:solidFill>
                          <a:latin typeface="Times New Roman"/>
                          <a:cs typeface="Times New Roman"/>
                        </a:rPr>
                        <a:t>M</a:t>
                      </a:r>
                      <a:r>
                        <a:rPr dirty="0" sz="1500" spc="15" b="1">
                          <a:solidFill>
                            <a:srgbClr val="008000"/>
                          </a:solidFill>
                          <a:latin typeface="Times New Roman"/>
                          <a:cs typeface="Times New Roman"/>
                        </a:rPr>
                        <a:t> </a:t>
                      </a:r>
                      <a:r>
                        <a:rPr dirty="0" sz="1500" spc="-50" b="1">
                          <a:solidFill>
                            <a:srgbClr val="008000"/>
                          </a:solidFill>
                          <a:latin typeface="Times New Roman"/>
                          <a:cs typeface="Times New Roman"/>
                        </a:rPr>
                        <a:t>F</a:t>
                      </a:r>
                      <a:endParaRPr sz="1500">
                        <a:latin typeface="Times New Roman"/>
                        <a:cs typeface="Times New Roman"/>
                      </a:endParaRPr>
                    </a:p>
                  </a:txBody>
                  <a:tcPr marL="0" marR="0" marB="0" marT="42544">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34"/>
                        </a:spcBef>
                      </a:pPr>
                      <a:r>
                        <a:rPr dirty="0" sz="1500" b="1">
                          <a:solidFill>
                            <a:srgbClr val="40458B"/>
                          </a:solidFill>
                          <a:latin typeface="Times New Roman"/>
                          <a:cs typeface="Times New Roman"/>
                        </a:rPr>
                        <a:t>S.D</a:t>
                      </a:r>
                      <a:r>
                        <a:rPr dirty="0" sz="1500" spc="-20" b="1">
                          <a:solidFill>
                            <a:srgbClr val="40458B"/>
                          </a:solidFill>
                          <a:latin typeface="Times New Roman"/>
                          <a:cs typeface="Times New Roman"/>
                        </a:rPr>
                        <a:t> </a:t>
                      </a:r>
                      <a:r>
                        <a:rPr dirty="0" sz="1500" b="1">
                          <a:solidFill>
                            <a:srgbClr val="40458B"/>
                          </a:solidFill>
                          <a:latin typeface="Times New Roman"/>
                          <a:cs typeface="Times New Roman"/>
                        </a:rPr>
                        <a:t>F24</a:t>
                      </a:r>
                      <a:r>
                        <a:rPr dirty="0" sz="1500" b="1">
                          <a:solidFill>
                            <a:srgbClr val="40458B"/>
                          </a:solidFill>
                          <a:latin typeface="宋体"/>
                          <a:cs typeface="宋体"/>
                        </a:rPr>
                        <a:t>，</a:t>
                      </a:r>
                      <a:r>
                        <a:rPr dirty="0" sz="1500" b="1">
                          <a:solidFill>
                            <a:srgbClr val="40458B"/>
                          </a:solidFill>
                          <a:latin typeface="Times New Roman"/>
                          <a:cs typeface="Times New Roman"/>
                        </a:rPr>
                        <a:t>-</a:t>
                      </a:r>
                      <a:r>
                        <a:rPr dirty="0" sz="1500" spc="-10" b="1">
                          <a:solidFill>
                            <a:srgbClr val="40458B"/>
                          </a:solidFill>
                          <a:latin typeface="Times New Roman"/>
                          <a:cs typeface="Times New Roman"/>
                        </a:rPr>
                        <a:t>40</a:t>
                      </a:r>
                      <a:r>
                        <a:rPr dirty="0" sz="1500" spc="-10" b="1">
                          <a:solidFill>
                            <a:srgbClr val="40458B"/>
                          </a:solidFill>
                          <a:latin typeface="宋体"/>
                          <a:cs typeface="宋体"/>
                        </a:rPr>
                        <a:t>（</a:t>
                      </a:r>
                      <a:r>
                        <a:rPr dirty="0" sz="1500" spc="-10" b="1">
                          <a:solidFill>
                            <a:srgbClr val="40458B"/>
                          </a:solidFill>
                          <a:latin typeface="Times New Roman"/>
                          <a:cs typeface="Times New Roman"/>
                        </a:rPr>
                        <a:t>R1</a:t>
                      </a:r>
                      <a:endParaRPr sz="1500">
                        <a:latin typeface="Times New Roman"/>
                        <a:cs typeface="Times New Roman"/>
                      </a:endParaRPr>
                    </a:p>
                    <a:p>
                      <a:pPr marL="91440">
                        <a:lnSpc>
                          <a:spcPct val="100000"/>
                        </a:lnSpc>
                        <a:spcBef>
                          <a:spcPts val="35"/>
                        </a:spcBef>
                      </a:pPr>
                      <a:r>
                        <a:rPr dirty="0" sz="1500" spc="-50" b="1">
                          <a:solidFill>
                            <a:srgbClr val="40458B"/>
                          </a:solidFill>
                          <a:latin typeface="宋体"/>
                          <a:cs typeface="宋体"/>
                        </a:rPr>
                        <a:t>）</a:t>
                      </a:r>
                      <a:endParaRPr sz="1500">
                        <a:latin typeface="宋体"/>
                        <a:cs typeface="宋体"/>
                      </a:endParaRPr>
                    </a:p>
                  </a:txBody>
                  <a:tcPr marL="0" marR="0" marB="0" marT="42544">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0"/>
                        </a:spcBef>
                      </a:pPr>
                      <a:r>
                        <a:rPr dirty="0" sz="1500" spc="-25" b="1">
                          <a:solidFill>
                            <a:srgbClr val="40458B"/>
                          </a:solidFill>
                          <a:latin typeface="Times New Roman"/>
                          <a:cs typeface="Times New Roman"/>
                        </a:rPr>
                        <a:t>nop</a:t>
                      </a:r>
                      <a:endParaRPr sz="15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34"/>
                        </a:spcBef>
                      </a:pPr>
                      <a:r>
                        <a:rPr dirty="0" sz="1500" b="1">
                          <a:solidFill>
                            <a:srgbClr val="40458B"/>
                          </a:solidFill>
                          <a:latin typeface="Times New Roman"/>
                          <a:cs typeface="Times New Roman"/>
                        </a:rPr>
                        <a:t>ADD.D F28</a:t>
                      </a:r>
                      <a:r>
                        <a:rPr dirty="0" sz="1500" b="1">
                          <a:solidFill>
                            <a:srgbClr val="40458B"/>
                          </a:solidFill>
                          <a:latin typeface="宋体"/>
                          <a:cs typeface="宋体"/>
                        </a:rPr>
                        <a:t>，</a:t>
                      </a:r>
                      <a:r>
                        <a:rPr dirty="0" sz="1500" b="1">
                          <a:solidFill>
                            <a:srgbClr val="40458B"/>
                          </a:solidFill>
                          <a:latin typeface="Times New Roman"/>
                          <a:cs typeface="Times New Roman"/>
                        </a:rPr>
                        <a:t>F26</a:t>
                      </a:r>
                      <a:r>
                        <a:rPr dirty="0" sz="1500" b="1">
                          <a:solidFill>
                            <a:srgbClr val="40458B"/>
                          </a:solidFill>
                          <a:latin typeface="宋体"/>
                          <a:cs typeface="宋体"/>
                        </a:rPr>
                        <a:t>，</a:t>
                      </a:r>
                      <a:r>
                        <a:rPr dirty="0" sz="1500" b="1">
                          <a:solidFill>
                            <a:srgbClr val="40458B"/>
                          </a:solidFill>
                          <a:latin typeface="Times New Roman"/>
                          <a:cs typeface="Times New Roman"/>
                        </a:rPr>
                        <a:t>F2</a:t>
                      </a:r>
                      <a:r>
                        <a:rPr dirty="0" sz="1500" spc="300" b="1">
                          <a:solidFill>
                            <a:srgbClr val="40458B"/>
                          </a:solidFill>
                          <a:latin typeface="Times New Roman"/>
                          <a:cs typeface="Times New Roman"/>
                        </a:rPr>
                        <a:t> </a:t>
                      </a:r>
                      <a:r>
                        <a:rPr dirty="0" sz="1500" spc="-25" b="1">
                          <a:solidFill>
                            <a:srgbClr val="40458B"/>
                          </a:solidFill>
                          <a:latin typeface="Times New Roman"/>
                          <a:cs typeface="Times New Roman"/>
                        </a:rPr>
                        <a:t>(s)</a:t>
                      </a:r>
                      <a:endParaRPr sz="1500">
                        <a:latin typeface="Times New Roman"/>
                        <a:cs typeface="Times New Roman"/>
                      </a:endParaRPr>
                    </a:p>
                  </a:txBody>
                  <a:tcPr marL="0" marR="0" marB="0" marT="42544">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320"/>
                        </a:spcBef>
                      </a:pPr>
                      <a:r>
                        <a:rPr dirty="0" sz="1500" spc="-25" b="1">
                          <a:solidFill>
                            <a:srgbClr val="40458B"/>
                          </a:solidFill>
                          <a:latin typeface="Times New Roman"/>
                          <a:cs typeface="Times New Roman"/>
                        </a:rPr>
                        <a:t>18</a:t>
                      </a:r>
                      <a:endParaRPr sz="15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548005">
                <a:tc>
                  <a:txBody>
                    <a:bodyPr/>
                    <a:lstStyle/>
                    <a:p>
                      <a:pPr marL="91440">
                        <a:lnSpc>
                          <a:spcPct val="100000"/>
                        </a:lnSpc>
                        <a:spcBef>
                          <a:spcPts val="335"/>
                        </a:spcBef>
                      </a:pPr>
                      <a:r>
                        <a:rPr dirty="0" sz="1500" b="1">
                          <a:solidFill>
                            <a:srgbClr val="008000"/>
                          </a:solidFill>
                          <a:latin typeface="Times New Roman"/>
                          <a:cs typeface="Times New Roman"/>
                        </a:rPr>
                        <a:t>15</a:t>
                      </a:r>
                      <a:r>
                        <a:rPr dirty="0" sz="1500" b="1">
                          <a:solidFill>
                            <a:srgbClr val="008000"/>
                          </a:solidFill>
                          <a:latin typeface="宋体"/>
                          <a:cs typeface="宋体"/>
                        </a:rPr>
                        <a:t>：</a:t>
                      </a:r>
                      <a:r>
                        <a:rPr dirty="0" sz="1500" b="1">
                          <a:solidFill>
                            <a:srgbClr val="008000"/>
                          </a:solidFill>
                          <a:latin typeface="Times New Roman"/>
                          <a:cs typeface="Times New Roman"/>
                        </a:rPr>
                        <a:t>M</a:t>
                      </a:r>
                      <a:r>
                        <a:rPr dirty="0" sz="1500" spc="-25" b="1">
                          <a:solidFill>
                            <a:srgbClr val="008000"/>
                          </a:solidFill>
                          <a:latin typeface="Times New Roman"/>
                          <a:cs typeface="Times New Roman"/>
                        </a:rPr>
                        <a:t> </a:t>
                      </a:r>
                      <a:r>
                        <a:rPr dirty="0" sz="1500" b="1">
                          <a:solidFill>
                            <a:srgbClr val="008000"/>
                          </a:solidFill>
                          <a:latin typeface="Times New Roman"/>
                          <a:cs typeface="Times New Roman"/>
                        </a:rPr>
                        <a:t>M</a:t>
                      </a:r>
                      <a:r>
                        <a:rPr dirty="0" sz="1500" spc="15" b="1">
                          <a:solidFill>
                            <a:srgbClr val="008000"/>
                          </a:solidFill>
                          <a:latin typeface="Times New Roman"/>
                          <a:cs typeface="Times New Roman"/>
                        </a:rPr>
                        <a:t> </a:t>
                      </a:r>
                      <a:r>
                        <a:rPr dirty="0" sz="1500" spc="-50" b="1">
                          <a:solidFill>
                            <a:srgbClr val="008000"/>
                          </a:solidFill>
                          <a:latin typeface="Times New Roman"/>
                          <a:cs typeface="Times New Roman"/>
                        </a:rPr>
                        <a:t>F</a:t>
                      </a:r>
                      <a:endParaRPr sz="1500">
                        <a:latin typeface="Times New Roman"/>
                        <a:cs typeface="Times New Roman"/>
                      </a:endParaRPr>
                    </a:p>
                  </a:txBody>
                  <a:tcPr marL="0" marR="0" marB="0" marT="4254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35"/>
                        </a:spcBef>
                      </a:pPr>
                      <a:r>
                        <a:rPr dirty="0" sz="1500" b="1">
                          <a:solidFill>
                            <a:srgbClr val="40458B"/>
                          </a:solidFill>
                          <a:latin typeface="Times New Roman"/>
                          <a:cs typeface="Times New Roman"/>
                        </a:rPr>
                        <a:t>S.D</a:t>
                      </a:r>
                      <a:r>
                        <a:rPr dirty="0" sz="1500" spc="-20" b="1">
                          <a:solidFill>
                            <a:srgbClr val="40458B"/>
                          </a:solidFill>
                          <a:latin typeface="Times New Roman"/>
                          <a:cs typeface="Times New Roman"/>
                        </a:rPr>
                        <a:t> </a:t>
                      </a:r>
                      <a:r>
                        <a:rPr dirty="0" sz="1500" b="1">
                          <a:solidFill>
                            <a:srgbClr val="40458B"/>
                          </a:solidFill>
                          <a:latin typeface="Times New Roman"/>
                          <a:cs typeface="Times New Roman"/>
                        </a:rPr>
                        <a:t>F28</a:t>
                      </a:r>
                      <a:r>
                        <a:rPr dirty="0" sz="1500" b="1">
                          <a:solidFill>
                            <a:srgbClr val="40458B"/>
                          </a:solidFill>
                          <a:latin typeface="宋体"/>
                          <a:cs typeface="宋体"/>
                        </a:rPr>
                        <a:t>，</a:t>
                      </a:r>
                      <a:r>
                        <a:rPr dirty="0" sz="1500" b="1">
                          <a:solidFill>
                            <a:srgbClr val="40458B"/>
                          </a:solidFill>
                          <a:latin typeface="Times New Roman"/>
                          <a:cs typeface="Times New Roman"/>
                        </a:rPr>
                        <a:t>-</a:t>
                      </a:r>
                      <a:r>
                        <a:rPr dirty="0" sz="1500" spc="-10" b="1">
                          <a:solidFill>
                            <a:srgbClr val="40458B"/>
                          </a:solidFill>
                          <a:latin typeface="Times New Roman"/>
                          <a:cs typeface="Times New Roman"/>
                        </a:rPr>
                        <a:t>48</a:t>
                      </a:r>
                      <a:r>
                        <a:rPr dirty="0" sz="1500" spc="-10" b="1">
                          <a:solidFill>
                            <a:srgbClr val="40458B"/>
                          </a:solidFill>
                          <a:latin typeface="宋体"/>
                          <a:cs typeface="宋体"/>
                        </a:rPr>
                        <a:t>（</a:t>
                      </a:r>
                      <a:r>
                        <a:rPr dirty="0" sz="1500" spc="-10" b="1">
                          <a:solidFill>
                            <a:srgbClr val="40458B"/>
                          </a:solidFill>
                          <a:latin typeface="Times New Roman"/>
                          <a:cs typeface="Times New Roman"/>
                        </a:rPr>
                        <a:t>R1</a:t>
                      </a:r>
                      <a:endParaRPr sz="1500">
                        <a:latin typeface="Times New Roman"/>
                        <a:cs typeface="Times New Roman"/>
                      </a:endParaRPr>
                    </a:p>
                    <a:p>
                      <a:pPr marL="91440">
                        <a:lnSpc>
                          <a:spcPct val="100000"/>
                        </a:lnSpc>
                        <a:spcBef>
                          <a:spcPts val="35"/>
                        </a:spcBef>
                      </a:pPr>
                      <a:r>
                        <a:rPr dirty="0" sz="1500" spc="-50" b="1">
                          <a:solidFill>
                            <a:srgbClr val="40458B"/>
                          </a:solidFill>
                          <a:latin typeface="宋体"/>
                          <a:cs typeface="宋体"/>
                        </a:rPr>
                        <a:t>）</a:t>
                      </a:r>
                      <a:endParaRPr sz="1500">
                        <a:latin typeface="宋体"/>
                        <a:cs typeface="宋体"/>
                      </a:endParaRPr>
                    </a:p>
                  </a:txBody>
                  <a:tcPr marL="0" marR="0" marB="0" marT="4254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marR="147955">
                        <a:lnSpc>
                          <a:spcPts val="1789"/>
                        </a:lnSpc>
                        <a:spcBef>
                          <a:spcPts val="400"/>
                        </a:spcBef>
                      </a:pPr>
                      <a:r>
                        <a:rPr dirty="0" sz="1500" b="1">
                          <a:solidFill>
                            <a:srgbClr val="40458B"/>
                          </a:solidFill>
                          <a:latin typeface="Times New Roman"/>
                          <a:cs typeface="Times New Roman"/>
                        </a:rPr>
                        <a:t>DADDUI</a:t>
                      </a:r>
                      <a:r>
                        <a:rPr dirty="0" sz="1500" spc="-70" b="1">
                          <a:solidFill>
                            <a:srgbClr val="40458B"/>
                          </a:solidFill>
                          <a:latin typeface="Times New Roman"/>
                          <a:cs typeface="Times New Roman"/>
                        </a:rPr>
                        <a:t> </a:t>
                      </a:r>
                      <a:r>
                        <a:rPr dirty="0" sz="1500" spc="-10" b="1">
                          <a:solidFill>
                            <a:srgbClr val="40458B"/>
                          </a:solidFill>
                          <a:latin typeface="Times New Roman"/>
                          <a:cs typeface="Times New Roman"/>
                        </a:rPr>
                        <a:t>R1</a:t>
                      </a:r>
                      <a:r>
                        <a:rPr dirty="0" sz="1500" spc="-10" b="1">
                          <a:solidFill>
                            <a:srgbClr val="40458B"/>
                          </a:solidFill>
                          <a:latin typeface="宋体"/>
                          <a:cs typeface="宋体"/>
                        </a:rPr>
                        <a:t>，</a:t>
                      </a:r>
                      <a:r>
                        <a:rPr dirty="0" sz="1500" spc="-10" b="1">
                          <a:solidFill>
                            <a:srgbClr val="40458B"/>
                          </a:solidFill>
                          <a:latin typeface="Times New Roman"/>
                          <a:cs typeface="Times New Roman"/>
                        </a:rPr>
                        <a:t>R1</a:t>
                      </a:r>
                      <a:r>
                        <a:rPr dirty="0" sz="1500" spc="-10" b="1">
                          <a:solidFill>
                            <a:srgbClr val="40458B"/>
                          </a:solidFill>
                          <a:latin typeface="宋体"/>
                          <a:cs typeface="宋体"/>
                        </a:rPr>
                        <a:t>，</a:t>
                      </a:r>
                      <a:r>
                        <a:rPr dirty="0" sz="1500" spc="-10" b="1">
                          <a:solidFill>
                            <a:srgbClr val="40458B"/>
                          </a:solidFill>
                          <a:latin typeface="Times New Roman"/>
                          <a:cs typeface="Times New Roman"/>
                        </a:rPr>
                        <a:t>#- </a:t>
                      </a:r>
                      <a:r>
                        <a:rPr dirty="0" sz="1500" spc="-25" b="1">
                          <a:solidFill>
                            <a:srgbClr val="40458B"/>
                          </a:solidFill>
                          <a:latin typeface="Times New Roman"/>
                          <a:cs typeface="Times New Roman"/>
                        </a:rPr>
                        <a:t>56</a:t>
                      </a:r>
                      <a:endParaRPr sz="1500">
                        <a:latin typeface="Times New Roman"/>
                        <a:cs typeface="Times New Roman"/>
                      </a:endParaRPr>
                    </a:p>
                  </a:txBody>
                  <a:tcPr marL="0" marR="0" marB="0" marT="508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35"/>
                        </a:spcBef>
                      </a:pPr>
                      <a:r>
                        <a:rPr dirty="0" sz="1500" b="1">
                          <a:solidFill>
                            <a:srgbClr val="40458B"/>
                          </a:solidFill>
                          <a:latin typeface="Times New Roman"/>
                          <a:cs typeface="Times New Roman"/>
                        </a:rPr>
                        <a:t>BNE</a:t>
                      </a:r>
                      <a:r>
                        <a:rPr dirty="0" sz="1500" spc="-20" b="1">
                          <a:solidFill>
                            <a:srgbClr val="40458B"/>
                          </a:solidFill>
                          <a:latin typeface="Times New Roman"/>
                          <a:cs typeface="Times New Roman"/>
                        </a:rPr>
                        <a:t> </a:t>
                      </a:r>
                      <a:r>
                        <a:rPr dirty="0" sz="1500" spc="-10" b="1">
                          <a:solidFill>
                            <a:srgbClr val="40458B"/>
                          </a:solidFill>
                          <a:latin typeface="Times New Roman"/>
                          <a:cs typeface="Times New Roman"/>
                        </a:rPr>
                        <a:t>R1</a:t>
                      </a:r>
                      <a:r>
                        <a:rPr dirty="0" sz="1500" spc="-10" b="1">
                          <a:solidFill>
                            <a:srgbClr val="40458B"/>
                          </a:solidFill>
                          <a:latin typeface="宋体"/>
                          <a:cs typeface="宋体"/>
                        </a:rPr>
                        <a:t>，</a:t>
                      </a:r>
                      <a:r>
                        <a:rPr dirty="0" sz="1500" spc="-10" b="1">
                          <a:solidFill>
                            <a:srgbClr val="40458B"/>
                          </a:solidFill>
                          <a:latin typeface="Times New Roman"/>
                          <a:cs typeface="Times New Roman"/>
                        </a:rPr>
                        <a:t>R2</a:t>
                      </a:r>
                      <a:r>
                        <a:rPr dirty="0" sz="1500" spc="-10" b="1">
                          <a:solidFill>
                            <a:srgbClr val="40458B"/>
                          </a:solidFill>
                          <a:latin typeface="宋体"/>
                          <a:cs typeface="宋体"/>
                        </a:rPr>
                        <a:t>，</a:t>
                      </a:r>
                      <a:r>
                        <a:rPr dirty="0" sz="1500" spc="-10" b="1">
                          <a:solidFill>
                            <a:srgbClr val="40458B"/>
                          </a:solidFill>
                          <a:latin typeface="Times New Roman"/>
                          <a:cs typeface="Times New Roman"/>
                        </a:rPr>
                        <a:t>Loop</a:t>
                      </a:r>
                      <a:endParaRPr sz="1500">
                        <a:latin typeface="Times New Roman"/>
                        <a:cs typeface="Times New Roman"/>
                      </a:endParaRPr>
                    </a:p>
                  </a:txBody>
                  <a:tcPr marL="0" marR="0" marB="0" marT="4254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320"/>
                        </a:spcBef>
                      </a:pPr>
                      <a:r>
                        <a:rPr dirty="0" sz="1500" spc="-25" b="1">
                          <a:solidFill>
                            <a:srgbClr val="40458B"/>
                          </a:solidFill>
                          <a:latin typeface="Times New Roman"/>
                          <a:cs typeface="Times New Roman"/>
                        </a:rPr>
                        <a:t>21</a:t>
                      </a:r>
                      <a:endParaRPr sz="15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117/89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2342133" y="1371726"/>
            <a:ext cx="2078989" cy="330835"/>
          </a:xfrm>
          <a:prstGeom prst="rect">
            <a:avLst/>
          </a:prstGeom>
        </p:spPr>
        <p:txBody>
          <a:bodyPr wrap="square" lIns="0" tIns="13335" rIns="0" bIns="0" rtlCol="0" vert="horz">
            <a:spAutoFit/>
          </a:bodyPr>
          <a:lstStyle/>
          <a:p>
            <a:pPr marL="12700">
              <a:lnSpc>
                <a:spcPct val="100000"/>
              </a:lnSpc>
              <a:spcBef>
                <a:spcPts val="105"/>
              </a:spcBef>
            </a:pPr>
            <a:r>
              <a:rPr dirty="0" sz="2000" b="1">
                <a:latin typeface="宋体"/>
                <a:cs typeface="宋体"/>
              </a:rPr>
              <a:t>(2</a:t>
            </a:r>
            <a:r>
              <a:rPr dirty="0" sz="2000" spc="-20" b="1">
                <a:latin typeface="宋体"/>
                <a:cs typeface="宋体"/>
              </a:rPr>
              <a:t>) 执行时间最短</a:t>
            </a:r>
            <a:endParaRPr sz="2000">
              <a:latin typeface="宋体"/>
              <a:cs typeface="宋体"/>
            </a:endParaRPr>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341755" algn="l"/>
                <a:tab pos="10788015" algn="l"/>
              </a:tabLst>
            </a:pPr>
            <a:r>
              <a:rPr dirty="0"/>
              <a:t>	6.6</a:t>
            </a:r>
            <a:r>
              <a:rPr dirty="0" spc="5"/>
              <a:t> </a:t>
            </a:r>
            <a:r>
              <a:rPr dirty="0" spc="-10"/>
              <a:t>实例：IA-64</a:t>
            </a:r>
            <a:r>
              <a:rPr dirty="0"/>
              <a:t>体</a:t>
            </a:r>
            <a:r>
              <a:rPr dirty="0" spc="-20"/>
              <a:t>系</a:t>
            </a:r>
            <a:r>
              <a:rPr dirty="0"/>
              <a:t>结</a:t>
            </a:r>
            <a:r>
              <a:rPr dirty="0" spc="-50"/>
              <a:t>构</a:t>
            </a:r>
            <a:r>
              <a:rPr dirty="0"/>
              <a:t>	</a:t>
            </a:r>
          </a:p>
        </p:txBody>
      </p:sp>
      <p:graphicFrame>
        <p:nvGraphicFramePr>
          <p:cNvPr id="10" name="object 10" descr=""/>
          <p:cNvGraphicFramePr>
            <a:graphicFrameLocks noGrp="1"/>
          </p:cNvGraphicFramePr>
          <p:nvPr/>
        </p:nvGraphicFramePr>
        <p:xfrm>
          <a:off x="1768475" y="2054225"/>
          <a:ext cx="8803005" cy="4793615"/>
        </p:xfrm>
        <a:graphic>
          <a:graphicData uri="http://schemas.openxmlformats.org/drawingml/2006/table">
            <a:tbl>
              <a:tblPr firstRow="1" bandRow="1">
                <a:tableStyleId>{2D5ABB26-0587-4C30-8999-92F81FD0307C}</a:tableStyleId>
              </a:tblPr>
              <a:tblGrid>
                <a:gridCol w="1233805"/>
                <a:gridCol w="1870075"/>
                <a:gridCol w="2057399"/>
                <a:gridCol w="2430145"/>
                <a:gridCol w="1122045"/>
              </a:tblGrid>
              <a:tr h="334645">
                <a:tc>
                  <a:txBody>
                    <a:bodyPr/>
                    <a:lstStyle/>
                    <a:p>
                      <a:pPr marL="91440">
                        <a:lnSpc>
                          <a:spcPct val="100000"/>
                        </a:lnSpc>
                        <a:spcBef>
                          <a:spcPts val="360"/>
                        </a:spcBef>
                      </a:pPr>
                      <a:r>
                        <a:rPr dirty="0" sz="1600" spc="-40" b="1">
                          <a:solidFill>
                            <a:srgbClr val="E14B04"/>
                          </a:solidFill>
                          <a:latin typeface="宋体"/>
                          <a:cs typeface="宋体"/>
                        </a:rPr>
                        <a:t>模板</a:t>
                      </a:r>
                      <a:endParaRPr sz="1600">
                        <a:latin typeface="宋体"/>
                        <a:cs typeface="宋体"/>
                      </a:endParaRPr>
                    </a:p>
                  </a:txBody>
                  <a:tcPr marL="0" marR="0" marB="0" marT="4572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0"/>
                        </a:spcBef>
                      </a:pPr>
                      <a:r>
                        <a:rPr dirty="0" sz="1600" spc="-30" b="1">
                          <a:solidFill>
                            <a:srgbClr val="E14B04"/>
                          </a:solidFill>
                          <a:latin typeface="宋体"/>
                          <a:cs typeface="宋体"/>
                        </a:rPr>
                        <a:t>操作槽</a:t>
                      </a:r>
                      <a:r>
                        <a:rPr dirty="0" sz="1600" spc="-50" b="1">
                          <a:solidFill>
                            <a:srgbClr val="E14B04"/>
                          </a:solidFill>
                          <a:latin typeface="Times New Roman"/>
                          <a:cs typeface="Times New Roman"/>
                        </a:rPr>
                        <a:t>0</a:t>
                      </a:r>
                      <a:endParaRPr sz="16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0"/>
                        </a:spcBef>
                      </a:pPr>
                      <a:r>
                        <a:rPr dirty="0" sz="1600" spc="-30" b="1">
                          <a:solidFill>
                            <a:srgbClr val="E14B04"/>
                          </a:solidFill>
                          <a:latin typeface="宋体"/>
                          <a:cs typeface="宋体"/>
                        </a:rPr>
                        <a:t>操作槽</a:t>
                      </a:r>
                      <a:r>
                        <a:rPr dirty="0" sz="1600" spc="-50" b="1">
                          <a:solidFill>
                            <a:srgbClr val="E14B04"/>
                          </a:solidFill>
                          <a:latin typeface="Times New Roman"/>
                          <a:cs typeface="Times New Roman"/>
                        </a:rPr>
                        <a:t>1</a:t>
                      </a:r>
                      <a:endParaRPr sz="16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dirty="0" sz="1600" spc="-30" b="1">
                          <a:solidFill>
                            <a:srgbClr val="E14B04"/>
                          </a:solidFill>
                          <a:latin typeface="宋体"/>
                          <a:cs typeface="宋体"/>
                        </a:rPr>
                        <a:t>操作槽</a:t>
                      </a:r>
                      <a:r>
                        <a:rPr dirty="0" sz="1600" spc="-50" b="1">
                          <a:solidFill>
                            <a:srgbClr val="E14B04"/>
                          </a:solidFill>
                          <a:latin typeface="Times New Roman"/>
                          <a:cs typeface="Times New Roman"/>
                        </a:rPr>
                        <a:t>2</a:t>
                      </a:r>
                      <a:endParaRPr sz="16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60"/>
                        </a:spcBef>
                      </a:pPr>
                      <a:r>
                        <a:rPr dirty="0" sz="1600" spc="-35" b="1">
                          <a:solidFill>
                            <a:srgbClr val="E14B04"/>
                          </a:solidFill>
                          <a:latin typeface="宋体"/>
                          <a:cs typeface="宋体"/>
                        </a:rPr>
                        <a:t>执行时间</a:t>
                      </a:r>
                      <a:endParaRPr sz="1600">
                        <a:latin typeface="宋体"/>
                        <a:cs typeface="宋体"/>
                      </a:endParaRPr>
                    </a:p>
                  </a:txBody>
                  <a:tcPr marL="0" marR="0" marB="0" marT="4572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4645">
                <a:tc>
                  <a:txBody>
                    <a:bodyPr/>
                    <a:lstStyle/>
                    <a:p>
                      <a:pPr marL="91440">
                        <a:lnSpc>
                          <a:spcPct val="100000"/>
                        </a:lnSpc>
                        <a:spcBef>
                          <a:spcPts val="325"/>
                        </a:spcBef>
                      </a:pPr>
                      <a:r>
                        <a:rPr dirty="0" sz="1500" b="1">
                          <a:solidFill>
                            <a:srgbClr val="008000"/>
                          </a:solidFill>
                          <a:latin typeface="Times New Roman"/>
                          <a:cs typeface="Times New Roman"/>
                        </a:rPr>
                        <a:t>8</a:t>
                      </a:r>
                      <a:r>
                        <a:rPr dirty="0" sz="1500" b="1">
                          <a:solidFill>
                            <a:srgbClr val="008000"/>
                          </a:solidFill>
                          <a:latin typeface="宋体"/>
                          <a:cs typeface="宋体"/>
                        </a:rPr>
                        <a:t>：</a:t>
                      </a:r>
                      <a:r>
                        <a:rPr dirty="0" sz="1500" b="1">
                          <a:solidFill>
                            <a:srgbClr val="008000"/>
                          </a:solidFill>
                          <a:latin typeface="Times New Roman"/>
                          <a:cs typeface="Times New Roman"/>
                        </a:rPr>
                        <a:t>M</a:t>
                      </a:r>
                      <a:r>
                        <a:rPr dirty="0" sz="1500" spc="-25" b="1">
                          <a:solidFill>
                            <a:srgbClr val="008000"/>
                          </a:solidFill>
                          <a:latin typeface="Times New Roman"/>
                          <a:cs typeface="Times New Roman"/>
                        </a:rPr>
                        <a:t> </a:t>
                      </a:r>
                      <a:r>
                        <a:rPr dirty="0" sz="1500" b="1">
                          <a:solidFill>
                            <a:srgbClr val="008000"/>
                          </a:solidFill>
                          <a:latin typeface="Times New Roman"/>
                          <a:cs typeface="Times New Roman"/>
                        </a:rPr>
                        <a:t>M</a:t>
                      </a:r>
                      <a:r>
                        <a:rPr dirty="0" sz="1500" spc="10" b="1">
                          <a:solidFill>
                            <a:srgbClr val="008000"/>
                          </a:solidFill>
                          <a:latin typeface="Times New Roman"/>
                          <a:cs typeface="Times New Roman"/>
                        </a:rPr>
                        <a:t> </a:t>
                      </a:r>
                      <a:r>
                        <a:rPr dirty="0" sz="1500" spc="-60" b="1">
                          <a:solidFill>
                            <a:srgbClr val="008000"/>
                          </a:solidFill>
                          <a:latin typeface="Times New Roman"/>
                          <a:cs typeface="Times New Roman"/>
                        </a:rPr>
                        <a:t>I</a:t>
                      </a:r>
                      <a:endParaRPr sz="1500">
                        <a:latin typeface="Times New Roman"/>
                        <a:cs typeface="Times New Roman"/>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5"/>
                        </a:spcBef>
                      </a:pPr>
                      <a:r>
                        <a:rPr dirty="0" sz="1500" b="1">
                          <a:solidFill>
                            <a:srgbClr val="40458B"/>
                          </a:solidFill>
                          <a:latin typeface="Times New Roman"/>
                          <a:cs typeface="Times New Roman"/>
                        </a:rPr>
                        <a:t>L.D</a:t>
                      </a:r>
                      <a:r>
                        <a:rPr dirty="0" sz="1500" spc="-25" b="1">
                          <a:solidFill>
                            <a:srgbClr val="40458B"/>
                          </a:solidFill>
                          <a:latin typeface="Times New Roman"/>
                          <a:cs typeface="Times New Roman"/>
                        </a:rPr>
                        <a:t> </a:t>
                      </a:r>
                      <a:r>
                        <a:rPr dirty="0" sz="1500" spc="-10" b="1">
                          <a:solidFill>
                            <a:srgbClr val="40458B"/>
                          </a:solidFill>
                          <a:latin typeface="Times New Roman"/>
                          <a:cs typeface="Times New Roman"/>
                        </a:rPr>
                        <a:t>F0</a:t>
                      </a:r>
                      <a:r>
                        <a:rPr dirty="0" sz="1500" spc="-10" b="1">
                          <a:solidFill>
                            <a:srgbClr val="40458B"/>
                          </a:solidFill>
                          <a:latin typeface="宋体"/>
                          <a:cs typeface="宋体"/>
                        </a:rPr>
                        <a:t>，</a:t>
                      </a:r>
                      <a:r>
                        <a:rPr dirty="0" sz="1500" spc="-10" b="1">
                          <a:solidFill>
                            <a:srgbClr val="40458B"/>
                          </a:solidFill>
                          <a:latin typeface="Times New Roman"/>
                          <a:cs typeface="Times New Roman"/>
                        </a:rPr>
                        <a:t>0</a:t>
                      </a:r>
                      <a:r>
                        <a:rPr dirty="0" sz="1500" spc="-10" b="1">
                          <a:solidFill>
                            <a:srgbClr val="40458B"/>
                          </a:solidFill>
                          <a:latin typeface="宋体"/>
                          <a:cs typeface="宋体"/>
                        </a:rPr>
                        <a:t>（</a:t>
                      </a:r>
                      <a:r>
                        <a:rPr dirty="0" sz="1500" spc="-10" b="1">
                          <a:solidFill>
                            <a:srgbClr val="40458B"/>
                          </a:solidFill>
                          <a:latin typeface="Times New Roman"/>
                          <a:cs typeface="Times New Roman"/>
                        </a:rPr>
                        <a:t>R1</a:t>
                      </a:r>
                      <a:r>
                        <a:rPr dirty="0" sz="1500" spc="-10" b="1">
                          <a:solidFill>
                            <a:srgbClr val="40458B"/>
                          </a:solidFill>
                          <a:latin typeface="宋体"/>
                          <a:cs typeface="宋体"/>
                        </a:rPr>
                        <a:t>）</a:t>
                      </a:r>
                      <a:endParaRPr sz="1500">
                        <a:latin typeface="宋体"/>
                        <a:cs typeface="宋体"/>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5"/>
                        </a:spcBef>
                      </a:pPr>
                      <a:r>
                        <a:rPr dirty="0" sz="1500" b="1">
                          <a:solidFill>
                            <a:srgbClr val="40458B"/>
                          </a:solidFill>
                          <a:latin typeface="Times New Roman"/>
                          <a:cs typeface="Times New Roman"/>
                        </a:rPr>
                        <a:t>L.D</a:t>
                      </a:r>
                      <a:r>
                        <a:rPr dirty="0" sz="1500" spc="-20" b="1">
                          <a:solidFill>
                            <a:srgbClr val="40458B"/>
                          </a:solidFill>
                          <a:latin typeface="Times New Roman"/>
                          <a:cs typeface="Times New Roman"/>
                        </a:rPr>
                        <a:t> </a:t>
                      </a:r>
                      <a:r>
                        <a:rPr dirty="0" sz="1500" b="1">
                          <a:solidFill>
                            <a:srgbClr val="40458B"/>
                          </a:solidFill>
                          <a:latin typeface="Times New Roman"/>
                          <a:cs typeface="Times New Roman"/>
                        </a:rPr>
                        <a:t>F6</a:t>
                      </a:r>
                      <a:r>
                        <a:rPr dirty="0" sz="1500" b="1">
                          <a:solidFill>
                            <a:srgbClr val="40458B"/>
                          </a:solidFill>
                          <a:latin typeface="宋体"/>
                          <a:cs typeface="宋体"/>
                        </a:rPr>
                        <a:t>，</a:t>
                      </a:r>
                      <a:r>
                        <a:rPr dirty="0" sz="1500" b="1">
                          <a:solidFill>
                            <a:srgbClr val="40458B"/>
                          </a:solidFill>
                          <a:latin typeface="Times New Roman"/>
                          <a:cs typeface="Times New Roman"/>
                        </a:rPr>
                        <a:t>-</a:t>
                      </a:r>
                      <a:r>
                        <a:rPr dirty="0" sz="1500" spc="-20" b="1">
                          <a:solidFill>
                            <a:srgbClr val="40458B"/>
                          </a:solidFill>
                          <a:latin typeface="Times New Roman"/>
                          <a:cs typeface="Times New Roman"/>
                        </a:rPr>
                        <a:t>8</a:t>
                      </a:r>
                      <a:r>
                        <a:rPr dirty="0" sz="1500" spc="-20" b="1">
                          <a:solidFill>
                            <a:srgbClr val="40458B"/>
                          </a:solidFill>
                          <a:latin typeface="宋体"/>
                          <a:cs typeface="宋体"/>
                        </a:rPr>
                        <a:t>（</a:t>
                      </a:r>
                      <a:r>
                        <a:rPr dirty="0" sz="1500" spc="-20" b="1">
                          <a:solidFill>
                            <a:srgbClr val="40458B"/>
                          </a:solidFill>
                          <a:latin typeface="Times New Roman"/>
                          <a:cs typeface="Times New Roman"/>
                        </a:rPr>
                        <a:t>R1</a:t>
                      </a:r>
                      <a:r>
                        <a:rPr dirty="0" sz="1500" spc="-20" b="1">
                          <a:solidFill>
                            <a:srgbClr val="40458B"/>
                          </a:solidFill>
                          <a:latin typeface="宋体"/>
                          <a:cs typeface="宋体"/>
                        </a:rPr>
                        <a:t>）</a:t>
                      </a:r>
                      <a:endParaRPr sz="1500">
                        <a:latin typeface="宋体"/>
                        <a:cs typeface="宋体"/>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15"/>
                        </a:spcBef>
                      </a:pPr>
                      <a:r>
                        <a:rPr dirty="0" sz="1500" spc="-25" b="1">
                          <a:solidFill>
                            <a:srgbClr val="40458B"/>
                          </a:solidFill>
                          <a:latin typeface="Times New Roman"/>
                          <a:cs typeface="Times New Roman"/>
                        </a:rPr>
                        <a:t>nop</a:t>
                      </a:r>
                      <a:endParaRPr sz="15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15"/>
                        </a:spcBef>
                      </a:pPr>
                      <a:r>
                        <a:rPr dirty="0" sz="1500" spc="-50" b="1">
                          <a:solidFill>
                            <a:srgbClr val="40458B"/>
                          </a:solidFill>
                          <a:latin typeface="Times New Roman"/>
                          <a:cs typeface="Times New Roman"/>
                        </a:rPr>
                        <a:t>1</a:t>
                      </a:r>
                      <a:endParaRPr sz="15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548640">
                <a:tc>
                  <a:txBody>
                    <a:bodyPr/>
                    <a:lstStyle/>
                    <a:p>
                      <a:pPr marL="91440">
                        <a:lnSpc>
                          <a:spcPct val="100000"/>
                        </a:lnSpc>
                        <a:spcBef>
                          <a:spcPts val="325"/>
                        </a:spcBef>
                      </a:pPr>
                      <a:r>
                        <a:rPr dirty="0" sz="1500" b="1">
                          <a:solidFill>
                            <a:srgbClr val="008000"/>
                          </a:solidFill>
                          <a:latin typeface="Times New Roman"/>
                          <a:cs typeface="Times New Roman"/>
                        </a:rPr>
                        <a:t>9</a:t>
                      </a:r>
                      <a:r>
                        <a:rPr dirty="0" sz="1500" b="1">
                          <a:solidFill>
                            <a:srgbClr val="008000"/>
                          </a:solidFill>
                          <a:latin typeface="宋体"/>
                          <a:cs typeface="宋体"/>
                        </a:rPr>
                        <a:t>：</a:t>
                      </a:r>
                      <a:r>
                        <a:rPr dirty="0" sz="1500" b="1">
                          <a:solidFill>
                            <a:srgbClr val="008000"/>
                          </a:solidFill>
                          <a:latin typeface="Times New Roman"/>
                          <a:cs typeface="Times New Roman"/>
                        </a:rPr>
                        <a:t>M</a:t>
                      </a:r>
                      <a:r>
                        <a:rPr dirty="0" sz="1500" spc="-40" b="1">
                          <a:solidFill>
                            <a:srgbClr val="008000"/>
                          </a:solidFill>
                          <a:latin typeface="Times New Roman"/>
                          <a:cs typeface="Times New Roman"/>
                        </a:rPr>
                        <a:t> </a:t>
                      </a:r>
                      <a:r>
                        <a:rPr dirty="0" sz="1500" b="1">
                          <a:solidFill>
                            <a:srgbClr val="008000"/>
                          </a:solidFill>
                          <a:latin typeface="Times New Roman"/>
                          <a:cs typeface="Times New Roman"/>
                        </a:rPr>
                        <a:t>M</a:t>
                      </a:r>
                      <a:r>
                        <a:rPr dirty="0" sz="1500" spc="-5" b="1">
                          <a:solidFill>
                            <a:srgbClr val="008000"/>
                          </a:solidFill>
                          <a:latin typeface="Times New Roman"/>
                          <a:cs typeface="Times New Roman"/>
                        </a:rPr>
                        <a:t> </a:t>
                      </a:r>
                      <a:r>
                        <a:rPr dirty="0" sz="1500" spc="-50" b="1">
                          <a:solidFill>
                            <a:srgbClr val="008000"/>
                          </a:solidFill>
                          <a:latin typeface="Times New Roman"/>
                          <a:cs typeface="Times New Roman"/>
                        </a:rPr>
                        <a:t>I</a:t>
                      </a:r>
                      <a:endParaRPr sz="1500">
                        <a:latin typeface="Times New Roman"/>
                        <a:cs typeface="Times New Roman"/>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5"/>
                        </a:spcBef>
                      </a:pPr>
                      <a:r>
                        <a:rPr dirty="0" sz="1500" b="1">
                          <a:solidFill>
                            <a:srgbClr val="40458B"/>
                          </a:solidFill>
                          <a:latin typeface="Times New Roman"/>
                          <a:cs typeface="Times New Roman"/>
                        </a:rPr>
                        <a:t>L.D</a:t>
                      </a:r>
                      <a:r>
                        <a:rPr dirty="0" sz="1500" spc="-35" b="1">
                          <a:solidFill>
                            <a:srgbClr val="40458B"/>
                          </a:solidFill>
                          <a:latin typeface="Times New Roman"/>
                          <a:cs typeface="Times New Roman"/>
                        </a:rPr>
                        <a:t> </a:t>
                      </a:r>
                      <a:r>
                        <a:rPr dirty="0" sz="1500" b="1">
                          <a:solidFill>
                            <a:srgbClr val="40458B"/>
                          </a:solidFill>
                          <a:latin typeface="Times New Roman"/>
                          <a:cs typeface="Times New Roman"/>
                        </a:rPr>
                        <a:t>F10</a:t>
                      </a:r>
                      <a:r>
                        <a:rPr dirty="0" sz="1500" b="1">
                          <a:solidFill>
                            <a:srgbClr val="40458B"/>
                          </a:solidFill>
                          <a:latin typeface="宋体"/>
                          <a:cs typeface="宋体"/>
                        </a:rPr>
                        <a:t>，</a:t>
                      </a:r>
                      <a:r>
                        <a:rPr dirty="0" sz="1500" b="1">
                          <a:solidFill>
                            <a:srgbClr val="40458B"/>
                          </a:solidFill>
                          <a:latin typeface="Times New Roman"/>
                          <a:cs typeface="Times New Roman"/>
                        </a:rPr>
                        <a:t>-</a:t>
                      </a:r>
                      <a:r>
                        <a:rPr dirty="0" sz="1500" spc="-10" b="1">
                          <a:solidFill>
                            <a:srgbClr val="40458B"/>
                          </a:solidFill>
                          <a:latin typeface="Times New Roman"/>
                          <a:cs typeface="Times New Roman"/>
                        </a:rPr>
                        <a:t>16</a:t>
                      </a:r>
                      <a:r>
                        <a:rPr dirty="0" sz="1500" spc="-10" b="1">
                          <a:solidFill>
                            <a:srgbClr val="40458B"/>
                          </a:solidFill>
                          <a:latin typeface="宋体"/>
                          <a:cs typeface="宋体"/>
                        </a:rPr>
                        <a:t>（</a:t>
                      </a:r>
                      <a:r>
                        <a:rPr dirty="0" sz="1500" spc="-10" b="1">
                          <a:solidFill>
                            <a:srgbClr val="40458B"/>
                          </a:solidFill>
                          <a:latin typeface="Times New Roman"/>
                          <a:cs typeface="Times New Roman"/>
                        </a:rPr>
                        <a:t>R1</a:t>
                      </a:r>
                      <a:endParaRPr sz="1500">
                        <a:latin typeface="Times New Roman"/>
                        <a:cs typeface="Times New Roman"/>
                      </a:endParaRPr>
                    </a:p>
                    <a:p>
                      <a:pPr marL="91440">
                        <a:lnSpc>
                          <a:spcPct val="100000"/>
                        </a:lnSpc>
                        <a:spcBef>
                          <a:spcPts val="40"/>
                        </a:spcBef>
                      </a:pPr>
                      <a:r>
                        <a:rPr dirty="0" sz="1500" spc="-50" b="1">
                          <a:solidFill>
                            <a:srgbClr val="40458B"/>
                          </a:solidFill>
                          <a:latin typeface="宋体"/>
                          <a:cs typeface="宋体"/>
                        </a:rPr>
                        <a:t>）</a:t>
                      </a:r>
                      <a:endParaRPr sz="1500">
                        <a:latin typeface="宋体"/>
                        <a:cs typeface="宋体"/>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5"/>
                        </a:spcBef>
                      </a:pPr>
                      <a:r>
                        <a:rPr dirty="0" sz="1500" b="1">
                          <a:solidFill>
                            <a:srgbClr val="40458B"/>
                          </a:solidFill>
                          <a:latin typeface="Times New Roman"/>
                          <a:cs typeface="Times New Roman"/>
                        </a:rPr>
                        <a:t>L.D</a:t>
                      </a:r>
                      <a:r>
                        <a:rPr dirty="0" sz="1500" spc="-30" b="1">
                          <a:solidFill>
                            <a:srgbClr val="40458B"/>
                          </a:solidFill>
                          <a:latin typeface="Times New Roman"/>
                          <a:cs typeface="Times New Roman"/>
                        </a:rPr>
                        <a:t> </a:t>
                      </a:r>
                      <a:r>
                        <a:rPr dirty="0" sz="1500" b="1">
                          <a:solidFill>
                            <a:srgbClr val="40458B"/>
                          </a:solidFill>
                          <a:latin typeface="Times New Roman"/>
                          <a:cs typeface="Times New Roman"/>
                        </a:rPr>
                        <a:t>F14</a:t>
                      </a:r>
                      <a:r>
                        <a:rPr dirty="0" sz="1500" b="1">
                          <a:solidFill>
                            <a:srgbClr val="40458B"/>
                          </a:solidFill>
                          <a:latin typeface="宋体"/>
                          <a:cs typeface="宋体"/>
                        </a:rPr>
                        <a:t>，</a:t>
                      </a:r>
                      <a:r>
                        <a:rPr dirty="0" sz="1500" b="1">
                          <a:solidFill>
                            <a:srgbClr val="40458B"/>
                          </a:solidFill>
                          <a:latin typeface="Times New Roman"/>
                          <a:cs typeface="Times New Roman"/>
                        </a:rPr>
                        <a:t>-</a:t>
                      </a:r>
                      <a:r>
                        <a:rPr dirty="0" sz="1500" spc="-10" b="1">
                          <a:solidFill>
                            <a:srgbClr val="40458B"/>
                          </a:solidFill>
                          <a:latin typeface="Times New Roman"/>
                          <a:cs typeface="Times New Roman"/>
                        </a:rPr>
                        <a:t>24</a:t>
                      </a:r>
                      <a:r>
                        <a:rPr dirty="0" sz="1500" spc="-10" b="1">
                          <a:solidFill>
                            <a:srgbClr val="40458B"/>
                          </a:solidFill>
                          <a:latin typeface="宋体"/>
                          <a:cs typeface="宋体"/>
                        </a:rPr>
                        <a:t>（</a:t>
                      </a:r>
                      <a:r>
                        <a:rPr dirty="0" sz="1500" spc="-10" b="1">
                          <a:solidFill>
                            <a:srgbClr val="40458B"/>
                          </a:solidFill>
                          <a:latin typeface="Times New Roman"/>
                          <a:cs typeface="Times New Roman"/>
                        </a:rPr>
                        <a:t>R1</a:t>
                      </a:r>
                      <a:r>
                        <a:rPr dirty="0" sz="1500" spc="-10" b="1">
                          <a:solidFill>
                            <a:srgbClr val="40458B"/>
                          </a:solidFill>
                          <a:latin typeface="宋体"/>
                          <a:cs typeface="宋体"/>
                        </a:rPr>
                        <a:t>）</a:t>
                      </a:r>
                      <a:endParaRPr sz="1500">
                        <a:latin typeface="宋体"/>
                        <a:cs typeface="宋体"/>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15"/>
                        </a:spcBef>
                        <a:tabLst>
                          <a:tab pos="1256030" algn="l"/>
                        </a:tabLst>
                      </a:pPr>
                      <a:r>
                        <a:rPr dirty="0" sz="1500" spc="-25" b="1">
                          <a:solidFill>
                            <a:srgbClr val="40458B"/>
                          </a:solidFill>
                          <a:latin typeface="Times New Roman"/>
                          <a:cs typeface="Times New Roman"/>
                        </a:rPr>
                        <a:t>nop</a:t>
                      </a:r>
                      <a:r>
                        <a:rPr dirty="0" sz="1500" b="1">
                          <a:solidFill>
                            <a:srgbClr val="40458B"/>
                          </a:solidFill>
                          <a:latin typeface="Times New Roman"/>
                          <a:cs typeface="Times New Roman"/>
                        </a:rPr>
                        <a:t>	</a:t>
                      </a:r>
                      <a:r>
                        <a:rPr dirty="0" sz="1500" spc="-25" b="1">
                          <a:solidFill>
                            <a:srgbClr val="40458B"/>
                          </a:solidFill>
                          <a:latin typeface="Times New Roman"/>
                          <a:cs typeface="Times New Roman"/>
                        </a:rPr>
                        <a:t>(s)</a:t>
                      </a:r>
                      <a:endParaRPr sz="15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15"/>
                        </a:spcBef>
                      </a:pPr>
                      <a:r>
                        <a:rPr dirty="0" sz="1500" spc="-50" b="1">
                          <a:solidFill>
                            <a:srgbClr val="40458B"/>
                          </a:solidFill>
                          <a:latin typeface="Times New Roman"/>
                          <a:cs typeface="Times New Roman"/>
                        </a:rPr>
                        <a:t>2</a:t>
                      </a:r>
                      <a:endParaRPr sz="1500">
                        <a:latin typeface="Times New Roman"/>
                        <a:cs typeface="Times New Roman"/>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548005">
                <a:tc>
                  <a:txBody>
                    <a:bodyPr/>
                    <a:lstStyle/>
                    <a:p>
                      <a:pPr marL="91440">
                        <a:lnSpc>
                          <a:spcPct val="100000"/>
                        </a:lnSpc>
                        <a:spcBef>
                          <a:spcPts val="330"/>
                        </a:spcBef>
                      </a:pPr>
                      <a:r>
                        <a:rPr dirty="0" sz="1500" b="1">
                          <a:solidFill>
                            <a:srgbClr val="008000"/>
                          </a:solidFill>
                          <a:latin typeface="Times New Roman"/>
                          <a:cs typeface="Times New Roman"/>
                        </a:rPr>
                        <a:t>14</a:t>
                      </a:r>
                      <a:r>
                        <a:rPr dirty="0" sz="1500" b="1">
                          <a:solidFill>
                            <a:srgbClr val="008000"/>
                          </a:solidFill>
                          <a:latin typeface="宋体"/>
                          <a:cs typeface="宋体"/>
                        </a:rPr>
                        <a:t>：</a:t>
                      </a:r>
                      <a:r>
                        <a:rPr dirty="0" sz="1500" b="1">
                          <a:solidFill>
                            <a:srgbClr val="008000"/>
                          </a:solidFill>
                          <a:latin typeface="Times New Roman"/>
                          <a:cs typeface="Times New Roman"/>
                        </a:rPr>
                        <a:t>M</a:t>
                      </a:r>
                      <a:r>
                        <a:rPr dirty="0" sz="1500" spc="-25" b="1">
                          <a:solidFill>
                            <a:srgbClr val="008000"/>
                          </a:solidFill>
                          <a:latin typeface="Times New Roman"/>
                          <a:cs typeface="Times New Roman"/>
                        </a:rPr>
                        <a:t> </a:t>
                      </a:r>
                      <a:r>
                        <a:rPr dirty="0" sz="1500" b="1">
                          <a:solidFill>
                            <a:srgbClr val="008000"/>
                          </a:solidFill>
                          <a:latin typeface="Times New Roman"/>
                          <a:cs typeface="Times New Roman"/>
                        </a:rPr>
                        <a:t>M</a:t>
                      </a:r>
                      <a:r>
                        <a:rPr dirty="0" sz="1500" spc="15" b="1">
                          <a:solidFill>
                            <a:srgbClr val="008000"/>
                          </a:solidFill>
                          <a:latin typeface="Times New Roman"/>
                          <a:cs typeface="Times New Roman"/>
                        </a:rPr>
                        <a:t> </a:t>
                      </a:r>
                      <a:r>
                        <a:rPr dirty="0" sz="1500" spc="-50" b="1">
                          <a:solidFill>
                            <a:srgbClr val="008000"/>
                          </a:solidFill>
                          <a:latin typeface="Times New Roman"/>
                          <a:cs typeface="Times New Roman"/>
                        </a:rPr>
                        <a:t>F</a:t>
                      </a:r>
                      <a:endParaRPr sz="15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30"/>
                        </a:spcBef>
                      </a:pPr>
                      <a:r>
                        <a:rPr dirty="0" sz="1500" b="1">
                          <a:solidFill>
                            <a:srgbClr val="40458B"/>
                          </a:solidFill>
                          <a:latin typeface="Times New Roman"/>
                          <a:cs typeface="Times New Roman"/>
                        </a:rPr>
                        <a:t>L.D</a:t>
                      </a:r>
                      <a:r>
                        <a:rPr dirty="0" sz="1500" spc="-20" b="1">
                          <a:solidFill>
                            <a:srgbClr val="40458B"/>
                          </a:solidFill>
                          <a:latin typeface="Times New Roman"/>
                          <a:cs typeface="Times New Roman"/>
                        </a:rPr>
                        <a:t> </a:t>
                      </a:r>
                      <a:r>
                        <a:rPr dirty="0" sz="1500" b="1">
                          <a:solidFill>
                            <a:srgbClr val="40458B"/>
                          </a:solidFill>
                          <a:latin typeface="Times New Roman"/>
                          <a:cs typeface="Times New Roman"/>
                        </a:rPr>
                        <a:t>F18</a:t>
                      </a:r>
                      <a:r>
                        <a:rPr dirty="0" sz="1500" b="1">
                          <a:solidFill>
                            <a:srgbClr val="40458B"/>
                          </a:solidFill>
                          <a:latin typeface="宋体"/>
                          <a:cs typeface="宋体"/>
                        </a:rPr>
                        <a:t>，</a:t>
                      </a:r>
                      <a:r>
                        <a:rPr dirty="0" sz="1500" b="1">
                          <a:solidFill>
                            <a:srgbClr val="40458B"/>
                          </a:solidFill>
                          <a:latin typeface="Times New Roman"/>
                          <a:cs typeface="Times New Roman"/>
                        </a:rPr>
                        <a:t>-</a:t>
                      </a:r>
                      <a:r>
                        <a:rPr dirty="0" sz="1500" spc="-10" b="1">
                          <a:solidFill>
                            <a:srgbClr val="40458B"/>
                          </a:solidFill>
                          <a:latin typeface="Times New Roman"/>
                          <a:cs typeface="Times New Roman"/>
                        </a:rPr>
                        <a:t>32</a:t>
                      </a:r>
                      <a:r>
                        <a:rPr dirty="0" sz="1500" spc="-10" b="1">
                          <a:solidFill>
                            <a:srgbClr val="40458B"/>
                          </a:solidFill>
                          <a:latin typeface="宋体"/>
                          <a:cs typeface="宋体"/>
                        </a:rPr>
                        <a:t>（</a:t>
                      </a:r>
                      <a:r>
                        <a:rPr dirty="0" sz="1500" spc="-10" b="1">
                          <a:solidFill>
                            <a:srgbClr val="40458B"/>
                          </a:solidFill>
                          <a:latin typeface="Times New Roman"/>
                          <a:cs typeface="Times New Roman"/>
                        </a:rPr>
                        <a:t>R1</a:t>
                      </a:r>
                      <a:endParaRPr sz="1500">
                        <a:latin typeface="Times New Roman"/>
                        <a:cs typeface="Times New Roman"/>
                      </a:endParaRPr>
                    </a:p>
                    <a:p>
                      <a:pPr marL="91440">
                        <a:lnSpc>
                          <a:spcPct val="100000"/>
                        </a:lnSpc>
                        <a:spcBef>
                          <a:spcPts val="35"/>
                        </a:spcBef>
                      </a:pPr>
                      <a:r>
                        <a:rPr dirty="0" sz="1500" spc="-50" b="1">
                          <a:solidFill>
                            <a:srgbClr val="40458B"/>
                          </a:solidFill>
                          <a:latin typeface="宋体"/>
                          <a:cs typeface="宋体"/>
                        </a:rPr>
                        <a:t>）</a:t>
                      </a:r>
                      <a:endParaRPr sz="1500">
                        <a:latin typeface="宋体"/>
                        <a:cs typeface="宋体"/>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30"/>
                        </a:spcBef>
                      </a:pPr>
                      <a:r>
                        <a:rPr dirty="0" sz="1500" b="1">
                          <a:solidFill>
                            <a:srgbClr val="40458B"/>
                          </a:solidFill>
                          <a:latin typeface="Times New Roman"/>
                          <a:cs typeface="Times New Roman"/>
                        </a:rPr>
                        <a:t>L.D</a:t>
                      </a:r>
                      <a:r>
                        <a:rPr dirty="0" sz="1500" spc="-15" b="1">
                          <a:solidFill>
                            <a:srgbClr val="40458B"/>
                          </a:solidFill>
                          <a:latin typeface="Times New Roman"/>
                          <a:cs typeface="Times New Roman"/>
                        </a:rPr>
                        <a:t> </a:t>
                      </a:r>
                      <a:r>
                        <a:rPr dirty="0" sz="1500" b="1">
                          <a:solidFill>
                            <a:srgbClr val="40458B"/>
                          </a:solidFill>
                          <a:latin typeface="Times New Roman"/>
                          <a:cs typeface="Times New Roman"/>
                        </a:rPr>
                        <a:t>F22</a:t>
                      </a:r>
                      <a:r>
                        <a:rPr dirty="0" sz="1500" b="1">
                          <a:solidFill>
                            <a:srgbClr val="40458B"/>
                          </a:solidFill>
                          <a:latin typeface="宋体"/>
                          <a:cs typeface="宋体"/>
                        </a:rPr>
                        <a:t>，</a:t>
                      </a:r>
                      <a:r>
                        <a:rPr dirty="0" sz="1500" b="1">
                          <a:solidFill>
                            <a:srgbClr val="40458B"/>
                          </a:solidFill>
                          <a:latin typeface="Times New Roman"/>
                          <a:cs typeface="Times New Roman"/>
                        </a:rPr>
                        <a:t>-</a:t>
                      </a:r>
                      <a:r>
                        <a:rPr dirty="0" sz="1500" spc="-10" b="1">
                          <a:solidFill>
                            <a:srgbClr val="40458B"/>
                          </a:solidFill>
                          <a:latin typeface="Times New Roman"/>
                          <a:cs typeface="Times New Roman"/>
                        </a:rPr>
                        <a:t>40</a:t>
                      </a:r>
                      <a:r>
                        <a:rPr dirty="0" sz="1500" spc="-10" b="1">
                          <a:solidFill>
                            <a:srgbClr val="40458B"/>
                          </a:solidFill>
                          <a:latin typeface="宋体"/>
                          <a:cs typeface="宋体"/>
                        </a:rPr>
                        <a:t>（</a:t>
                      </a:r>
                      <a:r>
                        <a:rPr dirty="0" sz="1500" spc="-10" b="1">
                          <a:solidFill>
                            <a:srgbClr val="40458B"/>
                          </a:solidFill>
                          <a:latin typeface="Times New Roman"/>
                          <a:cs typeface="Times New Roman"/>
                        </a:rPr>
                        <a:t>R1</a:t>
                      </a:r>
                      <a:r>
                        <a:rPr dirty="0" sz="1500" spc="-10" b="1">
                          <a:solidFill>
                            <a:srgbClr val="40458B"/>
                          </a:solidFill>
                          <a:latin typeface="宋体"/>
                          <a:cs typeface="宋体"/>
                        </a:rPr>
                        <a:t>）</a:t>
                      </a:r>
                      <a:endParaRPr sz="1500">
                        <a:latin typeface="宋体"/>
                        <a:cs typeface="宋体"/>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30"/>
                        </a:spcBef>
                      </a:pPr>
                      <a:r>
                        <a:rPr dirty="0" sz="1500" b="1">
                          <a:solidFill>
                            <a:srgbClr val="40458B"/>
                          </a:solidFill>
                          <a:latin typeface="Times New Roman"/>
                          <a:cs typeface="Times New Roman"/>
                        </a:rPr>
                        <a:t>ADD.D</a:t>
                      </a:r>
                      <a:r>
                        <a:rPr dirty="0" sz="1500" spc="-50" b="1">
                          <a:solidFill>
                            <a:srgbClr val="40458B"/>
                          </a:solidFill>
                          <a:latin typeface="Times New Roman"/>
                          <a:cs typeface="Times New Roman"/>
                        </a:rPr>
                        <a:t> </a:t>
                      </a:r>
                      <a:r>
                        <a:rPr dirty="0" sz="1500" spc="-10" b="1">
                          <a:solidFill>
                            <a:srgbClr val="40458B"/>
                          </a:solidFill>
                          <a:latin typeface="Times New Roman"/>
                          <a:cs typeface="Times New Roman"/>
                        </a:rPr>
                        <a:t>F4</a:t>
                      </a:r>
                      <a:r>
                        <a:rPr dirty="0" sz="1500" spc="-10" b="1">
                          <a:solidFill>
                            <a:srgbClr val="40458B"/>
                          </a:solidFill>
                          <a:latin typeface="宋体"/>
                          <a:cs typeface="宋体"/>
                        </a:rPr>
                        <a:t>，</a:t>
                      </a:r>
                      <a:r>
                        <a:rPr dirty="0" sz="1500" spc="-10" b="1">
                          <a:solidFill>
                            <a:srgbClr val="40458B"/>
                          </a:solidFill>
                          <a:latin typeface="Times New Roman"/>
                          <a:cs typeface="Times New Roman"/>
                        </a:rPr>
                        <a:t>F0</a:t>
                      </a:r>
                      <a:r>
                        <a:rPr dirty="0" sz="1500" spc="-10" b="1">
                          <a:solidFill>
                            <a:srgbClr val="40458B"/>
                          </a:solidFill>
                          <a:latin typeface="宋体"/>
                          <a:cs typeface="宋体"/>
                        </a:rPr>
                        <a:t>，</a:t>
                      </a:r>
                      <a:r>
                        <a:rPr dirty="0" sz="1500" spc="-10" b="1">
                          <a:solidFill>
                            <a:srgbClr val="40458B"/>
                          </a:solidFill>
                          <a:latin typeface="Times New Roman"/>
                          <a:cs typeface="Times New Roman"/>
                        </a:rPr>
                        <a:t>F2</a:t>
                      </a:r>
                      <a:endParaRPr sz="15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dirty="0" sz="1500" spc="-50" b="1">
                          <a:solidFill>
                            <a:srgbClr val="40458B"/>
                          </a:solidFill>
                          <a:latin typeface="Times New Roman"/>
                          <a:cs typeface="Times New Roman"/>
                        </a:rPr>
                        <a:t>3</a:t>
                      </a:r>
                      <a:endParaRPr sz="15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548640">
                <a:tc>
                  <a:txBody>
                    <a:bodyPr/>
                    <a:lstStyle/>
                    <a:p>
                      <a:pPr marL="91440">
                        <a:lnSpc>
                          <a:spcPct val="100000"/>
                        </a:lnSpc>
                        <a:spcBef>
                          <a:spcPts val="330"/>
                        </a:spcBef>
                      </a:pPr>
                      <a:r>
                        <a:rPr dirty="0" sz="1500" b="1">
                          <a:solidFill>
                            <a:srgbClr val="008000"/>
                          </a:solidFill>
                          <a:latin typeface="Times New Roman"/>
                          <a:cs typeface="Times New Roman"/>
                        </a:rPr>
                        <a:t>14</a:t>
                      </a:r>
                      <a:r>
                        <a:rPr dirty="0" sz="1500" b="1">
                          <a:solidFill>
                            <a:srgbClr val="008000"/>
                          </a:solidFill>
                          <a:latin typeface="宋体"/>
                          <a:cs typeface="宋体"/>
                        </a:rPr>
                        <a:t>：</a:t>
                      </a:r>
                      <a:r>
                        <a:rPr dirty="0" sz="1500" b="1">
                          <a:solidFill>
                            <a:srgbClr val="008000"/>
                          </a:solidFill>
                          <a:latin typeface="Times New Roman"/>
                          <a:cs typeface="Times New Roman"/>
                        </a:rPr>
                        <a:t>M</a:t>
                      </a:r>
                      <a:r>
                        <a:rPr dirty="0" sz="1500" spc="-25" b="1">
                          <a:solidFill>
                            <a:srgbClr val="008000"/>
                          </a:solidFill>
                          <a:latin typeface="Times New Roman"/>
                          <a:cs typeface="Times New Roman"/>
                        </a:rPr>
                        <a:t> </a:t>
                      </a:r>
                      <a:r>
                        <a:rPr dirty="0" sz="1500" b="1">
                          <a:solidFill>
                            <a:srgbClr val="008000"/>
                          </a:solidFill>
                          <a:latin typeface="Times New Roman"/>
                          <a:cs typeface="Times New Roman"/>
                        </a:rPr>
                        <a:t>M</a:t>
                      </a:r>
                      <a:r>
                        <a:rPr dirty="0" sz="1500" spc="15" b="1">
                          <a:solidFill>
                            <a:srgbClr val="008000"/>
                          </a:solidFill>
                          <a:latin typeface="Times New Roman"/>
                          <a:cs typeface="Times New Roman"/>
                        </a:rPr>
                        <a:t> </a:t>
                      </a:r>
                      <a:r>
                        <a:rPr dirty="0" sz="1500" spc="-50" b="1">
                          <a:solidFill>
                            <a:srgbClr val="008000"/>
                          </a:solidFill>
                          <a:latin typeface="Times New Roman"/>
                          <a:cs typeface="Times New Roman"/>
                        </a:rPr>
                        <a:t>F</a:t>
                      </a:r>
                      <a:endParaRPr sz="15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30"/>
                        </a:spcBef>
                      </a:pPr>
                      <a:r>
                        <a:rPr dirty="0" sz="1500" b="1">
                          <a:solidFill>
                            <a:srgbClr val="40458B"/>
                          </a:solidFill>
                          <a:latin typeface="Times New Roman"/>
                          <a:cs typeface="Times New Roman"/>
                        </a:rPr>
                        <a:t>L.D</a:t>
                      </a:r>
                      <a:r>
                        <a:rPr dirty="0" sz="1500" spc="-20" b="1">
                          <a:solidFill>
                            <a:srgbClr val="40458B"/>
                          </a:solidFill>
                          <a:latin typeface="Times New Roman"/>
                          <a:cs typeface="Times New Roman"/>
                        </a:rPr>
                        <a:t> </a:t>
                      </a:r>
                      <a:r>
                        <a:rPr dirty="0" sz="1500" b="1">
                          <a:solidFill>
                            <a:srgbClr val="40458B"/>
                          </a:solidFill>
                          <a:latin typeface="Times New Roman"/>
                          <a:cs typeface="Times New Roman"/>
                        </a:rPr>
                        <a:t>F26</a:t>
                      </a:r>
                      <a:r>
                        <a:rPr dirty="0" sz="1500" b="1">
                          <a:solidFill>
                            <a:srgbClr val="40458B"/>
                          </a:solidFill>
                          <a:latin typeface="宋体"/>
                          <a:cs typeface="宋体"/>
                        </a:rPr>
                        <a:t>，</a:t>
                      </a:r>
                      <a:r>
                        <a:rPr dirty="0" sz="1500" b="1">
                          <a:solidFill>
                            <a:srgbClr val="40458B"/>
                          </a:solidFill>
                          <a:latin typeface="Times New Roman"/>
                          <a:cs typeface="Times New Roman"/>
                        </a:rPr>
                        <a:t>-</a:t>
                      </a:r>
                      <a:r>
                        <a:rPr dirty="0" sz="1500" spc="-10" b="1">
                          <a:solidFill>
                            <a:srgbClr val="40458B"/>
                          </a:solidFill>
                          <a:latin typeface="Times New Roman"/>
                          <a:cs typeface="Times New Roman"/>
                        </a:rPr>
                        <a:t>48</a:t>
                      </a:r>
                      <a:r>
                        <a:rPr dirty="0" sz="1500" spc="-10" b="1">
                          <a:solidFill>
                            <a:srgbClr val="40458B"/>
                          </a:solidFill>
                          <a:latin typeface="宋体"/>
                          <a:cs typeface="宋体"/>
                        </a:rPr>
                        <a:t>（</a:t>
                      </a:r>
                      <a:r>
                        <a:rPr dirty="0" sz="1500" spc="-10" b="1">
                          <a:solidFill>
                            <a:srgbClr val="40458B"/>
                          </a:solidFill>
                          <a:latin typeface="Times New Roman"/>
                          <a:cs typeface="Times New Roman"/>
                        </a:rPr>
                        <a:t>R1</a:t>
                      </a:r>
                      <a:endParaRPr sz="1500">
                        <a:latin typeface="Times New Roman"/>
                        <a:cs typeface="Times New Roman"/>
                      </a:endParaRPr>
                    </a:p>
                    <a:p>
                      <a:pPr marL="91440">
                        <a:lnSpc>
                          <a:spcPct val="100000"/>
                        </a:lnSpc>
                        <a:spcBef>
                          <a:spcPts val="35"/>
                        </a:spcBef>
                      </a:pPr>
                      <a:r>
                        <a:rPr dirty="0" sz="1500" spc="-50" b="1">
                          <a:solidFill>
                            <a:srgbClr val="40458B"/>
                          </a:solidFill>
                          <a:latin typeface="宋体"/>
                          <a:cs typeface="宋体"/>
                        </a:rPr>
                        <a:t>）</a:t>
                      </a:r>
                      <a:endParaRPr sz="1500">
                        <a:latin typeface="宋体"/>
                        <a:cs typeface="宋体"/>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0"/>
                        </a:spcBef>
                      </a:pPr>
                      <a:r>
                        <a:rPr dirty="0" sz="1500" spc="-25" b="1">
                          <a:solidFill>
                            <a:srgbClr val="40458B"/>
                          </a:solidFill>
                          <a:latin typeface="Times New Roman"/>
                          <a:cs typeface="Times New Roman"/>
                        </a:rPr>
                        <a:t>nop</a:t>
                      </a:r>
                      <a:endParaRPr sz="15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30"/>
                        </a:spcBef>
                      </a:pPr>
                      <a:r>
                        <a:rPr dirty="0" sz="1500" b="1">
                          <a:solidFill>
                            <a:srgbClr val="40458B"/>
                          </a:solidFill>
                          <a:latin typeface="Times New Roman"/>
                          <a:cs typeface="Times New Roman"/>
                        </a:rPr>
                        <a:t>ADD.D</a:t>
                      </a:r>
                      <a:r>
                        <a:rPr dirty="0" sz="1500" spc="-50" b="1">
                          <a:solidFill>
                            <a:srgbClr val="40458B"/>
                          </a:solidFill>
                          <a:latin typeface="Times New Roman"/>
                          <a:cs typeface="Times New Roman"/>
                        </a:rPr>
                        <a:t> </a:t>
                      </a:r>
                      <a:r>
                        <a:rPr dirty="0" sz="1500" spc="-10" b="1">
                          <a:solidFill>
                            <a:srgbClr val="40458B"/>
                          </a:solidFill>
                          <a:latin typeface="Times New Roman"/>
                          <a:cs typeface="Times New Roman"/>
                        </a:rPr>
                        <a:t>F8</a:t>
                      </a:r>
                      <a:r>
                        <a:rPr dirty="0" sz="1500" spc="-10" b="1">
                          <a:solidFill>
                            <a:srgbClr val="40458B"/>
                          </a:solidFill>
                          <a:latin typeface="宋体"/>
                          <a:cs typeface="宋体"/>
                        </a:rPr>
                        <a:t>，</a:t>
                      </a:r>
                      <a:r>
                        <a:rPr dirty="0" sz="1500" spc="-10" b="1">
                          <a:solidFill>
                            <a:srgbClr val="40458B"/>
                          </a:solidFill>
                          <a:latin typeface="Times New Roman"/>
                          <a:cs typeface="Times New Roman"/>
                        </a:rPr>
                        <a:t>F6</a:t>
                      </a:r>
                      <a:r>
                        <a:rPr dirty="0" sz="1500" spc="-10" b="1">
                          <a:solidFill>
                            <a:srgbClr val="40458B"/>
                          </a:solidFill>
                          <a:latin typeface="宋体"/>
                          <a:cs typeface="宋体"/>
                        </a:rPr>
                        <a:t>，</a:t>
                      </a:r>
                      <a:r>
                        <a:rPr dirty="0" sz="1500" spc="-10" b="1">
                          <a:solidFill>
                            <a:srgbClr val="40458B"/>
                          </a:solidFill>
                          <a:latin typeface="Times New Roman"/>
                          <a:cs typeface="Times New Roman"/>
                        </a:rPr>
                        <a:t>F2</a:t>
                      </a:r>
                      <a:endParaRPr sz="15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dirty="0" sz="1500" spc="-50" b="1">
                          <a:solidFill>
                            <a:srgbClr val="40458B"/>
                          </a:solidFill>
                          <a:latin typeface="Times New Roman"/>
                          <a:cs typeface="Times New Roman"/>
                        </a:rPr>
                        <a:t>4</a:t>
                      </a:r>
                      <a:endParaRPr sz="15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6550">
                <a:tc>
                  <a:txBody>
                    <a:bodyPr/>
                    <a:lstStyle/>
                    <a:p>
                      <a:pPr marL="91440">
                        <a:lnSpc>
                          <a:spcPct val="100000"/>
                        </a:lnSpc>
                        <a:spcBef>
                          <a:spcPts val="330"/>
                        </a:spcBef>
                      </a:pPr>
                      <a:r>
                        <a:rPr dirty="0" sz="1500" b="1">
                          <a:solidFill>
                            <a:srgbClr val="008000"/>
                          </a:solidFill>
                          <a:latin typeface="Times New Roman"/>
                          <a:cs typeface="Times New Roman"/>
                        </a:rPr>
                        <a:t>15</a:t>
                      </a:r>
                      <a:r>
                        <a:rPr dirty="0" sz="1500" b="1">
                          <a:solidFill>
                            <a:srgbClr val="008000"/>
                          </a:solidFill>
                          <a:latin typeface="宋体"/>
                          <a:cs typeface="宋体"/>
                        </a:rPr>
                        <a:t>：</a:t>
                      </a:r>
                      <a:r>
                        <a:rPr dirty="0" sz="1500" b="1">
                          <a:solidFill>
                            <a:srgbClr val="008000"/>
                          </a:solidFill>
                          <a:latin typeface="Times New Roman"/>
                          <a:cs typeface="Times New Roman"/>
                        </a:rPr>
                        <a:t>M</a:t>
                      </a:r>
                      <a:r>
                        <a:rPr dirty="0" sz="1500" spc="-25" b="1">
                          <a:solidFill>
                            <a:srgbClr val="008000"/>
                          </a:solidFill>
                          <a:latin typeface="Times New Roman"/>
                          <a:cs typeface="Times New Roman"/>
                        </a:rPr>
                        <a:t> </a:t>
                      </a:r>
                      <a:r>
                        <a:rPr dirty="0" sz="1500" b="1">
                          <a:solidFill>
                            <a:srgbClr val="008000"/>
                          </a:solidFill>
                          <a:latin typeface="Times New Roman"/>
                          <a:cs typeface="Times New Roman"/>
                        </a:rPr>
                        <a:t>M</a:t>
                      </a:r>
                      <a:r>
                        <a:rPr dirty="0" sz="1500" spc="15" b="1">
                          <a:solidFill>
                            <a:srgbClr val="008000"/>
                          </a:solidFill>
                          <a:latin typeface="Times New Roman"/>
                          <a:cs typeface="Times New Roman"/>
                        </a:rPr>
                        <a:t> </a:t>
                      </a:r>
                      <a:r>
                        <a:rPr dirty="0" sz="1500" spc="-50" b="1">
                          <a:solidFill>
                            <a:srgbClr val="008000"/>
                          </a:solidFill>
                          <a:latin typeface="Times New Roman"/>
                          <a:cs typeface="Times New Roman"/>
                        </a:rPr>
                        <a:t>F</a:t>
                      </a:r>
                      <a:endParaRPr sz="15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0"/>
                        </a:spcBef>
                      </a:pPr>
                      <a:r>
                        <a:rPr dirty="0" sz="1500" spc="-25" b="1">
                          <a:solidFill>
                            <a:srgbClr val="40458B"/>
                          </a:solidFill>
                          <a:latin typeface="Times New Roman"/>
                          <a:cs typeface="Times New Roman"/>
                        </a:rPr>
                        <a:t>nop</a:t>
                      </a:r>
                      <a:endParaRPr sz="15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0"/>
                        </a:spcBef>
                      </a:pPr>
                      <a:r>
                        <a:rPr dirty="0" sz="1500" spc="-25" b="1">
                          <a:solidFill>
                            <a:srgbClr val="40458B"/>
                          </a:solidFill>
                          <a:latin typeface="Times New Roman"/>
                          <a:cs typeface="Times New Roman"/>
                        </a:rPr>
                        <a:t>nop</a:t>
                      </a:r>
                      <a:endParaRPr sz="15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30"/>
                        </a:spcBef>
                      </a:pPr>
                      <a:r>
                        <a:rPr dirty="0" sz="1500" b="1">
                          <a:solidFill>
                            <a:srgbClr val="40458B"/>
                          </a:solidFill>
                          <a:latin typeface="Times New Roman"/>
                          <a:cs typeface="Times New Roman"/>
                        </a:rPr>
                        <a:t>ADD.D F12</a:t>
                      </a:r>
                      <a:r>
                        <a:rPr dirty="0" sz="1500" b="1">
                          <a:solidFill>
                            <a:srgbClr val="40458B"/>
                          </a:solidFill>
                          <a:latin typeface="宋体"/>
                          <a:cs typeface="宋体"/>
                        </a:rPr>
                        <a:t>，</a:t>
                      </a:r>
                      <a:r>
                        <a:rPr dirty="0" sz="1500" b="1">
                          <a:solidFill>
                            <a:srgbClr val="40458B"/>
                          </a:solidFill>
                          <a:latin typeface="Times New Roman"/>
                          <a:cs typeface="Times New Roman"/>
                        </a:rPr>
                        <a:t>F10</a:t>
                      </a:r>
                      <a:r>
                        <a:rPr dirty="0" sz="1500" b="1">
                          <a:solidFill>
                            <a:srgbClr val="40458B"/>
                          </a:solidFill>
                          <a:latin typeface="宋体"/>
                          <a:cs typeface="宋体"/>
                        </a:rPr>
                        <a:t>，</a:t>
                      </a:r>
                      <a:r>
                        <a:rPr dirty="0" sz="1500" b="1">
                          <a:solidFill>
                            <a:srgbClr val="40458B"/>
                          </a:solidFill>
                          <a:latin typeface="Times New Roman"/>
                          <a:cs typeface="Times New Roman"/>
                        </a:rPr>
                        <a:t>F2</a:t>
                      </a:r>
                      <a:r>
                        <a:rPr dirty="0" sz="1500" spc="300" b="1">
                          <a:solidFill>
                            <a:srgbClr val="40458B"/>
                          </a:solidFill>
                          <a:latin typeface="Times New Roman"/>
                          <a:cs typeface="Times New Roman"/>
                        </a:rPr>
                        <a:t> </a:t>
                      </a:r>
                      <a:r>
                        <a:rPr dirty="0" sz="1500" spc="-25" b="1">
                          <a:solidFill>
                            <a:srgbClr val="40458B"/>
                          </a:solidFill>
                          <a:latin typeface="Times New Roman"/>
                          <a:cs typeface="Times New Roman"/>
                        </a:rPr>
                        <a:t>(s)</a:t>
                      </a:r>
                      <a:endParaRPr sz="15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dirty="0" sz="1500" spc="-50" b="1">
                          <a:solidFill>
                            <a:srgbClr val="40458B"/>
                          </a:solidFill>
                          <a:latin typeface="Times New Roman"/>
                          <a:cs typeface="Times New Roman"/>
                        </a:rPr>
                        <a:t>5</a:t>
                      </a:r>
                      <a:endParaRPr sz="15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5915">
                <a:tc>
                  <a:txBody>
                    <a:bodyPr/>
                    <a:lstStyle/>
                    <a:p>
                      <a:pPr marL="91440">
                        <a:lnSpc>
                          <a:spcPct val="100000"/>
                        </a:lnSpc>
                        <a:spcBef>
                          <a:spcPts val="330"/>
                        </a:spcBef>
                      </a:pPr>
                      <a:r>
                        <a:rPr dirty="0" sz="1500" b="1">
                          <a:solidFill>
                            <a:srgbClr val="008000"/>
                          </a:solidFill>
                          <a:latin typeface="Times New Roman"/>
                          <a:cs typeface="Times New Roman"/>
                        </a:rPr>
                        <a:t>14</a:t>
                      </a:r>
                      <a:r>
                        <a:rPr dirty="0" sz="1500" b="1">
                          <a:solidFill>
                            <a:srgbClr val="008000"/>
                          </a:solidFill>
                          <a:latin typeface="宋体"/>
                          <a:cs typeface="宋体"/>
                        </a:rPr>
                        <a:t>：</a:t>
                      </a:r>
                      <a:r>
                        <a:rPr dirty="0" sz="1500" b="1">
                          <a:solidFill>
                            <a:srgbClr val="008000"/>
                          </a:solidFill>
                          <a:latin typeface="Times New Roman"/>
                          <a:cs typeface="Times New Roman"/>
                        </a:rPr>
                        <a:t>M</a:t>
                      </a:r>
                      <a:r>
                        <a:rPr dirty="0" sz="1500" spc="-25" b="1">
                          <a:solidFill>
                            <a:srgbClr val="008000"/>
                          </a:solidFill>
                          <a:latin typeface="Times New Roman"/>
                          <a:cs typeface="Times New Roman"/>
                        </a:rPr>
                        <a:t> </a:t>
                      </a:r>
                      <a:r>
                        <a:rPr dirty="0" sz="1500" b="1">
                          <a:solidFill>
                            <a:srgbClr val="008000"/>
                          </a:solidFill>
                          <a:latin typeface="Times New Roman"/>
                          <a:cs typeface="Times New Roman"/>
                        </a:rPr>
                        <a:t>M</a:t>
                      </a:r>
                      <a:r>
                        <a:rPr dirty="0" sz="1500" spc="15" b="1">
                          <a:solidFill>
                            <a:srgbClr val="008000"/>
                          </a:solidFill>
                          <a:latin typeface="Times New Roman"/>
                          <a:cs typeface="Times New Roman"/>
                        </a:rPr>
                        <a:t> </a:t>
                      </a:r>
                      <a:r>
                        <a:rPr dirty="0" sz="1500" spc="-50" b="1">
                          <a:solidFill>
                            <a:srgbClr val="008000"/>
                          </a:solidFill>
                          <a:latin typeface="Times New Roman"/>
                          <a:cs typeface="Times New Roman"/>
                        </a:rPr>
                        <a:t>F</a:t>
                      </a:r>
                      <a:endParaRPr sz="15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0"/>
                        </a:spcBef>
                      </a:pPr>
                      <a:r>
                        <a:rPr dirty="0" sz="1500" spc="-25" b="1">
                          <a:solidFill>
                            <a:srgbClr val="40458B"/>
                          </a:solidFill>
                          <a:latin typeface="Times New Roman"/>
                          <a:cs typeface="Times New Roman"/>
                        </a:rPr>
                        <a:t>nop</a:t>
                      </a:r>
                      <a:endParaRPr sz="15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30"/>
                        </a:spcBef>
                      </a:pPr>
                      <a:r>
                        <a:rPr dirty="0" sz="1500" b="1">
                          <a:solidFill>
                            <a:srgbClr val="40458B"/>
                          </a:solidFill>
                          <a:latin typeface="Times New Roman"/>
                          <a:cs typeface="Times New Roman"/>
                        </a:rPr>
                        <a:t>S.D</a:t>
                      </a:r>
                      <a:r>
                        <a:rPr dirty="0" sz="1500" spc="-30" b="1">
                          <a:solidFill>
                            <a:srgbClr val="40458B"/>
                          </a:solidFill>
                          <a:latin typeface="Times New Roman"/>
                          <a:cs typeface="Times New Roman"/>
                        </a:rPr>
                        <a:t> </a:t>
                      </a:r>
                      <a:r>
                        <a:rPr dirty="0" sz="1500" spc="-10" b="1">
                          <a:solidFill>
                            <a:srgbClr val="40458B"/>
                          </a:solidFill>
                          <a:latin typeface="Times New Roman"/>
                          <a:cs typeface="Times New Roman"/>
                        </a:rPr>
                        <a:t>F4</a:t>
                      </a:r>
                      <a:r>
                        <a:rPr dirty="0" sz="1500" spc="-10" b="1">
                          <a:solidFill>
                            <a:srgbClr val="40458B"/>
                          </a:solidFill>
                          <a:latin typeface="宋体"/>
                          <a:cs typeface="宋体"/>
                        </a:rPr>
                        <a:t>，</a:t>
                      </a:r>
                      <a:r>
                        <a:rPr dirty="0" sz="1500" spc="-10" b="1">
                          <a:solidFill>
                            <a:srgbClr val="40458B"/>
                          </a:solidFill>
                          <a:latin typeface="Times New Roman"/>
                          <a:cs typeface="Times New Roman"/>
                        </a:rPr>
                        <a:t>0</a:t>
                      </a:r>
                      <a:r>
                        <a:rPr dirty="0" sz="1500" spc="-10" b="1">
                          <a:solidFill>
                            <a:srgbClr val="40458B"/>
                          </a:solidFill>
                          <a:latin typeface="宋体"/>
                          <a:cs typeface="宋体"/>
                        </a:rPr>
                        <a:t>（</a:t>
                      </a:r>
                      <a:r>
                        <a:rPr dirty="0" sz="1500" spc="-10" b="1">
                          <a:solidFill>
                            <a:srgbClr val="40458B"/>
                          </a:solidFill>
                          <a:latin typeface="Times New Roman"/>
                          <a:cs typeface="Times New Roman"/>
                        </a:rPr>
                        <a:t>R1</a:t>
                      </a:r>
                      <a:r>
                        <a:rPr dirty="0" sz="1500" spc="-10" b="1">
                          <a:solidFill>
                            <a:srgbClr val="40458B"/>
                          </a:solidFill>
                          <a:latin typeface="宋体"/>
                          <a:cs typeface="宋体"/>
                        </a:rPr>
                        <a:t>）</a:t>
                      </a:r>
                      <a:endParaRPr sz="1500">
                        <a:latin typeface="宋体"/>
                        <a:cs typeface="宋体"/>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30"/>
                        </a:spcBef>
                      </a:pPr>
                      <a:r>
                        <a:rPr dirty="0" sz="1500" b="1">
                          <a:solidFill>
                            <a:srgbClr val="40458B"/>
                          </a:solidFill>
                          <a:latin typeface="Times New Roman"/>
                          <a:cs typeface="Times New Roman"/>
                        </a:rPr>
                        <a:t>ADD.D</a:t>
                      </a:r>
                      <a:r>
                        <a:rPr dirty="0" sz="1500" spc="-50" b="1">
                          <a:solidFill>
                            <a:srgbClr val="40458B"/>
                          </a:solidFill>
                          <a:latin typeface="Times New Roman"/>
                          <a:cs typeface="Times New Roman"/>
                        </a:rPr>
                        <a:t> </a:t>
                      </a:r>
                      <a:r>
                        <a:rPr dirty="0" sz="1500" spc="-10" b="1">
                          <a:solidFill>
                            <a:srgbClr val="40458B"/>
                          </a:solidFill>
                          <a:latin typeface="Times New Roman"/>
                          <a:cs typeface="Times New Roman"/>
                        </a:rPr>
                        <a:t>F16</a:t>
                      </a:r>
                      <a:r>
                        <a:rPr dirty="0" sz="1500" spc="-10" b="1">
                          <a:solidFill>
                            <a:srgbClr val="40458B"/>
                          </a:solidFill>
                          <a:latin typeface="宋体"/>
                          <a:cs typeface="宋体"/>
                        </a:rPr>
                        <a:t>，</a:t>
                      </a:r>
                      <a:r>
                        <a:rPr dirty="0" sz="1500" spc="-10" b="1">
                          <a:solidFill>
                            <a:srgbClr val="40458B"/>
                          </a:solidFill>
                          <a:latin typeface="Times New Roman"/>
                          <a:cs typeface="Times New Roman"/>
                        </a:rPr>
                        <a:t>F14</a:t>
                      </a:r>
                      <a:r>
                        <a:rPr dirty="0" sz="1500" spc="-10" b="1">
                          <a:solidFill>
                            <a:srgbClr val="40458B"/>
                          </a:solidFill>
                          <a:latin typeface="宋体"/>
                          <a:cs typeface="宋体"/>
                        </a:rPr>
                        <a:t>，</a:t>
                      </a:r>
                      <a:r>
                        <a:rPr dirty="0" sz="1500" spc="-10" b="1">
                          <a:solidFill>
                            <a:srgbClr val="40458B"/>
                          </a:solidFill>
                          <a:latin typeface="Times New Roman"/>
                          <a:cs typeface="Times New Roman"/>
                        </a:rPr>
                        <a:t>F2</a:t>
                      </a:r>
                      <a:endParaRPr sz="15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dirty="0" sz="1500" spc="-50" b="1">
                          <a:solidFill>
                            <a:srgbClr val="40458B"/>
                          </a:solidFill>
                          <a:latin typeface="Times New Roman"/>
                          <a:cs typeface="Times New Roman"/>
                        </a:rPr>
                        <a:t>6</a:t>
                      </a:r>
                      <a:endParaRPr sz="15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4645">
                <a:tc>
                  <a:txBody>
                    <a:bodyPr/>
                    <a:lstStyle/>
                    <a:p>
                      <a:pPr marL="91440">
                        <a:lnSpc>
                          <a:spcPct val="100000"/>
                        </a:lnSpc>
                        <a:spcBef>
                          <a:spcPts val="330"/>
                        </a:spcBef>
                      </a:pPr>
                      <a:r>
                        <a:rPr dirty="0" sz="1500" b="1">
                          <a:solidFill>
                            <a:srgbClr val="008000"/>
                          </a:solidFill>
                          <a:latin typeface="Times New Roman"/>
                          <a:cs typeface="Times New Roman"/>
                        </a:rPr>
                        <a:t>14</a:t>
                      </a:r>
                      <a:r>
                        <a:rPr dirty="0" sz="1500" b="1">
                          <a:solidFill>
                            <a:srgbClr val="008000"/>
                          </a:solidFill>
                          <a:latin typeface="宋体"/>
                          <a:cs typeface="宋体"/>
                        </a:rPr>
                        <a:t>：</a:t>
                      </a:r>
                      <a:r>
                        <a:rPr dirty="0" sz="1500" b="1">
                          <a:solidFill>
                            <a:srgbClr val="008000"/>
                          </a:solidFill>
                          <a:latin typeface="Times New Roman"/>
                          <a:cs typeface="Times New Roman"/>
                        </a:rPr>
                        <a:t>M</a:t>
                      </a:r>
                      <a:r>
                        <a:rPr dirty="0" sz="1500" spc="-25" b="1">
                          <a:solidFill>
                            <a:srgbClr val="008000"/>
                          </a:solidFill>
                          <a:latin typeface="Times New Roman"/>
                          <a:cs typeface="Times New Roman"/>
                        </a:rPr>
                        <a:t> </a:t>
                      </a:r>
                      <a:r>
                        <a:rPr dirty="0" sz="1500" b="1">
                          <a:solidFill>
                            <a:srgbClr val="008000"/>
                          </a:solidFill>
                          <a:latin typeface="Times New Roman"/>
                          <a:cs typeface="Times New Roman"/>
                        </a:rPr>
                        <a:t>M</a:t>
                      </a:r>
                      <a:r>
                        <a:rPr dirty="0" sz="1500" spc="15" b="1">
                          <a:solidFill>
                            <a:srgbClr val="008000"/>
                          </a:solidFill>
                          <a:latin typeface="Times New Roman"/>
                          <a:cs typeface="Times New Roman"/>
                        </a:rPr>
                        <a:t> </a:t>
                      </a:r>
                      <a:r>
                        <a:rPr dirty="0" sz="1500" spc="-50" b="1">
                          <a:solidFill>
                            <a:srgbClr val="008000"/>
                          </a:solidFill>
                          <a:latin typeface="Times New Roman"/>
                          <a:cs typeface="Times New Roman"/>
                        </a:rPr>
                        <a:t>F</a:t>
                      </a:r>
                      <a:endParaRPr sz="15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0"/>
                        </a:spcBef>
                      </a:pPr>
                      <a:r>
                        <a:rPr dirty="0" sz="1500" spc="-25" b="1">
                          <a:solidFill>
                            <a:srgbClr val="40458B"/>
                          </a:solidFill>
                          <a:latin typeface="Times New Roman"/>
                          <a:cs typeface="Times New Roman"/>
                        </a:rPr>
                        <a:t>nop</a:t>
                      </a:r>
                      <a:endParaRPr sz="15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30"/>
                        </a:spcBef>
                      </a:pPr>
                      <a:r>
                        <a:rPr dirty="0" sz="1500" b="1">
                          <a:solidFill>
                            <a:srgbClr val="40458B"/>
                          </a:solidFill>
                          <a:latin typeface="Times New Roman"/>
                          <a:cs typeface="Times New Roman"/>
                        </a:rPr>
                        <a:t>S.D</a:t>
                      </a:r>
                      <a:r>
                        <a:rPr dirty="0" sz="1500" spc="-20" b="1">
                          <a:solidFill>
                            <a:srgbClr val="40458B"/>
                          </a:solidFill>
                          <a:latin typeface="Times New Roman"/>
                          <a:cs typeface="Times New Roman"/>
                        </a:rPr>
                        <a:t> </a:t>
                      </a:r>
                      <a:r>
                        <a:rPr dirty="0" sz="1500" b="1">
                          <a:solidFill>
                            <a:srgbClr val="40458B"/>
                          </a:solidFill>
                          <a:latin typeface="Times New Roman"/>
                          <a:cs typeface="Times New Roman"/>
                        </a:rPr>
                        <a:t>F12</a:t>
                      </a:r>
                      <a:r>
                        <a:rPr dirty="0" sz="1500" b="1">
                          <a:solidFill>
                            <a:srgbClr val="40458B"/>
                          </a:solidFill>
                          <a:latin typeface="宋体"/>
                          <a:cs typeface="宋体"/>
                        </a:rPr>
                        <a:t>，</a:t>
                      </a:r>
                      <a:r>
                        <a:rPr dirty="0" sz="1500" b="1">
                          <a:solidFill>
                            <a:srgbClr val="40458B"/>
                          </a:solidFill>
                          <a:latin typeface="Times New Roman"/>
                          <a:cs typeface="Times New Roman"/>
                        </a:rPr>
                        <a:t>-</a:t>
                      </a:r>
                      <a:r>
                        <a:rPr dirty="0" sz="1500" spc="-10" b="1">
                          <a:solidFill>
                            <a:srgbClr val="40458B"/>
                          </a:solidFill>
                          <a:latin typeface="Times New Roman"/>
                          <a:cs typeface="Times New Roman"/>
                        </a:rPr>
                        <a:t>16</a:t>
                      </a:r>
                      <a:r>
                        <a:rPr dirty="0" sz="1500" spc="-10" b="1">
                          <a:solidFill>
                            <a:srgbClr val="40458B"/>
                          </a:solidFill>
                          <a:latin typeface="宋体"/>
                          <a:cs typeface="宋体"/>
                        </a:rPr>
                        <a:t>（</a:t>
                      </a:r>
                      <a:r>
                        <a:rPr dirty="0" sz="1500" spc="-10" b="1">
                          <a:solidFill>
                            <a:srgbClr val="40458B"/>
                          </a:solidFill>
                          <a:latin typeface="Times New Roman"/>
                          <a:cs typeface="Times New Roman"/>
                        </a:rPr>
                        <a:t>R1</a:t>
                      </a:r>
                      <a:r>
                        <a:rPr dirty="0" sz="1500" spc="-10" b="1">
                          <a:solidFill>
                            <a:srgbClr val="40458B"/>
                          </a:solidFill>
                          <a:latin typeface="宋体"/>
                          <a:cs typeface="宋体"/>
                        </a:rPr>
                        <a:t>）</a:t>
                      </a:r>
                      <a:endParaRPr sz="1500">
                        <a:latin typeface="宋体"/>
                        <a:cs typeface="宋体"/>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30"/>
                        </a:spcBef>
                      </a:pPr>
                      <a:r>
                        <a:rPr dirty="0" sz="1500" b="1">
                          <a:solidFill>
                            <a:srgbClr val="40458B"/>
                          </a:solidFill>
                          <a:latin typeface="Times New Roman"/>
                          <a:cs typeface="Times New Roman"/>
                        </a:rPr>
                        <a:t>ADD.D</a:t>
                      </a:r>
                      <a:r>
                        <a:rPr dirty="0" sz="1500" spc="-50" b="1">
                          <a:solidFill>
                            <a:srgbClr val="40458B"/>
                          </a:solidFill>
                          <a:latin typeface="Times New Roman"/>
                          <a:cs typeface="Times New Roman"/>
                        </a:rPr>
                        <a:t> </a:t>
                      </a:r>
                      <a:r>
                        <a:rPr dirty="0" sz="1500" spc="-10" b="1">
                          <a:solidFill>
                            <a:srgbClr val="40458B"/>
                          </a:solidFill>
                          <a:latin typeface="Times New Roman"/>
                          <a:cs typeface="Times New Roman"/>
                        </a:rPr>
                        <a:t>F20</a:t>
                      </a:r>
                      <a:r>
                        <a:rPr dirty="0" sz="1500" spc="-10" b="1">
                          <a:solidFill>
                            <a:srgbClr val="40458B"/>
                          </a:solidFill>
                          <a:latin typeface="宋体"/>
                          <a:cs typeface="宋体"/>
                        </a:rPr>
                        <a:t>，</a:t>
                      </a:r>
                      <a:r>
                        <a:rPr dirty="0" sz="1500" spc="-10" b="1">
                          <a:solidFill>
                            <a:srgbClr val="40458B"/>
                          </a:solidFill>
                          <a:latin typeface="Times New Roman"/>
                          <a:cs typeface="Times New Roman"/>
                        </a:rPr>
                        <a:t>F18</a:t>
                      </a:r>
                      <a:r>
                        <a:rPr dirty="0" sz="1500" spc="-10" b="1">
                          <a:solidFill>
                            <a:srgbClr val="40458B"/>
                          </a:solidFill>
                          <a:latin typeface="宋体"/>
                          <a:cs typeface="宋体"/>
                        </a:rPr>
                        <a:t>，</a:t>
                      </a:r>
                      <a:r>
                        <a:rPr dirty="0" sz="1500" spc="-10" b="1">
                          <a:solidFill>
                            <a:srgbClr val="40458B"/>
                          </a:solidFill>
                          <a:latin typeface="Times New Roman"/>
                          <a:cs typeface="Times New Roman"/>
                        </a:rPr>
                        <a:t>F2</a:t>
                      </a:r>
                      <a:endParaRPr sz="15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dirty="0" sz="1500" spc="-50" b="1">
                          <a:solidFill>
                            <a:srgbClr val="40458B"/>
                          </a:solidFill>
                          <a:latin typeface="Times New Roman"/>
                          <a:cs typeface="Times New Roman"/>
                        </a:rPr>
                        <a:t>7</a:t>
                      </a:r>
                      <a:endParaRPr sz="15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6550">
                <a:tc>
                  <a:txBody>
                    <a:bodyPr/>
                    <a:lstStyle/>
                    <a:p>
                      <a:pPr marL="91440">
                        <a:lnSpc>
                          <a:spcPct val="100000"/>
                        </a:lnSpc>
                        <a:spcBef>
                          <a:spcPts val="330"/>
                        </a:spcBef>
                      </a:pPr>
                      <a:r>
                        <a:rPr dirty="0" sz="1500" b="1">
                          <a:solidFill>
                            <a:srgbClr val="008000"/>
                          </a:solidFill>
                          <a:latin typeface="Times New Roman"/>
                          <a:cs typeface="Times New Roman"/>
                        </a:rPr>
                        <a:t>15</a:t>
                      </a:r>
                      <a:r>
                        <a:rPr dirty="0" sz="1500" b="1">
                          <a:solidFill>
                            <a:srgbClr val="008000"/>
                          </a:solidFill>
                          <a:latin typeface="宋体"/>
                          <a:cs typeface="宋体"/>
                        </a:rPr>
                        <a:t>：</a:t>
                      </a:r>
                      <a:r>
                        <a:rPr dirty="0" sz="1500" b="1">
                          <a:solidFill>
                            <a:srgbClr val="008000"/>
                          </a:solidFill>
                          <a:latin typeface="Times New Roman"/>
                          <a:cs typeface="Times New Roman"/>
                        </a:rPr>
                        <a:t>M</a:t>
                      </a:r>
                      <a:r>
                        <a:rPr dirty="0" sz="1500" spc="-25" b="1">
                          <a:solidFill>
                            <a:srgbClr val="008000"/>
                          </a:solidFill>
                          <a:latin typeface="Times New Roman"/>
                          <a:cs typeface="Times New Roman"/>
                        </a:rPr>
                        <a:t> </a:t>
                      </a:r>
                      <a:r>
                        <a:rPr dirty="0" sz="1500" b="1">
                          <a:solidFill>
                            <a:srgbClr val="008000"/>
                          </a:solidFill>
                          <a:latin typeface="Times New Roman"/>
                          <a:cs typeface="Times New Roman"/>
                        </a:rPr>
                        <a:t>M</a:t>
                      </a:r>
                      <a:r>
                        <a:rPr dirty="0" sz="1500" spc="15" b="1">
                          <a:solidFill>
                            <a:srgbClr val="008000"/>
                          </a:solidFill>
                          <a:latin typeface="Times New Roman"/>
                          <a:cs typeface="Times New Roman"/>
                        </a:rPr>
                        <a:t> </a:t>
                      </a:r>
                      <a:r>
                        <a:rPr dirty="0" sz="1500" spc="-50" b="1">
                          <a:solidFill>
                            <a:srgbClr val="008000"/>
                          </a:solidFill>
                          <a:latin typeface="Times New Roman"/>
                          <a:cs typeface="Times New Roman"/>
                        </a:rPr>
                        <a:t>F</a:t>
                      </a:r>
                      <a:endParaRPr sz="15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0"/>
                        </a:spcBef>
                      </a:pPr>
                      <a:r>
                        <a:rPr dirty="0" sz="1500" spc="-25" b="1">
                          <a:solidFill>
                            <a:srgbClr val="40458B"/>
                          </a:solidFill>
                          <a:latin typeface="Times New Roman"/>
                          <a:cs typeface="Times New Roman"/>
                        </a:rPr>
                        <a:t>nop</a:t>
                      </a:r>
                      <a:endParaRPr sz="15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30"/>
                        </a:spcBef>
                      </a:pPr>
                      <a:r>
                        <a:rPr dirty="0" sz="1500" b="1">
                          <a:solidFill>
                            <a:srgbClr val="40458B"/>
                          </a:solidFill>
                          <a:latin typeface="Times New Roman"/>
                          <a:cs typeface="Times New Roman"/>
                        </a:rPr>
                        <a:t>S.D</a:t>
                      </a:r>
                      <a:r>
                        <a:rPr dirty="0" sz="1500" spc="-25" b="1">
                          <a:solidFill>
                            <a:srgbClr val="40458B"/>
                          </a:solidFill>
                          <a:latin typeface="Times New Roman"/>
                          <a:cs typeface="Times New Roman"/>
                        </a:rPr>
                        <a:t> </a:t>
                      </a:r>
                      <a:r>
                        <a:rPr dirty="0" sz="1500" b="1">
                          <a:solidFill>
                            <a:srgbClr val="40458B"/>
                          </a:solidFill>
                          <a:latin typeface="Times New Roman"/>
                          <a:cs typeface="Times New Roman"/>
                        </a:rPr>
                        <a:t>F8</a:t>
                      </a:r>
                      <a:r>
                        <a:rPr dirty="0" sz="1500" b="1">
                          <a:solidFill>
                            <a:srgbClr val="40458B"/>
                          </a:solidFill>
                          <a:latin typeface="宋体"/>
                          <a:cs typeface="宋体"/>
                        </a:rPr>
                        <a:t>，</a:t>
                      </a:r>
                      <a:r>
                        <a:rPr dirty="0" sz="1500" b="1">
                          <a:solidFill>
                            <a:srgbClr val="40458B"/>
                          </a:solidFill>
                          <a:latin typeface="Times New Roman"/>
                          <a:cs typeface="Times New Roman"/>
                        </a:rPr>
                        <a:t>-</a:t>
                      </a:r>
                      <a:r>
                        <a:rPr dirty="0" sz="1500" spc="-20" b="1">
                          <a:solidFill>
                            <a:srgbClr val="40458B"/>
                          </a:solidFill>
                          <a:latin typeface="Times New Roman"/>
                          <a:cs typeface="Times New Roman"/>
                        </a:rPr>
                        <a:t>8</a:t>
                      </a:r>
                      <a:r>
                        <a:rPr dirty="0" sz="1500" spc="-20" b="1">
                          <a:solidFill>
                            <a:srgbClr val="40458B"/>
                          </a:solidFill>
                          <a:latin typeface="宋体"/>
                          <a:cs typeface="宋体"/>
                        </a:rPr>
                        <a:t>（</a:t>
                      </a:r>
                      <a:r>
                        <a:rPr dirty="0" sz="1500" spc="-20" b="1">
                          <a:solidFill>
                            <a:srgbClr val="40458B"/>
                          </a:solidFill>
                          <a:latin typeface="Times New Roman"/>
                          <a:cs typeface="Times New Roman"/>
                        </a:rPr>
                        <a:t>R1</a:t>
                      </a:r>
                      <a:r>
                        <a:rPr dirty="0" sz="1500" spc="-20" b="1">
                          <a:solidFill>
                            <a:srgbClr val="40458B"/>
                          </a:solidFill>
                          <a:latin typeface="宋体"/>
                          <a:cs typeface="宋体"/>
                        </a:rPr>
                        <a:t>）</a:t>
                      </a:r>
                      <a:endParaRPr sz="1500">
                        <a:latin typeface="宋体"/>
                        <a:cs typeface="宋体"/>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30"/>
                        </a:spcBef>
                      </a:pPr>
                      <a:r>
                        <a:rPr dirty="0" sz="1500" b="1">
                          <a:solidFill>
                            <a:srgbClr val="40458B"/>
                          </a:solidFill>
                          <a:latin typeface="Times New Roman"/>
                          <a:cs typeface="Times New Roman"/>
                        </a:rPr>
                        <a:t>ADD.D F24</a:t>
                      </a:r>
                      <a:r>
                        <a:rPr dirty="0" sz="1500" b="1">
                          <a:solidFill>
                            <a:srgbClr val="40458B"/>
                          </a:solidFill>
                          <a:latin typeface="宋体"/>
                          <a:cs typeface="宋体"/>
                        </a:rPr>
                        <a:t>，</a:t>
                      </a:r>
                      <a:r>
                        <a:rPr dirty="0" sz="1500" b="1">
                          <a:solidFill>
                            <a:srgbClr val="40458B"/>
                          </a:solidFill>
                          <a:latin typeface="Times New Roman"/>
                          <a:cs typeface="Times New Roman"/>
                        </a:rPr>
                        <a:t>F22</a:t>
                      </a:r>
                      <a:r>
                        <a:rPr dirty="0" sz="1500" b="1">
                          <a:solidFill>
                            <a:srgbClr val="40458B"/>
                          </a:solidFill>
                          <a:latin typeface="宋体"/>
                          <a:cs typeface="宋体"/>
                        </a:rPr>
                        <a:t>，</a:t>
                      </a:r>
                      <a:r>
                        <a:rPr dirty="0" sz="1500" b="1">
                          <a:solidFill>
                            <a:srgbClr val="40458B"/>
                          </a:solidFill>
                          <a:latin typeface="Times New Roman"/>
                          <a:cs typeface="Times New Roman"/>
                        </a:rPr>
                        <a:t>F2</a:t>
                      </a:r>
                      <a:r>
                        <a:rPr dirty="0" sz="1500" spc="300" b="1">
                          <a:solidFill>
                            <a:srgbClr val="40458B"/>
                          </a:solidFill>
                          <a:latin typeface="Times New Roman"/>
                          <a:cs typeface="Times New Roman"/>
                        </a:rPr>
                        <a:t> </a:t>
                      </a:r>
                      <a:r>
                        <a:rPr dirty="0" sz="1500" spc="-25" b="1">
                          <a:solidFill>
                            <a:srgbClr val="40458B"/>
                          </a:solidFill>
                          <a:latin typeface="Times New Roman"/>
                          <a:cs typeface="Times New Roman"/>
                        </a:rPr>
                        <a:t>(s)</a:t>
                      </a:r>
                      <a:endParaRPr sz="15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dirty="0" sz="1500" spc="-50" b="1">
                          <a:solidFill>
                            <a:srgbClr val="40458B"/>
                          </a:solidFill>
                          <a:latin typeface="Times New Roman"/>
                          <a:cs typeface="Times New Roman"/>
                        </a:rPr>
                        <a:t>8</a:t>
                      </a:r>
                      <a:endParaRPr sz="15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5915">
                <a:tc>
                  <a:txBody>
                    <a:bodyPr/>
                    <a:lstStyle/>
                    <a:p>
                      <a:pPr marL="91440">
                        <a:lnSpc>
                          <a:spcPct val="100000"/>
                        </a:lnSpc>
                        <a:spcBef>
                          <a:spcPts val="330"/>
                        </a:spcBef>
                      </a:pPr>
                      <a:r>
                        <a:rPr dirty="0" sz="1500" b="1">
                          <a:solidFill>
                            <a:srgbClr val="008000"/>
                          </a:solidFill>
                          <a:latin typeface="Times New Roman"/>
                          <a:cs typeface="Times New Roman"/>
                        </a:rPr>
                        <a:t>14</a:t>
                      </a:r>
                      <a:r>
                        <a:rPr dirty="0" sz="1500" b="1">
                          <a:solidFill>
                            <a:srgbClr val="008000"/>
                          </a:solidFill>
                          <a:latin typeface="宋体"/>
                          <a:cs typeface="宋体"/>
                        </a:rPr>
                        <a:t>：</a:t>
                      </a:r>
                      <a:r>
                        <a:rPr dirty="0" sz="1500" b="1">
                          <a:solidFill>
                            <a:srgbClr val="008000"/>
                          </a:solidFill>
                          <a:latin typeface="Times New Roman"/>
                          <a:cs typeface="Times New Roman"/>
                        </a:rPr>
                        <a:t>M</a:t>
                      </a:r>
                      <a:r>
                        <a:rPr dirty="0" sz="1500" spc="-30" b="1">
                          <a:solidFill>
                            <a:srgbClr val="008000"/>
                          </a:solidFill>
                          <a:latin typeface="Times New Roman"/>
                          <a:cs typeface="Times New Roman"/>
                        </a:rPr>
                        <a:t> </a:t>
                      </a:r>
                      <a:r>
                        <a:rPr dirty="0" sz="1500" b="1">
                          <a:solidFill>
                            <a:srgbClr val="008000"/>
                          </a:solidFill>
                          <a:latin typeface="Times New Roman"/>
                          <a:cs typeface="Times New Roman"/>
                        </a:rPr>
                        <a:t>M</a:t>
                      </a:r>
                      <a:r>
                        <a:rPr dirty="0" sz="1500" spc="-5" b="1">
                          <a:solidFill>
                            <a:srgbClr val="008000"/>
                          </a:solidFill>
                          <a:latin typeface="Times New Roman"/>
                          <a:cs typeface="Times New Roman"/>
                        </a:rPr>
                        <a:t> </a:t>
                      </a:r>
                      <a:r>
                        <a:rPr dirty="0" sz="1500" spc="-50" b="1">
                          <a:solidFill>
                            <a:srgbClr val="008000"/>
                          </a:solidFill>
                          <a:latin typeface="Times New Roman"/>
                          <a:cs typeface="Times New Roman"/>
                        </a:rPr>
                        <a:t>F</a:t>
                      </a:r>
                      <a:endParaRPr sz="15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0"/>
                        </a:spcBef>
                      </a:pPr>
                      <a:r>
                        <a:rPr dirty="0" sz="1500" spc="-25" b="1">
                          <a:solidFill>
                            <a:srgbClr val="40458B"/>
                          </a:solidFill>
                          <a:latin typeface="Times New Roman"/>
                          <a:cs typeface="Times New Roman"/>
                        </a:rPr>
                        <a:t>nop</a:t>
                      </a:r>
                      <a:endParaRPr sz="15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30"/>
                        </a:spcBef>
                      </a:pPr>
                      <a:r>
                        <a:rPr dirty="0" sz="1500" b="1">
                          <a:solidFill>
                            <a:srgbClr val="40458B"/>
                          </a:solidFill>
                          <a:latin typeface="Times New Roman"/>
                          <a:cs typeface="Times New Roman"/>
                        </a:rPr>
                        <a:t>S.D</a:t>
                      </a:r>
                      <a:r>
                        <a:rPr dirty="0" sz="1500" spc="-25" b="1">
                          <a:solidFill>
                            <a:srgbClr val="40458B"/>
                          </a:solidFill>
                          <a:latin typeface="Times New Roman"/>
                          <a:cs typeface="Times New Roman"/>
                        </a:rPr>
                        <a:t> </a:t>
                      </a:r>
                      <a:r>
                        <a:rPr dirty="0" sz="1500" b="1">
                          <a:solidFill>
                            <a:srgbClr val="40458B"/>
                          </a:solidFill>
                          <a:latin typeface="Times New Roman"/>
                          <a:cs typeface="Times New Roman"/>
                        </a:rPr>
                        <a:t>F16</a:t>
                      </a:r>
                      <a:r>
                        <a:rPr dirty="0" sz="1500" b="1">
                          <a:solidFill>
                            <a:srgbClr val="40458B"/>
                          </a:solidFill>
                          <a:latin typeface="宋体"/>
                          <a:cs typeface="宋体"/>
                        </a:rPr>
                        <a:t>，</a:t>
                      </a:r>
                      <a:r>
                        <a:rPr dirty="0" sz="1500" b="1">
                          <a:solidFill>
                            <a:srgbClr val="40458B"/>
                          </a:solidFill>
                          <a:latin typeface="Times New Roman"/>
                          <a:cs typeface="Times New Roman"/>
                        </a:rPr>
                        <a:t>-</a:t>
                      </a:r>
                      <a:r>
                        <a:rPr dirty="0" sz="1500" spc="-10" b="1">
                          <a:solidFill>
                            <a:srgbClr val="40458B"/>
                          </a:solidFill>
                          <a:latin typeface="Times New Roman"/>
                          <a:cs typeface="Times New Roman"/>
                        </a:rPr>
                        <a:t>24</a:t>
                      </a:r>
                      <a:r>
                        <a:rPr dirty="0" sz="1500" spc="-10" b="1">
                          <a:solidFill>
                            <a:srgbClr val="40458B"/>
                          </a:solidFill>
                          <a:latin typeface="宋体"/>
                          <a:cs typeface="宋体"/>
                        </a:rPr>
                        <a:t>（</a:t>
                      </a:r>
                      <a:r>
                        <a:rPr dirty="0" sz="1500" spc="-10" b="1">
                          <a:solidFill>
                            <a:srgbClr val="40458B"/>
                          </a:solidFill>
                          <a:latin typeface="Times New Roman"/>
                          <a:cs typeface="Times New Roman"/>
                        </a:rPr>
                        <a:t>R1</a:t>
                      </a:r>
                      <a:r>
                        <a:rPr dirty="0" sz="1500" spc="-10" b="1">
                          <a:solidFill>
                            <a:srgbClr val="40458B"/>
                          </a:solidFill>
                          <a:latin typeface="宋体"/>
                          <a:cs typeface="宋体"/>
                        </a:rPr>
                        <a:t>）</a:t>
                      </a:r>
                      <a:endParaRPr sz="1500">
                        <a:latin typeface="宋体"/>
                        <a:cs typeface="宋体"/>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30"/>
                        </a:spcBef>
                      </a:pPr>
                      <a:r>
                        <a:rPr dirty="0" sz="1500" b="1">
                          <a:solidFill>
                            <a:srgbClr val="40458B"/>
                          </a:solidFill>
                          <a:latin typeface="Times New Roman"/>
                          <a:cs typeface="Times New Roman"/>
                        </a:rPr>
                        <a:t>ADD.D</a:t>
                      </a:r>
                      <a:r>
                        <a:rPr dirty="0" sz="1500" spc="-50" b="1">
                          <a:solidFill>
                            <a:srgbClr val="40458B"/>
                          </a:solidFill>
                          <a:latin typeface="Times New Roman"/>
                          <a:cs typeface="Times New Roman"/>
                        </a:rPr>
                        <a:t> </a:t>
                      </a:r>
                      <a:r>
                        <a:rPr dirty="0" sz="1500" spc="-10" b="1">
                          <a:solidFill>
                            <a:srgbClr val="40458B"/>
                          </a:solidFill>
                          <a:latin typeface="Times New Roman"/>
                          <a:cs typeface="Times New Roman"/>
                        </a:rPr>
                        <a:t>F28</a:t>
                      </a:r>
                      <a:r>
                        <a:rPr dirty="0" sz="1500" spc="-10" b="1">
                          <a:solidFill>
                            <a:srgbClr val="40458B"/>
                          </a:solidFill>
                          <a:latin typeface="宋体"/>
                          <a:cs typeface="宋体"/>
                        </a:rPr>
                        <a:t>，</a:t>
                      </a:r>
                      <a:r>
                        <a:rPr dirty="0" sz="1500" spc="-10" b="1">
                          <a:solidFill>
                            <a:srgbClr val="40458B"/>
                          </a:solidFill>
                          <a:latin typeface="Times New Roman"/>
                          <a:cs typeface="Times New Roman"/>
                        </a:rPr>
                        <a:t>F26</a:t>
                      </a:r>
                      <a:r>
                        <a:rPr dirty="0" sz="1500" spc="-10" b="1">
                          <a:solidFill>
                            <a:srgbClr val="40458B"/>
                          </a:solidFill>
                          <a:latin typeface="宋体"/>
                          <a:cs typeface="宋体"/>
                        </a:rPr>
                        <a:t>，</a:t>
                      </a:r>
                      <a:r>
                        <a:rPr dirty="0" sz="1500" spc="-10" b="1">
                          <a:solidFill>
                            <a:srgbClr val="40458B"/>
                          </a:solidFill>
                          <a:latin typeface="Times New Roman"/>
                          <a:cs typeface="Times New Roman"/>
                        </a:rPr>
                        <a:t>F2</a:t>
                      </a:r>
                      <a:endParaRPr sz="15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dirty="0" sz="1500" spc="-50" b="1">
                          <a:solidFill>
                            <a:srgbClr val="40458B"/>
                          </a:solidFill>
                          <a:latin typeface="Times New Roman"/>
                          <a:cs typeface="Times New Roman"/>
                        </a:rPr>
                        <a:t>9</a:t>
                      </a:r>
                      <a:endParaRPr sz="15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548005">
                <a:tc>
                  <a:txBody>
                    <a:bodyPr/>
                    <a:lstStyle/>
                    <a:p>
                      <a:pPr marL="91440">
                        <a:lnSpc>
                          <a:spcPct val="100000"/>
                        </a:lnSpc>
                        <a:spcBef>
                          <a:spcPts val="335"/>
                        </a:spcBef>
                      </a:pPr>
                      <a:r>
                        <a:rPr dirty="0" sz="1500" b="1">
                          <a:solidFill>
                            <a:srgbClr val="008000"/>
                          </a:solidFill>
                          <a:latin typeface="Times New Roman"/>
                          <a:cs typeface="Times New Roman"/>
                        </a:rPr>
                        <a:t>9</a:t>
                      </a:r>
                      <a:r>
                        <a:rPr dirty="0" sz="1500" b="1">
                          <a:solidFill>
                            <a:srgbClr val="008000"/>
                          </a:solidFill>
                          <a:latin typeface="宋体"/>
                          <a:cs typeface="宋体"/>
                        </a:rPr>
                        <a:t>：</a:t>
                      </a:r>
                      <a:r>
                        <a:rPr dirty="0" sz="1500" b="1">
                          <a:solidFill>
                            <a:srgbClr val="008000"/>
                          </a:solidFill>
                          <a:latin typeface="Times New Roman"/>
                          <a:cs typeface="Times New Roman"/>
                        </a:rPr>
                        <a:t>M</a:t>
                      </a:r>
                      <a:r>
                        <a:rPr dirty="0" sz="1500" spc="-25" b="1">
                          <a:solidFill>
                            <a:srgbClr val="008000"/>
                          </a:solidFill>
                          <a:latin typeface="Times New Roman"/>
                          <a:cs typeface="Times New Roman"/>
                        </a:rPr>
                        <a:t> </a:t>
                      </a:r>
                      <a:r>
                        <a:rPr dirty="0" sz="1500" b="1">
                          <a:solidFill>
                            <a:srgbClr val="008000"/>
                          </a:solidFill>
                          <a:latin typeface="Times New Roman"/>
                          <a:cs typeface="Times New Roman"/>
                        </a:rPr>
                        <a:t>M</a:t>
                      </a:r>
                      <a:r>
                        <a:rPr dirty="0" sz="1500" spc="10" b="1">
                          <a:solidFill>
                            <a:srgbClr val="008000"/>
                          </a:solidFill>
                          <a:latin typeface="Times New Roman"/>
                          <a:cs typeface="Times New Roman"/>
                        </a:rPr>
                        <a:t> </a:t>
                      </a:r>
                      <a:r>
                        <a:rPr dirty="0" sz="1500" spc="-60" b="1">
                          <a:solidFill>
                            <a:srgbClr val="008000"/>
                          </a:solidFill>
                          <a:latin typeface="Times New Roman"/>
                          <a:cs typeface="Times New Roman"/>
                        </a:rPr>
                        <a:t>I</a:t>
                      </a:r>
                      <a:endParaRPr sz="1500">
                        <a:latin typeface="Times New Roman"/>
                        <a:cs typeface="Times New Roman"/>
                      </a:endParaRPr>
                    </a:p>
                  </a:txBody>
                  <a:tcPr marL="0" marR="0" marB="0" marT="4254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35"/>
                        </a:spcBef>
                      </a:pPr>
                      <a:r>
                        <a:rPr dirty="0" sz="1500" b="1">
                          <a:solidFill>
                            <a:srgbClr val="40458B"/>
                          </a:solidFill>
                          <a:latin typeface="Times New Roman"/>
                          <a:cs typeface="Times New Roman"/>
                        </a:rPr>
                        <a:t>S.D</a:t>
                      </a:r>
                      <a:r>
                        <a:rPr dirty="0" sz="1500" spc="-20" b="1">
                          <a:solidFill>
                            <a:srgbClr val="40458B"/>
                          </a:solidFill>
                          <a:latin typeface="Times New Roman"/>
                          <a:cs typeface="Times New Roman"/>
                        </a:rPr>
                        <a:t> </a:t>
                      </a:r>
                      <a:r>
                        <a:rPr dirty="0" sz="1500" b="1">
                          <a:solidFill>
                            <a:srgbClr val="40458B"/>
                          </a:solidFill>
                          <a:latin typeface="Times New Roman"/>
                          <a:cs typeface="Times New Roman"/>
                        </a:rPr>
                        <a:t>F20</a:t>
                      </a:r>
                      <a:r>
                        <a:rPr dirty="0" sz="1500" b="1">
                          <a:solidFill>
                            <a:srgbClr val="40458B"/>
                          </a:solidFill>
                          <a:latin typeface="宋体"/>
                          <a:cs typeface="宋体"/>
                        </a:rPr>
                        <a:t>，</a:t>
                      </a:r>
                      <a:r>
                        <a:rPr dirty="0" sz="1500" b="1">
                          <a:solidFill>
                            <a:srgbClr val="40458B"/>
                          </a:solidFill>
                          <a:latin typeface="Times New Roman"/>
                          <a:cs typeface="Times New Roman"/>
                        </a:rPr>
                        <a:t>-</a:t>
                      </a:r>
                      <a:r>
                        <a:rPr dirty="0" sz="1500" spc="-10" b="1">
                          <a:solidFill>
                            <a:srgbClr val="40458B"/>
                          </a:solidFill>
                          <a:latin typeface="Times New Roman"/>
                          <a:cs typeface="Times New Roman"/>
                        </a:rPr>
                        <a:t>32</a:t>
                      </a:r>
                      <a:r>
                        <a:rPr dirty="0" sz="1500" spc="-10" b="1">
                          <a:solidFill>
                            <a:srgbClr val="40458B"/>
                          </a:solidFill>
                          <a:latin typeface="宋体"/>
                          <a:cs typeface="宋体"/>
                        </a:rPr>
                        <a:t>（</a:t>
                      </a:r>
                      <a:r>
                        <a:rPr dirty="0" sz="1500" spc="-10" b="1">
                          <a:solidFill>
                            <a:srgbClr val="40458B"/>
                          </a:solidFill>
                          <a:latin typeface="Times New Roman"/>
                          <a:cs typeface="Times New Roman"/>
                        </a:rPr>
                        <a:t>R1</a:t>
                      </a:r>
                      <a:endParaRPr sz="1500">
                        <a:latin typeface="Times New Roman"/>
                        <a:cs typeface="Times New Roman"/>
                      </a:endParaRPr>
                    </a:p>
                    <a:p>
                      <a:pPr marL="91440">
                        <a:lnSpc>
                          <a:spcPct val="100000"/>
                        </a:lnSpc>
                        <a:spcBef>
                          <a:spcPts val="35"/>
                        </a:spcBef>
                      </a:pPr>
                      <a:r>
                        <a:rPr dirty="0" sz="1500" spc="-50" b="1">
                          <a:solidFill>
                            <a:srgbClr val="40458B"/>
                          </a:solidFill>
                          <a:latin typeface="宋体"/>
                          <a:cs typeface="宋体"/>
                        </a:rPr>
                        <a:t>）</a:t>
                      </a:r>
                      <a:endParaRPr sz="1500">
                        <a:latin typeface="宋体"/>
                        <a:cs typeface="宋体"/>
                      </a:endParaRPr>
                    </a:p>
                  </a:txBody>
                  <a:tcPr marL="0" marR="0" marB="0" marT="4254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35"/>
                        </a:spcBef>
                      </a:pPr>
                      <a:r>
                        <a:rPr dirty="0" sz="1500" b="1">
                          <a:solidFill>
                            <a:srgbClr val="40458B"/>
                          </a:solidFill>
                          <a:latin typeface="Times New Roman"/>
                          <a:cs typeface="Times New Roman"/>
                        </a:rPr>
                        <a:t>S.D</a:t>
                      </a:r>
                      <a:r>
                        <a:rPr dirty="0" sz="1500" spc="-20" b="1">
                          <a:solidFill>
                            <a:srgbClr val="40458B"/>
                          </a:solidFill>
                          <a:latin typeface="Times New Roman"/>
                          <a:cs typeface="Times New Roman"/>
                        </a:rPr>
                        <a:t> </a:t>
                      </a:r>
                      <a:r>
                        <a:rPr dirty="0" sz="1500" b="1">
                          <a:solidFill>
                            <a:srgbClr val="40458B"/>
                          </a:solidFill>
                          <a:latin typeface="Times New Roman"/>
                          <a:cs typeface="Times New Roman"/>
                        </a:rPr>
                        <a:t>F24</a:t>
                      </a:r>
                      <a:r>
                        <a:rPr dirty="0" sz="1500" b="1">
                          <a:solidFill>
                            <a:srgbClr val="40458B"/>
                          </a:solidFill>
                          <a:latin typeface="宋体"/>
                          <a:cs typeface="宋体"/>
                        </a:rPr>
                        <a:t>，</a:t>
                      </a:r>
                      <a:r>
                        <a:rPr dirty="0" sz="1500" b="1">
                          <a:solidFill>
                            <a:srgbClr val="40458B"/>
                          </a:solidFill>
                          <a:latin typeface="Times New Roman"/>
                          <a:cs typeface="Times New Roman"/>
                        </a:rPr>
                        <a:t>-</a:t>
                      </a:r>
                      <a:r>
                        <a:rPr dirty="0" sz="1500" spc="-10" b="1">
                          <a:solidFill>
                            <a:srgbClr val="40458B"/>
                          </a:solidFill>
                          <a:latin typeface="Times New Roman"/>
                          <a:cs typeface="Times New Roman"/>
                        </a:rPr>
                        <a:t>40</a:t>
                      </a:r>
                      <a:r>
                        <a:rPr dirty="0" sz="1500" spc="-10" b="1">
                          <a:solidFill>
                            <a:srgbClr val="40458B"/>
                          </a:solidFill>
                          <a:latin typeface="宋体"/>
                          <a:cs typeface="宋体"/>
                        </a:rPr>
                        <a:t>（</a:t>
                      </a:r>
                      <a:r>
                        <a:rPr dirty="0" sz="1500" spc="-10" b="1">
                          <a:solidFill>
                            <a:srgbClr val="40458B"/>
                          </a:solidFill>
                          <a:latin typeface="Times New Roman"/>
                          <a:cs typeface="Times New Roman"/>
                        </a:rPr>
                        <a:t>R1</a:t>
                      </a:r>
                      <a:r>
                        <a:rPr dirty="0" sz="1500" spc="-10" b="1">
                          <a:solidFill>
                            <a:srgbClr val="40458B"/>
                          </a:solidFill>
                          <a:latin typeface="宋体"/>
                          <a:cs typeface="宋体"/>
                        </a:rPr>
                        <a:t>）</a:t>
                      </a:r>
                      <a:endParaRPr sz="1500">
                        <a:latin typeface="宋体"/>
                        <a:cs typeface="宋体"/>
                      </a:endParaRPr>
                    </a:p>
                  </a:txBody>
                  <a:tcPr marL="0" marR="0" marB="0" marT="4254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tabLst>
                          <a:tab pos="1256030" algn="l"/>
                        </a:tabLst>
                      </a:pPr>
                      <a:r>
                        <a:rPr dirty="0" sz="1500" spc="-25" b="1">
                          <a:solidFill>
                            <a:srgbClr val="40458B"/>
                          </a:solidFill>
                          <a:latin typeface="Times New Roman"/>
                          <a:cs typeface="Times New Roman"/>
                        </a:rPr>
                        <a:t>nop</a:t>
                      </a:r>
                      <a:r>
                        <a:rPr dirty="0" sz="1500" b="1">
                          <a:solidFill>
                            <a:srgbClr val="40458B"/>
                          </a:solidFill>
                          <a:latin typeface="Times New Roman"/>
                          <a:cs typeface="Times New Roman"/>
                        </a:rPr>
                        <a:t>	</a:t>
                      </a:r>
                      <a:r>
                        <a:rPr dirty="0" sz="1500" spc="-25" b="1">
                          <a:solidFill>
                            <a:srgbClr val="40458B"/>
                          </a:solidFill>
                          <a:latin typeface="Times New Roman"/>
                          <a:cs typeface="Times New Roman"/>
                        </a:rPr>
                        <a:t>(s)</a:t>
                      </a:r>
                      <a:endParaRPr sz="15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dirty="0" sz="1500" spc="-25" b="1">
                          <a:solidFill>
                            <a:srgbClr val="40458B"/>
                          </a:solidFill>
                          <a:latin typeface="Times New Roman"/>
                          <a:cs typeface="Times New Roman"/>
                        </a:rPr>
                        <a:t>11</a:t>
                      </a:r>
                      <a:endParaRPr sz="15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51460">
                <a:tc>
                  <a:txBody>
                    <a:bodyPr/>
                    <a:lstStyle/>
                    <a:p>
                      <a:pPr marL="91440">
                        <a:lnSpc>
                          <a:spcPts val="1545"/>
                        </a:lnSpc>
                        <a:spcBef>
                          <a:spcPts val="335"/>
                        </a:spcBef>
                      </a:pPr>
                      <a:r>
                        <a:rPr dirty="0" sz="1500" b="1">
                          <a:solidFill>
                            <a:srgbClr val="008000"/>
                          </a:solidFill>
                          <a:latin typeface="Times New Roman"/>
                          <a:cs typeface="Times New Roman"/>
                          <a:hlinkClick r:id="rId2" action="ppaction://hlinksldjump"/>
                        </a:rPr>
                        <a:t>8</a:t>
                      </a:r>
                      <a:r>
                        <a:rPr dirty="0" sz="1500" b="1">
                          <a:solidFill>
                            <a:srgbClr val="008000"/>
                          </a:solidFill>
                          <a:latin typeface="宋体"/>
                          <a:cs typeface="宋体"/>
                          <a:hlinkClick r:id="rId2" action="ppaction://hlinksldjump"/>
                        </a:rPr>
                        <a:t>：</a:t>
                      </a:r>
                      <a:r>
                        <a:rPr dirty="0" sz="1500" b="1">
                          <a:solidFill>
                            <a:srgbClr val="008000"/>
                          </a:solidFill>
                          <a:latin typeface="Times New Roman"/>
                          <a:cs typeface="Times New Roman"/>
                          <a:hlinkClick r:id="rId2" action="ppaction://hlinksldjump"/>
                        </a:rPr>
                        <a:t>M</a:t>
                      </a:r>
                      <a:r>
                        <a:rPr dirty="0" sz="1500" spc="-25" b="1">
                          <a:solidFill>
                            <a:srgbClr val="008000"/>
                          </a:solidFill>
                          <a:latin typeface="Times New Roman"/>
                          <a:cs typeface="Times New Roman"/>
                          <a:hlinkClick r:id="rId2" action="ppaction://hlinksldjump"/>
                        </a:rPr>
                        <a:t> </a:t>
                      </a:r>
                      <a:r>
                        <a:rPr dirty="0" sz="1500" b="1">
                          <a:solidFill>
                            <a:srgbClr val="008000"/>
                          </a:solidFill>
                          <a:latin typeface="Times New Roman"/>
                          <a:cs typeface="Times New Roman"/>
                          <a:hlinkClick r:id="rId2" action="ppaction://hlinksldjump"/>
                        </a:rPr>
                        <a:t>M</a:t>
                      </a:r>
                      <a:r>
                        <a:rPr dirty="0" sz="1500" spc="10" b="1">
                          <a:solidFill>
                            <a:srgbClr val="008000"/>
                          </a:solidFill>
                          <a:latin typeface="Times New Roman"/>
                          <a:cs typeface="Times New Roman"/>
                          <a:hlinkClick r:id="rId2" action="ppaction://hlinksldjump"/>
                        </a:rPr>
                        <a:t> </a:t>
                      </a:r>
                      <a:r>
                        <a:rPr dirty="0" sz="1500" spc="-60" b="1">
                          <a:solidFill>
                            <a:srgbClr val="008000"/>
                          </a:solidFill>
                          <a:latin typeface="Times New Roman"/>
                          <a:cs typeface="Times New Roman"/>
                          <a:hlinkClick r:id="rId2" action="ppaction://hlinksldjump"/>
                        </a:rPr>
                        <a:t>I</a:t>
                      </a:r>
                      <a:endParaRPr sz="1500">
                        <a:latin typeface="Times New Roman"/>
                        <a:cs typeface="Times New Roman"/>
                      </a:endParaRPr>
                    </a:p>
                  </a:txBody>
                  <a:tcPr marL="0" marR="0" marB="0" marT="42545">
                    <a:lnL w="12700">
                      <a:solidFill>
                        <a:srgbClr val="000000"/>
                      </a:solidFill>
                      <a:prstDash val="solid"/>
                    </a:lnL>
                    <a:lnR w="12700">
                      <a:solidFill>
                        <a:srgbClr val="000000"/>
                      </a:solidFill>
                      <a:prstDash val="solid"/>
                    </a:lnR>
                    <a:lnT w="12700">
                      <a:solidFill>
                        <a:srgbClr val="000000"/>
                      </a:solidFill>
                      <a:prstDash val="solid"/>
                    </a:lnT>
                  </a:tcPr>
                </a:tc>
                <a:tc>
                  <a:txBody>
                    <a:bodyPr/>
                    <a:lstStyle/>
                    <a:p>
                      <a:pPr marL="91440">
                        <a:lnSpc>
                          <a:spcPts val="1545"/>
                        </a:lnSpc>
                        <a:spcBef>
                          <a:spcPts val="335"/>
                        </a:spcBef>
                      </a:pPr>
                      <a:r>
                        <a:rPr dirty="0" sz="1500" b="1">
                          <a:solidFill>
                            <a:srgbClr val="40458B"/>
                          </a:solidFill>
                          <a:latin typeface="Times New Roman"/>
                          <a:cs typeface="Times New Roman"/>
                          <a:hlinkClick r:id="rId2" action="ppaction://hlinksldjump"/>
                        </a:rPr>
                        <a:t>S.D</a:t>
                      </a:r>
                      <a:r>
                        <a:rPr dirty="0" sz="1500" spc="-20" b="1">
                          <a:solidFill>
                            <a:srgbClr val="40458B"/>
                          </a:solidFill>
                          <a:latin typeface="Times New Roman"/>
                          <a:cs typeface="Times New Roman"/>
                        </a:rPr>
                        <a:t> </a:t>
                      </a:r>
                      <a:r>
                        <a:rPr dirty="0" sz="1500" b="1">
                          <a:solidFill>
                            <a:srgbClr val="40458B"/>
                          </a:solidFill>
                          <a:latin typeface="Times New Roman"/>
                          <a:cs typeface="Times New Roman"/>
                        </a:rPr>
                        <a:t>F28</a:t>
                      </a:r>
                      <a:r>
                        <a:rPr dirty="0" sz="1500" b="1">
                          <a:solidFill>
                            <a:srgbClr val="40458B"/>
                          </a:solidFill>
                          <a:latin typeface="宋体"/>
                          <a:cs typeface="宋体"/>
                        </a:rPr>
                        <a:t>，</a:t>
                      </a:r>
                      <a:r>
                        <a:rPr dirty="0" sz="1500" b="1">
                          <a:solidFill>
                            <a:srgbClr val="40458B"/>
                          </a:solidFill>
                          <a:latin typeface="Times New Roman"/>
                          <a:cs typeface="Times New Roman"/>
                        </a:rPr>
                        <a:t>-</a:t>
                      </a:r>
                      <a:r>
                        <a:rPr dirty="0" sz="1500" spc="-10" b="1">
                          <a:solidFill>
                            <a:srgbClr val="40458B"/>
                          </a:solidFill>
                          <a:latin typeface="Times New Roman"/>
                          <a:cs typeface="Times New Roman"/>
                        </a:rPr>
                        <a:t>48</a:t>
                      </a:r>
                      <a:r>
                        <a:rPr dirty="0" sz="1500" spc="-10" b="1">
                          <a:solidFill>
                            <a:srgbClr val="40458B"/>
                          </a:solidFill>
                          <a:latin typeface="宋体"/>
                          <a:cs typeface="宋体"/>
                        </a:rPr>
                        <a:t>（</a:t>
                      </a:r>
                      <a:r>
                        <a:rPr dirty="0" sz="1500" spc="-10" b="1">
                          <a:solidFill>
                            <a:srgbClr val="40458B"/>
                          </a:solidFill>
                          <a:latin typeface="Times New Roman"/>
                          <a:cs typeface="Times New Roman"/>
                        </a:rPr>
                        <a:t>R1</a:t>
                      </a:r>
                      <a:endParaRPr sz="1500">
                        <a:latin typeface="Times New Roman"/>
                        <a:cs typeface="Times New Roman"/>
                      </a:endParaRPr>
                    </a:p>
                  </a:txBody>
                  <a:tcPr marL="0" marR="0" marB="0" marT="42545">
                    <a:lnL w="12700">
                      <a:solidFill>
                        <a:srgbClr val="000000"/>
                      </a:solidFill>
                      <a:prstDash val="solid"/>
                    </a:lnL>
                    <a:lnR w="12700">
                      <a:solidFill>
                        <a:srgbClr val="000000"/>
                      </a:solidFill>
                      <a:prstDash val="solid"/>
                    </a:lnR>
                    <a:lnT w="12700">
                      <a:solidFill>
                        <a:srgbClr val="000000"/>
                      </a:solidFill>
                      <a:prstDash val="solid"/>
                    </a:lnT>
                  </a:tcPr>
                </a:tc>
                <a:tc>
                  <a:txBody>
                    <a:bodyPr/>
                    <a:lstStyle/>
                    <a:p>
                      <a:pPr marL="91440">
                        <a:lnSpc>
                          <a:spcPts val="1545"/>
                        </a:lnSpc>
                        <a:spcBef>
                          <a:spcPts val="335"/>
                        </a:spcBef>
                      </a:pPr>
                      <a:r>
                        <a:rPr dirty="0" sz="1500" b="1">
                          <a:solidFill>
                            <a:srgbClr val="40458B"/>
                          </a:solidFill>
                          <a:latin typeface="Times New Roman"/>
                          <a:cs typeface="Times New Roman"/>
                        </a:rPr>
                        <a:t>DADDUI</a:t>
                      </a:r>
                      <a:r>
                        <a:rPr dirty="0" sz="1500" spc="-70" b="1">
                          <a:solidFill>
                            <a:srgbClr val="40458B"/>
                          </a:solidFill>
                          <a:latin typeface="Times New Roman"/>
                          <a:cs typeface="Times New Roman"/>
                        </a:rPr>
                        <a:t> </a:t>
                      </a:r>
                      <a:r>
                        <a:rPr dirty="0" sz="1500" spc="-10" b="1">
                          <a:solidFill>
                            <a:srgbClr val="40458B"/>
                          </a:solidFill>
                          <a:latin typeface="Times New Roman"/>
                          <a:cs typeface="Times New Roman"/>
                        </a:rPr>
                        <a:t>R1</a:t>
                      </a:r>
                      <a:r>
                        <a:rPr dirty="0" sz="1500" spc="-10" b="1">
                          <a:solidFill>
                            <a:srgbClr val="40458B"/>
                          </a:solidFill>
                          <a:latin typeface="宋体"/>
                          <a:cs typeface="宋体"/>
                        </a:rPr>
                        <a:t>，</a:t>
                      </a:r>
                      <a:r>
                        <a:rPr dirty="0" sz="1500" spc="-10" b="1">
                          <a:solidFill>
                            <a:srgbClr val="40458B"/>
                          </a:solidFill>
                          <a:latin typeface="Times New Roman"/>
                          <a:cs typeface="Times New Roman"/>
                        </a:rPr>
                        <a:t>R1</a:t>
                      </a:r>
                      <a:r>
                        <a:rPr dirty="0" sz="1500" spc="-10" b="1">
                          <a:solidFill>
                            <a:srgbClr val="40458B"/>
                          </a:solidFill>
                          <a:latin typeface="宋体"/>
                          <a:cs typeface="宋体"/>
                        </a:rPr>
                        <a:t>，</a:t>
                      </a:r>
                      <a:r>
                        <a:rPr dirty="0" sz="1500" spc="-10" b="1">
                          <a:solidFill>
                            <a:srgbClr val="40458B"/>
                          </a:solidFill>
                          <a:latin typeface="Times New Roman"/>
                          <a:cs typeface="Times New Roman"/>
                        </a:rPr>
                        <a:t>#-</a:t>
                      </a:r>
                      <a:endParaRPr sz="1500">
                        <a:latin typeface="Times New Roman"/>
                        <a:cs typeface="Times New Roman"/>
                      </a:endParaRPr>
                    </a:p>
                  </a:txBody>
                  <a:tcPr marL="0" marR="0" marB="0" marT="42545">
                    <a:lnL w="12700">
                      <a:solidFill>
                        <a:srgbClr val="000000"/>
                      </a:solidFill>
                      <a:prstDash val="solid"/>
                    </a:lnL>
                    <a:lnR w="12700">
                      <a:solidFill>
                        <a:srgbClr val="000000"/>
                      </a:solidFill>
                      <a:prstDash val="solid"/>
                    </a:lnR>
                    <a:lnT w="12700">
                      <a:solidFill>
                        <a:srgbClr val="000000"/>
                      </a:solidFill>
                      <a:prstDash val="solid"/>
                    </a:lnT>
                  </a:tcPr>
                </a:tc>
                <a:tc>
                  <a:txBody>
                    <a:bodyPr/>
                    <a:lstStyle/>
                    <a:p>
                      <a:pPr marL="92075">
                        <a:lnSpc>
                          <a:spcPts val="1545"/>
                        </a:lnSpc>
                        <a:spcBef>
                          <a:spcPts val="335"/>
                        </a:spcBef>
                      </a:pPr>
                      <a:r>
                        <a:rPr dirty="0" sz="1500" b="1">
                          <a:solidFill>
                            <a:srgbClr val="40458B"/>
                          </a:solidFill>
                          <a:latin typeface="Times New Roman"/>
                          <a:cs typeface="Times New Roman"/>
                        </a:rPr>
                        <a:t>BNE</a:t>
                      </a:r>
                      <a:r>
                        <a:rPr dirty="0" sz="1500" spc="-20" b="1">
                          <a:solidFill>
                            <a:srgbClr val="40458B"/>
                          </a:solidFill>
                          <a:latin typeface="Times New Roman"/>
                          <a:cs typeface="Times New Roman"/>
                        </a:rPr>
                        <a:t> </a:t>
                      </a:r>
                      <a:r>
                        <a:rPr dirty="0" sz="1500" spc="-10" b="1">
                          <a:solidFill>
                            <a:srgbClr val="40458B"/>
                          </a:solidFill>
                          <a:latin typeface="Times New Roman"/>
                          <a:cs typeface="Times New Roman"/>
                        </a:rPr>
                        <a:t>R1</a:t>
                      </a:r>
                      <a:r>
                        <a:rPr dirty="0" sz="1500" spc="-10" b="1">
                          <a:solidFill>
                            <a:srgbClr val="40458B"/>
                          </a:solidFill>
                          <a:latin typeface="宋体"/>
                          <a:cs typeface="宋体"/>
                        </a:rPr>
                        <a:t>，</a:t>
                      </a:r>
                      <a:r>
                        <a:rPr dirty="0" sz="1500" spc="-10" b="1">
                          <a:solidFill>
                            <a:srgbClr val="40458B"/>
                          </a:solidFill>
                          <a:latin typeface="Times New Roman"/>
                          <a:cs typeface="Times New Roman"/>
                        </a:rPr>
                        <a:t>R2</a:t>
                      </a:r>
                      <a:r>
                        <a:rPr dirty="0" sz="1500" spc="-10" b="1">
                          <a:solidFill>
                            <a:srgbClr val="40458B"/>
                          </a:solidFill>
                          <a:latin typeface="宋体"/>
                          <a:cs typeface="宋体"/>
                        </a:rPr>
                        <a:t>，</a:t>
                      </a:r>
                      <a:r>
                        <a:rPr dirty="0" sz="1500" spc="-10" b="1">
                          <a:solidFill>
                            <a:srgbClr val="40458B"/>
                          </a:solidFill>
                          <a:latin typeface="Times New Roman"/>
                          <a:cs typeface="Times New Roman"/>
                        </a:rPr>
                        <a:t>Loop</a:t>
                      </a:r>
                      <a:endParaRPr sz="1500">
                        <a:latin typeface="Times New Roman"/>
                        <a:cs typeface="Times New Roman"/>
                      </a:endParaRPr>
                    </a:p>
                  </a:txBody>
                  <a:tcPr marL="0" marR="0" marB="0" marT="42545">
                    <a:lnL w="12700">
                      <a:solidFill>
                        <a:srgbClr val="000000"/>
                      </a:solidFill>
                      <a:prstDash val="solid"/>
                    </a:lnL>
                    <a:lnR w="12700">
                      <a:solidFill>
                        <a:srgbClr val="000000"/>
                      </a:solidFill>
                      <a:prstDash val="solid"/>
                    </a:lnR>
                    <a:lnT w="12700">
                      <a:solidFill>
                        <a:srgbClr val="000000"/>
                      </a:solidFill>
                      <a:prstDash val="solid"/>
                    </a:lnT>
                  </a:tcPr>
                </a:tc>
                <a:tc>
                  <a:txBody>
                    <a:bodyPr/>
                    <a:lstStyle/>
                    <a:p>
                      <a:pPr marL="92075">
                        <a:lnSpc>
                          <a:spcPts val="1560"/>
                        </a:lnSpc>
                        <a:spcBef>
                          <a:spcPts val="325"/>
                        </a:spcBef>
                      </a:pPr>
                      <a:r>
                        <a:rPr dirty="0" sz="1500" spc="-25" b="1">
                          <a:solidFill>
                            <a:srgbClr val="40458B"/>
                          </a:solidFill>
                          <a:latin typeface="Times New Roman"/>
                          <a:cs typeface="Times New Roman"/>
                        </a:rPr>
                        <a:t>12</a:t>
                      </a:r>
                      <a:endParaRPr sz="1500">
                        <a:latin typeface="Times New Roman"/>
                        <a:cs typeface="Times New Roman"/>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tcPr>
                </a:tc>
              </a:tr>
            </a:tbl>
          </a:graphicData>
        </a:graphic>
      </p:graphicFrame>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118/89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197916" y="1110672"/>
            <a:ext cx="7895590" cy="2231390"/>
          </a:xfrm>
          <a:prstGeom prst="rect">
            <a:avLst/>
          </a:prstGeom>
        </p:spPr>
        <p:txBody>
          <a:bodyPr wrap="square" lIns="0" tIns="129539" rIns="0" bIns="0" rtlCol="0" vert="horz">
            <a:spAutoFit/>
          </a:bodyPr>
          <a:lstStyle/>
          <a:p>
            <a:pPr marL="12700">
              <a:lnSpc>
                <a:spcPct val="100000"/>
              </a:lnSpc>
              <a:spcBef>
                <a:spcPts val="1019"/>
              </a:spcBef>
            </a:pPr>
            <a:r>
              <a:rPr dirty="0" sz="2600">
                <a:solidFill>
                  <a:srgbClr val="0000CC"/>
                </a:solidFill>
                <a:latin typeface="Tahoma"/>
                <a:cs typeface="Tahoma"/>
              </a:rPr>
              <a:t>6.6.2 </a:t>
            </a:r>
            <a:r>
              <a:rPr dirty="0" sz="2600" spc="-20">
                <a:solidFill>
                  <a:srgbClr val="0000CC"/>
                </a:solidFill>
                <a:latin typeface="Tahoma"/>
                <a:cs typeface="Tahoma"/>
              </a:rPr>
              <a:t>IA-</a:t>
            </a:r>
            <a:r>
              <a:rPr dirty="0" sz="2600" spc="-30">
                <a:solidFill>
                  <a:srgbClr val="0000CC"/>
                </a:solidFill>
                <a:latin typeface="Tahoma"/>
                <a:cs typeface="Tahoma"/>
              </a:rPr>
              <a:t>64</a:t>
            </a:r>
            <a:r>
              <a:rPr dirty="0" sz="2600" spc="-15">
                <a:solidFill>
                  <a:srgbClr val="0000CC"/>
                </a:solidFill>
                <a:latin typeface="黑体"/>
                <a:cs typeface="黑体"/>
              </a:rPr>
              <a:t>的谓词执行机制</a:t>
            </a:r>
            <a:endParaRPr sz="2600">
              <a:latin typeface="黑体"/>
              <a:cs typeface="黑体"/>
            </a:endParaRPr>
          </a:p>
          <a:p>
            <a:pPr marL="1097280" indent="-455295">
              <a:lnSpc>
                <a:spcPct val="100000"/>
              </a:lnSpc>
              <a:spcBef>
                <a:spcPts val="980"/>
              </a:spcBef>
              <a:buClr>
                <a:srgbClr val="40458B"/>
              </a:buClr>
              <a:buSzPct val="89285"/>
              <a:buFont typeface="Wingdings"/>
              <a:buChar char=""/>
              <a:tabLst>
                <a:tab pos="1097280" algn="l"/>
              </a:tabLst>
            </a:pPr>
            <a:r>
              <a:rPr dirty="0" sz="2800" spc="-10">
                <a:solidFill>
                  <a:srgbClr val="0000CC"/>
                </a:solidFill>
                <a:latin typeface="Tahoma"/>
                <a:cs typeface="Tahoma"/>
              </a:rPr>
              <a:t>IA-64</a:t>
            </a:r>
            <a:r>
              <a:rPr dirty="0" sz="2800" spc="-40">
                <a:solidFill>
                  <a:srgbClr val="0000CC"/>
                </a:solidFill>
                <a:latin typeface="黑体"/>
                <a:cs typeface="黑体"/>
              </a:rPr>
              <a:t>提供的硬件支持</a:t>
            </a:r>
            <a:endParaRPr sz="2800">
              <a:latin typeface="黑体"/>
              <a:cs typeface="黑体"/>
            </a:endParaRPr>
          </a:p>
          <a:p>
            <a:pPr lvl="1" marL="1490980" indent="-213995">
              <a:lnSpc>
                <a:spcPct val="100000"/>
              </a:lnSpc>
              <a:spcBef>
                <a:spcPts val="825"/>
              </a:spcBef>
              <a:buClr>
                <a:srgbClr val="4668F5"/>
              </a:buClr>
              <a:buSzPct val="60000"/>
              <a:buFont typeface="Wingdings"/>
              <a:buChar char=""/>
              <a:tabLst>
                <a:tab pos="1490980" algn="l"/>
              </a:tabLst>
            </a:pPr>
            <a:r>
              <a:rPr dirty="0" sz="2000" spc="-15" b="1">
                <a:solidFill>
                  <a:srgbClr val="FF5CFF"/>
                </a:solidFill>
                <a:latin typeface="宋体"/>
                <a:cs typeface="宋体"/>
              </a:rPr>
              <a:t>设置了大量的谓词寄存器</a:t>
            </a:r>
            <a:r>
              <a:rPr dirty="0" sz="2000" spc="-10" b="1">
                <a:solidFill>
                  <a:srgbClr val="FF5CFF"/>
                </a:solidFill>
                <a:latin typeface="宋体"/>
                <a:cs typeface="宋体"/>
              </a:rPr>
              <a:t>（</a:t>
            </a:r>
            <a:r>
              <a:rPr dirty="0" sz="2000" spc="-10" b="1">
                <a:solidFill>
                  <a:srgbClr val="6600FF"/>
                </a:solidFill>
                <a:latin typeface="Times New Roman"/>
                <a:cs typeface="Times New Roman"/>
              </a:rPr>
              <a:t>64</a:t>
            </a:r>
            <a:r>
              <a:rPr dirty="0" sz="2000" spc="-10" b="1">
                <a:solidFill>
                  <a:srgbClr val="FF5CFF"/>
                </a:solidFill>
                <a:latin typeface="宋体"/>
                <a:cs typeface="宋体"/>
              </a:rPr>
              <a:t>个</a:t>
            </a:r>
            <a:r>
              <a:rPr dirty="0" sz="2000" spc="-15" b="1">
                <a:solidFill>
                  <a:srgbClr val="FF5CFF"/>
                </a:solidFill>
                <a:latin typeface="宋体"/>
                <a:cs typeface="宋体"/>
              </a:rPr>
              <a:t>）</a:t>
            </a:r>
            <a:r>
              <a:rPr dirty="0" sz="2000" spc="-25" b="1">
                <a:solidFill>
                  <a:srgbClr val="FF5CFF"/>
                </a:solidFill>
                <a:latin typeface="宋体"/>
                <a:cs typeface="宋体"/>
              </a:rPr>
              <a:t>，每个谓词寄存器的宽</a:t>
            </a:r>
            <a:endParaRPr sz="2000">
              <a:latin typeface="宋体"/>
              <a:cs typeface="宋体"/>
            </a:endParaRPr>
          </a:p>
          <a:p>
            <a:pPr lvl="1" marL="1382395" marR="150495" indent="-105410">
              <a:lnSpc>
                <a:spcPct val="110100"/>
              </a:lnSpc>
              <a:spcBef>
                <a:spcPts val="475"/>
              </a:spcBef>
              <a:buClr>
                <a:srgbClr val="4668F5"/>
              </a:buClr>
              <a:buSzPct val="60000"/>
              <a:buFont typeface="Wingdings"/>
              <a:buChar char=""/>
              <a:tabLst>
                <a:tab pos="1382395" algn="l"/>
                <a:tab pos="1490980" algn="l"/>
              </a:tabLst>
            </a:pPr>
            <a:r>
              <a:rPr dirty="0" sz="2000" spc="-10" b="1">
                <a:solidFill>
                  <a:srgbClr val="FF5CFF"/>
                </a:solidFill>
                <a:latin typeface="宋体"/>
                <a:cs typeface="宋体"/>
              </a:rPr>
              <a:t>	</a:t>
            </a:r>
            <a:r>
              <a:rPr dirty="0" sz="2000" spc="-10" b="1">
                <a:solidFill>
                  <a:srgbClr val="FF5CFF"/>
                </a:solidFill>
                <a:latin typeface="宋体"/>
                <a:cs typeface="宋体"/>
              </a:rPr>
              <a:t>所有类型的</a:t>
            </a:r>
            <a:r>
              <a:rPr dirty="0" sz="2000" b="1">
                <a:solidFill>
                  <a:srgbClr val="FF5CFF"/>
                </a:solidFill>
                <a:latin typeface="Times New Roman"/>
                <a:cs typeface="Times New Roman"/>
              </a:rPr>
              <a:t>IA-</a:t>
            </a:r>
            <a:r>
              <a:rPr dirty="0" sz="2000" spc="-10" b="1">
                <a:solidFill>
                  <a:srgbClr val="FF5CFF"/>
                </a:solidFill>
                <a:latin typeface="Times New Roman"/>
                <a:cs typeface="Times New Roman"/>
              </a:rPr>
              <a:t>64</a:t>
            </a:r>
            <a:r>
              <a:rPr dirty="0" sz="2000" spc="-25" b="1">
                <a:solidFill>
                  <a:srgbClr val="FF5CFF"/>
                </a:solidFill>
                <a:latin typeface="宋体"/>
                <a:cs typeface="宋体"/>
              </a:rPr>
              <a:t>操作都可以按照谓词执行方式执行，每</a:t>
            </a:r>
            <a:r>
              <a:rPr dirty="0" sz="2000" spc="10" b="1">
                <a:solidFill>
                  <a:srgbClr val="FF5CFF"/>
                </a:solidFill>
                <a:latin typeface="宋体"/>
                <a:cs typeface="宋体"/>
              </a:rPr>
              <a:t>保存执行条件的谓词寄 存器。</a:t>
            </a:r>
            <a:endParaRPr sz="2000">
              <a:latin typeface="宋体"/>
              <a:cs typeface="宋体"/>
            </a:endParaRPr>
          </a:p>
        </p:txBody>
      </p:sp>
      <p:sp>
        <p:nvSpPr>
          <p:cNvPr id="9" name="object 9" descr=""/>
          <p:cNvSpPr txBox="1"/>
          <p:nvPr/>
        </p:nvSpPr>
        <p:spPr>
          <a:xfrm>
            <a:off x="8113014" y="2188311"/>
            <a:ext cx="3731895" cy="817880"/>
          </a:xfrm>
          <a:prstGeom prst="rect">
            <a:avLst/>
          </a:prstGeom>
        </p:spPr>
        <p:txBody>
          <a:bodyPr wrap="square" lIns="0" tIns="104140" rIns="0" bIns="0" rtlCol="0" vert="horz">
            <a:spAutoFit/>
          </a:bodyPr>
          <a:lstStyle/>
          <a:p>
            <a:pPr marL="155575">
              <a:lnSpc>
                <a:spcPct val="100000"/>
              </a:lnSpc>
              <a:spcBef>
                <a:spcPts val="820"/>
              </a:spcBef>
            </a:pPr>
            <a:r>
              <a:rPr dirty="0" sz="2000" spc="-10" b="1">
                <a:solidFill>
                  <a:srgbClr val="FF5CFF"/>
                </a:solidFill>
                <a:latin typeface="宋体"/>
                <a:cs typeface="宋体"/>
              </a:rPr>
              <a:t>度都是</a:t>
            </a:r>
            <a:r>
              <a:rPr dirty="0" sz="2000" b="1">
                <a:solidFill>
                  <a:srgbClr val="6600FF"/>
                </a:solidFill>
                <a:latin typeface="Times New Roman"/>
                <a:cs typeface="Times New Roman"/>
              </a:rPr>
              <a:t>1</a:t>
            </a:r>
            <a:r>
              <a:rPr dirty="0" sz="2000" spc="-30" b="1">
                <a:solidFill>
                  <a:srgbClr val="FF5CFF"/>
                </a:solidFill>
                <a:latin typeface="宋体"/>
                <a:cs typeface="宋体"/>
              </a:rPr>
              <a:t>位。</a:t>
            </a:r>
            <a:endParaRPr sz="2000">
              <a:latin typeface="宋体"/>
              <a:cs typeface="宋体"/>
            </a:endParaRPr>
          </a:p>
          <a:p>
            <a:pPr marL="12700">
              <a:lnSpc>
                <a:spcPct val="100000"/>
              </a:lnSpc>
              <a:spcBef>
                <a:spcPts val="720"/>
              </a:spcBef>
            </a:pPr>
            <a:r>
              <a:rPr dirty="0" sz="2000" spc="-10" b="1">
                <a:solidFill>
                  <a:srgbClr val="FF5CFF"/>
                </a:solidFill>
                <a:latin typeface="宋体"/>
                <a:cs typeface="宋体"/>
              </a:rPr>
              <a:t>个操作</a:t>
            </a:r>
            <a:r>
              <a:rPr dirty="0" sz="2000" b="1">
                <a:solidFill>
                  <a:srgbClr val="6600FF"/>
                </a:solidFill>
                <a:latin typeface="Times New Roman"/>
                <a:cs typeface="Times New Roman"/>
              </a:rPr>
              <a:t>41</a:t>
            </a:r>
            <a:r>
              <a:rPr dirty="0" sz="2000" spc="-15" b="1">
                <a:solidFill>
                  <a:srgbClr val="FF5CFF"/>
                </a:solidFill>
                <a:latin typeface="宋体"/>
                <a:cs typeface="宋体"/>
              </a:rPr>
              <a:t>位编码的最低</a:t>
            </a:r>
            <a:r>
              <a:rPr dirty="0" sz="2000" spc="-10" b="1">
                <a:solidFill>
                  <a:srgbClr val="FF5CFF"/>
                </a:solidFill>
                <a:latin typeface="Times New Roman"/>
                <a:cs typeface="Times New Roman"/>
              </a:rPr>
              <a:t>6</a:t>
            </a:r>
            <a:r>
              <a:rPr dirty="0" sz="2000" spc="-25" b="1">
                <a:solidFill>
                  <a:srgbClr val="FF5CFF"/>
                </a:solidFill>
                <a:latin typeface="宋体"/>
                <a:cs typeface="宋体"/>
              </a:rPr>
              <a:t>位指明了</a:t>
            </a:r>
            <a:endParaRPr sz="2000">
              <a:latin typeface="宋体"/>
              <a:cs typeface="宋体"/>
            </a:endParaRPr>
          </a:p>
        </p:txBody>
      </p:sp>
      <p:sp>
        <p:nvSpPr>
          <p:cNvPr id="10" name="object 10" descr=""/>
          <p:cNvSpPr txBox="1"/>
          <p:nvPr/>
        </p:nvSpPr>
        <p:spPr>
          <a:xfrm>
            <a:off x="1462786" y="3407155"/>
            <a:ext cx="10696575" cy="330835"/>
          </a:xfrm>
          <a:prstGeom prst="rect">
            <a:avLst/>
          </a:prstGeom>
        </p:spPr>
        <p:txBody>
          <a:bodyPr wrap="square" lIns="0" tIns="13335" rIns="0" bIns="0" rtlCol="0" vert="horz">
            <a:spAutoFit/>
          </a:bodyPr>
          <a:lstStyle/>
          <a:p>
            <a:pPr marL="226695" indent="-213995">
              <a:lnSpc>
                <a:spcPct val="100000"/>
              </a:lnSpc>
              <a:spcBef>
                <a:spcPts val="105"/>
              </a:spcBef>
              <a:buClr>
                <a:srgbClr val="4668F5"/>
              </a:buClr>
              <a:buSzPct val="60000"/>
              <a:buFont typeface="Wingdings"/>
              <a:buChar char=""/>
              <a:tabLst>
                <a:tab pos="226695" algn="l"/>
                <a:tab pos="6342380" algn="l"/>
              </a:tabLst>
            </a:pPr>
            <a:r>
              <a:rPr dirty="0" sz="2000" spc="-10" b="1">
                <a:solidFill>
                  <a:srgbClr val="FF5CFF"/>
                </a:solidFill>
                <a:latin typeface="宋体"/>
                <a:cs typeface="宋体"/>
              </a:rPr>
              <a:t>增强</a:t>
            </a:r>
            <a:r>
              <a:rPr dirty="0" sz="2000" spc="-20" b="1">
                <a:solidFill>
                  <a:srgbClr val="FF5CFF"/>
                </a:solidFill>
                <a:latin typeface="宋体"/>
                <a:cs typeface="宋体"/>
              </a:rPr>
              <a:t>了</a:t>
            </a:r>
            <a:r>
              <a:rPr dirty="0" sz="2000" spc="-10" b="1">
                <a:solidFill>
                  <a:srgbClr val="FF5CFF"/>
                </a:solidFill>
                <a:latin typeface="宋体"/>
                <a:cs typeface="宋体"/>
              </a:rPr>
              <a:t>比</a:t>
            </a:r>
            <a:r>
              <a:rPr dirty="0" sz="2000" spc="-20" b="1">
                <a:solidFill>
                  <a:srgbClr val="FF5CFF"/>
                </a:solidFill>
                <a:latin typeface="宋体"/>
                <a:cs typeface="宋体"/>
              </a:rPr>
              <a:t>较</a:t>
            </a:r>
            <a:r>
              <a:rPr dirty="0" sz="2000" spc="-10" b="1">
                <a:solidFill>
                  <a:srgbClr val="FF5CFF"/>
                </a:solidFill>
                <a:latin typeface="宋体"/>
                <a:cs typeface="宋体"/>
              </a:rPr>
              <a:t>（</a:t>
            </a:r>
            <a:r>
              <a:rPr dirty="0" sz="2000" spc="-10" b="1">
                <a:solidFill>
                  <a:srgbClr val="6600FF"/>
                </a:solidFill>
                <a:latin typeface="Times New Roman"/>
                <a:cs typeface="Times New Roman"/>
              </a:rPr>
              <a:t>compare</a:t>
            </a:r>
            <a:r>
              <a:rPr dirty="0" sz="2000" spc="-10" b="1">
                <a:solidFill>
                  <a:srgbClr val="FF5CFF"/>
                </a:solidFill>
                <a:latin typeface="宋体"/>
                <a:cs typeface="宋体"/>
              </a:rPr>
              <a:t>）操作和测</a:t>
            </a:r>
            <a:r>
              <a:rPr dirty="0" sz="2000" spc="-20" b="1">
                <a:solidFill>
                  <a:srgbClr val="FF5CFF"/>
                </a:solidFill>
                <a:latin typeface="宋体"/>
                <a:cs typeface="宋体"/>
              </a:rPr>
              <a:t>试</a:t>
            </a:r>
            <a:r>
              <a:rPr dirty="0" sz="2000" spc="-10" b="1">
                <a:solidFill>
                  <a:srgbClr val="FF5CFF"/>
                </a:solidFill>
                <a:latin typeface="宋体"/>
                <a:cs typeface="宋体"/>
              </a:rPr>
              <a:t>（</a:t>
            </a:r>
            <a:r>
              <a:rPr dirty="0" sz="2000" spc="-10" b="1">
                <a:solidFill>
                  <a:srgbClr val="6600FF"/>
                </a:solidFill>
                <a:latin typeface="Times New Roman"/>
                <a:cs typeface="Times New Roman"/>
              </a:rPr>
              <a:t>test</a:t>
            </a:r>
            <a:r>
              <a:rPr dirty="0" sz="2000" spc="-10" b="1">
                <a:solidFill>
                  <a:srgbClr val="FF5CFF"/>
                </a:solidFill>
                <a:latin typeface="宋体"/>
                <a:cs typeface="宋体"/>
              </a:rPr>
              <a:t>）操作</a:t>
            </a:r>
            <a:r>
              <a:rPr dirty="0" sz="2000" spc="-20" b="1">
                <a:solidFill>
                  <a:srgbClr val="FF5CFF"/>
                </a:solidFill>
                <a:latin typeface="宋体"/>
                <a:cs typeface="宋体"/>
              </a:rPr>
              <a:t>的</a:t>
            </a:r>
            <a:r>
              <a:rPr dirty="0" sz="2000" spc="-50" b="1">
                <a:solidFill>
                  <a:srgbClr val="FF5CFF"/>
                </a:solidFill>
                <a:latin typeface="宋体"/>
                <a:cs typeface="宋体"/>
              </a:rPr>
              <a:t>功</a:t>
            </a:r>
            <a:r>
              <a:rPr dirty="0" sz="2000" b="1">
                <a:solidFill>
                  <a:srgbClr val="FF5CFF"/>
                </a:solidFill>
                <a:latin typeface="宋体"/>
                <a:cs typeface="宋体"/>
              </a:rPr>
              <a:t>	</a:t>
            </a:r>
            <a:r>
              <a:rPr dirty="0" sz="2000" spc="-10" b="1">
                <a:solidFill>
                  <a:srgbClr val="FF5CFF"/>
                </a:solidFill>
                <a:latin typeface="宋体"/>
                <a:cs typeface="宋体"/>
              </a:rPr>
              <a:t>能，都</a:t>
            </a:r>
            <a:r>
              <a:rPr dirty="0" sz="2000" spc="-20" b="1">
                <a:solidFill>
                  <a:srgbClr val="FF5CFF"/>
                </a:solidFill>
                <a:latin typeface="宋体"/>
                <a:cs typeface="宋体"/>
              </a:rPr>
              <a:t>可</a:t>
            </a:r>
            <a:r>
              <a:rPr dirty="0" sz="2000" spc="-10" b="1">
                <a:solidFill>
                  <a:srgbClr val="FF5CFF"/>
                </a:solidFill>
                <a:latin typeface="宋体"/>
                <a:cs typeface="宋体"/>
              </a:rPr>
              <a:t>以同时修</a:t>
            </a:r>
            <a:r>
              <a:rPr dirty="0" sz="2000" spc="-20" b="1">
                <a:solidFill>
                  <a:srgbClr val="FF5CFF"/>
                </a:solidFill>
                <a:latin typeface="宋体"/>
                <a:cs typeface="宋体"/>
              </a:rPr>
              <a:t>改多</a:t>
            </a:r>
            <a:r>
              <a:rPr dirty="0" sz="2000" spc="-10" b="1">
                <a:solidFill>
                  <a:srgbClr val="FF5CFF"/>
                </a:solidFill>
                <a:latin typeface="宋体"/>
                <a:cs typeface="宋体"/>
              </a:rPr>
              <a:t>个谓词寄</a:t>
            </a:r>
            <a:r>
              <a:rPr dirty="0" sz="2000" spc="-20" b="1">
                <a:solidFill>
                  <a:srgbClr val="FF5CFF"/>
                </a:solidFill>
                <a:latin typeface="宋体"/>
                <a:cs typeface="宋体"/>
              </a:rPr>
              <a:t>存器</a:t>
            </a:r>
            <a:r>
              <a:rPr dirty="0" sz="2000" spc="-50" b="1">
                <a:solidFill>
                  <a:srgbClr val="FF5CFF"/>
                </a:solidFill>
                <a:latin typeface="宋体"/>
                <a:cs typeface="宋体"/>
              </a:rPr>
              <a:t>。</a:t>
            </a:r>
            <a:endParaRPr sz="2000">
              <a:latin typeface="宋体"/>
              <a:cs typeface="宋体"/>
            </a:endParaRPr>
          </a:p>
        </p:txBody>
      </p:sp>
      <p:sp>
        <p:nvSpPr>
          <p:cNvPr id="11" name="object 11"/>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341755" algn="l"/>
                <a:tab pos="10788015" algn="l"/>
              </a:tabLst>
            </a:pPr>
            <a:r>
              <a:rPr dirty="0"/>
              <a:t>	6.6</a:t>
            </a:r>
            <a:r>
              <a:rPr dirty="0" spc="5"/>
              <a:t> </a:t>
            </a:r>
            <a:r>
              <a:rPr dirty="0" spc="-10"/>
              <a:t>实例：IA-64</a:t>
            </a:r>
            <a:r>
              <a:rPr dirty="0"/>
              <a:t>体</a:t>
            </a:r>
            <a:r>
              <a:rPr dirty="0" spc="-20"/>
              <a:t>系</a:t>
            </a:r>
            <a:r>
              <a:rPr dirty="0"/>
              <a:t>结</a:t>
            </a:r>
            <a:r>
              <a:rPr dirty="0" spc="-50"/>
              <a:t>构</a:t>
            </a:r>
            <a:r>
              <a:rPr dirty="0"/>
              <a:t>	</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119/89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4797044" y="1623821"/>
            <a:ext cx="3226435" cy="330835"/>
          </a:xfrm>
          <a:prstGeom prst="rect">
            <a:avLst/>
          </a:prstGeom>
        </p:spPr>
        <p:txBody>
          <a:bodyPr wrap="square" lIns="0" tIns="13335" rIns="0" bIns="0" rtlCol="0" vert="horz">
            <a:spAutoFit/>
          </a:bodyPr>
          <a:lstStyle/>
          <a:p>
            <a:pPr marL="12700">
              <a:lnSpc>
                <a:spcPct val="100000"/>
              </a:lnSpc>
              <a:spcBef>
                <a:spcPts val="105"/>
              </a:spcBef>
            </a:pPr>
            <a:r>
              <a:rPr dirty="0" sz="2000" spc="-10" b="1">
                <a:solidFill>
                  <a:srgbClr val="0000CC"/>
                </a:solidFill>
                <a:latin typeface="宋体"/>
                <a:cs typeface="宋体"/>
              </a:rPr>
              <a:t>IA-64</a:t>
            </a:r>
            <a:r>
              <a:rPr dirty="0" sz="2000" spc="-25" b="1">
                <a:solidFill>
                  <a:srgbClr val="0000CC"/>
                </a:solidFill>
                <a:latin typeface="宋体"/>
                <a:cs typeface="宋体"/>
              </a:rPr>
              <a:t>所支持的不同比较模式</a:t>
            </a:r>
            <a:endParaRPr sz="2000">
              <a:latin typeface="宋体"/>
              <a:cs typeface="宋体"/>
            </a:endParaRPr>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341755" algn="l"/>
                <a:tab pos="10788015" algn="l"/>
              </a:tabLst>
            </a:pPr>
            <a:r>
              <a:rPr dirty="0"/>
              <a:t>	6.6</a:t>
            </a:r>
            <a:r>
              <a:rPr dirty="0" spc="5"/>
              <a:t> </a:t>
            </a:r>
            <a:r>
              <a:rPr dirty="0" spc="-10"/>
              <a:t>实例：IA-64</a:t>
            </a:r>
            <a:r>
              <a:rPr dirty="0"/>
              <a:t>体</a:t>
            </a:r>
            <a:r>
              <a:rPr dirty="0" spc="-20"/>
              <a:t>系</a:t>
            </a:r>
            <a:r>
              <a:rPr dirty="0"/>
              <a:t>结</a:t>
            </a:r>
            <a:r>
              <a:rPr dirty="0" spc="-50"/>
              <a:t>构</a:t>
            </a:r>
            <a:r>
              <a:rPr dirty="0"/>
              <a:t>	</a:t>
            </a:r>
          </a:p>
        </p:txBody>
      </p:sp>
      <p:graphicFrame>
        <p:nvGraphicFramePr>
          <p:cNvPr id="10" name="object 10" descr=""/>
          <p:cNvGraphicFramePr>
            <a:graphicFrameLocks noGrp="1"/>
          </p:cNvGraphicFramePr>
          <p:nvPr/>
        </p:nvGraphicFramePr>
        <p:xfrm>
          <a:off x="1768475" y="2198751"/>
          <a:ext cx="8731250" cy="3684905"/>
        </p:xfrm>
        <a:graphic>
          <a:graphicData uri="http://schemas.openxmlformats.org/drawingml/2006/table">
            <a:tbl>
              <a:tblPr firstRow="1" bandRow="1">
                <a:tableStyleId>{2D5ABB26-0587-4C30-8999-92F81FD0307C}</a:tableStyleId>
              </a:tblPr>
              <a:tblGrid>
                <a:gridCol w="1514475"/>
                <a:gridCol w="1265555"/>
                <a:gridCol w="3019424"/>
                <a:gridCol w="2842895"/>
              </a:tblGrid>
              <a:tr h="380365">
                <a:tc rowSpan="2">
                  <a:txBody>
                    <a:bodyPr/>
                    <a:lstStyle/>
                    <a:p>
                      <a:pPr algn="ctr">
                        <a:lnSpc>
                          <a:spcPct val="100000"/>
                        </a:lnSpc>
                        <a:spcBef>
                          <a:spcPts val="1860"/>
                        </a:spcBef>
                      </a:pPr>
                      <a:r>
                        <a:rPr dirty="0" sz="1900" spc="-30" b="1">
                          <a:solidFill>
                            <a:srgbClr val="E14B04"/>
                          </a:solidFill>
                          <a:latin typeface="宋体"/>
                          <a:cs typeface="宋体"/>
                        </a:rPr>
                        <a:t>模式</a:t>
                      </a:r>
                      <a:endParaRPr sz="1900">
                        <a:latin typeface="宋体"/>
                        <a:cs typeface="宋体"/>
                      </a:endParaRPr>
                    </a:p>
                  </a:txBody>
                  <a:tcPr marL="0" marR="0" marB="0" marT="23622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rowSpan="2">
                  <a:txBody>
                    <a:bodyPr/>
                    <a:lstStyle/>
                    <a:p>
                      <a:pPr marL="147320">
                        <a:lnSpc>
                          <a:spcPct val="100000"/>
                        </a:lnSpc>
                        <a:spcBef>
                          <a:spcPts val="1860"/>
                        </a:spcBef>
                      </a:pPr>
                      <a:r>
                        <a:rPr dirty="0" sz="1900" spc="-25" b="1">
                          <a:solidFill>
                            <a:srgbClr val="E14B04"/>
                          </a:solidFill>
                          <a:latin typeface="宋体"/>
                          <a:cs typeface="宋体"/>
                        </a:rPr>
                        <a:t>指令后缀</a:t>
                      </a:r>
                      <a:endParaRPr sz="1900">
                        <a:latin typeface="宋体"/>
                        <a:cs typeface="宋体"/>
                      </a:endParaRPr>
                    </a:p>
                  </a:txBody>
                  <a:tcPr marL="0" marR="0" marB="0" marT="23622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algn="ctr" marL="1270">
                        <a:lnSpc>
                          <a:spcPct val="100000"/>
                        </a:lnSpc>
                        <a:spcBef>
                          <a:spcPts val="359"/>
                        </a:spcBef>
                      </a:pPr>
                      <a:r>
                        <a:rPr dirty="0" sz="1900" spc="-30" b="1">
                          <a:solidFill>
                            <a:srgbClr val="E14B04"/>
                          </a:solidFill>
                          <a:latin typeface="宋体"/>
                          <a:cs typeface="宋体"/>
                        </a:rPr>
                        <a:t>操作</a:t>
                      </a:r>
                      <a:endParaRPr sz="1900">
                        <a:latin typeface="宋体"/>
                        <a:cs typeface="宋体"/>
                      </a:endParaRPr>
                    </a:p>
                  </a:txBody>
                  <a:tcPr marL="0" marR="0" marB="0" marT="45719">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pPr/>
                    </a:p>
                  </a:txBody>
                  <a:tcPr marL="0" marR="0" marB="0" marT="0"/>
                </a:tc>
              </a:tr>
              <a:tr h="381000">
                <a:tc vMerge="1">
                  <a:txBody>
                    <a:bodyPr/>
                    <a:lstStyle/>
                    <a:p>
                      <a:pPr/>
                    </a:p>
                  </a:txBody>
                  <a:tcPr marL="0" marR="0" marB="0" marT="23622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pPr/>
                    </a:p>
                  </a:txBody>
                  <a:tcPr marL="0" marR="0" marB="0" marT="23622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1345">
                        <a:lnSpc>
                          <a:spcPct val="100000"/>
                        </a:lnSpc>
                        <a:spcBef>
                          <a:spcPts val="320"/>
                        </a:spcBef>
                      </a:pPr>
                      <a:r>
                        <a:rPr dirty="0" sz="1900" spc="-20" b="1">
                          <a:solidFill>
                            <a:srgbClr val="E14B04"/>
                          </a:solidFill>
                          <a:latin typeface="宋体"/>
                          <a:cs typeface="宋体"/>
                        </a:rPr>
                        <a:t>目的谓词寄存器</a:t>
                      </a:r>
                      <a:r>
                        <a:rPr dirty="0" sz="1900" spc="-50" b="1">
                          <a:solidFill>
                            <a:srgbClr val="E14B04"/>
                          </a:solidFill>
                          <a:latin typeface="Times New Roman"/>
                          <a:cs typeface="Times New Roman"/>
                        </a:rPr>
                        <a:t>1</a:t>
                      </a:r>
                      <a:endParaRPr sz="19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13080">
                        <a:lnSpc>
                          <a:spcPct val="100000"/>
                        </a:lnSpc>
                        <a:spcBef>
                          <a:spcPts val="320"/>
                        </a:spcBef>
                      </a:pPr>
                      <a:r>
                        <a:rPr dirty="0" sz="1900" spc="-20" b="1">
                          <a:solidFill>
                            <a:srgbClr val="E14B04"/>
                          </a:solidFill>
                          <a:latin typeface="宋体"/>
                          <a:cs typeface="宋体"/>
                        </a:rPr>
                        <a:t>目的谓词寄存器</a:t>
                      </a:r>
                      <a:r>
                        <a:rPr dirty="0" sz="1900" spc="-50" b="1">
                          <a:solidFill>
                            <a:srgbClr val="E14B04"/>
                          </a:solidFill>
                          <a:latin typeface="Times New Roman"/>
                          <a:cs typeface="Times New Roman"/>
                        </a:rPr>
                        <a:t>2</a:t>
                      </a:r>
                      <a:endParaRPr sz="1900">
                        <a:latin typeface="Times New Roman"/>
                        <a:cs typeface="Times New Roman"/>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4645">
                <a:tc>
                  <a:txBody>
                    <a:bodyPr/>
                    <a:lstStyle/>
                    <a:p>
                      <a:pPr marL="91440">
                        <a:lnSpc>
                          <a:spcPct val="100000"/>
                        </a:lnSpc>
                        <a:spcBef>
                          <a:spcPts val="325"/>
                        </a:spcBef>
                      </a:pPr>
                      <a:r>
                        <a:rPr dirty="0" sz="1600" spc="-10" b="1">
                          <a:solidFill>
                            <a:srgbClr val="40458B"/>
                          </a:solidFill>
                          <a:latin typeface="Times New Roman"/>
                          <a:cs typeface="Times New Roman"/>
                        </a:rPr>
                        <a:t>Normal</a:t>
                      </a:r>
                      <a:endParaRPr sz="1600">
                        <a:latin typeface="Times New Roman"/>
                        <a:cs typeface="Times New Roman"/>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60"/>
                        </a:spcBef>
                      </a:pPr>
                      <a:r>
                        <a:rPr dirty="0" sz="1600" spc="-50" b="1">
                          <a:solidFill>
                            <a:srgbClr val="40458B"/>
                          </a:solidFill>
                          <a:latin typeface="宋体"/>
                          <a:cs typeface="宋体"/>
                        </a:rPr>
                        <a:t>无</a:t>
                      </a:r>
                      <a:endParaRPr sz="1600">
                        <a:latin typeface="宋体"/>
                        <a:cs typeface="宋体"/>
                      </a:endParaRPr>
                    </a:p>
                  </a:txBody>
                  <a:tcPr marL="0" marR="0" marB="0" marT="4572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5"/>
                        </a:spcBef>
                      </a:pPr>
                      <a:r>
                        <a:rPr dirty="0" sz="1600" b="1">
                          <a:solidFill>
                            <a:srgbClr val="40458B"/>
                          </a:solidFill>
                          <a:latin typeface="Times New Roman"/>
                          <a:cs typeface="Times New Roman"/>
                        </a:rPr>
                        <a:t>if</a:t>
                      </a:r>
                      <a:r>
                        <a:rPr dirty="0" sz="1600" spc="-15" b="1">
                          <a:solidFill>
                            <a:srgbClr val="40458B"/>
                          </a:solidFill>
                          <a:latin typeface="Times New Roman"/>
                          <a:cs typeface="Times New Roman"/>
                        </a:rPr>
                        <a:t> </a:t>
                      </a:r>
                      <a:r>
                        <a:rPr dirty="0" sz="1600" b="1">
                          <a:solidFill>
                            <a:srgbClr val="40458B"/>
                          </a:solidFill>
                          <a:latin typeface="Times New Roman"/>
                          <a:cs typeface="Times New Roman"/>
                        </a:rPr>
                        <a:t>(qp)</a:t>
                      </a:r>
                      <a:r>
                        <a:rPr dirty="0" sz="1600" spc="-25" b="1">
                          <a:solidFill>
                            <a:srgbClr val="40458B"/>
                          </a:solidFill>
                          <a:latin typeface="Times New Roman"/>
                          <a:cs typeface="Times New Roman"/>
                        </a:rPr>
                        <a:t> </a:t>
                      </a:r>
                      <a:r>
                        <a:rPr dirty="0" sz="1600" spc="-10" b="1">
                          <a:solidFill>
                            <a:srgbClr val="40458B"/>
                          </a:solidFill>
                          <a:latin typeface="Times New Roman"/>
                          <a:cs typeface="Times New Roman"/>
                        </a:rPr>
                        <a:t>{target=result}</a:t>
                      </a:r>
                      <a:endParaRPr sz="1600">
                        <a:latin typeface="Times New Roman"/>
                        <a:cs typeface="Times New Roman"/>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5"/>
                        </a:spcBef>
                      </a:pPr>
                      <a:r>
                        <a:rPr dirty="0" sz="1600" b="1">
                          <a:solidFill>
                            <a:srgbClr val="40458B"/>
                          </a:solidFill>
                          <a:latin typeface="Times New Roman"/>
                          <a:cs typeface="Times New Roman"/>
                        </a:rPr>
                        <a:t>if</a:t>
                      </a:r>
                      <a:r>
                        <a:rPr dirty="0" sz="1600" spc="-15" b="1">
                          <a:solidFill>
                            <a:srgbClr val="40458B"/>
                          </a:solidFill>
                          <a:latin typeface="Times New Roman"/>
                          <a:cs typeface="Times New Roman"/>
                        </a:rPr>
                        <a:t> </a:t>
                      </a:r>
                      <a:r>
                        <a:rPr dirty="0" sz="1600" b="1">
                          <a:solidFill>
                            <a:srgbClr val="40458B"/>
                          </a:solidFill>
                          <a:latin typeface="Times New Roman"/>
                          <a:cs typeface="Times New Roman"/>
                        </a:rPr>
                        <a:t>(qp)</a:t>
                      </a:r>
                      <a:r>
                        <a:rPr dirty="0" sz="1600" spc="-25" b="1">
                          <a:solidFill>
                            <a:srgbClr val="40458B"/>
                          </a:solidFill>
                          <a:latin typeface="Times New Roman"/>
                          <a:cs typeface="Times New Roman"/>
                        </a:rPr>
                        <a:t> </a:t>
                      </a:r>
                      <a:r>
                        <a:rPr dirty="0" sz="1600" spc="-10" b="1">
                          <a:solidFill>
                            <a:srgbClr val="40458B"/>
                          </a:solidFill>
                          <a:latin typeface="Times New Roman"/>
                          <a:cs typeface="Times New Roman"/>
                        </a:rPr>
                        <a:t>{target=!result}</a:t>
                      </a:r>
                      <a:endParaRPr sz="1600">
                        <a:latin typeface="Times New Roman"/>
                        <a:cs typeface="Times New Roman"/>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579120">
                <a:tc>
                  <a:txBody>
                    <a:bodyPr/>
                    <a:lstStyle/>
                    <a:p>
                      <a:pPr marL="91440">
                        <a:lnSpc>
                          <a:spcPct val="100000"/>
                        </a:lnSpc>
                        <a:spcBef>
                          <a:spcPts val="1285"/>
                        </a:spcBef>
                      </a:pPr>
                      <a:r>
                        <a:rPr dirty="0" sz="1600" spc="-10" b="1">
                          <a:solidFill>
                            <a:srgbClr val="40458B"/>
                          </a:solidFill>
                          <a:latin typeface="Times New Roman"/>
                          <a:cs typeface="Times New Roman"/>
                        </a:rPr>
                        <a:t>Unconditional</a:t>
                      </a:r>
                      <a:endParaRPr sz="1600">
                        <a:latin typeface="Times New Roman"/>
                        <a:cs typeface="Times New Roman"/>
                      </a:endParaRPr>
                    </a:p>
                  </a:txBody>
                  <a:tcPr marL="0" marR="0" marB="0" marT="1631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1285"/>
                        </a:spcBef>
                      </a:pPr>
                      <a:r>
                        <a:rPr dirty="0" sz="1600" spc="-25" b="1">
                          <a:solidFill>
                            <a:srgbClr val="40458B"/>
                          </a:solidFill>
                          <a:latin typeface="Times New Roman"/>
                          <a:cs typeface="Times New Roman"/>
                        </a:rPr>
                        <a:t>unc</a:t>
                      </a:r>
                      <a:endParaRPr sz="1600">
                        <a:latin typeface="Times New Roman"/>
                        <a:cs typeface="Times New Roman"/>
                      </a:endParaRPr>
                    </a:p>
                  </a:txBody>
                  <a:tcPr marL="0" marR="0" marB="0" marT="1631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1046480">
                        <a:lnSpc>
                          <a:spcPct val="100600"/>
                        </a:lnSpc>
                        <a:spcBef>
                          <a:spcPts val="300"/>
                        </a:spcBef>
                      </a:pPr>
                      <a:r>
                        <a:rPr dirty="0" sz="1600" b="1">
                          <a:solidFill>
                            <a:srgbClr val="40458B"/>
                          </a:solidFill>
                          <a:latin typeface="Times New Roman"/>
                          <a:cs typeface="Times New Roman"/>
                        </a:rPr>
                        <a:t>if</a:t>
                      </a:r>
                      <a:r>
                        <a:rPr dirty="0" sz="1600" spc="-15" b="1">
                          <a:solidFill>
                            <a:srgbClr val="40458B"/>
                          </a:solidFill>
                          <a:latin typeface="Times New Roman"/>
                          <a:cs typeface="Times New Roman"/>
                        </a:rPr>
                        <a:t> </a:t>
                      </a:r>
                      <a:r>
                        <a:rPr dirty="0" sz="1600" b="1">
                          <a:solidFill>
                            <a:srgbClr val="40458B"/>
                          </a:solidFill>
                          <a:latin typeface="Times New Roman"/>
                          <a:cs typeface="Times New Roman"/>
                        </a:rPr>
                        <a:t>(qp)</a:t>
                      </a:r>
                      <a:r>
                        <a:rPr dirty="0" sz="1600" spc="-25" b="1">
                          <a:solidFill>
                            <a:srgbClr val="40458B"/>
                          </a:solidFill>
                          <a:latin typeface="Times New Roman"/>
                          <a:cs typeface="Times New Roman"/>
                        </a:rPr>
                        <a:t> </a:t>
                      </a:r>
                      <a:r>
                        <a:rPr dirty="0" sz="1600" spc="-10" b="1">
                          <a:solidFill>
                            <a:srgbClr val="40458B"/>
                          </a:solidFill>
                          <a:latin typeface="Times New Roman"/>
                          <a:cs typeface="Times New Roman"/>
                        </a:rPr>
                        <a:t>{target=result} </a:t>
                      </a:r>
                      <a:r>
                        <a:rPr dirty="0" sz="1600" b="1">
                          <a:solidFill>
                            <a:srgbClr val="40458B"/>
                          </a:solidFill>
                          <a:latin typeface="Times New Roman"/>
                          <a:cs typeface="Times New Roman"/>
                        </a:rPr>
                        <a:t>else</a:t>
                      </a:r>
                      <a:r>
                        <a:rPr dirty="0" sz="1600" spc="-5" b="1">
                          <a:solidFill>
                            <a:srgbClr val="40458B"/>
                          </a:solidFill>
                          <a:latin typeface="Times New Roman"/>
                          <a:cs typeface="Times New Roman"/>
                        </a:rPr>
                        <a:t> </a:t>
                      </a:r>
                      <a:r>
                        <a:rPr dirty="0" sz="1600" spc="-10" b="1">
                          <a:solidFill>
                            <a:srgbClr val="40458B"/>
                          </a:solidFill>
                          <a:latin typeface="Times New Roman"/>
                          <a:cs typeface="Times New Roman"/>
                        </a:rPr>
                        <a:t>{target=0}</a:t>
                      </a:r>
                      <a:endParaRPr sz="1600">
                        <a:latin typeface="Times New Roman"/>
                        <a:cs typeface="Times New Roman"/>
                      </a:endParaRPr>
                    </a:p>
                  </a:txBody>
                  <a:tcPr marL="0" marR="0" marB="0" marT="38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802640">
                        <a:lnSpc>
                          <a:spcPct val="100600"/>
                        </a:lnSpc>
                        <a:spcBef>
                          <a:spcPts val="300"/>
                        </a:spcBef>
                      </a:pPr>
                      <a:r>
                        <a:rPr dirty="0" sz="1600" b="1">
                          <a:solidFill>
                            <a:srgbClr val="40458B"/>
                          </a:solidFill>
                          <a:latin typeface="Times New Roman"/>
                          <a:cs typeface="Times New Roman"/>
                        </a:rPr>
                        <a:t>if</a:t>
                      </a:r>
                      <a:r>
                        <a:rPr dirty="0" sz="1600" spc="-15" b="1">
                          <a:solidFill>
                            <a:srgbClr val="40458B"/>
                          </a:solidFill>
                          <a:latin typeface="Times New Roman"/>
                          <a:cs typeface="Times New Roman"/>
                        </a:rPr>
                        <a:t> </a:t>
                      </a:r>
                      <a:r>
                        <a:rPr dirty="0" sz="1600" b="1">
                          <a:solidFill>
                            <a:srgbClr val="40458B"/>
                          </a:solidFill>
                          <a:latin typeface="Times New Roman"/>
                          <a:cs typeface="Times New Roman"/>
                        </a:rPr>
                        <a:t>(qp)</a:t>
                      </a:r>
                      <a:r>
                        <a:rPr dirty="0" sz="1600" spc="-25" b="1">
                          <a:solidFill>
                            <a:srgbClr val="40458B"/>
                          </a:solidFill>
                          <a:latin typeface="Times New Roman"/>
                          <a:cs typeface="Times New Roman"/>
                        </a:rPr>
                        <a:t> </a:t>
                      </a:r>
                      <a:r>
                        <a:rPr dirty="0" sz="1600" spc="-10" b="1">
                          <a:solidFill>
                            <a:srgbClr val="40458B"/>
                          </a:solidFill>
                          <a:latin typeface="Times New Roman"/>
                          <a:cs typeface="Times New Roman"/>
                        </a:rPr>
                        <a:t>{target=!result} </a:t>
                      </a:r>
                      <a:r>
                        <a:rPr dirty="0" sz="1600" b="1">
                          <a:solidFill>
                            <a:srgbClr val="40458B"/>
                          </a:solidFill>
                          <a:latin typeface="Times New Roman"/>
                          <a:cs typeface="Times New Roman"/>
                        </a:rPr>
                        <a:t>else</a:t>
                      </a:r>
                      <a:r>
                        <a:rPr dirty="0" sz="1600" spc="-5" b="1">
                          <a:solidFill>
                            <a:srgbClr val="40458B"/>
                          </a:solidFill>
                          <a:latin typeface="Times New Roman"/>
                          <a:cs typeface="Times New Roman"/>
                        </a:rPr>
                        <a:t> </a:t>
                      </a:r>
                      <a:r>
                        <a:rPr dirty="0" sz="1600" spc="-10" b="1">
                          <a:solidFill>
                            <a:srgbClr val="40458B"/>
                          </a:solidFill>
                          <a:latin typeface="Times New Roman"/>
                          <a:cs typeface="Times New Roman"/>
                        </a:rPr>
                        <a:t>{target=0}</a:t>
                      </a:r>
                      <a:endParaRPr sz="1600">
                        <a:latin typeface="Times New Roman"/>
                        <a:cs typeface="Times New Roman"/>
                      </a:endParaRPr>
                    </a:p>
                  </a:txBody>
                  <a:tcPr marL="0" marR="0" marB="0" marT="38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4645">
                <a:tc rowSpan="2">
                  <a:txBody>
                    <a:bodyPr/>
                    <a:lstStyle/>
                    <a:p>
                      <a:pPr marL="91440">
                        <a:lnSpc>
                          <a:spcPct val="100000"/>
                        </a:lnSpc>
                        <a:spcBef>
                          <a:spcPts val="1645"/>
                        </a:spcBef>
                      </a:pPr>
                      <a:r>
                        <a:rPr dirty="0" sz="1600" spc="-25" b="1">
                          <a:solidFill>
                            <a:srgbClr val="40458B"/>
                          </a:solidFill>
                          <a:latin typeface="Times New Roman"/>
                          <a:cs typeface="Times New Roman"/>
                        </a:rPr>
                        <a:t>AND</a:t>
                      </a:r>
                      <a:endParaRPr sz="1600">
                        <a:latin typeface="Times New Roman"/>
                        <a:cs typeface="Times New Roman"/>
                      </a:endParaRPr>
                    </a:p>
                  </a:txBody>
                  <a:tcPr marL="0" marR="0" marB="0" marT="2089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5"/>
                        </a:spcBef>
                      </a:pPr>
                      <a:r>
                        <a:rPr dirty="0" sz="1600" spc="-25" b="1">
                          <a:solidFill>
                            <a:srgbClr val="40458B"/>
                          </a:solidFill>
                          <a:latin typeface="Times New Roman"/>
                          <a:cs typeface="Times New Roman"/>
                        </a:rPr>
                        <a:t>and</a:t>
                      </a:r>
                      <a:endParaRPr sz="1600">
                        <a:latin typeface="Times New Roman"/>
                        <a:cs typeface="Times New Roman"/>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5"/>
                        </a:spcBef>
                      </a:pPr>
                      <a:r>
                        <a:rPr dirty="0" sz="1600" b="1">
                          <a:solidFill>
                            <a:srgbClr val="40458B"/>
                          </a:solidFill>
                          <a:latin typeface="Times New Roman"/>
                          <a:cs typeface="Times New Roman"/>
                        </a:rPr>
                        <a:t>if</a:t>
                      </a:r>
                      <a:r>
                        <a:rPr dirty="0" sz="1600" spc="-30" b="1">
                          <a:solidFill>
                            <a:srgbClr val="40458B"/>
                          </a:solidFill>
                          <a:latin typeface="Times New Roman"/>
                          <a:cs typeface="Times New Roman"/>
                        </a:rPr>
                        <a:t> </a:t>
                      </a:r>
                      <a:r>
                        <a:rPr dirty="0" sz="1600" b="1">
                          <a:solidFill>
                            <a:srgbClr val="40458B"/>
                          </a:solidFill>
                          <a:latin typeface="Times New Roman"/>
                          <a:cs typeface="Times New Roman"/>
                        </a:rPr>
                        <a:t>(qp</a:t>
                      </a:r>
                      <a:r>
                        <a:rPr dirty="0" sz="1600" spc="-40" b="1">
                          <a:solidFill>
                            <a:srgbClr val="40458B"/>
                          </a:solidFill>
                          <a:latin typeface="Times New Roman"/>
                          <a:cs typeface="Times New Roman"/>
                        </a:rPr>
                        <a:t> </a:t>
                      </a:r>
                      <a:r>
                        <a:rPr dirty="0" sz="1600" b="1">
                          <a:solidFill>
                            <a:srgbClr val="40458B"/>
                          </a:solidFill>
                          <a:latin typeface="Times New Roman"/>
                          <a:cs typeface="Times New Roman"/>
                        </a:rPr>
                        <a:t>&amp;&amp;</a:t>
                      </a:r>
                      <a:r>
                        <a:rPr dirty="0" sz="1600" spc="-30" b="1">
                          <a:solidFill>
                            <a:srgbClr val="40458B"/>
                          </a:solidFill>
                          <a:latin typeface="Times New Roman"/>
                          <a:cs typeface="Times New Roman"/>
                        </a:rPr>
                        <a:t> </a:t>
                      </a:r>
                      <a:r>
                        <a:rPr dirty="0" sz="1600" b="1">
                          <a:solidFill>
                            <a:srgbClr val="40458B"/>
                          </a:solidFill>
                          <a:latin typeface="Times New Roman"/>
                          <a:cs typeface="Times New Roman"/>
                        </a:rPr>
                        <a:t>!result)</a:t>
                      </a:r>
                      <a:r>
                        <a:rPr dirty="0" sz="1600" spc="-5" b="1">
                          <a:solidFill>
                            <a:srgbClr val="40458B"/>
                          </a:solidFill>
                          <a:latin typeface="Times New Roman"/>
                          <a:cs typeface="Times New Roman"/>
                        </a:rPr>
                        <a:t> </a:t>
                      </a:r>
                      <a:r>
                        <a:rPr dirty="0" sz="1600" spc="-10" b="1">
                          <a:solidFill>
                            <a:srgbClr val="40458B"/>
                          </a:solidFill>
                          <a:latin typeface="Times New Roman"/>
                          <a:cs typeface="Times New Roman"/>
                        </a:rPr>
                        <a:t>{target=0}</a:t>
                      </a:r>
                      <a:endParaRPr sz="1600">
                        <a:latin typeface="Times New Roman"/>
                        <a:cs typeface="Times New Roman"/>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5"/>
                        </a:spcBef>
                      </a:pPr>
                      <a:r>
                        <a:rPr dirty="0" sz="1600" b="1">
                          <a:solidFill>
                            <a:srgbClr val="40458B"/>
                          </a:solidFill>
                          <a:latin typeface="Times New Roman"/>
                          <a:cs typeface="Times New Roman"/>
                        </a:rPr>
                        <a:t>if</a:t>
                      </a:r>
                      <a:r>
                        <a:rPr dirty="0" sz="1600" spc="-30" b="1">
                          <a:solidFill>
                            <a:srgbClr val="40458B"/>
                          </a:solidFill>
                          <a:latin typeface="Times New Roman"/>
                          <a:cs typeface="Times New Roman"/>
                        </a:rPr>
                        <a:t> </a:t>
                      </a:r>
                      <a:r>
                        <a:rPr dirty="0" sz="1600" b="1">
                          <a:solidFill>
                            <a:srgbClr val="40458B"/>
                          </a:solidFill>
                          <a:latin typeface="Times New Roman"/>
                          <a:cs typeface="Times New Roman"/>
                        </a:rPr>
                        <a:t>(qp</a:t>
                      </a:r>
                      <a:r>
                        <a:rPr dirty="0" sz="1600" spc="-40" b="1">
                          <a:solidFill>
                            <a:srgbClr val="40458B"/>
                          </a:solidFill>
                          <a:latin typeface="Times New Roman"/>
                          <a:cs typeface="Times New Roman"/>
                        </a:rPr>
                        <a:t> </a:t>
                      </a:r>
                      <a:r>
                        <a:rPr dirty="0" sz="1600" b="1">
                          <a:solidFill>
                            <a:srgbClr val="40458B"/>
                          </a:solidFill>
                          <a:latin typeface="Times New Roman"/>
                          <a:cs typeface="Times New Roman"/>
                        </a:rPr>
                        <a:t>&amp;&amp;</a:t>
                      </a:r>
                      <a:r>
                        <a:rPr dirty="0" sz="1600" spc="-30" b="1">
                          <a:solidFill>
                            <a:srgbClr val="40458B"/>
                          </a:solidFill>
                          <a:latin typeface="Times New Roman"/>
                          <a:cs typeface="Times New Roman"/>
                        </a:rPr>
                        <a:t> </a:t>
                      </a:r>
                      <a:r>
                        <a:rPr dirty="0" sz="1600" b="1">
                          <a:solidFill>
                            <a:srgbClr val="40458B"/>
                          </a:solidFill>
                          <a:latin typeface="Times New Roman"/>
                          <a:cs typeface="Times New Roman"/>
                        </a:rPr>
                        <a:t>!result)</a:t>
                      </a:r>
                      <a:r>
                        <a:rPr dirty="0" sz="1600" spc="-5" b="1">
                          <a:solidFill>
                            <a:srgbClr val="40458B"/>
                          </a:solidFill>
                          <a:latin typeface="Times New Roman"/>
                          <a:cs typeface="Times New Roman"/>
                        </a:rPr>
                        <a:t> </a:t>
                      </a:r>
                      <a:r>
                        <a:rPr dirty="0" sz="1600" spc="-10" b="1">
                          <a:solidFill>
                            <a:srgbClr val="40458B"/>
                          </a:solidFill>
                          <a:latin typeface="Times New Roman"/>
                          <a:cs typeface="Times New Roman"/>
                        </a:rPr>
                        <a:t>{target=0}</a:t>
                      </a:r>
                      <a:endParaRPr sz="1600">
                        <a:latin typeface="Times New Roman"/>
                        <a:cs typeface="Times New Roman"/>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5280">
                <a:tc vMerge="1">
                  <a:txBody>
                    <a:bodyPr/>
                    <a:lstStyle/>
                    <a:p>
                      <a:pPr/>
                    </a:p>
                  </a:txBody>
                  <a:tcPr marL="0" marR="0" marB="0" marT="2089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5"/>
                        </a:spcBef>
                      </a:pPr>
                      <a:r>
                        <a:rPr dirty="0" sz="1600" spc="-10" b="1">
                          <a:solidFill>
                            <a:srgbClr val="40458B"/>
                          </a:solidFill>
                          <a:latin typeface="Times New Roman"/>
                          <a:cs typeface="Times New Roman"/>
                        </a:rPr>
                        <a:t>andcm</a:t>
                      </a:r>
                      <a:endParaRPr sz="1600">
                        <a:latin typeface="Times New Roman"/>
                        <a:cs typeface="Times New Roman"/>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5"/>
                        </a:spcBef>
                      </a:pPr>
                      <a:r>
                        <a:rPr dirty="0" sz="1600" b="1">
                          <a:solidFill>
                            <a:srgbClr val="40458B"/>
                          </a:solidFill>
                          <a:latin typeface="Times New Roman"/>
                          <a:cs typeface="Times New Roman"/>
                        </a:rPr>
                        <a:t>if</a:t>
                      </a:r>
                      <a:r>
                        <a:rPr dirty="0" sz="1600" spc="-30" b="1">
                          <a:solidFill>
                            <a:srgbClr val="40458B"/>
                          </a:solidFill>
                          <a:latin typeface="Times New Roman"/>
                          <a:cs typeface="Times New Roman"/>
                        </a:rPr>
                        <a:t> </a:t>
                      </a:r>
                      <a:r>
                        <a:rPr dirty="0" sz="1600" b="1">
                          <a:solidFill>
                            <a:srgbClr val="40458B"/>
                          </a:solidFill>
                          <a:latin typeface="Times New Roman"/>
                          <a:cs typeface="Times New Roman"/>
                        </a:rPr>
                        <a:t>(qp</a:t>
                      </a:r>
                      <a:r>
                        <a:rPr dirty="0" sz="1600" spc="-35" b="1">
                          <a:solidFill>
                            <a:srgbClr val="40458B"/>
                          </a:solidFill>
                          <a:latin typeface="Times New Roman"/>
                          <a:cs typeface="Times New Roman"/>
                        </a:rPr>
                        <a:t> </a:t>
                      </a:r>
                      <a:r>
                        <a:rPr dirty="0" sz="1600" b="1">
                          <a:solidFill>
                            <a:srgbClr val="40458B"/>
                          </a:solidFill>
                          <a:latin typeface="Times New Roman"/>
                          <a:cs typeface="Times New Roman"/>
                        </a:rPr>
                        <a:t>&amp;&amp;</a:t>
                      </a:r>
                      <a:r>
                        <a:rPr dirty="0" sz="1600" spc="-30" b="1">
                          <a:solidFill>
                            <a:srgbClr val="40458B"/>
                          </a:solidFill>
                          <a:latin typeface="Times New Roman"/>
                          <a:cs typeface="Times New Roman"/>
                        </a:rPr>
                        <a:t> </a:t>
                      </a:r>
                      <a:r>
                        <a:rPr dirty="0" sz="1600" b="1">
                          <a:solidFill>
                            <a:srgbClr val="40458B"/>
                          </a:solidFill>
                          <a:latin typeface="Times New Roman"/>
                          <a:cs typeface="Times New Roman"/>
                        </a:rPr>
                        <a:t>result)</a:t>
                      </a:r>
                      <a:r>
                        <a:rPr dirty="0" sz="1600" spc="-10" b="1">
                          <a:solidFill>
                            <a:srgbClr val="40458B"/>
                          </a:solidFill>
                          <a:latin typeface="Times New Roman"/>
                          <a:cs typeface="Times New Roman"/>
                        </a:rPr>
                        <a:t> {target=0}</a:t>
                      </a:r>
                      <a:endParaRPr sz="1600">
                        <a:latin typeface="Times New Roman"/>
                        <a:cs typeface="Times New Roman"/>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5"/>
                        </a:spcBef>
                      </a:pPr>
                      <a:r>
                        <a:rPr dirty="0" sz="1600" b="1">
                          <a:solidFill>
                            <a:srgbClr val="40458B"/>
                          </a:solidFill>
                          <a:latin typeface="Times New Roman"/>
                          <a:cs typeface="Times New Roman"/>
                        </a:rPr>
                        <a:t>if</a:t>
                      </a:r>
                      <a:r>
                        <a:rPr dirty="0" sz="1600" spc="-30" b="1">
                          <a:solidFill>
                            <a:srgbClr val="40458B"/>
                          </a:solidFill>
                          <a:latin typeface="Times New Roman"/>
                          <a:cs typeface="Times New Roman"/>
                        </a:rPr>
                        <a:t> </a:t>
                      </a:r>
                      <a:r>
                        <a:rPr dirty="0" sz="1600" b="1">
                          <a:solidFill>
                            <a:srgbClr val="40458B"/>
                          </a:solidFill>
                          <a:latin typeface="Times New Roman"/>
                          <a:cs typeface="Times New Roman"/>
                        </a:rPr>
                        <a:t>(qp</a:t>
                      </a:r>
                      <a:r>
                        <a:rPr dirty="0" sz="1600" spc="-35" b="1">
                          <a:solidFill>
                            <a:srgbClr val="40458B"/>
                          </a:solidFill>
                          <a:latin typeface="Times New Roman"/>
                          <a:cs typeface="Times New Roman"/>
                        </a:rPr>
                        <a:t> </a:t>
                      </a:r>
                      <a:r>
                        <a:rPr dirty="0" sz="1600" b="1">
                          <a:solidFill>
                            <a:srgbClr val="40458B"/>
                          </a:solidFill>
                          <a:latin typeface="Times New Roman"/>
                          <a:cs typeface="Times New Roman"/>
                        </a:rPr>
                        <a:t>&amp;&amp;</a:t>
                      </a:r>
                      <a:r>
                        <a:rPr dirty="0" sz="1600" spc="-30" b="1">
                          <a:solidFill>
                            <a:srgbClr val="40458B"/>
                          </a:solidFill>
                          <a:latin typeface="Times New Roman"/>
                          <a:cs typeface="Times New Roman"/>
                        </a:rPr>
                        <a:t> </a:t>
                      </a:r>
                      <a:r>
                        <a:rPr dirty="0" sz="1600" b="1">
                          <a:solidFill>
                            <a:srgbClr val="40458B"/>
                          </a:solidFill>
                          <a:latin typeface="Times New Roman"/>
                          <a:cs typeface="Times New Roman"/>
                        </a:rPr>
                        <a:t>result)</a:t>
                      </a:r>
                      <a:r>
                        <a:rPr dirty="0" sz="1600" spc="-10" b="1">
                          <a:solidFill>
                            <a:srgbClr val="40458B"/>
                          </a:solidFill>
                          <a:latin typeface="Times New Roman"/>
                          <a:cs typeface="Times New Roman"/>
                        </a:rPr>
                        <a:t> {target=0}</a:t>
                      </a:r>
                      <a:endParaRPr sz="1600">
                        <a:latin typeface="Times New Roman"/>
                        <a:cs typeface="Times New Roman"/>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5280">
                <a:tc rowSpan="2">
                  <a:txBody>
                    <a:bodyPr/>
                    <a:lstStyle/>
                    <a:p>
                      <a:pPr marL="91440">
                        <a:lnSpc>
                          <a:spcPct val="100000"/>
                        </a:lnSpc>
                        <a:spcBef>
                          <a:spcPts val="1645"/>
                        </a:spcBef>
                      </a:pPr>
                      <a:r>
                        <a:rPr dirty="0" sz="1600" spc="-25" b="1">
                          <a:solidFill>
                            <a:srgbClr val="40458B"/>
                          </a:solidFill>
                          <a:latin typeface="Times New Roman"/>
                          <a:cs typeface="Times New Roman"/>
                        </a:rPr>
                        <a:t>OR</a:t>
                      </a:r>
                      <a:endParaRPr sz="1600">
                        <a:latin typeface="Times New Roman"/>
                        <a:cs typeface="Times New Roman"/>
                      </a:endParaRPr>
                    </a:p>
                  </a:txBody>
                  <a:tcPr marL="0" marR="0" marB="0" marT="2089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5"/>
                        </a:spcBef>
                      </a:pPr>
                      <a:r>
                        <a:rPr dirty="0" sz="1600" spc="-25" b="1">
                          <a:solidFill>
                            <a:srgbClr val="40458B"/>
                          </a:solidFill>
                          <a:latin typeface="Times New Roman"/>
                          <a:cs typeface="Times New Roman"/>
                        </a:rPr>
                        <a:t>or</a:t>
                      </a:r>
                      <a:endParaRPr sz="1600">
                        <a:latin typeface="Times New Roman"/>
                        <a:cs typeface="Times New Roman"/>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5"/>
                        </a:spcBef>
                      </a:pPr>
                      <a:r>
                        <a:rPr dirty="0" sz="1600" b="1">
                          <a:solidFill>
                            <a:srgbClr val="40458B"/>
                          </a:solidFill>
                          <a:latin typeface="Times New Roman"/>
                          <a:cs typeface="Times New Roman"/>
                        </a:rPr>
                        <a:t>if</a:t>
                      </a:r>
                      <a:r>
                        <a:rPr dirty="0" sz="1600" spc="-30" b="1">
                          <a:solidFill>
                            <a:srgbClr val="40458B"/>
                          </a:solidFill>
                          <a:latin typeface="Times New Roman"/>
                          <a:cs typeface="Times New Roman"/>
                        </a:rPr>
                        <a:t> </a:t>
                      </a:r>
                      <a:r>
                        <a:rPr dirty="0" sz="1600" b="1">
                          <a:solidFill>
                            <a:srgbClr val="40458B"/>
                          </a:solidFill>
                          <a:latin typeface="Times New Roman"/>
                          <a:cs typeface="Times New Roman"/>
                        </a:rPr>
                        <a:t>(qp</a:t>
                      </a:r>
                      <a:r>
                        <a:rPr dirty="0" sz="1600" spc="-30" b="1">
                          <a:solidFill>
                            <a:srgbClr val="40458B"/>
                          </a:solidFill>
                          <a:latin typeface="Times New Roman"/>
                          <a:cs typeface="Times New Roman"/>
                        </a:rPr>
                        <a:t> </a:t>
                      </a:r>
                      <a:r>
                        <a:rPr dirty="0" sz="1600" b="1">
                          <a:solidFill>
                            <a:srgbClr val="40458B"/>
                          </a:solidFill>
                          <a:latin typeface="Times New Roman"/>
                          <a:cs typeface="Times New Roman"/>
                        </a:rPr>
                        <a:t>&amp;&amp;</a:t>
                      </a:r>
                      <a:r>
                        <a:rPr dirty="0" sz="1600" spc="-35" b="1">
                          <a:solidFill>
                            <a:srgbClr val="40458B"/>
                          </a:solidFill>
                          <a:latin typeface="Times New Roman"/>
                          <a:cs typeface="Times New Roman"/>
                        </a:rPr>
                        <a:t> </a:t>
                      </a:r>
                      <a:r>
                        <a:rPr dirty="0" sz="1600" b="1">
                          <a:solidFill>
                            <a:srgbClr val="40458B"/>
                          </a:solidFill>
                          <a:latin typeface="Times New Roman"/>
                          <a:cs typeface="Times New Roman"/>
                        </a:rPr>
                        <a:t>result)</a:t>
                      </a:r>
                      <a:r>
                        <a:rPr dirty="0" sz="1600" spc="-15" b="1">
                          <a:solidFill>
                            <a:srgbClr val="40458B"/>
                          </a:solidFill>
                          <a:latin typeface="Times New Roman"/>
                          <a:cs typeface="Times New Roman"/>
                        </a:rPr>
                        <a:t> </a:t>
                      </a:r>
                      <a:r>
                        <a:rPr dirty="0" sz="1600" spc="-10" b="1">
                          <a:solidFill>
                            <a:srgbClr val="40458B"/>
                          </a:solidFill>
                          <a:latin typeface="Times New Roman"/>
                          <a:cs typeface="Times New Roman"/>
                        </a:rPr>
                        <a:t>{target=1}</a:t>
                      </a:r>
                      <a:endParaRPr sz="1600">
                        <a:latin typeface="Times New Roman"/>
                        <a:cs typeface="Times New Roman"/>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5"/>
                        </a:spcBef>
                      </a:pPr>
                      <a:r>
                        <a:rPr dirty="0" sz="1600" b="1">
                          <a:solidFill>
                            <a:srgbClr val="40458B"/>
                          </a:solidFill>
                          <a:latin typeface="Times New Roman"/>
                          <a:cs typeface="Times New Roman"/>
                        </a:rPr>
                        <a:t>if</a:t>
                      </a:r>
                      <a:r>
                        <a:rPr dirty="0" sz="1600" spc="-30" b="1">
                          <a:solidFill>
                            <a:srgbClr val="40458B"/>
                          </a:solidFill>
                          <a:latin typeface="Times New Roman"/>
                          <a:cs typeface="Times New Roman"/>
                        </a:rPr>
                        <a:t> </a:t>
                      </a:r>
                      <a:r>
                        <a:rPr dirty="0" sz="1600" b="1">
                          <a:solidFill>
                            <a:srgbClr val="40458B"/>
                          </a:solidFill>
                          <a:latin typeface="Times New Roman"/>
                          <a:cs typeface="Times New Roman"/>
                        </a:rPr>
                        <a:t>(qp</a:t>
                      </a:r>
                      <a:r>
                        <a:rPr dirty="0" sz="1600" spc="-30" b="1">
                          <a:solidFill>
                            <a:srgbClr val="40458B"/>
                          </a:solidFill>
                          <a:latin typeface="Times New Roman"/>
                          <a:cs typeface="Times New Roman"/>
                        </a:rPr>
                        <a:t> </a:t>
                      </a:r>
                      <a:r>
                        <a:rPr dirty="0" sz="1600" b="1">
                          <a:solidFill>
                            <a:srgbClr val="40458B"/>
                          </a:solidFill>
                          <a:latin typeface="Times New Roman"/>
                          <a:cs typeface="Times New Roman"/>
                        </a:rPr>
                        <a:t>&amp;&amp;</a:t>
                      </a:r>
                      <a:r>
                        <a:rPr dirty="0" sz="1600" spc="-35" b="1">
                          <a:solidFill>
                            <a:srgbClr val="40458B"/>
                          </a:solidFill>
                          <a:latin typeface="Times New Roman"/>
                          <a:cs typeface="Times New Roman"/>
                        </a:rPr>
                        <a:t> </a:t>
                      </a:r>
                      <a:r>
                        <a:rPr dirty="0" sz="1600" b="1">
                          <a:solidFill>
                            <a:srgbClr val="40458B"/>
                          </a:solidFill>
                          <a:latin typeface="Times New Roman"/>
                          <a:cs typeface="Times New Roman"/>
                        </a:rPr>
                        <a:t>result)</a:t>
                      </a:r>
                      <a:r>
                        <a:rPr dirty="0" sz="1600" spc="-15" b="1">
                          <a:solidFill>
                            <a:srgbClr val="40458B"/>
                          </a:solidFill>
                          <a:latin typeface="Times New Roman"/>
                          <a:cs typeface="Times New Roman"/>
                        </a:rPr>
                        <a:t> </a:t>
                      </a:r>
                      <a:r>
                        <a:rPr dirty="0" sz="1600" spc="-10" b="1">
                          <a:solidFill>
                            <a:srgbClr val="40458B"/>
                          </a:solidFill>
                          <a:latin typeface="Times New Roman"/>
                          <a:cs typeface="Times New Roman"/>
                        </a:rPr>
                        <a:t>{target=1}</a:t>
                      </a:r>
                      <a:endParaRPr sz="1600">
                        <a:latin typeface="Times New Roman"/>
                        <a:cs typeface="Times New Roman"/>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5280">
                <a:tc vMerge="1">
                  <a:txBody>
                    <a:bodyPr/>
                    <a:lstStyle/>
                    <a:p>
                      <a:pPr/>
                    </a:p>
                  </a:txBody>
                  <a:tcPr marL="0" marR="0" marB="0" marT="2089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30"/>
                        </a:spcBef>
                      </a:pPr>
                      <a:r>
                        <a:rPr dirty="0" sz="1600" spc="-20" b="1">
                          <a:solidFill>
                            <a:srgbClr val="40458B"/>
                          </a:solidFill>
                          <a:latin typeface="Times New Roman"/>
                          <a:cs typeface="Times New Roman"/>
                        </a:rPr>
                        <a:t>orcm</a:t>
                      </a:r>
                      <a:endParaRPr sz="16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30"/>
                        </a:spcBef>
                      </a:pPr>
                      <a:r>
                        <a:rPr dirty="0" sz="1600" b="1">
                          <a:solidFill>
                            <a:srgbClr val="40458B"/>
                          </a:solidFill>
                          <a:latin typeface="Times New Roman"/>
                          <a:cs typeface="Times New Roman"/>
                        </a:rPr>
                        <a:t>if</a:t>
                      </a:r>
                      <a:r>
                        <a:rPr dirty="0" sz="1600" spc="-30" b="1">
                          <a:solidFill>
                            <a:srgbClr val="40458B"/>
                          </a:solidFill>
                          <a:latin typeface="Times New Roman"/>
                          <a:cs typeface="Times New Roman"/>
                        </a:rPr>
                        <a:t> </a:t>
                      </a:r>
                      <a:r>
                        <a:rPr dirty="0" sz="1600" b="1">
                          <a:solidFill>
                            <a:srgbClr val="40458B"/>
                          </a:solidFill>
                          <a:latin typeface="Times New Roman"/>
                          <a:cs typeface="Times New Roman"/>
                        </a:rPr>
                        <a:t>(qp</a:t>
                      </a:r>
                      <a:r>
                        <a:rPr dirty="0" sz="1600" spc="-40" b="1">
                          <a:solidFill>
                            <a:srgbClr val="40458B"/>
                          </a:solidFill>
                          <a:latin typeface="Times New Roman"/>
                          <a:cs typeface="Times New Roman"/>
                        </a:rPr>
                        <a:t> </a:t>
                      </a:r>
                      <a:r>
                        <a:rPr dirty="0" sz="1600" b="1">
                          <a:solidFill>
                            <a:srgbClr val="40458B"/>
                          </a:solidFill>
                          <a:latin typeface="Times New Roman"/>
                          <a:cs typeface="Times New Roman"/>
                        </a:rPr>
                        <a:t>&amp;&amp;</a:t>
                      </a:r>
                      <a:r>
                        <a:rPr dirty="0" sz="1600" spc="-30" b="1">
                          <a:solidFill>
                            <a:srgbClr val="40458B"/>
                          </a:solidFill>
                          <a:latin typeface="Times New Roman"/>
                          <a:cs typeface="Times New Roman"/>
                        </a:rPr>
                        <a:t> </a:t>
                      </a:r>
                      <a:r>
                        <a:rPr dirty="0" sz="1600" b="1">
                          <a:solidFill>
                            <a:srgbClr val="40458B"/>
                          </a:solidFill>
                          <a:latin typeface="Times New Roman"/>
                          <a:cs typeface="Times New Roman"/>
                        </a:rPr>
                        <a:t>!result)</a:t>
                      </a:r>
                      <a:r>
                        <a:rPr dirty="0" sz="1600" spc="-5" b="1">
                          <a:solidFill>
                            <a:srgbClr val="40458B"/>
                          </a:solidFill>
                          <a:latin typeface="Times New Roman"/>
                          <a:cs typeface="Times New Roman"/>
                        </a:rPr>
                        <a:t> </a:t>
                      </a:r>
                      <a:r>
                        <a:rPr dirty="0" sz="1600" spc="-10" b="1">
                          <a:solidFill>
                            <a:srgbClr val="40458B"/>
                          </a:solidFill>
                          <a:latin typeface="Times New Roman"/>
                          <a:cs typeface="Times New Roman"/>
                        </a:rPr>
                        <a:t>{target=1}</a:t>
                      </a:r>
                      <a:endParaRPr sz="16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30"/>
                        </a:spcBef>
                      </a:pPr>
                      <a:r>
                        <a:rPr dirty="0" sz="1600" b="1">
                          <a:solidFill>
                            <a:srgbClr val="40458B"/>
                          </a:solidFill>
                          <a:latin typeface="Times New Roman"/>
                          <a:cs typeface="Times New Roman"/>
                        </a:rPr>
                        <a:t>if</a:t>
                      </a:r>
                      <a:r>
                        <a:rPr dirty="0" sz="1600" spc="-30" b="1">
                          <a:solidFill>
                            <a:srgbClr val="40458B"/>
                          </a:solidFill>
                          <a:latin typeface="Times New Roman"/>
                          <a:cs typeface="Times New Roman"/>
                        </a:rPr>
                        <a:t> </a:t>
                      </a:r>
                      <a:r>
                        <a:rPr dirty="0" sz="1600" b="1">
                          <a:solidFill>
                            <a:srgbClr val="40458B"/>
                          </a:solidFill>
                          <a:latin typeface="Times New Roman"/>
                          <a:cs typeface="Times New Roman"/>
                        </a:rPr>
                        <a:t>(qp</a:t>
                      </a:r>
                      <a:r>
                        <a:rPr dirty="0" sz="1600" spc="-40" b="1">
                          <a:solidFill>
                            <a:srgbClr val="40458B"/>
                          </a:solidFill>
                          <a:latin typeface="Times New Roman"/>
                          <a:cs typeface="Times New Roman"/>
                        </a:rPr>
                        <a:t> </a:t>
                      </a:r>
                      <a:r>
                        <a:rPr dirty="0" sz="1600" b="1">
                          <a:solidFill>
                            <a:srgbClr val="40458B"/>
                          </a:solidFill>
                          <a:latin typeface="Times New Roman"/>
                          <a:cs typeface="Times New Roman"/>
                        </a:rPr>
                        <a:t>&amp;&amp;</a:t>
                      </a:r>
                      <a:r>
                        <a:rPr dirty="0" sz="1600" spc="-30" b="1">
                          <a:solidFill>
                            <a:srgbClr val="40458B"/>
                          </a:solidFill>
                          <a:latin typeface="Times New Roman"/>
                          <a:cs typeface="Times New Roman"/>
                        </a:rPr>
                        <a:t> </a:t>
                      </a:r>
                      <a:r>
                        <a:rPr dirty="0" sz="1600" b="1">
                          <a:solidFill>
                            <a:srgbClr val="40458B"/>
                          </a:solidFill>
                          <a:latin typeface="Times New Roman"/>
                          <a:cs typeface="Times New Roman"/>
                        </a:rPr>
                        <a:t>!result)</a:t>
                      </a:r>
                      <a:r>
                        <a:rPr dirty="0" sz="1600" spc="-5" b="1">
                          <a:solidFill>
                            <a:srgbClr val="40458B"/>
                          </a:solidFill>
                          <a:latin typeface="Times New Roman"/>
                          <a:cs typeface="Times New Roman"/>
                        </a:rPr>
                        <a:t> </a:t>
                      </a:r>
                      <a:r>
                        <a:rPr dirty="0" sz="1600" spc="-10" b="1">
                          <a:solidFill>
                            <a:srgbClr val="40458B"/>
                          </a:solidFill>
                          <a:latin typeface="Times New Roman"/>
                          <a:cs typeface="Times New Roman"/>
                        </a:rPr>
                        <a:t>{target=1}</a:t>
                      </a:r>
                      <a:endParaRPr sz="16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4645">
                <a:tc rowSpan="2">
                  <a:txBody>
                    <a:bodyPr/>
                    <a:lstStyle/>
                    <a:p>
                      <a:pPr marL="91440">
                        <a:lnSpc>
                          <a:spcPct val="100000"/>
                        </a:lnSpc>
                        <a:spcBef>
                          <a:spcPts val="1650"/>
                        </a:spcBef>
                      </a:pPr>
                      <a:r>
                        <a:rPr dirty="0" sz="1600" spc="-10" b="1">
                          <a:solidFill>
                            <a:srgbClr val="40458B"/>
                          </a:solidFill>
                          <a:latin typeface="Times New Roman"/>
                          <a:cs typeface="Times New Roman"/>
                        </a:rPr>
                        <a:t>DeMorgan</a:t>
                      </a:r>
                      <a:endParaRPr sz="1600">
                        <a:latin typeface="Times New Roman"/>
                        <a:cs typeface="Times New Roman"/>
                      </a:endParaRPr>
                    </a:p>
                  </a:txBody>
                  <a:tcPr marL="0" marR="0" marB="0" marT="20955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30"/>
                        </a:spcBef>
                      </a:pPr>
                      <a:r>
                        <a:rPr dirty="0" sz="1600" spc="-10" b="1">
                          <a:solidFill>
                            <a:srgbClr val="40458B"/>
                          </a:solidFill>
                          <a:latin typeface="Times New Roman"/>
                          <a:cs typeface="Times New Roman"/>
                        </a:rPr>
                        <a:t>or.andcm</a:t>
                      </a:r>
                      <a:endParaRPr sz="16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30"/>
                        </a:spcBef>
                      </a:pPr>
                      <a:r>
                        <a:rPr dirty="0" sz="1600" b="1">
                          <a:solidFill>
                            <a:srgbClr val="40458B"/>
                          </a:solidFill>
                          <a:latin typeface="Times New Roman"/>
                          <a:cs typeface="Times New Roman"/>
                        </a:rPr>
                        <a:t>if</a:t>
                      </a:r>
                      <a:r>
                        <a:rPr dirty="0" sz="1600" spc="-30" b="1">
                          <a:solidFill>
                            <a:srgbClr val="40458B"/>
                          </a:solidFill>
                          <a:latin typeface="Times New Roman"/>
                          <a:cs typeface="Times New Roman"/>
                        </a:rPr>
                        <a:t> </a:t>
                      </a:r>
                      <a:r>
                        <a:rPr dirty="0" sz="1600" b="1">
                          <a:solidFill>
                            <a:srgbClr val="40458B"/>
                          </a:solidFill>
                          <a:latin typeface="Times New Roman"/>
                          <a:cs typeface="Times New Roman"/>
                        </a:rPr>
                        <a:t>(qp</a:t>
                      </a:r>
                      <a:r>
                        <a:rPr dirty="0" sz="1600" spc="-35" b="1">
                          <a:solidFill>
                            <a:srgbClr val="40458B"/>
                          </a:solidFill>
                          <a:latin typeface="Times New Roman"/>
                          <a:cs typeface="Times New Roman"/>
                        </a:rPr>
                        <a:t> </a:t>
                      </a:r>
                      <a:r>
                        <a:rPr dirty="0" sz="1600" b="1">
                          <a:solidFill>
                            <a:srgbClr val="40458B"/>
                          </a:solidFill>
                          <a:latin typeface="Times New Roman"/>
                          <a:cs typeface="Times New Roman"/>
                        </a:rPr>
                        <a:t>&amp;&amp;</a:t>
                      </a:r>
                      <a:r>
                        <a:rPr dirty="0" sz="1600" spc="-30" b="1">
                          <a:solidFill>
                            <a:srgbClr val="40458B"/>
                          </a:solidFill>
                          <a:latin typeface="Times New Roman"/>
                          <a:cs typeface="Times New Roman"/>
                        </a:rPr>
                        <a:t> </a:t>
                      </a:r>
                      <a:r>
                        <a:rPr dirty="0" sz="1600" b="1">
                          <a:solidFill>
                            <a:srgbClr val="40458B"/>
                          </a:solidFill>
                          <a:latin typeface="Times New Roman"/>
                          <a:cs typeface="Times New Roman"/>
                        </a:rPr>
                        <a:t>result)</a:t>
                      </a:r>
                      <a:r>
                        <a:rPr dirty="0" sz="1600" spc="-10" b="1">
                          <a:solidFill>
                            <a:srgbClr val="40458B"/>
                          </a:solidFill>
                          <a:latin typeface="Times New Roman"/>
                          <a:cs typeface="Times New Roman"/>
                        </a:rPr>
                        <a:t> {target=1}</a:t>
                      </a:r>
                      <a:endParaRPr sz="16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30"/>
                        </a:spcBef>
                      </a:pPr>
                      <a:r>
                        <a:rPr dirty="0" sz="1600" b="1">
                          <a:solidFill>
                            <a:srgbClr val="40458B"/>
                          </a:solidFill>
                          <a:latin typeface="Times New Roman"/>
                          <a:cs typeface="Times New Roman"/>
                        </a:rPr>
                        <a:t>if</a:t>
                      </a:r>
                      <a:r>
                        <a:rPr dirty="0" sz="1600" spc="-30" b="1">
                          <a:solidFill>
                            <a:srgbClr val="40458B"/>
                          </a:solidFill>
                          <a:latin typeface="Times New Roman"/>
                          <a:cs typeface="Times New Roman"/>
                        </a:rPr>
                        <a:t> </a:t>
                      </a:r>
                      <a:r>
                        <a:rPr dirty="0" sz="1600" b="1">
                          <a:solidFill>
                            <a:srgbClr val="40458B"/>
                          </a:solidFill>
                          <a:latin typeface="Times New Roman"/>
                          <a:cs typeface="Times New Roman"/>
                        </a:rPr>
                        <a:t>(qp</a:t>
                      </a:r>
                      <a:r>
                        <a:rPr dirty="0" sz="1600" spc="-35" b="1">
                          <a:solidFill>
                            <a:srgbClr val="40458B"/>
                          </a:solidFill>
                          <a:latin typeface="Times New Roman"/>
                          <a:cs typeface="Times New Roman"/>
                        </a:rPr>
                        <a:t> </a:t>
                      </a:r>
                      <a:r>
                        <a:rPr dirty="0" sz="1600" b="1">
                          <a:solidFill>
                            <a:srgbClr val="40458B"/>
                          </a:solidFill>
                          <a:latin typeface="Times New Roman"/>
                          <a:cs typeface="Times New Roman"/>
                        </a:rPr>
                        <a:t>&amp;&amp;</a:t>
                      </a:r>
                      <a:r>
                        <a:rPr dirty="0" sz="1600" spc="-30" b="1">
                          <a:solidFill>
                            <a:srgbClr val="40458B"/>
                          </a:solidFill>
                          <a:latin typeface="Times New Roman"/>
                          <a:cs typeface="Times New Roman"/>
                        </a:rPr>
                        <a:t> </a:t>
                      </a:r>
                      <a:r>
                        <a:rPr dirty="0" sz="1600" b="1">
                          <a:solidFill>
                            <a:srgbClr val="40458B"/>
                          </a:solidFill>
                          <a:latin typeface="Times New Roman"/>
                          <a:cs typeface="Times New Roman"/>
                        </a:rPr>
                        <a:t>result)</a:t>
                      </a:r>
                      <a:r>
                        <a:rPr dirty="0" sz="1600" spc="-10" b="1">
                          <a:solidFill>
                            <a:srgbClr val="40458B"/>
                          </a:solidFill>
                          <a:latin typeface="Times New Roman"/>
                          <a:cs typeface="Times New Roman"/>
                        </a:rPr>
                        <a:t> {target=0}</a:t>
                      </a:r>
                      <a:endParaRPr sz="16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4645">
                <a:tc vMerge="1">
                  <a:txBody>
                    <a:bodyPr/>
                    <a:lstStyle/>
                    <a:p>
                      <a:pPr/>
                    </a:p>
                  </a:txBody>
                  <a:tcPr marL="0" marR="0" marB="0" marT="20955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30"/>
                        </a:spcBef>
                      </a:pPr>
                      <a:r>
                        <a:rPr dirty="0" sz="1600" spc="-10" b="1">
                          <a:solidFill>
                            <a:srgbClr val="40458B"/>
                          </a:solidFill>
                          <a:latin typeface="Times New Roman"/>
                          <a:cs typeface="Times New Roman"/>
                        </a:rPr>
                        <a:t>and.orcm</a:t>
                      </a:r>
                      <a:endParaRPr sz="16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30"/>
                        </a:spcBef>
                      </a:pPr>
                      <a:r>
                        <a:rPr dirty="0" sz="1600" b="1">
                          <a:solidFill>
                            <a:srgbClr val="40458B"/>
                          </a:solidFill>
                          <a:latin typeface="Times New Roman"/>
                          <a:cs typeface="Times New Roman"/>
                        </a:rPr>
                        <a:t>if</a:t>
                      </a:r>
                      <a:r>
                        <a:rPr dirty="0" sz="1600" spc="-30" b="1">
                          <a:solidFill>
                            <a:srgbClr val="40458B"/>
                          </a:solidFill>
                          <a:latin typeface="Times New Roman"/>
                          <a:cs typeface="Times New Roman"/>
                        </a:rPr>
                        <a:t> </a:t>
                      </a:r>
                      <a:r>
                        <a:rPr dirty="0" sz="1600" b="1">
                          <a:solidFill>
                            <a:srgbClr val="40458B"/>
                          </a:solidFill>
                          <a:latin typeface="Times New Roman"/>
                          <a:cs typeface="Times New Roman"/>
                        </a:rPr>
                        <a:t>(qp</a:t>
                      </a:r>
                      <a:r>
                        <a:rPr dirty="0" sz="1600" spc="-40" b="1">
                          <a:solidFill>
                            <a:srgbClr val="40458B"/>
                          </a:solidFill>
                          <a:latin typeface="Times New Roman"/>
                          <a:cs typeface="Times New Roman"/>
                        </a:rPr>
                        <a:t> </a:t>
                      </a:r>
                      <a:r>
                        <a:rPr dirty="0" sz="1600" b="1">
                          <a:solidFill>
                            <a:srgbClr val="40458B"/>
                          </a:solidFill>
                          <a:latin typeface="Times New Roman"/>
                          <a:cs typeface="Times New Roman"/>
                        </a:rPr>
                        <a:t>&amp;&amp;</a:t>
                      </a:r>
                      <a:r>
                        <a:rPr dirty="0" sz="1600" spc="-30" b="1">
                          <a:solidFill>
                            <a:srgbClr val="40458B"/>
                          </a:solidFill>
                          <a:latin typeface="Times New Roman"/>
                          <a:cs typeface="Times New Roman"/>
                        </a:rPr>
                        <a:t> </a:t>
                      </a:r>
                      <a:r>
                        <a:rPr dirty="0" sz="1600" b="1">
                          <a:solidFill>
                            <a:srgbClr val="40458B"/>
                          </a:solidFill>
                          <a:latin typeface="Times New Roman"/>
                          <a:cs typeface="Times New Roman"/>
                        </a:rPr>
                        <a:t>!result)</a:t>
                      </a:r>
                      <a:r>
                        <a:rPr dirty="0" sz="1600" spc="-5" b="1">
                          <a:solidFill>
                            <a:srgbClr val="40458B"/>
                          </a:solidFill>
                          <a:latin typeface="Times New Roman"/>
                          <a:cs typeface="Times New Roman"/>
                        </a:rPr>
                        <a:t> </a:t>
                      </a:r>
                      <a:r>
                        <a:rPr dirty="0" sz="1600" spc="-10" b="1">
                          <a:solidFill>
                            <a:srgbClr val="40458B"/>
                          </a:solidFill>
                          <a:latin typeface="Times New Roman"/>
                          <a:cs typeface="Times New Roman"/>
                        </a:rPr>
                        <a:t>{target=0}</a:t>
                      </a:r>
                      <a:endParaRPr sz="16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30"/>
                        </a:spcBef>
                      </a:pPr>
                      <a:r>
                        <a:rPr dirty="0" sz="1600" b="1">
                          <a:solidFill>
                            <a:srgbClr val="40458B"/>
                          </a:solidFill>
                          <a:latin typeface="Times New Roman"/>
                          <a:cs typeface="Times New Roman"/>
                        </a:rPr>
                        <a:t>if</a:t>
                      </a:r>
                      <a:r>
                        <a:rPr dirty="0" sz="1600" spc="-30" b="1">
                          <a:solidFill>
                            <a:srgbClr val="40458B"/>
                          </a:solidFill>
                          <a:latin typeface="Times New Roman"/>
                          <a:cs typeface="Times New Roman"/>
                        </a:rPr>
                        <a:t> </a:t>
                      </a:r>
                      <a:r>
                        <a:rPr dirty="0" sz="1600" b="1">
                          <a:solidFill>
                            <a:srgbClr val="40458B"/>
                          </a:solidFill>
                          <a:latin typeface="Times New Roman"/>
                          <a:cs typeface="Times New Roman"/>
                        </a:rPr>
                        <a:t>(qp</a:t>
                      </a:r>
                      <a:r>
                        <a:rPr dirty="0" sz="1600" spc="-40" b="1">
                          <a:solidFill>
                            <a:srgbClr val="40458B"/>
                          </a:solidFill>
                          <a:latin typeface="Times New Roman"/>
                          <a:cs typeface="Times New Roman"/>
                        </a:rPr>
                        <a:t> </a:t>
                      </a:r>
                      <a:r>
                        <a:rPr dirty="0" sz="1600" b="1">
                          <a:solidFill>
                            <a:srgbClr val="40458B"/>
                          </a:solidFill>
                          <a:latin typeface="Times New Roman"/>
                          <a:cs typeface="Times New Roman"/>
                        </a:rPr>
                        <a:t>&amp;&amp;</a:t>
                      </a:r>
                      <a:r>
                        <a:rPr dirty="0" sz="1600" spc="-30" b="1">
                          <a:solidFill>
                            <a:srgbClr val="40458B"/>
                          </a:solidFill>
                          <a:latin typeface="Times New Roman"/>
                          <a:cs typeface="Times New Roman"/>
                        </a:rPr>
                        <a:t> </a:t>
                      </a:r>
                      <a:r>
                        <a:rPr dirty="0" sz="1600" b="1">
                          <a:solidFill>
                            <a:srgbClr val="40458B"/>
                          </a:solidFill>
                          <a:latin typeface="Times New Roman"/>
                          <a:cs typeface="Times New Roman"/>
                        </a:rPr>
                        <a:t>!result)</a:t>
                      </a:r>
                      <a:r>
                        <a:rPr dirty="0" sz="1600" spc="-5" b="1">
                          <a:solidFill>
                            <a:srgbClr val="40458B"/>
                          </a:solidFill>
                          <a:latin typeface="Times New Roman"/>
                          <a:cs typeface="Times New Roman"/>
                        </a:rPr>
                        <a:t> </a:t>
                      </a:r>
                      <a:r>
                        <a:rPr dirty="0" sz="1600" spc="-10" b="1">
                          <a:solidFill>
                            <a:srgbClr val="40458B"/>
                          </a:solidFill>
                          <a:latin typeface="Times New Roman"/>
                          <a:cs typeface="Times New Roman"/>
                        </a:rPr>
                        <a:t>{target=1}</a:t>
                      </a:r>
                      <a:endParaRPr sz="1600">
                        <a:latin typeface="Times New Roman"/>
                        <a:cs typeface="Times New Roma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120/89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2142870" y="1135990"/>
            <a:ext cx="7700645" cy="3196590"/>
          </a:xfrm>
          <a:prstGeom prst="rect">
            <a:avLst/>
          </a:prstGeom>
        </p:spPr>
        <p:txBody>
          <a:bodyPr wrap="square" lIns="0" tIns="104139" rIns="0" bIns="0" rtlCol="0" vert="horz">
            <a:spAutoFit/>
          </a:bodyPr>
          <a:lstStyle/>
          <a:p>
            <a:pPr marL="12700">
              <a:lnSpc>
                <a:spcPct val="100000"/>
              </a:lnSpc>
              <a:spcBef>
                <a:spcPts val="819"/>
              </a:spcBef>
            </a:pPr>
            <a:r>
              <a:rPr dirty="0" sz="2000" spc="-10" b="1">
                <a:solidFill>
                  <a:srgbClr val="E14B04"/>
                </a:solidFill>
                <a:latin typeface="宋体"/>
                <a:cs typeface="宋体"/>
              </a:rPr>
              <a:t>例</a:t>
            </a:r>
            <a:r>
              <a:rPr dirty="0" sz="2000" b="1">
                <a:solidFill>
                  <a:srgbClr val="E14B04"/>
                </a:solidFill>
                <a:latin typeface="宋体"/>
                <a:cs typeface="宋体"/>
              </a:rPr>
              <a:t>6.13</a:t>
            </a:r>
            <a:r>
              <a:rPr dirty="0" sz="2000" spc="-15" b="1">
                <a:solidFill>
                  <a:srgbClr val="E14B04"/>
                </a:solidFill>
                <a:latin typeface="宋体"/>
                <a:cs typeface="宋体"/>
              </a:rPr>
              <a:t> </a:t>
            </a:r>
            <a:r>
              <a:rPr dirty="0" sz="2000" spc="-10" b="1">
                <a:latin typeface="宋体"/>
                <a:cs typeface="宋体"/>
              </a:rPr>
              <a:t>将下面的C</a:t>
            </a:r>
            <a:r>
              <a:rPr dirty="0" sz="2000" spc="-15" b="1">
                <a:latin typeface="宋体"/>
                <a:cs typeface="宋体"/>
              </a:rPr>
              <a:t>语句转换为</a:t>
            </a:r>
            <a:r>
              <a:rPr dirty="0" sz="2000" spc="-20" b="1">
                <a:latin typeface="宋体"/>
                <a:cs typeface="宋体"/>
              </a:rPr>
              <a:t>IA-</a:t>
            </a:r>
            <a:r>
              <a:rPr dirty="0" sz="2000" spc="-10" b="1">
                <a:latin typeface="宋体"/>
                <a:cs typeface="宋体"/>
              </a:rPr>
              <a:t>64</a:t>
            </a:r>
            <a:r>
              <a:rPr dirty="0" sz="2000" spc="-25" b="1">
                <a:latin typeface="宋体"/>
                <a:cs typeface="宋体"/>
              </a:rPr>
              <a:t>汇编指令，使其执行时间最短。</a:t>
            </a:r>
            <a:endParaRPr sz="2000">
              <a:latin typeface="宋体"/>
              <a:cs typeface="宋体"/>
            </a:endParaRPr>
          </a:p>
          <a:p>
            <a:pPr marL="12700" marR="1379220" indent="900430">
              <a:lnSpc>
                <a:spcPct val="130000"/>
              </a:lnSpc>
              <a:spcBef>
                <a:spcPts val="5"/>
              </a:spcBef>
            </a:pPr>
            <a:r>
              <a:rPr dirty="0" sz="2000" b="1">
                <a:solidFill>
                  <a:srgbClr val="40458B"/>
                </a:solidFill>
                <a:latin typeface="宋体"/>
                <a:cs typeface="宋体"/>
              </a:rPr>
              <a:t>if</a:t>
            </a:r>
            <a:r>
              <a:rPr dirty="0" sz="2000" spc="-30" b="1">
                <a:solidFill>
                  <a:srgbClr val="40458B"/>
                </a:solidFill>
                <a:latin typeface="宋体"/>
                <a:cs typeface="宋体"/>
              </a:rPr>
              <a:t> </a:t>
            </a:r>
            <a:r>
              <a:rPr dirty="0" sz="2000" b="1">
                <a:solidFill>
                  <a:srgbClr val="40458B"/>
                </a:solidFill>
                <a:latin typeface="宋体"/>
                <a:cs typeface="宋体"/>
              </a:rPr>
              <a:t>（r1==1</a:t>
            </a:r>
            <a:r>
              <a:rPr dirty="0" sz="2000" spc="-55" b="1">
                <a:solidFill>
                  <a:srgbClr val="40458B"/>
                </a:solidFill>
                <a:latin typeface="宋体"/>
                <a:cs typeface="宋体"/>
              </a:rPr>
              <a:t> </a:t>
            </a:r>
            <a:r>
              <a:rPr dirty="0" sz="2000" b="1">
                <a:solidFill>
                  <a:srgbClr val="40458B"/>
                </a:solidFill>
                <a:latin typeface="宋体"/>
                <a:cs typeface="宋体"/>
              </a:rPr>
              <a:t>||</a:t>
            </a:r>
            <a:r>
              <a:rPr dirty="0" sz="2000" spc="-25" b="1">
                <a:solidFill>
                  <a:srgbClr val="40458B"/>
                </a:solidFill>
                <a:latin typeface="宋体"/>
                <a:cs typeface="宋体"/>
              </a:rPr>
              <a:t> </a:t>
            </a:r>
            <a:r>
              <a:rPr dirty="0" sz="2000" b="1">
                <a:solidFill>
                  <a:srgbClr val="40458B"/>
                </a:solidFill>
                <a:latin typeface="宋体"/>
                <a:cs typeface="宋体"/>
              </a:rPr>
              <a:t>r2==2</a:t>
            </a:r>
            <a:r>
              <a:rPr dirty="0" sz="2000" spc="-55" b="1">
                <a:solidFill>
                  <a:srgbClr val="40458B"/>
                </a:solidFill>
                <a:latin typeface="宋体"/>
                <a:cs typeface="宋体"/>
              </a:rPr>
              <a:t> </a:t>
            </a:r>
            <a:r>
              <a:rPr dirty="0" sz="2000" b="1">
                <a:solidFill>
                  <a:srgbClr val="40458B"/>
                </a:solidFill>
                <a:latin typeface="宋体"/>
                <a:cs typeface="宋体"/>
              </a:rPr>
              <a:t>||</a:t>
            </a:r>
            <a:r>
              <a:rPr dirty="0" sz="2000" spc="-25" b="1">
                <a:solidFill>
                  <a:srgbClr val="40458B"/>
                </a:solidFill>
                <a:latin typeface="宋体"/>
                <a:cs typeface="宋体"/>
              </a:rPr>
              <a:t> </a:t>
            </a:r>
            <a:r>
              <a:rPr dirty="0" sz="2000" b="1">
                <a:solidFill>
                  <a:srgbClr val="40458B"/>
                </a:solidFill>
                <a:latin typeface="宋体"/>
                <a:cs typeface="宋体"/>
              </a:rPr>
              <a:t>r3==3</a:t>
            </a:r>
            <a:r>
              <a:rPr dirty="0" sz="2000" spc="-55" b="1">
                <a:solidFill>
                  <a:srgbClr val="40458B"/>
                </a:solidFill>
                <a:latin typeface="宋体"/>
                <a:cs typeface="宋体"/>
              </a:rPr>
              <a:t> </a:t>
            </a:r>
            <a:r>
              <a:rPr dirty="0" sz="2000" b="1">
                <a:solidFill>
                  <a:srgbClr val="40458B"/>
                </a:solidFill>
                <a:latin typeface="宋体"/>
                <a:cs typeface="宋体"/>
              </a:rPr>
              <a:t>||</a:t>
            </a:r>
            <a:r>
              <a:rPr dirty="0" sz="2000" spc="-25" b="1">
                <a:solidFill>
                  <a:srgbClr val="40458B"/>
                </a:solidFill>
                <a:latin typeface="宋体"/>
                <a:cs typeface="宋体"/>
              </a:rPr>
              <a:t> </a:t>
            </a:r>
            <a:r>
              <a:rPr dirty="0" sz="2000" spc="-10" b="1">
                <a:solidFill>
                  <a:srgbClr val="40458B"/>
                </a:solidFill>
                <a:latin typeface="宋体"/>
                <a:cs typeface="宋体"/>
              </a:rPr>
              <a:t>r4==4）s；</a:t>
            </a:r>
            <a:r>
              <a:rPr dirty="0" sz="2000" b="1">
                <a:solidFill>
                  <a:srgbClr val="E14B04"/>
                </a:solidFill>
                <a:latin typeface="宋体"/>
                <a:cs typeface="宋体"/>
              </a:rPr>
              <a:t>解 </a:t>
            </a:r>
            <a:r>
              <a:rPr dirty="0" sz="2000" spc="-10" b="1">
                <a:latin typeface="宋体"/>
                <a:cs typeface="宋体"/>
              </a:rPr>
              <a:t>对应的IA-64</a:t>
            </a:r>
            <a:r>
              <a:rPr dirty="0" sz="2000" spc="-25" b="1">
                <a:latin typeface="宋体"/>
                <a:cs typeface="宋体"/>
              </a:rPr>
              <a:t>汇编代码如下。</a:t>
            </a:r>
            <a:endParaRPr sz="2000">
              <a:latin typeface="宋体"/>
              <a:cs typeface="宋体"/>
            </a:endParaRPr>
          </a:p>
          <a:p>
            <a:pPr marL="527685">
              <a:lnSpc>
                <a:spcPct val="100000"/>
              </a:lnSpc>
              <a:spcBef>
                <a:spcPts val="720"/>
              </a:spcBef>
            </a:pPr>
            <a:r>
              <a:rPr dirty="0" sz="2000" spc="-10" b="1">
                <a:latin typeface="宋体"/>
                <a:cs typeface="宋体"/>
              </a:rPr>
              <a:t>IA-</a:t>
            </a:r>
            <a:r>
              <a:rPr dirty="0" sz="2000" b="1">
                <a:latin typeface="宋体"/>
                <a:cs typeface="宋体"/>
              </a:rPr>
              <a:t>64</a:t>
            </a:r>
            <a:r>
              <a:rPr dirty="0" sz="2000" spc="-60" b="1">
                <a:latin typeface="宋体"/>
                <a:cs typeface="宋体"/>
              </a:rPr>
              <a:t> </a:t>
            </a:r>
            <a:r>
              <a:rPr dirty="0" sz="2000" spc="-10" b="1">
                <a:latin typeface="宋体"/>
                <a:cs typeface="宋体"/>
              </a:rPr>
              <a:t>cmp</a:t>
            </a:r>
            <a:r>
              <a:rPr dirty="0" sz="2000" spc="-15" b="1">
                <a:latin typeface="宋体"/>
                <a:cs typeface="宋体"/>
              </a:rPr>
              <a:t>指令的格式为：</a:t>
            </a:r>
            <a:r>
              <a:rPr dirty="0" sz="2000" b="1">
                <a:solidFill>
                  <a:srgbClr val="40458B"/>
                </a:solidFill>
                <a:latin typeface="宋体"/>
                <a:cs typeface="宋体"/>
              </a:rPr>
              <a:t>cmp.op.mod</a:t>
            </a:r>
            <a:r>
              <a:rPr dirty="0" sz="2000" spc="-50" b="1">
                <a:solidFill>
                  <a:srgbClr val="40458B"/>
                </a:solidFill>
                <a:latin typeface="宋体"/>
                <a:cs typeface="宋体"/>
              </a:rPr>
              <a:t> </a:t>
            </a:r>
            <a:r>
              <a:rPr dirty="0" sz="2000" b="1">
                <a:solidFill>
                  <a:srgbClr val="40458B"/>
                </a:solidFill>
                <a:latin typeface="宋体"/>
                <a:cs typeface="宋体"/>
              </a:rPr>
              <a:t>p</a:t>
            </a:r>
            <a:r>
              <a:rPr dirty="0" sz="2000" spc="-15" b="1">
                <a:solidFill>
                  <a:srgbClr val="40458B"/>
                </a:solidFill>
                <a:latin typeface="宋体"/>
                <a:cs typeface="宋体"/>
              </a:rPr>
              <a:t>, </a:t>
            </a:r>
            <a:r>
              <a:rPr dirty="0" sz="2000" b="1">
                <a:solidFill>
                  <a:srgbClr val="40458B"/>
                </a:solidFill>
                <a:latin typeface="宋体"/>
                <a:cs typeface="宋体"/>
              </a:rPr>
              <a:t>q</a:t>
            </a:r>
            <a:r>
              <a:rPr dirty="0" sz="2000" spc="-20" b="1">
                <a:solidFill>
                  <a:srgbClr val="40458B"/>
                </a:solidFill>
                <a:latin typeface="宋体"/>
                <a:cs typeface="宋体"/>
              </a:rPr>
              <a:t> = </a:t>
            </a:r>
            <a:r>
              <a:rPr dirty="0" sz="2000" b="1">
                <a:solidFill>
                  <a:srgbClr val="40458B"/>
                </a:solidFill>
                <a:latin typeface="宋体"/>
                <a:cs typeface="宋体"/>
              </a:rPr>
              <a:t>r1</a:t>
            </a:r>
            <a:r>
              <a:rPr dirty="0" sz="2000" spc="-25" b="1">
                <a:solidFill>
                  <a:srgbClr val="40458B"/>
                </a:solidFill>
                <a:latin typeface="宋体"/>
                <a:cs typeface="宋体"/>
              </a:rPr>
              <a:t>, r2</a:t>
            </a:r>
            <a:endParaRPr sz="2000">
              <a:latin typeface="宋体"/>
              <a:cs typeface="宋体"/>
            </a:endParaRPr>
          </a:p>
          <a:p>
            <a:pPr marL="12700" marR="5080" indent="514984">
              <a:lnSpc>
                <a:spcPct val="130000"/>
              </a:lnSpc>
            </a:pPr>
            <a:r>
              <a:rPr dirty="0" sz="2000" spc="-15" b="1">
                <a:latin typeface="宋体"/>
                <a:cs typeface="宋体"/>
              </a:rPr>
              <a:t>这里</a:t>
            </a:r>
            <a:r>
              <a:rPr dirty="0" sz="2000" b="1">
                <a:solidFill>
                  <a:srgbClr val="6600FF"/>
                </a:solidFill>
                <a:latin typeface="宋体"/>
                <a:cs typeface="宋体"/>
              </a:rPr>
              <a:t>op</a:t>
            </a:r>
            <a:r>
              <a:rPr dirty="0" sz="2000" spc="-20" b="1">
                <a:latin typeface="宋体"/>
                <a:cs typeface="宋体"/>
              </a:rPr>
              <a:t>为要进行的比较操作，</a:t>
            </a:r>
            <a:r>
              <a:rPr dirty="0" sz="2000" spc="-10" b="1">
                <a:solidFill>
                  <a:srgbClr val="6600FF"/>
                </a:solidFill>
                <a:latin typeface="宋体"/>
                <a:cs typeface="宋体"/>
              </a:rPr>
              <a:t>mod</a:t>
            </a:r>
            <a:r>
              <a:rPr dirty="0" sz="2000" spc="-25" b="1">
                <a:latin typeface="宋体"/>
                <a:cs typeface="宋体"/>
              </a:rPr>
              <a:t>为上表所示的比较模式中的一</a:t>
            </a:r>
            <a:r>
              <a:rPr dirty="0" sz="2000" spc="-10" b="1">
                <a:latin typeface="宋体"/>
                <a:cs typeface="宋体"/>
              </a:rPr>
              <a:t>种，</a:t>
            </a:r>
            <a:r>
              <a:rPr dirty="0" sz="2000" spc="-10" b="1">
                <a:solidFill>
                  <a:srgbClr val="6600FF"/>
                </a:solidFill>
                <a:latin typeface="宋体"/>
                <a:cs typeface="宋体"/>
              </a:rPr>
              <a:t>p，q</a:t>
            </a:r>
            <a:r>
              <a:rPr dirty="0" sz="2000" spc="-20" b="1">
                <a:latin typeface="宋体"/>
                <a:cs typeface="宋体"/>
              </a:rPr>
              <a:t>为两个目的谓词寄存器，</a:t>
            </a:r>
            <a:r>
              <a:rPr dirty="0" sz="2000" spc="-10" b="1">
                <a:solidFill>
                  <a:srgbClr val="6600FF"/>
                </a:solidFill>
                <a:latin typeface="宋体"/>
                <a:cs typeface="宋体"/>
              </a:rPr>
              <a:t>r1</a:t>
            </a:r>
            <a:r>
              <a:rPr dirty="0" sz="2000" spc="-10" b="1">
                <a:latin typeface="宋体"/>
                <a:cs typeface="宋体"/>
              </a:rPr>
              <a:t>和</a:t>
            </a:r>
            <a:r>
              <a:rPr dirty="0" sz="2000" spc="-10" b="1">
                <a:solidFill>
                  <a:srgbClr val="6600FF"/>
                </a:solidFill>
                <a:latin typeface="宋体"/>
                <a:cs typeface="宋体"/>
              </a:rPr>
              <a:t>r2</a:t>
            </a:r>
            <a:r>
              <a:rPr dirty="0" sz="2000" spc="-25" b="1">
                <a:latin typeface="宋体"/>
                <a:cs typeface="宋体"/>
              </a:rPr>
              <a:t>为要比较的操作数，可以是</a:t>
            </a:r>
            <a:r>
              <a:rPr dirty="0" sz="2000" spc="-15" b="1">
                <a:latin typeface="宋体"/>
                <a:cs typeface="宋体"/>
              </a:rPr>
              <a:t>寄存器名，也可以是立即数。</a:t>
            </a:r>
            <a:endParaRPr sz="2000">
              <a:latin typeface="宋体"/>
              <a:cs typeface="宋体"/>
            </a:endParaRPr>
          </a:p>
          <a:p>
            <a:pPr marL="1841500">
              <a:lnSpc>
                <a:spcPct val="100000"/>
              </a:lnSpc>
              <a:spcBef>
                <a:spcPts val="720"/>
              </a:spcBef>
            </a:pPr>
            <a:r>
              <a:rPr dirty="0" sz="2000" b="1">
                <a:solidFill>
                  <a:srgbClr val="0000CC"/>
                </a:solidFill>
                <a:latin typeface="宋体"/>
                <a:cs typeface="宋体"/>
              </a:rPr>
              <a:t>cmp.ne</a:t>
            </a:r>
            <a:r>
              <a:rPr dirty="0" sz="2000" spc="-50" b="1">
                <a:solidFill>
                  <a:srgbClr val="0000CC"/>
                </a:solidFill>
                <a:latin typeface="宋体"/>
                <a:cs typeface="宋体"/>
              </a:rPr>
              <a:t> </a:t>
            </a:r>
            <a:r>
              <a:rPr dirty="0" sz="2000" b="1">
                <a:solidFill>
                  <a:srgbClr val="0000CC"/>
                </a:solidFill>
                <a:latin typeface="宋体"/>
                <a:cs typeface="宋体"/>
              </a:rPr>
              <a:t>p1,</a:t>
            </a:r>
            <a:r>
              <a:rPr dirty="0" sz="2000" spc="-35" b="1">
                <a:solidFill>
                  <a:srgbClr val="0000CC"/>
                </a:solidFill>
                <a:latin typeface="宋体"/>
                <a:cs typeface="宋体"/>
              </a:rPr>
              <a:t> </a:t>
            </a:r>
            <a:r>
              <a:rPr dirty="0" sz="2000" b="1">
                <a:solidFill>
                  <a:srgbClr val="0000CC"/>
                </a:solidFill>
                <a:latin typeface="宋体"/>
                <a:cs typeface="宋体"/>
              </a:rPr>
              <a:t>p0</a:t>
            </a:r>
            <a:r>
              <a:rPr dirty="0" sz="2000" spc="-20" b="1">
                <a:solidFill>
                  <a:srgbClr val="0000CC"/>
                </a:solidFill>
                <a:latin typeface="宋体"/>
                <a:cs typeface="宋体"/>
              </a:rPr>
              <a:t> </a:t>
            </a:r>
            <a:r>
              <a:rPr dirty="0" sz="2000" b="1">
                <a:solidFill>
                  <a:srgbClr val="0000CC"/>
                </a:solidFill>
                <a:latin typeface="宋体"/>
                <a:cs typeface="宋体"/>
              </a:rPr>
              <a:t>=</a:t>
            </a:r>
            <a:r>
              <a:rPr dirty="0" sz="2000" spc="-20" b="1">
                <a:solidFill>
                  <a:srgbClr val="0000CC"/>
                </a:solidFill>
                <a:latin typeface="宋体"/>
                <a:cs typeface="宋体"/>
              </a:rPr>
              <a:t> </a:t>
            </a:r>
            <a:r>
              <a:rPr dirty="0" sz="2000" b="1">
                <a:solidFill>
                  <a:srgbClr val="0000CC"/>
                </a:solidFill>
                <a:latin typeface="宋体"/>
                <a:cs typeface="宋体"/>
              </a:rPr>
              <a:t>r0,</a:t>
            </a:r>
            <a:r>
              <a:rPr dirty="0" sz="2000" spc="-20" b="1">
                <a:solidFill>
                  <a:srgbClr val="0000CC"/>
                </a:solidFill>
                <a:latin typeface="宋体"/>
                <a:cs typeface="宋体"/>
              </a:rPr>
              <a:t> </a:t>
            </a:r>
            <a:r>
              <a:rPr dirty="0" sz="2000" b="1">
                <a:solidFill>
                  <a:srgbClr val="0000CC"/>
                </a:solidFill>
                <a:latin typeface="宋体"/>
                <a:cs typeface="宋体"/>
              </a:rPr>
              <a:t>r0</a:t>
            </a:r>
            <a:r>
              <a:rPr dirty="0" sz="2000" spc="-30" b="1">
                <a:solidFill>
                  <a:srgbClr val="0000CC"/>
                </a:solidFill>
                <a:latin typeface="宋体"/>
                <a:cs typeface="宋体"/>
              </a:rPr>
              <a:t> </a:t>
            </a:r>
            <a:r>
              <a:rPr dirty="0" sz="2000" spc="-25" b="1">
                <a:solidFill>
                  <a:srgbClr val="0000CC"/>
                </a:solidFill>
                <a:latin typeface="宋体"/>
                <a:cs typeface="宋体"/>
              </a:rPr>
              <a:t>；；</a:t>
            </a:r>
            <a:endParaRPr sz="2000">
              <a:latin typeface="宋体"/>
              <a:cs typeface="宋体"/>
            </a:endParaRPr>
          </a:p>
        </p:txBody>
      </p:sp>
      <p:graphicFrame>
        <p:nvGraphicFramePr>
          <p:cNvPr id="9" name="object 9" descr=""/>
          <p:cNvGraphicFramePr>
            <a:graphicFrameLocks noGrp="1"/>
          </p:cNvGraphicFramePr>
          <p:nvPr/>
        </p:nvGraphicFramePr>
        <p:xfrm>
          <a:off x="3952621" y="4446500"/>
          <a:ext cx="3229610" cy="1838325"/>
        </p:xfrm>
        <a:graphic>
          <a:graphicData uri="http://schemas.openxmlformats.org/drawingml/2006/table">
            <a:tbl>
              <a:tblPr firstRow="1" bandRow="1">
                <a:tableStyleId>{2D5ABB26-0587-4C30-8999-92F81FD0307C}</a:tableStyleId>
              </a:tblPr>
              <a:tblGrid>
                <a:gridCol w="1256030"/>
                <a:gridCol w="513715"/>
                <a:gridCol w="386080"/>
                <a:gridCol w="257810"/>
                <a:gridCol w="387350"/>
                <a:gridCol w="355600"/>
              </a:tblGrid>
              <a:tr h="325120">
                <a:tc>
                  <a:txBody>
                    <a:bodyPr/>
                    <a:lstStyle/>
                    <a:p>
                      <a:pPr marL="31750">
                        <a:lnSpc>
                          <a:spcPts val="2120"/>
                        </a:lnSpc>
                      </a:pPr>
                      <a:r>
                        <a:rPr dirty="0" sz="2000" spc="-10" b="1">
                          <a:solidFill>
                            <a:srgbClr val="0000CC"/>
                          </a:solidFill>
                          <a:latin typeface="宋体"/>
                          <a:cs typeface="宋体"/>
                        </a:rPr>
                        <a:t>cmp.eq.or</a:t>
                      </a:r>
                      <a:endParaRPr sz="2000">
                        <a:latin typeface="宋体"/>
                        <a:cs typeface="宋体"/>
                      </a:endParaRPr>
                    </a:p>
                  </a:txBody>
                  <a:tcPr marL="0" marR="0" marB="0" marT="0"/>
                </a:tc>
                <a:tc>
                  <a:txBody>
                    <a:bodyPr/>
                    <a:lstStyle/>
                    <a:p>
                      <a:pPr algn="ctr">
                        <a:lnSpc>
                          <a:spcPts val="2120"/>
                        </a:lnSpc>
                      </a:pPr>
                      <a:r>
                        <a:rPr dirty="0" sz="2000" spc="-25" b="1">
                          <a:solidFill>
                            <a:srgbClr val="0000CC"/>
                          </a:solidFill>
                          <a:latin typeface="宋体"/>
                          <a:cs typeface="宋体"/>
                        </a:rPr>
                        <a:t>p1,</a:t>
                      </a:r>
                      <a:endParaRPr sz="2000">
                        <a:latin typeface="宋体"/>
                        <a:cs typeface="宋体"/>
                      </a:endParaRPr>
                    </a:p>
                  </a:txBody>
                  <a:tcPr marL="0" marR="0" marB="0" marT="0"/>
                </a:tc>
                <a:tc>
                  <a:txBody>
                    <a:bodyPr/>
                    <a:lstStyle/>
                    <a:p>
                      <a:pPr algn="ctr">
                        <a:lnSpc>
                          <a:spcPts val="2120"/>
                        </a:lnSpc>
                      </a:pPr>
                      <a:r>
                        <a:rPr dirty="0" sz="2000" spc="-25" b="1">
                          <a:solidFill>
                            <a:srgbClr val="0000CC"/>
                          </a:solidFill>
                          <a:latin typeface="宋体"/>
                          <a:cs typeface="宋体"/>
                        </a:rPr>
                        <a:t>p0</a:t>
                      </a:r>
                      <a:endParaRPr sz="2000">
                        <a:latin typeface="宋体"/>
                        <a:cs typeface="宋体"/>
                      </a:endParaRPr>
                    </a:p>
                  </a:txBody>
                  <a:tcPr marL="0" marR="0" marB="0" marT="0"/>
                </a:tc>
                <a:tc>
                  <a:txBody>
                    <a:bodyPr/>
                    <a:lstStyle/>
                    <a:p>
                      <a:pPr algn="ctr">
                        <a:lnSpc>
                          <a:spcPts val="2120"/>
                        </a:lnSpc>
                      </a:pPr>
                      <a:r>
                        <a:rPr dirty="0" sz="2000" spc="-50" b="1">
                          <a:solidFill>
                            <a:srgbClr val="0000CC"/>
                          </a:solidFill>
                          <a:latin typeface="宋体"/>
                          <a:cs typeface="宋体"/>
                        </a:rPr>
                        <a:t>=</a:t>
                      </a:r>
                      <a:endParaRPr sz="2000">
                        <a:latin typeface="宋体"/>
                        <a:cs typeface="宋体"/>
                      </a:endParaRPr>
                    </a:p>
                  </a:txBody>
                  <a:tcPr marL="0" marR="0" marB="0" marT="0"/>
                </a:tc>
                <a:tc>
                  <a:txBody>
                    <a:bodyPr/>
                    <a:lstStyle/>
                    <a:p>
                      <a:pPr algn="ctr">
                        <a:lnSpc>
                          <a:spcPts val="2120"/>
                        </a:lnSpc>
                      </a:pPr>
                      <a:r>
                        <a:rPr dirty="0" sz="2000" spc="-25" b="1">
                          <a:solidFill>
                            <a:srgbClr val="0000CC"/>
                          </a:solidFill>
                          <a:latin typeface="宋体"/>
                          <a:cs typeface="宋体"/>
                        </a:rPr>
                        <a:t>1,</a:t>
                      </a:r>
                      <a:endParaRPr sz="2000">
                        <a:latin typeface="宋体"/>
                        <a:cs typeface="宋体"/>
                      </a:endParaRPr>
                    </a:p>
                  </a:txBody>
                  <a:tcPr marL="0" marR="0" marB="0" marT="0"/>
                </a:tc>
                <a:tc>
                  <a:txBody>
                    <a:bodyPr/>
                    <a:lstStyle/>
                    <a:p>
                      <a:pPr algn="ctr" marL="27940">
                        <a:lnSpc>
                          <a:spcPts val="2120"/>
                        </a:lnSpc>
                      </a:pPr>
                      <a:r>
                        <a:rPr dirty="0" sz="2000" spc="-25" b="1">
                          <a:solidFill>
                            <a:srgbClr val="0000CC"/>
                          </a:solidFill>
                          <a:latin typeface="宋体"/>
                          <a:cs typeface="宋体"/>
                        </a:rPr>
                        <a:t>r1</a:t>
                      </a:r>
                      <a:endParaRPr sz="2000">
                        <a:latin typeface="宋体"/>
                        <a:cs typeface="宋体"/>
                      </a:endParaRPr>
                    </a:p>
                  </a:txBody>
                  <a:tcPr marL="0" marR="0" marB="0" marT="0"/>
                </a:tc>
              </a:tr>
              <a:tr h="396240">
                <a:tc>
                  <a:txBody>
                    <a:bodyPr/>
                    <a:lstStyle/>
                    <a:p>
                      <a:pPr marL="31750">
                        <a:lnSpc>
                          <a:spcPct val="100000"/>
                        </a:lnSpc>
                        <a:spcBef>
                          <a:spcPts val="280"/>
                        </a:spcBef>
                      </a:pPr>
                      <a:r>
                        <a:rPr dirty="0" sz="2000" spc="-10" b="1">
                          <a:solidFill>
                            <a:srgbClr val="0000CC"/>
                          </a:solidFill>
                          <a:latin typeface="宋体"/>
                          <a:cs typeface="宋体"/>
                        </a:rPr>
                        <a:t>cmp.eq.or</a:t>
                      </a:r>
                      <a:endParaRPr sz="2000">
                        <a:latin typeface="宋体"/>
                        <a:cs typeface="宋体"/>
                      </a:endParaRPr>
                    </a:p>
                  </a:txBody>
                  <a:tcPr marL="0" marR="0" marB="0" marT="35560"/>
                </a:tc>
                <a:tc>
                  <a:txBody>
                    <a:bodyPr/>
                    <a:lstStyle/>
                    <a:p>
                      <a:pPr algn="ctr">
                        <a:lnSpc>
                          <a:spcPct val="100000"/>
                        </a:lnSpc>
                        <a:spcBef>
                          <a:spcPts val="280"/>
                        </a:spcBef>
                      </a:pPr>
                      <a:r>
                        <a:rPr dirty="0" sz="2000" spc="-25" b="1">
                          <a:solidFill>
                            <a:srgbClr val="0000CC"/>
                          </a:solidFill>
                          <a:latin typeface="宋体"/>
                          <a:cs typeface="宋体"/>
                        </a:rPr>
                        <a:t>p1,</a:t>
                      </a:r>
                      <a:endParaRPr sz="2000">
                        <a:latin typeface="宋体"/>
                        <a:cs typeface="宋体"/>
                      </a:endParaRPr>
                    </a:p>
                  </a:txBody>
                  <a:tcPr marL="0" marR="0" marB="0" marT="35560"/>
                </a:tc>
                <a:tc>
                  <a:txBody>
                    <a:bodyPr/>
                    <a:lstStyle/>
                    <a:p>
                      <a:pPr algn="ctr">
                        <a:lnSpc>
                          <a:spcPct val="100000"/>
                        </a:lnSpc>
                        <a:spcBef>
                          <a:spcPts val="280"/>
                        </a:spcBef>
                      </a:pPr>
                      <a:r>
                        <a:rPr dirty="0" sz="2000" spc="-25" b="1">
                          <a:solidFill>
                            <a:srgbClr val="0000CC"/>
                          </a:solidFill>
                          <a:latin typeface="宋体"/>
                          <a:cs typeface="宋体"/>
                        </a:rPr>
                        <a:t>p0</a:t>
                      </a:r>
                      <a:endParaRPr sz="2000">
                        <a:latin typeface="宋体"/>
                        <a:cs typeface="宋体"/>
                      </a:endParaRPr>
                    </a:p>
                  </a:txBody>
                  <a:tcPr marL="0" marR="0" marB="0" marT="35560"/>
                </a:tc>
                <a:tc>
                  <a:txBody>
                    <a:bodyPr/>
                    <a:lstStyle/>
                    <a:p>
                      <a:pPr algn="ctr">
                        <a:lnSpc>
                          <a:spcPct val="100000"/>
                        </a:lnSpc>
                        <a:spcBef>
                          <a:spcPts val="280"/>
                        </a:spcBef>
                      </a:pPr>
                      <a:r>
                        <a:rPr dirty="0" sz="2000" spc="-50" b="1">
                          <a:solidFill>
                            <a:srgbClr val="0000CC"/>
                          </a:solidFill>
                          <a:latin typeface="宋体"/>
                          <a:cs typeface="宋体"/>
                        </a:rPr>
                        <a:t>=</a:t>
                      </a:r>
                      <a:endParaRPr sz="2000">
                        <a:latin typeface="宋体"/>
                        <a:cs typeface="宋体"/>
                      </a:endParaRPr>
                    </a:p>
                  </a:txBody>
                  <a:tcPr marL="0" marR="0" marB="0" marT="35560"/>
                </a:tc>
                <a:tc>
                  <a:txBody>
                    <a:bodyPr/>
                    <a:lstStyle/>
                    <a:p>
                      <a:pPr algn="ctr">
                        <a:lnSpc>
                          <a:spcPct val="100000"/>
                        </a:lnSpc>
                        <a:spcBef>
                          <a:spcPts val="280"/>
                        </a:spcBef>
                      </a:pPr>
                      <a:r>
                        <a:rPr dirty="0" sz="2000" spc="-25" b="1">
                          <a:solidFill>
                            <a:srgbClr val="0000CC"/>
                          </a:solidFill>
                          <a:latin typeface="宋体"/>
                          <a:cs typeface="宋体"/>
                        </a:rPr>
                        <a:t>2,</a:t>
                      </a:r>
                      <a:endParaRPr sz="2000">
                        <a:latin typeface="宋体"/>
                        <a:cs typeface="宋体"/>
                      </a:endParaRPr>
                    </a:p>
                  </a:txBody>
                  <a:tcPr marL="0" marR="0" marB="0" marT="35560"/>
                </a:tc>
                <a:tc>
                  <a:txBody>
                    <a:bodyPr/>
                    <a:lstStyle/>
                    <a:p>
                      <a:pPr algn="ctr" marL="27940">
                        <a:lnSpc>
                          <a:spcPct val="100000"/>
                        </a:lnSpc>
                        <a:spcBef>
                          <a:spcPts val="280"/>
                        </a:spcBef>
                      </a:pPr>
                      <a:r>
                        <a:rPr dirty="0" sz="2000" spc="-25" b="1">
                          <a:solidFill>
                            <a:srgbClr val="0000CC"/>
                          </a:solidFill>
                          <a:latin typeface="宋体"/>
                          <a:cs typeface="宋体"/>
                        </a:rPr>
                        <a:t>r2</a:t>
                      </a:r>
                      <a:endParaRPr sz="2000">
                        <a:latin typeface="宋体"/>
                        <a:cs typeface="宋体"/>
                      </a:endParaRPr>
                    </a:p>
                  </a:txBody>
                  <a:tcPr marL="0" marR="0" marB="0" marT="35560"/>
                </a:tc>
              </a:tr>
              <a:tr h="395605">
                <a:tc>
                  <a:txBody>
                    <a:bodyPr/>
                    <a:lstStyle/>
                    <a:p>
                      <a:pPr marL="31750">
                        <a:lnSpc>
                          <a:spcPct val="100000"/>
                        </a:lnSpc>
                        <a:spcBef>
                          <a:spcPts val="280"/>
                        </a:spcBef>
                      </a:pPr>
                      <a:r>
                        <a:rPr dirty="0" sz="2000" spc="-10" b="1">
                          <a:solidFill>
                            <a:srgbClr val="0000CC"/>
                          </a:solidFill>
                          <a:latin typeface="宋体"/>
                          <a:cs typeface="宋体"/>
                        </a:rPr>
                        <a:t>cmp.eq.or</a:t>
                      </a:r>
                      <a:endParaRPr sz="2000">
                        <a:latin typeface="宋体"/>
                        <a:cs typeface="宋体"/>
                      </a:endParaRPr>
                    </a:p>
                  </a:txBody>
                  <a:tcPr marL="0" marR="0" marB="0" marT="35560"/>
                </a:tc>
                <a:tc>
                  <a:txBody>
                    <a:bodyPr/>
                    <a:lstStyle/>
                    <a:p>
                      <a:pPr algn="ctr">
                        <a:lnSpc>
                          <a:spcPct val="100000"/>
                        </a:lnSpc>
                        <a:spcBef>
                          <a:spcPts val="280"/>
                        </a:spcBef>
                      </a:pPr>
                      <a:r>
                        <a:rPr dirty="0" sz="2000" spc="-25" b="1">
                          <a:solidFill>
                            <a:srgbClr val="0000CC"/>
                          </a:solidFill>
                          <a:latin typeface="宋体"/>
                          <a:cs typeface="宋体"/>
                        </a:rPr>
                        <a:t>p1,</a:t>
                      </a:r>
                      <a:endParaRPr sz="2000">
                        <a:latin typeface="宋体"/>
                        <a:cs typeface="宋体"/>
                      </a:endParaRPr>
                    </a:p>
                  </a:txBody>
                  <a:tcPr marL="0" marR="0" marB="0" marT="35560"/>
                </a:tc>
                <a:tc>
                  <a:txBody>
                    <a:bodyPr/>
                    <a:lstStyle/>
                    <a:p>
                      <a:pPr algn="ctr">
                        <a:lnSpc>
                          <a:spcPct val="100000"/>
                        </a:lnSpc>
                        <a:spcBef>
                          <a:spcPts val="280"/>
                        </a:spcBef>
                      </a:pPr>
                      <a:r>
                        <a:rPr dirty="0" sz="2000" spc="-25" b="1">
                          <a:solidFill>
                            <a:srgbClr val="0000CC"/>
                          </a:solidFill>
                          <a:latin typeface="宋体"/>
                          <a:cs typeface="宋体"/>
                        </a:rPr>
                        <a:t>p0</a:t>
                      </a:r>
                      <a:endParaRPr sz="2000">
                        <a:latin typeface="宋体"/>
                        <a:cs typeface="宋体"/>
                      </a:endParaRPr>
                    </a:p>
                  </a:txBody>
                  <a:tcPr marL="0" marR="0" marB="0" marT="35560"/>
                </a:tc>
                <a:tc>
                  <a:txBody>
                    <a:bodyPr/>
                    <a:lstStyle/>
                    <a:p>
                      <a:pPr algn="ctr">
                        <a:lnSpc>
                          <a:spcPct val="100000"/>
                        </a:lnSpc>
                        <a:spcBef>
                          <a:spcPts val="280"/>
                        </a:spcBef>
                      </a:pPr>
                      <a:r>
                        <a:rPr dirty="0" sz="2000" spc="-50" b="1">
                          <a:solidFill>
                            <a:srgbClr val="0000CC"/>
                          </a:solidFill>
                          <a:latin typeface="宋体"/>
                          <a:cs typeface="宋体"/>
                        </a:rPr>
                        <a:t>=</a:t>
                      </a:r>
                      <a:endParaRPr sz="2000">
                        <a:latin typeface="宋体"/>
                        <a:cs typeface="宋体"/>
                      </a:endParaRPr>
                    </a:p>
                  </a:txBody>
                  <a:tcPr marL="0" marR="0" marB="0" marT="35560"/>
                </a:tc>
                <a:tc>
                  <a:txBody>
                    <a:bodyPr/>
                    <a:lstStyle/>
                    <a:p>
                      <a:pPr algn="ctr">
                        <a:lnSpc>
                          <a:spcPct val="100000"/>
                        </a:lnSpc>
                        <a:spcBef>
                          <a:spcPts val="280"/>
                        </a:spcBef>
                      </a:pPr>
                      <a:r>
                        <a:rPr dirty="0" sz="2000" spc="-25" b="1">
                          <a:solidFill>
                            <a:srgbClr val="0000CC"/>
                          </a:solidFill>
                          <a:latin typeface="宋体"/>
                          <a:cs typeface="宋体"/>
                        </a:rPr>
                        <a:t>3,</a:t>
                      </a:r>
                      <a:endParaRPr sz="2000">
                        <a:latin typeface="宋体"/>
                        <a:cs typeface="宋体"/>
                      </a:endParaRPr>
                    </a:p>
                  </a:txBody>
                  <a:tcPr marL="0" marR="0" marB="0" marT="35560"/>
                </a:tc>
                <a:tc>
                  <a:txBody>
                    <a:bodyPr/>
                    <a:lstStyle/>
                    <a:p>
                      <a:pPr algn="ctr" marL="27940">
                        <a:lnSpc>
                          <a:spcPct val="100000"/>
                        </a:lnSpc>
                        <a:spcBef>
                          <a:spcPts val="280"/>
                        </a:spcBef>
                      </a:pPr>
                      <a:r>
                        <a:rPr dirty="0" sz="2000" spc="-25" b="1">
                          <a:solidFill>
                            <a:srgbClr val="0000CC"/>
                          </a:solidFill>
                          <a:latin typeface="宋体"/>
                          <a:cs typeface="宋体"/>
                        </a:rPr>
                        <a:t>r3</a:t>
                      </a:r>
                      <a:endParaRPr sz="2000">
                        <a:latin typeface="宋体"/>
                        <a:cs typeface="宋体"/>
                      </a:endParaRPr>
                    </a:p>
                  </a:txBody>
                  <a:tcPr marL="0" marR="0" marB="0" marT="35560"/>
                </a:tc>
              </a:tr>
              <a:tr h="396240">
                <a:tc>
                  <a:txBody>
                    <a:bodyPr/>
                    <a:lstStyle/>
                    <a:p>
                      <a:pPr marL="31750">
                        <a:lnSpc>
                          <a:spcPct val="100000"/>
                        </a:lnSpc>
                        <a:spcBef>
                          <a:spcPts val="280"/>
                        </a:spcBef>
                      </a:pPr>
                      <a:r>
                        <a:rPr dirty="0" sz="2000" spc="-10" b="1">
                          <a:solidFill>
                            <a:srgbClr val="0000CC"/>
                          </a:solidFill>
                          <a:latin typeface="宋体"/>
                          <a:cs typeface="宋体"/>
                        </a:rPr>
                        <a:t>cmp.eq.or</a:t>
                      </a:r>
                      <a:endParaRPr sz="2000">
                        <a:latin typeface="宋体"/>
                        <a:cs typeface="宋体"/>
                      </a:endParaRPr>
                    </a:p>
                  </a:txBody>
                  <a:tcPr marL="0" marR="0" marB="0" marT="35560"/>
                </a:tc>
                <a:tc>
                  <a:txBody>
                    <a:bodyPr/>
                    <a:lstStyle/>
                    <a:p>
                      <a:pPr algn="ctr" marL="635">
                        <a:lnSpc>
                          <a:spcPct val="100000"/>
                        </a:lnSpc>
                        <a:spcBef>
                          <a:spcPts val="280"/>
                        </a:spcBef>
                      </a:pPr>
                      <a:r>
                        <a:rPr dirty="0" sz="2000" spc="-25" b="1">
                          <a:solidFill>
                            <a:srgbClr val="0000CC"/>
                          </a:solidFill>
                          <a:latin typeface="宋体"/>
                          <a:cs typeface="宋体"/>
                        </a:rPr>
                        <a:t>p1,</a:t>
                      </a:r>
                      <a:endParaRPr sz="2000">
                        <a:latin typeface="宋体"/>
                        <a:cs typeface="宋体"/>
                      </a:endParaRPr>
                    </a:p>
                  </a:txBody>
                  <a:tcPr marL="0" marR="0" marB="0" marT="35560"/>
                </a:tc>
                <a:tc>
                  <a:txBody>
                    <a:bodyPr/>
                    <a:lstStyle/>
                    <a:p>
                      <a:pPr algn="ctr" marL="1270">
                        <a:lnSpc>
                          <a:spcPct val="100000"/>
                        </a:lnSpc>
                        <a:spcBef>
                          <a:spcPts val="280"/>
                        </a:spcBef>
                      </a:pPr>
                      <a:r>
                        <a:rPr dirty="0" sz="2000" spc="-25" b="1">
                          <a:solidFill>
                            <a:srgbClr val="0000CC"/>
                          </a:solidFill>
                          <a:latin typeface="宋体"/>
                          <a:cs typeface="宋体"/>
                        </a:rPr>
                        <a:t>p0</a:t>
                      </a:r>
                      <a:endParaRPr sz="2000">
                        <a:latin typeface="宋体"/>
                        <a:cs typeface="宋体"/>
                      </a:endParaRPr>
                    </a:p>
                  </a:txBody>
                  <a:tcPr marL="0" marR="0" marB="0" marT="35560"/>
                </a:tc>
                <a:tc>
                  <a:txBody>
                    <a:bodyPr/>
                    <a:lstStyle/>
                    <a:p>
                      <a:pPr algn="ctr" marL="2540">
                        <a:lnSpc>
                          <a:spcPct val="100000"/>
                        </a:lnSpc>
                        <a:spcBef>
                          <a:spcPts val="280"/>
                        </a:spcBef>
                      </a:pPr>
                      <a:r>
                        <a:rPr dirty="0" sz="2000" spc="-50" b="1">
                          <a:solidFill>
                            <a:srgbClr val="0000CC"/>
                          </a:solidFill>
                          <a:latin typeface="宋体"/>
                          <a:cs typeface="宋体"/>
                        </a:rPr>
                        <a:t>=</a:t>
                      </a:r>
                      <a:endParaRPr sz="2000">
                        <a:latin typeface="宋体"/>
                        <a:cs typeface="宋体"/>
                      </a:endParaRPr>
                    </a:p>
                  </a:txBody>
                  <a:tcPr marL="0" marR="0" marB="0" marT="35560"/>
                </a:tc>
                <a:tc>
                  <a:txBody>
                    <a:bodyPr/>
                    <a:lstStyle/>
                    <a:p>
                      <a:pPr algn="ctr" marL="2540">
                        <a:lnSpc>
                          <a:spcPct val="100000"/>
                        </a:lnSpc>
                        <a:spcBef>
                          <a:spcPts val="280"/>
                        </a:spcBef>
                      </a:pPr>
                      <a:r>
                        <a:rPr dirty="0" sz="2000" spc="-25" b="1">
                          <a:solidFill>
                            <a:srgbClr val="0000CC"/>
                          </a:solidFill>
                          <a:latin typeface="宋体"/>
                          <a:cs typeface="宋体"/>
                        </a:rPr>
                        <a:t>4,</a:t>
                      </a:r>
                      <a:endParaRPr sz="2000">
                        <a:latin typeface="宋体"/>
                        <a:cs typeface="宋体"/>
                      </a:endParaRPr>
                    </a:p>
                  </a:txBody>
                  <a:tcPr marL="0" marR="0" marB="0" marT="35560"/>
                </a:tc>
                <a:tc>
                  <a:txBody>
                    <a:bodyPr/>
                    <a:lstStyle/>
                    <a:p>
                      <a:pPr algn="ctr" marL="34290">
                        <a:lnSpc>
                          <a:spcPct val="100000"/>
                        </a:lnSpc>
                        <a:spcBef>
                          <a:spcPts val="280"/>
                        </a:spcBef>
                      </a:pPr>
                      <a:r>
                        <a:rPr dirty="0" sz="2000" spc="-25" b="1">
                          <a:solidFill>
                            <a:srgbClr val="0000CC"/>
                          </a:solidFill>
                          <a:latin typeface="宋体"/>
                          <a:cs typeface="宋体"/>
                        </a:rPr>
                        <a:t>r4</a:t>
                      </a:r>
                      <a:endParaRPr sz="2000">
                        <a:latin typeface="宋体"/>
                        <a:cs typeface="宋体"/>
                      </a:endParaRPr>
                    </a:p>
                  </a:txBody>
                  <a:tcPr marL="0" marR="0" marB="0" marT="35560"/>
                </a:tc>
              </a:tr>
              <a:tr h="325120">
                <a:tc>
                  <a:txBody>
                    <a:bodyPr/>
                    <a:lstStyle/>
                    <a:p>
                      <a:pPr marL="31750">
                        <a:lnSpc>
                          <a:spcPts val="2180"/>
                        </a:lnSpc>
                        <a:spcBef>
                          <a:spcPts val="280"/>
                        </a:spcBef>
                      </a:pPr>
                      <a:r>
                        <a:rPr dirty="0" sz="2000" b="1">
                          <a:solidFill>
                            <a:srgbClr val="0000CC"/>
                          </a:solidFill>
                          <a:latin typeface="宋体"/>
                          <a:cs typeface="宋体"/>
                        </a:rPr>
                        <a:t>（p1）</a:t>
                      </a:r>
                      <a:r>
                        <a:rPr dirty="0" sz="2000" spc="90" b="1">
                          <a:solidFill>
                            <a:srgbClr val="0000CC"/>
                          </a:solidFill>
                          <a:latin typeface="宋体"/>
                          <a:cs typeface="宋体"/>
                        </a:rPr>
                        <a:t> </a:t>
                      </a:r>
                      <a:r>
                        <a:rPr dirty="0" sz="2000" spc="-50" b="1">
                          <a:solidFill>
                            <a:srgbClr val="0000CC"/>
                          </a:solidFill>
                          <a:latin typeface="宋体"/>
                          <a:cs typeface="宋体"/>
                        </a:rPr>
                        <a:t>s</a:t>
                      </a:r>
                      <a:endParaRPr sz="2000">
                        <a:latin typeface="宋体"/>
                        <a:cs typeface="宋体"/>
                      </a:endParaRPr>
                    </a:p>
                  </a:txBody>
                  <a:tcPr marL="0" marR="0" marB="0" marT="35560"/>
                </a:tc>
                <a:tc>
                  <a:txBody>
                    <a:bodyPr/>
                    <a:lstStyle/>
                    <a:p>
                      <a:pPr>
                        <a:lnSpc>
                          <a:spcPct val="100000"/>
                        </a:lnSpc>
                      </a:pPr>
                      <a:endParaRPr sz="2000">
                        <a:latin typeface="Times New Roman"/>
                        <a:cs typeface="Times New Roman"/>
                      </a:endParaRPr>
                    </a:p>
                  </a:txBody>
                  <a:tcPr marL="0" marR="0" marB="0" marT="0"/>
                </a:tc>
                <a:tc>
                  <a:txBody>
                    <a:bodyPr/>
                    <a:lstStyle/>
                    <a:p>
                      <a:pPr>
                        <a:lnSpc>
                          <a:spcPct val="100000"/>
                        </a:lnSpc>
                      </a:pPr>
                      <a:endParaRPr sz="2000">
                        <a:latin typeface="Times New Roman"/>
                        <a:cs typeface="Times New Roman"/>
                      </a:endParaRPr>
                    </a:p>
                  </a:txBody>
                  <a:tcPr marL="0" marR="0" marB="0" marT="0"/>
                </a:tc>
                <a:tc>
                  <a:txBody>
                    <a:bodyPr/>
                    <a:lstStyle/>
                    <a:p>
                      <a:pPr>
                        <a:lnSpc>
                          <a:spcPct val="100000"/>
                        </a:lnSpc>
                      </a:pPr>
                      <a:endParaRPr sz="2000">
                        <a:latin typeface="Times New Roman"/>
                        <a:cs typeface="Times New Roman"/>
                      </a:endParaRPr>
                    </a:p>
                  </a:txBody>
                  <a:tcPr marL="0" marR="0" marB="0" marT="0"/>
                </a:tc>
                <a:tc>
                  <a:txBody>
                    <a:bodyPr/>
                    <a:lstStyle/>
                    <a:p>
                      <a:pPr>
                        <a:lnSpc>
                          <a:spcPct val="100000"/>
                        </a:lnSpc>
                      </a:pPr>
                      <a:endParaRPr sz="2000">
                        <a:latin typeface="Times New Roman"/>
                        <a:cs typeface="Times New Roman"/>
                      </a:endParaRPr>
                    </a:p>
                  </a:txBody>
                  <a:tcPr marL="0" marR="0" marB="0" marT="0"/>
                </a:tc>
                <a:tc>
                  <a:txBody>
                    <a:bodyPr/>
                    <a:lstStyle/>
                    <a:p>
                      <a:pPr>
                        <a:lnSpc>
                          <a:spcPct val="100000"/>
                        </a:lnSpc>
                      </a:pPr>
                      <a:endParaRPr sz="2000">
                        <a:latin typeface="Times New Roman"/>
                        <a:cs typeface="Times New Roman"/>
                      </a:endParaRPr>
                    </a:p>
                  </a:txBody>
                  <a:tcPr marL="0" marR="0" marB="0" marT="0"/>
                </a:tc>
              </a:tr>
            </a:tbl>
          </a:graphicData>
        </a:graphic>
      </p:graphicFrame>
      <p:sp>
        <p:nvSpPr>
          <p:cNvPr id="10" name="object 10" descr=""/>
          <p:cNvSpPr txBox="1"/>
          <p:nvPr/>
        </p:nvSpPr>
        <p:spPr>
          <a:xfrm>
            <a:off x="7629906" y="5586476"/>
            <a:ext cx="537845" cy="331470"/>
          </a:xfrm>
          <a:prstGeom prst="rect">
            <a:avLst/>
          </a:prstGeom>
        </p:spPr>
        <p:txBody>
          <a:bodyPr wrap="square" lIns="0" tIns="13335" rIns="0" bIns="0" rtlCol="0" vert="horz">
            <a:spAutoFit/>
          </a:bodyPr>
          <a:lstStyle/>
          <a:p>
            <a:pPr marL="12700">
              <a:lnSpc>
                <a:spcPct val="100000"/>
              </a:lnSpc>
              <a:spcBef>
                <a:spcPts val="105"/>
              </a:spcBef>
            </a:pPr>
            <a:r>
              <a:rPr dirty="0" sz="2000" spc="-25" b="1">
                <a:solidFill>
                  <a:srgbClr val="0000CC"/>
                </a:solidFill>
                <a:latin typeface="宋体"/>
                <a:cs typeface="宋体"/>
              </a:rPr>
              <a:t>；；</a:t>
            </a:r>
            <a:endParaRPr sz="2000">
              <a:latin typeface="宋体"/>
              <a:cs typeface="宋体"/>
            </a:endParaRPr>
          </a:p>
        </p:txBody>
      </p:sp>
      <p:sp>
        <p:nvSpPr>
          <p:cNvPr id="11" name="object 11"/>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341755" algn="l"/>
                <a:tab pos="10788015" algn="l"/>
              </a:tabLst>
            </a:pPr>
            <a:r>
              <a:rPr dirty="0"/>
              <a:t>	6.6</a:t>
            </a:r>
            <a:r>
              <a:rPr dirty="0" spc="5"/>
              <a:t> </a:t>
            </a:r>
            <a:r>
              <a:rPr dirty="0" spc="-10"/>
              <a:t>实例：IA-64</a:t>
            </a:r>
            <a:r>
              <a:rPr dirty="0"/>
              <a:t>体</a:t>
            </a:r>
            <a:r>
              <a:rPr dirty="0" spc="-20"/>
              <a:t>系</a:t>
            </a:r>
            <a:r>
              <a:rPr dirty="0"/>
              <a:t>结</a:t>
            </a:r>
            <a:r>
              <a:rPr dirty="0" spc="-50"/>
              <a:t>构</a:t>
            </a:r>
            <a:r>
              <a:rPr dirty="0"/>
              <a:t>	</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121/89</a:t>
            </a:r>
            <a:endParaRPr baseline="1736" sz="2400">
              <a:latin typeface="宋体"/>
              <a:cs typeface="宋体"/>
            </a:endParaRPr>
          </a:p>
        </p:txBody>
      </p:sp>
      <p:grpSp>
        <p:nvGrpSpPr>
          <p:cNvPr id="3" name="object 3" descr=""/>
          <p:cNvGrpSpPr/>
          <p:nvPr/>
        </p:nvGrpSpPr>
        <p:grpSpPr>
          <a:xfrm>
            <a:off x="90487" y="188976"/>
            <a:ext cx="1435735" cy="274955"/>
            <a:chOff x="90487" y="188976"/>
            <a:chExt cx="1435735" cy="274955"/>
          </a:xfrm>
        </p:grpSpPr>
        <p:sp>
          <p:nvSpPr>
            <p:cNvPr id="4" name="object 4" descr=""/>
            <p:cNvSpPr/>
            <p:nvPr/>
          </p:nvSpPr>
          <p:spPr>
            <a:xfrm>
              <a:off x="90487" y="188976"/>
              <a:ext cx="499109" cy="274955"/>
            </a:xfrm>
            <a:custGeom>
              <a:avLst/>
              <a:gdLst/>
              <a:ahLst/>
              <a:cxnLst/>
              <a:rect l="l" t="t" r="r" b="b"/>
              <a:pathLst>
                <a:path w="499109" h="274955">
                  <a:moveTo>
                    <a:pt x="119710" y="0"/>
                  </a:moveTo>
                  <a:lnTo>
                    <a:pt x="4988" y="41528"/>
                  </a:lnTo>
                  <a:lnTo>
                    <a:pt x="264350" y="135508"/>
                  </a:lnTo>
                  <a:lnTo>
                    <a:pt x="0" y="231266"/>
                  </a:lnTo>
                  <a:lnTo>
                    <a:pt x="119710" y="274574"/>
                  </a:lnTo>
                  <a:lnTo>
                    <a:pt x="498779" y="137287"/>
                  </a:lnTo>
                  <a:lnTo>
                    <a:pt x="119710" y="0"/>
                  </a:lnTo>
                  <a:close/>
                </a:path>
              </a:pathLst>
            </a:custGeom>
            <a:solidFill>
              <a:srgbClr val="005DA1"/>
            </a:solidFill>
          </p:spPr>
          <p:txBody>
            <a:bodyPr wrap="square" lIns="0" tIns="0" rIns="0" bIns="0" rtlCol="0"/>
            <a:lstStyle/>
            <a:p/>
          </p:txBody>
        </p:sp>
        <p:sp>
          <p:nvSpPr>
            <p:cNvPr id="5" name="object 5" descr=""/>
            <p:cNvSpPr/>
            <p:nvPr/>
          </p:nvSpPr>
          <p:spPr>
            <a:xfrm>
              <a:off x="556463" y="188976"/>
              <a:ext cx="497205" cy="274955"/>
            </a:xfrm>
            <a:custGeom>
              <a:avLst/>
              <a:gdLst/>
              <a:ahLst/>
              <a:cxnLst/>
              <a:rect l="l" t="t" r="r" b="b"/>
              <a:pathLst>
                <a:path w="497205" h="274955">
                  <a:moveTo>
                    <a:pt x="119481" y="0"/>
                  </a:moveTo>
                  <a:lnTo>
                    <a:pt x="4978" y="41528"/>
                  </a:lnTo>
                  <a:lnTo>
                    <a:pt x="263855" y="135508"/>
                  </a:lnTo>
                  <a:lnTo>
                    <a:pt x="0" y="231266"/>
                  </a:lnTo>
                  <a:lnTo>
                    <a:pt x="119481" y="274574"/>
                  </a:lnTo>
                  <a:lnTo>
                    <a:pt x="496595" y="137287"/>
                  </a:lnTo>
                  <a:lnTo>
                    <a:pt x="119481" y="0"/>
                  </a:lnTo>
                  <a:close/>
                </a:path>
              </a:pathLst>
            </a:custGeom>
            <a:solidFill>
              <a:srgbClr val="3992DB"/>
            </a:solidFill>
          </p:spPr>
          <p:txBody>
            <a:bodyPr wrap="square" lIns="0" tIns="0" rIns="0" bIns="0" rtlCol="0"/>
            <a:lstStyle/>
            <a:p/>
          </p:txBody>
        </p:sp>
        <p:sp>
          <p:nvSpPr>
            <p:cNvPr id="6" name="object 6" descr=""/>
            <p:cNvSpPr/>
            <p:nvPr/>
          </p:nvSpPr>
          <p:spPr>
            <a:xfrm>
              <a:off x="1028992" y="188976"/>
              <a:ext cx="497205" cy="274955"/>
            </a:xfrm>
            <a:custGeom>
              <a:avLst/>
              <a:gdLst/>
              <a:ahLst/>
              <a:cxnLst/>
              <a:rect l="l" t="t" r="r" b="b"/>
              <a:pathLst>
                <a:path w="497205" h="274955">
                  <a:moveTo>
                    <a:pt x="118237" y="0"/>
                  </a:moveTo>
                  <a:lnTo>
                    <a:pt x="4978" y="41528"/>
                  </a:lnTo>
                  <a:lnTo>
                    <a:pt x="263867" y="135508"/>
                  </a:lnTo>
                  <a:lnTo>
                    <a:pt x="0" y="231266"/>
                  </a:lnTo>
                  <a:lnTo>
                    <a:pt x="118237" y="274574"/>
                  </a:lnTo>
                  <a:lnTo>
                    <a:pt x="496658" y="137287"/>
                  </a:lnTo>
                  <a:lnTo>
                    <a:pt x="118237" y="0"/>
                  </a:lnTo>
                  <a:close/>
                </a:path>
              </a:pathLst>
            </a:custGeom>
            <a:solidFill>
              <a:srgbClr val="F79500"/>
            </a:solidFill>
          </p:spPr>
          <p:txBody>
            <a:bodyPr wrap="square" lIns="0" tIns="0" rIns="0" bIns="0" rtlCol="0"/>
            <a:lstStyle/>
            <a:p/>
          </p:txBody>
        </p:sp>
      </p:grpSp>
      <p:sp>
        <p:nvSpPr>
          <p:cNvPr id="7" name="object 7" descr=""/>
          <p:cNvSpPr/>
          <p:nvPr/>
        </p:nvSpPr>
        <p:spPr>
          <a:xfrm>
            <a:off x="6350" y="6526212"/>
            <a:ext cx="12185650" cy="333375"/>
          </a:xfrm>
          <a:custGeom>
            <a:avLst/>
            <a:gdLst/>
            <a:ahLst/>
            <a:cxnLst/>
            <a:rect l="l" t="t" r="r" b="b"/>
            <a:pathLst>
              <a:path w="12185650" h="333375">
                <a:moveTo>
                  <a:pt x="12185650" y="0"/>
                </a:moveTo>
                <a:lnTo>
                  <a:pt x="0" y="0"/>
                </a:lnTo>
                <a:lnTo>
                  <a:pt x="0" y="333375"/>
                </a:lnTo>
                <a:lnTo>
                  <a:pt x="12185650" y="333375"/>
                </a:lnTo>
                <a:lnTo>
                  <a:pt x="12185650" y="0"/>
                </a:lnTo>
                <a:close/>
              </a:path>
            </a:pathLst>
          </a:custGeom>
          <a:solidFill>
            <a:srgbClr val="044775"/>
          </a:solidFill>
        </p:spPr>
        <p:txBody>
          <a:bodyPr wrap="square" lIns="0" tIns="0" rIns="0" bIns="0" rtlCol="0"/>
          <a:lstStyle/>
          <a:p/>
        </p:txBody>
      </p:sp>
      <p:sp>
        <p:nvSpPr>
          <p:cNvPr id="8" name="object 8" descr=""/>
          <p:cNvSpPr txBox="1"/>
          <p:nvPr/>
        </p:nvSpPr>
        <p:spPr>
          <a:xfrm>
            <a:off x="2142870" y="1110672"/>
            <a:ext cx="7860665" cy="5321300"/>
          </a:xfrm>
          <a:prstGeom prst="rect">
            <a:avLst/>
          </a:prstGeom>
        </p:spPr>
        <p:txBody>
          <a:bodyPr wrap="square" lIns="0" tIns="129539" rIns="0" bIns="0" rtlCol="0" vert="horz">
            <a:spAutoFit/>
          </a:bodyPr>
          <a:lstStyle/>
          <a:p>
            <a:pPr marL="12700">
              <a:lnSpc>
                <a:spcPct val="100000"/>
              </a:lnSpc>
              <a:spcBef>
                <a:spcPts val="1019"/>
              </a:spcBef>
            </a:pPr>
            <a:r>
              <a:rPr dirty="0" sz="2600">
                <a:solidFill>
                  <a:srgbClr val="0000CC"/>
                </a:solidFill>
                <a:latin typeface="Tahoma"/>
                <a:cs typeface="Tahoma"/>
              </a:rPr>
              <a:t>6.6.3</a:t>
            </a:r>
            <a:r>
              <a:rPr dirty="0" sz="2600" spc="-25">
                <a:solidFill>
                  <a:srgbClr val="0000CC"/>
                </a:solidFill>
                <a:latin typeface="Tahoma"/>
                <a:cs typeface="Tahoma"/>
              </a:rPr>
              <a:t> </a:t>
            </a:r>
            <a:r>
              <a:rPr dirty="0" sz="2600" spc="-10">
                <a:solidFill>
                  <a:srgbClr val="0000CC"/>
                </a:solidFill>
                <a:latin typeface="Tahoma"/>
                <a:cs typeface="Tahoma"/>
              </a:rPr>
              <a:t>IA-</a:t>
            </a:r>
            <a:r>
              <a:rPr dirty="0" sz="2600" spc="-30">
                <a:solidFill>
                  <a:srgbClr val="0000CC"/>
                </a:solidFill>
                <a:latin typeface="Tahoma"/>
                <a:cs typeface="Tahoma"/>
              </a:rPr>
              <a:t>64</a:t>
            </a:r>
            <a:r>
              <a:rPr dirty="0" sz="2600" spc="-15">
                <a:solidFill>
                  <a:srgbClr val="0000CC"/>
                </a:solidFill>
                <a:latin typeface="黑体"/>
                <a:cs typeface="黑体"/>
              </a:rPr>
              <a:t>的前瞻执行机制</a:t>
            </a:r>
            <a:endParaRPr sz="2600">
              <a:latin typeface="黑体"/>
              <a:cs typeface="黑体"/>
            </a:endParaRPr>
          </a:p>
          <a:p>
            <a:pPr marL="1097280" marR="46990" indent="-455930">
              <a:lnSpc>
                <a:spcPct val="110000"/>
              </a:lnSpc>
              <a:spcBef>
                <a:spcPts val="645"/>
              </a:spcBef>
              <a:buClr>
                <a:srgbClr val="40458B"/>
              </a:buClr>
              <a:buSzPct val="89285"/>
              <a:buFont typeface="Wingdings"/>
              <a:buChar char=""/>
              <a:tabLst>
                <a:tab pos="1097280" algn="l"/>
              </a:tabLst>
            </a:pPr>
            <a:r>
              <a:rPr dirty="0" sz="2800" spc="-35">
                <a:solidFill>
                  <a:srgbClr val="0000CC"/>
                </a:solidFill>
                <a:latin typeface="黑体"/>
                <a:cs typeface="黑体"/>
              </a:rPr>
              <a:t>为了标识被前瞻执行的</a:t>
            </a:r>
            <a:r>
              <a:rPr dirty="0" sz="2800" spc="-20">
                <a:solidFill>
                  <a:srgbClr val="6600FF"/>
                </a:solidFill>
                <a:latin typeface="Tahoma"/>
                <a:cs typeface="Tahoma"/>
              </a:rPr>
              <a:t>load</a:t>
            </a:r>
            <a:r>
              <a:rPr dirty="0" sz="2800" spc="-40">
                <a:solidFill>
                  <a:srgbClr val="0000CC"/>
                </a:solidFill>
                <a:latin typeface="黑体"/>
                <a:cs typeface="黑体"/>
              </a:rPr>
              <a:t>指令并检测前瞻</a:t>
            </a:r>
            <a:r>
              <a:rPr dirty="0" sz="2800" spc="-25">
                <a:solidFill>
                  <a:srgbClr val="0000CC"/>
                </a:solidFill>
                <a:latin typeface="黑体"/>
                <a:cs typeface="黑体"/>
              </a:rPr>
              <a:t>是否成功，</a:t>
            </a:r>
            <a:r>
              <a:rPr dirty="0" sz="2800" spc="-20">
                <a:solidFill>
                  <a:srgbClr val="0000CC"/>
                </a:solidFill>
                <a:latin typeface="Tahoma"/>
                <a:cs typeface="Tahoma"/>
              </a:rPr>
              <a:t>IA-</a:t>
            </a:r>
            <a:r>
              <a:rPr dirty="0" sz="2800" spc="-10">
                <a:solidFill>
                  <a:srgbClr val="0000CC"/>
                </a:solidFill>
                <a:latin typeface="Tahoma"/>
                <a:cs typeface="Tahoma"/>
              </a:rPr>
              <a:t>64</a:t>
            </a:r>
            <a:r>
              <a:rPr dirty="0" sz="2800" spc="-35">
                <a:solidFill>
                  <a:srgbClr val="0000CC"/>
                </a:solidFill>
                <a:latin typeface="黑体"/>
                <a:cs typeface="黑体"/>
              </a:rPr>
              <a:t>专门设置了</a:t>
            </a:r>
            <a:r>
              <a:rPr dirty="0" sz="2800" spc="-10">
                <a:solidFill>
                  <a:srgbClr val="6600FF"/>
                </a:solidFill>
                <a:latin typeface="Tahoma"/>
                <a:cs typeface="Tahoma"/>
              </a:rPr>
              <a:t>3</a:t>
            </a:r>
            <a:r>
              <a:rPr dirty="0" sz="2800" spc="-40">
                <a:solidFill>
                  <a:srgbClr val="0000CC"/>
                </a:solidFill>
                <a:latin typeface="黑体"/>
                <a:cs typeface="黑体"/>
              </a:rPr>
              <a:t>条指令。</a:t>
            </a:r>
            <a:endParaRPr sz="2800">
              <a:latin typeface="黑体"/>
              <a:cs typeface="黑体"/>
            </a:endParaRPr>
          </a:p>
          <a:p>
            <a:pPr lvl="1" marL="1491615" indent="-213995">
              <a:lnSpc>
                <a:spcPct val="100000"/>
              </a:lnSpc>
              <a:spcBef>
                <a:spcPts val="819"/>
              </a:spcBef>
              <a:buClr>
                <a:srgbClr val="4668F5"/>
              </a:buClr>
              <a:buSzPct val="60000"/>
              <a:buFont typeface="Wingdings"/>
              <a:buChar char=""/>
              <a:tabLst>
                <a:tab pos="1491615" algn="l"/>
              </a:tabLst>
            </a:pPr>
            <a:r>
              <a:rPr dirty="0" sz="2000" spc="-10" b="1">
                <a:solidFill>
                  <a:srgbClr val="6600FF"/>
                </a:solidFill>
                <a:latin typeface="Times New Roman"/>
                <a:cs typeface="Times New Roman"/>
              </a:rPr>
              <a:t>ld.a</a:t>
            </a:r>
            <a:r>
              <a:rPr dirty="0" sz="2000" spc="-15" b="1">
                <a:solidFill>
                  <a:srgbClr val="FF5CFF"/>
                </a:solidFill>
                <a:latin typeface="宋体"/>
                <a:cs typeface="宋体"/>
              </a:rPr>
              <a:t>：表示被前瞻执行的</a:t>
            </a:r>
            <a:r>
              <a:rPr dirty="0" sz="2000" spc="-10" b="1">
                <a:solidFill>
                  <a:srgbClr val="FF5CFF"/>
                </a:solidFill>
                <a:latin typeface="Times New Roman"/>
                <a:cs typeface="Times New Roman"/>
              </a:rPr>
              <a:t>load</a:t>
            </a:r>
            <a:r>
              <a:rPr dirty="0" sz="2000" spc="-35" b="1">
                <a:solidFill>
                  <a:srgbClr val="FF5CFF"/>
                </a:solidFill>
                <a:latin typeface="宋体"/>
                <a:cs typeface="宋体"/>
              </a:rPr>
              <a:t>指令</a:t>
            </a:r>
            <a:endParaRPr sz="2000">
              <a:latin typeface="宋体"/>
              <a:cs typeface="宋体"/>
            </a:endParaRPr>
          </a:p>
          <a:p>
            <a:pPr lvl="1" marL="1468120" marR="5080" indent="-190500">
              <a:lnSpc>
                <a:spcPct val="130000"/>
              </a:lnSpc>
              <a:spcBef>
                <a:spcPts val="5"/>
              </a:spcBef>
              <a:buSzPct val="60000"/>
              <a:buFont typeface="Wingdings"/>
              <a:buChar char=""/>
              <a:tabLst>
                <a:tab pos="1468120" algn="l"/>
                <a:tab pos="1491615" algn="l"/>
              </a:tabLst>
            </a:pPr>
            <a:r>
              <a:rPr dirty="0" sz="2000">
                <a:solidFill>
                  <a:srgbClr val="4668F5"/>
                </a:solidFill>
                <a:latin typeface="Times New Roman"/>
                <a:cs typeface="Times New Roman"/>
              </a:rPr>
              <a:t>	</a:t>
            </a:r>
            <a:r>
              <a:rPr dirty="0" sz="2000" spc="-10" b="1">
                <a:solidFill>
                  <a:srgbClr val="6600FF"/>
                </a:solidFill>
                <a:latin typeface="Times New Roman"/>
                <a:cs typeface="Times New Roman"/>
              </a:rPr>
              <a:t>ld.c</a:t>
            </a:r>
            <a:r>
              <a:rPr dirty="0" sz="2000" spc="-15" b="1">
                <a:solidFill>
                  <a:srgbClr val="FF5CFF"/>
                </a:solidFill>
                <a:latin typeface="宋体"/>
                <a:cs typeface="宋体"/>
              </a:rPr>
              <a:t>：编译器将</a:t>
            </a:r>
            <a:r>
              <a:rPr dirty="0" sz="2000" spc="-10" b="1">
                <a:solidFill>
                  <a:srgbClr val="FF5CFF"/>
                </a:solidFill>
                <a:latin typeface="Times New Roman"/>
                <a:cs typeface="Times New Roman"/>
              </a:rPr>
              <a:t>ld.c</a:t>
            </a:r>
            <a:r>
              <a:rPr dirty="0" sz="2000" spc="-20" b="1">
                <a:solidFill>
                  <a:srgbClr val="FF5CFF"/>
                </a:solidFill>
                <a:latin typeface="宋体"/>
                <a:cs typeface="宋体"/>
              </a:rPr>
              <a:t>指令放在被前瞻执行的</a:t>
            </a:r>
            <a:r>
              <a:rPr dirty="0" sz="2000" spc="-10" b="1">
                <a:solidFill>
                  <a:srgbClr val="FF5CFF"/>
                </a:solidFill>
                <a:latin typeface="Times New Roman"/>
                <a:cs typeface="Times New Roman"/>
              </a:rPr>
              <a:t>load</a:t>
            </a:r>
            <a:r>
              <a:rPr dirty="0" sz="2000" spc="-25" b="1">
                <a:solidFill>
                  <a:srgbClr val="FF5CFF"/>
                </a:solidFill>
                <a:latin typeface="宋体"/>
                <a:cs typeface="宋体"/>
              </a:rPr>
              <a:t>指令最初所</a:t>
            </a:r>
            <a:r>
              <a:rPr dirty="0" sz="2000" spc="-10" b="1">
                <a:solidFill>
                  <a:srgbClr val="FF5CFF"/>
                </a:solidFill>
                <a:latin typeface="宋体"/>
                <a:cs typeface="宋体"/>
              </a:rPr>
              <a:t>在的位置，</a:t>
            </a:r>
            <a:r>
              <a:rPr dirty="0" sz="2000" spc="-10" b="1">
                <a:solidFill>
                  <a:srgbClr val="FF5CFF"/>
                </a:solidFill>
                <a:latin typeface="Times New Roman"/>
                <a:cs typeface="Times New Roman"/>
              </a:rPr>
              <a:t>ld.c</a:t>
            </a:r>
            <a:r>
              <a:rPr dirty="0" sz="2000" spc="-25" b="1">
                <a:solidFill>
                  <a:srgbClr val="FF5CFF"/>
                </a:solidFill>
                <a:latin typeface="宋体"/>
                <a:cs typeface="宋体"/>
              </a:rPr>
              <a:t>执行则前瞻成功</a:t>
            </a:r>
            <a:endParaRPr sz="2000">
              <a:latin typeface="宋体"/>
              <a:cs typeface="宋体"/>
            </a:endParaRPr>
          </a:p>
          <a:p>
            <a:pPr lvl="1" marL="1491615" indent="-213995">
              <a:lnSpc>
                <a:spcPct val="100000"/>
              </a:lnSpc>
              <a:spcBef>
                <a:spcPts val="720"/>
              </a:spcBef>
              <a:buClr>
                <a:srgbClr val="4668F5"/>
              </a:buClr>
              <a:buSzPct val="60000"/>
              <a:buFont typeface="Wingdings"/>
              <a:buChar char=""/>
              <a:tabLst>
                <a:tab pos="1491615" algn="l"/>
              </a:tabLst>
            </a:pPr>
            <a:r>
              <a:rPr dirty="0" sz="2000" b="1">
                <a:solidFill>
                  <a:srgbClr val="6600FF"/>
                </a:solidFill>
                <a:latin typeface="Times New Roman"/>
                <a:cs typeface="Times New Roman"/>
              </a:rPr>
              <a:t>chk.a</a:t>
            </a:r>
            <a:r>
              <a:rPr dirty="0" sz="2000" spc="-15" b="1">
                <a:solidFill>
                  <a:srgbClr val="FF5CFF"/>
                </a:solidFill>
                <a:latin typeface="宋体"/>
                <a:cs typeface="宋体"/>
              </a:rPr>
              <a:t>：编译器将它放在与</a:t>
            </a:r>
            <a:r>
              <a:rPr dirty="0" sz="2000" b="1">
                <a:solidFill>
                  <a:srgbClr val="FF5CFF"/>
                </a:solidFill>
                <a:latin typeface="Times New Roman"/>
                <a:cs typeface="Times New Roman"/>
              </a:rPr>
              <a:t>ld.c</a:t>
            </a:r>
            <a:r>
              <a:rPr dirty="0" sz="2000" spc="-20" b="1">
                <a:solidFill>
                  <a:srgbClr val="FF5CFF"/>
                </a:solidFill>
                <a:latin typeface="宋体"/>
                <a:cs typeface="宋体"/>
              </a:rPr>
              <a:t>相同的位置。若执行</a:t>
            </a:r>
            <a:r>
              <a:rPr dirty="0" sz="2000" spc="-10" b="1">
                <a:solidFill>
                  <a:srgbClr val="FF5CFF"/>
                </a:solidFill>
                <a:latin typeface="Times New Roman"/>
                <a:cs typeface="Times New Roman"/>
              </a:rPr>
              <a:t>chk.a</a:t>
            </a:r>
            <a:endParaRPr sz="2000">
              <a:latin typeface="Times New Roman"/>
              <a:cs typeface="Times New Roman"/>
            </a:endParaRPr>
          </a:p>
          <a:p>
            <a:pPr marL="1382395">
              <a:lnSpc>
                <a:spcPct val="100000"/>
              </a:lnSpc>
              <a:spcBef>
                <a:spcPts val="240"/>
              </a:spcBef>
            </a:pPr>
            <a:r>
              <a:rPr dirty="0" sz="2000" spc="-50" b="1">
                <a:solidFill>
                  <a:srgbClr val="FF5CFF"/>
                </a:solidFill>
                <a:latin typeface="宋体"/>
                <a:cs typeface="宋体"/>
              </a:rPr>
              <a:t>时</a:t>
            </a:r>
            <a:endParaRPr sz="2000">
              <a:latin typeface="宋体"/>
              <a:cs typeface="宋体"/>
            </a:endParaRPr>
          </a:p>
          <a:p>
            <a:pPr marL="1382395" marR="103505" indent="20955">
              <a:lnSpc>
                <a:spcPct val="110000"/>
              </a:lnSpc>
              <a:spcBef>
                <a:spcPts val="480"/>
              </a:spcBef>
            </a:pPr>
            <a:r>
              <a:rPr dirty="0" sz="2000" spc="-10" b="1">
                <a:solidFill>
                  <a:srgbClr val="FF5CFF"/>
                </a:solidFill>
                <a:latin typeface="宋体"/>
                <a:cs typeface="宋体"/>
              </a:rPr>
              <a:t>发现对应的</a:t>
            </a:r>
            <a:r>
              <a:rPr dirty="0" sz="2000" b="1">
                <a:solidFill>
                  <a:srgbClr val="FF5CFF"/>
                </a:solidFill>
                <a:latin typeface="Times New Roman"/>
                <a:cs typeface="Times New Roman"/>
              </a:rPr>
              <a:t>load</a:t>
            </a:r>
            <a:r>
              <a:rPr dirty="0" sz="2000" spc="-25" b="1">
                <a:solidFill>
                  <a:srgbClr val="FF5CFF"/>
                </a:solidFill>
                <a:latin typeface="宋体"/>
                <a:cs typeface="宋体"/>
              </a:rPr>
              <a:t>前瞻执行失败，它会将控制流转移到一段</a:t>
            </a:r>
            <a:r>
              <a:rPr dirty="0" sz="2000" spc="-15" b="1">
                <a:solidFill>
                  <a:srgbClr val="FF5CFF"/>
                </a:solidFill>
                <a:latin typeface="宋体"/>
                <a:cs typeface="宋体"/>
              </a:rPr>
              <a:t>补偿代码中，重新执行。</a:t>
            </a:r>
            <a:endParaRPr sz="2000">
              <a:latin typeface="宋体"/>
              <a:cs typeface="宋体"/>
            </a:endParaRPr>
          </a:p>
          <a:p>
            <a:pPr marL="1097280" indent="-455295">
              <a:lnSpc>
                <a:spcPct val="100000"/>
              </a:lnSpc>
              <a:spcBef>
                <a:spcPts val="905"/>
              </a:spcBef>
              <a:buClr>
                <a:srgbClr val="40458B"/>
              </a:buClr>
              <a:buSzPct val="89285"/>
              <a:buFont typeface="Wingdings"/>
              <a:buChar char=""/>
              <a:tabLst>
                <a:tab pos="1097280" algn="l"/>
              </a:tabLst>
            </a:pPr>
            <a:r>
              <a:rPr dirty="0" sz="2800" spc="-30">
                <a:solidFill>
                  <a:srgbClr val="0000CC"/>
                </a:solidFill>
                <a:latin typeface="黑体"/>
                <a:cs typeface="黑体"/>
              </a:rPr>
              <a:t>前瞻</a:t>
            </a:r>
            <a:r>
              <a:rPr dirty="0" sz="2800" spc="-20">
                <a:solidFill>
                  <a:srgbClr val="0000CC"/>
                </a:solidFill>
                <a:latin typeface="Tahoma"/>
                <a:cs typeface="Tahoma"/>
              </a:rPr>
              <a:t>load</a:t>
            </a:r>
            <a:r>
              <a:rPr dirty="0" sz="2800" spc="-35">
                <a:solidFill>
                  <a:srgbClr val="0000CC"/>
                </a:solidFill>
                <a:latin typeface="黑体"/>
                <a:cs typeface="黑体"/>
              </a:rPr>
              <a:t>指令的地址被记录在</a:t>
            </a:r>
            <a:r>
              <a:rPr dirty="0" sz="2800" spc="-20">
                <a:solidFill>
                  <a:srgbClr val="6600FF"/>
                </a:solidFill>
                <a:latin typeface="Tahoma"/>
                <a:cs typeface="Tahoma"/>
              </a:rPr>
              <a:t>ALAT</a:t>
            </a:r>
            <a:r>
              <a:rPr dirty="0" sz="2800" spc="-40">
                <a:solidFill>
                  <a:srgbClr val="0000CC"/>
                </a:solidFill>
                <a:latin typeface="黑体"/>
                <a:cs typeface="黑体"/>
              </a:rPr>
              <a:t>表中</a:t>
            </a:r>
            <a:endParaRPr sz="2800">
              <a:latin typeface="黑体"/>
              <a:cs typeface="黑体"/>
            </a:endParaRPr>
          </a:p>
          <a:p>
            <a:pPr marL="1097280" indent="-455295">
              <a:lnSpc>
                <a:spcPct val="100000"/>
              </a:lnSpc>
              <a:spcBef>
                <a:spcPts val="1010"/>
              </a:spcBef>
              <a:buClr>
                <a:srgbClr val="40458B"/>
              </a:buClr>
              <a:buSzPct val="89285"/>
              <a:buFont typeface="Wingdings"/>
              <a:buChar char=""/>
              <a:tabLst>
                <a:tab pos="1097280" algn="l"/>
              </a:tabLst>
            </a:pPr>
            <a:r>
              <a:rPr dirty="0" sz="2800" spc="-35">
                <a:solidFill>
                  <a:srgbClr val="0000CC"/>
                </a:solidFill>
                <a:latin typeface="黑体"/>
                <a:cs typeface="黑体"/>
              </a:rPr>
              <a:t>每个寄存器有一个状态位</a:t>
            </a:r>
            <a:r>
              <a:rPr dirty="0" sz="2800">
                <a:solidFill>
                  <a:srgbClr val="6600FF"/>
                </a:solidFill>
                <a:latin typeface="Tahoma"/>
                <a:cs typeface="Tahoma"/>
              </a:rPr>
              <a:t>NaT</a:t>
            </a:r>
            <a:r>
              <a:rPr dirty="0" sz="2800">
                <a:solidFill>
                  <a:srgbClr val="0000CC"/>
                </a:solidFill>
                <a:latin typeface="Tahoma"/>
                <a:cs typeface="Tahoma"/>
              </a:rPr>
              <a:t>(Not</a:t>
            </a:r>
            <a:r>
              <a:rPr dirty="0" sz="2800" spc="-25">
                <a:solidFill>
                  <a:srgbClr val="0000CC"/>
                </a:solidFill>
                <a:latin typeface="Tahoma"/>
                <a:cs typeface="Tahoma"/>
              </a:rPr>
              <a:t> </a:t>
            </a:r>
            <a:r>
              <a:rPr dirty="0" sz="2800">
                <a:solidFill>
                  <a:srgbClr val="0000CC"/>
                </a:solidFill>
                <a:latin typeface="Tahoma"/>
                <a:cs typeface="Tahoma"/>
              </a:rPr>
              <a:t>A</a:t>
            </a:r>
            <a:r>
              <a:rPr dirty="0" sz="2800" spc="-10">
                <a:solidFill>
                  <a:srgbClr val="0000CC"/>
                </a:solidFill>
                <a:latin typeface="Tahoma"/>
                <a:cs typeface="Tahoma"/>
              </a:rPr>
              <a:t> Thing)</a:t>
            </a:r>
            <a:endParaRPr sz="2800">
              <a:latin typeface="Tahoma"/>
              <a:cs typeface="Tahoma"/>
            </a:endParaRPr>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341755" algn="l"/>
                <a:tab pos="10788015" algn="l"/>
              </a:tabLst>
            </a:pPr>
            <a:r>
              <a:rPr dirty="0"/>
              <a:t>	6.6</a:t>
            </a:r>
            <a:r>
              <a:rPr dirty="0" spc="5"/>
              <a:t> </a:t>
            </a:r>
            <a:r>
              <a:rPr dirty="0" spc="-10"/>
              <a:t>实例：IA-64</a:t>
            </a:r>
            <a:r>
              <a:rPr dirty="0"/>
              <a:t>体</a:t>
            </a:r>
            <a:r>
              <a:rPr dirty="0" spc="-20"/>
              <a:t>系</a:t>
            </a:r>
            <a:r>
              <a:rPr dirty="0"/>
              <a:t>结</a:t>
            </a:r>
            <a:r>
              <a:rPr dirty="0" spc="-50"/>
              <a:t>构</a:t>
            </a:r>
            <a:r>
              <a:rPr dirty="0"/>
              <a: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yyan</dc:creator>
  <dc:title>没有幻灯片标题</dc:title>
  <dcterms:created xsi:type="dcterms:W3CDTF">2025-12-28T08:55:09Z</dcterms:created>
  <dcterms:modified xsi:type="dcterms:W3CDTF">2025-12-28T08:55:09Z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2025-12-03T00:00:00Z</vt:filetime>
  </property>
  <property fmtid="{D5CDD505-2E9C-101B-9397-08002B2CF9AE}" pid="3" name="Creator">
    <vt:lpwstr>Microsoft® PowerPoint® 2021</vt:lpwstr>
  </property>
  <property fmtid="{D5CDD505-2E9C-101B-9397-08002B2CF9AE}" pid="4" name="LastSaved">
    <vt:filetime>2025-12-28T00:00:00Z</vt:filetime>
  </property>
  <property fmtid="{D5CDD505-2E9C-101B-9397-08002B2CF9AE}" pid="5" name="Producer">
    <vt:lpwstr>Microsoft® PowerPoint® 2021</vt:lpwstr>
  </property>
</Properties>
</file>